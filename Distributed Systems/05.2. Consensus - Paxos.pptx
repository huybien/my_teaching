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6"/>
  </p:notesMasterIdLst>
  <p:handoutMasterIdLst>
    <p:handoutMasterId r:id="rId47"/>
  </p:handoutMasterIdLst>
  <p:sldIdLst>
    <p:sldId id="256" r:id="rId2"/>
    <p:sldId id="431" r:id="rId3"/>
    <p:sldId id="603" r:id="rId4"/>
    <p:sldId id="423" r:id="rId5"/>
    <p:sldId id="604" r:id="rId6"/>
    <p:sldId id="605" r:id="rId7"/>
    <p:sldId id="606" r:id="rId8"/>
    <p:sldId id="607" r:id="rId9"/>
    <p:sldId id="618" r:id="rId10"/>
    <p:sldId id="608" r:id="rId11"/>
    <p:sldId id="609" r:id="rId12"/>
    <p:sldId id="610" r:id="rId13"/>
    <p:sldId id="611" r:id="rId14"/>
    <p:sldId id="621" r:id="rId15"/>
    <p:sldId id="623" r:id="rId16"/>
    <p:sldId id="622" r:id="rId17"/>
    <p:sldId id="624" r:id="rId18"/>
    <p:sldId id="625" r:id="rId19"/>
    <p:sldId id="628" r:id="rId20"/>
    <p:sldId id="629" r:id="rId21"/>
    <p:sldId id="630" r:id="rId22"/>
    <p:sldId id="631" r:id="rId23"/>
    <p:sldId id="632" r:id="rId24"/>
    <p:sldId id="633" r:id="rId25"/>
    <p:sldId id="634" r:id="rId26"/>
    <p:sldId id="635" r:id="rId27"/>
    <p:sldId id="636" r:id="rId28"/>
    <p:sldId id="638" r:id="rId29"/>
    <p:sldId id="639" r:id="rId30"/>
    <p:sldId id="640" r:id="rId31"/>
    <p:sldId id="641" r:id="rId32"/>
    <p:sldId id="642" r:id="rId33"/>
    <p:sldId id="645" r:id="rId34"/>
    <p:sldId id="643" r:id="rId35"/>
    <p:sldId id="612" r:id="rId36"/>
    <p:sldId id="644" r:id="rId37"/>
    <p:sldId id="617" r:id="rId38"/>
    <p:sldId id="646" r:id="rId39"/>
    <p:sldId id="647" r:id="rId40"/>
    <p:sldId id="649" r:id="rId41"/>
    <p:sldId id="651" r:id="rId42"/>
    <p:sldId id="652" r:id="rId43"/>
    <p:sldId id="653" r:id="rId44"/>
    <p:sldId id="343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86" autoAdjust="0"/>
    <p:restoredTop sz="94667" autoAdjust="0"/>
  </p:normalViewPr>
  <p:slideViewPr>
    <p:cSldViewPr>
      <p:cViewPr>
        <p:scale>
          <a:sx n="50" d="100"/>
          <a:sy n="50" d="100"/>
        </p:scale>
        <p:origin x="-14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Consensus - </a:t>
            </a:r>
            <a:r>
              <a:rPr lang="en-US" sz="6000" dirty="0" err="1" smtClean="0"/>
              <a:t>Paxos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implement the </a:t>
            </a:r>
            <a:r>
              <a:rPr lang="en-US" sz="2400" dirty="0" err="1" smtClean="0"/>
              <a:t>Paxos</a:t>
            </a:r>
            <a:r>
              <a:rPr lang="en-US" sz="2400" dirty="0" smtClean="0"/>
              <a:t> protocol.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cs typeface="Calibri" pitchFamily="34" charset="0"/>
              </a:rPr>
              <a:t>John </a:t>
            </a:r>
            <a:r>
              <a:rPr lang="en-US" sz="2400" dirty="0" err="1" smtClean="0">
                <a:cs typeface="Calibri" pitchFamily="34" charset="0"/>
              </a:rPr>
              <a:t>Ousterhout</a:t>
            </a:r>
            <a:r>
              <a:rPr lang="en-US" sz="2400" dirty="0" smtClean="0">
                <a:cs typeface="Calibri" pitchFamily="34" charset="0"/>
              </a:rPr>
              <a:t> and Diego </a:t>
            </a:r>
            <a:r>
              <a:rPr lang="en-US" sz="2400" dirty="0" err="1" smtClean="0">
                <a:cs typeface="Calibri" pitchFamily="34" charset="0"/>
              </a:rPr>
              <a:t>Ongaro</a:t>
            </a:r>
            <a:r>
              <a:rPr lang="en-US" sz="2400" dirty="0" smtClean="0">
                <a:cs typeface="Calibri" pitchFamily="34" charset="0"/>
              </a:rPr>
              <a:t> (2013) Slides. Implementing Replicated Logs with </a:t>
            </a:r>
            <a:r>
              <a:rPr lang="en-US" sz="2400" dirty="0" err="1" smtClean="0">
                <a:cs typeface="Calibri" pitchFamily="34" charset="0"/>
              </a:rPr>
              <a:t>Paxos</a:t>
            </a:r>
            <a:r>
              <a:rPr lang="en-US" sz="2400" dirty="0" smtClean="0">
                <a:cs typeface="Calibri" pitchFamily="34" charset="0"/>
              </a:rPr>
              <a:t>.</a:t>
            </a:r>
            <a:endParaRPr lang="fr-FR" sz="2400" dirty="0" smtClean="0">
              <a:cs typeface="Calibri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400" dirty="0" smtClean="0">
                <a:cs typeface="Calibri" pitchFamily="34" charset="0"/>
              </a:rPr>
              <a:t>Leslie </a:t>
            </a:r>
            <a:r>
              <a:rPr lang="fr-FR" sz="2400" dirty="0" err="1" smtClean="0">
                <a:cs typeface="Calibri" pitchFamily="34" charset="0"/>
              </a:rPr>
              <a:t>Lamport</a:t>
            </a:r>
            <a:r>
              <a:rPr lang="fr-FR" sz="2400" dirty="0" smtClean="0">
                <a:cs typeface="Calibri" pitchFamily="34" charset="0"/>
              </a:rPr>
              <a:t> (2001). </a:t>
            </a:r>
            <a:r>
              <a:rPr lang="fr-FR" sz="2400" dirty="0" err="1" smtClean="0">
                <a:cs typeface="Calibri" pitchFamily="34" charset="0"/>
              </a:rPr>
              <a:t>Paxos</a:t>
            </a:r>
            <a:r>
              <a:rPr lang="fr-FR" sz="2400" dirty="0" smtClean="0">
                <a:cs typeface="Calibri" pitchFamily="34" charset="0"/>
              </a:rPr>
              <a:t> Made Simple.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Paxos</a:t>
            </a:r>
            <a:r>
              <a:rPr lang="en-US" dirty="0" smtClean="0"/>
              <a:t>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Proposers</a:t>
            </a:r>
            <a:r>
              <a:rPr lang="en-US" sz="2000" dirty="0" smtClean="0"/>
              <a:t>:</a:t>
            </a:r>
          </a:p>
          <a:p>
            <a:pPr lvl="1"/>
            <a:r>
              <a:rPr lang="en-US" sz="2000" dirty="0" smtClean="0"/>
              <a:t>Active: put forth particular values to be chosen.</a:t>
            </a:r>
          </a:p>
          <a:p>
            <a:pPr lvl="1"/>
            <a:r>
              <a:rPr lang="en-US" sz="2000" dirty="0" smtClean="0"/>
              <a:t>Handle client requests.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Acceptors</a:t>
            </a:r>
            <a:r>
              <a:rPr lang="en-US" sz="2000" dirty="0" smtClean="0"/>
              <a:t>:</a:t>
            </a:r>
          </a:p>
          <a:p>
            <a:pPr lvl="1"/>
            <a:r>
              <a:rPr lang="en-US" sz="2000" dirty="0" smtClean="0"/>
              <a:t>Passive: respond to messages from proposers.</a:t>
            </a:r>
          </a:p>
          <a:p>
            <a:pPr lvl="1"/>
            <a:r>
              <a:rPr lang="en-US" sz="2000" dirty="0" smtClean="0"/>
              <a:t>Responses represent votes that form consensus.</a:t>
            </a:r>
          </a:p>
          <a:p>
            <a:pPr lvl="1"/>
            <a:r>
              <a:rPr lang="en-US" sz="2000" dirty="0" smtClean="0"/>
              <a:t>Store chosen value, state of the decision process. </a:t>
            </a:r>
          </a:p>
          <a:p>
            <a:pPr lvl="1"/>
            <a:r>
              <a:rPr lang="en-US" sz="2000" dirty="0" smtClean="0"/>
              <a:t>Want to know which value was chosen.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Learners</a:t>
            </a:r>
            <a:r>
              <a:rPr lang="en-US" sz="2000" dirty="0" smtClean="0"/>
              <a:t>:</a:t>
            </a:r>
          </a:p>
          <a:p>
            <a:pPr lvl="1"/>
            <a:r>
              <a:rPr lang="en-US" sz="2000" dirty="0" smtClean="0"/>
              <a:t>Receives information about chosen value.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For this presentation</a:t>
            </a:r>
            <a:r>
              <a:rPr lang="en-US" sz="2000" dirty="0" smtClean="0"/>
              <a:t>: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 err="1" smtClean="0"/>
              <a:t>Paxos</a:t>
            </a:r>
            <a:r>
              <a:rPr lang="en-US" sz="2000" dirty="0" smtClean="0"/>
              <a:t> server contains any 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Strawman</a:t>
            </a:r>
            <a:r>
              <a:rPr lang="en-US" dirty="0" smtClean="0"/>
              <a:t>: Single Acceptor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525963"/>
          </a:xfrm>
        </p:spPr>
        <p:txBody>
          <a:bodyPr/>
          <a:lstStyle/>
          <a:p>
            <a:r>
              <a:rPr lang="en-US" sz="2800" dirty="0" smtClean="0"/>
              <a:t>Simple (incorrect) approach: a </a:t>
            </a:r>
            <a:r>
              <a:rPr lang="en-US" sz="2800" i="1" dirty="0" smtClean="0">
                <a:solidFill>
                  <a:srgbClr val="C00000"/>
                </a:solidFill>
              </a:rPr>
              <a:t>single acceptor</a:t>
            </a:r>
            <a:r>
              <a:rPr lang="en-US" sz="2800" dirty="0" smtClean="0"/>
              <a:t> chooses value </a:t>
            </a:r>
          </a:p>
          <a:p>
            <a:r>
              <a:rPr lang="en-US" sz="2800" dirty="0" smtClean="0"/>
              <a:t>What if acceptor </a:t>
            </a:r>
            <a:r>
              <a:rPr lang="en-US" sz="2800" i="1" dirty="0" smtClean="0">
                <a:solidFill>
                  <a:srgbClr val="C00000"/>
                </a:solidFill>
              </a:rPr>
              <a:t>crashes</a:t>
            </a:r>
            <a:r>
              <a:rPr lang="en-US" sz="2800" dirty="0" smtClean="0"/>
              <a:t> after choosing? </a:t>
            </a:r>
          </a:p>
          <a:p>
            <a:r>
              <a:rPr lang="en-US" sz="2800" dirty="0" smtClean="0"/>
              <a:t>Solution: </a:t>
            </a:r>
            <a:r>
              <a:rPr lang="en-US" sz="2800" i="1" dirty="0" smtClean="0">
                <a:solidFill>
                  <a:srgbClr val="C00000"/>
                </a:solidFill>
              </a:rPr>
              <a:t>quorum</a:t>
            </a:r>
            <a:r>
              <a:rPr lang="en-US" sz="2800" b="1" dirty="0" smtClean="0"/>
              <a:t> </a:t>
            </a:r>
          </a:p>
          <a:p>
            <a:pPr lvl="1"/>
            <a:r>
              <a:rPr lang="en-US" sz="2400" dirty="0" smtClean="0"/>
              <a:t>Multiple acceptors (3, 5, ...) </a:t>
            </a:r>
          </a:p>
          <a:p>
            <a:pPr lvl="1"/>
            <a:r>
              <a:rPr lang="en-US" sz="2400" dirty="0" smtClean="0"/>
              <a:t>Value v is chosen if accepted by </a:t>
            </a:r>
            <a:r>
              <a:rPr lang="en-US" sz="2400" i="1" dirty="0" smtClean="0">
                <a:solidFill>
                  <a:srgbClr val="C00000"/>
                </a:solidFill>
              </a:rPr>
              <a:t>majority of acceptors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If </a:t>
            </a:r>
            <a:r>
              <a:rPr lang="en-US" sz="2400" i="1" dirty="0" smtClean="0">
                <a:solidFill>
                  <a:srgbClr val="C00000"/>
                </a:solidFill>
              </a:rPr>
              <a:t>one acceptor</a:t>
            </a:r>
            <a:r>
              <a:rPr lang="en-US" sz="2400" dirty="0" smtClean="0"/>
              <a:t> crashes, chosen value still available.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600200"/>
            <a:ext cx="2568575" cy="320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Acceptor accepts only first value it receives?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If simultaneous proposals, </a:t>
            </a:r>
            <a:r>
              <a:rPr lang="en-US" sz="2600" i="1" dirty="0" smtClean="0">
                <a:solidFill>
                  <a:srgbClr val="C00000"/>
                </a:solidFill>
              </a:rPr>
              <a:t>no value</a:t>
            </a:r>
            <a:r>
              <a:rPr lang="en-US" sz="2600" dirty="0" smtClean="0"/>
              <a:t> might be chosen .</a:t>
            </a:r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pPr>
              <a:buNone/>
            </a:pPr>
            <a:endParaRPr lang="en-US" sz="2600" dirty="0" smtClean="0"/>
          </a:p>
          <a:p>
            <a:endParaRPr lang="en-US" sz="26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2938" y="2959100"/>
            <a:ext cx="5318125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Acceptor accepts every value it receives?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Multiple values (</a:t>
            </a:r>
            <a:r>
              <a:rPr lang="en-US" sz="2600" i="1" dirty="0" smtClean="0">
                <a:solidFill>
                  <a:srgbClr val="C00000"/>
                </a:solidFill>
              </a:rPr>
              <a:t>both red and blue</a:t>
            </a:r>
            <a:r>
              <a:rPr lang="en-US" sz="2600" dirty="0" smtClean="0"/>
              <a:t>) may be chosen.</a:t>
            </a:r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7225" y="2863850"/>
            <a:ext cx="5289550" cy="239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Idea: 2-Phase protocol is needed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Acceptors can accept </a:t>
            </a:r>
            <a:r>
              <a:rPr lang="en-US" sz="2200" i="1" dirty="0" smtClean="0">
                <a:solidFill>
                  <a:srgbClr val="C00000"/>
                </a:solidFill>
              </a:rPr>
              <a:t>multiple values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But </a:t>
            </a:r>
            <a:r>
              <a:rPr lang="en-US" sz="2200" b="1" dirty="0" smtClean="0"/>
              <a:t>once</a:t>
            </a:r>
            <a:r>
              <a:rPr lang="en-US" sz="2200" dirty="0" smtClean="0"/>
              <a:t> a value has been chosen, </a:t>
            </a:r>
            <a:r>
              <a:rPr lang="en-US" sz="2200" b="1" dirty="0" smtClean="0"/>
              <a:t>future</a:t>
            </a:r>
            <a:r>
              <a:rPr lang="en-US" sz="2200" dirty="0" smtClean="0"/>
              <a:t> proposals must propose/choose </a:t>
            </a:r>
            <a:r>
              <a:rPr lang="en-US" sz="2200" i="1" dirty="0" smtClean="0">
                <a:solidFill>
                  <a:srgbClr val="C00000"/>
                </a:solidFill>
              </a:rPr>
              <a:t>that same value</a:t>
            </a:r>
            <a:r>
              <a:rPr lang="en-US" sz="2200" dirty="0" smtClean="0"/>
              <a:t>. </a:t>
            </a:r>
          </a:p>
          <a:p>
            <a:r>
              <a:rPr lang="en-US" sz="2200" dirty="0" smtClean="0">
                <a:sym typeface="Wingdings" pitchFamily="2" charset="2"/>
              </a:rPr>
              <a:t>A </a:t>
            </a:r>
            <a:r>
              <a:rPr lang="en-US" sz="2200" b="1" i="1" dirty="0" smtClean="0">
                <a:solidFill>
                  <a:srgbClr val="C00000"/>
                </a:solidFill>
              </a:rPr>
              <a:t>2-phase protocol</a:t>
            </a:r>
            <a:r>
              <a:rPr lang="en-US" sz="2200" dirty="0" smtClean="0"/>
              <a:t> is needed. </a:t>
            </a:r>
            <a:r>
              <a:rPr lang="en-US" sz="2200" b="1" dirty="0" smtClean="0"/>
              <a:t>S</a:t>
            </a:r>
            <a:r>
              <a:rPr lang="en-US" sz="2200" b="1" baseline="-25000" dirty="0" smtClean="0"/>
              <a:t>3</a:t>
            </a:r>
            <a:r>
              <a:rPr lang="en-US" sz="2200" b="1" dirty="0" smtClean="0"/>
              <a:t> must tell S</a:t>
            </a:r>
            <a:r>
              <a:rPr lang="en-US" sz="2200" b="1" baseline="-25000" dirty="0" smtClean="0"/>
              <a:t>5</a:t>
            </a:r>
            <a:r>
              <a:rPr lang="en-US" sz="2200" b="1" dirty="0" smtClean="0"/>
              <a:t> to accept red instead of blue.</a:t>
            </a:r>
            <a:endParaRPr lang="en-US" sz="22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7225" y="4006850"/>
            <a:ext cx="5289550" cy="239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1981200" y="3352800"/>
            <a:ext cx="3276600" cy="1676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Idea: Proposal numbers are necessary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r>
              <a:rPr lang="en-US" sz="2400" dirty="0" smtClean="0"/>
              <a:t>S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 must </a:t>
            </a:r>
            <a:r>
              <a:rPr lang="en-US" sz="2400" i="1" dirty="0" smtClean="0">
                <a:solidFill>
                  <a:srgbClr val="C00000"/>
                </a:solidFill>
              </a:rPr>
              <a:t>reject</a:t>
            </a:r>
            <a:r>
              <a:rPr lang="en-US" sz="2400" dirty="0" smtClean="0"/>
              <a:t> red because blue was chosen.</a:t>
            </a:r>
          </a:p>
          <a:p>
            <a:r>
              <a:rPr lang="en-US" sz="2400" dirty="0" smtClean="0"/>
              <a:t>Proposals must be ordered. </a:t>
            </a:r>
            <a:r>
              <a:rPr lang="en-US" sz="2400" b="1" dirty="0" smtClean="0"/>
              <a:t>Old</a:t>
            </a:r>
            <a:r>
              <a:rPr lang="en-US" sz="2400" dirty="0" smtClean="0"/>
              <a:t> ones that have not been accepted, must be rejected.</a:t>
            </a:r>
          </a:p>
          <a:p>
            <a:r>
              <a:rPr lang="en-US" sz="2400" b="1" dirty="0" smtClean="0">
                <a:solidFill>
                  <a:srgbClr val="C00000"/>
                </a:solidFill>
              </a:rPr>
              <a:t>Proposal numbers</a:t>
            </a:r>
            <a:r>
              <a:rPr lang="en-US" sz="2400" dirty="0" smtClean="0"/>
              <a:t> are necessary.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5925" y="1600200"/>
            <a:ext cx="5772150" cy="274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Proposal Numbers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proposal has a unique number</a:t>
            </a:r>
          </a:p>
          <a:p>
            <a:pPr lvl="1"/>
            <a:r>
              <a:rPr lang="en-US" dirty="0" smtClean="0"/>
              <a:t>Higher numbers </a:t>
            </a:r>
            <a:r>
              <a:rPr lang="en-US" i="1" dirty="0" smtClean="0">
                <a:solidFill>
                  <a:srgbClr val="C00000"/>
                </a:solidFill>
              </a:rPr>
              <a:t>take priority over</a:t>
            </a:r>
            <a:r>
              <a:rPr lang="en-US" dirty="0" smtClean="0"/>
              <a:t> lower numbers.</a:t>
            </a:r>
          </a:p>
          <a:p>
            <a:pPr lvl="1"/>
            <a:r>
              <a:rPr lang="en-US" dirty="0" smtClean="0"/>
              <a:t>It must be possible for a proposer to </a:t>
            </a:r>
            <a:r>
              <a:rPr lang="en-US" i="1" dirty="0" smtClean="0">
                <a:solidFill>
                  <a:srgbClr val="C00000"/>
                </a:solidFill>
              </a:rPr>
              <a:t>choose a new proposal number</a:t>
            </a:r>
            <a:r>
              <a:rPr lang="en-US" dirty="0" smtClean="0"/>
              <a:t> </a:t>
            </a:r>
            <a:r>
              <a:rPr lang="en-US" u="sng" dirty="0" smtClean="0"/>
              <a:t>higher</a:t>
            </a:r>
            <a:r>
              <a:rPr lang="en-US" dirty="0" smtClean="0"/>
              <a:t> than anything it has seen/used before.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Proposal Number</a:t>
            </a:r>
            <a:r>
              <a:rPr lang="en-US" sz="2800" dirty="0" smtClean="0"/>
              <a:t>: [</a:t>
            </a:r>
            <a:r>
              <a:rPr lang="en-US" sz="2800" b="1" dirty="0" smtClean="0">
                <a:latin typeface="Consolas" pitchFamily="49" charset="0"/>
              </a:rPr>
              <a:t>Max Round].[Server Id]</a:t>
            </a:r>
          </a:p>
          <a:p>
            <a:r>
              <a:rPr lang="en-US" sz="2800" dirty="0" smtClean="0"/>
              <a:t>To generate a new proposal number:</a:t>
            </a:r>
          </a:p>
          <a:p>
            <a:pPr lvl="1"/>
            <a:r>
              <a:rPr lang="en-US" sz="2400" dirty="0" smtClean="0"/>
              <a:t>Increment [Max Round], then</a:t>
            </a:r>
          </a:p>
          <a:p>
            <a:pPr lvl="1"/>
            <a:r>
              <a:rPr lang="en-US" sz="2400" dirty="0" smtClean="0"/>
              <a:t>Concatenate with Server 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Proposal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S1: Max Round = 0, ID = 1.</a:t>
            </a:r>
          </a:p>
          <a:p>
            <a:r>
              <a:rPr lang="en-US" sz="2400" dirty="0" smtClean="0"/>
              <a:t>S2: Max Round = 0, ID = 2.</a:t>
            </a:r>
          </a:p>
          <a:p>
            <a:r>
              <a:rPr lang="en-US" sz="2400" dirty="0" smtClean="0"/>
              <a:t>S3: Max Round = 0, ID = 3.</a:t>
            </a:r>
          </a:p>
          <a:p>
            <a:r>
              <a:rPr lang="en-US" sz="2400" dirty="0" smtClean="0"/>
              <a:t>S1 generates a proposal number: S1P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1.1.</a:t>
            </a:r>
          </a:p>
          <a:p>
            <a:r>
              <a:rPr lang="en-US" sz="2400" dirty="0" smtClean="0"/>
              <a:t>S1 generates next proposal number: S1P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2.1.</a:t>
            </a:r>
          </a:p>
          <a:p>
            <a:r>
              <a:rPr lang="en-US" sz="2400" dirty="0" smtClean="0"/>
              <a:t>S2 generates a proposal number: S2P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1.2.</a:t>
            </a:r>
          </a:p>
          <a:p>
            <a:r>
              <a:rPr lang="en-US" sz="2400" dirty="0" smtClean="0"/>
              <a:t>S3 generates a proposal number: S3P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1.3.</a:t>
            </a:r>
          </a:p>
          <a:p>
            <a:r>
              <a:rPr lang="en-US" sz="2400" dirty="0" smtClean="0"/>
              <a:t>S1 sends S1P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to S2. S1P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&lt; S2P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S1 sends S1P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to S3. S1P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&gt; S3P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</a:t>
            </a:r>
            <a:r>
              <a:rPr lang="en-US" dirty="0" err="1" smtClean="0"/>
              <a:t>Paxos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</a:rPr>
              <a:t>Two-phase</a:t>
            </a:r>
            <a:r>
              <a:rPr lang="en-US" b="1" dirty="0" smtClean="0"/>
              <a:t> approach:</a:t>
            </a:r>
          </a:p>
          <a:p>
            <a:pPr lvl="1"/>
            <a:r>
              <a:rPr lang="en-US" b="1" dirty="0" smtClean="0"/>
              <a:t>Phase 1: broadcast </a:t>
            </a:r>
            <a:r>
              <a:rPr lang="en-US" b="1" i="1" dirty="0" smtClean="0">
                <a:solidFill>
                  <a:srgbClr val="C00000"/>
                </a:solidFill>
              </a:rPr>
              <a:t>Prepare</a:t>
            </a:r>
            <a:r>
              <a:rPr lang="en-US" b="1" dirty="0" smtClean="0"/>
              <a:t> RPCs</a:t>
            </a:r>
          </a:p>
          <a:p>
            <a:pPr lvl="2"/>
            <a:r>
              <a:rPr lang="en-US" dirty="0" smtClean="0"/>
              <a:t>Find out about any chosen values.</a:t>
            </a:r>
          </a:p>
          <a:p>
            <a:pPr lvl="2"/>
            <a:r>
              <a:rPr lang="en-US" dirty="0" smtClean="0"/>
              <a:t>Block older proposals that have not yet completed.</a:t>
            </a:r>
          </a:p>
          <a:p>
            <a:pPr lvl="1"/>
            <a:r>
              <a:rPr lang="en-US" b="1" dirty="0" smtClean="0"/>
              <a:t>Phase 2: broadcast </a:t>
            </a:r>
            <a:r>
              <a:rPr lang="en-US" b="1" i="1" dirty="0" smtClean="0">
                <a:solidFill>
                  <a:srgbClr val="C00000"/>
                </a:solidFill>
              </a:rPr>
              <a:t>Accept</a:t>
            </a:r>
            <a:r>
              <a:rPr lang="en-US" b="1" dirty="0" smtClean="0"/>
              <a:t> RPCs</a:t>
            </a:r>
          </a:p>
          <a:p>
            <a:pPr lvl="2"/>
            <a:r>
              <a:rPr lang="en-US" dirty="0" smtClean="0"/>
              <a:t>Ask acceptors to accept a specific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1: Prepare </a:t>
            </a:r>
            <a:r>
              <a:rPr lang="en-US" dirty="0" smtClean="0"/>
              <a:t>(n)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proposer chooses a </a:t>
            </a:r>
            <a:r>
              <a:rPr lang="en-US" sz="2200" i="1" dirty="0" smtClean="0">
                <a:solidFill>
                  <a:srgbClr val="C00000"/>
                </a:solidFill>
              </a:rPr>
              <a:t>new</a:t>
            </a:r>
            <a:r>
              <a:rPr lang="en-US" sz="2200" dirty="0" smtClean="0"/>
              <a:t> proposal number n and sends a request to each member of some set of acceptors.</a:t>
            </a:r>
          </a:p>
          <a:p>
            <a:r>
              <a:rPr lang="en-US" sz="2200" dirty="0" smtClean="0"/>
              <a:t>S1 (max round++ = 3) sends P 3.1 to S1, S2, and S3.</a:t>
            </a:r>
          </a:p>
          <a:p>
            <a:r>
              <a:rPr lang="en-US" sz="2200" dirty="0" smtClean="0"/>
              <a:t>S5 (max round++ = 4) sends P 4.5 to S5, S4, and S3.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3282950"/>
            <a:ext cx="6242050" cy="296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3429000" y="2743200"/>
            <a:ext cx="0" cy="1219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648200" y="3124200"/>
            <a:ext cx="0" cy="1676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Prepare (n) = ok/no, highest-numbered proposal and accepted value (if any)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If an acceptor receives a prepare request with number n </a:t>
            </a:r>
            <a:r>
              <a:rPr lang="en-US" sz="1800" i="1" dirty="0" smtClean="0">
                <a:solidFill>
                  <a:srgbClr val="C00000"/>
                </a:solidFill>
              </a:rPr>
              <a:t>greater than</a:t>
            </a:r>
            <a:r>
              <a:rPr lang="en-US" sz="1800" dirty="0" smtClean="0"/>
              <a:t> that of any prepare request to which it has already responded, then it responds to the request with a </a:t>
            </a:r>
            <a:r>
              <a:rPr lang="en-US" sz="1800" b="1" dirty="0" smtClean="0"/>
              <a:t>promise</a:t>
            </a:r>
            <a:r>
              <a:rPr lang="en-US" sz="1800" dirty="0" smtClean="0"/>
              <a:t> not to accept any more proposals numbered less than n and with the highest-numbered proposal (</a:t>
            </a:r>
            <a:r>
              <a:rPr lang="en-US" sz="1800" b="1" dirty="0" smtClean="0"/>
              <a:t>if any</a:t>
            </a:r>
            <a:r>
              <a:rPr lang="en-US" sz="1800" dirty="0" smtClean="0"/>
              <a:t>) that it has </a:t>
            </a:r>
            <a:r>
              <a:rPr lang="en-US" sz="1800" i="1" dirty="0" smtClean="0">
                <a:solidFill>
                  <a:srgbClr val="C00000"/>
                </a:solidFill>
              </a:rPr>
              <a:t>accepted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S2 stores 3.1, returns </a:t>
            </a:r>
            <a:r>
              <a:rPr lang="en-US" sz="1800" i="1" dirty="0" smtClean="0">
                <a:solidFill>
                  <a:srgbClr val="C00000"/>
                </a:solidFill>
              </a:rPr>
              <a:t>ok, null, null</a:t>
            </a:r>
            <a:r>
              <a:rPr lang="en-US" sz="1800" dirty="0" smtClean="0"/>
              <a:t> to S1. S3 stores 3.1, returns </a:t>
            </a:r>
            <a:r>
              <a:rPr lang="en-US" sz="1800" i="1" dirty="0" smtClean="0">
                <a:solidFill>
                  <a:srgbClr val="C00000"/>
                </a:solidFill>
              </a:rPr>
              <a:t>ok, null, null</a:t>
            </a:r>
            <a:r>
              <a:rPr lang="en-US" sz="1800" dirty="0" smtClean="0"/>
              <a:t> to S1.</a:t>
            </a:r>
          </a:p>
          <a:p>
            <a:r>
              <a:rPr lang="en-US" sz="1800" dirty="0" smtClean="0"/>
              <a:t>S4 stores 4.5, returns </a:t>
            </a:r>
            <a:r>
              <a:rPr lang="en-US" sz="1800" i="1" dirty="0" smtClean="0">
                <a:solidFill>
                  <a:srgbClr val="C00000"/>
                </a:solidFill>
              </a:rPr>
              <a:t>ok, null, null</a:t>
            </a:r>
            <a:r>
              <a:rPr lang="en-US" sz="1800" dirty="0" smtClean="0"/>
              <a:t> to S5. S3 stores 4.5, returns </a:t>
            </a:r>
            <a:r>
              <a:rPr lang="en-US" sz="1800" b="1" i="1" dirty="0" smtClean="0">
                <a:solidFill>
                  <a:srgbClr val="C00000"/>
                </a:solidFill>
              </a:rPr>
              <a:t>ok, 3.1, X</a:t>
            </a:r>
            <a:r>
              <a:rPr lang="en-US" sz="1800" dirty="0" smtClean="0"/>
              <a:t> to S5.</a:t>
            </a:r>
          </a:p>
          <a:p>
            <a:pPr>
              <a:buNone/>
            </a:pPr>
            <a:endParaRPr lang="en-US" sz="18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3511550"/>
            <a:ext cx="6242050" cy="296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/>
          <p:nvPr/>
        </p:nvCxnSpPr>
        <p:spPr>
          <a:xfrm>
            <a:off x="3429000" y="3124200"/>
            <a:ext cx="0" cy="1143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029200" y="3429000"/>
            <a:ext cx="0" cy="1600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 (n, 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If the proposer receives a response to its prepare requests (numbered n) from </a:t>
            </a:r>
            <a:r>
              <a:rPr lang="en-US" sz="1600" b="1" dirty="0" smtClean="0"/>
              <a:t>a majority of acceptors</a:t>
            </a:r>
            <a:r>
              <a:rPr lang="en-US" sz="1600" dirty="0" smtClean="0"/>
              <a:t>, then it sends an accept request to each of those acceptors for a proposal numbered n with a value v, where v is the </a:t>
            </a:r>
            <a:r>
              <a:rPr lang="en-US" sz="1600" b="1" dirty="0" smtClean="0"/>
              <a:t>value of the highest-numbered proposal among the responses</a:t>
            </a:r>
            <a:r>
              <a:rPr lang="en-US" sz="1600" dirty="0" smtClean="0"/>
              <a:t>, or is </a:t>
            </a:r>
            <a:r>
              <a:rPr lang="en-US" sz="1600" b="1" dirty="0" smtClean="0"/>
              <a:t>any value</a:t>
            </a:r>
            <a:r>
              <a:rPr lang="en-US" sz="1600" dirty="0" smtClean="0"/>
              <a:t> if the responses reported </a:t>
            </a:r>
            <a:r>
              <a:rPr lang="en-US" sz="1600" b="1" dirty="0" smtClean="0"/>
              <a:t>no proposals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S1 sends A 3.1 X to S1, S2, and S3.</a:t>
            </a:r>
          </a:p>
          <a:p>
            <a:r>
              <a:rPr lang="en-US" sz="1600" dirty="0" smtClean="0"/>
              <a:t>S5 sends A 4.5 X to S3, S4, and S5 because it received prepare response: </a:t>
            </a:r>
            <a:r>
              <a:rPr lang="en-US" sz="1600" b="1" dirty="0" smtClean="0"/>
              <a:t>ok, 3.1, X</a:t>
            </a:r>
            <a:r>
              <a:rPr lang="en-US" sz="1600" dirty="0" smtClean="0"/>
              <a:t>, from S3.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3429000"/>
            <a:ext cx="6242050" cy="296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Accept (n, v) = ok/no and highest proposal number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If an acceptor receives an accept request for a proposal numbered n, it </a:t>
            </a:r>
            <a:r>
              <a:rPr lang="en-US" sz="1600" i="1" dirty="0" smtClean="0">
                <a:solidFill>
                  <a:srgbClr val="C00000"/>
                </a:solidFill>
              </a:rPr>
              <a:t>accepts</a:t>
            </a:r>
            <a:r>
              <a:rPr lang="en-US" sz="1600" dirty="0" smtClean="0"/>
              <a:t> the proposal </a:t>
            </a:r>
            <a:r>
              <a:rPr lang="en-US" sz="1600" b="1" dirty="0" smtClean="0"/>
              <a:t>unless it has already responded</a:t>
            </a:r>
            <a:r>
              <a:rPr lang="en-US" sz="1600" dirty="0" smtClean="0"/>
              <a:t> to a prepare request having a number </a:t>
            </a:r>
            <a:r>
              <a:rPr lang="en-US" sz="1600" i="1" dirty="0" smtClean="0">
                <a:solidFill>
                  <a:srgbClr val="C00000"/>
                </a:solidFill>
              </a:rPr>
              <a:t>greater than</a:t>
            </a:r>
            <a:r>
              <a:rPr lang="en-US" sz="1600" dirty="0" smtClean="0"/>
              <a:t> n.</a:t>
            </a:r>
          </a:p>
          <a:p>
            <a:r>
              <a:rPr lang="en-US" sz="1600" dirty="0" smtClean="0"/>
              <a:t>S2 and S3 return </a:t>
            </a:r>
            <a:r>
              <a:rPr lang="en-US" sz="1600" b="1" dirty="0" smtClean="0"/>
              <a:t>ok, 3.1</a:t>
            </a:r>
            <a:r>
              <a:rPr lang="en-US" sz="1600" dirty="0" smtClean="0"/>
              <a:t> to S1 because they has </a:t>
            </a:r>
            <a:r>
              <a:rPr lang="en-US" sz="1600" b="1" dirty="0" smtClean="0"/>
              <a:t>not</a:t>
            </a:r>
            <a:r>
              <a:rPr lang="en-US" sz="1600" dirty="0" smtClean="0"/>
              <a:t> responded to any prepare request having a number greater than 3.1.</a:t>
            </a:r>
          </a:p>
          <a:p>
            <a:r>
              <a:rPr lang="en-US" sz="1600" dirty="0" smtClean="0"/>
              <a:t>S3 and S4 return </a:t>
            </a:r>
            <a:r>
              <a:rPr lang="en-US" sz="1600" b="1" dirty="0" smtClean="0"/>
              <a:t>ok, 4.5</a:t>
            </a:r>
            <a:r>
              <a:rPr lang="en-US" sz="1600" dirty="0" smtClean="0"/>
              <a:t> to S5 because they has </a:t>
            </a:r>
            <a:r>
              <a:rPr lang="en-US" sz="1600" b="1" dirty="0" smtClean="0"/>
              <a:t>not</a:t>
            </a:r>
            <a:r>
              <a:rPr lang="en-US" sz="1600" dirty="0" smtClean="0"/>
              <a:t> responded to any prepare request having a number greater than 4.5. </a:t>
            </a:r>
            <a:r>
              <a:rPr lang="en-US" sz="1600" b="1" dirty="0" smtClean="0">
                <a:solidFill>
                  <a:srgbClr val="C00000"/>
                </a:solidFill>
              </a:rPr>
              <a:t>Notes: All subsequent P/A requests will accept X. With basic </a:t>
            </a:r>
            <a:r>
              <a:rPr lang="en-US" sz="1600" b="1" dirty="0" err="1" smtClean="0">
                <a:solidFill>
                  <a:srgbClr val="C00000"/>
                </a:solidFill>
              </a:rPr>
              <a:t>Paxos</a:t>
            </a:r>
            <a:r>
              <a:rPr lang="en-US" sz="1600" b="1" dirty="0" smtClean="0">
                <a:solidFill>
                  <a:srgbClr val="C00000"/>
                </a:solidFill>
              </a:rPr>
              <a:t>, after the consensus is reached, the value X will never change.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2750" y="3581400"/>
            <a:ext cx="6242050" cy="296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smtClean="0"/>
              <a:t>2: </a:t>
            </a:r>
            <a:r>
              <a:rPr lang="en-US" dirty="0" smtClean="0"/>
              <a:t>Prepare </a:t>
            </a:r>
            <a:r>
              <a:rPr lang="en-US" dirty="0" smtClean="0"/>
              <a:t>(n)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proposer chooses a new proposal number n and sends a request to each member of some set of acceptors.</a:t>
            </a:r>
          </a:p>
          <a:p>
            <a:r>
              <a:rPr lang="en-US" sz="2200" dirty="0" smtClean="0"/>
              <a:t>S1 sends P 3.1 to S1, S2, and S3.</a:t>
            </a:r>
          </a:p>
          <a:p>
            <a:r>
              <a:rPr lang="en-US" sz="2200" dirty="0" smtClean="0"/>
              <a:t>S5 sends P 4.5 to S5, S4, and S3.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4625" y="3733800"/>
            <a:ext cx="62547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Prepare (n) = ok/no, highest-numbered proposal and accepted value (if any)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If an acceptor receives a prepare request with number n </a:t>
            </a:r>
            <a:r>
              <a:rPr lang="en-US" sz="1800" i="1" dirty="0" smtClean="0">
                <a:solidFill>
                  <a:srgbClr val="C00000"/>
                </a:solidFill>
              </a:rPr>
              <a:t>greater than</a:t>
            </a:r>
            <a:r>
              <a:rPr lang="en-US" sz="1800" dirty="0" smtClean="0"/>
              <a:t> that of any prepare request to which it has already responded, then it responds to the request with a </a:t>
            </a:r>
            <a:r>
              <a:rPr lang="en-US" sz="1800" b="1" dirty="0" smtClean="0"/>
              <a:t>promise</a:t>
            </a:r>
            <a:r>
              <a:rPr lang="en-US" sz="1800" dirty="0" smtClean="0"/>
              <a:t> not to accept any more proposals numbered less than n and with the highest-numbered proposal (</a:t>
            </a:r>
            <a:r>
              <a:rPr lang="en-US" sz="1800" b="1" dirty="0" smtClean="0"/>
              <a:t>if any</a:t>
            </a:r>
            <a:r>
              <a:rPr lang="en-US" sz="1800" dirty="0" smtClean="0"/>
              <a:t>) that it has </a:t>
            </a:r>
            <a:r>
              <a:rPr lang="en-US" sz="1800" i="1" dirty="0" smtClean="0">
                <a:solidFill>
                  <a:srgbClr val="C00000"/>
                </a:solidFill>
              </a:rPr>
              <a:t>accepted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S2 stores 3.1,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S1. S3 stores 3.1,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S1.</a:t>
            </a:r>
          </a:p>
          <a:p>
            <a:r>
              <a:rPr lang="en-US" sz="1800" dirty="0" smtClean="0"/>
              <a:t>S4 stores 4.5,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S5. S3 stores 4.5, returns </a:t>
            </a:r>
            <a:r>
              <a:rPr lang="en-US" sz="1800" b="1" dirty="0" smtClean="0"/>
              <a:t>ok, 3.1, X</a:t>
            </a:r>
            <a:r>
              <a:rPr lang="en-US" sz="1800" dirty="0" smtClean="0"/>
              <a:t> to S5.</a:t>
            </a:r>
          </a:p>
          <a:p>
            <a:pPr>
              <a:buNone/>
            </a:pPr>
            <a:endParaRPr lang="en-US" sz="18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4625" y="3962400"/>
            <a:ext cx="62547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 (n, 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If the proposer receives a response to its prepare requests (numbered n) from </a:t>
            </a:r>
            <a:r>
              <a:rPr lang="en-US" sz="1600" b="1" dirty="0" smtClean="0"/>
              <a:t>a majority of acceptors</a:t>
            </a:r>
            <a:r>
              <a:rPr lang="en-US" sz="1600" dirty="0" smtClean="0"/>
              <a:t>, then it sends an accept request to each of those acceptors for a proposal numbered n with a value v, where v is the </a:t>
            </a:r>
            <a:r>
              <a:rPr lang="en-US" sz="1600" b="1" dirty="0" smtClean="0"/>
              <a:t>value of the highest-numbered proposal among the responses</a:t>
            </a:r>
            <a:r>
              <a:rPr lang="en-US" sz="1600" dirty="0" smtClean="0"/>
              <a:t>, or is </a:t>
            </a:r>
            <a:r>
              <a:rPr lang="en-US" sz="1600" b="1" dirty="0" smtClean="0"/>
              <a:t>any value</a:t>
            </a:r>
            <a:r>
              <a:rPr lang="en-US" sz="1600" dirty="0" smtClean="0"/>
              <a:t> if the responses reported </a:t>
            </a:r>
            <a:r>
              <a:rPr lang="en-US" sz="1600" b="1" dirty="0" smtClean="0"/>
              <a:t>no proposals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S1 sends A 3.1 X to S1, S2, and S3.</a:t>
            </a:r>
          </a:p>
          <a:p>
            <a:r>
              <a:rPr lang="en-US" sz="1600" dirty="0" smtClean="0"/>
              <a:t>S5 sends A 4.5 X to S3, S4, and S5.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4625" y="3962400"/>
            <a:ext cx="62547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Accept (n, v) = ok/no and highest proposal number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If an acceptor receives an accept request for a proposal numbered n, it </a:t>
            </a:r>
            <a:r>
              <a:rPr lang="en-US" sz="1600" i="1" dirty="0" smtClean="0">
                <a:solidFill>
                  <a:srgbClr val="C00000"/>
                </a:solidFill>
              </a:rPr>
              <a:t>accepts</a:t>
            </a:r>
            <a:r>
              <a:rPr lang="en-US" sz="1600" dirty="0" smtClean="0"/>
              <a:t> the proposal </a:t>
            </a:r>
            <a:r>
              <a:rPr lang="en-US" sz="1600" b="1" dirty="0" smtClean="0"/>
              <a:t>unless it has already responded</a:t>
            </a:r>
            <a:r>
              <a:rPr lang="en-US" sz="1600" dirty="0" smtClean="0"/>
              <a:t> to a prepare request having a number </a:t>
            </a:r>
            <a:r>
              <a:rPr lang="en-US" sz="1600" i="1" dirty="0" smtClean="0">
                <a:solidFill>
                  <a:srgbClr val="C00000"/>
                </a:solidFill>
              </a:rPr>
              <a:t>greater than</a:t>
            </a:r>
            <a:r>
              <a:rPr lang="en-US" sz="1600" dirty="0" smtClean="0"/>
              <a:t> n.</a:t>
            </a:r>
          </a:p>
          <a:p>
            <a:r>
              <a:rPr lang="en-US" sz="1600" dirty="0" smtClean="0"/>
              <a:t>S2 and S3 return </a:t>
            </a:r>
            <a:r>
              <a:rPr lang="en-US" sz="1600" b="1" dirty="0" smtClean="0"/>
              <a:t>ok, 3.1</a:t>
            </a:r>
            <a:r>
              <a:rPr lang="en-US" sz="1600" dirty="0" smtClean="0"/>
              <a:t> to S1 because they has not responded to any prepare request having a number greater than 3.1.</a:t>
            </a:r>
          </a:p>
          <a:p>
            <a:r>
              <a:rPr lang="en-US" sz="1600" dirty="0" smtClean="0"/>
              <a:t>S4 and S3 return </a:t>
            </a:r>
            <a:r>
              <a:rPr lang="en-US" sz="1600" b="1" dirty="0" smtClean="0"/>
              <a:t>ok, 4.5</a:t>
            </a:r>
            <a:r>
              <a:rPr lang="en-US" sz="1600" dirty="0" smtClean="0"/>
              <a:t> to S5 because they has not responded to any prepare request having a number greater than 4.5.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4625" y="3962400"/>
            <a:ext cx="62547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smtClean="0"/>
              <a:t>3: </a:t>
            </a:r>
            <a:r>
              <a:rPr lang="en-US" dirty="0" smtClean="0"/>
              <a:t>Prepare </a:t>
            </a:r>
            <a:r>
              <a:rPr lang="en-US" dirty="0" smtClean="0"/>
              <a:t>(n)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proposer chooses a new proposal number n and sends a request to each member of some set of acceptors.</a:t>
            </a:r>
          </a:p>
          <a:p>
            <a:r>
              <a:rPr lang="en-US" sz="2200" dirty="0" smtClean="0"/>
              <a:t>S1 sends P 3.1 to S1, S2, and S3.</a:t>
            </a:r>
          </a:p>
          <a:p>
            <a:r>
              <a:rPr lang="en-US" sz="2200" dirty="0" smtClean="0"/>
              <a:t>S5 sends P 4.5 to S5, S4, and S3.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3724275"/>
            <a:ext cx="62420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Prepare (n) = ok/no, highest-numbered proposal and accepted value (if any)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If an acceptor receives a prepare request with number n </a:t>
            </a:r>
            <a:r>
              <a:rPr lang="en-US" sz="1800" i="1" dirty="0" smtClean="0">
                <a:solidFill>
                  <a:srgbClr val="C00000"/>
                </a:solidFill>
              </a:rPr>
              <a:t>greater than</a:t>
            </a:r>
            <a:r>
              <a:rPr lang="en-US" sz="1800" dirty="0" smtClean="0"/>
              <a:t> that of any prepare request to which it has already responded, then it responds to the request with a </a:t>
            </a:r>
            <a:r>
              <a:rPr lang="en-US" sz="1800" b="1" dirty="0" smtClean="0"/>
              <a:t>promise</a:t>
            </a:r>
            <a:r>
              <a:rPr lang="en-US" sz="1800" dirty="0" smtClean="0"/>
              <a:t> not to accept any more proposals numbered less than n and with the highest-numbered proposal (</a:t>
            </a:r>
            <a:r>
              <a:rPr lang="en-US" sz="1800" b="1" dirty="0" smtClean="0"/>
              <a:t>if any</a:t>
            </a:r>
            <a:r>
              <a:rPr lang="en-US" sz="1800" dirty="0" smtClean="0"/>
              <a:t>) that it has </a:t>
            </a:r>
            <a:r>
              <a:rPr lang="en-US" sz="1800" i="1" dirty="0" smtClean="0">
                <a:solidFill>
                  <a:srgbClr val="C00000"/>
                </a:solidFill>
              </a:rPr>
              <a:t>accepted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S2 stores 3.1,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S1. S3 stores 3.1,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S1.</a:t>
            </a:r>
          </a:p>
          <a:p>
            <a:r>
              <a:rPr lang="en-US" sz="1800" dirty="0" smtClean="0"/>
              <a:t>S4 stores 4.5,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S5. S3 stores 4.5,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S5.</a:t>
            </a:r>
          </a:p>
          <a:p>
            <a:pPr>
              <a:buNone/>
            </a:pPr>
            <a:endParaRPr lang="en-US" sz="1800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4038600"/>
            <a:ext cx="62420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 (n, 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If the proposer receives a response to its prepare requests (numbered n) from </a:t>
            </a:r>
            <a:r>
              <a:rPr lang="en-US" sz="1600" b="1" dirty="0" smtClean="0"/>
              <a:t>a majority of acceptors</a:t>
            </a:r>
            <a:r>
              <a:rPr lang="en-US" sz="1600" dirty="0" smtClean="0"/>
              <a:t>, then it sends an accept request to each of those acceptors for a proposal numbered n with a value v, where v is the </a:t>
            </a:r>
            <a:r>
              <a:rPr lang="en-US" sz="1600" b="1" dirty="0" smtClean="0"/>
              <a:t>value of the highest-numbered proposal among the responses</a:t>
            </a:r>
            <a:r>
              <a:rPr lang="en-US" sz="1600" dirty="0" smtClean="0"/>
              <a:t>, or is </a:t>
            </a:r>
            <a:r>
              <a:rPr lang="en-US" sz="1600" b="1" dirty="0" smtClean="0"/>
              <a:t>any value</a:t>
            </a:r>
            <a:r>
              <a:rPr lang="en-US" sz="1600" dirty="0" smtClean="0"/>
              <a:t> if the responses reported </a:t>
            </a:r>
            <a:r>
              <a:rPr lang="en-US" sz="1600" b="1" dirty="0" smtClean="0"/>
              <a:t>no proposals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S1 sends </a:t>
            </a:r>
            <a:r>
              <a:rPr lang="en-US" sz="1600" b="1" dirty="0" smtClean="0"/>
              <a:t>A 3.1 X</a:t>
            </a:r>
            <a:r>
              <a:rPr lang="en-US" sz="1600" dirty="0" smtClean="0"/>
              <a:t> to S1, S2, and S3.</a:t>
            </a:r>
          </a:p>
          <a:p>
            <a:r>
              <a:rPr lang="en-US" sz="1600" dirty="0" smtClean="0"/>
              <a:t>S5 sends </a:t>
            </a:r>
            <a:r>
              <a:rPr lang="en-US" sz="1600" b="1" dirty="0" smtClean="0"/>
              <a:t>A 4.5 Y</a:t>
            </a:r>
            <a:r>
              <a:rPr lang="en-US" sz="1600" dirty="0" smtClean="0"/>
              <a:t> to S3, S4, and S5.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4038600"/>
            <a:ext cx="62420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Accept (n, v) = ok/no and highest proposal number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If an acceptor receives an accept request for a proposal numbered n, it </a:t>
            </a:r>
            <a:r>
              <a:rPr lang="en-US" sz="1600" i="1" dirty="0" smtClean="0">
                <a:solidFill>
                  <a:srgbClr val="C00000"/>
                </a:solidFill>
              </a:rPr>
              <a:t>accepts</a:t>
            </a:r>
            <a:r>
              <a:rPr lang="en-US" sz="1600" dirty="0" smtClean="0"/>
              <a:t> the proposal </a:t>
            </a:r>
            <a:r>
              <a:rPr lang="en-US" sz="1600" b="1" dirty="0" smtClean="0"/>
              <a:t>unless it has already responded</a:t>
            </a:r>
            <a:r>
              <a:rPr lang="en-US" sz="1600" dirty="0" smtClean="0"/>
              <a:t> to a prepare request having a number </a:t>
            </a:r>
            <a:r>
              <a:rPr lang="en-US" sz="1600" i="1" dirty="0" smtClean="0">
                <a:solidFill>
                  <a:srgbClr val="C00000"/>
                </a:solidFill>
              </a:rPr>
              <a:t>greater than</a:t>
            </a:r>
            <a:r>
              <a:rPr lang="en-US" sz="1600" dirty="0" smtClean="0"/>
              <a:t> n.</a:t>
            </a:r>
          </a:p>
          <a:p>
            <a:r>
              <a:rPr lang="en-US" sz="1600" dirty="0" smtClean="0"/>
              <a:t>S2 returns </a:t>
            </a:r>
            <a:r>
              <a:rPr lang="en-US" sz="1600" b="1" dirty="0" smtClean="0"/>
              <a:t>ok, 3.1</a:t>
            </a:r>
            <a:r>
              <a:rPr lang="en-US" sz="1600" dirty="0" smtClean="0"/>
              <a:t> to S1 because it has not responded to any prepare request having a number greater than 3.1. S3 return </a:t>
            </a:r>
            <a:r>
              <a:rPr lang="en-US" sz="1600" b="1" dirty="0" smtClean="0"/>
              <a:t>no, 4.5</a:t>
            </a:r>
            <a:r>
              <a:rPr lang="en-US" sz="1600" dirty="0" smtClean="0"/>
              <a:t> to S1 because it has responded to 4.5 prepare request that is greater than 3.1.</a:t>
            </a:r>
          </a:p>
          <a:p>
            <a:r>
              <a:rPr lang="en-US" sz="1600" dirty="0" smtClean="0"/>
              <a:t>S3 and S4 return ok, 4.5 to S5 because they has not responded to any prepare request having a number greater than 4.5.</a:t>
            </a:r>
          </a:p>
          <a:p>
            <a:r>
              <a:rPr lang="en-US" sz="1600" b="1" dirty="0" smtClean="0">
                <a:solidFill>
                  <a:srgbClr val="C00000"/>
                </a:solidFill>
              </a:rPr>
              <a:t>Notes: New proposer chooses its own value. Older proposal blocked.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4333875"/>
            <a:ext cx="62420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smtClean="0"/>
              <a:t>4: </a:t>
            </a:r>
            <a:r>
              <a:rPr lang="en-US" dirty="0" smtClean="0"/>
              <a:t>Prepare </a:t>
            </a:r>
            <a:r>
              <a:rPr lang="en-US" dirty="0" smtClean="0"/>
              <a:t>(n)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proposer chooses a new proposal number n and sends a request to each member of some set of acceptors.</a:t>
            </a:r>
          </a:p>
          <a:p>
            <a:r>
              <a:rPr lang="en-US" sz="2200" dirty="0" smtClean="0"/>
              <a:t>S1 sends P 3.1 to S1, S2, and S3.</a:t>
            </a:r>
          </a:p>
          <a:p>
            <a:r>
              <a:rPr lang="en-US" sz="2200" dirty="0" smtClean="0"/>
              <a:t>S5 sends P 3.5 to S5, S4, and S3.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4113" y="3698875"/>
            <a:ext cx="6835775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Prepare (n) = ok/no, highest-numbered proposal and accepted value (if any)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If an acceptor receives a prepare request with number n </a:t>
            </a:r>
            <a:r>
              <a:rPr lang="en-US" sz="1800" i="1" dirty="0" smtClean="0">
                <a:solidFill>
                  <a:srgbClr val="C00000"/>
                </a:solidFill>
              </a:rPr>
              <a:t>greater than</a:t>
            </a:r>
            <a:r>
              <a:rPr lang="en-US" sz="1800" dirty="0" smtClean="0"/>
              <a:t> that of any prepare request to which it has already responded, then it responds to the request with a </a:t>
            </a:r>
            <a:r>
              <a:rPr lang="en-US" sz="1800" b="1" dirty="0" smtClean="0"/>
              <a:t>promise</a:t>
            </a:r>
            <a:r>
              <a:rPr lang="en-US" sz="1800" dirty="0" smtClean="0"/>
              <a:t> not to accept any more proposals numbered less than n and with the highest-numbered proposal (</a:t>
            </a:r>
            <a:r>
              <a:rPr lang="en-US" sz="1800" b="1" dirty="0" smtClean="0"/>
              <a:t>if any</a:t>
            </a:r>
            <a:r>
              <a:rPr lang="en-US" sz="1800" dirty="0" smtClean="0"/>
              <a:t>) that it has </a:t>
            </a:r>
            <a:r>
              <a:rPr lang="en-US" sz="1800" i="1" dirty="0" smtClean="0">
                <a:solidFill>
                  <a:srgbClr val="C00000"/>
                </a:solidFill>
              </a:rPr>
              <a:t>accepted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S2 stores 3.1,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S1. S3 stores 3.1,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S1.</a:t>
            </a:r>
          </a:p>
          <a:p>
            <a:r>
              <a:rPr lang="en-US" sz="1800" dirty="0" smtClean="0"/>
              <a:t>S4 stores 3.5,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S5. S3 stores 3.5, returns </a:t>
            </a:r>
            <a:r>
              <a:rPr lang="en-US" sz="1800" b="1" dirty="0" smtClean="0"/>
              <a:t>ok, null, null</a:t>
            </a:r>
            <a:r>
              <a:rPr lang="en-US" sz="1800" dirty="0" smtClean="0"/>
              <a:t> to S5.</a:t>
            </a:r>
          </a:p>
          <a:p>
            <a:pPr>
              <a:buNone/>
            </a:pPr>
            <a:endParaRPr lang="en-US" sz="18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4113" y="4003675"/>
            <a:ext cx="6835775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 (n, 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If the proposer receives a response to its prepare requests (numbered n) from </a:t>
            </a:r>
            <a:r>
              <a:rPr lang="en-US" sz="1600" b="1" dirty="0" smtClean="0"/>
              <a:t>a majority of acceptors</a:t>
            </a:r>
            <a:r>
              <a:rPr lang="en-US" sz="1600" dirty="0" smtClean="0"/>
              <a:t>, then it sends an accept request to each of those acceptors for a proposal numbered n with a value v, where v is the </a:t>
            </a:r>
            <a:r>
              <a:rPr lang="en-US" sz="1600" b="1" dirty="0" smtClean="0"/>
              <a:t>value of the highest-numbered proposal among the responses</a:t>
            </a:r>
            <a:r>
              <a:rPr lang="en-US" sz="1600" dirty="0" smtClean="0"/>
              <a:t>, or is </a:t>
            </a:r>
            <a:r>
              <a:rPr lang="en-US" sz="1600" b="1" dirty="0" smtClean="0"/>
              <a:t>any value</a:t>
            </a:r>
            <a:r>
              <a:rPr lang="en-US" sz="1600" dirty="0" smtClean="0"/>
              <a:t> if the responses reported </a:t>
            </a:r>
            <a:r>
              <a:rPr lang="en-US" sz="1600" b="1" dirty="0" smtClean="0"/>
              <a:t>no proposals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S1 sends A 3.1 X to S1, S2, and S3.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4113" y="3733800"/>
            <a:ext cx="6835775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Accept (n, v) = ok/no and highest proposal number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If an acceptor receives an accept request for a proposal numbered n, it </a:t>
            </a:r>
            <a:r>
              <a:rPr lang="en-US" sz="1600" i="1" dirty="0" smtClean="0">
                <a:solidFill>
                  <a:srgbClr val="C00000"/>
                </a:solidFill>
              </a:rPr>
              <a:t>accepts</a:t>
            </a:r>
            <a:r>
              <a:rPr lang="en-US" sz="1600" dirty="0" smtClean="0"/>
              <a:t> the proposal </a:t>
            </a:r>
            <a:r>
              <a:rPr lang="en-US" sz="1600" b="1" dirty="0" smtClean="0"/>
              <a:t>unless it has already responded</a:t>
            </a:r>
            <a:r>
              <a:rPr lang="en-US" sz="1600" dirty="0" smtClean="0"/>
              <a:t> to a prepare request having a number </a:t>
            </a:r>
            <a:r>
              <a:rPr lang="en-US" sz="1600" i="1" dirty="0" smtClean="0">
                <a:solidFill>
                  <a:srgbClr val="C00000"/>
                </a:solidFill>
              </a:rPr>
              <a:t>greater than</a:t>
            </a:r>
            <a:r>
              <a:rPr lang="en-US" sz="1600" dirty="0" smtClean="0"/>
              <a:t> n.</a:t>
            </a:r>
          </a:p>
          <a:p>
            <a:r>
              <a:rPr lang="en-US" sz="1600" dirty="0" smtClean="0"/>
              <a:t>S3 returns </a:t>
            </a:r>
            <a:r>
              <a:rPr lang="en-US" sz="1600" b="1" dirty="0" smtClean="0"/>
              <a:t>no, 3.5</a:t>
            </a:r>
            <a:r>
              <a:rPr lang="en-US" sz="1600" dirty="0" smtClean="0"/>
              <a:t> to S1 because 3.5 &gt; 3.1.</a:t>
            </a:r>
          </a:p>
          <a:p>
            <a:r>
              <a:rPr lang="en-US" sz="1600" dirty="0" smtClean="0"/>
              <a:t>S1 sends P 4.1 Y to S1, S2, and S3.</a:t>
            </a:r>
          </a:p>
          <a:p>
            <a:r>
              <a:rPr lang="en-US" sz="1600" dirty="0" smtClean="0"/>
              <a:t>S5 sends A 3.5 Y to S3, S4, and S5. S3 returns </a:t>
            </a:r>
            <a:r>
              <a:rPr lang="en-US" sz="1600" b="1" dirty="0" smtClean="0"/>
              <a:t>no, 4.1</a:t>
            </a:r>
            <a:r>
              <a:rPr lang="en-US" sz="1600" dirty="0" smtClean="0"/>
              <a:t> to S5 because 4.1 &gt; 3.5.</a:t>
            </a:r>
          </a:p>
          <a:p>
            <a:r>
              <a:rPr lang="en-US" sz="1600" dirty="0" smtClean="0"/>
              <a:t>S5 sends P 5.5 to S3, S4, and S5.</a:t>
            </a:r>
          </a:p>
          <a:p>
            <a:r>
              <a:rPr lang="en-US" sz="1600" dirty="0" smtClean="0"/>
              <a:t>S1 sends A 4.1 X to S1, S2, and S3.</a:t>
            </a:r>
          </a:p>
          <a:p>
            <a:r>
              <a:rPr lang="en-US" sz="1600" dirty="0" smtClean="0"/>
              <a:t>S3 returns </a:t>
            </a:r>
            <a:r>
              <a:rPr lang="en-US" sz="1600" b="1" dirty="0" smtClean="0"/>
              <a:t>no, 5.5</a:t>
            </a:r>
            <a:r>
              <a:rPr lang="en-US" sz="1600" dirty="0" smtClean="0"/>
              <a:t> to S1 because 5.5 &gt; 4.1.</a:t>
            </a:r>
          </a:p>
          <a:p>
            <a:endParaRPr lang="en-US" sz="16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4113" y="4232275"/>
            <a:ext cx="6835775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Liveness</a:t>
            </a:r>
            <a:r>
              <a:rPr lang="en-US" dirty="0" smtClean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Competing proposers can </a:t>
            </a:r>
            <a:r>
              <a:rPr lang="en-US" sz="2400" dirty="0" err="1" smtClean="0"/>
              <a:t>livelock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One solution: randomized delay before restarting </a:t>
            </a:r>
          </a:p>
          <a:p>
            <a:pPr lvl="1"/>
            <a:r>
              <a:rPr lang="en-US" sz="2000" dirty="0" smtClean="0"/>
              <a:t>Give other proposers a chance to finish choosing </a:t>
            </a:r>
          </a:p>
          <a:p>
            <a:r>
              <a:rPr lang="en-US" sz="2400" dirty="0" smtClean="0"/>
              <a:t>Multi-</a:t>
            </a:r>
            <a:r>
              <a:rPr lang="en-US" sz="2400" dirty="0" err="1" smtClean="0"/>
              <a:t>Paxos</a:t>
            </a:r>
            <a:r>
              <a:rPr lang="en-US" sz="2400" dirty="0" smtClean="0"/>
              <a:t> will use leader election instead.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4113" y="2459038"/>
            <a:ext cx="6835775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</a:t>
            </a:r>
            <a:r>
              <a:rPr lang="en-US" dirty="0" err="1" smtClean="0"/>
              <a:t>Paxos</a:t>
            </a:r>
            <a:r>
              <a:rPr lang="en-US" dirty="0" smtClean="0"/>
              <a:t> Summary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1622425"/>
            <a:ext cx="6886575" cy="416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648200" y="5410200"/>
            <a:ext cx="42672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Arial" pitchFamily="34" charset="0"/>
                <a:cs typeface="Arial" pitchFamily="34" charset="0"/>
              </a:rPr>
              <a:t>Acceptors must store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minProposal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acceptedProposal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acceptedValue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on disk.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Round Number Persistence?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Each server stores </a:t>
            </a:r>
            <a:r>
              <a:rPr lang="en-US" sz="2800" dirty="0" err="1" smtClean="0"/>
              <a:t>maxRound</a:t>
            </a:r>
            <a:r>
              <a:rPr lang="en-US" sz="2800" dirty="0" smtClean="0"/>
              <a:t>: the largest Round Number it has seen so far.</a:t>
            </a:r>
          </a:p>
          <a:p>
            <a:r>
              <a:rPr lang="en-US" sz="2800" dirty="0" smtClean="0"/>
              <a:t>Proposers must persist </a:t>
            </a:r>
            <a:r>
              <a:rPr lang="en-US" sz="2800" dirty="0" err="1" smtClean="0"/>
              <a:t>maxRound</a:t>
            </a:r>
            <a:r>
              <a:rPr lang="en-US" sz="2800" dirty="0" smtClean="0"/>
              <a:t> </a:t>
            </a:r>
            <a:r>
              <a:rPr lang="en-US" sz="2800" i="1" dirty="0" smtClean="0">
                <a:solidFill>
                  <a:srgbClr val="C00000"/>
                </a:solidFill>
              </a:rPr>
              <a:t>on disk</a:t>
            </a:r>
            <a:r>
              <a:rPr lang="en-US" sz="2800" dirty="0" smtClean="0"/>
              <a:t>. Why?</a:t>
            </a:r>
          </a:p>
          <a:p>
            <a:r>
              <a:rPr lang="en-US" sz="2800" dirty="0" smtClean="0"/>
              <a:t>Proposers must not reuse proposal numbers after crash/restart because this may lead to </a:t>
            </a:r>
            <a:r>
              <a:rPr lang="en-US" sz="2800" dirty="0" smtClean="0">
                <a:sym typeface="Wingdings" pitchFamily="2" charset="2"/>
              </a:rPr>
              <a:t>duplication.</a:t>
            </a:r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Only proposer knows which value has been chosen.</a:t>
            </a:r>
          </a:p>
          <a:p>
            <a:r>
              <a:rPr lang="en-US" sz="2400" dirty="0" smtClean="0"/>
              <a:t>If other servers want to know, must execute </a:t>
            </a:r>
            <a:r>
              <a:rPr lang="en-US" sz="2400" dirty="0" err="1" smtClean="0"/>
              <a:t>Paxos</a:t>
            </a:r>
            <a:r>
              <a:rPr lang="en-US" sz="2400" dirty="0" smtClean="0"/>
              <a:t> with their own proposal.</a:t>
            </a:r>
          </a:p>
          <a:p>
            <a:r>
              <a:rPr lang="en-US" sz="2400" dirty="0" err="1" smtClean="0"/>
              <a:t>Paxos</a:t>
            </a:r>
            <a:r>
              <a:rPr lang="en-US" sz="2400" dirty="0" smtClean="0"/>
              <a:t> may be considered as </a:t>
            </a:r>
            <a:r>
              <a:rPr lang="en-US" sz="2400" i="1" dirty="0" smtClean="0">
                <a:solidFill>
                  <a:srgbClr val="C00000"/>
                </a:solidFill>
              </a:rPr>
              <a:t>3-phase</a:t>
            </a:r>
            <a:r>
              <a:rPr lang="en-US" sz="2400" dirty="0" smtClean="0"/>
              <a:t> </a:t>
            </a:r>
            <a:r>
              <a:rPr lang="en-US" sz="2400" b="1" dirty="0" smtClean="0"/>
              <a:t>approach</a:t>
            </a:r>
            <a:r>
              <a:rPr lang="en-US" sz="2400" dirty="0" smtClean="0"/>
              <a:t> if a </a:t>
            </a:r>
            <a:r>
              <a:rPr lang="en-US" sz="2400" i="1" dirty="0" smtClean="0">
                <a:solidFill>
                  <a:srgbClr val="C00000"/>
                </a:solidFill>
              </a:rPr>
              <a:t>Commit phase</a:t>
            </a:r>
            <a:r>
              <a:rPr lang="en-US" sz="2400" dirty="0" smtClean="0"/>
              <a:t> is included to let all servers know that a value has been chosen.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 </a:t>
            </a:r>
            <a:r>
              <a:rPr lang="en-US" dirty="0" err="1" smtClean="0"/>
              <a:t>Paxos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Note: Multi-</a:t>
            </a:r>
            <a:r>
              <a:rPr lang="en-US" sz="2400" b="1" dirty="0" err="1" smtClean="0"/>
              <a:t>Paxos</a:t>
            </a:r>
            <a:r>
              <a:rPr lang="en-US" sz="2400" b="1" dirty="0" smtClean="0"/>
              <a:t> not specified precisely in literature.</a:t>
            </a:r>
          </a:p>
          <a:p>
            <a:r>
              <a:rPr lang="en-US" sz="2400" b="1" dirty="0" smtClean="0">
                <a:solidFill>
                  <a:srgbClr val="C00000"/>
                </a:solidFill>
              </a:rPr>
              <a:t>Key idea: Add log index parameter to each basic </a:t>
            </a:r>
            <a:r>
              <a:rPr lang="en-US" sz="2400" b="1" dirty="0" err="1" smtClean="0">
                <a:solidFill>
                  <a:srgbClr val="C00000"/>
                </a:solidFill>
              </a:rPr>
              <a:t>Paxos</a:t>
            </a:r>
            <a:r>
              <a:rPr lang="en-US" sz="2400" b="1" dirty="0" smtClean="0">
                <a:solidFill>
                  <a:srgbClr val="C00000"/>
                </a:solidFill>
              </a:rPr>
              <a:t> prepare and accept requests. Each log index has its own separate basic </a:t>
            </a:r>
            <a:r>
              <a:rPr lang="en-US" sz="2400" b="1" dirty="0" err="1" smtClean="0">
                <a:solidFill>
                  <a:srgbClr val="C00000"/>
                </a:solidFill>
              </a:rPr>
              <a:t>Paxos</a:t>
            </a:r>
            <a:r>
              <a:rPr lang="en-US" sz="2400" b="1" dirty="0" smtClean="0">
                <a:solidFill>
                  <a:srgbClr val="C00000"/>
                </a:solidFill>
              </a:rPr>
              <a:t> instance.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7100" y="3552825"/>
            <a:ext cx="72898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>
            <a:off x="2057400" y="6172200"/>
            <a:ext cx="838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Selecting Log Index for a Client's Request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Key idea: Trial from the left to the right using Prepare.</a:t>
            </a:r>
          </a:p>
          <a:p>
            <a:r>
              <a:rPr lang="en-US" sz="2000" dirty="0" smtClean="0"/>
              <a:t>Servers can handle multiple client requests concurrently: Select different log entries for each. Must apply commands to state machine in log order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3850" y="2854325"/>
            <a:ext cx="5956300" cy="347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Improving Efficiency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8400" y="1962150"/>
            <a:ext cx="680720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Leader Election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0288" y="1708150"/>
            <a:ext cx="7083425" cy="408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Eliminating Prepares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5050" y="1644650"/>
            <a:ext cx="7073900" cy="429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13126</TotalTime>
  <Words>2327</Words>
  <Application>Microsoft Office PowerPoint</Application>
  <PresentationFormat>On-screen Show (4:3)</PresentationFormat>
  <Paragraphs>184</Paragraphs>
  <Slides>44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Consensus - Paxos</vt:lpstr>
      <vt:lpstr>Objectives</vt:lpstr>
      <vt:lpstr>Contents</vt:lpstr>
      <vt:lpstr>References</vt:lpstr>
      <vt:lpstr>Paxos Components</vt:lpstr>
      <vt:lpstr>Strawman: Single Acceptor</vt:lpstr>
      <vt:lpstr>Acceptor accepts only first value it receives? </vt:lpstr>
      <vt:lpstr>Acceptor accepts every value it receives?</vt:lpstr>
      <vt:lpstr>Idea: 2-Phase protocol is needed</vt:lpstr>
      <vt:lpstr>Idea: Proposal numbers are necessary</vt:lpstr>
      <vt:lpstr>Proposal Numbers </vt:lpstr>
      <vt:lpstr>Example Proposal Numbers</vt:lpstr>
      <vt:lpstr>Basic Paxos</vt:lpstr>
      <vt:lpstr>Example 1: Prepare (n)</vt:lpstr>
      <vt:lpstr>Prepare (n) = ok/no, highest-numbered proposal and accepted value (if any)</vt:lpstr>
      <vt:lpstr>Accept (n, v)</vt:lpstr>
      <vt:lpstr>Accept (n, v) = ok/no and highest proposal number</vt:lpstr>
      <vt:lpstr>Slide 18</vt:lpstr>
      <vt:lpstr>Example 2: Prepare (n)</vt:lpstr>
      <vt:lpstr>Prepare (n) = ok/no, highest-numbered proposal and accepted value (if any)</vt:lpstr>
      <vt:lpstr>Accept (n, v)</vt:lpstr>
      <vt:lpstr>Accept (n, v) = ok/no and highest proposal number</vt:lpstr>
      <vt:lpstr>Slide 23</vt:lpstr>
      <vt:lpstr>Example 3: Prepare (n)</vt:lpstr>
      <vt:lpstr>Prepare (n) = ok/no, highest-numbered proposal and accepted value (if any)</vt:lpstr>
      <vt:lpstr>Accept (n, v)</vt:lpstr>
      <vt:lpstr>Accept (n, v) = ok/no and highest proposal number</vt:lpstr>
      <vt:lpstr>Slide 28</vt:lpstr>
      <vt:lpstr>Example 4: Prepare (n)</vt:lpstr>
      <vt:lpstr>Prepare (n) = ok/no, highest-numbered proposal and accepted value (if any)</vt:lpstr>
      <vt:lpstr>Accept (n, v)</vt:lpstr>
      <vt:lpstr>Accept (n, v) = ok/no and highest proposal number</vt:lpstr>
      <vt:lpstr>Liveness </vt:lpstr>
      <vt:lpstr>Slide 34</vt:lpstr>
      <vt:lpstr>Basic Paxos Summary</vt:lpstr>
      <vt:lpstr>Why Round Number Persistence?</vt:lpstr>
      <vt:lpstr>Notes</vt:lpstr>
      <vt:lpstr>Slide 38</vt:lpstr>
      <vt:lpstr>Multi Paxos</vt:lpstr>
      <vt:lpstr>Selecting Log Index for a Client's Request</vt:lpstr>
      <vt:lpstr>Improving Efficiency</vt:lpstr>
      <vt:lpstr>Leader Election</vt:lpstr>
      <vt:lpstr>Eliminating Prepares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6261</cp:revision>
  <dcterms:created xsi:type="dcterms:W3CDTF">2007-10-06T08:25:13Z</dcterms:created>
  <dcterms:modified xsi:type="dcterms:W3CDTF">2025-02-27T09:59:11Z</dcterms:modified>
</cp:coreProperties>
</file>