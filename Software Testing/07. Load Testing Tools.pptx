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46"/>
  </p:notesMasterIdLst>
  <p:handoutMasterIdLst>
    <p:handoutMasterId r:id="rId47"/>
  </p:handoutMasterIdLst>
  <p:sldIdLst>
    <p:sldId id="256" r:id="rId2"/>
    <p:sldId id="589" r:id="rId3"/>
    <p:sldId id="590" r:id="rId4"/>
    <p:sldId id="591" r:id="rId5"/>
    <p:sldId id="660" r:id="rId6"/>
    <p:sldId id="666" r:id="rId7"/>
    <p:sldId id="667" r:id="rId8"/>
    <p:sldId id="668" r:id="rId9"/>
    <p:sldId id="669" r:id="rId10"/>
    <p:sldId id="659" r:id="rId11"/>
    <p:sldId id="671" r:id="rId12"/>
    <p:sldId id="672" r:id="rId13"/>
    <p:sldId id="673" r:id="rId14"/>
    <p:sldId id="683" r:id="rId15"/>
    <p:sldId id="676" r:id="rId16"/>
    <p:sldId id="677" r:id="rId17"/>
    <p:sldId id="681" r:id="rId18"/>
    <p:sldId id="675" r:id="rId19"/>
    <p:sldId id="679" r:id="rId20"/>
    <p:sldId id="680" r:id="rId21"/>
    <p:sldId id="682" r:id="rId22"/>
    <p:sldId id="684" r:id="rId23"/>
    <p:sldId id="686" r:id="rId24"/>
    <p:sldId id="685" r:id="rId25"/>
    <p:sldId id="687" r:id="rId26"/>
    <p:sldId id="688" r:id="rId27"/>
    <p:sldId id="689" r:id="rId28"/>
    <p:sldId id="690" r:id="rId29"/>
    <p:sldId id="694" r:id="rId30"/>
    <p:sldId id="691" r:id="rId31"/>
    <p:sldId id="692" r:id="rId32"/>
    <p:sldId id="693" r:id="rId33"/>
    <p:sldId id="695" r:id="rId34"/>
    <p:sldId id="697" r:id="rId35"/>
    <p:sldId id="698" r:id="rId36"/>
    <p:sldId id="699" r:id="rId37"/>
    <p:sldId id="700" r:id="rId38"/>
    <p:sldId id="701" r:id="rId39"/>
    <p:sldId id="702" r:id="rId40"/>
    <p:sldId id="703" r:id="rId41"/>
    <p:sldId id="704" r:id="rId42"/>
    <p:sldId id="705" r:id="rId43"/>
    <p:sldId id="706" r:id="rId44"/>
    <p:sldId id="343" r:id="rId4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06" autoAdjust="0"/>
    <p:restoredTop sz="94585" autoAdjust="0"/>
  </p:normalViewPr>
  <p:slideViewPr>
    <p:cSldViewPr>
      <p:cViewPr>
        <p:scale>
          <a:sx n="50" d="100"/>
          <a:sy n="50" d="100"/>
        </p:scale>
        <p:origin x="-1550" y="-39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D8BFB5-794C-4D8F-A7A0-447467B3BA6F}" type="datetimeFigureOut">
              <a:rPr lang="en-US" smtClean="0"/>
              <a:pPr/>
              <a:t>7/15/2026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AF41D53-27B3-4381-8155-F4CFBCEB0725}"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33D5C3-0820-4FAB-ABA1-6D9651D57222}" type="datetimeFigureOut">
              <a:rPr lang="en-US" smtClean="0"/>
              <a:pPr/>
              <a:t>7/15/2026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2560AE-83EB-4E74-ABFC-279D183C46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7/15/2026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7/15/2026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7/15/2026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oracle.com/java/technologies/downloa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jmeter.apache.org/download_jmeter.cgi"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jmeter.apache.org/usermanual/build-web-test-plan.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jmeter.apache.org/usermanual/build-ws-test-plan.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locust.io/"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grafana.com/" TargetMode="External"/><Relationship Id="rId2" Type="http://schemas.openxmlformats.org/officeDocument/2006/relationships/hyperlink" Target="https://grafana.com/pricing/?src=k6io"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valiantgranola1655.grafana.net/a/k6-app/runs/7719358"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192.168.1.45:5665/"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Load Testing Tools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err="1" smtClean="0"/>
              <a:t>JMeter</a:t>
            </a:r>
            <a:endParaRPr lang="en-US" sz="2400" dirty="0" smtClean="0"/>
          </a:p>
          <a:p>
            <a:pPr marL="571500" indent="-571500">
              <a:buFont typeface="+mj-lt"/>
              <a:buAutoNum type="romanUcPeriod"/>
            </a:pPr>
            <a:r>
              <a:rPr lang="en-US" sz="2400" dirty="0" smtClean="0"/>
              <a:t>Locust</a:t>
            </a:r>
            <a:endParaRPr lang="en-US" sz="2400" dirty="0" smtClean="0"/>
          </a:p>
          <a:p>
            <a:pPr marL="571500" indent="-571500">
              <a:buFont typeface="+mj-lt"/>
              <a:buAutoNum type="romanUcPeriod"/>
            </a:pPr>
            <a:r>
              <a:rPr lang="en-US" sz="2400" dirty="0" smtClean="0"/>
              <a:t>k6</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a:buFont typeface="+mj-lt"/>
              <a:buAutoNum type="arabicPeriod"/>
            </a:pPr>
            <a:endParaRPr lang="en-US" sz="18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JDK 24 on Windows</a:t>
            </a:r>
            <a:endParaRPr lang="en-US" dirty="0"/>
          </a:p>
        </p:txBody>
      </p:sp>
      <p:sp>
        <p:nvSpPr>
          <p:cNvPr id="3" name="Content Placeholder 2"/>
          <p:cNvSpPr>
            <a:spLocks noGrp="1"/>
          </p:cNvSpPr>
          <p:nvPr>
            <p:ph idx="1"/>
          </p:nvPr>
        </p:nvSpPr>
        <p:spPr/>
        <p:txBody>
          <a:bodyPr/>
          <a:lstStyle/>
          <a:p>
            <a:r>
              <a:rPr lang="en-US" sz="2400" dirty="0" smtClean="0">
                <a:hlinkClick r:id="rId2"/>
              </a:rPr>
              <a:t>https://www.oracle.com/java/technologies/downloads/</a:t>
            </a:r>
            <a:endParaRPr lang="en-US" sz="2400" dirty="0" smtClean="0"/>
          </a:p>
          <a:p>
            <a:endParaRPr lang="en-US" sz="2400" dirty="0"/>
          </a:p>
        </p:txBody>
      </p:sp>
      <p:pic>
        <p:nvPicPr>
          <p:cNvPr id="4" name="Picture 2"/>
          <p:cNvPicPr>
            <a:picLocks noChangeAspect="1" noChangeArrowheads="1"/>
          </p:cNvPicPr>
          <p:nvPr/>
        </p:nvPicPr>
        <p:blipFill>
          <a:blip r:embed="rId3" cstate="print"/>
          <a:srcRect/>
          <a:stretch>
            <a:fillRect/>
          </a:stretch>
        </p:blipFill>
        <p:spPr bwMode="auto">
          <a:xfrm>
            <a:off x="2192338" y="2555875"/>
            <a:ext cx="4759325" cy="36163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JAVA_HOME Variable</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pic>
        <p:nvPicPr>
          <p:cNvPr id="4" name="Picture 2"/>
          <p:cNvPicPr>
            <a:picLocks noChangeAspect="1" noChangeArrowheads="1"/>
          </p:cNvPicPr>
          <p:nvPr/>
        </p:nvPicPr>
        <p:blipFill>
          <a:blip r:embed="rId2" cstate="print"/>
          <a:srcRect/>
          <a:stretch>
            <a:fillRect/>
          </a:stretch>
        </p:blipFill>
        <p:spPr bwMode="auto">
          <a:xfrm>
            <a:off x="1498600" y="1719580"/>
            <a:ext cx="6273800" cy="445262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Verify JAVA_HOME Variable</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echo %JAVA_HOME%</a:t>
            </a:r>
          </a:p>
          <a:p>
            <a:pPr>
              <a:buNone/>
            </a:pP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1676400" y="2895600"/>
            <a:ext cx="5556250" cy="22288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Download and Unzip </a:t>
            </a:r>
            <a:r>
              <a:rPr lang="en-US" dirty="0" err="1" smtClean="0"/>
              <a:t>JMeter</a:t>
            </a:r>
            <a:endParaRPr lang="en-US" dirty="0"/>
          </a:p>
        </p:txBody>
      </p:sp>
      <p:sp>
        <p:nvSpPr>
          <p:cNvPr id="3" name="Content Placeholder 2"/>
          <p:cNvSpPr>
            <a:spLocks noGrp="1"/>
          </p:cNvSpPr>
          <p:nvPr>
            <p:ph idx="1"/>
          </p:nvPr>
        </p:nvSpPr>
        <p:spPr/>
        <p:txBody>
          <a:bodyPr/>
          <a:lstStyle/>
          <a:p>
            <a:r>
              <a:rPr lang="en-US" sz="2400" dirty="0" smtClean="0">
                <a:hlinkClick r:id="rId2"/>
              </a:rPr>
              <a:t>https://jmeter.apache.org/download_jmeter.cgi</a:t>
            </a:r>
            <a:endParaRPr lang="en-US" sz="2400" dirty="0" smtClean="0"/>
          </a:p>
          <a:p>
            <a:endParaRPr lang="en-US" sz="2400" dirty="0"/>
          </a:p>
        </p:txBody>
      </p:sp>
      <p:pic>
        <p:nvPicPr>
          <p:cNvPr id="4098" name="Picture 2"/>
          <p:cNvPicPr>
            <a:picLocks noChangeAspect="1" noChangeArrowheads="1"/>
          </p:cNvPicPr>
          <p:nvPr/>
        </p:nvPicPr>
        <p:blipFill>
          <a:blip r:embed="rId3" cstate="print"/>
          <a:srcRect/>
          <a:stretch>
            <a:fillRect/>
          </a:stretch>
        </p:blipFill>
        <p:spPr bwMode="auto">
          <a:xfrm>
            <a:off x="2538413" y="2498725"/>
            <a:ext cx="4067175" cy="32162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Run </a:t>
            </a:r>
            <a:r>
              <a:rPr lang="en-US" dirty="0" err="1" smtClean="0"/>
              <a:t>Jmeter</a:t>
            </a:r>
            <a:r>
              <a:rPr lang="en-US" dirty="0" smtClean="0"/>
              <a:t> (jmeter.bat)</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993775" y="1625600"/>
            <a:ext cx="7156450" cy="4622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Web Test Plan </a:t>
            </a:r>
            <a:endParaRPr lang="en-US" dirty="0"/>
          </a:p>
        </p:txBody>
      </p:sp>
      <p:sp>
        <p:nvSpPr>
          <p:cNvPr id="3" name="Content Placeholder 2"/>
          <p:cNvSpPr>
            <a:spLocks noGrp="1"/>
          </p:cNvSpPr>
          <p:nvPr>
            <p:ph idx="1"/>
          </p:nvPr>
        </p:nvSpPr>
        <p:spPr/>
        <p:txBody>
          <a:bodyPr/>
          <a:lstStyle/>
          <a:p>
            <a:r>
              <a:rPr lang="en-US" sz="2200" dirty="0" smtClean="0">
                <a:hlinkClick r:id="rId2"/>
              </a:rPr>
              <a:t>https://jmeter.apache.org/usermanual/build-web-test-plan.html</a:t>
            </a:r>
            <a:endParaRPr lang="en-US" sz="2200" dirty="0" smtClean="0"/>
          </a:p>
          <a:p>
            <a:r>
              <a:rPr lang="en-US" sz="2200" dirty="0" smtClean="0"/>
              <a:t>File &gt; Templates.</a:t>
            </a:r>
            <a:endParaRPr lang="en-US" sz="2200" dirty="0"/>
          </a:p>
        </p:txBody>
      </p:sp>
      <p:pic>
        <p:nvPicPr>
          <p:cNvPr id="6146" name="Picture 2"/>
          <p:cNvPicPr>
            <a:picLocks noChangeAspect="1" noChangeArrowheads="1"/>
          </p:cNvPicPr>
          <p:nvPr/>
        </p:nvPicPr>
        <p:blipFill>
          <a:blip r:embed="rId3" cstate="print"/>
          <a:srcRect/>
          <a:stretch>
            <a:fillRect/>
          </a:stretch>
        </p:blipFill>
        <p:spPr bwMode="auto">
          <a:xfrm>
            <a:off x="1752600" y="2743200"/>
            <a:ext cx="5732780" cy="325374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Remove Scenario 1</a:t>
            </a:r>
            <a:endParaRPr lang="en-US" dirty="0"/>
          </a:p>
        </p:txBody>
      </p:sp>
      <p:pic>
        <p:nvPicPr>
          <p:cNvPr id="7171" name="Picture 3"/>
          <p:cNvPicPr>
            <a:picLocks noChangeAspect="1" noChangeArrowheads="1"/>
          </p:cNvPicPr>
          <p:nvPr/>
        </p:nvPicPr>
        <p:blipFill>
          <a:blip r:embed="rId2" cstate="print"/>
          <a:srcRect/>
          <a:stretch>
            <a:fillRect/>
          </a:stretch>
        </p:blipFill>
        <p:spPr bwMode="auto">
          <a:xfrm>
            <a:off x="1765300" y="2057400"/>
            <a:ext cx="5613400" cy="3419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Add Thread Group</a:t>
            </a:r>
            <a:endParaRPr lang="en-US" dirty="0"/>
          </a:p>
        </p:txBody>
      </p:sp>
      <p:pic>
        <p:nvPicPr>
          <p:cNvPr id="8195" name="Picture 3"/>
          <p:cNvPicPr>
            <a:picLocks noChangeAspect="1" noChangeArrowheads="1"/>
          </p:cNvPicPr>
          <p:nvPr/>
        </p:nvPicPr>
        <p:blipFill>
          <a:blip r:embed="rId2" cstate="print"/>
          <a:srcRect/>
          <a:stretch>
            <a:fillRect/>
          </a:stretch>
        </p:blipFill>
        <p:spPr bwMode="auto">
          <a:xfrm>
            <a:off x="989013" y="2149475"/>
            <a:ext cx="7165975" cy="30321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Configure Thread Group</a:t>
            </a:r>
            <a:endParaRPr lang="en-US" dirty="0"/>
          </a:p>
        </p:txBody>
      </p:sp>
      <p:sp>
        <p:nvSpPr>
          <p:cNvPr id="3" name="Content Placeholder 2"/>
          <p:cNvSpPr>
            <a:spLocks noGrp="1"/>
          </p:cNvSpPr>
          <p:nvPr>
            <p:ph idx="1"/>
          </p:nvPr>
        </p:nvSpPr>
        <p:spPr>
          <a:xfrm>
            <a:off x="457200" y="1600200"/>
            <a:ext cx="2743200" cy="4525963"/>
          </a:xfrm>
        </p:spPr>
        <p:txBody>
          <a:bodyPr/>
          <a:lstStyle/>
          <a:p>
            <a:r>
              <a:rPr lang="en-US" sz="2200" b="1" dirty="0" smtClean="0"/>
              <a:t>Number of threads (users)</a:t>
            </a:r>
            <a:r>
              <a:rPr lang="en-US" sz="2200" dirty="0" smtClean="0"/>
              <a:t>: 100</a:t>
            </a:r>
          </a:p>
          <a:p>
            <a:r>
              <a:rPr lang="en-US" sz="2200" b="1" dirty="0" smtClean="0"/>
              <a:t>Ramp-up period</a:t>
            </a:r>
            <a:r>
              <a:rPr lang="en-US" sz="2200" dirty="0" smtClean="0"/>
              <a:t>: 10 seconds</a:t>
            </a:r>
          </a:p>
          <a:p>
            <a:r>
              <a:rPr lang="en-US" sz="2200" dirty="0" smtClean="0"/>
              <a:t>In this case, </a:t>
            </a:r>
            <a:r>
              <a:rPr lang="en-US" sz="2200" dirty="0" err="1" smtClean="0"/>
              <a:t>JMeter</a:t>
            </a:r>
            <a:r>
              <a:rPr lang="en-US" sz="2200" dirty="0" smtClean="0"/>
              <a:t> will add 10 users per second for 10 seconds until all 100 users are active. </a:t>
            </a:r>
          </a:p>
          <a:p>
            <a:endParaRPr lang="en-US" sz="2200" dirty="0"/>
          </a:p>
        </p:txBody>
      </p:sp>
      <p:pic>
        <p:nvPicPr>
          <p:cNvPr id="14338" name="Picture 2"/>
          <p:cNvPicPr>
            <a:picLocks noChangeAspect="1" noChangeArrowheads="1"/>
          </p:cNvPicPr>
          <p:nvPr/>
        </p:nvPicPr>
        <p:blipFill>
          <a:blip r:embed="rId2" cstate="print"/>
          <a:srcRect/>
          <a:stretch>
            <a:fillRect/>
          </a:stretch>
        </p:blipFill>
        <p:spPr bwMode="auto">
          <a:xfrm>
            <a:off x="3505200" y="1600200"/>
            <a:ext cx="5076825" cy="33369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Add HTTP Request Defaults</a:t>
            </a:r>
            <a:endParaRPr lang="en-US" dirty="0"/>
          </a:p>
        </p:txBody>
      </p:sp>
      <p:sp>
        <p:nvSpPr>
          <p:cNvPr id="3" name="Content Placeholder 2"/>
          <p:cNvSpPr>
            <a:spLocks noGrp="1"/>
          </p:cNvSpPr>
          <p:nvPr>
            <p:ph idx="1"/>
          </p:nvPr>
        </p:nvSpPr>
        <p:spPr/>
        <p:txBody>
          <a:bodyPr/>
          <a:lstStyle/>
          <a:p>
            <a:r>
              <a:rPr lang="en-US" dirty="0" smtClean="0"/>
              <a:t>To configure default values for all requests.</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927100" y="2613025"/>
            <a:ext cx="7289800" cy="34829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Configure HTTP Request Defaults</a:t>
            </a: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838200" y="2362200"/>
            <a:ext cx="7289800" cy="29845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Add HTTP Cookie Manager</a:t>
            </a:r>
            <a:endParaRPr lang="en-US" dirty="0"/>
          </a:p>
        </p:txBody>
      </p:sp>
      <p:pic>
        <p:nvPicPr>
          <p:cNvPr id="13314" name="Picture 2"/>
          <p:cNvPicPr>
            <a:picLocks noChangeAspect="1" noChangeArrowheads="1"/>
          </p:cNvPicPr>
          <p:nvPr/>
        </p:nvPicPr>
        <p:blipFill>
          <a:blip r:embed="rId2" cstate="print"/>
          <a:srcRect/>
          <a:stretch>
            <a:fillRect/>
          </a:stretch>
        </p:blipFill>
        <p:spPr bwMode="auto">
          <a:xfrm>
            <a:off x="1530350" y="2441575"/>
            <a:ext cx="6083300" cy="26638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Add HTTP Request Sample</a:t>
            </a:r>
            <a:endParaRPr lang="en-US" dirty="0"/>
          </a:p>
        </p:txBody>
      </p:sp>
      <p:pic>
        <p:nvPicPr>
          <p:cNvPr id="9218" name="Picture 2"/>
          <p:cNvPicPr>
            <a:picLocks noChangeAspect="1" noChangeArrowheads="1"/>
          </p:cNvPicPr>
          <p:nvPr/>
        </p:nvPicPr>
        <p:blipFill>
          <a:blip r:embed="rId2" cstate="print"/>
          <a:srcRect/>
          <a:stretch>
            <a:fillRect/>
          </a:stretch>
        </p:blipFill>
        <p:spPr bwMode="auto">
          <a:xfrm>
            <a:off x="1430338" y="2327275"/>
            <a:ext cx="6283325" cy="27019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Configure the HTTP Request</a:t>
            </a:r>
            <a:endParaRPr lang="en-US" dirty="0"/>
          </a:p>
        </p:txBody>
      </p:sp>
      <p:pic>
        <p:nvPicPr>
          <p:cNvPr id="11267" name="Picture 3"/>
          <p:cNvPicPr>
            <a:picLocks noChangeAspect="1" noChangeArrowheads="1"/>
          </p:cNvPicPr>
          <p:nvPr/>
        </p:nvPicPr>
        <p:blipFill>
          <a:blip r:embed="rId2" cstate="print"/>
          <a:srcRect/>
          <a:stretch>
            <a:fillRect/>
          </a:stretch>
        </p:blipFill>
        <p:spPr bwMode="auto">
          <a:xfrm>
            <a:off x="763588" y="1676400"/>
            <a:ext cx="7616825" cy="44958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Run the Test and View Results</a:t>
            </a:r>
            <a:endParaRPr lang="en-US" dirty="0"/>
          </a:p>
        </p:txBody>
      </p:sp>
      <p:pic>
        <p:nvPicPr>
          <p:cNvPr id="12291" name="Picture 3"/>
          <p:cNvPicPr>
            <a:picLocks noChangeAspect="1" noChangeArrowheads="1"/>
          </p:cNvPicPr>
          <p:nvPr/>
        </p:nvPicPr>
        <p:blipFill>
          <a:blip r:embed="rId2" cstate="print"/>
          <a:srcRect/>
          <a:stretch>
            <a:fillRect/>
          </a:stretch>
        </p:blipFill>
        <p:spPr bwMode="auto">
          <a:xfrm>
            <a:off x="941388" y="2120900"/>
            <a:ext cx="7261225" cy="34417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a:t>
            </a:r>
            <a:r>
              <a:rPr lang="en-US" dirty="0" err="1" smtClean="0"/>
              <a:t>WebService</a:t>
            </a:r>
            <a:r>
              <a:rPr lang="en-US" dirty="0" smtClean="0"/>
              <a:t> Test Plan </a:t>
            </a:r>
            <a:endParaRPr lang="en-US" dirty="0"/>
          </a:p>
        </p:txBody>
      </p:sp>
      <p:sp>
        <p:nvSpPr>
          <p:cNvPr id="3" name="Content Placeholder 2"/>
          <p:cNvSpPr>
            <a:spLocks noGrp="1"/>
          </p:cNvSpPr>
          <p:nvPr>
            <p:ph idx="1"/>
          </p:nvPr>
        </p:nvSpPr>
        <p:spPr/>
        <p:txBody>
          <a:bodyPr/>
          <a:lstStyle/>
          <a:p>
            <a:r>
              <a:rPr lang="en-US" sz="2200" dirty="0" smtClean="0">
                <a:hlinkClick r:id="rId2"/>
              </a:rPr>
              <a:t>https://jmeter.apache.org/usermanual/build-ws-test-plan.html</a:t>
            </a:r>
            <a:endParaRPr lang="en-US" sz="2200" dirty="0" smtClean="0"/>
          </a:p>
          <a:p>
            <a:r>
              <a:rPr lang="en-US" sz="2200" dirty="0" smtClean="0"/>
              <a:t>File &gt; Templates.</a:t>
            </a:r>
            <a:endParaRPr lang="en-US" sz="2200" dirty="0"/>
          </a:p>
        </p:txBody>
      </p:sp>
      <p:pic>
        <p:nvPicPr>
          <p:cNvPr id="1026" name="Picture 2"/>
          <p:cNvPicPr>
            <a:picLocks noChangeAspect="1" noChangeArrowheads="1"/>
          </p:cNvPicPr>
          <p:nvPr/>
        </p:nvPicPr>
        <p:blipFill>
          <a:blip r:embed="rId3" cstate="print"/>
          <a:srcRect/>
          <a:stretch>
            <a:fillRect/>
          </a:stretch>
        </p:blipFill>
        <p:spPr bwMode="auto">
          <a:xfrm>
            <a:off x="1371600" y="2667000"/>
            <a:ext cx="6446520" cy="363474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Enter Server Name or IP</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322388" y="2219325"/>
            <a:ext cx="6499225" cy="29622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Enter Soap Request Information</a:t>
            </a:r>
            <a:endParaRPr lang="en-US" dirty="0"/>
          </a:p>
        </p:txBody>
      </p:sp>
      <p:sp>
        <p:nvSpPr>
          <p:cNvPr id="3" name="Content Placeholder 2"/>
          <p:cNvSpPr>
            <a:spLocks noGrp="1"/>
          </p:cNvSpPr>
          <p:nvPr>
            <p:ph idx="1"/>
          </p:nvPr>
        </p:nvSpPr>
        <p:spPr/>
        <p:txBody>
          <a:bodyPr/>
          <a:lstStyle/>
          <a:p>
            <a:r>
              <a:rPr lang="en-US" sz="1800" b="1" dirty="0" smtClean="0">
                <a:solidFill>
                  <a:srgbClr val="C00000"/>
                </a:solidFill>
              </a:rPr>
              <a:t>Use SOAPUI to Generate SOAP Message from WSDL. This is important because an incompatible SOAP request may cause strange returns, not errors.</a:t>
            </a:r>
            <a:endParaRPr lang="en-US" sz="1800" b="1" dirty="0">
              <a:solidFill>
                <a:srgbClr val="C00000"/>
              </a:solidFill>
            </a:endParaRPr>
          </a:p>
        </p:txBody>
      </p:sp>
      <p:pic>
        <p:nvPicPr>
          <p:cNvPr id="5" name="Picture 2"/>
          <p:cNvPicPr>
            <a:picLocks noChangeAspect="1" noChangeArrowheads="1"/>
          </p:cNvPicPr>
          <p:nvPr/>
        </p:nvPicPr>
        <p:blipFill>
          <a:blip r:embed="rId2" cstate="print"/>
          <a:srcRect/>
          <a:stretch>
            <a:fillRect/>
          </a:stretch>
        </p:blipFill>
        <p:spPr bwMode="auto">
          <a:xfrm>
            <a:off x="1371600" y="2762250"/>
            <a:ext cx="6424613" cy="34861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should we run </a:t>
            </a:r>
            <a:r>
              <a:rPr lang="en-US" dirty="0" err="1" smtClean="0"/>
              <a:t>jmeter</a:t>
            </a:r>
            <a:r>
              <a:rPr lang="en-US" dirty="0" smtClean="0"/>
              <a:t> load testing in </a:t>
            </a:r>
            <a:r>
              <a:rPr lang="en-US" dirty="0" err="1" smtClean="0"/>
              <a:t>cli</a:t>
            </a:r>
            <a:r>
              <a:rPr lang="en-US" dirty="0" smtClean="0"/>
              <a:t> instead of </a:t>
            </a:r>
            <a:r>
              <a:rPr lang="en-US" dirty="0" err="1" smtClean="0"/>
              <a:t>gui</a:t>
            </a:r>
            <a:r>
              <a:rPr lang="en-US" dirty="0" smtClean="0"/>
              <a:t> mode?</a:t>
            </a:r>
            <a:endParaRPr lang="en-US" dirty="0"/>
          </a:p>
        </p:txBody>
      </p:sp>
      <p:sp>
        <p:nvSpPr>
          <p:cNvPr id="3" name="Content Placeholder 2"/>
          <p:cNvSpPr>
            <a:spLocks noGrp="1"/>
          </p:cNvSpPr>
          <p:nvPr>
            <p:ph idx="1"/>
          </p:nvPr>
        </p:nvSpPr>
        <p:spPr/>
        <p:txBody>
          <a:bodyPr/>
          <a:lstStyle/>
          <a:p>
            <a:r>
              <a:rPr lang="en-US" sz="2200" b="1" dirty="0" smtClean="0"/>
              <a:t>Faster Execution</a:t>
            </a:r>
            <a:r>
              <a:rPr lang="en-US" sz="2200" dirty="0" smtClean="0"/>
              <a:t>: Running tests without UI overhead speeds up execution and result generation.</a:t>
            </a:r>
          </a:p>
          <a:p>
            <a:r>
              <a:rPr lang="en-US" sz="2200" b="1" dirty="0" smtClean="0"/>
              <a:t>Lower Resource Consumption</a:t>
            </a:r>
            <a:r>
              <a:rPr lang="en-US" sz="2200" dirty="0" smtClean="0"/>
              <a:t>: The GUI consumes significant CPU and memory, which can interfere with test execution.</a:t>
            </a:r>
          </a:p>
          <a:p>
            <a:r>
              <a:rPr lang="en-US" sz="2200" b="1" dirty="0" smtClean="0"/>
              <a:t>More Stable Execution</a:t>
            </a:r>
            <a:r>
              <a:rPr lang="en-US" sz="2200" dirty="0" smtClean="0"/>
              <a:t>: The GUI may introduce lags or inconsistencies due to UI rendering.</a:t>
            </a:r>
          </a:p>
          <a:p>
            <a:r>
              <a:rPr lang="en-US" sz="2200" b="1" dirty="0" smtClean="0"/>
              <a:t>No UI Delays</a:t>
            </a:r>
            <a:r>
              <a:rPr lang="en-US" sz="2200" dirty="0" smtClean="0"/>
              <a:t>: CLI mode ensures that test execution is not impacted by graphical interface responsiveness.</a:t>
            </a:r>
          </a:p>
          <a:p>
            <a:r>
              <a:rPr lang="en-US" sz="2200" b="1" dirty="0" smtClean="0"/>
              <a:t>Distributed Load Testing</a:t>
            </a:r>
            <a:r>
              <a:rPr lang="en-US" sz="2200" dirty="0" smtClean="0"/>
              <a:t>: CLI mode supports </a:t>
            </a:r>
            <a:r>
              <a:rPr lang="en-US" sz="2200" dirty="0" err="1" smtClean="0"/>
              <a:t>JMeter's</a:t>
            </a:r>
            <a:r>
              <a:rPr lang="en-US" sz="2200" dirty="0" smtClean="0"/>
              <a:t> distributed testing feature, allowing multiple machines to generate load.</a:t>
            </a:r>
          </a:p>
          <a:p>
            <a:r>
              <a:rPr lang="en-US" sz="2200" b="1" dirty="0" smtClean="0"/>
              <a:t>Customizable Reports</a:t>
            </a:r>
            <a:r>
              <a:rPr lang="en-US" sz="2200" dirty="0" smtClean="0"/>
              <a:t>: CLI mode allows exporting results in various formats (CSV, XML, JSON) for deeper analysis.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Modify the </a:t>
            </a:r>
            <a:r>
              <a:rPr lang="en-US" b="1" dirty="0" smtClean="0"/>
              <a:t>HEAP</a:t>
            </a:r>
            <a:r>
              <a:rPr lang="en-US" dirty="0" smtClean="0"/>
              <a:t> environment variable in </a:t>
            </a:r>
            <a:r>
              <a:rPr lang="en-US" dirty="0" err="1" smtClean="0"/>
              <a:t>JMeter's</a:t>
            </a:r>
            <a:r>
              <a:rPr lang="en-US" dirty="0" smtClean="0"/>
              <a:t> batch file</a:t>
            </a:r>
            <a:endParaRPr lang="en-US" dirty="0"/>
          </a:p>
        </p:txBody>
      </p:sp>
      <p:sp>
        <p:nvSpPr>
          <p:cNvPr id="3" name="Content Placeholder 2"/>
          <p:cNvSpPr>
            <a:spLocks noGrp="1"/>
          </p:cNvSpPr>
          <p:nvPr>
            <p:ph idx="1"/>
          </p:nvPr>
        </p:nvSpPr>
        <p:spPr/>
        <p:txBody>
          <a:bodyPr/>
          <a:lstStyle/>
          <a:p>
            <a:r>
              <a:rPr lang="en-US" sz="2400" dirty="0" smtClean="0"/>
              <a:t>For Windows (jmeter.bat):</a:t>
            </a:r>
          </a:p>
          <a:p>
            <a:r>
              <a:rPr lang="en-US" sz="2400" dirty="0" smtClean="0"/>
              <a:t>Open the </a:t>
            </a:r>
            <a:r>
              <a:rPr lang="en-US" sz="2400" dirty="0" err="1" smtClean="0"/>
              <a:t>JMeter</a:t>
            </a:r>
            <a:r>
              <a:rPr lang="en-US" sz="2400" dirty="0" smtClean="0"/>
              <a:t> installation directory.</a:t>
            </a:r>
          </a:p>
          <a:p>
            <a:r>
              <a:rPr lang="en-US" sz="2400" dirty="0" smtClean="0"/>
              <a:t>Locate and </a:t>
            </a:r>
            <a:r>
              <a:rPr lang="en-US" sz="2400" b="1" dirty="0" smtClean="0"/>
              <a:t>edit</a:t>
            </a:r>
            <a:r>
              <a:rPr lang="en-US" sz="2400" dirty="0" smtClean="0"/>
              <a:t> the jmeter.bat file using Notepad or any text editor.</a:t>
            </a:r>
          </a:p>
          <a:p>
            <a:r>
              <a:rPr lang="en-US" sz="2400" dirty="0" smtClean="0"/>
              <a:t>Find the following line (usually near the top of the file): </a:t>
            </a:r>
            <a:r>
              <a:rPr lang="en-US" sz="2400" b="1" dirty="0" smtClean="0"/>
              <a:t>set HEAP=-Xms</a:t>
            </a:r>
            <a:r>
              <a:rPr lang="en-US" sz="2400" b="1" dirty="0" smtClean="0">
                <a:solidFill>
                  <a:srgbClr val="C00000"/>
                </a:solidFill>
              </a:rPr>
              <a:t>1g</a:t>
            </a:r>
            <a:r>
              <a:rPr lang="en-US" sz="2400" b="1" dirty="0" smtClean="0"/>
              <a:t> -Xmx</a:t>
            </a:r>
            <a:r>
              <a:rPr lang="en-US" sz="2400" b="1" dirty="0" smtClean="0">
                <a:solidFill>
                  <a:srgbClr val="C00000"/>
                </a:solidFill>
              </a:rPr>
              <a:t>1g</a:t>
            </a:r>
            <a:r>
              <a:rPr lang="en-US" sz="2400" b="1" dirty="0" smtClean="0"/>
              <a:t> -</a:t>
            </a:r>
            <a:r>
              <a:rPr lang="en-US" sz="2400" b="1" dirty="0" err="1" smtClean="0"/>
              <a:t>XX:MaxMetaspaceSize</a:t>
            </a:r>
            <a:r>
              <a:rPr lang="en-US" sz="2400" b="1" dirty="0" smtClean="0"/>
              <a:t>=</a:t>
            </a:r>
            <a:r>
              <a:rPr lang="en-US" sz="2400" b="1" dirty="0" smtClean="0">
                <a:solidFill>
                  <a:srgbClr val="C00000"/>
                </a:solidFill>
              </a:rPr>
              <a:t>256m</a:t>
            </a:r>
          </a:p>
          <a:p>
            <a:r>
              <a:rPr lang="en-US" sz="2400" dirty="0" smtClean="0"/>
              <a:t>Modify it as needed. For example, if you want to increase heap size: </a:t>
            </a:r>
            <a:r>
              <a:rPr lang="en-US" sz="2400" b="1" dirty="0" smtClean="0"/>
              <a:t>set HEAP=-Xms</a:t>
            </a:r>
            <a:r>
              <a:rPr lang="en-US" sz="2400" b="1" dirty="0" smtClean="0">
                <a:solidFill>
                  <a:srgbClr val="C00000"/>
                </a:solidFill>
              </a:rPr>
              <a:t>4g</a:t>
            </a:r>
            <a:r>
              <a:rPr lang="en-US" sz="2400" b="1" dirty="0" smtClean="0"/>
              <a:t> -Xmx</a:t>
            </a:r>
            <a:r>
              <a:rPr lang="en-US" sz="2400" b="1" dirty="0" smtClean="0">
                <a:solidFill>
                  <a:srgbClr val="C00000"/>
                </a:solidFill>
              </a:rPr>
              <a:t>6g</a:t>
            </a:r>
            <a:r>
              <a:rPr lang="en-US" sz="2400" b="1" dirty="0" smtClean="0"/>
              <a:t> -</a:t>
            </a:r>
            <a:r>
              <a:rPr lang="en-US" sz="2400" b="1" dirty="0" err="1" smtClean="0"/>
              <a:t>XX:MaxMetaspaceSize</a:t>
            </a:r>
            <a:r>
              <a:rPr lang="en-US" sz="2400" b="1" dirty="0" smtClean="0"/>
              <a:t>=</a:t>
            </a:r>
            <a:r>
              <a:rPr lang="en-US" sz="2400" b="1" dirty="0" smtClean="0">
                <a:solidFill>
                  <a:srgbClr val="C00000"/>
                </a:solidFill>
              </a:rPr>
              <a:t>1024m</a:t>
            </a:r>
          </a:p>
          <a:p>
            <a:r>
              <a:rPr lang="en-US" sz="2400" dirty="0" smtClean="0"/>
              <a:t>Save the file and restart </a:t>
            </a:r>
            <a:r>
              <a:rPr lang="en-US" sz="2400" dirty="0" err="1" smtClean="0"/>
              <a:t>JMeter</a:t>
            </a:r>
            <a:r>
              <a:rPr lang="en-US" sz="2400" dirty="0" smtClean="0"/>
              <a:t>.</a:t>
            </a:r>
            <a:endParaRPr lang="en-US" sz="22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a:t>
            </a:r>
            <a:r>
              <a:rPr lang="en-US" dirty="0" err="1" smtClean="0"/>
              <a:t>JMeter</a:t>
            </a:r>
            <a:r>
              <a:rPr lang="en-US" dirty="0" smtClean="0"/>
              <a:t> in CLI Mode</a:t>
            </a:r>
            <a:endParaRPr lang="en-US" dirty="0"/>
          </a:p>
        </p:txBody>
      </p:sp>
      <p:sp>
        <p:nvSpPr>
          <p:cNvPr id="3" name="Content Placeholder 2"/>
          <p:cNvSpPr>
            <a:spLocks noGrp="1"/>
          </p:cNvSpPr>
          <p:nvPr>
            <p:ph idx="1"/>
          </p:nvPr>
        </p:nvSpPr>
        <p:spPr/>
        <p:txBody>
          <a:bodyPr/>
          <a:lstStyle/>
          <a:p>
            <a:r>
              <a:rPr lang="pt-BR" sz="2400" dirty="0" smtClean="0"/>
              <a:t>cd C:\Users\sfuadmin\Downloads\apache-jmeter-5.6.3\bin</a:t>
            </a:r>
          </a:p>
          <a:p>
            <a:r>
              <a:rPr lang="pt-BR" sz="2400" dirty="0" smtClean="0"/>
              <a:t>mkdir report</a:t>
            </a:r>
          </a:p>
          <a:p>
            <a:r>
              <a:rPr lang="pt-BR" sz="2400" dirty="0" smtClean="0"/>
              <a:t>del results.jtl</a:t>
            </a:r>
          </a:p>
          <a:p>
            <a:r>
              <a:rPr lang="pt-BR" sz="2400" dirty="0" smtClean="0"/>
              <a:t>jmeter -n -t api-soap-api-5000.jmx -l results.jtl -e -o report</a:t>
            </a:r>
          </a:p>
          <a:p>
            <a:r>
              <a:rPr lang="pt-BR" sz="2400" b="1" dirty="0" smtClean="0"/>
              <a:t># Maximaze the cmd windows if it seems not to respond.</a:t>
            </a:r>
          </a:p>
          <a:p>
            <a:endParaRPr lang="en-US" sz="2400" dirty="0" smtClean="0"/>
          </a:p>
        </p:txBody>
      </p:sp>
      <p:pic>
        <p:nvPicPr>
          <p:cNvPr id="5123" name="Picture 3"/>
          <p:cNvPicPr>
            <a:picLocks noChangeAspect="1" noChangeArrowheads="1"/>
          </p:cNvPicPr>
          <p:nvPr/>
        </p:nvPicPr>
        <p:blipFill>
          <a:blip r:embed="rId2" cstate="print"/>
          <a:srcRect/>
          <a:stretch>
            <a:fillRect/>
          </a:stretch>
        </p:blipFill>
        <p:spPr bwMode="auto">
          <a:xfrm>
            <a:off x="762000" y="4130675"/>
            <a:ext cx="7620000" cy="15843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Locust: Performance and Resource Usage</a:t>
            </a:r>
            <a:endParaRPr lang="en-US" dirty="0"/>
          </a:p>
        </p:txBody>
      </p:sp>
      <p:sp>
        <p:nvSpPr>
          <p:cNvPr id="3" name="Content Placeholder 2"/>
          <p:cNvSpPr>
            <a:spLocks noGrp="1"/>
          </p:cNvSpPr>
          <p:nvPr>
            <p:ph idx="1"/>
          </p:nvPr>
        </p:nvSpPr>
        <p:spPr/>
        <p:txBody>
          <a:bodyPr/>
          <a:lstStyle/>
          <a:p>
            <a:r>
              <a:rPr lang="en-US" sz="2400" dirty="0" smtClean="0">
                <a:hlinkClick r:id="rId2"/>
              </a:rPr>
              <a:t>https://locust.io/</a:t>
            </a:r>
            <a:endParaRPr lang="en-US" sz="2400" dirty="0" smtClean="0"/>
          </a:p>
          <a:p>
            <a:r>
              <a:rPr lang="en-US" sz="2400" dirty="0" err="1" smtClean="0"/>
              <a:t>JMeter</a:t>
            </a:r>
            <a:r>
              <a:rPr lang="en-US" sz="2400" dirty="0" smtClean="0"/>
              <a:t> uses a multi-threaded model where each virtual user (VU) is represented by a separate thread. Due to its thread-based architecture, </a:t>
            </a:r>
            <a:r>
              <a:rPr lang="en-US" sz="2400" dirty="0" err="1" smtClean="0"/>
              <a:t>JMeter</a:t>
            </a:r>
            <a:r>
              <a:rPr lang="en-US" sz="2400" dirty="0" smtClean="0"/>
              <a:t> can consume significant system resources (especially memory and CPU) when simulating a large number of users.</a:t>
            </a:r>
          </a:p>
          <a:p>
            <a:r>
              <a:rPr lang="en-US" sz="2400" dirty="0" smtClean="0"/>
              <a:t>Locust uses an event-driven approach. It is based on </a:t>
            </a:r>
            <a:r>
              <a:rPr lang="en-US" sz="2400" b="1" dirty="0" err="1" smtClean="0"/>
              <a:t>gevent</a:t>
            </a:r>
            <a:r>
              <a:rPr lang="en-US" sz="2400" dirty="0" smtClean="0"/>
              <a:t>, which allows asynchronous tasks to run concurrently without blocking. This makes Locust more efficient in simulating a large number of virtual users with fewer resources.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Locust: Supported Protocols</a:t>
            </a:r>
            <a:endParaRPr lang="en-US" dirty="0"/>
          </a:p>
        </p:txBody>
      </p:sp>
      <p:sp>
        <p:nvSpPr>
          <p:cNvPr id="3" name="Content Placeholder 2"/>
          <p:cNvSpPr>
            <a:spLocks noGrp="1"/>
          </p:cNvSpPr>
          <p:nvPr>
            <p:ph idx="1"/>
          </p:nvPr>
        </p:nvSpPr>
        <p:spPr/>
        <p:txBody>
          <a:bodyPr/>
          <a:lstStyle/>
          <a:p>
            <a:r>
              <a:rPr lang="en-US" sz="2400" dirty="0" err="1" smtClean="0"/>
              <a:t>JMeter</a:t>
            </a:r>
            <a:r>
              <a:rPr lang="en-US" sz="2400" dirty="0" smtClean="0"/>
              <a:t> supports a wide range of protocols out of the box, including HTTP, HTTPS, FTP, JMS, JDBC, SOAP, REST, SMTP, POP3, IMAP.</a:t>
            </a:r>
          </a:p>
          <a:p>
            <a:r>
              <a:rPr lang="en-US" sz="2400" dirty="0" smtClean="0"/>
              <a:t>Locust is mainly designed for HTTP-based load testing (REST APIs, web apps), though custom code can be added to support other protocols.</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Locust: Reporting and Analytics</a:t>
            </a:r>
            <a:endParaRPr lang="en-US" dirty="0"/>
          </a:p>
        </p:txBody>
      </p:sp>
      <p:sp>
        <p:nvSpPr>
          <p:cNvPr id="3" name="Content Placeholder 2"/>
          <p:cNvSpPr>
            <a:spLocks noGrp="1"/>
          </p:cNvSpPr>
          <p:nvPr>
            <p:ph idx="1"/>
          </p:nvPr>
        </p:nvSpPr>
        <p:spPr/>
        <p:txBody>
          <a:bodyPr/>
          <a:lstStyle/>
          <a:p>
            <a:r>
              <a:rPr lang="en-US" sz="2400" dirty="0" err="1" smtClean="0"/>
              <a:t>JMeter</a:t>
            </a:r>
            <a:r>
              <a:rPr lang="en-US" sz="2400" dirty="0" smtClean="0"/>
              <a:t> provides comprehensive built-in reporting, including graphs, tables, and other visual components. It also supports generating HTML reports after a test run, which provides detailed performance data. You can export results to CSV, XML, and JTL files for further analysis.</a:t>
            </a:r>
          </a:p>
          <a:p>
            <a:r>
              <a:rPr lang="en-US" sz="2400" dirty="0" smtClean="0"/>
              <a:t>Locust provides real-time statistics during the test run through its web interface (requests per second, response times, failure rates, etc.). After the test, results can be exported to CSV for further analysis, but it does not have as many built-in reporting features as </a:t>
            </a:r>
            <a:r>
              <a:rPr lang="en-US" sz="2400" dirty="0" err="1" smtClean="0"/>
              <a:t>JMeter</a:t>
            </a:r>
            <a:r>
              <a:rPr lang="en-US" sz="2400" dirty="0" smtClean="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k6 on </a:t>
            </a:r>
            <a:r>
              <a:rPr lang="en-US" dirty="0" err="1" smtClean="0"/>
              <a:t>macOS</a:t>
            </a:r>
            <a:endParaRPr lang="en-US" dirty="0"/>
          </a:p>
        </p:txBody>
      </p:sp>
      <p:sp>
        <p:nvSpPr>
          <p:cNvPr id="3" name="Content Placeholder 2"/>
          <p:cNvSpPr>
            <a:spLocks noGrp="1"/>
          </p:cNvSpPr>
          <p:nvPr>
            <p:ph idx="1"/>
          </p:nvPr>
        </p:nvSpPr>
        <p:spPr/>
        <p:txBody>
          <a:bodyPr/>
          <a:lstStyle/>
          <a:p>
            <a:r>
              <a:rPr lang="en-US" dirty="0" smtClean="0">
                <a:hlinkClick r:id="rId2"/>
              </a:rPr>
              <a:t>https://grafana.com/pricing/?src=k6io#k6-performance-testing</a:t>
            </a:r>
            <a:endParaRPr lang="en-US" dirty="0" smtClean="0"/>
          </a:p>
          <a:p>
            <a:r>
              <a:rPr lang="en-US" dirty="0" smtClean="0"/>
              <a:t>brew install k6</a:t>
            </a:r>
          </a:p>
          <a:p>
            <a:r>
              <a:rPr lang="en-US" dirty="0" smtClean="0"/>
              <a:t># Go to </a:t>
            </a:r>
            <a:r>
              <a:rPr lang="en-US" dirty="0" smtClean="0">
                <a:hlinkClick r:id="rId3"/>
              </a:rPr>
              <a:t>https://grafana.com</a:t>
            </a:r>
            <a:r>
              <a:rPr lang="en-US" dirty="0" smtClean="0"/>
              <a:t> &gt; My Account to find a stack.</a:t>
            </a:r>
          </a:p>
          <a:p>
            <a:r>
              <a:rPr lang="en-US" dirty="0" smtClean="0"/>
              <a:t>k6 cloud login --token 7e8f7f6 --stack valiantgranola1655</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Script</a:t>
            </a:r>
            <a:endParaRPr lang="en-US" dirty="0"/>
          </a:p>
        </p:txBody>
      </p:sp>
      <p:sp>
        <p:nvSpPr>
          <p:cNvPr id="3" name="Content Placeholder 2"/>
          <p:cNvSpPr>
            <a:spLocks noGrp="1"/>
          </p:cNvSpPr>
          <p:nvPr>
            <p:ph idx="1"/>
          </p:nvPr>
        </p:nvSpPr>
        <p:spPr/>
        <p:txBody>
          <a:bodyPr/>
          <a:lstStyle/>
          <a:p>
            <a:r>
              <a:rPr lang="en-US" dirty="0" smtClean="0"/>
              <a:t>Ask Claude Code to create one: 100 users, 10 minutes.</a:t>
            </a:r>
          </a:p>
          <a:p>
            <a:r>
              <a:rPr lang="en-US" dirty="0" smtClean="0"/>
              <a:t>Min # of users =?, min duration =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Run the Script on the Cloud</a:t>
            </a:r>
            <a:endParaRPr lang="en-US" dirty="0"/>
          </a:p>
        </p:txBody>
      </p:sp>
      <p:sp>
        <p:nvSpPr>
          <p:cNvPr id="3" name="Content Placeholder 2"/>
          <p:cNvSpPr>
            <a:spLocks noGrp="1"/>
          </p:cNvSpPr>
          <p:nvPr>
            <p:ph idx="1"/>
          </p:nvPr>
        </p:nvSpPr>
        <p:spPr/>
        <p:txBody>
          <a:bodyPr/>
          <a:lstStyle/>
          <a:p>
            <a:r>
              <a:rPr lang="en-US" dirty="0" smtClean="0"/>
              <a:t>k6 </a:t>
            </a:r>
            <a:r>
              <a:rPr lang="en-US" b="1" dirty="0" smtClean="0"/>
              <a:t>cloud</a:t>
            </a:r>
            <a:r>
              <a:rPr lang="en-US" dirty="0" smtClean="0"/>
              <a:t> run script.js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Review the Output</a:t>
            </a:r>
            <a:endParaRPr lang="en-US" dirty="0"/>
          </a:p>
        </p:txBody>
      </p:sp>
      <p:sp>
        <p:nvSpPr>
          <p:cNvPr id="3" name="Content Placeholder 2"/>
          <p:cNvSpPr>
            <a:spLocks noGrp="1"/>
          </p:cNvSpPr>
          <p:nvPr>
            <p:ph idx="1"/>
          </p:nvPr>
        </p:nvSpPr>
        <p:spPr/>
        <p:txBody>
          <a:bodyPr/>
          <a:lstStyle/>
          <a:p>
            <a:r>
              <a:rPr lang="en-US" sz="2400" dirty="0" smtClean="0">
                <a:hlinkClick r:id="rId2"/>
              </a:rPr>
              <a:t>https://valiantgranola1655.grafana.net/a/k6-app/runs/7719358</a:t>
            </a:r>
            <a:endParaRPr lang="en-US" sz="2400" dirty="0" smtClean="0"/>
          </a:p>
          <a:p>
            <a:endParaRPr lang="en-US" sz="2400" dirty="0"/>
          </a:p>
        </p:txBody>
      </p:sp>
      <p:pic>
        <p:nvPicPr>
          <p:cNvPr id="1027" name="Picture 3"/>
          <p:cNvPicPr>
            <a:picLocks noChangeAspect="1" noChangeArrowheads="1"/>
          </p:cNvPicPr>
          <p:nvPr/>
        </p:nvPicPr>
        <p:blipFill>
          <a:blip r:embed="rId3" cstate="print"/>
          <a:srcRect/>
          <a:stretch>
            <a:fillRect/>
          </a:stretch>
        </p:blipFill>
        <p:spPr bwMode="auto">
          <a:xfrm>
            <a:off x="1049338" y="3089275"/>
            <a:ext cx="7045325" cy="224472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Understand the OOM</a:t>
            </a:r>
            <a:endParaRPr lang="en-US" dirty="0"/>
          </a:p>
        </p:txBody>
      </p:sp>
      <p:sp>
        <p:nvSpPr>
          <p:cNvPr id="3" name="Content Placeholder 2"/>
          <p:cNvSpPr>
            <a:spLocks noGrp="1"/>
          </p:cNvSpPr>
          <p:nvPr>
            <p:ph idx="1"/>
          </p:nvPr>
        </p:nvSpPr>
        <p:spPr/>
        <p:txBody>
          <a:bodyPr/>
          <a:lstStyle/>
          <a:p>
            <a:r>
              <a:rPr lang="en-US" sz="2400" dirty="0" smtClean="0"/>
              <a:t>When a process needs memory and the kernel has none left to give — no free RAM, nothing reclaimable, and no swap to page out to — the kernel can't just wait.</a:t>
            </a:r>
          </a:p>
          <a:p>
            <a:r>
              <a:rPr lang="en-US" sz="2400" dirty="0" smtClean="0"/>
              <a:t>To  avoid a total system freeze, it invokes the Out Of Memory (OOM) killer.</a:t>
            </a:r>
          </a:p>
          <a:p>
            <a:r>
              <a:rPr lang="en-US" sz="2400" dirty="0" smtClean="0"/>
              <a:t>The OOM killer picks a process to terminate to free memory.</a:t>
            </a:r>
          </a:p>
          <a:p>
            <a:r>
              <a:rPr lang="en-US" sz="2400" dirty="0" smtClean="0"/>
              <a:t>It scores every process (roughly by how much memory it's using, via </a:t>
            </a:r>
            <a:r>
              <a:rPr lang="en-US" sz="2400" dirty="0" err="1" smtClean="0"/>
              <a:t>oom_score</a:t>
            </a:r>
            <a:r>
              <a:rPr lang="en-US" sz="2400" dirty="0" smtClean="0"/>
              <a:t>) and kills the one that frees the most.</a:t>
            </a:r>
          </a:p>
          <a:p>
            <a:r>
              <a:rPr lang="en-US" sz="2400" dirty="0" smtClean="0"/>
              <a:t>The kill is a hard SIGKILL (signal 9) — the process is terminated instantly, no clean shutdown.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Verify the OOM</a:t>
            </a:r>
            <a:endParaRPr lang="en-US" dirty="0"/>
          </a:p>
        </p:txBody>
      </p:sp>
      <p:sp>
        <p:nvSpPr>
          <p:cNvPr id="3" name="Content Placeholder 2"/>
          <p:cNvSpPr>
            <a:spLocks noGrp="1"/>
          </p:cNvSpPr>
          <p:nvPr>
            <p:ph idx="1"/>
          </p:nvPr>
        </p:nvSpPr>
        <p:spPr/>
        <p:txBody>
          <a:bodyPr/>
          <a:lstStyle/>
          <a:p>
            <a:r>
              <a:rPr lang="en-US" sz="2800" dirty="0" smtClean="0"/>
              <a:t>Ask Claude Code to record baseline (pre-test):</a:t>
            </a:r>
          </a:p>
          <a:p>
            <a:pPr lvl="1"/>
            <a:r>
              <a:rPr lang="en-US" sz="2400" dirty="0" smtClean="0"/>
              <a:t>OOM kills this boot: 0.</a:t>
            </a:r>
          </a:p>
          <a:p>
            <a:pPr lvl="1"/>
            <a:r>
              <a:rPr lang="en-US" sz="2400" dirty="0" err="1" smtClean="0"/>
              <a:t>MySQL</a:t>
            </a:r>
            <a:r>
              <a:rPr lang="en-US" sz="2400" dirty="0" smtClean="0"/>
              <a:t> PID: 847, 0 restarts.</a:t>
            </a:r>
          </a:p>
          <a:p>
            <a:pPr lvl="1"/>
            <a:r>
              <a:rPr lang="en-US" sz="2400" dirty="0" smtClean="0"/>
              <a:t>Memory: used 1679 MB / available 2229 MB</a:t>
            </a:r>
          </a:p>
          <a:p>
            <a:pPr lvl="1"/>
            <a:r>
              <a:rPr lang="en-US" sz="2400" dirty="0" err="1" smtClean="0"/>
              <a:t>MySQL</a:t>
            </a:r>
            <a:r>
              <a:rPr lang="en-US" sz="2400" dirty="0" smtClean="0"/>
              <a:t> Resident Set Size (RSS): 746 MB</a:t>
            </a:r>
          </a:p>
          <a:p>
            <a:pPr lvl="1"/>
            <a:r>
              <a:rPr lang="en-US" sz="2400" dirty="0" smtClean="0"/>
              <a:t>php8.4 total: 754 MB</a:t>
            </a:r>
          </a:p>
          <a:p>
            <a:pPr lvl="1"/>
            <a:r>
              <a:rPr lang="en-US" sz="2400" dirty="0" smtClean="0"/>
              <a:t>The sampler logs every 3 s for ~20 min into /</a:t>
            </a:r>
            <a:r>
              <a:rPr lang="en-US" sz="2400" dirty="0" err="1" smtClean="0"/>
              <a:t>tmp</a:t>
            </a:r>
            <a:r>
              <a:rPr lang="en-US" sz="2400" dirty="0" smtClean="0"/>
              <a:t>/oom_watch.log.</a:t>
            </a:r>
          </a:p>
          <a:p>
            <a:r>
              <a:rPr lang="en-US" sz="2800" dirty="0" smtClean="0"/>
              <a:t>Run a load test.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Run the Script Locally</a:t>
            </a:r>
            <a:endParaRPr lang="en-US" dirty="0"/>
          </a:p>
        </p:txBody>
      </p:sp>
      <p:sp>
        <p:nvSpPr>
          <p:cNvPr id="3" name="Content Placeholder 2"/>
          <p:cNvSpPr>
            <a:spLocks noGrp="1"/>
          </p:cNvSpPr>
          <p:nvPr>
            <p:ph idx="1"/>
          </p:nvPr>
        </p:nvSpPr>
        <p:spPr/>
        <p:txBody>
          <a:bodyPr/>
          <a:lstStyle/>
          <a:p>
            <a:r>
              <a:rPr lang="en-US" dirty="0" smtClean="0"/>
              <a:t>k6 run script.js</a:t>
            </a:r>
          </a:p>
          <a:p>
            <a:r>
              <a:rPr lang="en-US" dirty="0" smtClean="0"/>
              <a:t>k6 run --out 'web-dashboard=host=0.0.0.0&amp;port=5665&amp;export=</a:t>
            </a:r>
            <a:r>
              <a:rPr lang="en-US" dirty="0" err="1" smtClean="0"/>
              <a:t>report.html&amp;open</a:t>
            </a:r>
            <a:r>
              <a:rPr lang="en-US" dirty="0" smtClean="0"/>
              <a:t>=true' script.js</a:t>
            </a:r>
          </a:p>
          <a:p>
            <a:r>
              <a:rPr lang="en-US" dirty="0" smtClean="0"/>
              <a:t># Open: </a:t>
            </a:r>
            <a:r>
              <a:rPr lang="en-US" dirty="0" smtClean="0">
                <a:hlinkClick r:id="rId2"/>
              </a:rPr>
              <a:t>http://192.168.1.45:5665</a:t>
            </a:r>
            <a:endParaRPr lang="en-US" dirty="0" smtClean="0"/>
          </a:p>
          <a:p>
            <a:endParaRPr lang="en-US" dirty="0" smtClean="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Check for Memory Leaks</a:t>
            </a:r>
            <a:endParaRPr lang="en-US" dirty="0"/>
          </a:p>
        </p:txBody>
      </p:sp>
      <p:sp>
        <p:nvSpPr>
          <p:cNvPr id="3" name="Content Placeholder 2"/>
          <p:cNvSpPr>
            <a:spLocks noGrp="1"/>
          </p:cNvSpPr>
          <p:nvPr>
            <p:ph idx="1"/>
          </p:nvPr>
        </p:nvSpPr>
        <p:spPr/>
        <p:txBody>
          <a:bodyPr/>
          <a:lstStyle/>
          <a:p>
            <a:r>
              <a:rPr lang="en-US" dirty="0" smtClean="0"/>
              <a:t>Investigate the memory usage of each process during the load test.</a:t>
            </a:r>
          </a:p>
          <a:p>
            <a:r>
              <a:rPr lang="en-US" dirty="0" smtClean="0"/>
              <a:t>If a memory leak were present, the Resident Set Size (RSS) would continue to increase as a worker processes additional requests.</a:t>
            </a:r>
          </a:p>
          <a:p>
            <a:r>
              <a:rPr lang="en-US" dirty="0" smtClean="0"/>
              <a:t>Instead, each worker's RSS reaches a peak within the first 30–60 seconds and then remains essentially flat for the remainder of its lifetime.</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Understand PHP-FPM</a:t>
            </a:r>
            <a:endParaRPr lang="en-US" dirty="0"/>
          </a:p>
        </p:txBody>
      </p:sp>
      <p:sp>
        <p:nvSpPr>
          <p:cNvPr id="3" name="Content Placeholder 2"/>
          <p:cNvSpPr>
            <a:spLocks noGrp="1"/>
          </p:cNvSpPr>
          <p:nvPr>
            <p:ph idx="1"/>
          </p:nvPr>
        </p:nvSpPr>
        <p:spPr/>
        <p:txBody>
          <a:bodyPr/>
          <a:lstStyle/>
          <a:p>
            <a:r>
              <a:rPr lang="en-US" sz="2400" dirty="0" smtClean="0"/>
              <a:t>The process manager is a feature of PHP-FPM (</a:t>
            </a:r>
            <a:r>
              <a:rPr lang="en-US" sz="2400" dirty="0" err="1" smtClean="0"/>
              <a:t>FastCGI</a:t>
            </a:r>
            <a:r>
              <a:rPr lang="en-US" sz="2400" dirty="0" smtClean="0"/>
              <a:t> Process Manager), which is part of PHP itself.</a:t>
            </a:r>
          </a:p>
          <a:p>
            <a:r>
              <a:rPr lang="en-US" sz="2400" dirty="0" smtClean="0"/>
              <a:t>PHP-FPM decides "I want to run 5 site workers" (pm/</a:t>
            </a:r>
            <a:r>
              <a:rPr lang="en-US" sz="2400" dirty="0" err="1" smtClean="0"/>
              <a:t>max_children</a:t>
            </a:r>
            <a:r>
              <a:rPr lang="en-US" sz="2400" dirty="0" smtClean="0"/>
              <a:t>). It uses ordinary OS calls (fork) to create them — but the policy (how many, when) is entirely PHP's.</a:t>
            </a:r>
          </a:p>
          <a:p>
            <a:r>
              <a:rPr lang="en-US" sz="2400" dirty="0" err="1" smtClean="0"/>
              <a:t>systemd</a:t>
            </a:r>
            <a:r>
              <a:rPr lang="en-US" sz="2400" dirty="0" smtClean="0"/>
              <a:t> launches the FPM master as a service and, with our proposed </a:t>
            </a:r>
            <a:r>
              <a:rPr lang="en-US" sz="2400" dirty="0" err="1" smtClean="0"/>
              <a:t>MemoryMax</a:t>
            </a:r>
            <a:r>
              <a:rPr lang="en-US" sz="2400" dirty="0" smtClean="0"/>
              <a:t>=2000M, wraps all its workers in a </a:t>
            </a:r>
            <a:r>
              <a:rPr lang="en-US" sz="2400" dirty="0" err="1" smtClean="0"/>
              <a:t>cgroup</a:t>
            </a:r>
            <a:r>
              <a:rPr lang="en-US" sz="2400" dirty="0" smtClean="0"/>
              <a:t> — a kernel memory boundary.</a:t>
            </a:r>
          </a:p>
          <a:p>
            <a:r>
              <a:rPr lang="en-US" sz="2400" dirty="0" smtClean="0"/>
              <a:t>The kernel doesn't know or care about "dynamic </a:t>
            </a:r>
            <a:r>
              <a:rPr lang="en-US" sz="2400" dirty="0" err="1" smtClean="0"/>
              <a:t>vs</a:t>
            </a:r>
            <a:r>
              <a:rPr lang="en-US" sz="2400" dirty="0" smtClean="0"/>
              <a:t> </a:t>
            </a:r>
            <a:r>
              <a:rPr lang="en-US" sz="2400" dirty="0" err="1" smtClean="0"/>
              <a:t>ondemand</a:t>
            </a:r>
            <a:r>
              <a:rPr lang="en-US" sz="2400" dirty="0" smtClean="0"/>
              <a:t>"; it just enforces "this group of processes can't exceed 2.0 GB."</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10. Reallocate Resources</a:t>
            </a:r>
            <a:endParaRPr lang="en-US" dirty="0"/>
          </a:p>
        </p:txBody>
      </p:sp>
      <p:sp>
        <p:nvSpPr>
          <p:cNvPr id="3" name="Content Placeholder 2"/>
          <p:cNvSpPr>
            <a:spLocks noGrp="1"/>
          </p:cNvSpPr>
          <p:nvPr>
            <p:ph idx="1"/>
          </p:nvPr>
        </p:nvSpPr>
        <p:spPr/>
        <p:txBody>
          <a:bodyPr/>
          <a:lstStyle/>
          <a:p>
            <a:r>
              <a:rPr lang="en-US" sz="2400" dirty="0" err="1" smtClean="0"/>
              <a:t>max_children</a:t>
            </a:r>
            <a:r>
              <a:rPr lang="en-US" sz="2400" dirty="0" smtClean="0"/>
              <a:t> = 4 for resource-intensive sites.</a:t>
            </a:r>
          </a:p>
          <a:p>
            <a:r>
              <a:rPr lang="en-US" sz="2400" dirty="0" err="1" smtClean="0"/>
              <a:t>max_children</a:t>
            </a:r>
            <a:r>
              <a:rPr lang="en-US" sz="2400" dirty="0" smtClean="0"/>
              <a:t> = 1 for lightweight sites.</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15659</TotalTime>
  <Words>1244</Words>
  <Application>Microsoft Office PowerPoint</Application>
  <PresentationFormat>On-screen Show (4:3)</PresentationFormat>
  <Paragraphs>122</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Load Testing Tools</vt:lpstr>
      <vt:lpstr>Objectives</vt:lpstr>
      <vt:lpstr>Contents</vt:lpstr>
      <vt:lpstr>References</vt:lpstr>
      <vt:lpstr>1. Install JDK 24 on Windows</vt:lpstr>
      <vt:lpstr>2. Add JAVA_HOME Variable</vt:lpstr>
      <vt:lpstr>3. Verify JAVA_HOME Variable</vt:lpstr>
      <vt:lpstr>4. Download and Unzip JMeter</vt:lpstr>
      <vt:lpstr>5. Run Jmeter (jmeter.bat)</vt:lpstr>
      <vt:lpstr>Slide 10</vt:lpstr>
      <vt:lpstr>1. Create a Web Test Plan </vt:lpstr>
      <vt:lpstr>2. Remove Scenario 1</vt:lpstr>
      <vt:lpstr>3. Add Thread Group</vt:lpstr>
      <vt:lpstr>4. Configure Thread Group</vt:lpstr>
      <vt:lpstr>5. Add HTTP Request Defaults</vt:lpstr>
      <vt:lpstr>6. Configure HTTP Request Defaults</vt:lpstr>
      <vt:lpstr>7. Add HTTP Cookie Manager</vt:lpstr>
      <vt:lpstr>7. Add HTTP Request Sample</vt:lpstr>
      <vt:lpstr>8. Configure the HTTP Request</vt:lpstr>
      <vt:lpstr>9. Run the Test and View Results</vt:lpstr>
      <vt:lpstr>Slide 21</vt:lpstr>
      <vt:lpstr>1. Create a WebService Test Plan </vt:lpstr>
      <vt:lpstr>2. Enter Server Name or IP</vt:lpstr>
      <vt:lpstr>3. Enter Soap Request Information</vt:lpstr>
      <vt:lpstr>Slide 25</vt:lpstr>
      <vt:lpstr>why should we run jmeter load testing in cli instead of gui mode?</vt:lpstr>
      <vt:lpstr>1. Modify the HEAP environment variable in JMeter's batch file</vt:lpstr>
      <vt:lpstr>2. Run JMeter in CLI Mode</vt:lpstr>
      <vt:lpstr>Slide 29</vt:lpstr>
      <vt:lpstr>JMeter vs. Locust: Performance and Resource Usage</vt:lpstr>
      <vt:lpstr>JMeter vs. Locust: Supported Protocols</vt:lpstr>
      <vt:lpstr>JMeter vs. Locust: Reporting and Analytics</vt:lpstr>
      <vt:lpstr>Slide 33</vt:lpstr>
      <vt:lpstr>1. Install k6 on macOS</vt:lpstr>
      <vt:lpstr>2. Create Script</vt:lpstr>
      <vt:lpstr>3. Run the Script on the Cloud</vt:lpstr>
      <vt:lpstr>4. Review the Output</vt:lpstr>
      <vt:lpstr>5. Understand the OOM</vt:lpstr>
      <vt:lpstr>6. Verify the OOM</vt:lpstr>
      <vt:lpstr>7. Run the Script Locally</vt:lpstr>
      <vt:lpstr>8. Check for Memory Leaks</vt:lpstr>
      <vt:lpstr>9. Understand PHP-FPM</vt:lpstr>
      <vt:lpstr>10. Reallocate Resources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4948</cp:revision>
  <dcterms:created xsi:type="dcterms:W3CDTF">2007-10-06T08:25:13Z</dcterms:created>
  <dcterms:modified xsi:type="dcterms:W3CDTF">2026-07-14T17:58:05Z</dcterms:modified>
</cp:coreProperties>
</file>