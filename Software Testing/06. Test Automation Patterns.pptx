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0"/>
  </p:notesMasterIdLst>
  <p:sldIdLst>
    <p:sldId id="256" r:id="rId2"/>
    <p:sldId id="465" r:id="rId3"/>
    <p:sldId id="466" r:id="rId4"/>
    <p:sldId id="467" r:id="rId5"/>
    <p:sldId id="521" r:id="rId6"/>
    <p:sldId id="522" r:id="rId7"/>
    <p:sldId id="523" r:id="rId8"/>
    <p:sldId id="524" r:id="rId9"/>
    <p:sldId id="525" r:id="rId10"/>
    <p:sldId id="526" r:id="rId11"/>
    <p:sldId id="527" r:id="rId12"/>
    <p:sldId id="528" r:id="rId13"/>
    <p:sldId id="529" r:id="rId14"/>
    <p:sldId id="530" r:id="rId15"/>
    <p:sldId id="531" r:id="rId16"/>
    <p:sldId id="532" r:id="rId17"/>
    <p:sldId id="533" r:id="rId18"/>
    <p:sldId id="343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 autoAdjust="0"/>
    <p:restoredTop sz="94585" autoAdjust="0"/>
  </p:normalViewPr>
  <p:slideViewPr>
    <p:cSldViewPr>
      <p:cViewPr>
        <p:scale>
          <a:sx n="50" d="100"/>
          <a:sy n="50" d="100"/>
        </p:scale>
        <p:origin x="-1586" y="-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3D5C3-0820-4FAB-ABA1-6D9651D57222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560AE-83EB-4E74-ABFC-279D183C46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selenium.dev/documentation/en/guidelines_and_recommendations/page_object_model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leniumHQ/selenium/wiki/PageObject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deas.riverglide.com/page-objects-refactored-12ec3541990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q2ebanking.github.io/boa-constrictor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q2ebanking.github.io/boa-constrictor/tutorial/overview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q2ebanking.github.io/boa-constrictor/tutorial/overview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Test Automation Patterns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95799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endParaRPr lang="en-US" sz="26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876800"/>
          </a:xfrm>
        </p:spPr>
        <p:txBody>
          <a:bodyPr/>
          <a:lstStyle/>
          <a:p>
            <a:pPr>
              <a:buFont typeface="+mj-lt"/>
              <a:buAutoNum type="arabicPeriod"/>
            </a:pPr>
            <a:endParaRPr lang="en-US" sz="22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Typical of Test Automation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https://www.selenium.dev/documentation/en/guidelines_and_recommendations/page_object_models/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8875" y="2863850"/>
            <a:ext cx="6826250" cy="307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There is no separation between the test method and the AUT’s locators (IDs in this example); both are intertwined in a single method.</a:t>
            </a:r>
          </a:p>
          <a:p>
            <a:r>
              <a:rPr lang="en-US" sz="2400" dirty="0" smtClean="0"/>
              <a:t>If the AUT’s UI changes its identifiers, layout, or how a login is input and processed, the test itself must change.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Object Technique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Create a wrapper (adapter) for portion of HTML tags.</a:t>
            </a:r>
          </a:p>
          <a:p>
            <a:r>
              <a:rPr lang="en-US" sz="2400" dirty="0" smtClean="0"/>
              <a:t>Inject </a:t>
            </a:r>
            <a:r>
              <a:rPr lang="en-US" sz="2400" dirty="0" err="1" smtClean="0"/>
              <a:t>WebDriver</a:t>
            </a:r>
            <a:r>
              <a:rPr lang="en-US" sz="2400" dirty="0" smtClean="0"/>
              <a:t> to the wrapper.</a:t>
            </a:r>
            <a:endParaRPr lang="en-US" sz="2400" dirty="0"/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657475"/>
            <a:ext cx="4683125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Object Technique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Provide interfaces (functions) for testing.</a:t>
            </a:r>
          </a:p>
          <a:p>
            <a:r>
              <a:rPr lang="en-US" sz="2400" dirty="0" smtClean="0"/>
              <a:t>Possibly refer to other wrappers (adapters/page objects).</a:t>
            </a:r>
            <a:endParaRPr lang="en-US" sz="2400" dirty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9275" y="2863850"/>
            <a:ext cx="5505450" cy="269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Objects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https://github.com/SeleniumHQ/selenium/wiki/PageObjects</a:t>
            </a:r>
            <a:endParaRPr lang="en-US" sz="2400" dirty="0" smtClean="0"/>
          </a:p>
          <a:p>
            <a:r>
              <a:rPr lang="en-US" sz="2400" dirty="0" smtClean="0"/>
              <a:t>The public methods represent the services that the page offers</a:t>
            </a:r>
          </a:p>
          <a:p>
            <a:r>
              <a:rPr lang="en-US" sz="2400" dirty="0" smtClean="0"/>
              <a:t>Try not to expose the internals of the page</a:t>
            </a:r>
          </a:p>
          <a:p>
            <a:r>
              <a:rPr lang="en-US" sz="2400" dirty="0" smtClean="0"/>
              <a:t>Generally don't make assertions</a:t>
            </a:r>
          </a:p>
          <a:p>
            <a:r>
              <a:rPr lang="en-US" sz="2400" dirty="0" smtClean="0"/>
              <a:t>Methods return other </a:t>
            </a:r>
            <a:r>
              <a:rPr lang="en-US" sz="2400" dirty="0" err="1" smtClean="0"/>
              <a:t>PageObjects</a:t>
            </a:r>
            <a:endParaRPr lang="en-US" sz="2400" dirty="0" smtClean="0"/>
          </a:p>
          <a:p>
            <a:r>
              <a:rPr lang="en-US" sz="2400" dirty="0" smtClean="0"/>
              <a:t>Need not represent an entire page</a:t>
            </a:r>
          </a:p>
          <a:p>
            <a:r>
              <a:rPr lang="en-US" sz="2400" dirty="0" smtClean="0"/>
              <a:t>Different results for the same action are </a:t>
            </a:r>
            <a:r>
              <a:rPr lang="en-US" sz="2400" dirty="0" err="1" smtClean="0"/>
              <a:t>modelled</a:t>
            </a:r>
            <a:r>
              <a:rPr lang="en-US" sz="2400" dirty="0" smtClean="0"/>
              <a:t> as different methods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Objects Code Smell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https://ideas.riverglide.com/page-objects-refactored-12ec3541990</a:t>
            </a:r>
            <a:endParaRPr lang="en-US" sz="2200" dirty="0" smtClean="0"/>
          </a:p>
          <a:p>
            <a:r>
              <a:rPr lang="en-US" sz="2400" dirty="0" smtClean="0"/>
              <a:t>The most common code-smell we see in </a:t>
            </a:r>
            <a:r>
              <a:rPr lang="en-US" sz="2400" dirty="0" err="1" smtClean="0"/>
              <a:t>PageObjects</a:t>
            </a:r>
            <a:r>
              <a:rPr lang="en-US" sz="2400" dirty="0" smtClean="0"/>
              <a:t> is ‘</a:t>
            </a:r>
            <a:r>
              <a:rPr lang="en-US" sz="2400" i="1" dirty="0" smtClean="0">
                <a:solidFill>
                  <a:srgbClr val="C00000"/>
                </a:solidFill>
              </a:rPr>
              <a:t>Large Class</a:t>
            </a:r>
            <a:r>
              <a:rPr lang="en-US" sz="2400" dirty="0" smtClean="0"/>
              <a:t>’.</a:t>
            </a:r>
          </a:p>
          <a:p>
            <a:r>
              <a:rPr lang="en-US" sz="2400" dirty="0" smtClean="0"/>
              <a:t>One approach to this is to think of each </a:t>
            </a:r>
            <a:r>
              <a:rPr lang="en-US" sz="2400" dirty="0" err="1" smtClean="0"/>
              <a:t>PageObject</a:t>
            </a:r>
            <a:r>
              <a:rPr lang="en-US" sz="2400" dirty="0" smtClean="0"/>
              <a:t> not as an object representing a page but as objects within a page.</a:t>
            </a:r>
          </a:p>
          <a:p>
            <a:r>
              <a:rPr lang="en-US" sz="2400" dirty="0" smtClean="0"/>
              <a:t>This means thinking of each object like a widget or page component. Even still, if a component has more than a couple of fields and buttons (as with the </a:t>
            </a:r>
            <a:r>
              <a:rPr lang="en-US" sz="2400" b="1" i="1" dirty="0" err="1" smtClean="0"/>
              <a:t>LoginPage</a:t>
            </a:r>
            <a:r>
              <a:rPr lang="en-US" sz="2400" dirty="0" smtClean="0"/>
              <a:t> example) the </a:t>
            </a:r>
            <a:r>
              <a:rPr lang="en-US" sz="2400" dirty="0" err="1" smtClean="0"/>
              <a:t>PageObject</a:t>
            </a:r>
            <a:r>
              <a:rPr lang="en-US" sz="2400" dirty="0" smtClean="0"/>
              <a:t> can still grow well beyond the 50–60 lines mark.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Objects &amp; SRP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PageObjects</a:t>
            </a:r>
            <a:r>
              <a:rPr lang="en-US" sz="2400" dirty="0" smtClean="0"/>
              <a:t> commonly have the following </a:t>
            </a:r>
            <a:r>
              <a:rPr lang="en-US" sz="2400" i="1" dirty="0" smtClean="0">
                <a:solidFill>
                  <a:srgbClr val="C00000"/>
                </a:solidFill>
              </a:rPr>
              <a:t>responsibilities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Provide an abstraction to </a:t>
            </a:r>
            <a:r>
              <a:rPr lang="en-US" sz="2000" i="1" dirty="0" smtClean="0">
                <a:solidFill>
                  <a:srgbClr val="C00000"/>
                </a:solidFill>
              </a:rPr>
              <a:t>the location of elements</a:t>
            </a:r>
            <a:r>
              <a:rPr lang="en-US" sz="2000" dirty="0" smtClean="0"/>
              <a:t> on a page via a meaningful label for what those elements mean in business terms.</a:t>
            </a:r>
          </a:p>
          <a:p>
            <a:pPr lvl="1"/>
            <a:r>
              <a:rPr lang="en-US" sz="2000" dirty="0" smtClean="0"/>
              <a:t>Describe </a:t>
            </a:r>
            <a:r>
              <a:rPr lang="en-US" sz="2000" i="1" dirty="0" smtClean="0">
                <a:solidFill>
                  <a:srgbClr val="C00000"/>
                </a:solidFill>
              </a:rPr>
              <a:t>the tasks that can be completed</a:t>
            </a:r>
            <a:r>
              <a:rPr lang="en-US" sz="2000" dirty="0" smtClean="0"/>
              <a:t> on a page using its elements (often, but not always, expressing navigation in the </a:t>
            </a:r>
            <a:r>
              <a:rPr lang="en-US" sz="2000" dirty="0" err="1" smtClean="0"/>
              <a:t>PageObject</a:t>
            </a:r>
            <a:r>
              <a:rPr lang="en-US" sz="2000" dirty="0" smtClean="0"/>
              <a:t> returned by a task).</a:t>
            </a:r>
          </a:p>
          <a:p>
            <a:r>
              <a:rPr lang="en-US" sz="2400" dirty="0" smtClean="0"/>
              <a:t>As these responsibilities are in a single class, when the way we locate a specific element is altered this class requires change. If the sequence of interactions required to complete a task change, again so must this class.</a:t>
            </a:r>
          </a:p>
          <a:p>
            <a:r>
              <a:rPr lang="en-US" sz="2400" dirty="0" smtClean="0"/>
              <a:t>There we have more than one reason for change — </a:t>
            </a:r>
            <a:r>
              <a:rPr lang="en-US" sz="2400" i="1" dirty="0" smtClean="0">
                <a:solidFill>
                  <a:srgbClr val="C00000"/>
                </a:solidFill>
              </a:rPr>
              <a:t>violating</a:t>
            </a:r>
            <a:r>
              <a:rPr lang="en-US" sz="2400" dirty="0" smtClean="0"/>
              <a:t> the Single Responsibility Principle (SRP).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Objects &amp; OCP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satisfy the SRP, a naive approach might be to extract a class for each obvious responsibility, such as locating elements and performing tasks.</a:t>
            </a:r>
          </a:p>
          <a:p>
            <a:r>
              <a:rPr lang="en-US" sz="2400" dirty="0" smtClean="0"/>
              <a:t>While this satisfies the SRP it does not satisfy the OCP (each new task requires editing the Tasks class).</a:t>
            </a:r>
          </a:p>
          <a:p>
            <a:r>
              <a:rPr lang="en-US" sz="2400" dirty="0" smtClean="0"/>
              <a:t>To satisfy the OCP, a naive approach would be to extract classes into smaller </a:t>
            </a:r>
            <a:r>
              <a:rPr lang="en-US" sz="2400" dirty="0" err="1" smtClean="0"/>
              <a:t>PageObjects</a:t>
            </a:r>
            <a:r>
              <a:rPr lang="en-US" sz="2400" dirty="0" smtClean="0"/>
              <a:t> where adding a new </a:t>
            </a:r>
            <a:r>
              <a:rPr lang="en-US" sz="2400" dirty="0" err="1" smtClean="0"/>
              <a:t>behaviour</a:t>
            </a:r>
            <a:r>
              <a:rPr lang="en-US" sz="2400" dirty="0" smtClean="0"/>
              <a:t> would involve adding a new class.</a:t>
            </a:r>
          </a:p>
          <a:p>
            <a:r>
              <a:rPr lang="en-US" sz="2400" dirty="0" smtClean="0"/>
              <a:t>While this satisfies the OCP in this example, it does not satisfy the SRP. In each of the above classes the two responsibilities of a) how to find the elements; and b) how to complete a given task; are still grouped together.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Objects </a:t>
            </a:r>
            <a:r>
              <a:rPr lang="en-US" dirty="0" err="1" smtClean="0"/>
              <a:t>Refactored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Instead of the above, a less naive approach would be to combine the </a:t>
            </a:r>
            <a:r>
              <a:rPr lang="en-US" sz="2400" i="1" dirty="0" smtClean="0">
                <a:solidFill>
                  <a:srgbClr val="C00000"/>
                </a:solidFill>
              </a:rPr>
              <a:t>Extract Class</a:t>
            </a:r>
            <a:r>
              <a:rPr lang="en-US" sz="2400" dirty="0" smtClean="0"/>
              <a:t> refactoring with the </a:t>
            </a:r>
            <a:r>
              <a:rPr lang="en-US" sz="2400" i="1" dirty="0" smtClean="0">
                <a:solidFill>
                  <a:srgbClr val="C00000"/>
                </a:solidFill>
              </a:rPr>
              <a:t>Replace Method with Method Object</a:t>
            </a:r>
            <a:r>
              <a:rPr lang="en-US" sz="2400" dirty="0" smtClean="0"/>
              <a:t> refactoring.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Boa </a:t>
            </a:r>
            <a:r>
              <a:rPr lang="en-US" dirty="0" smtClean="0"/>
              <a:t>Constrictor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https://q2ebanking.github.io/boa-constrictor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r>
              <a:rPr lang="en-US" sz="2400" dirty="0" smtClean="0"/>
              <a:t>Boa Constrictor is a C# implementation of the Screenplay </a:t>
            </a:r>
            <a:r>
              <a:rPr lang="en-US" sz="2400" dirty="0" smtClean="0"/>
              <a:t>Pattern.</a:t>
            </a:r>
          </a:p>
          <a:p>
            <a:r>
              <a:rPr lang="en-US" sz="2400" dirty="0" smtClean="0"/>
              <a:t>Its </a:t>
            </a:r>
            <a:r>
              <a:rPr lang="en-US" sz="2400" dirty="0" smtClean="0"/>
              <a:t>primary use case is Web UI and REST API test automation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Boa </a:t>
            </a:r>
            <a:r>
              <a:rPr lang="en-US" sz="2400" dirty="0" smtClean="0"/>
              <a:t>Constrictor helps you make </a:t>
            </a:r>
            <a:r>
              <a:rPr lang="en-US" sz="2400" b="1" dirty="0" smtClean="0"/>
              <a:t>better interactions for better automation</a:t>
            </a:r>
            <a:r>
              <a:rPr lang="en-US" sz="2400" dirty="0" smtClean="0"/>
              <a:t>!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Tutorial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https://q2ebanking.github.io/boa-constrictor/tutorial/overview</a:t>
            </a:r>
            <a:r>
              <a:rPr lang="en-US" sz="2200" dirty="0" smtClean="0">
                <a:hlinkClick r:id="rId2"/>
              </a:rPr>
              <a:t>/</a:t>
            </a:r>
            <a:endParaRPr lang="en-US" sz="2200" dirty="0" smtClean="0"/>
          </a:p>
          <a:p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Screenplay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https://q2ebanking.github.io/boa-constrictor/tutorial/overview</a:t>
            </a:r>
            <a:r>
              <a:rPr lang="en-US" sz="2200" dirty="0" smtClean="0">
                <a:hlinkClick r:id="rId2"/>
              </a:rPr>
              <a:t>/</a:t>
            </a:r>
            <a:endParaRPr lang="en-US" sz="2200" dirty="0" smtClean="0"/>
          </a:p>
          <a:p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14682</TotalTime>
  <Words>620</Words>
  <Application>Microsoft Office PowerPoint</Application>
  <PresentationFormat>On-screen Show (4:3)</PresentationFormat>
  <Paragraphs>57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Test Automation Patterns</vt:lpstr>
      <vt:lpstr>Objectives</vt:lpstr>
      <vt:lpstr>Contents</vt:lpstr>
      <vt:lpstr>References</vt:lpstr>
      <vt:lpstr>Typical of Test Automation</vt:lpstr>
      <vt:lpstr>Problems</vt:lpstr>
      <vt:lpstr>Page Object Technique (I)</vt:lpstr>
      <vt:lpstr>Page Object Technique (II)</vt:lpstr>
      <vt:lpstr>Page Objects Summary</vt:lpstr>
      <vt:lpstr>Page Objects Code Smell</vt:lpstr>
      <vt:lpstr>Page Objects &amp; SRP</vt:lpstr>
      <vt:lpstr>Page Objects &amp; OCP</vt:lpstr>
      <vt:lpstr>Page Objects Refactored</vt:lpstr>
      <vt:lpstr>Slide 14</vt:lpstr>
      <vt:lpstr>Boa Constrictor</vt:lpstr>
      <vt:lpstr>Tutorial</vt:lpstr>
      <vt:lpstr>Screenplay Pattern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4862</cp:revision>
  <dcterms:created xsi:type="dcterms:W3CDTF">2007-10-06T08:25:13Z</dcterms:created>
  <dcterms:modified xsi:type="dcterms:W3CDTF">2021-06-22T13:00:08Z</dcterms:modified>
</cp:coreProperties>
</file>