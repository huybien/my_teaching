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8"/>
  </p:notesMasterIdLst>
  <p:sldIdLst>
    <p:sldId id="442" r:id="rId2"/>
    <p:sldId id="394" r:id="rId3"/>
    <p:sldId id="431" r:id="rId4"/>
    <p:sldId id="385" r:id="rId5"/>
    <p:sldId id="432" r:id="rId6"/>
    <p:sldId id="438" r:id="rId7"/>
    <p:sldId id="435" r:id="rId8"/>
    <p:sldId id="436" r:id="rId9"/>
    <p:sldId id="439" r:id="rId10"/>
    <p:sldId id="415" r:id="rId11"/>
    <p:sldId id="416" r:id="rId12"/>
    <p:sldId id="440" r:id="rId13"/>
    <p:sldId id="441" r:id="rId14"/>
    <p:sldId id="417" r:id="rId15"/>
    <p:sldId id="426" r:id="rId16"/>
    <p:sldId id="424" r:id="rId17"/>
    <p:sldId id="427" r:id="rId18"/>
    <p:sldId id="404" r:id="rId19"/>
    <p:sldId id="430" r:id="rId20"/>
    <p:sldId id="419" r:id="rId21"/>
    <p:sldId id="406" r:id="rId22"/>
    <p:sldId id="407" r:id="rId23"/>
    <p:sldId id="363" r:id="rId24"/>
    <p:sldId id="358" r:id="rId25"/>
    <p:sldId id="355" r:id="rId26"/>
    <p:sldId id="343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 autoAdjust="0"/>
    <p:restoredTop sz="94667" autoAdjust="0"/>
  </p:normalViewPr>
  <p:slideViewPr>
    <p:cSldViewPr>
      <p:cViewPr>
        <p:scale>
          <a:sx n="60" d="100"/>
          <a:sy n="60" d="100"/>
        </p:scale>
        <p:origin x="-1250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12/22/2019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err="1" smtClean="0"/>
              <a:t>Giới</a:t>
            </a:r>
            <a:r>
              <a:rPr lang="en-US" sz="5400" dirty="0" smtClean="0"/>
              <a:t> </a:t>
            </a:r>
            <a:r>
              <a:rPr lang="en-US" sz="5400" dirty="0" err="1" smtClean="0"/>
              <a:t>thiệu</a:t>
            </a:r>
            <a:r>
              <a:rPr lang="en-US" sz="5400" dirty="0" smtClean="0"/>
              <a:t> </a:t>
            </a:r>
            <a:r>
              <a:rPr lang="en-US" sz="5400" dirty="0" err="1" smtClean="0"/>
              <a:t>môn</a:t>
            </a:r>
            <a:r>
              <a:rPr lang="en-US" sz="5400" dirty="0" smtClean="0"/>
              <a:t> </a:t>
            </a:r>
            <a:r>
              <a:rPr lang="en-US" sz="5400" dirty="0" err="1" smtClean="0"/>
              <a:t>học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Kiểm</a:t>
            </a:r>
            <a:r>
              <a:rPr lang="en-US" sz="5400" dirty="0" smtClean="0"/>
              <a:t> </a:t>
            </a:r>
            <a:r>
              <a:rPr lang="en-US" sz="5400" dirty="0" err="1" smtClean="0"/>
              <a:t>thử</a:t>
            </a:r>
            <a:r>
              <a:rPr lang="en-US" sz="5400" dirty="0" smtClean="0"/>
              <a:t> </a:t>
            </a:r>
            <a:r>
              <a:rPr lang="en-US" sz="5400" dirty="0" err="1" smtClean="0"/>
              <a:t>phần</a:t>
            </a:r>
            <a:r>
              <a:rPr lang="en-US" sz="5400" dirty="0" smtClean="0"/>
              <a:t> </a:t>
            </a:r>
            <a:r>
              <a:rPr lang="en-US" sz="5400" dirty="0" err="1" smtClean="0"/>
              <a:t>mềm</a:t>
            </a:r>
            <a:endParaRPr lang="en-US" sz="54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err="1" smtClean="0"/>
              <a:t>Giảng</a:t>
            </a:r>
            <a:r>
              <a:rPr lang="en-US" sz="5400" dirty="0" smtClean="0"/>
              <a:t> </a:t>
            </a:r>
            <a:r>
              <a:rPr lang="en-US" sz="5400" dirty="0" err="1" smtClean="0"/>
              <a:t>Viên</a:t>
            </a:r>
            <a:r>
              <a:rPr lang="en-US" sz="5400" dirty="0" smtClean="0"/>
              <a:t>: </a:t>
            </a:r>
            <a:r>
              <a:rPr lang="en-US" sz="5400" dirty="0" err="1" smtClean="0"/>
              <a:t>Ngô</a:t>
            </a:r>
            <a:r>
              <a:rPr lang="en-US" sz="5400" dirty="0" smtClean="0"/>
              <a:t> Huy </a:t>
            </a:r>
            <a:r>
              <a:rPr lang="en-US" sz="5400" dirty="0" err="1" smtClean="0"/>
              <a:t>Biên</a:t>
            </a:r>
            <a:endParaRPr lang="en-US" sz="5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Bộ</a:t>
            </a:r>
            <a:r>
              <a:rPr lang="en-US" sz="4400" dirty="0" smtClean="0"/>
              <a:t> </a:t>
            </a:r>
            <a:r>
              <a:rPr lang="en-US" sz="4400" dirty="0" err="1" smtClean="0"/>
              <a:t>Môn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Phần</a:t>
            </a:r>
            <a:r>
              <a:rPr lang="en-US" sz="4400" dirty="0" smtClean="0"/>
              <a:t> </a:t>
            </a:r>
            <a:r>
              <a:rPr lang="en-US" sz="4400" dirty="0" err="1" smtClean="0"/>
              <a:t>Mềm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Công</a:t>
            </a:r>
            <a:r>
              <a:rPr lang="en-US" sz="4400" dirty="0" smtClean="0"/>
              <a:t> </a:t>
            </a:r>
            <a:r>
              <a:rPr lang="en-US" sz="4400" dirty="0" err="1" smtClean="0"/>
              <a:t>Nghệ</a:t>
            </a:r>
            <a:r>
              <a:rPr lang="en-US" sz="4400" dirty="0" smtClean="0"/>
              <a:t> </a:t>
            </a:r>
            <a:r>
              <a:rPr lang="en-US" sz="4400" dirty="0" err="1" smtClean="0"/>
              <a:t>Thông</a:t>
            </a:r>
            <a:r>
              <a:rPr lang="en-US" sz="4400" dirty="0" smtClean="0"/>
              <a:t> Tin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Trường</a:t>
            </a:r>
            <a:r>
              <a:rPr lang="en-US" sz="4400" dirty="0" smtClean="0"/>
              <a:t> </a:t>
            </a: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Khoa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Tự</a:t>
            </a:r>
            <a:r>
              <a:rPr lang="en-US" sz="4400" dirty="0" smtClean="0"/>
              <a:t> </a:t>
            </a:r>
            <a:r>
              <a:rPr lang="en-US" sz="4400" dirty="0" err="1" smtClean="0"/>
              <a:t>Nhiên</a:t>
            </a:r>
            <a:endParaRPr lang="en-US" sz="44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err="1" smtClean="0"/>
              <a:t>Đại</a:t>
            </a:r>
            <a:r>
              <a:rPr lang="en-US" sz="4400" dirty="0" smtClean="0"/>
              <a:t> </a:t>
            </a:r>
            <a:r>
              <a:rPr lang="en-US" sz="4400" dirty="0" err="1" smtClean="0"/>
              <a:t>Học</a:t>
            </a:r>
            <a:r>
              <a:rPr lang="en-US" sz="4400" dirty="0" smtClean="0"/>
              <a:t> </a:t>
            </a:r>
            <a:r>
              <a:rPr lang="en-US" sz="4400" dirty="0" err="1" smtClean="0"/>
              <a:t>Quốc</a:t>
            </a:r>
            <a:r>
              <a:rPr lang="en-US" sz="4400" dirty="0" smtClean="0"/>
              <a:t> </a:t>
            </a:r>
            <a:r>
              <a:rPr lang="en-US" sz="4400" dirty="0" err="1" smtClean="0"/>
              <a:t>Gia</a:t>
            </a:r>
            <a:r>
              <a:rPr lang="en-US" sz="4400" dirty="0" smtClean="0"/>
              <a:t> </a:t>
            </a:r>
            <a:r>
              <a:rPr lang="en-US" sz="4400" dirty="0" err="1" smtClean="0"/>
              <a:t>Thành</a:t>
            </a:r>
            <a:r>
              <a:rPr lang="en-US" sz="4400" dirty="0" smtClean="0"/>
              <a:t> </a:t>
            </a:r>
            <a:r>
              <a:rPr lang="en-US" sz="4400" dirty="0" err="1" smtClean="0"/>
              <a:t>Phố</a:t>
            </a:r>
            <a:r>
              <a:rPr lang="en-US" sz="4400" dirty="0" smtClean="0"/>
              <a:t> </a:t>
            </a:r>
            <a:r>
              <a:rPr lang="en-US" sz="4400" dirty="0" err="1" smtClean="0"/>
              <a:t>Hồ</a:t>
            </a:r>
            <a:r>
              <a:rPr lang="en-US" sz="4400" dirty="0" smtClean="0"/>
              <a:t> </a:t>
            </a:r>
            <a:r>
              <a:rPr lang="en-US" sz="4400" dirty="0" err="1" smtClean="0"/>
              <a:t>Chí</a:t>
            </a:r>
            <a:r>
              <a:rPr lang="en-US" sz="4400" dirty="0" smtClean="0"/>
              <a:t> Minh, </a:t>
            </a:r>
            <a:r>
              <a:rPr lang="en-US" sz="4400" dirty="0" err="1" smtClean="0"/>
              <a:t>Việt</a:t>
            </a:r>
            <a:r>
              <a:rPr lang="en-US" sz="4400" dirty="0" smtClean="0"/>
              <a:t> 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GV,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T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S,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Khoa Công nghệ thông tin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ĐH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Khoa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TP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Chí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Minh.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3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strike="sngStrike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điện thoại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strike="sngStrike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strike="sngStrike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strike="sngStrike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Lịch làm việc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năm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từ 1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30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đến 17h30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phòng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I82, B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ộ môn Công nghệ phần 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(I82)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Quyết</a:t>
            </a:r>
            <a:r>
              <a:rPr lang="en-US" sz="2600" dirty="0" smtClean="0"/>
              <a:t> </a:t>
            </a:r>
            <a:r>
              <a:rPr lang="en-US" sz="2600" dirty="0" err="1" smtClean="0"/>
              <a:t>định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nên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đăng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ký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Xác</a:t>
            </a:r>
            <a:r>
              <a:rPr lang="en-US" sz="2600" dirty="0" smtClean="0"/>
              <a:t> </a:t>
            </a:r>
            <a:r>
              <a:rPr lang="en-US" sz="2600" dirty="0" err="1" smtClean="0"/>
              <a:t>định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nhóm</a:t>
            </a:r>
            <a:r>
              <a:rPr lang="en-US" sz="2600" dirty="0" smtClean="0"/>
              <a:t> </a:t>
            </a:r>
            <a:r>
              <a:rPr lang="en-US" sz="2600" dirty="0" err="1" smtClean="0"/>
              <a:t>thực</a:t>
            </a:r>
            <a:r>
              <a:rPr lang="en-US" sz="2600" dirty="0" smtClean="0"/>
              <a:t> </a:t>
            </a:r>
            <a:r>
              <a:rPr lang="en-US" sz="2600" dirty="0" err="1" smtClean="0"/>
              <a:t>hiện</a:t>
            </a:r>
            <a:r>
              <a:rPr lang="en-US" sz="2600" dirty="0" smtClean="0"/>
              <a:t> </a:t>
            </a:r>
            <a:r>
              <a:rPr lang="en-US" sz="2600" dirty="0" err="1" smtClean="0"/>
              <a:t>đồ</a:t>
            </a:r>
            <a:r>
              <a:rPr lang="en-US" sz="2600" dirty="0" smtClean="0"/>
              <a:t> </a:t>
            </a:r>
            <a:r>
              <a:rPr lang="en-US" sz="2600" dirty="0" err="1" smtClean="0"/>
              <a:t>án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  <a:p>
            <a:pPr marL="571500" indent="-514350">
              <a:buFont typeface="Wingdings" pitchFamily="2" charset="2"/>
              <a:buChar char="Ø"/>
            </a:pPr>
            <a:r>
              <a:rPr lang="en-US" sz="2600" dirty="0" err="1" smtClean="0"/>
              <a:t>Ước</a:t>
            </a:r>
            <a:r>
              <a:rPr lang="en-US" sz="2600" dirty="0" smtClean="0"/>
              <a:t> </a:t>
            </a:r>
            <a:r>
              <a:rPr lang="en-US" sz="2600" dirty="0" err="1" smtClean="0"/>
              <a:t>lượng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số</a:t>
            </a:r>
            <a:r>
              <a:rPr lang="en-US" sz="2600" i="1" dirty="0" smtClean="0">
                <a:solidFill>
                  <a:srgbClr val="C00000"/>
                </a:solidFill>
              </a:rPr>
              <a:t> </a:t>
            </a:r>
            <a:r>
              <a:rPr lang="en-US" sz="2600" i="1" dirty="0" err="1" smtClean="0">
                <a:solidFill>
                  <a:srgbClr val="C00000"/>
                </a:solidFill>
              </a:rPr>
              <a:t>điểm</a:t>
            </a:r>
            <a:r>
              <a:rPr lang="en-US" sz="2600" dirty="0" smtClean="0"/>
              <a:t> </a:t>
            </a:r>
            <a:r>
              <a:rPr lang="en-US" sz="2600" dirty="0" err="1" smtClean="0"/>
              <a:t>dự</a:t>
            </a:r>
            <a:r>
              <a:rPr lang="en-US" sz="2600" dirty="0" smtClean="0"/>
              <a:t> </a:t>
            </a:r>
            <a:r>
              <a:rPr lang="en-US" sz="2600" dirty="0" err="1" smtClean="0"/>
              <a:t>kiến</a:t>
            </a:r>
            <a:r>
              <a:rPr lang="en-US" sz="2600" dirty="0" smtClean="0"/>
              <a:t> </a:t>
            </a:r>
            <a:r>
              <a:rPr lang="en-US" sz="2600" dirty="0" err="1" smtClean="0"/>
              <a:t>sẽ</a:t>
            </a:r>
            <a:r>
              <a:rPr lang="en-US" sz="2600" dirty="0" smtClean="0"/>
              <a:t> </a:t>
            </a:r>
            <a:r>
              <a:rPr lang="en-US" sz="2600" dirty="0" err="1" smtClean="0"/>
              <a:t>đạt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cho</a:t>
            </a:r>
            <a:r>
              <a:rPr lang="en-US" sz="2600" dirty="0" smtClean="0"/>
              <a:t> </a:t>
            </a:r>
            <a:r>
              <a:rPr lang="en-US" sz="2600" dirty="0" err="1" smtClean="0"/>
              <a:t>môn</a:t>
            </a:r>
            <a:r>
              <a:rPr lang="en-US" sz="2600" dirty="0" smtClean="0"/>
              <a:t> </a:t>
            </a:r>
            <a:r>
              <a:rPr lang="en-US" sz="2600" dirty="0" err="1" smtClean="0"/>
              <a:t>học</a:t>
            </a:r>
            <a:endParaRPr lang="en-US" sz="26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Đối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tượng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r>
              <a:rPr lang="en-US" sz="2800" dirty="0" err="1" smtClean="0"/>
              <a:t>Mục</a:t>
            </a:r>
            <a:r>
              <a:rPr lang="en-US" sz="2800" dirty="0" smtClean="0"/>
              <a:t> </a:t>
            </a:r>
            <a:r>
              <a:rPr lang="en-US" sz="2800" dirty="0" err="1" smtClean="0"/>
              <a:t>tiêu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r>
              <a:rPr lang="en-US" sz="2800" dirty="0" err="1" smtClean="0"/>
              <a:t>Nội</a:t>
            </a:r>
            <a:r>
              <a:rPr lang="en-US" sz="2800" dirty="0" smtClean="0"/>
              <a:t> dung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lượng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Đánh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giá</a:t>
            </a:r>
            <a:r>
              <a:rPr lang="en-US" sz="2800" dirty="0" smtClean="0"/>
              <a:t> </a:t>
            </a:r>
            <a:r>
              <a:rPr lang="en-US" sz="2800" dirty="0" err="1" smtClean="0"/>
              <a:t>kết</a:t>
            </a:r>
            <a:r>
              <a:rPr lang="en-US" sz="2800" dirty="0" smtClean="0"/>
              <a:t> </a:t>
            </a:r>
            <a:r>
              <a:rPr lang="en-US" sz="2800" dirty="0" err="1" smtClean="0"/>
              <a:t>quả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r>
              <a:rPr lang="en-US" sz="2800" dirty="0" smtClean="0"/>
              <a:t> </a:t>
            </a:r>
            <a:r>
              <a:rPr lang="en-US" sz="2800" dirty="0" err="1" smtClean="0"/>
              <a:t>tập</a:t>
            </a:r>
            <a:endParaRPr lang="en-US" sz="2800" dirty="0" smtClean="0"/>
          </a:p>
          <a:p>
            <a:pPr lvl="0"/>
            <a:r>
              <a:rPr lang="en-US" sz="2800" i="1" dirty="0" err="1" smtClean="0">
                <a:solidFill>
                  <a:srgbClr val="C00000"/>
                </a:solidFill>
              </a:rPr>
              <a:t>Phương</a:t>
            </a:r>
            <a:r>
              <a:rPr lang="en-US" sz="2800" i="1" dirty="0" smtClean="0">
                <a:solidFill>
                  <a:srgbClr val="C00000"/>
                </a:solidFill>
              </a:rPr>
              <a:t> </a:t>
            </a:r>
            <a:r>
              <a:rPr lang="en-US" sz="2800" i="1" dirty="0" err="1" smtClean="0">
                <a:solidFill>
                  <a:srgbClr val="C00000"/>
                </a:solidFill>
              </a:rPr>
              <a:t>pháp</a:t>
            </a:r>
            <a:r>
              <a:rPr lang="en-US" sz="2800" dirty="0" smtClean="0"/>
              <a:t> </a:t>
            </a:r>
            <a:r>
              <a:rPr lang="en-US" sz="2800" dirty="0" err="1" smtClean="0"/>
              <a:t>dạy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Tài</a:t>
            </a:r>
            <a:r>
              <a:rPr lang="en-US" sz="2800" dirty="0" smtClean="0"/>
              <a:t> </a:t>
            </a:r>
            <a:r>
              <a:rPr lang="en-US" sz="2800" dirty="0" err="1" smtClean="0"/>
              <a:t>liệu</a:t>
            </a:r>
            <a:r>
              <a:rPr lang="en-US" sz="2800" dirty="0" smtClean="0"/>
              <a:t> </a:t>
            </a:r>
            <a:r>
              <a:rPr lang="en-US" sz="2800" dirty="0" err="1" smtClean="0"/>
              <a:t>tham</a:t>
            </a:r>
            <a:r>
              <a:rPr lang="en-US" sz="2800" dirty="0" smtClean="0"/>
              <a:t> </a:t>
            </a:r>
            <a:r>
              <a:rPr lang="en-US" sz="2800" dirty="0" err="1" smtClean="0"/>
              <a:t>khảo</a:t>
            </a:r>
            <a:endParaRPr lang="en-US" sz="2800" dirty="0" smtClean="0"/>
          </a:p>
          <a:p>
            <a:pPr lvl="0"/>
            <a:r>
              <a:rPr lang="en-US" sz="2800" dirty="0" err="1" smtClean="0"/>
              <a:t>Nội</a:t>
            </a:r>
            <a:r>
              <a:rPr lang="en-US" sz="2800" dirty="0" smtClean="0"/>
              <a:t> </a:t>
            </a:r>
            <a:r>
              <a:rPr lang="en-US" sz="2800" dirty="0" err="1" smtClean="0"/>
              <a:t>quy</a:t>
            </a:r>
            <a:r>
              <a:rPr lang="en-US" sz="2800" dirty="0" smtClean="0"/>
              <a:t> </a:t>
            </a:r>
            <a:r>
              <a:rPr lang="en-US" sz="2800" dirty="0" err="1" smtClean="0"/>
              <a:t>môn</a:t>
            </a:r>
            <a:r>
              <a:rPr lang="en-US" sz="2800" dirty="0" smtClean="0"/>
              <a:t> </a:t>
            </a:r>
            <a:r>
              <a:rPr lang="en-US" sz="2800" dirty="0" err="1" smtClean="0"/>
              <a:t>học</a:t>
            </a:r>
            <a:endParaRPr lang="en-US" sz="2800" dirty="0" smtClean="0"/>
          </a:p>
          <a:p>
            <a:pPr lvl="0"/>
            <a:r>
              <a:rPr lang="en-US" sz="2800" dirty="0" err="1" smtClean="0"/>
              <a:t>Câu</a:t>
            </a:r>
            <a:r>
              <a:rPr lang="en-US" sz="2800" dirty="0" smtClean="0"/>
              <a:t> </a:t>
            </a:r>
            <a:r>
              <a:rPr lang="en-US" sz="2800" dirty="0" err="1" smtClean="0"/>
              <a:t>hỏi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Trả</a:t>
            </a:r>
            <a:r>
              <a:rPr lang="en-US" sz="2800" dirty="0" smtClean="0"/>
              <a:t> </a:t>
            </a:r>
            <a:r>
              <a:rPr lang="en-US" sz="2800" dirty="0" err="1" smtClean="0"/>
              <a:t>lời</a:t>
            </a:r>
            <a:endParaRPr lang="en-US" sz="2800" dirty="0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267200" y="4244876"/>
            <a:ext cx="449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không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với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hoàn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thành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việc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ctr"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Quá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luôn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sinh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việc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bất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ngờ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311391"/>
            <a:ext cx="2286000" cy="1694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4234934"/>
            <a:ext cx="289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+mj-lt"/>
              </a:rPr>
              <a:t>Các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đồ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án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của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tôi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luôn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bị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j-lt"/>
              </a:rPr>
              <a:t>trễ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j-lt"/>
              </a:rPr>
              <a:t>hạn</a:t>
            </a:r>
            <a:r>
              <a:rPr lang="en-US" sz="2400" dirty="0" smtClean="0">
                <a:latin typeface="+mj-lt"/>
              </a:rPr>
              <a:t>.</a:t>
            </a:r>
          </a:p>
          <a:p>
            <a:pPr algn="ctr">
              <a:buNone/>
            </a:pPr>
            <a:endParaRPr lang="en-US" sz="2400" dirty="0" smtClean="0">
              <a:latin typeface="+mj-lt"/>
            </a:endParaRPr>
          </a:p>
          <a:p>
            <a:pPr algn="ctr">
              <a:buNone/>
            </a:pPr>
            <a:r>
              <a:rPr lang="en-US" sz="2400" dirty="0" err="1" smtClean="0">
                <a:latin typeface="+mj-lt"/>
              </a:rPr>
              <a:t>Các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đồ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án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của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tôi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luôn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dirty="0" err="1" smtClean="0">
                <a:latin typeface="+mj-lt"/>
              </a:rPr>
              <a:t>bị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j-lt"/>
              </a:rPr>
              <a:t>điểm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+mj-lt"/>
              </a:rPr>
              <a:t>thấp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316342"/>
            <a:ext cx="1721427" cy="1842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2209800"/>
            <a:ext cx="4038600" cy="34290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lương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,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,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nghệ</a:t>
            </a:r>
            <a:r>
              <a:rPr lang="en-US" dirty="0" smtClean="0"/>
              <a:t>,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,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9600" y="2209800"/>
            <a:ext cx="4648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hi phí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àm phần 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này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nhiêu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Thời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gian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lâu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Quy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sẽ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áp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phát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triển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pic>
        <p:nvPicPr>
          <p:cNvPr id="47106" name="Picture 2" descr="https://staticwspieram.pl/upload/project/big/17858_project-e6f2405d9bf51bc56081656d8627fbf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905000"/>
            <a:ext cx="2933700" cy="1920240"/>
          </a:xfrm>
          <a:prstGeom prst="rect">
            <a:avLst/>
          </a:prstGeom>
          <a:noFill/>
        </p:spPr>
      </p:pic>
      <p:pic>
        <p:nvPicPr>
          <p:cNvPr id="47108" name="Picture 4" descr="https://www.freelancermap.com/images/seo_landing/itfreelanc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4114800"/>
            <a:ext cx="2606634" cy="1905434"/>
          </a:xfrm>
          <a:prstGeom prst="rect">
            <a:avLst/>
          </a:prstGeom>
          <a:noFill/>
        </p:spPr>
      </p:pic>
      <p:pic>
        <p:nvPicPr>
          <p:cNvPr id="47114" name="Picture 10" descr="https://pixfeeds.com/images/topic/8157/1200-8157-promotion-letters-photo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4648200"/>
            <a:ext cx="27432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đều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đúng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tiến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độ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đạt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điểm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cao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phát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sinh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vấn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bất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ngờ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nào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nhóm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theo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quy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gian</a:t>
            </a:r>
            <a:r>
              <a:rPr lang="en-US" sz="2400" dirty="0" smtClean="0"/>
              <a:t>, </a:t>
            </a:r>
            <a:r>
              <a:rPr lang="en-US" sz="2400" dirty="0" err="1" smtClean="0"/>
              <a:t>tiến</a:t>
            </a:r>
            <a:r>
              <a:rPr lang="en-US" sz="2400" dirty="0" smtClean="0"/>
              <a:t> </a:t>
            </a: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công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muốn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nhóm</a:t>
            </a:r>
            <a:r>
              <a:rPr lang="en-US" sz="2400" dirty="0" smtClean="0"/>
              <a:t> </a:t>
            </a:r>
            <a:r>
              <a:rPr lang="en-US" sz="2400" dirty="0" err="1" smtClean="0"/>
              <a:t>nào</a:t>
            </a:r>
            <a:r>
              <a:rPr lang="en-US" sz="2400" dirty="0" smtClean="0"/>
              <a:t> </a:t>
            </a:r>
            <a:r>
              <a:rPr lang="en-US" sz="2400" dirty="0" err="1" smtClean="0"/>
              <a:t>cả</a:t>
            </a:r>
            <a:r>
              <a:rPr lang="en-US" sz="2400" dirty="0" smtClean="0"/>
              <a:t> (</a:t>
            </a:r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dirty="0" err="1" smtClean="0"/>
              <a:t>đã</a:t>
            </a:r>
            <a:r>
              <a:rPr lang="en-US" sz="2400" dirty="0" smtClean="0"/>
              <a:t> </a:t>
            </a:r>
            <a:r>
              <a:rPr lang="en-US" sz="2400" dirty="0" err="1" smtClean="0"/>
              <a:t>biết</a:t>
            </a:r>
            <a:r>
              <a:rPr lang="en-US" sz="2400" dirty="0" smtClean="0"/>
              <a:t> </a:t>
            </a:r>
            <a:r>
              <a:rPr lang="en-US" sz="2400" dirty="0" err="1" smtClean="0"/>
              <a:t>cách</a:t>
            </a:r>
            <a:r>
              <a:rPr lang="en-US" sz="2400" dirty="0" smtClean="0"/>
              <a:t> </a:t>
            </a:r>
            <a:r>
              <a:rPr lang="en-US" sz="2400" dirty="0" err="1" smtClean="0"/>
              <a:t>quản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nhóm</a:t>
            </a:r>
            <a:r>
              <a:rPr lang="en-US" sz="2400" dirty="0" smtClean="0"/>
              <a:t>,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cùng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).</a:t>
            </a:r>
          </a:p>
          <a:p>
            <a:r>
              <a:rPr lang="en-US" sz="2400" dirty="0" err="1" smtClean="0"/>
              <a:t>Tôi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nhu</a:t>
            </a:r>
            <a:r>
              <a:rPr lang="en-US" sz="2400" dirty="0" smtClean="0"/>
              <a:t> </a:t>
            </a:r>
            <a:r>
              <a:rPr lang="en-US" sz="2400" dirty="0" err="1" smtClean="0"/>
              <a:t>cầu</a:t>
            </a:r>
            <a:r>
              <a:rPr lang="en-US" sz="2400" dirty="0" smtClean="0"/>
              <a:t> </a:t>
            </a:r>
            <a:r>
              <a:rPr lang="en-US" sz="2400" u="sng" dirty="0" err="1" smtClean="0"/>
              <a:t>mở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công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ty</a:t>
            </a:r>
            <a:r>
              <a:rPr lang="en-US" sz="2400" dirty="0" smtClean="0"/>
              <a:t>, hay </a:t>
            </a:r>
            <a:r>
              <a:rPr lang="en-US" sz="2400" u="sng" dirty="0" err="1" smtClean="0"/>
              <a:t>làm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việc</a:t>
            </a:r>
            <a:r>
              <a:rPr lang="en-US" sz="2400" u="sng" dirty="0" smtClean="0"/>
              <a:t> </a:t>
            </a:r>
            <a:r>
              <a:rPr lang="en-US" sz="2400" u="sng" dirty="0" err="1" smtClean="0"/>
              <a:t>tự</a:t>
            </a:r>
            <a:r>
              <a:rPr lang="en-US" sz="2400" u="sng" dirty="0" smtClean="0"/>
              <a:t> do</a:t>
            </a:r>
            <a:r>
              <a:rPr lang="en-US" sz="2400" dirty="0" smtClean="0"/>
              <a:t>.</a:t>
            </a:r>
          </a:p>
        </p:txBody>
      </p:sp>
      <p:pic>
        <p:nvPicPr>
          <p:cNvPr id="7" name="Picture 4" descr="http://duration-driven.com/wp-content/uploads/2015/02/business-team-celebrating-victory-in-office-x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4704588"/>
            <a:ext cx="2464308" cy="1696212"/>
          </a:xfrm>
          <a:prstGeom prst="rect">
            <a:avLst/>
          </a:prstGeom>
          <a:noFill/>
        </p:spPr>
      </p:pic>
      <p:pic>
        <p:nvPicPr>
          <p:cNvPr id="8" name="Picture 12" descr="https://www.cpp.edu/~oslcc/projectsuccess/img/Project%20Success%20Pic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4572000"/>
            <a:ext cx="1937656" cy="20062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447801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tiên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quyết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môn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Công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nghệ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Phương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hướng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đối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tượng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kế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Kiểm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chứng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ứng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web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cho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thiết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bị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động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song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hành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trong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cùng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Game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máy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thức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hiểu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tài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liệu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tiếng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Anh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bày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cáo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343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4864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219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6248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Đề xuất được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mô hình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phần mềm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cho dự án.</a:t>
            </a: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Áp dụng được các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kỹ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thuật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một phần mềm.</a:t>
            </a: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Sử dụng được các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 cụ để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phần mềm.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Giải thích được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trách nhiệm và đạo đức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của người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phần mềm.</a:t>
            </a:r>
          </a:p>
          <a:p>
            <a:pPr>
              <a:buFont typeface="+mj-lt"/>
              <a:buAutoNum type="arabicPeriod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Giải thích được các </a:t>
            </a: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chuẩn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liên quan đến quy trình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thử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phần mềm.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24600" y="3657600"/>
            <a:ext cx="2667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Calibri" pitchFamily="34" charset="0"/>
              </a:rPr>
              <a:t>6. </a:t>
            </a:r>
            <a:r>
              <a:rPr lang="en-US" sz="2400" b="1" dirty="0" err="1" smtClean="0">
                <a:latin typeface="Calibri" pitchFamily="34" charset="0"/>
              </a:rPr>
              <a:t>Kiểm</a:t>
            </a:r>
            <a:r>
              <a:rPr lang="en-US" sz="2400" b="1" dirty="0" smtClean="0">
                <a:latin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</a:rPr>
              <a:t>thử</a:t>
            </a:r>
            <a:r>
              <a:rPr lang="vi-VN" sz="2400" b="1" dirty="0" smtClean="0">
                <a:latin typeface="Calibri" pitchFamily="34" charset="0"/>
              </a:rPr>
              <a:t> </a:t>
            </a:r>
            <a:r>
              <a:rPr lang="vi-VN" sz="2400" b="1" i="1" dirty="0" smtClean="0">
                <a:solidFill>
                  <a:srgbClr val="C00000"/>
                </a:solidFill>
                <a:latin typeface="Calibri" pitchFamily="34" charset="0"/>
              </a:rPr>
              <a:t>thành công</a:t>
            </a:r>
            <a:r>
              <a:rPr lang="vi-VN" sz="2400" b="1" dirty="0" smtClean="0">
                <a:latin typeface="Calibri" pitchFamily="34" charset="0"/>
              </a:rPr>
              <a:t> một phần mềm kích cỡ khoảng 75.000 dòng mã nguồn.</a:t>
            </a:r>
            <a:endParaRPr lang="en-US" sz="2400" b="1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Tester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505200"/>
            <a:ext cx="7696200" cy="313932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Aid the definition/refinement of business requirements by helping to derive use-case scenarios and acceptance test criteria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Designing tests to mitigate risks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Run tests and record outcomes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Work with developers to create automated tests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Work with business analysts and business stakeholders to undertake exploratory testing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Work with developers to identify and carry out appropriate performance and load testing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Participate in the work planning and tracking process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Contribute to the continuous improvement process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10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295400"/>
            <a:ext cx="6477000" cy="20574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Experience working with database (MSSQL, </a:t>
            </a:r>
            <a:r>
              <a:rPr lang="en-US" sz="2000" dirty="0" err="1" smtClean="0"/>
              <a:t>MySQL</a:t>
            </a:r>
            <a:r>
              <a:rPr lang="en-US" sz="2000" dirty="0" smtClean="0"/>
              <a:t>, Oracle...)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quality assurance activities (CMMI)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Attention to detail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QA/QC Hire (HP)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4419600"/>
            <a:ext cx="81534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Define and measure product quality.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Define and establish appropriate quality management processes and tools across the R&amp;D organization.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Work closely with the Development and QA teams to establish and execute appropriate practices to actually meet the defined quality goals.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Work closely with the Management team to report on relevant quality metrics, and make recommendations as to whether a product is ready to be released to customers.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1600" i="1" dirty="0" smtClean="0">
                <a:solidFill>
                  <a:schemeClr val="bg1"/>
                </a:solidFill>
                <a:latin typeface="+mj-lt"/>
              </a:rPr>
              <a:t>Look for opportunities to increase product quality and team efficiency, and drive improvement programs across the entire development project.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143000"/>
            <a:ext cx="6705600" cy="32766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500" dirty="0" smtClean="0"/>
              <a:t>Bachelor’s Degree in Computer Science/Software Engineering or comparable.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500" dirty="0" smtClean="0"/>
              <a:t>Solid understanding of, and practical experience with software quality tools and processes (e.g. test planning, progress tracking, defect tracking, black box/white box testing, code coverage measurement, code complexity measurement, code analyzers, test automation, etc.).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500" dirty="0" smtClean="0"/>
              <a:t>Knowledge of SW Engineering tools (e.g. source code revision control systems, build process, etc.).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500" dirty="0" smtClean="0"/>
              <a:t>Thorough understanding of the entire Software Development process (using traditional waterfall-like development and/or agile/iterative development) in order to establish quality metrics and practices along the development cycle and not only in final product testing.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500" dirty="0" smtClean="0"/>
              <a:t>Experience working with customers (understanding customer needs/expectations).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8674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chi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tiết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solidFill>
                  <a:srgbClr val="C00000"/>
                </a:solidFill>
              </a:rPr>
              <a:t>Các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mô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i="1" dirty="0" err="1" smtClean="0">
                <a:solidFill>
                  <a:srgbClr val="C00000"/>
                </a:solidFill>
              </a:rPr>
              <a:t>Lập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kế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hoạch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dự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Vận hành, kiểm soát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theo dõi, báo cáo và đánh giá dự án phần 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Quản lý rủi ro, cấu hình và chất lượng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phần 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cụ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hỗ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lý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dự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i="1" dirty="0" err="1" smtClean="0">
                <a:solidFill>
                  <a:srgbClr val="C00000"/>
                </a:solidFill>
              </a:rPr>
              <a:t>Quản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trị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nhóm</a:t>
            </a:r>
            <a:r>
              <a:rPr lang="en-US" sz="2400" dirty="0" smtClean="0"/>
              <a:t> </a:t>
            </a:r>
            <a:r>
              <a:rPr lang="en-US" sz="2400" dirty="0" err="1" smtClean="0"/>
              <a:t>phát</a:t>
            </a:r>
            <a:r>
              <a:rPr lang="en-US" sz="2400" dirty="0" smtClean="0"/>
              <a:t> </a:t>
            </a:r>
            <a:r>
              <a:rPr lang="en-US" sz="2400" dirty="0" err="1" smtClean="0"/>
              <a:t>triển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chuẩn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cải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tiến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đánh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giá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quy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tín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chỉ</a:t>
            </a:r>
            <a:r>
              <a:rPr lang="en-US" dirty="0" smtClean="0">
                <a:latin typeface="+mj-lt"/>
              </a:rPr>
              <a:t>: 		4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lý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thuyết</a:t>
            </a:r>
            <a:r>
              <a:rPr lang="en-US" dirty="0" smtClean="0">
                <a:latin typeface="+mj-lt"/>
              </a:rPr>
              <a:t>: 	45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thực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hành</a:t>
            </a:r>
            <a:r>
              <a:rPr lang="en-US" dirty="0" smtClean="0">
                <a:latin typeface="+mj-lt"/>
              </a:rPr>
              <a:t>: 	30</a:t>
            </a:r>
          </a:p>
          <a:p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tiết tự học: 	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bổ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thời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lượng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lịch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3429000"/>
          </a:xfrm>
        </p:spPr>
        <p:txBody>
          <a:bodyPr/>
          <a:lstStyle/>
          <a:p>
            <a:r>
              <a:rPr lang="vi-VN" sz="2200" dirty="0" smtClean="0">
                <a:latin typeface="Calibri" pitchFamily="34" charset="0"/>
              </a:rPr>
              <a:t>Mỗi nhóm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có</a:t>
            </a:r>
            <a:r>
              <a:rPr lang="vi-VN" sz="2200" dirty="0" smtClean="0">
                <a:latin typeface="Calibri" pitchFamily="34" charset="0"/>
              </a:rPr>
              <a:t> 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</a:rPr>
              <a:t>tối đa 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7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</a:rPr>
              <a:t> người</a:t>
            </a:r>
            <a:r>
              <a:rPr lang="en-US" sz="2200" dirty="0" smtClean="0">
                <a:latin typeface="Calibri" pitchFamily="34" charset="0"/>
              </a:rPr>
              <a:t>. </a:t>
            </a:r>
            <a:r>
              <a:rPr lang="en-US" sz="2200" dirty="0" err="1" smtClean="0">
                <a:latin typeface="Calibri" pitchFamily="34" charset="0"/>
              </a:rPr>
              <a:t>Trường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hợp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dư</a:t>
            </a:r>
            <a:r>
              <a:rPr lang="en-US" sz="2200" dirty="0" smtClean="0">
                <a:latin typeface="Calibri" pitchFamily="34" charset="0"/>
              </a:rPr>
              <a:t> SV, </a:t>
            </a:r>
            <a:r>
              <a:rPr lang="en-US" sz="2200" dirty="0" err="1" smtClean="0">
                <a:latin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đặc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biệt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có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tối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đa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là</a:t>
            </a:r>
            <a:r>
              <a:rPr lang="en-US" sz="2200" dirty="0" smtClean="0">
                <a:latin typeface="Calibri" pitchFamily="34" charset="0"/>
              </a:rPr>
              <a:t> 9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(</a:t>
            </a:r>
            <a:r>
              <a:rPr lang="en-US" sz="2200" dirty="0" err="1" smtClean="0">
                <a:latin typeface="Calibri" pitchFamily="34" charset="0"/>
              </a:rPr>
              <a:t>ưu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tiên</a:t>
            </a:r>
            <a:r>
              <a:rPr lang="en-US" sz="2200" dirty="0" smtClean="0">
                <a:latin typeface="Calibri" pitchFamily="34" charset="0"/>
              </a:rPr>
              <a:t> 1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9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hơn</a:t>
            </a:r>
            <a:r>
              <a:rPr lang="en-US" sz="2200" dirty="0" smtClean="0">
                <a:latin typeface="Calibri" pitchFamily="34" charset="0"/>
              </a:rPr>
              <a:t> 2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8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).</a:t>
            </a:r>
            <a:endParaRPr lang="vi-VN" sz="2200" dirty="0" smtClean="0">
              <a:latin typeface="Calibri" pitchFamily="34" charset="0"/>
            </a:endParaRPr>
          </a:p>
          <a:p>
            <a:r>
              <a:rPr lang="vi-VN" sz="2200" dirty="0" smtClean="0">
                <a:latin typeface="Calibri" pitchFamily="34" charset="0"/>
              </a:rPr>
              <a:t>Lớp trưởng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tự</a:t>
            </a:r>
            <a:r>
              <a:rPr lang="vi-VN" sz="2200" dirty="0" smtClean="0"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sắp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xếp</a:t>
            </a:r>
            <a:r>
              <a:rPr lang="vi-VN" sz="2200" dirty="0" smtClean="0">
                <a:latin typeface="Calibri" pitchFamily="34" charset="0"/>
              </a:rPr>
              <a:t> (tối đa </a:t>
            </a:r>
            <a:r>
              <a:rPr lang="en-US" sz="2200" dirty="0" smtClean="0">
                <a:latin typeface="Calibri" pitchFamily="34" charset="0"/>
              </a:rPr>
              <a:t>7</a:t>
            </a:r>
            <a:r>
              <a:rPr lang="vi-VN" sz="2200" dirty="0" smtClean="0">
                <a:latin typeface="Calibri" pitchFamily="34" charset="0"/>
              </a:rPr>
              <a:t> người)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theo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thứ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tự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trong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danh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sách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lớp</a:t>
            </a:r>
            <a:r>
              <a:rPr lang="vi-VN" sz="2200" dirty="0" smtClean="0">
                <a:latin typeface="Calibri" pitchFamily="34" charset="0"/>
              </a:rPr>
              <a:t> và gửi </a:t>
            </a:r>
            <a:r>
              <a:rPr lang="en-US" sz="2200" dirty="0" err="1" smtClean="0">
                <a:latin typeface="Calibri" pitchFamily="34" charset="0"/>
              </a:rPr>
              <a:t>kết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quả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cho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các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sinh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viên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trong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lớp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xem</a:t>
            </a:r>
            <a:r>
              <a:rPr lang="vi-VN" sz="2200" dirty="0" smtClean="0">
                <a:latin typeface="Calibri" pitchFamily="34" charset="0"/>
              </a:rPr>
              <a:t>.</a:t>
            </a:r>
            <a:endParaRPr lang="en-US" sz="2200" dirty="0" smtClean="0">
              <a:latin typeface="Calibri" pitchFamily="34" charset="0"/>
            </a:endParaRPr>
          </a:p>
          <a:p>
            <a:r>
              <a:rPr lang="vi-VN" sz="2200" dirty="0" smtClean="0">
                <a:latin typeface="Calibri" pitchFamily="34" charset="0"/>
              </a:rPr>
              <a:t>Lớp trưởng </a:t>
            </a:r>
            <a:r>
              <a:rPr lang="vi-VN" sz="2200" i="1" dirty="0" smtClean="0">
                <a:solidFill>
                  <a:srgbClr val="C00000"/>
                </a:solidFill>
                <a:latin typeface="Calibri" pitchFamily="34" charset="0"/>
              </a:rPr>
              <a:t>t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oàn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quyền</a:t>
            </a:r>
            <a:r>
              <a:rPr lang="vi-VN" sz="2200" dirty="0" smtClean="0">
                <a:latin typeface="Calibri" pitchFamily="34" charset="0"/>
              </a:rPr>
              <a:t> sắp xếp và phân nhóm cho các thành viên riêng lẻ hoặc các nhóm thiếu người.</a:t>
            </a:r>
            <a:endParaRPr lang="en-US" sz="2200" dirty="0" smtClean="0">
              <a:latin typeface="Calibri" pitchFamily="34" charset="0"/>
            </a:endParaRPr>
          </a:p>
          <a:p>
            <a:r>
              <a:rPr lang="en-US" sz="2200" dirty="0" err="1" smtClean="0">
                <a:latin typeface="Calibri" pitchFamily="34" charset="0"/>
              </a:rPr>
              <a:t>Mỗi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nhóm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tự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chọn</a:t>
            </a:r>
            <a:r>
              <a:rPr lang="en-US" sz="2200" dirty="0" smtClean="0">
                <a:latin typeface="Calibri" pitchFamily="34" charset="0"/>
              </a:rPr>
              <a:t> 1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làm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nhóm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trưởng</a:t>
            </a:r>
            <a:r>
              <a:rPr lang="en-US" sz="2200" dirty="0" smtClean="0">
                <a:latin typeface="Calibri" pitchFamily="34" charset="0"/>
              </a:rPr>
              <a:t>, 1 </a:t>
            </a:r>
            <a:r>
              <a:rPr lang="en-US" sz="2200" dirty="0" err="1" smtClean="0">
                <a:latin typeface="Calibri" pitchFamily="34" charset="0"/>
              </a:rPr>
              <a:t>người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</a:rPr>
              <a:t>làm</a:t>
            </a:r>
            <a:r>
              <a:rPr lang="en-US" sz="2200" dirty="0" smtClean="0"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khách</a:t>
            </a:r>
            <a:r>
              <a:rPr lang="en-US" sz="2200" i="1" dirty="0" smtClean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Calibri" pitchFamily="34" charset="0"/>
              </a:rPr>
              <a:t>hàng</a:t>
            </a:r>
            <a:r>
              <a:rPr lang="en-US" sz="2200" dirty="0" smtClean="0">
                <a:latin typeface="Calibri" pitchFamily="34" charset="0"/>
              </a:rPr>
              <a:t>.</a:t>
            </a:r>
            <a:endParaRPr lang="vi-VN" sz="2200" dirty="0" smtClean="0">
              <a:latin typeface="Calibri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572000"/>
            <a:ext cx="3048000" cy="1664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Kết quả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tổng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thuyết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(10%)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2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bài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tại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(20%)</a:t>
            </a: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Đồ án môn học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theo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nhân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cuối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kỳ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cộng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20%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Sinh viên tích cực trả lời trong lớp học và trả lời đúng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Ban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sự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Tiêu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chuẩn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đánh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giá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Thuyết</a:t>
            </a:r>
            <a:r>
              <a:rPr lang="en-US" sz="4000" dirty="0" smtClean="0"/>
              <a:t> </a:t>
            </a:r>
            <a:r>
              <a:rPr lang="en-US" sz="4000" dirty="0" err="1" smtClean="0"/>
              <a:t>trình</a:t>
            </a:r>
            <a:r>
              <a:rPr lang="en-US" sz="4000" dirty="0" smtClean="0"/>
              <a:t> </a:t>
            </a:r>
            <a:r>
              <a:rPr lang="en-US" sz="4000" dirty="0" err="1" smtClean="0"/>
              <a:t>theo</a:t>
            </a:r>
            <a:r>
              <a:rPr lang="en-US" sz="4000" dirty="0" smtClean="0"/>
              <a:t> </a:t>
            </a:r>
            <a:r>
              <a:rPr lang="en-US" sz="4000" dirty="0" err="1" smtClean="0"/>
              <a:t>nhóm</a:t>
            </a:r>
            <a:r>
              <a:rPr lang="en-US" sz="4000" dirty="0" smtClean="0"/>
              <a:t> (10% </a:t>
            </a:r>
            <a:r>
              <a:rPr lang="en-US" sz="4000" dirty="0" err="1" smtClean="0"/>
              <a:t>điểm</a:t>
            </a:r>
            <a:r>
              <a:rPr lang="en-US" sz="4000" dirty="0" smtClean="0"/>
              <a:t> </a:t>
            </a:r>
            <a:r>
              <a:rPr lang="en-US" sz="4000" dirty="0" err="1" smtClean="0"/>
              <a:t>số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pPr lvl="0"/>
            <a:r>
              <a:rPr lang="en-US" sz="2500" dirty="0" err="1" smtClean="0"/>
              <a:t>Giáo</a:t>
            </a:r>
            <a:r>
              <a:rPr lang="en-US" sz="2500" dirty="0" smtClean="0"/>
              <a:t> </a:t>
            </a:r>
            <a:r>
              <a:rPr lang="en-US" sz="2500" dirty="0" err="1" smtClean="0"/>
              <a:t>viên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đưa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các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chủ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đề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thuyết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và</a:t>
            </a:r>
            <a:r>
              <a:rPr lang="en-US" sz="2500" dirty="0" smtClean="0"/>
              <a:t> </a:t>
            </a:r>
            <a:r>
              <a:rPr lang="en-US" sz="2500" dirty="0" err="1" smtClean="0"/>
              <a:t>tài</a:t>
            </a:r>
            <a:r>
              <a:rPr lang="en-US" sz="2500" dirty="0" smtClean="0"/>
              <a:t> </a:t>
            </a:r>
            <a:r>
              <a:rPr lang="en-US" sz="2500" dirty="0" err="1" smtClean="0"/>
              <a:t>liệu</a:t>
            </a:r>
            <a:r>
              <a:rPr lang="en-US" sz="2500" dirty="0" smtClean="0"/>
              <a:t>, </a:t>
            </a:r>
            <a:r>
              <a:rPr lang="en-US" sz="2500" i="1" dirty="0" err="1" smtClean="0">
                <a:solidFill>
                  <a:srgbClr val="C00000"/>
                </a:solidFill>
              </a:rPr>
              <a:t>điều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phối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dirty="0" err="1" smtClean="0"/>
              <a:t>buổi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.</a:t>
            </a:r>
          </a:p>
          <a:p>
            <a:pPr lvl="0"/>
            <a:r>
              <a:rPr lang="en-US" sz="2500" dirty="0" err="1" smtClean="0"/>
              <a:t>Sinh</a:t>
            </a:r>
            <a:r>
              <a:rPr lang="en-US" sz="2500" dirty="0" smtClean="0"/>
              <a:t> </a:t>
            </a:r>
            <a:r>
              <a:rPr lang="en-US" sz="2500" dirty="0" err="1" smtClean="0"/>
              <a:t>viên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đọc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tài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liệu</a:t>
            </a:r>
            <a:r>
              <a:rPr lang="en-US" sz="2500" dirty="0" smtClean="0"/>
              <a:t> </a:t>
            </a:r>
            <a:r>
              <a:rPr lang="en-US" sz="2500" dirty="0" err="1" smtClean="0"/>
              <a:t>cần</a:t>
            </a:r>
            <a:r>
              <a:rPr lang="en-US" sz="2500" dirty="0" smtClean="0"/>
              <a:t> </a:t>
            </a:r>
            <a:r>
              <a:rPr lang="en-US" sz="2500" dirty="0" err="1" smtClean="0"/>
              <a:t>thiết</a:t>
            </a:r>
            <a:r>
              <a:rPr lang="en-US" sz="2500" dirty="0" smtClean="0"/>
              <a:t>, </a:t>
            </a:r>
            <a:r>
              <a:rPr lang="en-US" sz="2500" dirty="0" err="1" smtClean="0"/>
              <a:t>tìm</a:t>
            </a:r>
            <a:r>
              <a:rPr lang="en-US" sz="2500" dirty="0" smtClean="0"/>
              <a:t> </a:t>
            </a:r>
            <a:r>
              <a:rPr lang="en-US" sz="2500" dirty="0" err="1" smtClean="0"/>
              <a:t>giải</a:t>
            </a:r>
            <a:r>
              <a:rPr lang="en-US" sz="2500" dirty="0" smtClean="0"/>
              <a:t> </a:t>
            </a:r>
            <a:r>
              <a:rPr lang="en-US" sz="2500" dirty="0" err="1" smtClean="0"/>
              <a:t>pháp</a:t>
            </a:r>
            <a:r>
              <a:rPr lang="en-US" sz="2500" dirty="0" smtClean="0"/>
              <a:t>, </a:t>
            </a:r>
            <a:r>
              <a:rPr lang="en-US" sz="2500" dirty="0" err="1" smtClean="0"/>
              <a:t>chuẩn</a:t>
            </a:r>
            <a:r>
              <a:rPr lang="en-US" sz="2500" dirty="0" smtClean="0"/>
              <a:t> </a:t>
            </a:r>
            <a:r>
              <a:rPr lang="en-US" sz="2500" dirty="0" err="1" smtClean="0"/>
              <a:t>bị</a:t>
            </a:r>
            <a:r>
              <a:rPr lang="en-US" sz="2500" dirty="0" smtClean="0"/>
              <a:t> </a:t>
            </a:r>
            <a:r>
              <a:rPr lang="en-US" sz="2500" dirty="0" err="1" smtClean="0"/>
              <a:t>phần</a:t>
            </a:r>
            <a:r>
              <a:rPr lang="en-US" sz="2500" dirty="0" smtClean="0"/>
              <a:t> </a:t>
            </a:r>
            <a:r>
              <a:rPr lang="en-US" sz="2500" dirty="0" err="1" smtClean="0"/>
              <a:t>mềm</a:t>
            </a:r>
            <a:r>
              <a:rPr lang="en-US" sz="2500" dirty="0" smtClean="0"/>
              <a:t>, </a:t>
            </a:r>
            <a:r>
              <a:rPr lang="en-US" sz="2500" dirty="0" err="1" smtClean="0"/>
              <a:t>thực</a:t>
            </a:r>
            <a:r>
              <a:rPr lang="en-US" sz="2500" dirty="0" smtClean="0"/>
              <a:t> </a:t>
            </a:r>
            <a:r>
              <a:rPr lang="en-US" sz="2500" dirty="0" err="1" smtClean="0"/>
              <a:t>hành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thao</a:t>
            </a:r>
            <a:r>
              <a:rPr lang="en-US" sz="2500" dirty="0" smtClean="0"/>
              <a:t> </a:t>
            </a:r>
            <a:r>
              <a:rPr lang="en-US" sz="2500" dirty="0" err="1" smtClean="0"/>
              <a:t>tác</a:t>
            </a:r>
            <a:r>
              <a:rPr lang="en-US" sz="2500" dirty="0" smtClean="0"/>
              <a:t>, </a:t>
            </a:r>
            <a:r>
              <a:rPr lang="en-US" sz="2500" dirty="0" err="1" smtClean="0"/>
              <a:t>soạn</a:t>
            </a:r>
            <a:r>
              <a:rPr lang="en-US" sz="2500" dirty="0" smtClean="0"/>
              <a:t> </a:t>
            </a:r>
            <a:r>
              <a:rPr lang="en-US" sz="2500" dirty="0" err="1" smtClean="0"/>
              <a:t>thảo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bài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,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và</a:t>
            </a:r>
            <a:r>
              <a:rPr lang="en-US" sz="2500" dirty="0" smtClean="0"/>
              <a:t> </a:t>
            </a:r>
            <a:r>
              <a:rPr lang="en-US" sz="2500" dirty="0" err="1" smtClean="0"/>
              <a:t>thảo</a:t>
            </a:r>
            <a:r>
              <a:rPr lang="en-US" sz="2500" dirty="0" smtClean="0"/>
              <a:t> </a:t>
            </a:r>
            <a:r>
              <a:rPr lang="en-US" sz="2500" dirty="0" err="1" smtClean="0"/>
              <a:t>luận</a:t>
            </a:r>
            <a:r>
              <a:rPr lang="en-US" sz="2500" dirty="0" smtClean="0"/>
              <a:t> </a:t>
            </a:r>
            <a:r>
              <a:rPr lang="en-US" sz="2500" dirty="0" err="1" smtClean="0"/>
              <a:t>trên</a:t>
            </a:r>
            <a:r>
              <a:rPr lang="en-US" sz="2500" dirty="0" smtClean="0"/>
              <a:t> </a:t>
            </a:r>
            <a:r>
              <a:rPr lang="en-US" sz="2500" dirty="0" err="1" smtClean="0"/>
              <a:t>lớp</a:t>
            </a:r>
            <a:r>
              <a:rPr lang="en-US" sz="2500" dirty="0" smtClean="0"/>
              <a:t> </a:t>
            </a:r>
            <a:r>
              <a:rPr lang="en-US" sz="2500" dirty="0" err="1" smtClean="0"/>
              <a:t>học</a:t>
            </a:r>
            <a:r>
              <a:rPr lang="en-US" sz="2500" dirty="0" smtClean="0"/>
              <a:t> </a:t>
            </a:r>
            <a:r>
              <a:rPr lang="en-US" sz="2500" dirty="0" err="1" smtClean="0"/>
              <a:t>lý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, </a:t>
            </a:r>
            <a:r>
              <a:rPr lang="en-US" sz="2500" dirty="0" err="1" smtClean="0"/>
              <a:t>trả</a:t>
            </a:r>
            <a:r>
              <a:rPr lang="en-US" sz="2500" dirty="0" smtClean="0"/>
              <a:t> </a:t>
            </a:r>
            <a:r>
              <a:rPr lang="en-US" sz="2500" dirty="0" err="1" smtClean="0"/>
              <a:t>lời</a:t>
            </a:r>
            <a:r>
              <a:rPr lang="en-US" sz="2500" dirty="0" smtClean="0"/>
              <a:t> </a:t>
            </a:r>
            <a:r>
              <a:rPr lang="en-US" sz="2500" dirty="0" err="1" smtClean="0"/>
              <a:t>câu</a:t>
            </a:r>
            <a:r>
              <a:rPr lang="en-US" sz="2500" dirty="0" smtClean="0"/>
              <a:t> </a:t>
            </a:r>
            <a:r>
              <a:rPr lang="en-US" sz="2500" dirty="0" err="1" smtClean="0"/>
              <a:t>hỏi</a:t>
            </a:r>
            <a:r>
              <a:rPr lang="en-US" sz="2500" dirty="0" smtClean="0"/>
              <a:t>, </a:t>
            </a:r>
            <a:r>
              <a:rPr lang="en-US" sz="2500" dirty="0" err="1" smtClean="0"/>
              <a:t>nộp</a:t>
            </a:r>
            <a:r>
              <a:rPr lang="en-US" sz="2500" dirty="0" smtClean="0"/>
              <a:t> </a:t>
            </a:r>
            <a:r>
              <a:rPr lang="en-US" sz="2500" dirty="0" err="1" smtClean="0"/>
              <a:t>các</a:t>
            </a:r>
            <a:r>
              <a:rPr lang="en-US" sz="2500" dirty="0" smtClean="0"/>
              <a:t> </a:t>
            </a:r>
            <a:r>
              <a:rPr lang="en-US" sz="2500" dirty="0" err="1" smtClean="0"/>
              <a:t>sản</a:t>
            </a:r>
            <a:r>
              <a:rPr lang="en-US" sz="2500" dirty="0" smtClean="0"/>
              <a:t> </a:t>
            </a:r>
            <a:r>
              <a:rPr lang="en-US" sz="2500" dirty="0" err="1" smtClean="0"/>
              <a:t>phẩm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.</a:t>
            </a:r>
          </a:p>
          <a:p>
            <a:pPr lvl="0"/>
            <a:r>
              <a:rPr lang="en-US" sz="2500" dirty="0" err="1" smtClean="0"/>
              <a:t>Những</a:t>
            </a:r>
            <a:r>
              <a:rPr lang="en-US" sz="2500" dirty="0" smtClean="0"/>
              <a:t> </a:t>
            </a:r>
            <a:r>
              <a:rPr lang="en-US" sz="2500" dirty="0" err="1" smtClean="0"/>
              <a:t>nhóm</a:t>
            </a:r>
            <a:r>
              <a:rPr lang="en-US" sz="2500" dirty="0" smtClean="0"/>
              <a:t> </a:t>
            </a:r>
            <a:r>
              <a:rPr lang="en-US" sz="2500" dirty="0" err="1" smtClean="0"/>
              <a:t>không</a:t>
            </a:r>
            <a:r>
              <a:rPr lang="en-US" sz="2500" dirty="0" smtClean="0"/>
              <a:t> </a:t>
            </a:r>
            <a:r>
              <a:rPr lang="en-US" sz="2500" dirty="0" err="1" smtClean="0"/>
              <a:t>kịp</a:t>
            </a:r>
            <a:r>
              <a:rPr lang="en-US" sz="2500" dirty="0" smtClean="0"/>
              <a:t> </a:t>
            </a:r>
            <a:r>
              <a:rPr lang="en-US" sz="2500" dirty="0" err="1" smtClean="0"/>
              <a:t>thuyết</a:t>
            </a:r>
            <a:r>
              <a:rPr lang="en-US" sz="2500" dirty="0" smtClean="0"/>
              <a:t> </a:t>
            </a:r>
            <a:r>
              <a:rPr lang="en-US" sz="2500" dirty="0" err="1" smtClean="0"/>
              <a:t>trình</a:t>
            </a:r>
            <a:r>
              <a:rPr lang="en-US" sz="2500" dirty="0" smtClean="0"/>
              <a:t> </a:t>
            </a:r>
            <a:r>
              <a:rPr lang="en-US" sz="2500" dirty="0" err="1" smtClean="0"/>
              <a:t>trên</a:t>
            </a:r>
            <a:r>
              <a:rPr lang="en-US" sz="2500" dirty="0" smtClean="0"/>
              <a:t> </a:t>
            </a:r>
            <a:r>
              <a:rPr lang="en-US" sz="2500" dirty="0" err="1" smtClean="0"/>
              <a:t>lớp</a:t>
            </a:r>
            <a:r>
              <a:rPr lang="en-US" sz="2500" dirty="0" smtClean="0"/>
              <a:t> </a:t>
            </a:r>
            <a:r>
              <a:rPr lang="en-US" sz="2500" dirty="0" err="1" smtClean="0"/>
              <a:t>sẽ</a:t>
            </a:r>
            <a:r>
              <a:rPr lang="en-US" sz="2500" dirty="0" smtClean="0"/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viết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và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nộp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báo</a:t>
            </a:r>
            <a:r>
              <a:rPr lang="en-US" sz="2500" i="1" dirty="0" smtClean="0">
                <a:solidFill>
                  <a:srgbClr val="C00000"/>
                </a:solidFill>
              </a:rPr>
              <a:t> </a:t>
            </a:r>
            <a:r>
              <a:rPr lang="en-US" sz="2500" i="1" dirty="0" err="1" smtClean="0">
                <a:solidFill>
                  <a:srgbClr val="C00000"/>
                </a:solidFill>
              </a:rPr>
              <a:t>cáo</a:t>
            </a:r>
            <a:r>
              <a:rPr lang="en-US" sz="2500" dirty="0" smtClean="0"/>
              <a:t>.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1705" y="1752600"/>
            <a:ext cx="2817495" cy="216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4419600"/>
            <a:ext cx="1524000" cy="1524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(20%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599"/>
          </a:xfrm>
        </p:spPr>
        <p:txBody>
          <a:bodyPr/>
          <a:lstStyle/>
          <a:p>
            <a:pPr lvl="0"/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1: 10%</a:t>
            </a:r>
          </a:p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cá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2: 10%</a:t>
            </a:r>
          </a:p>
          <a:p>
            <a:r>
              <a:rPr lang="en-US" dirty="0" err="1" smtClean="0"/>
              <a:t>Ngày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.</a:t>
            </a:r>
          </a:p>
        </p:txBody>
      </p:sp>
      <p:pic>
        <p:nvPicPr>
          <p:cNvPr id="5122" name="Picture 2" descr="http://www.drandyroark.com/wp-content/uploads/bigstock-Students-at-classes-882915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7338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(40%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2438400"/>
          </a:xfrm>
        </p:spPr>
        <p:txBody>
          <a:bodyPr/>
          <a:lstStyle/>
          <a:p>
            <a:pPr lvl="0"/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tự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lựa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chọn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đề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tài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cho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đồ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án</a:t>
            </a:r>
            <a:r>
              <a:rPr lang="en-US" sz="2200" dirty="0" smtClean="0"/>
              <a:t>.</a:t>
            </a:r>
          </a:p>
          <a:p>
            <a:pPr lvl="0"/>
            <a:r>
              <a:rPr lang="en-US" sz="2200" dirty="0" err="1" smtClean="0"/>
              <a:t>Giảng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quyết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định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đề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tài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được</a:t>
            </a:r>
            <a:r>
              <a:rPr lang="en-US" sz="2200" i="1" dirty="0" smtClean="0">
                <a:solidFill>
                  <a:srgbClr val="C00000"/>
                </a:solidFill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</a:rPr>
              <a:t>chọn</a:t>
            </a:r>
            <a:r>
              <a:rPr lang="en-US" sz="2200" dirty="0" smtClean="0"/>
              <a:t>, </a:t>
            </a:r>
            <a:r>
              <a:rPr lang="en-US" sz="2200" dirty="0" err="1" smtClean="0"/>
              <a:t>đưa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đề</a:t>
            </a:r>
            <a:r>
              <a:rPr lang="en-US" sz="2200" dirty="0" smtClean="0"/>
              <a:t> </a:t>
            </a:r>
            <a:r>
              <a:rPr lang="en-US" sz="2200" dirty="0" err="1" smtClean="0"/>
              <a:t>tài</a:t>
            </a:r>
            <a:r>
              <a:rPr lang="en-US" sz="2200" dirty="0" smtClean="0"/>
              <a:t> </a:t>
            </a:r>
            <a:r>
              <a:rPr lang="en-US" sz="2200" dirty="0" err="1" smtClean="0"/>
              <a:t>thay</a:t>
            </a:r>
            <a:r>
              <a:rPr lang="en-US" sz="2200" dirty="0" smtClean="0"/>
              <a:t> </a:t>
            </a:r>
            <a:r>
              <a:rPr lang="en-US" sz="2200" dirty="0" err="1" smtClean="0"/>
              <a:t>thế</a:t>
            </a:r>
            <a:r>
              <a:rPr lang="en-US" sz="2200" dirty="0" smtClean="0"/>
              <a:t>,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dẫn</a:t>
            </a:r>
            <a:r>
              <a:rPr lang="en-US" sz="2200" dirty="0" smtClean="0"/>
              <a:t> </a:t>
            </a:r>
            <a:r>
              <a:rPr lang="en-US" sz="2200" dirty="0" err="1" smtClean="0"/>
              <a:t>các</a:t>
            </a:r>
            <a:r>
              <a:rPr lang="en-US" sz="2200" dirty="0" smtClean="0"/>
              <a:t> </a:t>
            </a:r>
            <a:r>
              <a:rPr lang="en-US" sz="2200" dirty="0" err="1" smtClean="0"/>
              <a:t>vấn</a:t>
            </a:r>
            <a:r>
              <a:rPr lang="en-US" sz="2200" dirty="0" smtClean="0"/>
              <a:t> </a:t>
            </a:r>
            <a:r>
              <a:rPr lang="en-US" sz="2200" dirty="0" err="1" smtClean="0"/>
              <a:t>đề</a:t>
            </a:r>
            <a:r>
              <a:rPr lang="en-US" sz="2200" dirty="0" smtClean="0"/>
              <a:t> </a:t>
            </a:r>
            <a:r>
              <a:rPr lang="en-US" sz="2200" dirty="0" err="1" smtClean="0"/>
              <a:t>căn</a:t>
            </a:r>
            <a:r>
              <a:rPr lang="en-US" sz="2200" dirty="0" smtClean="0"/>
              <a:t> </a:t>
            </a:r>
            <a:r>
              <a:rPr lang="en-US" sz="2200" dirty="0" err="1" smtClean="0"/>
              <a:t>bản</a:t>
            </a:r>
            <a:r>
              <a:rPr lang="en-US" sz="2200" dirty="0" smtClean="0"/>
              <a:t>, </a:t>
            </a:r>
            <a:r>
              <a:rPr lang="en-US" sz="2200" dirty="0" err="1" smtClean="0"/>
              <a:t>định</a:t>
            </a:r>
            <a:r>
              <a:rPr lang="en-US" sz="2200" dirty="0" smtClean="0"/>
              <a:t>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thực</a:t>
            </a:r>
            <a:r>
              <a:rPr lang="en-US" sz="2200" dirty="0" smtClean="0"/>
              <a:t> </a:t>
            </a:r>
            <a:r>
              <a:rPr lang="en-US" sz="2200" dirty="0" err="1" smtClean="0"/>
              <a:t>hiện</a:t>
            </a:r>
            <a:r>
              <a:rPr lang="en-US" sz="2200" dirty="0" smtClean="0"/>
              <a:t> </a:t>
            </a:r>
            <a:r>
              <a:rPr lang="en-US" sz="2200" dirty="0" err="1" smtClean="0"/>
              <a:t>đồ</a:t>
            </a:r>
            <a:r>
              <a:rPr lang="en-US" sz="2200" dirty="0" smtClean="0"/>
              <a:t> </a:t>
            </a:r>
            <a:r>
              <a:rPr lang="en-US" sz="2200" dirty="0" err="1" smtClean="0"/>
              <a:t>án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, </a:t>
            </a:r>
            <a:r>
              <a:rPr lang="en-US" sz="2200" dirty="0" err="1" smtClean="0"/>
              <a:t>nhận</a:t>
            </a:r>
            <a:r>
              <a:rPr lang="en-US" sz="2200" dirty="0" smtClean="0"/>
              <a:t> </a:t>
            </a:r>
            <a:r>
              <a:rPr lang="en-US" sz="2200" dirty="0" err="1" smtClean="0"/>
              <a:t>xét</a:t>
            </a:r>
            <a:r>
              <a:rPr lang="en-US" sz="2200" dirty="0" smtClean="0"/>
              <a:t> </a:t>
            </a:r>
            <a:r>
              <a:rPr lang="en-US" sz="2200" dirty="0" err="1" smtClean="0"/>
              <a:t>kết</a:t>
            </a:r>
            <a:r>
              <a:rPr lang="en-US" sz="2200" dirty="0" smtClean="0"/>
              <a:t> </a:t>
            </a:r>
            <a:r>
              <a:rPr lang="en-US" sz="2200" dirty="0" err="1" smtClean="0"/>
              <a:t>quả</a:t>
            </a:r>
            <a:r>
              <a:rPr lang="en-US" sz="2200" dirty="0" smtClean="0"/>
              <a:t>, </a:t>
            </a:r>
            <a:r>
              <a:rPr lang="en-US" sz="2200" dirty="0" err="1" smtClean="0"/>
              <a:t>giải</a:t>
            </a:r>
            <a:r>
              <a:rPr lang="en-US" sz="2200" dirty="0" smtClean="0"/>
              <a:t> </a:t>
            </a:r>
            <a:r>
              <a:rPr lang="en-US" sz="2200" dirty="0" err="1" smtClean="0"/>
              <a:t>đáp</a:t>
            </a:r>
            <a:r>
              <a:rPr lang="en-US" sz="2200" dirty="0" smtClean="0"/>
              <a:t> </a:t>
            </a:r>
            <a:r>
              <a:rPr lang="en-US" sz="2200" dirty="0" err="1" smtClean="0"/>
              <a:t>thắc</a:t>
            </a:r>
            <a:r>
              <a:rPr lang="en-US" sz="2200" dirty="0" smtClean="0"/>
              <a:t> </a:t>
            </a:r>
            <a:r>
              <a:rPr lang="en-US" sz="2200" dirty="0" err="1" smtClean="0"/>
              <a:t>mắc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99785" y="1524001"/>
            <a:ext cx="2558415" cy="231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810000" y="4191000"/>
            <a:ext cx="4953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thực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đồ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án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nhóm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nộp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</a:t>
            </a:r>
            <a:r>
              <a:rPr kumimoji="0" lang="en-US" sz="2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4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cột</a:t>
            </a:r>
            <a:r>
              <a:rPr kumimoji="0" lang="en-US" sz="2200" b="0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mốc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2200" dirty="0" err="1" smtClean="0">
                <a:latin typeface="+mn-lt"/>
              </a:rPr>
              <a:t>Cột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mốc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có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thể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không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trùng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với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nội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dung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lý</a:t>
            </a:r>
            <a:r>
              <a:rPr lang="en-US" sz="2200" i="1" dirty="0" smtClean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200" i="1" dirty="0" err="1" smtClean="0">
                <a:solidFill>
                  <a:srgbClr val="C00000"/>
                </a:solidFill>
                <a:latin typeface="+mn-lt"/>
              </a:rPr>
              <a:t>thuyết</a:t>
            </a:r>
            <a:r>
              <a:rPr lang="en-US" sz="2200" dirty="0" smtClean="0">
                <a:latin typeface="+mn-lt"/>
              </a:rPr>
              <a:t> → </a:t>
            </a:r>
            <a:r>
              <a:rPr lang="en-US" sz="2200" dirty="0" err="1" smtClean="0">
                <a:latin typeface="+mn-lt"/>
              </a:rPr>
              <a:t>Đọc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trước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lý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thuyết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và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xem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các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kết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quả</a:t>
            </a:r>
            <a:r>
              <a:rPr lang="en-US" sz="2200" dirty="0" smtClean="0">
                <a:latin typeface="+mn-lt"/>
              </a:rPr>
              <a:t> </a:t>
            </a:r>
            <a:r>
              <a:rPr lang="en-US" sz="2200" dirty="0" err="1" smtClean="0">
                <a:latin typeface="+mn-lt"/>
              </a:rPr>
              <a:t>mẫu</a:t>
            </a:r>
            <a:r>
              <a:rPr lang="en-US" sz="2200" dirty="0" smtClean="0">
                <a:latin typeface="+mn-lt"/>
              </a:rPr>
              <a:t>.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" name="Picture 2" descr="https://www.simplilearn.com/ice9/free_resources_article_thumb/Project-Scope-Management-Cov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343400"/>
            <a:ext cx="3230880" cy="18173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(30%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026" name="Picture 2" descr="http://ftuzone.com/wp-content/uploads/2014/01/interview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286000"/>
            <a:ext cx="2743200" cy="2667000"/>
          </a:xfrm>
          <a:prstGeom prst="rect">
            <a:avLst/>
          </a:prstGeom>
          <a:noFill/>
        </p:spPr>
      </p:pic>
      <p:pic>
        <p:nvPicPr>
          <p:cNvPr id="20482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438400"/>
            <a:ext cx="2410464" cy="23668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371600" y="48768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Tài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từng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764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mặt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quá</a:t>
            </a:r>
            <a:r>
              <a:rPr lang="en-US" sz="2000" dirty="0" smtClean="0">
                <a:latin typeface="+mj-lt"/>
              </a:rPr>
              <a:t> 20% </a:t>
            </a:r>
            <a:r>
              <a:rPr lang="en-US" sz="2000" dirty="0" err="1" smtClean="0">
                <a:latin typeface="+mj-lt"/>
              </a:rPr>
              <a:t>thời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lượng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đồ</a:t>
            </a:r>
            <a:r>
              <a:rPr lang="en-US" sz="2000" dirty="0" smtClean="0"/>
              <a:t> </a:t>
            </a:r>
            <a:r>
              <a:rPr lang="en-US" sz="2000" dirty="0" err="1" smtClean="0"/>
              <a:t>án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 </a:t>
            </a:r>
            <a:r>
              <a:rPr lang="en-US" sz="2000" dirty="0" err="1" smtClean="0"/>
              <a:t>hoặc</a:t>
            </a:r>
            <a:r>
              <a:rPr lang="en-US" sz="2000" dirty="0" smtClean="0"/>
              <a:t> </a:t>
            </a:r>
            <a:r>
              <a:rPr lang="en-US" sz="2000" dirty="0" err="1" smtClean="0"/>
              <a:t>tổng</a:t>
            </a:r>
            <a:r>
              <a:rPr lang="en-US" sz="2000" dirty="0" smtClean="0"/>
              <a:t> </a:t>
            </a:r>
            <a:r>
              <a:rPr lang="en-US" sz="2000" dirty="0" err="1" smtClean="0"/>
              <a:t>số</a:t>
            </a:r>
            <a:r>
              <a:rPr lang="en-US" sz="2000" dirty="0" smtClean="0"/>
              <a:t> </a:t>
            </a:r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bài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tra</a:t>
            </a:r>
            <a:r>
              <a:rPr lang="en-US" sz="2000" dirty="0" smtClean="0"/>
              <a:t> </a:t>
            </a:r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lớp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0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không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được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thi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cuối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kỳ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vắng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trong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buổi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kiểm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/>
              <a:t>Sinh</a:t>
            </a:r>
            <a:r>
              <a:rPr lang="en-US" sz="2000" dirty="0" smtClean="0"/>
              <a:t> </a:t>
            </a:r>
            <a:r>
              <a:rPr lang="en-US" sz="2000" dirty="0" err="1" smtClean="0"/>
              <a:t>viên</a:t>
            </a:r>
            <a:r>
              <a:rPr lang="en-US" sz="2000" dirty="0" smtClean="0"/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làm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bài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kiểm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tra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tại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lớp</a:t>
            </a:r>
            <a:r>
              <a:rPr lang="en-US" sz="2000" i="1" dirty="0" smtClean="0">
                <a:solidFill>
                  <a:srgbClr val="C00000"/>
                </a:solidFill>
              </a:rPr>
              <a:t>, </a:t>
            </a:r>
            <a:r>
              <a:rPr lang="en-US" sz="2000" i="1" dirty="0" err="1" smtClean="0">
                <a:solidFill>
                  <a:srgbClr val="C00000"/>
                </a:solidFill>
              </a:rPr>
              <a:t>bài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tập</a:t>
            </a:r>
            <a:r>
              <a:rPr lang="en-US" sz="2000" i="1" dirty="0" smtClean="0">
                <a:solidFill>
                  <a:srgbClr val="C00000"/>
                </a:solidFill>
              </a:rPr>
              <a:t> hay </a:t>
            </a:r>
            <a:r>
              <a:rPr lang="en-US" sz="2000" i="1" dirty="0" err="1" smtClean="0">
                <a:solidFill>
                  <a:srgbClr val="C00000"/>
                </a:solidFill>
              </a:rPr>
              <a:t>đồ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án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hộ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bạn</a:t>
            </a:r>
            <a:r>
              <a:rPr lang="en-US" sz="2000" i="1" dirty="0" smtClean="0">
                <a:solidFill>
                  <a:srgbClr val="C00000"/>
                </a:solidFill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</a:rPr>
              <a:t>mình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0 </a:t>
            </a:r>
            <a:r>
              <a:rPr lang="en-US" sz="2000" dirty="0" err="1" smtClean="0"/>
              <a:t>điểm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toàn</a:t>
            </a:r>
            <a:r>
              <a:rPr lang="en-US" sz="2000" dirty="0" smtClean="0"/>
              <a:t> </a:t>
            </a:r>
            <a:r>
              <a:rPr lang="en-US" sz="2000" dirty="0" err="1" smtClean="0"/>
              <a:t>môn</a:t>
            </a:r>
            <a:r>
              <a:rPr lang="en-US" sz="2000" dirty="0" smtClean="0"/>
              <a:t> </a:t>
            </a:r>
            <a:r>
              <a:rPr lang="en-US" sz="2000" dirty="0" err="1" smtClean="0"/>
              <a:t>học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một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phần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từ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mạng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bất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cứ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nguồn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 </a:t>
            </a:r>
            <a:r>
              <a:rPr lang="en-US" sz="2000" dirty="0" err="1" smtClean="0">
                <a:latin typeface="+mj-lt"/>
              </a:rPr>
              <a:t>Điều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dụng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sau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bằng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nhưng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báo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trừ</a:t>
            </a:r>
            <a:r>
              <a:rPr lang="en-US" sz="2000" dirty="0" smtClean="0">
                <a:latin typeface="+mj-lt"/>
              </a:rPr>
              <a:t> 50%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duy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quyết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ngoại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lệ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giấy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chứng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nhận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của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bệnh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+mj-lt"/>
              </a:rPr>
              <a:t>viện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về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trạng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sức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khỏe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Cảm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10208</TotalTime>
  <Words>1823</Words>
  <Application>Microsoft Office PowerPoint</Application>
  <PresentationFormat>On-screen Show (4:3)</PresentationFormat>
  <Paragraphs>159</Paragraphs>
  <Slides>26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Giới thiệu môn học Kiểm thử phần mềm</vt:lpstr>
      <vt:lpstr>Giảng viên phụ trách</vt:lpstr>
      <vt:lpstr>Mục tiêu</vt:lpstr>
      <vt:lpstr>Nội dung</vt:lpstr>
      <vt:lpstr>Tôi là sinh viên</vt:lpstr>
      <vt:lpstr>Tôi là sinh viên</vt:lpstr>
      <vt:lpstr>Tôi là sinh viên</vt:lpstr>
      <vt:lpstr>Tôi là lập trình viên</vt:lpstr>
      <vt:lpstr>Ai không nên học môn này</vt:lpstr>
      <vt:lpstr>Điều kiện đăng ký học phần</vt:lpstr>
      <vt:lpstr>Mục tiêu môn học</vt:lpstr>
      <vt:lpstr>Tester Hire</vt:lpstr>
      <vt:lpstr>QA/QC Hire (HP)</vt:lpstr>
      <vt:lpstr>Nội dung môn học</vt:lpstr>
      <vt:lpstr>Thời lượng môn học</vt:lpstr>
      <vt:lpstr>Quản lý lớp học</vt:lpstr>
      <vt:lpstr>Xây dựng nhóm</vt:lpstr>
      <vt:lpstr>Đánh giá kết quả học tập</vt:lpstr>
      <vt:lpstr>Thuyết trình theo nhóm (10% điểm số)</vt:lpstr>
      <vt:lpstr>Kiểm tra tại lớp (20% điểm số)</vt:lpstr>
      <vt:lpstr>Đồ án môn học (40% điểm số)</vt:lpstr>
      <vt:lpstr>Thi cuối kỳ (30% điểm số)</vt:lpstr>
      <vt:lpstr>Tài liệu tham khảo</vt:lpstr>
      <vt:lpstr>Nội quy môn học</vt:lpstr>
      <vt:lpstr>Câu hỏi và Trả lời</vt:lpstr>
      <vt:lpstr>Cảm ơn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4568</cp:revision>
  <dcterms:created xsi:type="dcterms:W3CDTF">2007-10-06T08:25:13Z</dcterms:created>
  <dcterms:modified xsi:type="dcterms:W3CDTF">2019-12-21T17:40:00Z</dcterms:modified>
</cp:coreProperties>
</file>