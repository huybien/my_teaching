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13"/>
  </p:notesMasterIdLst>
  <p:sldIdLst>
    <p:sldId id="256" r:id="rId2"/>
    <p:sldId id="467" r:id="rId3"/>
    <p:sldId id="468" r:id="rId4"/>
    <p:sldId id="469" r:id="rId5"/>
    <p:sldId id="460" r:id="rId6"/>
    <p:sldId id="462" r:id="rId7"/>
    <p:sldId id="463" r:id="rId8"/>
    <p:sldId id="464" r:id="rId9"/>
    <p:sldId id="465" r:id="rId10"/>
    <p:sldId id="466" r:id="rId11"/>
    <p:sldId id="470" r:id="rId1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62" autoAdjust="0"/>
    <p:restoredTop sz="94585" autoAdjust="0"/>
  </p:normalViewPr>
  <p:slideViewPr>
    <p:cSldViewPr>
      <p:cViewPr>
        <p:scale>
          <a:sx n="60" d="100"/>
          <a:sy n="60" d="100"/>
        </p:scale>
        <p:origin x="-1258" y="-18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33D5C3-0820-4FAB-ABA1-6D9651D57222}" type="datetimeFigureOut">
              <a:rPr lang="en-US" smtClean="0"/>
              <a:pPr/>
              <a:t>3/28/2022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2560AE-83EB-4E74-ABFC-279D183C468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3/28/2022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3/28/2022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3/28/2022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3/28/2022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3/28/2022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3/28/2022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3/28/2022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3/28/2022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3/28/2022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3/28/2022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3/28/2022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3/28/2022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Introduction to Software </a:t>
            </a:r>
            <a:r>
              <a:rPr lang="en-US" sz="6000" dirty="0" smtClean="0"/>
              <a:t>Metrics</a:t>
            </a:r>
            <a:endParaRPr lang="en-US" sz="6000" dirty="0" smtClean="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334000" cy="4495799"/>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5867400" y="2819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8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References</a:t>
            </a:r>
            <a:endParaRPr lang="en-US" dirty="0"/>
          </a:p>
        </p:txBody>
      </p:sp>
      <p:sp>
        <p:nvSpPr>
          <p:cNvPr id="3" name="Content Placeholder 2"/>
          <p:cNvSpPr>
            <a:spLocks noGrp="1"/>
          </p:cNvSpPr>
          <p:nvPr>
            <p:ph idx="1"/>
          </p:nvPr>
        </p:nvSpPr>
        <p:spPr>
          <a:xfrm>
            <a:off x="457200" y="1524000"/>
            <a:ext cx="5638800" cy="4876800"/>
          </a:xfrm>
        </p:spPr>
        <p:txBody>
          <a:bodyPr/>
          <a:lstStyle/>
          <a:p>
            <a:pPr>
              <a:buFont typeface="+mj-lt"/>
              <a:buAutoNum type="arabicPeriod"/>
            </a:pPr>
            <a:r>
              <a:rPr lang="en-US" sz="2400" dirty="0" smtClean="0"/>
              <a:t>Norman Fenton and James </a:t>
            </a:r>
            <a:r>
              <a:rPr lang="en-US" sz="2400" dirty="0" err="1" smtClean="0"/>
              <a:t>Bieman</a:t>
            </a:r>
            <a:r>
              <a:rPr lang="en-US" sz="2400" dirty="0" smtClean="0"/>
              <a:t> (2015). Software Metrics A Rigorous and Practical Approach. CRC Press.</a:t>
            </a:r>
          </a:p>
          <a:p>
            <a:pPr>
              <a:buFont typeface="+mj-lt"/>
              <a:buAutoNum type="arabicPeriod"/>
            </a:pPr>
            <a:endParaRPr lang="en-US" sz="24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Software Measurement? [1]</a:t>
            </a:r>
            <a:endParaRPr lang="en-US" dirty="0"/>
          </a:p>
        </p:txBody>
      </p:sp>
      <p:sp>
        <p:nvSpPr>
          <p:cNvPr id="3" name="Content Placeholder 2"/>
          <p:cNvSpPr>
            <a:spLocks noGrp="1"/>
          </p:cNvSpPr>
          <p:nvPr>
            <p:ph idx="1"/>
          </p:nvPr>
        </p:nvSpPr>
        <p:spPr/>
        <p:txBody>
          <a:bodyPr/>
          <a:lstStyle/>
          <a:p>
            <a:r>
              <a:rPr lang="en-US" sz="2100" dirty="0" smtClean="0"/>
              <a:t>Many of the best </a:t>
            </a:r>
            <a:r>
              <a:rPr lang="en-US" sz="2100" i="1" dirty="0" smtClean="0">
                <a:solidFill>
                  <a:srgbClr val="C00000"/>
                </a:solidFill>
              </a:rPr>
              <a:t>software developers</a:t>
            </a:r>
            <a:r>
              <a:rPr lang="en-US" sz="2100" dirty="0" smtClean="0"/>
              <a:t> measure </a:t>
            </a:r>
            <a:r>
              <a:rPr lang="en-US" sz="2100" u="sng" dirty="0" smtClean="0"/>
              <a:t>characteristics of their software</a:t>
            </a:r>
            <a:r>
              <a:rPr lang="en-US" sz="2100" dirty="0" smtClean="0"/>
              <a:t> to get some sense of whether the requirements are consistent and complete, whether the design is of high quality, and whether the code is ready to be released.</a:t>
            </a:r>
          </a:p>
          <a:p>
            <a:r>
              <a:rPr lang="en-US" sz="2100" dirty="0" smtClean="0"/>
              <a:t>Effective </a:t>
            </a:r>
            <a:r>
              <a:rPr lang="en-US" sz="2100" i="1" dirty="0" smtClean="0">
                <a:solidFill>
                  <a:srgbClr val="C00000"/>
                </a:solidFill>
              </a:rPr>
              <a:t>project managers</a:t>
            </a:r>
            <a:r>
              <a:rPr lang="en-US" sz="2100" dirty="0" smtClean="0"/>
              <a:t> measure </a:t>
            </a:r>
            <a:r>
              <a:rPr lang="en-US" sz="2100" u="sng" dirty="0" smtClean="0"/>
              <a:t>attributes of processes and products</a:t>
            </a:r>
            <a:r>
              <a:rPr lang="en-US" sz="2100" dirty="0" smtClean="0"/>
              <a:t> to be able to tell when software will be ready for delivery and whether a budget will be exceeded.</a:t>
            </a:r>
          </a:p>
          <a:p>
            <a:r>
              <a:rPr lang="en-US" sz="2100" i="1" dirty="0" smtClean="0">
                <a:solidFill>
                  <a:srgbClr val="C00000"/>
                </a:solidFill>
              </a:rPr>
              <a:t>Organizations</a:t>
            </a:r>
            <a:r>
              <a:rPr lang="en-US" sz="2100" dirty="0" smtClean="0"/>
              <a:t> use </a:t>
            </a:r>
            <a:r>
              <a:rPr lang="en-US" sz="2100" u="sng" dirty="0" smtClean="0"/>
              <a:t>process</a:t>
            </a:r>
            <a:r>
              <a:rPr lang="en-US" sz="2100" dirty="0" smtClean="0"/>
              <a:t> evaluation measurements to select software suppliers.</a:t>
            </a:r>
          </a:p>
          <a:p>
            <a:r>
              <a:rPr lang="en-US" sz="2100" dirty="0" smtClean="0"/>
              <a:t>Informed </a:t>
            </a:r>
            <a:r>
              <a:rPr lang="en-US" sz="2100" i="1" dirty="0" smtClean="0">
                <a:solidFill>
                  <a:srgbClr val="C00000"/>
                </a:solidFill>
              </a:rPr>
              <a:t>customers</a:t>
            </a:r>
            <a:r>
              <a:rPr lang="en-US" sz="2100" dirty="0" smtClean="0"/>
              <a:t> measure the aspects of the </a:t>
            </a:r>
            <a:r>
              <a:rPr lang="en-US" sz="2100" u="sng" dirty="0" smtClean="0"/>
              <a:t>final product</a:t>
            </a:r>
            <a:r>
              <a:rPr lang="en-US" sz="2100" dirty="0" smtClean="0"/>
              <a:t> to determine if it meets the requirements and is of sufficient quality.</a:t>
            </a:r>
          </a:p>
          <a:p>
            <a:r>
              <a:rPr lang="en-US" sz="2100" dirty="0" smtClean="0"/>
              <a:t>Also, </a:t>
            </a:r>
            <a:r>
              <a:rPr lang="en-US" sz="2100" i="1" dirty="0" smtClean="0">
                <a:solidFill>
                  <a:srgbClr val="C00000"/>
                </a:solidFill>
              </a:rPr>
              <a:t>maintainers</a:t>
            </a:r>
            <a:r>
              <a:rPr lang="en-US" sz="2100" dirty="0" smtClean="0"/>
              <a:t> must be able to assess the </a:t>
            </a:r>
            <a:r>
              <a:rPr lang="en-US" sz="2100" u="sng" dirty="0" smtClean="0"/>
              <a:t>current product</a:t>
            </a:r>
            <a:r>
              <a:rPr lang="en-US" sz="2100" dirty="0" smtClean="0"/>
              <a:t> to see what should be upgraded and improved.</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Measurement?</a:t>
            </a:r>
            <a:endParaRPr lang="en-US" dirty="0"/>
          </a:p>
        </p:txBody>
      </p:sp>
      <p:sp>
        <p:nvSpPr>
          <p:cNvPr id="3" name="Content Placeholder 2"/>
          <p:cNvSpPr>
            <a:spLocks noGrp="1"/>
          </p:cNvSpPr>
          <p:nvPr>
            <p:ph idx="1"/>
          </p:nvPr>
        </p:nvSpPr>
        <p:spPr/>
        <p:txBody>
          <a:bodyPr/>
          <a:lstStyle/>
          <a:p>
            <a:r>
              <a:rPr lang="en-US" sz="2400" dirty="0" smtClean="0"/>
              <a:t>Measurement is the process by which numbers or symbols are assigned to attributes of entities in the real world in such a way so as to describe them according to clearly defined rules.</a:t>
            </a:r>
          </a:p>
          <a:p>
            <a:r>
              <a:rPr lang="en-US" sz="2400" dirty="0" smtClean="0"/>
              <a:t>Thus, measurement captures information about attributes of entities.</a:t>
            </a:r>
          </a:p>
          <a:p>
            <a:r>
              <a:rPr lang="en-US" sz="2400" dirty="0" smtClean="0"/>
              <a:t>An entity is an object (such as a person or a room) or an event (such as a journey or the testing phase of a software project) in the real world.</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Difficulties (I)</a:t>
            </a:r>
            <a:endParaRPr lang="en-US" dirty="0"/>
          </a:p>
        </p:txBody>
      </p:sp>
      <p:sp>
        <p:nvSpPr>
          <p:cNvPr id="3" name="Content Placeholder 2"/>
          <p:cNvSpPr>
            <a:spLocks noGrp="1"/>
          </p:cNvSpPr>
          <p:nvPr>
            <p:ph idx="1"/>
          </p:nvPr>
        </p:nvSpPr>
        <p:spPr/>
        <p:txBody>
          <a:bodyPr/>
          <a:lstStyle/>
          <a:p>
            <a:r>
              <a:rPr lang="en-US" sz="2200" dirty="0" smtClean="0"/>
              <a:t>We have noted that color is an attribute of a room. In a room with blue walls, is “blue” a measure of the color of the room?</a:t>
            </a:r>
          </a:p>
          <a:p>
            <a:r>
              <a:rPr lang="en-US" sz="2200" dirty="0" smtClean="0"/>
              <a:t>The height of a person is a commonly understood attribute that can be measured. But what about other attributes of people, such as intelligence? Does an IQ test score adequately measure intelligence?</a:t>
            </a:r>
          </a:p>
          <a:p>
            <a:r>
              <a:rPr lang="en-US" sz="2200" dirty="0" smtClean="0"/>
              <a:t>The accuracy of a measure depends on the measuring instrument as well as on the definition of the measurement. For example, length can be measured accurately as long as the ruler is accurate and used properly. But some measures are not likely to be accurate, either because the measurement is imprecise or because it depends on the judgment of the person doing the measuring.</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Difficulties (II)</a:t>
            </a:r>
            <a:endParaRPr lang="en-US" dirty="0"/>
          </a:p>
        </p:txBody>
      </p:sp>
      <p:sp>
        <p:nvSpPr>
          <p:cNvPr id="3" name="Content Placeholder 2"/>
          <p:cNvSpPr>
            <a:spLocks noGrp="1"/>
          </p:cNvSpPr>
          <p:nvPr>
            <p:ph idx="1"/>
          </p:nvPr>
        </p:nvSpPr>
        <p:spPr/>
        <p:txBody>
          <a:bodyPr/>
          <a:lstStyle/>
          <a:p>
            <a:r>
              <a:rPr lang="en-US" sz="2400" dirty="0" smtClean="0"/>
              <a:t>Even when the measuring devices are reliable and used properly, there is margin for error in measuring the best understood physical attributes. For example, we can obtain vastly different measures for a person’s height, depending on whether we make allowances for the shoes being worn or the standing posture.</a:t>
            </a:r>
          </a:p>
          <a:p>
            <a:r>
              <a:rPr lang="en-US" sz="2400" dirty="0" smtClean="0"/>
              <a:t>Once we obtain measurements, we want to analyze them and draw conclusions about the entities from which they were derived. What kind of manipulations can we apply to the results of measurement? For example, why is it acceptable to say that Fred is twice as tall as Joe, but not acceptable to say that it is twice as hot today as it was yesterday?</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Why Measure Something Unquantifiable?</a:t>
            </a:r>
            <a:endParaRPr lang="en-US" sz="3600" dirty="0"/>
          </a:p>
        </p:txBody>
      </p:sp>
      <p:sp>
        <p:nvSpPr>
          <p:cNvPr id="3" name="Content Placeholder 2"/>
          <p:cNvSpPr>
            <a:spLocks noGrp="1"/>
          </p:cNvSpPr>
          <p:nvPr>
            <p:ph idx="1"/>
          </p:nvPr>
        </p:nvSpPr>
        <p:spPr/>
        <p:txBody>
          <a:bodyPr/>
          <a:lstStyle/>
          <a:p>
            <a:r>
              <a:rPr lang="en-US" sz="2400" dirty="0" smtClean="0"/>
              <a:t>Measurement makes concepts more visible and therefore more understandable and controllable.</a:t>
            </a:r>
          </a:p>
          <a:p>
            <a:r>
              <a:rPr lang="en-US" sz="2400" dirty="0" smtClean="0"/>
              <a:t>Even when it is not clear how we might measure an attribute, the act of proposing such measures will open a debate that leads to greater understanding.</a:t>
            </a:r>
          </a:p>
          <a:p>
            <a:r>
              <a:rPr lang="en-US" sz="2400" dirty="0" smtClean="0"/>
              <a:t>Although some software engineers may continue to claim that important software attributes like dependability, quality, usability, and maintainability are simply not quantifiable, we prefer to try to use measurement to advance our understanding of them.</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Neglect of Measurement in Software Engineering</a:t>
            </a:r>
            <a:endParaRPr lang="en-US" dirty="0"/>
          </a:p>
        </p:txBody>
      </p:sp>
      <p:sp>
        <p:nvSpPr>
          <p:cNvPr id="3" name="Content Placeholder 2"/>
          <p:cNvSpPr>
            <a:spLocks noGrp="1"/>
          </p:cNvSpPr>
          <p:nvPr>
            <p:ph idx="1"/>
          </p:nvPr>
        </p:nvSpPr>
        <p:spPr/>
        <p:txBody>
          <a:bodyPr/>
          <a:lstStyle/>
          <a:p>
            <a:r>
              <a:rPr lang="en-US" sz="2000" dirty="0" smtClean="0"/>
              <a:t>We fail to set measurable targets for our software products. For example, we promise that the product will be user-friendly, reliable, and maintainable without specifying clearly and objectively what these terms mean.</a:t>
            </a:r>
          </a:p>
          <a:p>
            <a:r>
              <a:rPr lang="en-US" sz="2000" dirty="0" smtClean="0"/>
              <a:t>We fail to understand and quantify the component costs of software projects. For example, many projects cannot differentiate the cost of design from the cost of coding or testing.</a:t>
            </a:r>
          </a:p>
          <a:p>
            <a:r>
              <a:rPr lang="en-US" sz="2000" dirty="0" smtClean="0"/>
              <a:t>We do not quantify or predict the quality of the products we produce. Thus, we cannot tell a potential user how reliable a product will be in terms of likelihood of failure in a given period of use, or how much work will be needed to port the product to a different machine environment.</a:t>
            </a:r>
          </a:p>
          <a:p>
            <a:r>
              <a:rPr lang="en-US" sz="2000" smtClean="0"/>
              <a:t>We allow anecdotal evidence to convince us to try yet another revolutionary new development technology, without doing a carefully controlled study to determine if the technology is efficient and effective.</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12782</TotalTime>
  <Words>790</Words>
  <Application>Microsoft Office PowerPoint</Application>
  <PresentationFormat>On-screen Show (4:3)</PresentationFormat>
  <Paragraphs>38</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Introduction to Software Metrics</vt:lpstr>
      <vt:lpstr>Objectives</vt:lpstr>
      <vt:lpstr>Contents</vt:lpstr>
      <vt:lpstr>References</vt:lpstr>
      <vt:lpstr>Why Software Measurement? [1]</vt:lpstr>
      <vt:lpstr>What is Measurement?</vt:lpstr>
      <vt:lpstr>Difficulties (I)</vt:lpstr>
      <vt:lpstr>Difficulties (II)</vt:lpstr>
      <vt:lpstr>Why Measure Something Unquantifiable?</vt:lpstr>
      <vt:lpstr>Neglect of Measurement in Software Engineering</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4265</cp:revision>
  <dcterms:created xsi:type="dcterms:W3CDTF">2007-10-06T08:25:13Z</dcterms:created>
  <dcterms:modified xsi:type="dcterms:W3CDTF">2022-03-28T11:21:26Z</dcterms:modified>
</cp:coreProperties>
</file>