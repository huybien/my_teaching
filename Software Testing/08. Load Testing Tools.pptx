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708" r:id="rId1"/>
  </p:sldMasterIdLst>
  <p:notesMasterIdLst>
    <p:notesMasterId r:id="rId35"/>
  </p:notesMasterIdLst>
  <p:handoutMasterIdLst>
    <p:handoutMasterId r:id="rId36"/>
  </p:handoutMasterIdLst>
  <p:sldIdLst>
    <p:sldId id="256" r:id="rId2"/>
    <p:sldId id="589" r:id="rId3"/>
    <p:sldId id="590" r:id="rId4"/>
    <p:sldId id="591" r:id="rId5"/>
    <p:sldId id="660" r:id="rId6"/>
    <p:sldId id="666" r:id="rId7"/>
    <p:sldId id="667" r:id="rId8"/>
    <p:sldId id="668" r:id="rId9"/>
    <p:sldId id="669" r:id="rId10"/>
    <p:sldId id="659" r:id="rId11"/>
    <p:sldId id="671" r:id="rId12"/>
    <p:sldId id="672" r:id="rId13"/>
    <p:sldId id="673" r:id="rId14"/>
    <p:sldId id="683" r:id="rId15"/>
    <p:sldId id="676" r:id="rId16"/>
    <p:sldId id="677" r:id="rId17"/>
    <p:sldId id="681" r:id="rId18"/>
    <p:sldId id="675" r:id="rId19"/>
    <p:sldId id="679" r:id="rId20"/>
    <p:sldId id="680" r:id="rId21"/>
    <p:sldId id="682" r:id="rId22"/>
    <p:sldId id="684" r:id="rId23"/>
    <p:sldId id="686" r:id="rId24"/>
    <p:sldId id="685" r:id="rId25"/>
    <p:sldId id="687" r:id="rId26"/>
    <p:sldId id="688" r:id="rId27"/>
    <p:sldId id="689" r:id="rId28"/>
    <p:sldId id="690" r:id="rId29"/>
    <p:sldId id="694" r:id="rId30"/>
    <p:sldId id="691" r:id="rId31"/>
    <p:sldId id="692" r:id="rId32"/>
    <p:sldId id="693" r:id="rId33"/>
    <p:sldId id="343" r:id="rId34"/>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606" autoAdjust="0"/>
    <p:restoredTop sz="94585" autoAdjust="0"/>
  </p:normalViewPr>
  <p:slideViewPr>
    <p:cSldViewPr>
      <p:cViewPr>
        <p:scale>
          <a:sx n="50" d="100"/>
          <a:sy n="50" d="100"/>
        </p:scale>
        <p:origin x="-1550" y="-398"/>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276"/>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8D8BFB5-794C-4D8F-A7A0-447467B3BA6F}" type="datetimeFigureOut">
              <a:rPr lang="en-US" smtClean="0"/>
              <a:pPr/>
              <a:t>4/1/2025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AF41D53-27B3-4381-8155-F4CFBCEB0725}"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333D5C3-0820-4FAB-ABA1-6D9651D57222}" type="datetimeFigureOut">
              <a:rPr lang="en-US" smtClean="0"/>
              <a:pPr/>
              <a:t>4/1/2025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72560AE-83EB-4E74-ABFC-279D183C4683}"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0721B9AD-E267-41B8-AFB9-F339B3C6A571}" type="datetimeFigureOut">
              <a:rPr lang="en-US"/>
              <a:pPr>
                <a:defRPr/>
              </a:pPr>
              <a:t>4/1/2025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FAA6B-5534-44A2-AEB6-C3AA6AD13725}"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D03B7B48-E476-4875-A0CA-B0673732DFDD}" type="datetimeFigureOut">
              <a:rPr lang="en-US"/>
              <a:pPr>
                <a:defRPr/>
              </a:pPr>
              <a:t>4/1/2025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D0A623A-42AC-4D11-AF54-DB15196F08D6}"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E8F0A2C2-9A3C-44C4-9D1F-47B44EB3EF12}" type="datetimeFigureOut">
              <a:rPr lang="en-US"/>
              <a:pPr>
                <a:defRPr/>
              </a:pPr>
              <a:t>4/1/2025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738AB1B-E996-4ECC-822F-4BC1227516D2}"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6E352965-9852-4C5D-9CFD-AA7D7C51A3F1}" type="datetimeFigureOut">
              <a:rPr lang="en-US"/>
              <a:pPr>
                <a:defRPr/>
              </a:pPr>
              <a:t>4/1/2025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5C6D760F-B2EC-4EEB-B282-45333B115766}"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A2ABA97A-E8D3-4153-8AD9-0AC754381ACA}" type="datetimeFigureOut">
              <a:rPr lang="en-US"/>
              <a:pPr>
                <a:defRPr/>
              </a:pPr>
              <a:t>4/1/2025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26E96F6-D03D-4FB0-942F-6504F81FF6F0}"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0F1E0C7-1AF5-43CF-B84A-415948674BE8}" type="datetimeFigureOut">
              <a:rPr lang="en-US"/>
              <a:pPr>
                <a:defRPr/>
              </a:pPr>
              <a:t>4/1/2025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10B45132-88B8-4DDF-85A7-99B030F49BCA}"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3FF2F585-6AB3-4A98-8C00-3FB0F428366B}" type="datetimeFigureOut">
              <a:rPr lang="en-US"/>
              <a:pPr>
                <a:defRPr/>
              </a:pPr>
              <a:t>4/1/2025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BDEE648-0B22-4684-A888-DEB1CE6260BA}"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A955A04C-D082-4B30-8565-236556BDD91C}" type="datetimeFigureOut">
              <a:rPr lang="en-US"/>
              <a:pPr>
                <a:defRPr/>
              </a:pPr>
              <a:t>4/1/2025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7D6D829-2DC4-4B7D-B12C-FDD216EF07FE}"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E43085A-46E4-429D-86C3-B3CDAC36DAFB}" type="datetimeFigureOut">
              <a:rPr lang="en-US"/>
              <a:pPr>
                <a:defRPr/>
              </a:pPr>
              <a:t>4/1/2025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17732C7-0A09-4095-98E8-F693C2579E3C}"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9B0270D8-9F80-4CBC-9EEB-40BF8E1F9541}" type="datetimeFigureOut">
              <a:rPr lang="en-US"/>
              <a:pPr>
                <a:defRPr/>
              </a:pPr>
              <a:t>4/1/2025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46B142B-9F3F-466D-9D5E-77E7230DF7F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0944C27D-6266-4BC5-9F9E-701F440BBF98}" type="datetimeFigureOut">
              <a:rPr lang="en-US"/>
              <a:pPr>
                <a:defRPr/>
              </a:pPr>
              <a:t>4/1/2025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EC74873-7D28-4297-9E3C-7A8D1F19C832}"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3A4E31BE-3B20-405B-8063-BB6777AF4DB8}" type="datetimeFigureOut">
              <a:rPr lang="en-US"/>
              <a:pPr>
                <a:defRPr/>
              </a:pPr>
              <a:t>4/1/2025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69667343-960E-49C7-A8DE-9C4E42370238}"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www.oracle.com/java/technologies/download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jmeter.apache.org/download_jmeter.cgi"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jmeter.apache.org/usermanual/build-web-test-plan.html"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jmeter.apache.org/usermanual/build-ws-test-plan.html"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locust.io/"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lstStyle/>
          <a:p>
            <a:pPr eaLnBrk="1" hangingPunct="1"/>
            <a:r>
              <a:rPr lang="en-US" sz="6000" dirty="0" smtClean="0"/>
              <a:t>Load Testing Tools</a:t>
            </a:r>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600201"/>
            <a:ext cx="5334000" cy="4495799"/>
          </a:xfrm>
        </p:spPr>
        <p:txBody>
          <a:bodyPr/>
          <a:lstStyle/>
          <a:p>
            <a:pPr>
              <a:buFont typeface="Wingdings" pitchFamily="2" charset="2"/>
              <a:buChar char="Ø"/>
            </a:pPr>
            <a:endParaRPr lang="en-US" sz="2400" dirty="0" smtClean="0"/>
          </a:p>
        </p:txBody>
      </p:sp>
      <p:pic>
        <p:nvPicPr>
          <p:cNvPr id="4" name="Picture 2"/>
          <p:cNvPicPr>
            <a:picLocks noChangeAspect="1" noChangeArrowheads="1"/>
          </p:cNvPicPr>
          <p:nvPr/>
        </p:nvPicPr>
        <p:blipFill>
          <a:blip r:embed="rId2" cstate="print"/>
          <a:srcRect/>
          <a:stretch>
            <a:fillRect/>
          </a:stretch>
        </p:blipFill>
        <p:spPr bwMode="auto">
          <a:xfrm>
            <a:off x="5867400" y="28194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r>
              <a:rPr lang="en-US" sz="2400" dirty="0" err="1" smtClean="0"/>
              <a:t>JMeter</a:t>
            </a: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References</a:t>
            </a:r>
            <a:endParaRPr lang="en-US" dirty="0"/>
          </a:p>
        </p:txBody>
      </p:sp>
      <p:sp>
        <p:nvSpPr>
          <p:cNvPr id="3" name="Content Placeholder 2"/>
          <p:cNvSpPr>
            <a:spLocks noGrp="1"/>
          </p:cNvSpPr>
          <p:nvPr>
            <p:ph idx="1"/>
          </p:nvPr>
        </p:nvSpPr>
        <p:spPr>
          <a:xfrm>
            <a:off x="457200" y="1524000"/>
            <a:ext cx="5638800" cy="4876800"/>
          </a:xfrm>
        </p:spPr>
        <p:txBody>
          <a:bodyPr/>
          <a:lstStyle/>
          <a:p>
            <a:pPr>
              <a:buFont typeface="+mj-lt"/>
              <a:buAutoNum type="arabicPeriod"/>
            </a:pPr>
            <a:endParaRPr lang="en-US" sz="1800" dirty="0" smtClean="0"/>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096000" y="1676400"/>
            <a:ext cx="2724150" cy="413385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Install JDK 24 on Windows</a:t>
            </a:r>
            <a:endParaRPr lang="en-US" dirty="0"/>
          </a:p>
        </p:txBody>
      </p:sp>
      <p:sp>
        <p:nvSpPr>
          <p:cNvPr id="3" name="Content Placeholder 2"/>
          <p:cNvSpPr>
            <a:spLocks noGrp="1"/>
          </p:cNvSpPr>
          <p:nvPr>
            <p:ph idx="1"/>
          </p:nvPr>
        </p:nvSpPr>
        <p:spPr/>
        <p:txBody>
          <a:bodyPr/>
          <a:lstStyle/>
          <a:p>
            <a:r>
              <a:rPr lang="en-US" sz="2400" dirty="0" smtClean="0">
                <a:hlinkClick r:id="rId2"/>
              </a:rPr>
              <a:t>https://www.oracle.com/java/technologies/downloads/</a:t>
            </a:r>
            <a:endParaRPr lang="en-US" sz="2400" dirty="0" smtClean="0"/>
          </a:p>
          <a:p>
            <a:endParaRPr lang="en-US" sz="2400" dirty="0"/>
          </a:p>
        </p:txBody>
      </p:sp>
      <p:pic>
        <p:nvPicPr>
          <p:cNvPr id="4" name="Picture 2"/>
          <p:cNvPicPr>
            <a:picLocks noChangeAspect="1" noChangeArrowheads="1"/>
          </p:cNvPicPr>
          <p:nvPr/>
        </p:nvPicPr>
        <p:blipFill>
          <a:blip r:embed="rId3" cstate="print"/>
          <a:srcRect/>
          <a:stretch>
            <a:fillRect/>
          </a:stretch>
        </p:blipFill>
        <p:spPr bwMode="auto">
          <a:xfrm>
            <a:off x="2192338" y="2555875"/>
            <a:ext cx="4759325" cy="3616325"/>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Add JAVA_HOME Variable</a:t>
            </a:r>
            <a:endParaRPr lang="en-US" dirty="0"/>
          </a:p>
        </p:txBody>
      </p:sp>
      <p:sp>
        <p:nvSpPr>
          <p:cNvPr id="3" name="Content Placeholder 2"/>
          <p:cNvSpPr>
            <a:spLocks noGrp="1"/>
          </p:cNvSpPr>
          <p:nvPr>
            <p:ph idx="1"/>
          </p:nvPr>
        </p:nvSpPr>
        <p:spPr/>
        <p:txBody>
          <a:bodyPr/>
          <a:lstStyle/>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p:txBody>
      </p:sp>
      <p:pic>
        <p:nvPicPr>
          <p:cNvPr id="4" name="Picture 2"/>
          <p:cNvPicPr>
            <a:picLocks noChangeAspect="1" noChangeArrowheads="1"/>
          </p:cNvPicPr>
          <p:nvPr/>
        </p:nvPicPr>
        <p:blipFill>
          <a:blip r:embed="rId2" cstate="print"/>
          <a:srcRect/>
          <a:stretch>
            <a:fillRect/>
          </a:stretch>
        </p:blipFill>
        <p:spPr bwMode="auto">
          <a:xfrm>
            <a:off x="1498600" y="1719580"/>
            <a:ext cx="6273800" cy="445262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Verify JAVA_HOME Variable</a:t>
            </a:r>
            <a:endParaRPr lang="en-US" dirty="0"/>
          </a:p>
        </p:txBody>
      </p:sp>
      <p:sp>
        <p:nvSpPr>
          <p:cNvPr id="3" name="Content Placeholder 2"/>
          <p:cNvSpPr>
            <a:spLocks noGrp="1"/>
          </p:cNvSpPr>
          <p:nvPr>
            <p:ph idx="1"/>
          </p:nvPr>
        </p:nvSpPr>
        <p:spPr/>
        <p:txBody>
          <a:bodyPr/>
          <a:lstStyle/>
          <a:p>
            <a:r>
              <a:rPr lang="en-US" sz="2400" dirty="0" smtClean="0">
                <a:latin typeface="Consolas" pitchFamily="49" charset="0"/>
              </a:rPr>
              <a:t>echo %JAVA_HOME%</a:t>
            </a:r>
          </a:p>
          <a:p>
            <a:pPr>
              <a:buNone/>
            </a:pPr>
            <a:endParaRPr lang="en-US" sz="2400" dirty="0"/>
          </a:p>
        </p:txBody>
      </p:sp>
      <p:pic>
        <p:nvPicPr>
          <p:cNvPr id="3074" name="Picture 2"/>
          <p:cNvPicPr>
            <a:picLocks noChangeAspect="1" noChangeArrowheads="1"/>
          </p:cNvPicPr>
          <p:nvPr/>
        </p:nvPicPr>
        <p:blipFill>
          <a:blip r:embed="rId2" cstate="print"/>
          <a:srcRect/>
          <a:stretch>
            <a:fillRect/>
          </a:stretch>
        </p:blipFill>
        <p:spPr bwMode="auto">
          <a:xfrm>
            <a:off x="1676400" y="2895600"/>
            <a:ext cx="5556250" cy="2228850"/>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4. Download and Unzip </a:t>
            </a:r>
            <a:r>
              <a:rPr lang="en-US" dirty="0" err="1" smtClean="0"/>
              <a:t>JMeter</a:t>
            </a:r>
            <a:endParaRPr lang="en-US" dirty="0"/>
          </a:p>
        </p:txBody>
      </p:sp>
      <p:sp>
        <p:nvSpPr>
          <p:cNvPr id="3" name="Content Placeholder 2"/>
          <p:cNvSpPr>
            <a:spLocks noGrp="1"/>
          </p:cNvSpPr>
          <p:nvPr>
            <p:ph idx="1"/>
          </p:nvPr>
        </p:nvSpPr>
        <p:spPr/>
        <p:txBody>
          <a:bodyPr/>
          <a:lstStyle/>
          <a:p>
            <a:r>
              <a:rPr lang="en-US" sz="2400" dirty="0" smtClean="0">
                <a:hlinkClick r:id="rId2"/>
              </a:rPr>
              <a:t>https://jmeter.apache.org/download_jmeter.cgi</a:t>
            </a:r>
            <a:endParaRPr lang="en-US" sz="2400" dirty="0" smtClean="0"/>
          </a:p>
          <a:p>
            <a:endParaRPr lang="en-US" sz="2400" dirty="0"/>
          </a:p>
        </p:txBody>
      </p:sp>
      <p:pic>
        <p:nvPicPr>
          <p:cNvPr id="4098" name="Picture 2"/>
          <p:cNvPicPr>
            <a:picLocks noChangeAspect="1" noChangeArrowheads="1"/>
          </p:cNvPicPr>
          <p:nvPr/>
        </p:nvPicPr>
        <p:blipFill>
          <a:blip r:embed="rId3" cstate="print"/>
          <a:srcRect/>
          <a:stretch>
            <a:fillRect/>
          </a:stretch>
        </p:blipFill>
        <p:spPr bwMode="auto">
          <a:xfrm>
            <a:off x="2538413" y="2498725"/>
            <a:ext cx="4067175" cy="3216275"/>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5. Run </a:t>
            </a:r>
            <a:r>
              <a:rPr lang="en-US" dirty="0" err="1" smtClean="0"/>
              <a:t>Jmeter</a:t>
            </a:r>
            <a:r>
              <a:rPr lang="en-US" dirty="0" smtClean="0"/>
              <a:t> (jmeter.bat)</a:t>
            </a:r>
            <a:endParaRPr lang="en-US" dirty="0"/>
          </a:p>
        </p:txBody>
      </p:sp>
      <p:pic>
        <p:nvPicPr>
          <p:cNvPr id="5122" name="Picture 2"/>
          <p:cNvPicPr>
            <a:picLocks noChangeAspect="1" noChangeArrowheads="1"/>
          </p:cNvPicPr>
          <p:nvPr/>
        </p:nvPicPr>
        <p:blipFill>
          <a:blip r:embed="rId2" cstate="print"/>
          <a:srcRect/>
          <a:stretch>
            <a:fillRect/>
          </a:stretch>
        </p:blipFill>
        <p:spPr bwMode="auto">
          <a:xfrm>
            <a:off x="993775" y="1625600"/>
            <a:ext cx="7156450" cy="4622800"/>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Create a Web Test Plan </a:t>
            </a:r>
            <a:endParaRPr lang="en-US" dirty="0"/>
          </a:p>
        </p:txBody>
      </p:sp>
      <p:sp>
        <p:nvSpPr>
          <p:cNvPr id="3" name="Content Placeholder 2"/>
          <p:cNvSpPr>
            <a:spLocks noGrp="1"/>
          </p:cNvSpPr>
          <p:nvPr>
            <p:ph idx="1"/>
          </p:nvPr>
        </p:nvSpPr>
        <p:spPr/>
        <p:txBody>
          <a:bodyPr/>
          <a:lstStyle/>
          <a:p>
            <a:r>
              <a:rPr lang="en-US" sz="2200" dirty="0" smtClean="0">
                <a:hlinkClick r:id="rId2"/>
              </a:rPr>
              <a:t>https://jmeter.apache.org/usermanual/build-web-test-plan.html</a:t>
            </a:r>
            <a:endParaRPr lang="en-US" sz="2200" dirty="0" smtClean="0"/>
          </a:p>
          <a:p>
            <a:r>
              <a:rPr lang="en-US" sz="2200" dirty="0" smtClean="0"/>
              <a:t>File &gt; Templates.</a:t>
            </a:r>
            <a:endParaRPr lang="en-US" sz="2200" dirty="0"/>
          </a:p>
        </p:txBody>
      </p:sp>
      <p:pic>
        <p:nvPicPr>
          <p:cNvPr id="6146" name="Picture 2"/>
          <p:cNvPicPr>
            <a:picLocks noChangeAspect="1" noChangeArrowheads="1"/>
          </p:cNvPicPr>
          <p:nvPr/>
        </p:nvPicPr>
        <p:blipFill>
          <a:blip r:embed="rId3" cstate="print"/>
          <a:srcRect/>
          <a:stretch>
            <a:fillRect/>
          </a:stretch>
        </p:blipFill>
        <p:spPr bwMode="auto">
          <a:xfrm>
            <a:off x="1752600" y="2743200"/>
            <a:ext cx="5732780" cy="3253740"/>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Remove Scenario 1</a:t>
            </a:r>
            <a:endParaRPr lang="en-US" dirty="0"/>
          </a:p>
        </p:txBody>
      </p:sp>
      <p:pic>
        <p:nvPicPr>
          <p:cNvPr id="7171" name="Picture 3"/>
          <p:cNvPicPr>
            <a:picLocks noChangeAspect="1" noChangeArrowheads="1"/>
          </p:cNvPicPr>
          <p:nvPr/>
        </p:nvPicPr>
        <p:blipFill>
          <a:blip r:embed="rId2" cstate="print"/>
          <a:srcRect/>
          <a:stretch>
            <a:fillRect/>
          </a:stretch>
        </p:blipFill>
        <p:spPr bwMode="auto">
          <a:xfrm>
            <a:off x="1765300" y="2057400"/>
            <a:ext cx="5613400" cy="3419475"/>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Add Thread Group</a:t>
            </a:r>
            <a:endParaRPr lang="en-US" dirty="0"/>
          </a:p>
        </p:txBody>
      </p:sp>
      <p:pic>
        <p:nvPicPr>
          <p:cNvPr id="8195" name="Picture 3"/>
          <p:cNvPicPr>
            <a:picLocks noChangeAspect="1" noChangeArrowheads="1"/>
          </p:cNvPicPr>
          <p:nvPr/>
        </p:nvPicPr>
        <p:blipFill>
          <a:blip r:embed="rId2" cstate="print"/>
          <a:srcRect/>
          <a:stretch>
            <a:fillRect/>
          </a:stretch>
        </p:blipFill>
        <p:spPr bwMode="auto">
          <a:xfrm>
            <a:off x="989013" y="2149475"/>
            <a:ext cx="7165975" cy="3032125"/>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4. Configure Thread Group</a:t>
            </a:r>
            <a:endParaRPr lang="en-US" dirty="0"/>
          </a:p>
        </p:txBody>
      </p:sp>
      <p:sp>
        <p:nvSpPr>
          <p:cNvPr id="3" name="Content Placeholder 2"/>
          <p:cNvSpPr>
            <a:spLocks noGrp="1"/>
          </p:cNvSpPr>
          <p:nvPr>
            <p:ph idx="1"/>
          </p:nvPr>
        </p:nvSpPr>
        <p:spPr>
          <a:xfrm>
            <a:off x="457200" y="1600200"/>
            <a:ext cx="2743200" cy="4525963"/>
          </a:xfrm>
        </p:spPr>
        <p:txBody>
          <a:bodyPr/>
          <a:lstStyle/>
          <a:p>
            <a:r>
              <a:rPr lang="en-US" sz="2200" b="1" dirty="0" smtClean="0"/>
              <a:t>Number of threads (users)</a:t>
            </a:r>
            <a:r>
              <a:rPr lang="en-US" sz="2200" dirty="0" smtClean="0"/>
              <a:t>: 100</a:t>
            </a:r>
          </a:p>
          <a:p>
            <a:r>
              <a:rPr lang="en-US" sz="2200" b="1" dirty="0" smtClean="0"/>
              <a:t>Ramp-up period</a:t>
            </a:r>
            <a:r>
              <a:rPr lang="en-US" sz="2200" dirty="0" smtClean="0"/>
              <a:t>: 10 seconds</a:t>
            </a:r>
          </a:p>
          <a:p>
            <a:r>
              <a:rPr lang="en-US" sz="2200" dirty="0" smtClean="0"/>
              <a:t>In this case, </a:t>
            </a:r>
            <a:r>
              <a:rPr lang="en-US" sz="2200" dirty="0" err="1" smtClean="0"/>
              <a:t>JMeter</a:t>
            </a:r>
            <a:r>
              <a:rPr lang="en-US" sz="2200" dirty="0" smtClean="0"/>
              <a:t> will add 10 users per second for 10 seconds until all 100 users are active. </a:t>
            </a:r>
          </a:p>
          <a:p>
            <a:endParaRPr lang="en-US" sz="2200" dirty="0"/>
          </a:p>
        </p:txBody>
      </p:sp>
      <p:pic>
        <p:nvPicPr>
          <p:cNvPr id="14338" name="Picture 2"/>
          <p:cNvPicPr>
            <a:picLocks noChangeAspect="1" noChangeArrowheads="1"/>
          </p:cNvPicPr>
          <p:nvPr/>
        </p:nvPicPr>
        <p:blipFill>
          <a:blip r:embed="rId2" cstate="print"/>
          <a:srcRect/>
          <a:stretch>
            <a:fillRect/>
          </a:stretch>
        </p:blipFill>
        <p:spPr bwMode="auto">
          <a:xfrm>
            <a:off x="3505200" y="1600200"/>
            <a:ext cx="5076825" cy="3336925"/>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5. Add HTTP Request Defaults</a:t>
            </a:r>
            <a:endParaRPr lang="en-US" dirty="0"/>
          </a:p>
        </p:txBody>
      </p:sp>
      <p:sp>
        <p:nvSpPr>
          <p:cNvPr id="3" name="Content Placeholder 2"/>
          <p:cNvSpPr>
            <a:spLocks noGrp="1"/>
          </p:cNvSpPr>
          <p:nvPr>
            <p:ph idx="1"/>
          </p:nvPr>
        </p:nvSpPr>
        <p:spPr/>
        <p:txBody>
          <a:bodyPr/>
          <a:lstStyle/>
          <a:p>
            <a:r>
              <a:rPr lang="en-US" dirty="0" smtClean="0"/>
              <a:t>To configure default values for all requests.</a:t>
            </a:r>
            <a:endParaRPr lang="en-US" dirty="0"/>
          </a:p>
        </p:txBody>
      </p:sp>
      <p:pic>
        <p:nvPicPr>
          <p:cNvPr id="4" name="Picture 3"/>
          <p:cNvPicPr>
            <a:picLocks noChangeAspect="1" noChangeArrowheads="1"/>
          </p:cNvPicPr>
          <p:nvPr/>
        </p:nvPicPr>
        <p:blipFill>
          <a:blip r:embed="rId2" cstate="print"/>
          <a:srcRect/>
          <a:stretch>
            <a:fillRect/>
          </a:stretch>
        </p:blipFill>
        <p:spPr bwMode="auto">
          <a:xfrm>
            <a:off x="927100" y="2613025"/>
            <a:ext cx="7289800" cy="3482975"/>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6. Configure HTTP Request Defaults</a:t>
            </a:r>
            <a:endParaRPr lang="en-US" dirty="0"/>
          </a:p>
        </p:txBody>
      </p:sp>
      <p:pic>
        <p:nvPicPr>
          <p:cNvPr id="10242" name="Picture 2"/>
          <p:cNvPicPr>
            <a:picLocks noChangeAspect="1" noChangeArrowheads="1"/>
          </p:cNvPicPr>
          <p:nvPr/>
        </p:nvPicPr>
        <p:blipFill>
          <a:blip r:embed="rId2" cstate="print"/>
          <a:srcRect/>
          <a:stretch>
            <a:fillRect/>
          </a:stretch>
        </p:blipFill>
        <p:spPr bwMode="auto">
          <a:xfrm>
            <a:off x="838200" y="2362200"/>
            <a:ext cx="7289800" cy="2984500"/>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7. Add HTTP Cookie Manager</a:t>
            </a:r>
            <a:endParaRPr lang="en-US" dirty="0"/>
          </a:p>
        </p:txBody>
      </p:sp>
      <p:pic>
        <p:nvPicPr>
          <p:cNvPr id="13314" name="Picture 2"/>
          <p:cNvPicPr>
            <a:picLocks noChangeAspect="1" noChangeArrowheads="1"/>
          </p:cNvPicPr>
          <p:nvPr/>
        </p:nvPicPr>
        <p:blipFill>
          <a:blip r:embed="rId2" cstate="print"/>
          <a:srcRect/>
          <a:stretch>
            <a:fillRect/>
          </a:stretch>
        </p:blipFill>
        <p:spPr bwMode="auto">
          <a:xfrm>
            <a:off x="1530350" y="2441575"/>
            <a:ext cx="6083300" cy="2663825"/>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7. Add HTTP Request Sample</a:t>
            </a:r>
            <a:endParaRPr lang="en-US" dirty="0"/>
          </a:p>
        </p:txBody>
      </p:sp>
      <p:pic>
        <p:nvPicPr>
          <p:cNvPr id="9218" name="Picture 2"/>
          <p:cNvPicPr>
            <a:picLocks noChangeAspect="1" noChangeArrowheads="1"/>
          </p:cNvPicPr>
          <p:nvPr/>
        </p:nvPicPr>
        <p:blipFill>
          <a:blip r:embed="rId2" cstate="print"/>
          <a:srcRect/>
          <a:stretch>
            <a:fillRect/>
          </a:stretch>
        </p:blipFill>
        <p:spPr bwMode="auto">
          <a:xfrm>
            <a:off x="1430338" y="2327275"/>
            <a:ext cx="6283325" cy="2701925"/>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8. Configure the HTTP Request</a:t>
            </a:r>
            <a:endParaRPr lang="en-US" dirty="0"/>
          </a:p>
        </p:txBody>
      </p:sp>
      <p:pic>
        <p:nvPicPr>
          <p:cNvPr id="11267" name="Picture 3"/>
          <p:cNvPicPr>
            <a:picLocks noChangeAspect="1" noChangeArrowheads="1"/>
          </p:cNvPicPr>
          <p:nvPr/>
        </p:nvPicPr>
        <p:blipFill>
          <a:blip r:embed="rId2" cstate="print"/>
          <a:srcRect/>
          <a:stretch>
            <a:fillRect/>
          </a:stretch>
        </p:blipFill>
        <p:spPr bwMode="auto">
          <a:xfrm>
            <a:off x="763588" y="1676400"/>
            <a:ext cx="7616825" cy="4495800"/>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9. Run the Test and View Results</a:t>
            </a:r>
            <a:endParaRPr lang="en-US" dirty="0"/>
          </a:p>
        </p:txBody>
      </p:sp>
      <p:pic>
        <p:nvPicPr>
          <p:cNvPr id="12291" name="Picture 3"/>
          <p:cNvPicPr>
            <a:picLocks noChangeAspect="1" noChangeArrowheads="1"/>
          </p:cNvPicPr>
          <p:nvPr/>
        </p:nvPicPr>
        <p:blipFill>
          <a:blip r:embed="rId2" cstate="print"/>
          <a:srcRect/>
          <a:stretch>
            <a:fillRect/>
          </a:stretch>
        </p:blipFill>
        <p:spPr bwMode="auto">
          <a:xfrm>
            <a:off x="941388" y="2120900"/>
            <a:ext cx="7261225" cy="3441700"/>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Create a </a:t>
            </a:r>
            <a:r>
              <a:rPr lang="en-US" dirty="0" err="1" smtClean="0"/>
              <a:t>WebService</a:t>
            </a:r>
            <a:r>
              <a:rPr lang="en-US" dirty="0" smtClean="0"/>
              <a:t> Test Plan </a:t>
            </a:r>
            <a:endParaRPr lang="en-US" dirty="0"/>
          </a:p>
        </p:txBody>
      </p:sp>
      <p:sp>
        <p:nvSpPr>
          <p:cNvPr id="3" name="Content Placeholder 2"/>
          <p:cNvSpPr>
            <a:spLocks noGrp="1"/>
          </p:cNvSpPr>
          <p:nvPr>
            <p:ph idx="1"/>
          </p:nvPr>
        </p:nvSpPr>
        <p:spPr/>
        <p:txBody>
          <a:bodyPr/>
          <a:lstStyle/>
          <a:p>
            <a:r>
              <a:rPr lang="en-US" sz="2200" dirty="0" smtClean="0">
                <a:hlinkClick r:id="rId2"/>
              </a:rPr>
              <a:t>https://jmeter.apache.org/usermanual/build-ws-test-plan.html</a:t>
            </a:r>
            <a:endParaRPr lang="en-US" sz="2200" dirty="0" smtClean="0"/>
          </a:p>
          <a:p>
            <a:r>
              <a:rPr lang="en-US" sz="2200" dirty="0" smtClean="0"/>
              <a:t>File &gt; Templates.</a:t>
            </a:r>
            <a:endParaRPr lang="en-US" sz="2200" dirty="0"/>
          </a:p>
        </p:txBody>
      </p:sp>
      <p:pic>
        <p:nvPicPr>
          <p:cNvPr id="1026" name="Picture 2"/>
          <p:cNvPicPr>
            <a:picLocks noChangeAspect="1" noChangeArrowheads="1"/>
          </p:cNvPicPr>
          <p:nvPr/>
        </p:nvPicPr>
        <p:blipFill>
          <a:blip r:embed="rId3" cstate="print"/>
          <a:srcRect/>
          <a:stretch>
            <a:fillRect/>
          </a:stretch>
        </p:blipFill>
        <p:spPr bwMode="auto">
          <a:xfrm>
            <a:off x="1371600" y="2667000"/>
            <a:ext cx="6446520" cy="3634740"/>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Enter Server Name or IP</a:t>
            </a:r>
            <a:endParaRPr lang="en-US" dirty="0"/>
          </a:p>
        </p:txBody>
      </p:sp>
      <p:pic>
        <p:nvPicPr>
          <p:cNvPr id="3074" name="Picture 2"/>
          <p:cNvPicPr>
            <a:picLocks noChangeAspect="1" noChangeArrowheads="1"/>
          </p:cNvPicPr>
          <p:nvPr/>
        </p:nvPicPr>
        <p:blipFill>
          <a:blip r:embed="rId2" cstate="print"/>
          <a:srcRect/>
          <a:stretch>
            <a:fillRect/>
          </a:stretch>
        </p:blipFill>
        <p:spPr bwMode="auto">
          <a:xfrm>
            <a:off x="1322388" y="2219325"/>
            <a:ext cx="6499225" cy="2962275"/>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Enter Soap Request Information</a:t>
            </a:r>
            <a:endParaRPr lang="en-US" dirty="0"/>
          </a:p>
        </p:txBody>
      </p:sp>
      <p:sp>
        <p:nvSpPr>
          <p:cNvPr id="3" name="Content Placeholder 2"/>
          <p:cNvSpPr>
            <a:spLocks noGrp="1"/>
          </p:cNvSpPr>
          <p:nvPr>
            <p:ph idx="1"/>
          </p:nvPr>
        </p:nvSpPr>
        <p:spPr/>
        <p:txBody>
          <a:bodyPr/>
          <a:lstStyle/>
          <a:p>
            <a:r>
              <a:rPr lang="en-US" sz="1800" b="1" dirty="0" smtClean="0">
                <a:solidFill>
                  <a:srgbClr val="C00000"/>
                </a:solidFill>
              </a:rPr>
              <a:t>Use SOAPUI to Generate SOAP Message from </a:t>
            </a:r>
            <a:r>
              <a:rPr lang="en-US" sz="1800" b="1" dirty="0" smtClean="0">
                <a:solidFill>
                  <a:srgbClr val="C00000"/>
                </a:solidFill>
              </a:rPr>
              <a:t>WSDL. </a:t>
            </a:r>
            <a:r>
              <a:rPr lang="en-US" sz="1800" b="1" dirty="0" smtClean="0">
                <a:solidFill>
                  <a:srgbClr val="C00000"/>
                </a:solidFill>
              </a:rPr>
              <a:t>This is </a:t>
            </a:r>
            <a:r>
              <a:rPr lang="en-US" sz="1800" b="1" dirty="0" smtClean="0">
                <a:solidFill>
                  <a:srgbClr val="C00000"/>
                </a:solidFill>
              </a:rPr>
              <a:t>important </a:t>
            </a:r>
            <a:r>
              <a:rPr lang="en-US" sz="1800" b="1" dirty="0" smtClean="0">
                <a:solidFill>
                  <a:srgbClr val="C00000"/>
                </a:solidFill>
              </a:rPr>
              <a:t>because an </a:t>
            </a:r>
            <a:r>
              <a:rPr lang="en-US" sz="1800" b="1" dirty="0" smtClean="0">
                <a:solidFill>
                  <a:srgbClr val="C00000"/>
                </a:solidFill>
              </a:rPr>
              <a:t>incompatible SOAP request may cause strange returns, not errors.</a:t>
            </a:r>
            <a:endParaRPr lang="en-US" sz="1800" b="1" dirty="0">
              <a:solidFill>
                <a:srgbClr val="C00000"/>
              </a:solidFill>
            </a:endParaRPr>
          </a:p>
        </p:txBody>
      </p:sp>
      <p:pic>
        <p:nvPicPr>
          <p:cNvPr id="5" name="Picture 2"/>
          <p:cNvPicPr>
            <a:picLocks noChangeAspect="1" noChangeArrowheads="1"/>
          </p:cNvPicPr>
          <p:nvPr/>
        </p:nvPicPr>
        <p:blipFill>
          <a:blip r:embed="rId2" cstate="print"/>
          <a:srcRect/>
          <a:stretch>
            <a:fillRect/>
          </a:stretch>
        </p:blipFill>
        <p:spPr bwMode="auto">
          <a:xfrm>
            <a:off x="1371600" y="2762250"/>
            <a:ext cx="6424613" cy="3486150"/>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should we run </a:t>
            </a:r>
            <a:r>
              <a:rPr lang="en-US" dirty="0" err="1" smtClean="0"/>
              <a:t>jmeter</a:t>
            </a:r>
            <a:r>
              <a:rPr lang="en-US" dirty="0" smtClean="0"/>
              <a:t> load testing in </a:t>
            </a:r>
            <a:r>
              <a:rPr lang="en-US" dirty="0" err="1" smtClean="0"/>
              <a:t>cli</a:t>
            </a:r>
            <a:r>
              <a:rPr lang="en-US" dirty="0" smtClean="0"/>
              <a:t> instead of </a:t>
            </a:r>
            <a:r>
              <a:rPr lang="en-US" dirty="0" err="1" smtClean="0"/>
              <a:t>gui</a:t>
            </a:r>
            <a:r>
              <a:rPr lang="en-US" dirty="0" smtClean="0"/>
              <a:t> mode?</a:t>
            </a:r>
            <a:endParaRPr lang="en-US" dirty="0"/>
          </a:p>
        </p:txBody>
      </p:sp>
      <p:sp>
        <p:nvSpPr>
          <p:cNvPr id="3" name="Content Placeholder 2"/>
          <p:cNvSpPr>
            <a:spLocks noGrp="1"/>
          </p:cNvSpPr>
          <p:nvPr>
            <p:ph idx="1"/>
          </p:nvPr>
        </p:nvSpPr>
        <p:spPr/>
        <p:txBody>
          <a:bodyPr/>
          <a:lstStyle/>
          <a:p>
            <a:r>
              <a:rPr lang="en-US" sz="2200" b="1" dirty="0" smtClean="0"/>
              <a:t>Faster Execution</a:t>
            </a:r>
            <a:r>
              <a:rPr lang="en-US" sz="2200" dirty="0" smtClean="0"/>
              <a:t>: Running tests without UI overhead speeds up execution and result generation.</a:t>
            </a:r>
          </a:p>
          <a:p>
            <a:r>
              <a:rPr lang="en-US" sz="2200" b="1" dirty="0" smtClean="0"/>
              <a:t>Lower </a:t>
            </a:r>
            <a:r>
              <a:rPr lang="en-US" sz="2200" b="1" dirty="0" smtClean="0"/>
              <a:t>Resource Consumption</a:t>
            </a:r>
            <a:r>
              <a:rPr lang="en-US" sz="2200" dirty="0" smtClean="0"/>
              <a:t>: The GUI consumes significant CPU and memory, which can interfere with test execution</a:t>
            </a:r>
            <a:r>
              <a:rPr lang="en-US" sz="2200" dirty="0" smtClean="0"/>
              <a:t>.</a:t>
            </a:r>
          </a:p>
          <a:p>
            <a:r>
              <a:rPr lang="en-US" sz="2200" b="1" dirty="0" smtClean="0"/>
              <a:t>More Stable Execution</a:t>
            </a:r>
            <a:r>
              <a:rPr lang="en-US" sz="2200" dirty="0" smtClean="0"/>
              <a:t>: The GUI may introduce lags or inconsistencies due to UI rendering</a:t>
            </a:r>
            <a:r>
              <a:rPr lang="en-US" sz="2200" dirty="0" smtClean="0"/>
              <a:t>.</a:t>
            </a:r>
          </a:p>
          <a:p>
            <a:r>
              <a:rPr lang="en-US" sz="2200" b="1" dirty="0" smtClean="0"/>
              <a:t>No UI Delays</a:t>
            </a:r>
            <a:r>
              <a:rPr lang="en-US" sz="2200" dirty="0" smtClean="0"/>
              <a:t>: CLI mode ensures that test execution is not impacted by graphical interface responsiveness</a:t>
            </a:r>
            <a:r>
              <a:rPr lang="en-US" sz="2200" dirty="0" smtClean="0"/>
              <a:t>.</a:t>
            </a:r>
          </a:p>
          <a:p>
            <a:r>
              <a:rPr lang="en-US" sz="2200" b="1" dirty="0" smtClean="0"/>
              <a:t>Distributed Load Testing</a:t>
            </a:r>
            <a:r>
              <a:rPr lang="en-US" sz="2200" dirty="0" smtClean="0"/>
              <a:t>: CLI mode supports </a:t>
            </a:r>
            <a:r>
              <a:rPr lang="en-US" sz="2200" dirty="0" err="1" smtClean="0"/>
              <a:t>JMeter's</a:t>
            </a:r>
            <a:r>
              <a:rPr lang="en-US" sz="2200" dirty="0" smtClean="0"/>
              <a:t> distributed testing feature, allowing multiple machines to generate load</a:t>
            </a:r>
            <a:r>
              <a:rPr lang="en-US" sz="2200" dirty="0" smtClean="0"/>
              <a:t>.</a:t>
            </a:r>
          </a:p>
          <a:p>
            <a:r>
              <a:rPr lang="en-US" sz="2200" b="1" dirty="0" smtClean="0"/>
              <a:t>Customizable Reports</a:t>
            </a:r>
            <a:r>
              <a:rPr lang="en-US" sz="2200" dirty="0" smtClean="0"/>
              <a:t>: CLI mode allows exporting results in various formats (CSV, XML, JSON) for deeper analysis</a:t>
            </a:r>
            <a:r>
              <a:rPr lang="en-US" sz="2200" dirty="0" smtClean="0"/>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Modify </a:t>
            </a:r>
            <a:r>
              <a:rPr lang="en-US" dirty="0" smtClean="0"/>
              <a:t>the </a:t>
            </a:r>
            <a:r>
              <a:rPr lang="en-US" b="1" dirty="0" smtClean="0"/>
              <a:t>HEAP</a:t>
            </a:r>
            <a:r>
              <a:rPr lang="en-US" dirty="0" smtClean="0"/>
              <a:t> environment variable in </a:t>
            </a:r>
            <a:r>
              <a:rPr lang="en-US" dirty="0" err="1" smtClean="0"/>
              <a:t>JMeter's</a:t>
            </a:r>
            <a:r>
              <a:rPr lang="en-US" dirty="0" smtClean="0"/>
              <a:t> batch </a:t>
            </a:r>
            <a:r>
              <a:rPr lang="en-US" dirty="0" smtClean="0"/>
              <a:t>file</a:t>
            </a:r>
            <a:endParaRPr lang="en-US" dirty="0"/>
          </a:p>
        </p:txBody>
      </p:sp>
      <p:sp>
        <p:nvSpPr>
          <p:cNvPr id="3" name="Content Placeholder 2"/>
          <p:cNvSpPr>
            <a:spLocks noGrp="1"/>
          </p:cNvSpPr>
          <p:nvPr>
            <p:ph idx="1"/>
          </p:nvPr>
        </p:nvSpPr>
        <p:spPr/>
        <p:txBody>
          <a:bodyPr/>
          <a:lstStyle/>
          <a:p>
            <a:r>
              <a:rPr lang="en-US" sz="2400" dirty="0" smtClean="0"/>
              <a:t>For </a:t>
            </a:r>
            <a:r>
              <a:rPr lang="en-US" sz="2400" dirty="0" smtClean="0"/>
              <a:t>Windows (jmeter.bat):</a:t>
            </a:r>
            <a:endParaRPr lang="en-US" sz="2400" dirty="0" smtClean="0"/>
          </a:p>
          <a:p>
            <a:r>
              <a:rPr lang="en-US" sz="2400" dirty="0" smtClean="0"/>
              <a:t>Open </a:t>
            </a:r>
            <a:r>
              <a:rPr lang="en-US" sz="2400" dirty="0" smtClean="0"/>
              <a:t>the </a:t>
            </a:r>
            <a:r>
              <a:rPr lang="en-US" sz="2400" dirty="0" err="1" smtClean="0"/>
              <a:t>JMeter</a:t>
            </a:r>
            <a:r>
              <a:rPr lang="en-US" sz="2400" dirty="0" smtClean="0"/>
              <a:t> installation directory</a:t>
            </a:r>
            <a:r>
              <a:rPr lang="en-US" sz="2400" dirty="0" smtClean="0"/>
              <a:t>.</a:t>
            </a:r>
          </a:p>
          <a:p>
            <a:r>
              <a:rPr lang="en-US" sz="2400" dirty="0" smtClean="0"/>
              <a:t>Locate and </a:t>
            </a:r>
            <a:r>
              <a:rPr lang="en-US" sz="2400" b="1" dirty="0" smtClean="0"/>
              <a:t>edit</a:t>
            </a:r>
            <a:r>
              <a:rPr lang="en-US" sz="2400" dirty="0" smtClean="0"/>
              <a:t> the jmeter.bat file using Notepad or any text editor</a:t>
            </a:r>
            <a:r>
              <a:rPr lang="en-US" sz="2400" dirty="0" smtClean="0"/>
              <a:t>.</a:t>
            </a:r>
          </a:p>
          <a:p>
            <a:r>
              <a:rPr lang="en-US" sz="2400" dirty="0" smtClean="0"/>
              <a:t>Find the following line (usually near the top of the file): </a:t>
            </a:r>
            <a:r>
              <a:rPr lang="en-US" sz="2400" b="1" dirty="0" smtClean="0"/>
              <a:t>set HEAP=-Xms</a:t>
            </a:r>
            <a:r>
              <a:rPr lang="en-US" sz="2400" b="1" dirty="0" smtClean="0">
                <a:solidFill>
                  <a:srgbClr val="C00000"/>
                </a:solidFill>
              </a:rPr>
              <a:t>1g</a:t>
            </a:r>
            <a:r>
              <a:rPr lang="en-US" sz="2400" b="1" dirty="0" smtClean="0"/>
              <a:t> -Xmx</a:t>
            </a:r>
            <a:r>
              <a:rPr lang="en-US" sz="2400" b="1" dirty="0" smtClean="0">
                <a:solidFill>
                  <a:srgbClr val="C00000"/>
                </a:solidFill>
              </a:rPr>
              <a:t>1g</a:t>
            </a:r>
            <a:r>
              <a:rPr lang="en-US" sz="2400" b="1" dirty="0" smtClean="0"/>
              <a:t> -</a:t>
            </a:r>
            <a:r>
              <a:rPr lang="en-US" sz="2400" b="1" dirty="0" err="1" smtClean="0"/>
              <a:t>XX:MaxMetaspaceSize</a:t>
            </a:r>
            <a:r>
              <a:rPr lang="en-US" sz="2400" b="1" dirty="0" smtClean="0"/>
              <a:t>=</a:t>
            </a:r>
            <a:r>
              <a:rPr lang="en-US" sz="2400" b="1" dirty="0" smtClean="0">
                <a:solidFill>
                  <a:srgbClr val="C00000"/>
                </a:solidFill>
              </a:rPr>
              <a:t>256m</a:t>
            </a:r>
          </a:p>
          <a:p>
            <a:r>
              <a:rPr lang="en-US" sz="2400" dirty="0" smtClean="0"/>
              <a:t>Modify it as needed. For example, if you want to increase heap size: </a:t>
            </a:r>
            <a:r>
              <a:rPr lang="en-US" sz="2400" b="1" dirty="0" smtClean="0"/>
              <a:t>set HEAP=-</a:t>
            </a:r>
            <a:r>
              <a:rPr lang="en-US" sz="2400" b="1" dirty="0" smtClean="0"/>
              <a:t>Xms</a:t>
            </a:r>
            <a:r>
              <a:rPr lang="en-US" sz="2400" b="1" dirty="0" smtClean="0">
                <a:solidFill>
                  <a:srgbClr val="C00000"/>
                </a:solidFill>
              </a:rPr>
              <a:t>4g</a:t>
            </a:r>
            <a:r>
              <a:rPr lang="en-US" sz="2400" b="1" dirty="0" smtClean="0"/>
              <a:t> </a:t>
            </a:r>
            <a:r>
              <a:rPr lang="en-US" sz="2400" b="1" dirty="0" smtClean="0"/>
              <a:t>-</a:t>
            </a:r>
            <a:r>
              <a:rPr lang="en-US" sz="2400" b="1" dirty="0" smtClean="0"/>
              <a:t>Xmx</a:t>
            </a:r>
            <a:r>
              <a:rPr lang="en-US" sz="2400" b="1" dirty="0" smtClean="0">
                <a:solidFill>
                  <a:srgbClr val="C00000"/>
                </a:solidFill>
              </a:rPr>
              <a:t>6g</a:t>
            </a:r>
            <a:r>
              <a:rPr lang="en-US" sz="2400" b="1" dirty="0" smtClean="0"/>
              <a:t> </a:t>
            </a:r>
            <a:r>
              <a:rPr lang="en-US" sz="2400" b="1" dirty="0" smtClean="0"/>
              <a:t>-</a:t>
            </a:r>
            <a:r>
              <a:rPr lang="en-US" sz="2400" b="1" dirty="0" err="1" smtClean="0"/>
              <a:t>XX:MaxMetaspaceSize</a:t>
            </a:r>
            <a:r>
              <a:rPr lang="en-US" sz="2400" b="1" dirty="0" smtClean="0"/>
              <a:t>=</a:t>
            </a:r>
            <a:r>
              <a:rPr lang="en-US" sz="2400" b="1" dirty="0" smtClean="0">
                <a:solidFill>
                  <a:srgbClr val="C00000"/>
                </a:solidFill>
              </a:rPr>
              <a:t>1024m</a:t>
            </a:r>
          </a:p>
          <a:p>
            <a:r>
              <a:rPr lang="en-US" sz="2400" dirty="0" smtClean="0"/>
              <a:t>Save the file and restart </a:t>
            </a:r>
            <a:r>
              <a:rPr lang="en-US" sz="2400" dirty="0" err="1" smtClean="0"/>
              <a:t>JMeter</a:t>
            </a:r>
            <a:r>
              <a:rPr lang="en-US" sz="2400" dirty="0" smtClean="0"/>
              <a:t>.</a:t>
            </a:r>
            <a:endParaRPr lang="en-US" sz="2200" dirty="0" smtClean="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Run </a:t>
            </a:r>
            <a:r>
              <a:rPr lang="en-US" dirty="0" err="1" smtClean="0"/>
              <a:t>JMeter</a:t>
            </a:r>
            <a:r>
              <a:rPr lang="en-US" dirty="0" smtClean="0"/>
              <a:t> in CLI Mode</a:t>
            </a:r>
            <a:endParaRPr lang="en-US" dirty="0"/>
          </a:p>
        </p:txBody>
      </p:sp>
      <p:sp>
        <p:nvSpPr>
          <p:cNvPr id="3" name="Content Placeholder 2"/>
          <p:cNvSpPr>
            <a:spLocks noGrp="1"/>
          </p:cNvSpPr>
          <p:nvPr>
            <p:ph idx="1"/>
          </p:nvPr>
        </p:nvSpPr>
        <p:spPr/>
        <p:txBody>
          <a:bodyPr/>
          <a:lstStyle/>
          <a:p>
            <a:r>
              <a:rPr lang="pt-BR" sz="2400" dirty="0" smtClean="0"/>
              <a:t>cd C:\Users\sfuadmin\Downloads\apache-jmeter-5.6.3\bin</a:t>
            </a:r>
            <a:endParaRPr lang="pt-BR" sz="2400" dirty="0" smtClean="0"/>
          </a:p>
          <a:p>
            <a:r>
              <a:rPr lang="pt-BR" sz="2400" dirty="0" smtClean="0"/>
              <a:t>mkdir report</a:t>
            </a:r>
          </a:p>
          <a:p>
            <a:r>
              <a:rPr lang="pt-BR" sz="2400" dirty="0" smtClean="0"/>
              <a:t>del </a:t>
            </a:r>
            <a:r>
              <a:rPr lang="pt-BR" sz="2400" dirty="0" smtClean="0"/>
              <a:t>results.jtl</a:t>
            </a:r>
            <a:endParaRPr lang="pt-BR" sz="2400" dirty="0" smtClean="0"/>
          </a:p>
          <a:p>
            <a:r>
              <a:rPr lang="pt-BR" sz="2400" dirty="0" smtClean="0"/>
              <a:t>jmeter </a:t>
            </a:r>
            <a:r>
              <a:rPr lang="pt-BR" sz="2400" dirty="0" smtClean="0"/>
              <a:t>-n -t </a:t>
            </a:r>
            <a:r>
              <a:rPr lang="pt-BR" sz="2400" dirty="0" smtClean="0"/>
              <a:t>api-soap-api-5000.jmx </a:t>
            </a:r>
            <a:r>
              <a:rPr lang="pt-BR" sz="2400" dirty="0" smtClean="0"/>
              <a:t>-l results.jtl -e -o </a:t>
            </a:r>
            <a:r>
              <a:rPr lang="pt-BR" sz="2400" dirty="0" smtClean="0"/>
              <a:t>report</a:t>
            </a:r>
          </a:p>
          <a:p>
            <a:r>
              <a:rPr lang="pt-BR" sz="2400" b="1" dirty="0" smtClean="0"/>
              <a:t># Maximaze the cmd windows if it seems not to respond.</a:t>
            </a:r>
          </a:p>
          <a:p>
            <a:endParaRPr lang="en-US" sz="2400" dirty="0" smtClean="0"/>
          </a:p>
        </p:txBody>
      </p:sp>
      <p:pic>
        <p:nvPicPr>
          <p:cNvPr id="5123" name="Picture 3"/>
          <p:cNvPicPr>
            <a:picLocks noChangeAspect="1" noChangeArrowheads="1"/>
          </p:cNvPicPr>
          <p:nvPr/>
        </p:nvPicPr>
        <p:blipFill>
          <a:blip r:embed="rId2" cstate="print"/>
          <a:srcRect/>
          <a:stretch>
            <a:fillRect/>
          </a:stretch>
        </p:blipFill>
        <p:spPr bwMode="auto">
          <a:xfrm>
            <a:off x="762000" y="4130675"/>
            <a:ext cx="7620000" cy="1584325"/>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JMeter</a:t>
            </a:r>
            <a:r>
              <a:rPr lang="en-US" dirty="0" smtClean="0"/>
              <a:t> vs. </a:t>
            </a:r>
            <a:r>
              <a:rPr lang="en-US" dirty="0" smtClean="0"/>
              <a:t>Locust: Performance and Resource Usage</a:t>
            </a:r>
            <a:endParaRPr lang="en-US" dirty="0"/>
          </a:p>
        </p:txBody>
      </p:sp>
      <p:sp>
        <p:nvSpPr>
          <p:cNvPr id="3" name="Content Placeholder 2"/>
          <p:cNvSpPr>
            <a:spLocks noGrp="1"/>
          </p:cNvSpPr>
          <p:nvPr>
            <p:ph idx="1"/>
          </p:nvPr>
        </p:nvSpPr>
        <p:spPr/>
        <p:txBody>
          <a:bodyPr/>
          <a:lstStyle/>
          <a:p>
            <a:r>
              <a:rPr lang="en-US" sz="2400" dirty="0" smtClean="0">
                <a:hlinkClick r:id="rId2"/>
              </a:rPr>
              <a:t>https://locust.io</a:t>
            </a:r>
            <a:r>
              <a:rPr lang="en-US" sz="2400" dirty="0" smtClean="0">
                <a:hlinkClick r:id="rId2"/>
              </a:rPr>
              <a:t>/</a:t>
            </a:r>
            <a:endParaRPr lang="en-US" sz="2400" dirty="0" smtClean="0"/>
          </a:p>
          <a:p>
            <a:r>
              <a:rPr lang="en-US" sz="2400" dirty="0" err="1" smtClean="0"/>
              <a:t>JMeter</a:t>
            </a:r>
            <a:r>
              <a:rPr lang="en-US" sz="2400" dirty="0" smtClean="0"/>
              <a:t> uses a multi-threaded model where each virtual user (VU) is represented by a separate thread. Due to its thread-based architecture, </a:t>
            </a:r>
            <a:r>
              <a:rPr lang="en-US" sz="2400" dirty="0" err="1" smtClean="0"/>
              <a:t>JMeter</a:t>
            </a:r>
            <a:r>
              <a:rPr lang="en-US" sz="2400" dirty="0" smtClean="0"/>
              <a:t> can consume significant system resources (especially memory and CPU) when simulating a large number of users.</a:t>
            </a:r>
            <a:endParaRPr lang="en-US" sz="2400" dirty="0" smtClean="0"/>
          </a:p>
          <a:p>
            <a:r>
              <a:rPr lang="en-US" sz="2400" dirty="0" smtClean="0"/>
              <a:t>Locust uses an event-driven approach. It is based on </a:t>
            </a:r>
            <a:r>
              <a:rPr lang="en-US" sz="2400" b="1" dirty="0" err="1" smtClean="0"/>
              <a:t>gevent</a:t>
            </a:r>
            <a:r>
              <a:rPr lang="en-US" sz="2400" dirty="0" smtClean="0"/>
              <a:t>, which allows asynchronous tasks to run concurrently without blocking. This makes Locust more efficient in simulating a large number of virtual users with fewer resources.</a:t>
            </a:r>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JMeter</a:t>
            </a:r>
            <a:r>
              <a:rPr lang="en-US" dirty="0" smtClean="0"/>
              <a:t> vs. Locust: </a:t>
            </a:r>
            <a:r>
              <a:rPr lang="en-US" dirty="0" smtClean="0"/>
              <a:t>Supported </a:t>
            </a:r>
            <a:r>
              <a:rPr lang="en-US" dirty="0" smtClean="0"/>
              <a:t>Protocols</a:t>
            </a:r>
            <a:endParaRPr lang="en-US" dirty="0"/>
          </a:p>
        </p:txBody>
      </p:sp>
      <p:sp>
        <p:nvSpPr>
          <p:cNvPr id="3" name="Content Placeholder 2"/>
          <p:cNvSpPr>
            <a:spLocks noGrp="1"/>
          </p:cNvSpPr>
          <p:nvPr>
            <p:ph idx="1"/>
          </p:nvPr>
        </p:nvSpPr>
        <p:spPr/>
        <p:txBody>
          <a:bodyPr/>
          <a:lstStyle/>
          <a:p>
            <a:r>
              <a:rPr lang="en-US" sz="2400" dirty="0" err="1" smtClean="0"/>
              <a:t>JMeter</a:t>
            </a:r>
            <a:r>
              <a:rPr lang="en-US" sz="2400" dirty="0" smtClean="0"/>
              <a:t> supports a wide range of protocols out of the box, including HTTP, HTTPS, FTP, JMS, JDBC, SOAP, REST, SMTP, POP3, </a:t>
            </a:r>
            <a:r>
              <a:rPr lang="en-US" sz="2400" dirty="0" smtClean="0"/>
              <a:t>IMAP.</a:t>
            </a:r>
          </a:p>
          <a:p>
            <a:r>
              <a:rPr lang="en-US" sz="2400" dirty="0" smtClean="0"/>
              <a:t>Locust is mainly designed for HTTP-based load testing (REST APIs, web apps), though custom code can be added to support other protocols</a:t>
            </a:r>
            <a:r>
              <a:rPr lang="en-US" sz="2400" dirty="0" smtClean="0"/>
              <a:t>.</a:t>
            </a:r>
          </a:p>
          <a:p>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JMeter</a:t>
            </a:r>
            <a:r>
              <a:rPr lang="en-US" dirty="0" smtClean="0"/>
              <a:t> vs. Locust: </a:t>
            </a:r>
            <a:r>
              <a:rPr lang="en-US" dirty="0" smtClean="0"/>
              <a:t>Reporting </a:t>
            </a:r>
            <a:r>
              <a:rPr lang="en-US" dirty="0" smtClean="0"/>
              <a:t>and Analytics</a:t>
            </a:r>
            <a:endParaRPr lang="en-US" dirty="0"/>
          </a:p>
        </p:txBody>
      </p:sp>
      <p:sp>
        <p:nvSpPr>
          <p:cNvPr id="3" name="Content Placeholder 2"/>
          <p:cNvSpPr>
            <a:spLocks noGrp="1"/>
          </p:cNvSpPr>
          <p:nvPr>
            <p:ph idx="1"/>
          </p:nvPr>
        </p:nvSpPr>
        <p:spPr/>
        <p:txBody>
          <a:bodyPr/>
          <a:lstStyle/>
          <a:p>
            <a:r>
              <a:rPr lang="en-US" sz="2400" dirty="0" err="1" smtClean="0"/>
              <a:t>JMeter</a:t>
            </a:r>
            <a:r>
              <a:rPr lang="en-US" sz="2400" dirty="0" smtClean="0"/>
              <a:t> provides comprehensive built-in reporting, including graphs, tables, and other visual components. It also supports generating HTML reports after a test run, which provides detailed performance data. You can export results to CSV, XML, and JTL files for further analysis.</a:t>
            </a:r>
            <a:endParaRPr lang="en-US" sz="2400" dirty="0" smtClean="0"/>
          </a:p>
          <a:p>
            <a:r>
              <a:rPr lang="en-US" sz="2400" dirty="0" smtClean="0"/>
              <a:t>Locust provides real-time statistics during the test run through its web interface (requests per second, response times, failure rates, etc.). After the test, results can be exported to CSV for further analysis, but it does not have as many built-in reporting features as </a:t>
            </a:r>
            <a:r>
              <a:rPr lang="en-US" sz="2400" dirty="0" err="1" smtClean="0"/>
              <a:t>JMeter</a:t>
            </a:r>
            <a:r>
              <a:rPr lang="en-US" sz="2400" dirty="0" smtClean="0"/>
              <a:t>.</a:t>
            </a:r>
            <a:endParaRPr lang="en-US" sz="2400" dirty="0" smtClean="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a:t>
            </a:r>
            <a:r>
              <a:rPr lang="en-US" smtClean="0"/>
              <a:t>You Again</a:t>
            </a:r>
            <a:endParaRPr lang="en-US" dirty="0" smtClean="0"/>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15629</TotalTime>
  <Words>761</Words>
  <Application>Microsoft Office PowerPoint</Application>
  <PresentationFormat>On-screen Show (4:3)</PresentationFormat>
  <Paragraphs>77</Paragraphs>
  <Slides>33</Slides>
  <Notes>0</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Office Theme</vt:lpstr>
      <vt:lpstr>Load Testing Tools</vt:lpstr>
      <vt:lpstr>Objectives</vt:lpstr>
      <vt:lpstr>Contents</vt:lpstr>
      <vt:lpstr>References</vt:lpstr>
      <vt:lpstr>1. Install JDK 24 on Windows</vt:lpstr>
      <vt:lpstr>2. Add JAVA_HOME Variable</vt:lpstr>
      <vt:lpstr>3. Verify JAVA_HOME Variable</vt:lpstr>
      <vt:lpstr>4. Download and Unzip JMeter</vt:lpstr>
      <vt:lpstr>5. Run Jmeter (jmeter.bat)</vt:lpstr>
      <vt:lpstr>Slide 10</vt:lpstr>
      <vt:lpstr>1. Create a Web Test Plan </vt:lpstr>
      <vt:lpstr>2. Remove Scenario 1</vt:lpstr>
      <vt:lpstr>3. Add Thread Group</vt:lpstr>
      <vt:lpstr>4. Configure Thread Group</vt:lpstr>
      <vt:lpstr>5. Add HTTP Request Defaults</vt:lpstr>
      <vt:lpstr>6. Configure HTTP Request Defaults</vt:lpstr>
      <vt:lpstr>7. Add HTTP Cookie Manager</vt:lpstr>
      <vt:lpstr>7. Add HTTP Request Sample</vt:lpstr>
      <vt:lpstr>8. Configure the HTTP Request</vt:lpstr>
      <vt:lpstr>9. Run the Test and View Results</vt:lpstr>
      <vt:lpstr>Slide 21</vt:lpstr>
      <vt:lpstr>1. Create a WebService Test Plan </vt:lpstr>
      <vt:lpstr>2. Enter Server Name or IP</vt:lpstr>
      <vt:lpstr>3. Enter Soap Request Information</vt:lpstr>
      <vt:lpstr>Slide 25</vt:lpstr>
      <vt:lpstr>why should we run jmeter load testing in cli instead of gui mode?</vt:lpstr>
      <vt:lpstr>1. Modify the HEAP environment variable in JMeter's batch file</vt:lpstr>
      <vt:lpstr>2. Run JMeter in CLI Mode</vt:lpstr>
      <vt:lpstr>Slide 29</vt:lpstr>
      <vt:lpstr>JMeter vs. Locust: Performance and Resource Usage</vt:lpstr>
      <vt:lpstr>JMeter vs. Locust: Supported Protocols</vt:lpstr>
      <vt:lpstr>JMeter vs. Locust: Reporting and Analytics</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4939</cp:revision>
  <dcterms:created xsi:type="dcterms:W3CDTF">2007-10-06T08:25:13Z</dcterms:created>
  <dcterms:modified xsi:type="dcterms:W3CDTF">2025-04-01T20:46:05Z</dcterms:modified>
</cp:coreProperties>
</file>