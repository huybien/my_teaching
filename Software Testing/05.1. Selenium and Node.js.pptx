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15"/>
  </p:notesMasterIdLst>
  <p:sldIdLst>
    <p:sldId id="256" r:id="rId2"/>
    <p:sldId id="465" r:id="rId3"/>
    <p:sldId id="466" r:id="rId4"/>
    <p:sldId id="467" r:id="rId5"/>
    <p:sldId id="474" r:id="rId6"/>
    <p:sldId id="468" r:id="rId7"/>
    <p:sldId id="469" r:id="rId8"/>
    <p:sldId id="471" r:id="rId9"/>
    <p:sldId id="470" r:id="rId10"/>
    <p:sldId id="472" r:id="rId11"/>
    <p:sldId id="473" r:id="rId12"/>
    <p:sldId id="475" r:id="rId13"/>
    <p:sldId id="343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55" autoAdjust="0"/>
    <p:restoredTop sz="94585" autoAdjust="0"/>
  </p:normalViewPr>
  <p:slideViewPr>
    <p:cSldViewPr>
      <p:cViewPr>
        <p:scale>
          <a:sx n="50" d="100"/>
          <a:sy n="50" d="100"/>
        </p:scale>
        <p:origin x="-1586" y="-3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33D5C3-0820-4FAB-ABA1-6D9651D57222}" type="datetimeFigureOut">
              <a:rPr lang="en-US" smtClean="0"/>
              <a:pPr/>
              <a:t>6/14/2021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560AE-83EB-4E74-ABFC-279D183C468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6/14/2021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6/14/2021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6/14/2021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6/14/2021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6/14/2021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6/14/2021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6/14/2021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6/14/2021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6/14/2021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6/14/2021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6/14/2021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6/14/2021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ambdatest.com/blog/jest-tutorial-for-selenium-javascript-testing-with-examples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Selenium and Node.js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4495799"/>
          </a:xfrm>
        </p:spPr>
        <p:txBody>
          <a:bodyPr/>
          <a:lstStyle/>
          <a:p>
            <a:pPr marL="514350" indent="-514350">
              <a:buFont typeface="Wingdings" pitchFamily="2" charset="2"/>
              <a:buChar char="Ø"/>
            </a:pPr>
            <a:endParaRPr lang="en-US" sz="2600" i="1" dirty="0" smtClean="0">
              <a:solidFill>
                <a:srgbClr val="C000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2819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8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5638800" cy="4876800"/>
          </a:xfrm>
        </p:spPr>
        <p:txBody>
          <a:bodyPr/>
          <a:lstStyle/>
          <a:p>
            <a:pPr>
              <a:buFont typeface="+mj-lt"/>
              <a:buAutoNum type="arabicPeriod"/>
            </a:pPr>
            <a:endParaRPr lang="en-US" sz="22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Jest?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https://www.lambdatest.com/blog/jest-tutorial-for-selenium-javascript-testing-with-examples/</a:t>
            </a:r>
            <a:endParaRPr lang="en-US" sz="2200" dirty="0" smtClean="0"/>
          </a:p>
          <a:p>
            <a:r>
              <a:rPr lang="en-US" sz="2200" dirty="0" smtClean="0"/>
              <a:t>Developed by </a:t>
            </a:r>
            <a:r>
              <a:rPr lang="en-US" sz="2200" dirty="0" err="1" smtClean="0"/>
              <a:t>Facebook</a:t>
            </a:r>
            <a:r>
              <a:rPr lang="en-US" sz="2200" dirty="0" smtClean="0"/>
              <a:t>, </a:t>
            </a:r>
            <a:r>
              <a:rPr lang="en-US" sz="2200" i="1" dirty="0" smtClean="0">
                <a:solidFill>
                  <a:srgbClr val="C00000"/>
                </a:solidFill>
              </a:rPr>
              <a:t>Jest</a:t>
            </a:r>
            <a:r>
              <a:rPr lang="en-US" sz="2200" dirty="0" smtClean="0"/>
              <a:t> is an </a:t>
            </a:r>
            <a:r>
              <a:rPr lang="en-US" sz="2200" u="sng" dirty="0" smtClean="0"/>
              <a:t>open-source testing framework</a:t>
            </a:r>
            <a:r>
              <a:rPr lang="en-US" sz="2200" dirty="0" smtClean="0"/>
              <a:t> built on JavaScript, designed majorly to React and React Native based web applications.</a:t>
            </a:r>
          </a:p>
          <a:p>
            <a:r>
              <a:rPr lang="en-US" sz="2200" dirty="0" smtClean="0"/>
              <a:t>Jest can be used to validate almost </a:t>
            </a:r>
            <a:r>
              <a:rPr lang="en-US" sz="2200" i="1" dirty="0" smtClean="0">
                <a:solidFill>
                  <a:srgbClr val="C00000"/>
                </a:solidFill>
              </a:rPr>
              <a:t>everything around JavaScript</a:t>
            </a:r>
            <a:r>
              <a:rPr lang="en-US" sz="2200" dirty="0" smtClean="0"/>
              <a:t>, especially the browser rendering of your web-applications.</a:t>
            </a:r>
          </a:p>
          <a:p>
            <a:r>
              <a:rPr lang="en-US" sz="2200" dirty="0" smtClean="0"/>
              <a:t>Jest is compatible to </a:t>
            </a:r>
            <a:r>
              <a:rPr lang="en-US" sz="2200" i="1" dirty="0" smtClean="0">
                <a:solidFill>
                  <a:srgbClr val="C00000"/>
                </a:solidFill>
              </a:rPr>
              <a:t>test any JavaScript Library Projects</a:t>
            </a:r>
            <a:r>
              <a:rPr lang="en-US" sz="2200" dirty="0" smtClean="0"/>
              <a:t> such as </a:t>
            </a:r>
            <a:r>
              <a:rPr lang="en-US" sz="2200" dirty="0" err="1" smtClean="0"/>
              <a:t>AngularJS</a:t>
            </a:r>
            <a:r>
              <a:rPr lang="en-US" sz="2200" dirty="0" smtClean="0"/>
              <a:t>, </a:t>
            </a:r>
            <a:r>
              <a:rPr lang="en-US" sz="2200" dirty="0" err="1" smtClean="0"/>
              <a:t>Vue</a:t>
            </a:r>
            <a:r>
              <a:rPr lang="en-US" sz="2200" dirty="0" smtClean="0"/>
              <a:t> JS, Node JS, Babel and </a:t>
            </a:r>
            <a:r>
              <a:rPr lang="en-US" sz="2200" dirty="0" err="1" smtClean="0"/>
              <a:t>TypeScript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Jest is a preferred framework for </a:t>
            </a:r>
            <a:r>
              <a:rPr lang="en-US" sz="2200" i="1" dirty="0" smtClean="0">
                <a:solidFill>
                  <a:srgbClr val="C00000"/>
                </a:solidFill>
              </a:rPr>
              <a:t>automated browser testing</a:t>
            </a:r>
            <a:r>
              <a:rPr lang="en-US" sz="2200" dirty="0" smtClean="0"/>
              <a:t> too.</a:t>
            </a:r>
          </a:p>
          <a:p>
            <a:r>
              <a:rPr lang="en-US" sz="2200" dirty="0" smtClean="0"/>
              <a:t>Jest also provides an excellent blended package of an assertion library along with a test runner and a built-in mocking library.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mkdir</a:t>
            </a:r>
            <a:r>
              <a:rPr lang="en-US" sz="2400" dirty="0" smtClean="0">
                <a:latin typeface="Consolas" pitchFamily="49" charset="0"/>
              </a:rPr>
              <a:t> </a:t>
            </a:r>
            <a:r>
              <a:rPr lang="en-US" sz="2400" dirty="0" err="1" smtClean="0">
                <a:latin typeface="Consolas" pitchFamily="49" charset="0"/>
              </a:rPr>
              <a:t>selenium_nodejs_test</a:t>
            </a:r>
            <a:endParaRPr lang="en-US" sz="2400" dirty="0" smtClean="0">
              <a:latin typeface="Consolas" pitchFamily="49" charset="0"/>
            </a:endParaRPr>
          </a:p>
          <a:p>
            <a:r>
              <a:rPr lang="en-US" sz="2400" dirty="0" err="1" smtClean="0">
                <a:latin typeface="Consolas" pitchFamily="49" charset="0"/>
              </a:rPr>
              <a:t>cd</a:t>
            </a:r>
            <a:r>
              <a:rPr lang="en-US" sz="2400" dirty="0" smtClean="0">
                <a:latin typeface="Consolas" pitchFamily="49" charset="0"/>
              </a:rPr>
              <a:t> </a:t>
            </a:r>
            <a:r>
              <a:rPr lang="en-US" sz="2400" dirty="0" err="1" smtClean="0">
                <a:latin typeface="Consolas" pitchFamily="49" charset="0"/>
              </a:rPr>
              <a:t>selenium_nodejs_test</a:t>
            </a:r>
            <a:endParaRPr lang="en-US" sz="2400" dirty="0" smtClean="0">
              <a:latin typeface="Consolas" pitchFamily="49" charset="0"/>
            </a:endParaRPr>
          </a:p>
          <a:p>
            <a:r>
              <a:rPr lang="en-US" sz="2400" dirty="0" err="1" smtClean="0">
                <a:latin typeface="Consolas" pitchFamily="49" charset="0"/>
              </a:rPr>
              <a:t>npm</a:t>
            </a:r>
            <a:r>
              <a:rPr lang="en-US" sz="2400" dirty="0" smtClean="0">
                <a:latin typeface="Consolas" pitchFamily="49" charset="0"/>
              </a:rPr>
              <a:t> init -y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npm</a:t>
            </a:r>
            <a:r>
              <a:rPr lang="en-US" sz="2400" dirty="0" smtClean="0">
                <a:latin typeface="Consolas" pitchFamily="49" charset="0"/>
              </a:rPr>
              <a:t> install -g jest</a:t>
            </a:r>
          </a:p>
          <a:p>
            <a:r>
              <a:rPr lang="en-US" sz="2400" dirty="0" err="1" smtClean="0">
                <a:latin typeface="Consolas" pitchFamily="49" charset="0"/>
              </a:rPr>
              <a:t>npm</a:t>
            </a:r>
            <a:r>
              <a:rPr lang="en-US" sz="2400" dirty="0" smtClean="0">
                <a:latin typeface="Consolas" pitchFamily="49" charset="0"/>
              </a:rPr>
              <a:t> install --save-dev jest</a:t>
            </a:r>
          </a:p>
          <a:p>
            <a:r>
              <a:rPr lang="en-US" sz="2400" dirty="0" err="1" smtClean="0">
                <a:latin typeface="Consolas" pitchFamily="49" charset="0"/>
              </a:rPr>
              <a:t>npm</a:t>
            </a:r>
            <a:r>
              <a:rPr lang="en-US" sz="2400" dirty="0" smtClean="0">
                <a:latin typeface="Consolas" pitchFamily="49" charset="0"/>
              </a:rPr>
              <a:t> install selenium-</a:t>
            </a:r>
            <a:r>
              <a:rPr lang="en-US" sz="2400" dirty="0" err="1" smtClean="0">
                <a:latin typeface="Consolas" pitchFamily="49" charset="0"/>
              </a:rPr>
              <a:t>webdriver</a:t>
            </a:r>
            <a:r>
              <a:rPr lang="en-US" sz="2400" dirty="0" smtClean="0">
                <a:latin typeface="Consolas" pitchFamily="49" charset="0"/>
              </a:rPr>
              <a:t> –save</a:t>
            </a:r>
          </a:p>
          <a:p>
            <a:r>
              <a:rPr lang="en-US" sz="2400" dirty="0" err="1" smtClean="0">
                <a:latin typeface="Consolas" pitchFamily="49" charset="0"/>
              </a:rPr>
              <a:t>npm</a:t>
            </a:r>
            <a:r>
              <a:rPr lang="en-US" sz="2400" dirty="0" smtClean="0">
                <a:latin typeface="Consolas" pitchFamily="49" charset="0"/>
              </a:rPr>
              <a:t> install -g </a:t>
            </a:r>
            <a:r>
              <a:rPr lang="en-US" sz="2400" dirty="0" err="1" smtClean="0">
                <a:latin typeface="Consolas" pitchFamily="49" charset="0"/>
              </a:rPr>
              <a:t>chromedriver</a:t>
            </a:r>
            <a:endParaRPr lang="en-US" sz="2400" dirty="0" smtClean="0">
              <a:latin typeface="Consolas" pitchFamily="49" charset="0"/>
            </a:endParaRPr>
          </a:p>
          <a:p>
            <a:r>
              <a:rPr lang="en-US" sz="2400" dirty="0" err="1" smtClean="0">
                <a:latin typeface="Consolas" pitchFamily="49" charset="0"/>
              </a:rPr>
              <a:t>npm</a:t>
            </a:r>
            <a:r>
              <a:rPr lang="en-US" sz="2400" dirty="0" smtClean="0">
                <a:latin typeface="Consolas" pitchFamily="49" charset="0"/>
              </a:rPr>
              <a:t> install </a:t>
            </a:r>
            <a:r>
              <a:rPr lang="en-US" sz="2400" dirty="0" err="1" smtClean="0">
                <a:latin typeface="Consolas" pitchFamily="49" charset="0"/>
              </a:rPr>
              <a:t>fs</a:t>
            </a:r>
            <a:r>
              <a:rPr lang="en-US" sz="2400" dirty="0" smtClean="0">
                <a:latin typeface="Consolas" pitchFamily="49" charset="0"/>
              </a:rPr>
              <a:t> --save</a:t>
            </a:r>
          </a:p>
          <a:p>
            <a:r>
              <a:rPr lang="en-US" sz="2400" b="1" dirty="0" smtClean="0">
                <a:latin typeface="Consolas" pitchFamily="49" charset="0"/>
              </a:rPr>
              <a:t>‘-g’</a:t>
            </a:r>
            <a:r>
              <a:rPr lang="en-US" sz="2400" dirty="0" smtClean="0"/>
              <a:t>: It indicates the </a:t>
            </a:r>
            <a:r>
              <a:rPr lang="en-US" sz="2400" dirty="0" err="1" smtClean="0"/>
              <a:t>npm</a:t>
            </a:r>
            <a:r>
              <a:rPr lang="en-US" sz="2400" dirty="0" smtClean="0"/>
              <a:t> to install the module globally, and allows us to access and use the module like a command line tool and does not limit its use to the current project.</a:t>
            </a:r>
          </a:p>
          <a:p>
            <a:r>
              <a:rPr lang="en-US" sz="2400" b="1" dirty="0" smtClean="0">
                <a:latin typeface="Consolas" pitchFamily="49" charset="0"/>
              </a:rPr>
              <a:t>‘--save-dev’</a:t>
            </a:r>
            <a:r>
              <a:rPr lang="en-US" sz="2400" dirty="0" smtClean="0"/>
              <a:t>: It indicates the </a:t>
            </a:r>
            <a:r>
              <a:rPr lang="en-US" sz="2400" dirty="0" err="1" smtClean="0"/>
              <a:t>npm</a:t>
            </a:r>
            <a:r>
              <a:rPr lang="en-US" sz="2400" dirty="0" smtClean="0"/>
              <a:t> to place the Jest executable in the bin folder of the root directory i.e. </a:t>
            </a:r>
            <a:r>
              <a:rPr lang="en-US" sz="2400" b="1" dirty="0" smtClean="0">
                <a:latin typeface="Consolas" pitchFamily="49" charset="0"/>
              </a:rPr>
              <a:t>./</a:t>
            </a:r>
            <a:r>
              <a:rPr lang="en-US" sz="2400" b="1" dirty="0" err="1" smtClean="0">
                <a:latin typeface="Consolas" pitchFamily="49" charset="0"/>
              </a:rPr>
              <a:t>node_modules</a:t>
            </a:r>
            <a:r>
              <a:rPr lang="en-US" sz="2400" b="1" dirty="0" smtClean="0">
                <a:latin typeface="Consolas" pitchFamily="49" charset="0"/>
              </a:rPr>
              <a:t>/.bin</a:t>
            </a:r>
            <a:r>
              <a:rPr lang="en-US" sz="2400" dirty="0" smtClean="0"/>
              <a:t> folder</a:t>
            </a:r>
            <a:endParaRPr lang="en-US" sz="24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Enable </a:t>
            </a:r>
            <a:r>
              <a:rPr lang="en-US" dirty="0" smtClean="0">
                <a:latin typeface="Consolas" pitchFamily="49" charset="0"/>
              </a:rPr>
              <a:t>jest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/>
          <a:lstStyle/>
          <a:p>
            <a:pPr>
              <a:buNone/>
            </a:pP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buNone/>
            </a:pP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"name"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: 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1400" dirty="0" err="1" smtClean="0">
                <a:solidFill>
                  <a:srgbClr val="CE9178"/>
                </a:solidFill>
                <a:latin typeface="Consolas"/>
              </a:rPr>
              <a:t>selenium_nodejs_test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buNone/>
            </a:pP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"version"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: 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"1.0.0"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buNone/>
            </a:pP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"description"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: 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buNone/>
            </a:pP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"main"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: 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"index.js"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buNone/>
            </a:pP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"scripts"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: {</a:t>
            </a:r>
          </a:p>
          <a:p>
            <a:pPr>
              <a:buNone/>
            </a:pP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"test"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: 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"jest"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pPr>
              <a:buNone/>
            </a:pP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},</a:t>
            </a:r>
          </a:p>
          <a:p>
            <a:pPr>
              <a:buNone/>
            </a:pP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"keywords"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: [],</a:t>
            </a:r>
          </a:p>
          <a:p>
            <a:pPr>
              <a:buNone/>
            </a:pP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"author"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: 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buNone/>
            </a:pP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"license"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: 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"ISC"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buNone/>
            </a:pP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"dependencies"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: {</a:t>
            </a:r>
          </a:p>
          <a:p>
            <a:pPr>
              <a:buNone/>
            </a:pP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"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fs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: 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"0.0.1-security"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buNone/>
            </a:pP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"jest"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: 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"^26.6.3"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buNone/>
            </a:pP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"selenium-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webdriver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: 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"^4.0.0-beta.3"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pPr>
              <a:buNone/>
            </a:pP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}</a:t>
            </a:r>
          </a:p>
          <a:p>
            <a:pPr>
              <a:buNone/>
            </a:pP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4" name="Left Arrow 3"/>
          <p:cNvSpPr/>
          <p:nvPr/>
        </p:nvSpPr>
        <p:spPr>
          <a:xfrm>
            <a:off x="2590800" y="2667000"/>
            <a:ext cx="762000" cy="1219200"/>
          </a:xfrm>
          <a:prstGeom prst="left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810000" y="2438400"/>
            <a:ext cx="4572000" cy="16312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sz="2000" dirty="0" smtClean="0"/>
              <a:t>Jest picks up tests located under __tests__ folder or any file with the name .test included in it.</a:t>
            </a:r>
          </a:p>
          <a:p>
            <a:r>
              <a:rPr lang="en-US" sz="2000" dirty="0" smtClean="0"/>
              <a:t>Our test file is going to include .test so that jest picks up the file for execution.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Test Code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</a:rPr>
              <a:t>type </a:t>
            </a:r>
            <a:r>
              <a:rPr lang="en-US" sz="2400" dirty="0" err="1" smtClean="0">
                <a:latin typeface="Consolas" pitchFamily="49" charset="0"/>
              </a:rPr>
              <a:t>nul</a:t>
            </a:r>
            <a:r>
              <a:rPr lang="en-US" sz="2400" dirty="0" smtClean="0">
                <a:latin typeface="Consolas" pitchFamily="49" charset="0"/>
              </a:rPr>
              <a:t> &gt; </a:t>
            </a:r>
            <a:r>
              <a:rPr lang="en-US" sz="2400" dirty="0" err="1" smtClean="0">
                <a:latin typeface="Consolas" pitchFamily="49" charset="0"/>
              </a:rPr>
              <a:t>google.test.js</a:t>
            </a:r>
            <a:endParaRPr lang="en-US" sz="2400" dirty="0" smtClean="0">
              <a:latin typeface="Consolas" pitchFamily="49" charset="0"/>
            </a:endParaRPr>
          </a:p>
          <a:p>
            <a:endParaRPr lang="en-US" sz="2400" dirty="0" smtClean="0">
              <a:latin typeface="Consolas" pitchFamily="49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609600" y="1524000"/>
            <a:ext cx="8229600" cy="4876800"/>
          </a:xfrm>
          <a:prstGeom prst="rect">
            <a:avLst/>
          </a:prstGeom>
          <a:ln w="38100" cap="flat" cmpd="sng" algn="ctr">
            <a:solidFill>
              <a:schemeClr val="lt1"/>
            </a:solidFill>
            <a:prstDash val="solid"/>
            <a:miter lim="800000"/>
            <a:headEnd/>
            <a:tailEnd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err="1" smtClean="0">
                <a:solidFill>
                  <a:srgbClr val="4EC9B0"/>
                </a:solidFill>
                <a:latin typeface="Consolas"/>
              </a:rPr>
              <a:t>fs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= 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require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'</a:t>
            </a:r>
            <a:r>
              <a:rPr lang="en-US" sz="1400" dirty="0" err="1" smtClean="0">
                <a:solidFill>
                  <a:srgbClr val="CE9178"/>
                </a:solidFill>
                <a:latin typeface="Consolas"/>
              </a:rPr>
              <a:t>fs'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require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'</a:t>
            </a:r>
            <a:r>
              <a:rPr lang="en-US" sz="1400" dirty="0" err="1" smtClean="0">
                <a:solidFill>
                  <a:srgbClr val="CE9178"/>
                </a:solidFill>
                <a:latin typeface="Consolas"/>
              </a:rPr>
              <a:t>chromedriver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'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4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describe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'test google.com'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, () 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=&gt;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{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{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sz="1400" dirty="0" smtClean="0">
                <a:solidFill>
                  <a:srgbClr val="4EC9B0"/>
                </a:solidFill>
                <a:latin typeface="Consolas"/>
              </a:rPr>
              <a:t>Builder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,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sz="1400" dirty="0" smtClean="0">
                <a:solidFill>
                  <a:srgbClr val="4EC9B0"/>
                </a:solidFill>
                <a:latin typeface="Consolas"/>
              </a:rPr>
              <a:t>By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,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sz="1400" dirty="0" smtClean="0">
                <a:solidFill>
                  <a:srgbClr val="4FC1FF"/>
                </a:solidFill>
                <a:latin typeface="Consolas"/>
              </a:rPr>
              <a:t>Key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,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sz="1400" dirty="0" smtClean="0">
                <a:solidFill>
                  <a:srgbClr val="4FC1FF"/>
                </a:solidFill>
                <a:latin typeface="Consolas"/>
              </a:rPr>
              <a:t>until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} = 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require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'selenium-</a:t>
            </a:r>
            <a:r>
              <a:rPr lang="en-US" sz="1400" dirty="0" err="1" smtClean="0">
                <a:solidFill>
                  <a:srgbClr val="CE9178"/>
                </a:solidFill>
                <a:latin typeface="Consolas"/>
              </a:rPr>
              <a:t>webdriver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'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4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4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driver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400" dirty="0" err="1" smtClean="0">
                <a:solidFill>
                  <a:srgbClr val="DCDCAA"/>
                </a:solidFill>
                <a:latin typeface="Consolas"/>
              </a:rPr>
              <a:t>beforeEach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(() 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=&gt;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{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driver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= 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new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smtClean="0">
                <a:solidFill>
                  <a:srgbClr val="4EC9B0"/>
                </a:solidFill>
                <a:latin typeface="Consolas"/>
              </a:rPr>
              <a:t>Builder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()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      .</a:t>
            </a:r>
            <a:r>
              <a:rPr lang="en-US" sz="1400" dirty="0" err="1" smtClean="0">
                <a:solidFill>
                  <a:srgbClr val="DCDCAA"/>
                </a:solidFill>
                <a:latin typeface="Consolas"/>
              </a:rPr>
              <a:t>forBrowser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'chrome'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      .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build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();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});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400" dirty="0" err="1" smtClean="0">
                <a:solidFill>
                  <a:srgbClr val="DCDCAA"/>
                </a:solidFill>
                <a:latin typeface="Consolas"/>
              </a:rPr>
              <a:t>afterEach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(() 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=&gt;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{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driver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 err="1" smtClean="0">
                <a:solidFill>
                  <a:srgbClr val="DCDCAA"/>
                </a:solidFill>
                <a:latin typeface="Consolas"/>
              </a:rPr>
              <a:t>quit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();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});</a:t>
            </a:r>
            <a:endParaRPr lang="en-US" sz="1400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Test Code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</a:rPr>
              <a:t>type </a:t>
            </a:r>
            <a:r>
              <a:rPr lang="en-US" sz="2400" dirty="0" err="1" smtClean="0">
                <a:latin typeface="Consolas" pitchFamily="49" charset="0"/>
              </a:rPr>
              <a:t>nul</a:t>
            </a:r>
            <a:r>
              <a:rPr lang="en-US" sz="2400" dirty="0" smtClean="0">
                <a:latin typeface="Consolas" pitchFamily="49" charset="0"/>
              </a:rPr>
              <a:t> &gt; </a:t>
            </a:r>
            <a:r>
              <a:rPr lang="en-US" sz="2400" dirty="0" err="1" smtClean="0">
                <a:latin typeface="Consolas" pitchFamily="49" charset="0"/>
              </a:rPr>
              <a:t>google.test.js</a:t>
            </a:r>
            <a:endParaRPr lang="en-US" sz="2400" dirty="0" smtClean="0">
              <a:latin typeface="Consolas" pitchFamily="49" charset="0"/>
            </a:endParaRPr>
          </a:p>
          <a:p>
            <a:endParaRPr lang="en-US" sz="2400" dirty="0" smtClean="0">
              <a:latin typeface="Consolas" pitchFamily="49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609600" y="1524000"/>
            <a:ext cx="8229600" cy="4876800"/>
          </a:xfrm>
          <a:prstGeom prst="rect">
            <a:avLst/>
          </a:prstGeom>
          <a:ln w="38100" cap="flat" cmpd="sng" algn="ctr">
            <a:solidFill>
              <a:schemeClr val="lt1"/>
            </a:solidFill>
            <a:prstDash val="solid"/>
            <a:miter lim="800000"/>
            <a:headEnd/>
            <a:tailEnd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it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'should open </a:t>
            </a:r>
            <a:r>
              <a:rPr lang="en-US" sz="1400" dirty="0" err="1" smtClean="0">
                <a:solidFill>
                  <a:srgbClr val="CE9178"/>
                </a:solidFill>
                <a:latin typeface="Consolas"/>
              </a:rPr>
              <a:t>google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 search and view search results'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, </a:t>
            </a:r>
            <a:r>
              <a:rPr lang="en-US" sz="1400" dirty="0" err="1" smtClean="0">
                <a:solidFill>
                  <a:srgbClr val="569CD6"/>
                </a:solidFill>
                <a:latin typeface="Consolas"/>
              </a:rPr>
              <a:t>async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() 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=&gt;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{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sz="1400" dirty="0" smtClean="0">
                <a:solidFill>
                  <a:srgbClr val="C586C0"/>
                </a:solidFill>
                <a:latin typeface="Consolas"/>
              </a:rPr>
              <a:t>await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driver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 err="1" smtClean="0">
                <a:solidFill>
                  <a:srgbClr val="DCDCAA"/>
                </a:solidFill>
                <a:latin typeface="Consolas"/>
              </a:rPr>
              <a:t>get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'http://www.google.com'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sz="14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element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= </a:t>
            </a:r>
            <a:r>
              <a:rPr lang="en-US" sz="1400" dirty="0" smtClean="0">
                <a:solidFill>
                  <a:srgbClr val="C586C0"/>
                </a:solidFill>
                <a:latin typeface="Consolas"/>
              </a:rPr>
              <a:t>await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driver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 err="1" smtClean="0">
                <a:solidFill>
                  <a:srgbClr val="DCDCAA"/>
                </a:solidFill>
                <a:latin typeface="Consolas"/>
              </a:rPr>
              <a:t>findElement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4EC9B0"/>
                </a:solidFill>
                <a:latin typeface="Consolas"/>
              </a:rPr>
              <a:t>By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name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'q'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));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sz="1400" dirty="0" smtClean="0">
                <a:solidFill>
                  <a:srgbClr val="C586C0"/>
                </a:solidFill>
                <a:latin typeface="Consolas"/>
              </a:rPr>
              <a:t>await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element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 err="1" smtClean="0">
                <a:solidFill>
                  <a:srgbClr val="DCDCAA"/>
                </a:solidFill>
                <a:latin typeface="Consolas"/>
              </a:rPr>
              <a:t>sendKeys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"selenium"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, </a:t>
            </a:r>
            <a:r>
              <a:rPr lang="en-US" sz="1400" dirty="0" err="1" smtClean="0">
                <a:solidFill>
                  <a:srgbClr val="4FC1FF"/>
                </a:solidFill>
                <a:latin typeface="Consolas"/>
              </a:rPr>
              <a:t>Key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RETURN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sz="1400" dirty="0" smtClean="0">
                <a:solidFill>
                  <a:srgbClr val="C586C0"/>
                </a:solidFill>
                <a:latin typeface="Consolas"/>
              </a:rPr>
              <a:t>await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driver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 err="1" smtClean="0">
                <a:solidFill>
                  <a:srgbClr val="DCDCAA"/>
                </a:solidFill>
                <a:latin typeface="Consolas"/>
              </a:rPr>
              <a:t>wait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until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 err="1" smtClean="0">
                <a:solidFill>
                  <a:srgbClr val="DCDCAA"/>
                </a:solidFill>
                <a:latin typeface="Consolas"/>
              </a:rPr>
              <a:t>titleContains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"selenium"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), </a:t>
            </a:r>
            <a:r>
              <a:rPr lang="en-US" sz="1400" dirty="0" smtClean="0">
                <a:solidFill>
                  <a:srgbClr val="B5CEA8"/>
                </a:solidFill>
                <a:latin typeface="Consolas"/>
              </a:rPr>
              <a:t>4000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driver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      .</a:t>
            </a:r>
            <a:r>
              <a:rPr lang="en-US" sz="1400" dirty="0" err="1" smtClean="0">
                <a:solidFill>
                  <a:srgbClr val="DCDCAA"/>
                </a:solidFill>
                <a:latin typeface="Consolas"/>
              </a:rPr>
              <a:t>getTitle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()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      .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then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title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=&gt;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{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          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expect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title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).</a:t>
            </a:r>
            <a:r>
              <a:rPr lang="en-US" sz="1400" dirty="0" err="1" smtClean="0">
                <a:solidFill>
                  <a:srgbClr val="DCDCAA"/>
                </a:solidFill>
                <a:latin typeface="Consolas"/>
              </a:rPr>
              <a:t>titleContains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'selenium'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      });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});</a:t>
            </a:r>
            <a:endParaRPr lang="en-US" sz="1400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 Tests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npm</a:t>
            </a:r>
            <a:r>
              <a:rPr lang="en-US" sz="2400" dirty="0" smtClean="0">
                <a:latin typeface="Consolas" pitchFamily="49" charset="0"/>
              </a:rPr>
              <a:t> test</a:t>
            </a:r>
            <a:endParaRPr lang="en-US" sz="24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 Tests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npm</a:t>
            </a:r>
            <a:r>
              <a:rPr lang="en-US" sz="2400" dirty="0" smtClean="0">
                <a:latin typeface="Consolas" pitchFamily="49" charset="0"/>
              </a:rPr>
              <a:t> test</a:t>
            </a:r>
            <a:endParaRPr lang="en-US" sz="24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14511</TotalTime>
  <Words>319</Words>
  <Application>Microsoft Office PowerPoint</Application>
  <PresentationFormat>On-screen Show (4:3)</PresentationFormat>
  <Paragraphs>89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Selenium and Node.js</vt:lpstr>
      <vt:lpstr>Objectives</vt:lpstr>
      <vt:lpstr>Contents</vt:lpstr>
      <vt:lpstr>References</vt:lpstr>
      <vt:lpstr>What Is Jest?</vt:lpstr>
      <vt:lpstr>Create Project</vt:lpstr>
      <vt:lpstr>Install Tools</vt:lpstr>
      <vt:lpstr>Enable jest</vt:lpstr>
      <vt:lpstr>Example Test Code (I)</vt:lpstr>
      <vt:lpstr>Example Test Code (II)</vt:lpstr>
      <vt:lpstr>Run Tests</vt:lpstr>
      <vt:lpstr>Run Tests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4844</cp:revision>
  <dcterms:created xsi:type="dcterms:W3CDTF">2007-10-06T08:25:13Z</dcterms:created>
  <dcterms:modified xsi:type="dcterms:W3CDTF">2021-06-13T18:58:36Z</dcterms:modified>
</cp:coreProperties>
</file>