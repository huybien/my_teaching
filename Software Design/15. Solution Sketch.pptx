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708" r:id="rId1"/>
  </p:sldMasterIdLst>
  <p:notesMasterIdLst>
    <p:notesMasterId r:id="rId23"/>
  </p:notesMasterIdLst>
  <p:sldIdLst>
    <p:sldId id="256" r:id="rId2"/>
    <p:sldId id="491" r:id="rId3"/>
    <p:sldId id="640" r:id="rId4"/>
    <p:sldId id="473" r:id="rId5"/>
    <p:sldId id="592" r:id="rId6"/>
    <p:sldId id="636" r:id="rId7"/>
    <p:sldId id="458" r:id="rId8"/>
    <p:sldId id="607" r:id="rId9"/>
    <p:sldId id="652" r:id="rId10"/>
    <p:sldId id="653" r:id="rId11"/>
    <p:sldId id="639" r:id="rId12"/>
    <p:sldId id="585" r:id="rId13"/>
    <p:sldId id="586" r:id="rId14"/>
    <p:sldId id="587" r:id="rId15"/>
    <p:sldId id="588" r:id="rId16"/>
    <p:sldId id="589" r:id="rId17"/>
    <p:sldId id="590" r:id="rId18"/>
    <p:sldId id="591" r:id="rId19"/>
    <p:sldId id="654" r:id="rId20"/>
    <p:sldId id="655" r:id="rId21"/>
    <p:sldId id="343" r:id="rId2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1176" autoAdjust="0"/>
    <p:restoredTop sz="94667" autoAdjust="0"/>
  </p:normalViewPr>
  <p:slideViewPr>
    <p:cSldViewPr>
      <p:cViewPr>
        <p:scale>
          <a:sx n="50" d="100"/>
          <a:sy n="50" d="100"/>
        </p:scale>
        <p:origin x="-1476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7C1D6F-4647-4E33-A258-009E6AEFC8D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809340B9-7F11-4D84-B022-3D14B6583AD7}">
      <dgm:prSet phldrT="[Text]" custT="1"/>
      <dgm:spPr>
        <a:solidFill>
          <a:schemeClr val="accent3"/>
        </a:solidFill>
      </dgm:spPr>
      <dgm:t>
        <a:bodyPr/>
        <a:lstStyle/>
        <a:p>
          <a:r>
            <a:rPr lang="en-US" sz="2400" dirty="0" smtClean="0"/>
            <a:t>Architecture</a:t>
          </a:r>
          <a:endParaRPr lang="en-US" sz="2400" dirty="0"/>
        </a:p>
      </dgm:t>
    </dgm:pt>
    <dgm:pt modelId="{5A3FAAD7-F018-4416-8584-95B3B9FDFCBC}" type="parTrans" cxnId="{DC9100A6-A166-4051-B682-04F229938876}">
      <dgm:prSet/>
      <dgm:spPr/>
      <dgm:t>
        <a:bodyPr/>
        <a:lstStyle/>
        <a:p>
          <a:endParaRPr lang="en-US"/>
        </a:p>
      </dgm:t>
    </dgm:pt>
    <dgm:pt modelId="{AD1DE34A-8921-4168-A47E-A39D3D863C1F}" type="sibTrans" cxnId="{DC9100A6-A166-4051-B682-04F229938876}">
      <dgm:prSet/>
      <dgm:spPr/>
      <dgm:t>
        <a:bodyPr/>
        <a:lstStyle/>
        <a:p>
          <a:endParaRPr lang="en-US"/>
        </a:p>
      </dgm:t>
    </dgm:pt>
    <dgm:pt modelId="{1D20C483-C91D-4075-B91F-32FA82B8BD59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2400" dirty="0" smtClean="0"/>
            <a:t>Frameworks</a:t>
          </a:r>
          <a:endParaRPr lang="en-US" sz="2400" dirty="0"/>
        </a:p>
      </dgm:t>
    </dgm:pt>
    <dgm:pt modelId="{76BDDF9C-7F44-4695-9E36-5148015A4497}" type="parTrans" cxnId="{CCA83AC7-ACE8-48CB-9C4B-D8E0AFD71BE2}">
      <dgm:prSet/>
      <dgm:spPr/>
      <dgm:t>
        <a:bodyPr/>
        <a:lstStyle/>
        <a:p>
          <a:endParaRPr lang="en-US"/>
        </a:p>
      </dgm:t>
    </dgm:pt>
    <dgm:pt modelId="{6072271D-1133-48A4-B155-35CC3CF33456}" type="sibTrans" cxnId="{CCA83AC7-ACE8-48CB-9C4B-D8E0AFD71BE2}">
      <dgm:prSet/>
      <dgm:spPr/>
      <dgm:t>
        <a:bodyPr/>
        <a:lstStyle/>
        <a:p>
          <a:endParaRPr lang="en-US"/>
        </a:p>
      </dgm:t>
    </dgm:pt>
    <dgm:pt modelId="{48C3C47C-2C00-4000-99FC-B0CAD680E8A7}">
      <dgm:prSet phldrT="[Text]" custT="1"/>
      <dgm:spPr>
        <a:solidFill>
          <a:schemeClr val="accent4"/>
        </a:solidFill>
      </dgm:spPr>
      <dgm:t>
        <a:bodyPr/>
        <a:lstStyle/>
        <a:p>
          <a:r>
            <a:rPr lang="en-US" sz="2400" dirty="0" smtClean="0"/>
            <a:t>Wireframe</a:t>
          </a:r>
          <a:endParaRPr lang="en-US" sz="2400" dirty="0"/>
        </a:p>
      </dgm:t>
    </dgm:pt>
    <dgm:pt modelId="{AB28854F-05B3-4DA2-B9DE-D57B236B31A9}" type="parTrans" cxnId="{31EDF7AA-E2F9-4CB0-A33E-91ADBC1A1067}">
      <dgm:prSet/>
      <dgm:spPr/>
      <dgm:t>
        <a:bodyPr/>
        <a:lstStyle/>
        <a:p>
          <a:endParaRPr lang="en-US"/>
        </a:p>
      </dgm:t>
    </dgm:pt>
    <dgm:pt modelId="{7C2CEEC7-E6B5-4FBE-8D34-21CD856C7CF6}" type="sibTrans" cxnId="{31EDF7AA-E2F9-4CB0-A33E-91ADBC1A1067}">
      <dgm:prSet/>
      <dgm:spPr/>
      <dgm:t>
        <a:bodyPr/>
        <a:lstStyle/>
        <a:p>
          <a:endParaRPr lang="en-US"/>
        </a:p>
      </dgm:t>
    </dgm:pt>
    <dgm:pt modelId="{6EB44F6E-97BC-4772-8ECD-D78C5E21013E}" type="pres">
      <dgm:prSet presAssocID="{D47C1D6F-4647-4E33-A258-009E6AEFC8D1}" presName="Name0" presStyleCnt="0">
        <dgm:presLayoutVars>
          <dgm:dir/>
          <dgm:resizeHandles val="exact"/>
        </dgm:presLayoutVars>
      </dgm:prSet>
      <dgm:spPr/>
    </dgm:pt>
    <dgm:pt modelId="{1B26044F-26CE-4145-B5E4-F430A270E114}" type="pres">
      <dgm:prSet presAssocID="{809340B9-7F11-4D84-B022-3D14B6583AD7}" presName="node" presStyleLbl="node1" presStyleIdx="0" presStyleCnt="3" custScaleX="20266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E56B327-9D0F-4DA3-A0A8-B891ACB1CEC2}" type="pres">
      <dgm:prSet presAssocID="{AD1DE34A-8921-4168-A47E-A39D3D863C1F}" presName="sibTrans" presStyleLbl="sibTrans2D1" presStyleIdx="0" presStyleCnt="2"/>
      <dgm:spPr/>
      <dgm:t>
        <a:bodyPr/>
        <a:lstStyle/>
        <a:p>
          <a:endParaRPr lang="en-US"/>
        </a:p>
      </dgm:t>
    </dgm:pt>
    <dgm:pt modelId="{64235312-A31E-4512-A73C-24986610B43E}" type="pres">
      <dgm:prSet presAssocID="{AD1DE34A-8921-4168-A47E-A39D3D863C1F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D54CD697-2A27-48DC-AF0B-3971EE804F73}" type="pres">
      <dgm:prSet presAssocID="{1D20C483-C91D-4075-B91F-32FA82B8BD59}" presName="node" presStyleLbl="node1" presStyleIdx="1" presStyleCnt="3" custScaleX="309856" custScaleY="10829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02BB257-E7CB-402E-8AAB-D746F83B6407}" type="pres">
      <dgm:prSet presAssocID="{6072271D-1133-48A4-B155-35CC3CF33456}" presName="sibTrans" presStyleLbl="sibTrans2D1" presStyleIdx="1" presStyleCnt="2"/>
      <dgm:spPr/>
      <dgm:t>
        <a:bodyPr/>
        <a:lstStyle/>
        <a:p>
          <a:endParaRPr lang="en-US"/>
        </a:p>
      </dgm:t>
    </dgm:pt>
    <dgm:pt modelId="{CAEA412E-9D1E-4D67-B552-F1263C4F33D6}" type="pres">
      <dgm:prSet presAssocID="{6072271D-1133-48A4-B155-35CC3CF33456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E6C89F9F-EC7B-4304-8F09-55693E384B71}" type="pres">
      <dgm:prSet presAssocID="{48C3C47C-2C00-4000-99FC-B0CAD680E8A7}" presName="node" presStyleLbl="node1" presStyleIdx="2" presStyleCnt="3" custScaleX="19048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C9100A6-A166-4051-B682-04F229938876}" srcId="{D47C1D6F-4647-4E33-A258-009E6AEFC8D1}" destId="{809340B9-7F11-4D84-B022-3D14B6583AD7}" srcOrd="0" destOrd="0" parTransId="{5A3FAAD7-F018-4416-8584-95B3B9FDFCBC}" sibTransId="{AD1DE34A-8921-4168-A47E-A39D3D863C1F}"/>
    <dgm:cxn modelId="{6480D03D-B046-442B-B59E-DE7FB1D8AFCB}" type="presOf" srcId="{1D20C483-C91D-4075-B91F-32FA82B8BD59}" destId="{D54CD697-2A27-48DC-AF0B-3971EE804F73}" srcOrd="0" destOrd="0" presId="urn:microsoft.com/office/officeart/2005/8/layout/process1"/>
    <dgm:cxn modelId="{6F90CFDF-876E-46D4-8137-1BB8921467A1}" type="presOf" srcId="{AD1DE34A-8921-4168-A47E-A39D3D863C1F}" destId="{64235312-A31E-4512-A73C-24986610B43E}" srcOrd="1" destOrd="0" presId="urn:microsoft.com/office/officeart/2005/8/layout/process1"/>
    <dgm:cxn modelId="{CCA83AC7-ACE8-48CB-9C4B-D8E0AFD71BE2}" srcId="{D47C1D6F-4647-4E33-A258-009E6AEFC8D1}" destId="{1D20C483-C91D-4075-B91F-32FA82B8BD59}" srcOrd="1" destOrd="0" parTransId="{76BDDF9C-7F44-4695-9E36-5148015A4497}" sibTransId="{6072271D-1133-48A4-B155-35CC3CF33456}"/>
    <dgm:cxn modelId="{155C0367-AEB7-4AAB-BE61-DD1D4A2E3C8E}" type="presOf" srcId="{48C3C47C-2C00-4000-99FC-B0CAD680E8A7}" destId="{E6C89F9F-EC7B-4304-8F09-55693E384B71}" srcOrd="0" destOrd="0" presId="urn:microsoft.com/office/officeart/2005/8/layout/process1"/>
    <dgm:cxn modelId="{BFA1B9EE-779E-44DD-8D63-CAC62524E5CC}" type="presOf" srcId="{AD1DE34A-8921-4168-A47E-A39D3D863C1F}" destId="{1E56B327-9D0F-4DA3-A0A8-B891ACB1CEC2}" srcOrd="0" destOrd="0" presId="urn:microsoft.com/office/officeart/2005/8/layout/process1"/>
    <dgm:cxn modelId="{7F79A487-AFF9-436B-8A9A-D6DC666EFAEE}" type="presOf" srcId="{6072271D-1133-48A4-B155-35CC3CF33456}" destId="{CAEA412E-9D1E-4D67-B552-F1263C4F33D6}" srcOrd="1" destOrd="0" presId="urn:microsoft.com/office/officeart/2005/8/layout/process1"/>
    <dgm:cxn modelId="{D666281F-F5AC-4083-928A-5BA78326C9A1}" type="presOf" srcId="{809340B9-7F11-4D84-B022-3D14B6583AD7}" destId="{1B26044F-26CE-4145-B5E4-F430A270E114}" srcOrd="0" destOrd="0" presId="urn:microsoft.com/office/officeart/2005/8/layout/process1"/>
    <dgm:cxn modelId="{B483F29A-3EE3-4CD9-B184-773D209F1FF0}" type="presOf" srcId="{6072271D-1133-48A4-B155-35CC3CF33456}" destId="{E02BB257-E7CB-402E-8AAB-D746F83B6407}" srcOrd="0" destOrd="0" presId="urn:microsoft.com/office/officeart/2005/8/layout/process1"/>
    <dgm:cxn modelId="{8FA1AA9D-853F-4AA3-8670-076B540B3A66}" type="presOf" srcId="{D47C1D6F-4647-4E33-A258-009E6AEFC8D1}" destId="{6EB44F6E-97BC-4772-8ECD-D78C5E21013E}" srcOrd="0" destOrd="0" presId="urn:microsoft.com/office/officeart/2005/8/layout/process1"/>
    <dgm:cxn modelId="{31EDF7AA-E2F9-4CB0-A33E-91ADBC1A1067}" srcId="{D47C1D6F-4647-4E33-A258-009E6AEFC8D1}" destId="{48C3C47C-2C00-4000-99FC-B0CAD680E8A7}" srcOrd="2" destOrd="0" parTransId="{AB28854F-05B3-4DA2-B9DE-D57B236B31A9}" sibTransId="{7C2CEEC7-E6B5-4FBE-8D34-21CD856C7CF6}"/>
    <dgm:cxn modelId="{D1DFCF9A-6E6A-4D5C-8698-4E22E3E60FE9}" type="presParOf" srcId="{6EB44F6E-97BC-4772-8ECD-D78C5E21013E}" destId="{1B26044F-26CE-4145-B5E4-F430A270E114}" srcOrd="0" destOrd="0" presId="urn:microsoft.com/office/officeart/2005/8/layout/process1"/>
    <dgm:cxn modelId="{977EDCBB-A6DF-488A-ADAC-F08E00610222}" type="presParOf" srcId="{6EB44F6E-97BC-4772-8ECD-D78C5E21013E}" destId="{1E56B327-9D0F-4DA3-A0A8-B891ACB1CEC2}" srcOrd="1" destOrd="0" presId="urn:microsoft.com/office/officeart/2005/8/layout/process1"/>
    <dgm:cxn modelId="{456F112E-D680-4926-BF18-A50EFFA93EB6}" type="presParOf" srcId="{1E56B327-9D0F-4DA3-A0A8-B891ACB1CEC2}" destId="{64235312-A31E-4512-A73C-24986610B43E}" srcOrd="0" destOrd="0" presId="urn:microsoft.com/office/officeart/2005/8/layout/process1"/>
    <dgm:cxn modelId="{7DEEBC7E-F407-4E27-8366-B4B9D88927D3}" type="presParOf" srcId="{6EB44F6E-97BC-4772-8ECD-D78C5E21013E}" destId="{D54CD697-2A27-48DC-AF0B-3971EE804F73}" srcOrd="2" destOrd="0" presId="urn:microsoft.com/office/officeart/2005/8/layout/process1"/>
    <dgm:cxn modelId="{31412771-D657-488A-88C4-2C09F59D14D6}" type="presParOf" srcId="{6EB44F6E-97BC-4772-8ECD-D78C5E21013E}" destId="{E02BB257-E7CB-402E-8AAB-D746F83B6407}" srcOrd="3" destOrd="0" presId="urn:microsoft.com/office/officeart/2005/8/layout/process1"/>
    <dgm:cxn modelId="{69417546-A6F7-492E-9CBA-DB845B6DCC03}" type="presParOf" srcId="{E02BB257-E7CB-402E-8AAB-D746F83B6407}" destId="{CAEA412E-9D1E-4D67-B552-F1263C4F33D6}" srcOrd="0" destOrd="0" presId="urn:microsoft.com/office/officeart/2005/8/layout/process1"/>
    <dgm:cxn modelId="{E30A1AB2-2DC7-4460-9C00-F29A8A742BDB}" type="presParOf" srcId="{6EB44F6E-97BC-4772-8ECD-D78C5E21013E}" destId="{E6C89F9F-EC7B-4304-8F09-55693E384B71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1B26044F-26CE-4145-B5E4-F430A270E114}">
      <dsp:nvSpPr>
        <dsp:cNvPr id="0" name=""/>
        <dsp:cNvSpPr/>
      </dsp:nvSpPr>
      <dsp:spPr>
        <a:xfrm>
          <a:off x="4894" y="446759"/>
          <a:ext cx="2127526" cy="630480"/>
        </a:xfrm>
        <a:prstGeom prst="roundRect">
          <a:avLst>
            <a:gd name="adj" fmla="val 10000"/>
          </a:avLst>
        </a:prstGeom>
        <a:solidFill>
          <a:schemeClr val="accent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Architecture</a:t>
          </a:r>
          <a:endParaRPr lang="en-US" sz="2400" kern="1200" dirty="0"/>
        </a:p>
      </dsp:txBody>
      <dsp:txXfrm>
        <a:off x="4894" y="446759"/>
        <a:ext cx="2127526" cy="630480"/>
      </dsp:txXfrm>
    </dsp:sp>
    <dsp:sp modelId="{1E56B327-9D0F-4DA3-A0A8-B891ACB1CEC2}">
      <dsp:nvSpPr>
        <dsp:cNvPr id="0" name=""/>
        <dsp:cNvSpPr/>
      </dsp:nvSpPr>
      <dsp:spPr>
        <a:xfrm>
          <a:off x="2237398" y="631827"/>
          <a:ext cx="222552" cy="2603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100" kern="1200"/>
        </a:p>
      </dsp:txBody>
      <dsp:txXfrm>
        <a:off x="2237398" y="631827"/>
        <a:ext cx="222552" cy="260344"/>
      </dsp:txXfrm>
    </dsp:sp>
    <dsp:sp modelId="{D54CD697-2A27-48DC-AF0B-3971EE804F73}">
      <dsp:nvSpPr>
        <dsp:cNvPr id="0" name=""/>
        <dsp:cNvSpPr/>
      </dsp:nvSpPr>
      <dsp:spPr>
        <a:xfrm>
          <a:off x="2552330" y="420597"/>
          <a:ext cx="3252790" cy="682804"/>
        </a:xfrm>
        <a:prstGeom prst="roundRect">
          <a:avLst>
            <a:gd name="adj" fmla="val 10000"/>
          </a:avLst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Frameworks</a:t>
          </a:r>
          <a:endParaRPr lang="en-US" sz="2400" kern="1200" dirty="0"/>
        </a:p>
      </dsp:txBody>
      <dsp:txXfrm>
        <a:off x="2552330" y="420597"/>
        <a:ext cx="3252790" cy="682804"/>
      </dsp:txXfrm>
    </dsp:sp>
    <dsp:sp modelId="{E02BB257-E7CB-402E-8AAB-D746F83B6407}">
      <dsp:nvSpPr>
        <dsp:cNvPr id="0" name=""/>
        <dsp:cNvSpPr/>
      </dsp:nvSpPr>
      <dsp:spPr>
        <a:xfrm>
          <a:off x="5910098" y="631827"/>
          <a:ext cx="222552" cy="2603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100" kern="1200"/>
        </a:p>
      </dsp:txBody>
      <dsp:txXfrm>
        <a:off x="5910098" y="631827"/>
        <a:ext cx="222552" cy="260344"/>
      </dsp:txXfrm>
    </dsp:sp>
    <dsp:sp modelId="{E6C89F9F-EC7B-4304-8F09-55693E384B71}">
      <dsp:nvSpPr>
        <dsp:cNvPr id="0" name=""/>
        <dsp:cNvSpPr/>
      </dsp:nvSpPr>
      <dsp:spPr>
        <a:xfrm>
          <a:off x="6225031" y="446759"/>
          <a:ext cx="1999674" cy="630480"/>
        </a:xfrm>
        <a:prstGeom prst="roundRect">
          <a:avLst>
            <a:gd name="adj" fmla="val 10000"/>
          </a:avLst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Wireframe</a:t>
          </a:r>
          <a:endParaRPr lang="en-US" sz="2400" kern="1200" dirty="0"/>
        </a:p>
      </dsp:txBody>
      <dsp:txXfrm>
        <a:off x="6225031" y="446759"/>
        <a:ext cx="1999674" cy="6304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8E4815-070C-4ECD-A4C3-EF1A708AE757}" type="datetimeFigureOut">
              <a:rPr lang="en-US" smtClean="0"/>
              <a:pPr/>
              <a:t>3/13/2022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8881F2-4402-4FC7-AF1B-783C68BDAE5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3/13/2022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3/13/2022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3/13/2022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3/13/2022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3/13/2022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3/13/2022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3/13/2022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3/13/2022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3/13/2022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3/13/2022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3/13/2022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3/13/2022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gif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structuremap.github.io/" TargetMode="External"/><Relationship Id="rId2" Type="http://schemas.openxmlformats.org/officeDocument/2006/relationships/hyperlink" Target="http://www.ninject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hyperlink" Target="https://github.com/unitycontainer/unity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pmjs.com/package/typedi" TargetMode="External"/><Relationship Id="rId2" Type="http://schemas.openxmlformats.org/officeDocument/2006/relationships/hyperlink" Target="https://www.npmjs.com/package/awilix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6.png"/><Relationship Id="rId4" Type="http://schemas.openxmlformats.org/officeDocument/2006/relationships/hyperlink" Target="https://inversify.io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Solution Sketch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5715000" cy="4038600"/>
          </a:xfrm>
        </p:spPr>
        <p:txBody>
          <a:bodyPr/>
          <a:lstStyle/>
          <a:p>
            <a:pPr marL="514350" indent="-514350">
              <a:buFont typeface="Wingdings" pitchFamily="2" charset="2"/>
              <a:buChar char="Ø"/>
            </a:pPr>
            <a:r>
              <a:rPr lang="en-US" sz="2400" dirty="0" smtClean="0"/>
              <a:t>To create a </a:t>
            </a:r>
            <a:r>
              <a:rPr lang="en-US" sz="2400" i="1" dirty="0" smtClean="0">
                <a:solidFill>
                  <a:srgbClr val="C00000"/>
                </a:solidFill>
              </a:rPr>
              <a:t>solution sketch</a:t>
            </a:r>
            <a:r>
              <a:rPr lang="en-US" sz="2400" dirty="0" smtClean="0"/>
              <a:t>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Solution Sketch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Dependency Injection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638800" cy="48768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Dino Esposito and Andrea </a:t>
            </a:r>
            <a:r>
              <a:rPr lang="en-US" sz="2400" dirty="0" err="1" smtClean="0"/>
              <a:t>Saltarello</a:t>
            </a:r>
            <a:r>
              <a:rPr lang="en-US" sz="2400" dirty="0" smtClean="0"/>
              <a:t> (2014). Microsoft .NET - Architecting Applications for the Enterprise. Microsoft Press.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Adam Freeman (2013). Pro ASP.NET MVC 5.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Design an Architecture [1]</a:t>
            </a:r>
            <a:endParaRPr lang="en-US" dirty="0"/>
          </a:p>
        </p:txBody>
      </p:sp>
      <p:pic>
        <p:nvPicPr>
          <p:cNvPr id="9728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447800"/>
            <a:ext cx="6851650" cy="4946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4" name="Picture 2" descr="https://www.ionos.ca/community/fileadmin/community/Enterprise_Cloud/Cloud_Pricing/5722/vendor-locki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81800" y="1600200"/>
            <a:ext cx="1905000" cy="1905000"/>
          </a:xfrm>
          <a:prstGeom prst="rect">
            <a:avLst/>
          </a:prstGeom>
          <a:noFill/>
        </p:spPr>
      </p:pic>
      <p:pic>
        <p:nvPicPr>
          <p:cNvPr id="3" name="Picture 2" descr="https://allproscleaners.com/wp-content/uploads/2019/01/warning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0" y="3200400"/>
            <a:ext cx="2025396" cy="1339596"/>
          </a:xfrm>
          <a:prstGeom prst="rect">
            <a:avLst/>
          </a:prstGeom>
          <a:noFill/>
        </p:spPr>
      </p:pic>
      <p:pic>
        <p:nvPicPr>
          <p:cNvPr id="6" name="Picture 4" descr="https://www.pcc.edu/enroll/registration/images/prereq.gi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105400" y="1219200"/>
            <a:ext cx="1245870" cy="136588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Select Frameworks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i="1" dirty="0" smtClean="0">
                <a:solidFill>
                  <a:srgbClr val="C00000"/>
                </a:solidFill>
              </a:rPr>
              <a:t>Immature</a:t>
            </a:r>
            <a:r>
              <a:rPr lang="en-US" sz="2600" dirty="0" smtClean="0"/>
              <a:t> frameworks</a:t>
            </a:r>
          </a:p>
          <a:p>
            <a:pPr lvl="1"/>
            <a:r>
              <a:rPr lang="en-US" sz="2200" dirty="0" smtClean="0"/>
              <a:t>Bugs?</a:t>
            </a:r>
          </a:p>
          <a:p>
            <a:pPr lvl="1"/>
            <a:r>
              <a:rPr lang="en-US" sz="2200" dirty="0" smtClean="0"/>
              <a:t>Standard features support?</a:t>
            </a:r>
          </a:p>
          <a:p>
            <a:pPr lvl="1"/>
            <a:r>
              <a:rPr lang="en-US" sz="2200" dirty="0" smtClean="0"/>
              <a:t>Documentation?</a:t>
            </a:r>
          </a:p>
          <a:p>
            <a:pPr lvl="1"/>
            <a:r>
              <a:rPr lang="en-US" sz="2200" dirty="0" smtClean="0"/>
              <a:t>Legacy systems integration?</a:t>
            </a:r>
          </a:p>
          <a:p>
            <a:pPr lvl="1"/>
            <a:r>
              <a:rPr lang="en-US" sz="2200" dirty="0" smtClean="0"/>
              <a:t>Legacy systems migration?</a:t>
            </a:r>
          </a:p>
          <a:p>
            <a:endParaRPr lang="en-US" sz="2600" dirty="0" smtClean="0"/>
          </a:p>
          <a:p>
            <a:r>
              <a:rPr lang="en-US" sz="2600" i="1" dirty="0" smtClean="0">
                <a:solidFill>
                  <a:srgbClr val="C00000"/>
                </a:solidFill>
              </a:rPr>
              <a:t>Old</a:t>
            </a:r>
            <a:r>
              <a:rPr lang="en-US" sz="2600" dirty="0" smtClean="0"/>
              <a:t> frameworks</a:t>
            </a:r>
          </a:p>
          <a:p>
            <a:pPr lvl="1"/>
            <a:r>
              <a:rPr lang="en-US" sz="2200" dirty="0" smtClean="0"/>
              <a:t>New features support?</a:t>
            </a:r>
          </a:p>
          <a:p>
            <a:pPr lvl="1"/>
            <a:r>
              <a:rPr lang="en-US" sz="2200" dirty="0" smtClean="0"/>
              <a:t>Productivity?</a:t>
            </a:r>
            <a:endParaRPr lang="en-US" sz="2200" dirty="0"/>
          </a:p>
        </p:txBody>
      </p:sp>
      <p:pic>
        <p:nvPicPr>
          <p:cNvPr id="110594" name="Picture 2" descr="Image titl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76800" y="1752600"/>
            <a:ext cx="2916174" cy="1944624"/>
          </a:xfrm>
          <a:prstGeom prst="rect">
            <a:avLst/>
          </a:prstGeom>
          <a:noFill/>
        </p:spPr>
      </p:pic>
      <p:sp>
        <p:nvSpPr>
          <p:cNvPr id="110596" name="AutoShape 4" descr="Image result for &quot;Legacy frameworks&quot;"/>
          <p:cNvSpPr>
            <a:spLocks noChangeAspect="1" noChangeArrowheads="1"/>
          </p:cNvSpPr>
          <p:nvPr/>
        </p:nvSpPr>
        <p:spPr bwMode="auto">
          <a:xfrm>
            <a:off x="155575" y="-669925"/>
            <a:ext cx="3810000" cy="14097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0598" name="AutoShape 6" descr="data:image/jpeg;base64,/9j/4AAQSkZJRgABAQAAAQABAAD/2wCEAAkGBxMTEhUTExMWFhUXGBsZGRgYGB4eGhsbGhsgGBsZGBodHiggHR4mHxoaITEhJSkrLi8uGx8zODMtNygtLisBCgoKDg0OGxAQGy8lHyUtLS0tLS0tLS0tLS0tLS0tLS0tLS0tLS0tLS4tLS0uLS0tLSstLS0tLS0tLS0tLTUtLf/AABEIAIgBcQMBIgACEQEDEQH/xAAbAAABBQEBAAAAAAAAAAAAAAAFAAIDBAYBB//EAEYQAAIBAgQDBQUEBwcDAwUAAAECEQMhAAQSMQVBURMiYXGBBjKRobFCUtHwFCMzYpLB4RVDcoKi0vFTwuIWY3MHg5Ojsv/EABoBAAMBAQEBAAAAAAAAAAAAAAABAgMEBQb/xAAtEQACAgEEAgEDAgYDAAAAAAAAAQIRAxIhMVEEQRMUMmFCoSJxkbHh8COB8f/aAAwDAQACEQMRAD8AzSZx/v8AiLxH+nli0uediplSFIlZJBMG5E6vAwRy2w2nVH/ufw1MWRWQlb1NVwZVojlFsc5sOzFVqjaiqqTvpTVJ6k1CxnlviSjl26Kf/tL/ALcT0onc/A/zGCGTYAiGPwH4Ymx0QZXJ1GMKKfW9IfWIxZ4zROXVNS05a57g3G8iRHhg6mbUmVGmAAIC3PMzp64FZwTBeoRc7hZMdDB/JxNjpFPg4ZlHcUB0AtFzYiQGkiRtHqMGsozsAzAagNN2NosPdBgeuA3BcmCKbIQxWNomSJifeB8iMafhHCm1tNQoGvAbSZ6nmee98JjSLNDOVFBARW6STO3jA64KU4YC0HykeMRUBPn4YQpIigsbgRLmx8p38DviOmaLKD2lKNiGCb+uJG6okrwTGoj0b/fhjvB95o8m/mTiPMCiQR2lGfFU+eLFHs1FqlH0C/yOGI4xCnUXO3Mb+uIO0BMzA25fhhivqcntqcxER5/vTidgLDWpnx/rhFHK1NbEMNto+HLA7PUv1dUkkytrGNvKPpgqlIc2XA3jYHZVTqQwpMDfb1v6YiXBS5PN8jmiuarWmXI8d485xu+HcbbSA/eHJuY88eXZKv8Arahjctz2v8I8xHlY41PD+KGII/r4N1PQ79ZGE0xvc3S50aSIvBg+mKvFs8tPL1WmDGkdZYAW9L+mBOSz5Uk203kE2iOv88CPbvPhqrU09xLW5tA1H0jT6YrHHVIzlsZTO1t/pgU78ji3WEgwfMhZPrM/CMCOIUKiiRUM/vKox3IwYq+UpwzQu3ODhgqIZQWAUMOUbA/KPicDa9Zo0s5c2Jg2neLCbWOKZzBM/vfPw/PTFEhnK5TtsxSoo4PaOFtfSPtMedhJ35Y9sT2Kyq5dKK64GrTUle0Gpi8NChWALG0eUEzjO/8A0r9hGpIc3XCio6xTRmAZFO7MDszC0chP3rehrTZBcAiQLMCLmOXTHLmnK9jaCR5hxvglfKklxrpC4qop2EHvrJKHfe215wNBHWcenirUCMlYhnBIDARI5EiAAesWxleIeyorMTl2FJzJ0n9mx35XQkmZW250kmcTHMrpjcOgH7H8VGXquail6BYHSbENzdOURAvvAuNz6PQ4ll2K1aTgoZEKIudtanY+YGPH+I5CvQK08xQqU5bQBJNOpzlqphGBMkwZje0jHpPA+P0uxqUqFBqGhC5qOVPeBUEsZI1NMDcGCBsBissE90GNu6NXTzQg1HAEArNicCEru7StUTO20+U2nAni2dcGjVp1lagztRzE/wB3WUEByQLKzKBfbUInVblUFW8ZFrbkSPkCcc8oNGiaughnc5VZWBB0zvt9MAyQDtPhOLlQtA7xJO4xVzKkfHbnOIRQypmJERfr0jphtTiNRoE7H8ziJ73xEcUkB2s4KwAZiTzkjcjpiV1ECAeX5+mK6xaT5+WLlPLMwteMMRZpZFezVp3N/wCmJOG5Zm1LTXUfgAPE/wAsMo5WobAERgn7Oh11CLHffCoLIOJZSrTUamUKQT3eXQXvjymrlg7kyFMmZPicer8UzR7SKgkbAgRB3v1x5hxDIuGJF5JPnJm2NcOzZEwf2KAERqPOf+31wR9mkigI+0zE/GP5Yp1Qyq4Nuf8AxgnwNYy9P1//AKONpcER5LsYaTiTHQu19+WMyiPX4/PHcSdl4/LHcAxwUG4r0xM2MfAnUB0xwEhgBUQ26f8AlghwHNNTYhqVIhlK3eIJEKZNPlJ+OK2dypVwAlIqZIIabTEGUF/QY0IJBrmzJHlP/fi1ltfJkPI91um3vYoJSG5pJ03ERz+zvOLFGJ/YIf4YHmSMDQWGctlKrwo0G/Rvxx3N5JlWToB8Q2+0jqCbfhill8wEKxlk1ciAhIO+55X54fWrBgxNAbEjupE85gxviaGmV/ZDLVqavKCGqFxebGIPgbbY3i5js0L0VQOwkiSfMxsDf/nGIyvZrTA7JmIAiAl53klhfBShVbQQEqQFPNSL2uA564iW7stbF7O5yo0DQpAFr8+u22J8nWzCgDSgHQsd9unLAGgZQg6j/hjveI73TBnh2R7QLqp1ALHUNM9YB1eHzwkDCFGnWYzpWbbsfie7gj2NUr7qfxH/AG4pk06ZjRVnpa4/ixdolSs9nU+X+7DskblstUJPdX+I+X3cdqhxPdUx+8f9uKjuo1MFqyYG4tE/veOFSINzTrfH/wA8Kxlp6LmDoT+I/wC3FD2koMuWrMUSyNsfDyxb7RQLJVt4/wDlgN7VZxf0SuSjjuRc7zAvfxxLKR5DQq95j+8frg5kKv5/DGayziT5mPjgtla0Y0cRWbLhxDd3ra+CXt1w+itSm7ot1a8QSRG55nznwGM9wuqQRjccb4aubpPTeAwB0MQe6xEBrEGJ3HPEQkoz3JyJyjSPMmWlyQEbz4dBbUfjFsV87wztgT2SoOfdCjzljqJv48sXuN5HMZUiUOkd3VEox8wLG2xv4DYCKnEJ95iT0Nz6SfD5Y7ou90cbTXJOuWp6lWkoVEEEwATP2QOY5k/8glSyNFS2YX9TVUe9TYpI6SpEfZnyxn24iRsreZK/QEfOThVeMNVATSoHM6p9Sq3PxHniqEain7RZixWtWKyB+3qeAJ3jeTG4m98em5uvFEK2owVGo7tCe8T1MTjx/L1QFA1EwNvdAHQKto85xqeB+2DIBSrzUpSDP21tG/2h4H0PLGGTFs9JpDJvuaauyukzeMUMkDrEYJZnKo9PtaLAqbgrsf6jocDciYdT444WtztT2NNmMrSqJorIlRSLqyhgZEXB9fjgPn/ZTI06DrTyyKpbUV1MqSe5qYTBABnTBuLCcGqS6ri5HjgJ7QVRXy7UiZNwVEgzyjzIC+OojnjWL9Gcu0Zv2e4G/wChVKVIE02VRrB0p2gYEvSMFyqRGv7R2iJxpsrwSkKT0lJOkA03ZizqIlbsTIDq1j0B3vi9meKJSVdGnRYKo5CLAeERgJnuPiargQBRkQR9nWYPqT8cEp2x12XM5llNBaqkKSD3fE2InnBkThmU4cjJpYKWB94HcYEDienUNQZVIjpammx+OIX4wyyZiW5DmeXljNrcpEvFOFFHKiwAkScDHy+0kDnfFjNZ1njUZjY4haiGWQYO4BG/lgGU2SBODPDkhJOxYfVcDmhFkBnaDIVZ+Am+C3AOL1KlIKcvFKSdbMoIg/c3NwB64tEyex55X9ts2kkGlIEfsxyxJnPa/N0cy1JWplQ6C9MTDBSfqcZfibyWgefrgjxm+ec/+6n0XHdoj0cupnrGbqAMmpQRJtF94xiuLMbFRIkx5Y12dqxpBmIb64zdVFkKY2+cY4l9x0+jOZqp3WtyPpglwPLk5elpBaQdv8RH8sVOIIgked8H/ZBz2FNQuqzWBgg6mMjrjSbqOxKW5UrUGUwQQcNpVCv0xoOIcMcUrgkgkyb2/ljPHfExdlPYWrywsc1fmMLFCIy4InRU0zEy0TuOe9sOXMJzFX4v/wA4dQ4XnQO7Wp6WmQVW4jpO8T+QcKhwXNsQP0jLC8SQoHT73M7ET5Yr5cfaJ0S6O0s0kTpqi2363fpb6+GJBxCmsWqj/wDL+TiFeF5wsQHpe9p9wSDqC379rkX8Rh9XJ5lgB2lDu92yAGZN2h5PO8csHyQ7DRLospn6cz+t2iYrX6DbElfiC9m8doRBFw4iQeoxRbgWcqd4EALadBAJPhvz+eDdDgmdFPRFMpYmQwYkAeEATyvY4TnEFCQP4dxqk/dWvBiw6xyEj+eD/CvaA093Fxz0c9wTpvgafZjMi+pFE7S0D4qBHyxap8HqGAatKVJuszys0CMRKcFyxpZHwiynE6JcEutOeXdC/GLHxxon4gKaqiuQStgOnkVwKQqUAAS27LUIuCAYAXz7pIuI54gRmRP1j0jpJALlie8xYCwkC8XHXlGMHmhdWaxhN8ou0+MuDqLu1z9gWE7e5i9luOOASzEyTHdgx5aY/IwJTM1Ve5owTtBA9GMbn1vi7xLiDPTAmmgMHUGF+cXNrevLGfzxr8lvFL0iarxVSZNUqf8AL/NfzbEmW4zTUd/MxeLBf9mMg3BGLs/bLBMTLRJkWI1bAG1rm+Kr8FqozO9QBl0qACY97UWkiLAEaQZtyxLz+7MtOXhRN0eKo11r28l5b7rjOe0DGrla2is9UkaQhiSe0UQsKDBta1jiuOBEsSKwkhb3MkTY7BBqhtQkwI8Av0EvTlao1AC4MHbvggXA2svI88S/I4ZqoT6MCOFZhFJNM25SJPhBM7xyO+BedqVRUAZI0iLSVk8yduePRct7OOzdyuGdZuAbvESF1WQSRaZ5gCcWuG8DprpFR0qsvvLohYEW7saoJ3PST4bLzVHfZma8fI+diP2UanWV2AZisWU9diOZupxtfZ7izVqlZaqogp6QsEy0ySbmLWwAyuQQzFQd4XCwFgCFNjYSSTO9gbYmy2XCamphdepidRAmZA70XIEcjtzscc0vK3tI6JYJUkg9xtsuVlqSVO6YDAMLEEKQepjy3xguL+ydGsxqZeKTkzVU+4wiNVMzAOxKC0AxHM9SDU6UiO0gEkHug2kdQqwLD1EGMVhQAMK/daoNJVjZIjTpLAaeVrAX3GHDzJKdxMJePN7UeV5zMdm7Uay9nUUwytyI3E7HpiKpmh94x+6P6fzxufbf2eo5qs+h1/SAis0E6ZXuOtQxYkwZ5SZx5xneC1ab6E1apjR9oHpax6z0vtfHuwyxk6XJxSx0r9BzI8RbYUaj+LEAfEX+eCVKtO+hD0Zwx+CkR6wPLA3J+zJQB69TWeaX0yfEm8eXxxdr16SR2aBWJ+wFHhtBk7Y1oxbQb4XxyplySplD7wghDy97YHowNvHbG14PWp1lOgkh1VtpF2EAnabxE9ceM57iBY6VFZizCy2kmwUFbmTyG9umPUfZ2hUy9BFOjUAv2yW98vBYAyJJAMcvhw+XKEKb5Ovx4zlaQWz/ALGIq61q5uR0zDQPNSSD6zianmaOWpOlVwKjKWWb7CAZ+9q8cXh7RNtoS0TLGbmPukcm+GM17RVqWZr0nA09mhB7oYKSdQeNmMQQDb7RkCDzLyMc+Hx+GbTxyhs1uwHx32igPTo9ooVlMuIIQ95FCESLWm1gMBaPHnNUI7SpgkxyDavhIAv1wWpcPpU8yaZqGpTqJJZiWJYHUdURqbUGPri/wvglGnU12qKp0LqQnVC94xsJOuTBuouMZ5M0Y/xJbNWiPHhkyKnym0/+v8Gb4pmygqwQBrCwYkW02E8inyOLpRFQEVSx1TGn3ANIuec3E/u40GW4Yr0Q3YKSTrYP4tqE3JPUX+GBHFfZ6tEoCwdpKhNIubCecdegGOdeQpSq63NX4+RbjkzCkwG8rf1xL2ggXNvzYYH5L2azAX3G1nl3QBEm5JtNvGxth6cDzagOKfeBErrXod+9YEjeee2Op58XZXxT6NBwWoTmaeoEarTHIAm3wwN4lQNIBr6XZtJEfZImROFTyWfTQ2mTJgEjUDcG5m0Xt1FxhvEeGZyoEBKmCWCA9+WjUsiABAm/jgj5GNe0DwzfoE0OD5UiWpyTzM+XI4uPkMqz9oaR1kgzLbiI2tyGOJwbNGR2fT7RH8MnytvY45R4JmwbkTMRrgb9ZPLwxb8uC/UT9PLoLZzNB4IJEKZsRc3t4YzXFs0qwBvHz88WqlKtFwwmQvfBBnkI3O+KlLhhJmoL+I9cXCcHvZMoSXoB19TAtHX8caD2WRjRpkG4nnBsx+GJq+QU06gHT/twM4bRrKSKau691tK8tVzJi2xtPXGkpJxJUWpHomUzOlQjtCsDuZ38d8SZ72aotROiz7qevOD5/hjF5mpm1EsrwdlKwLbkMAes8vwIcM9q3A01A1hvqEW8SsRbHMpLlM10PoH/AKG3T64WNB/6nT/oVv4VwsX8ovjZLlab1CpSkSpvBQMACR3S57ogKLT8Ixdp8ErbF1UE7BdQi3h3bAj3jv1wXq8bp6WIpyy20t3e990sbAxfp44dX4tABFFgZG4ESRZQdQMmReCN94xiliXs0vI/RHlODoshtTAxuxIgTA0nYQY3O3nMuVyFOnIp01U37wS/lJJP02wk4whVS9PRq2khgesEWMRv5ejcvxim6kGidMDZheZsLifTqMUpY1w0S1kfJNm88iTqN+l/hMRPmeYnfAd/aEMYp2jYFWJNjMRY7gWkb74vUa2UUE0suokiYhSSR4G5gAX8cSdvQ2NB+6SbHugxEg69N7R4xzFom9X6khqLXoz36S9c/wB5UBUxICrtI90cjbVp5GTyxE41MULnuqIYCASJ7oHKDYXFwTg875OoxUpS1LIIOrXY8z0lusScRVaGTBXVTUxKqZqECZJAvtM3FgeYi2fwq71IrXLimBK9FAxDaxAIl6ljECBEQIvPQGdrTtWp0RDEDvKLxAU7BAvPxIFr9CSdFck0VAqSNj2rhhq5RuJnb8MSaMmtOCqCmTyYmR4mJbbx2GCWH8oayNemA30qZVwQGhZDGZ72kLqnUAPeAsBvfE9bLqQWQahZmMMqqGuNPhLTpXp5yXqLk1/Urrv3+4XtIInUtxIU87/QTXzNIalGpQLE97rEajMxER433wviv9SDX2mQVcpTVmYa9Baf2hMmwI06rMCJnoDBPOFc+o7tNzpSe4A11JB69/cAAdbDDaNCgSoYVE0w4PukCYB2Bjbe22CY4VkyNTVXfTIgtJO2wUam94Xv8sUsSvlD+Rr0wW3FZ1aS7gqJmRIuDtsuwMDcDww5szX1ItKxIiBECZPeZzPjE7fDBrL8JyoJ0VHkjQ0OfEBSR7pBG1r4o8WZXYZfLI1WoOfd0LYqSbQRcks1gQDcrAcfGbdKiXmS5srjOsrszPF57RAFAmCQNRLETOw5xEXA7M8cOoEqCCIYtJ+EQP6+GLbZTLqdVao1eoYnsjppiTH7WNT7GyADFrK53Lr+zo0aZgGexDmJgyz6jP16Y2XjYl973/BHy5H9qKCcVU94I5Qkg6QxiAIEwQeRiLaj6y0uM0TpChSyEaZsx+zpEwNmjkLE4LHiayBNM6iAAcvTMz/hQEb4fXoZaqvfpKZtqQXEWEK5MRMwCuD6bA/dB8+VcoozUVSSSlTTF1WWvsxvewMYkbiASAzFu0CjvQpUmx0rOqJvfkSdpOB9bgrUVaplWWtSJ7wtKk2+1dGgm7EjxvihxSlRpKGLVTrT3HXSF1bjTJk6ZU32J62zj4Dcq9Dn5aUb99FanWJziZhSXplSp1Aj9WQdI2EE91yBzJ9CudzSsdRVFtAAEH1O5xmanGgvuq0DaBA9JjFDOcdMbKg6sZbbkBj1oePGLUvaVHlucmnFcN2X+K57Va5/P/OMrxHiUWW56/h+P5NfO8Uer3UmN/ExeTFgBvHLracCqh5b9Tjaxxh2ehf/AE2oUm7SvVBLr3UO5WQLhTbndjsI2nHouRq0whCQu8k2IXuhiTYgwbbT4Tjzz2VzoGUpUkU1KnaNUemFIEEkL2tQ2AgSIteDGNTRyFSp+0dH3AQE6VJ3mBfkNO24JYY8TyvHlkyuUnX+9Hp4syhjUYq3+wTy7NU1KjhaUk9pAFhA7gIlyNixBibzGnBHLKiAU1gaZ1Pcd4CTDEyxlgZubHFROD5mAFemqCCqkNAK7Ta4H3bbYzvHG7N1QkZrMNHZICYJk94ye6gP2pExY7sMH4uTJ/Ctl/u77B5YY1qbuX+7LpFj2tzqBabK7LXBbQRcm+nbYLa55m1zq0kKHHBTy4Uyr9koEqdYJWAIPPUSNU+MXxVpey3YKczXzQNZ9MsDcFR7lEKARptEECANgBgHwEvUrNliVUMNbO8ltQgkdWBMEBbzeTOOmXjRnjUY8Rfv32csMsseZyn+tcL01x+39jWUuNAKRTUiABJ0gFfdEHnAXoN+eK49pHYjugG8TJWRcAgjmY71hAODGU9kqcAkPUm8swQctoDMd+YHpiap7P0l96hTA5k1fodH1jGP0OGK/il/c7PqZviIH7fMVdeqpRpIWgaCTYAknUY07gWvudsI0veHa9o06iRqbSsC+oNAgjY78hvglmfY2iw9ypSJ+5UD+hDAfQ4GVOF5rK62phcxTMaoBWooX3bbmOU8xYYU/AbX8Dv8VQ4+UltJUSvlWEu51SQq6YFtXvXsG6xBttJxJl+EsyEu5YuBABIAEXWVYg7x4zzGH8ERMws0jIUgFSYZY5MpMjp0kSNoxdqez9UsWDMDO8qZEDkSY6eOkHpjjlgy9P8AodHyxrZoHZnIyiz3RzkNqiI1RczEAdTBxDTSkrEBl7xjvDYg2ABuYMiBMnptgxX4JWabsoZSCAViOhH2vMn0vcRxDgNbUAKZVP3WEJIA21At9qwiZ+AsE3s0x/LHtEGWJNMB6ekuSLxKloJ2J0wT1iwvOLOSZamokAxAh7mb78h5DbbEeXydcppqIwJJ2ZbDppBuDa0xbzmGhweqqkJTZAp1KEKgkgFZW5hojcj+WKWCbXFA8sewjlqaogZdNMRBYAagpg94nyG4vNoxA2SEs8xU31qLEE6gx6mDF+fUAYm/RXMsKTqTAJGkkWjyF7nf7XXE4yVbSF094bMbgQLHYmxG1j49YWPL09x6odoYtMwTJ3gDQRta8GYmSN/Pnhv6JT2tIIAb73dvcGTvz6HFtOH1QkOxkjSW0gRY3gmLHp/PETZCoIRUYKd9KmYMnRqImAeoA8gYEaJ26T/oGuPZD/Z4/wCn/wDs/rhYufoNT/qV/wCFP9uFg+PL3+zDWjF/261vctt3h8oGGHjjfucti3LbYDbFQZKl94/EfhhwytLr8/6Y+k0Q6PI1y7Lg9oKnJkFosrTHSemEeNud2HpT6bfaxXWhS/JOJUSn0+bYWiPQapdkq8VaZ1VJ8F6/5t7m/ieuI0zUAiKsEyRCgEggg7G8gGfDEi06f3B66sTrRT7lP4ficTpj0Vql2RtxNjEiqY2HaKB8Asch8MMp52BpFM6ZmO3tPkCBi2oQcqY9B+GJkqDlp9P+MLTFcINUuwVRKAytClPVmLfVt8XGzVRo/V07Ekd1jBO5EbHyxfDnx+P9cOCk8j6sMJqL5RSlJeyoM5X1apM9Qr/SIx0ZqtBGphJkwnjPNcXBSPQfH+mOhR4fPE6IdIeuXZQV2mSaltgCAARscQ/o/eLFXkmSZ5nf7VpgbYMKo6fI/jhVqgRSxXYfPkPjgUI+kGuXYIyXC1d9ApqWN2apcLpglzJIUAXJF+XMnBCue41KijCkd22eqfv1BFh91NgNxPuzcMpaaI1Trr/rHixFMN+rTyZgWI56QNjixAHL640dRWlGabb1MHIrkyac8oMAbkxZBzJ+OEckTOqnIPIsCPL3dvwxeatTH2lHr+fzGGvm6Q5jGXxx6Nfkl2R0qBuYXp3iSL2Np6TttaIw1cnt3lkCB3WPlu29zidMysAQZiTA6gHDnzIRWcjawBPM2AgXJnkOcYXxR6D5WvYwTTdezqGQIACrBWbz1UmwHPbAP2upqypqYqV2LaR6RqJ8fl0iyeOLRVlemC7nvVSf9MbARaOmKPFex7AstJY6hRPUSY9N+WNI/wDG1pNFGOSLUjAcUq6LPUhvug/Mxf8A4wJoZZqz6aaPVeDYDl18BcYOf2cczX7MBQWRWQsYECNS87qCWjeFO1sX6NIcMzbLrmnUyzEMRANRASI/zKQN/fAvvjteTrk8/wCOmY160LoC6Z94zc9B4AdP6RW7WNgB488I4YRixJHtnsnoXKZeT/dhiI3LAMSYgnr/AMCDX9pKXRgD3F0hVpgD6SJ5gEYqcPyi06SJsERV2+6oH8sUeKZtg3ZUVD1iAdJHdRTs9YRt0Q3bcjTZ/M+nhOTdHVLO4RX7Is8Y9omtRooGqP3kpyQINtdS/dpgHbdvIjU3hOTXLq9R2FWu5l6jC5O4A5Koi3SMP4VwhaQJLtUquZqVCJZ28Te0kwMWspQWpWYvJpURqYfeMwqf5mt5A8icU8UGtEePf5Ii5RfyS3l/Ymp5QACvVUM7iadMg6QOVSooghJHdQQSbnmVAcZdqWco5osYaFqEbRGk2sI0kMF27mNDmBrYu7SWMkifK3QAQAOQAwP4xw5alF1AOqJG5uPxuPXFbfb64ojNFuFr7luv5oNf2g8HvTvEmN4sYtAg2i+IUzx1iVF4lpJIAMkLad46/KMCPZ3MB6CyDqUANa+wYE32ZSG9cXnAkQLyAOpJsPnjlfiwTo64eQ5JSXsJU+IsDMtpWdXVhNjM78hEb364iq8UUtq1uhU27x26Q0TPPr9B9esg7oZYG56nr5ch6nnisUVgZJ0C7NeBHITYnkB1OKXjRT2sHmZczWWFY/pGWIo5tQ1laFqoLGfT4EdFs3h3tWGWWVhVB0tO6lbaeu8z+YFJmNNVatMHUsaYkIoFgB9phH+G8m8477WUgrU87SEJV7tVejDY26e7O3uDnjeeJZKUuUZRyODtcF3OcZrs0pUEREtII5E2PytucRDijSzPWDaoldhYRuBaYXkdowJo1wxhjoPQ/iRi8vD0PM/EYx+mgjX55Mmz/GKbPKkgDaFEkneSSbTtiCnxeHDIKjAm6sTHIagV8rjbeBjp4cv3wPPThLwlD/eA+QGBePjXYfNMt5TjxWYWoCec2tyNpwQpcZ3mox8YIAtvvJvb+WA/9iryb6fhhjcLI5/T8MT9Nj9N/wBSvnk+UgyvFQQASxWQTJJJMiCJMCInkfXCHGXIVdT2W7StyPmJ5+HOTgDVyZHP6fhisKIJu30/kMC8SG9N7i+d9IO/2/X++v8Ar/DHcAOw/cPxT8cLC+ixFfUy6Q9csv3PliZcih/uxi4pERov1vPlGw+GHoDyGOzUzkorDhyfdXEycKp/kf1xOs9BiQA4VsdEI4PR8/ljv9lUfu/P+uLIGHicK2OkQJwyiOQ+J/HDhw+iOQ+eJCxwtRwWAwZSj0OEOH0z9n54eF8/jhafzOABn9nUx938+eOnLURzHwH4Y52Q5nHRTHQnAA006XQ/n0xU4jRWEVVgs4X05xgginkCMRVlIrZYtt2vP8+GKjyhS4LHEssGrOQLKxpreIWl+qEfwk+uKx4Yh3Cj1P0nBXSZfb36nJZnWZ3E4cs9T6GMJ8guAfT4ZT+6vov4DElDhasQoQfCLATvytPwxbIJ/rf64F+1DstHu3kjtAIvTgmLwInSbkDabbEVbCTpD81VoISxai5tZIPeOwnxM/DE2W4WHhmKWnSixpS1/AtyLeg5lvMKjV2ZQVqfqlsgpzpEkloggkz73OB0wVX2pIAD0qTmJLVaehieQGhT4975CcauHRlr9yN3m/Z6lUAkEdSCBI6EER8pwC4hwdqA+9S5x7w8Y2n8+AHZD2ty7e9R7PxpsD/JTglV4plaqFRmXQmNy/nBGrTfbGeljj5WO/uRkaislak4CsKb6rzdTOoCAY1AnreMP9v6uXrZelWpFVdWEobOA694Ec4KrcW8cXuN0KtNKbg03p1qgpoQ1ySYksANj/TGX9o8maYGoEEmGEnuGRGqREGbEE7HY2xpFbouTjKLaMyBY4JcF4aKlSmGMK1RVM/dkFjPIBZwzO5A0qnZODNiCNiGEqwHMEGeXPGw9mcuO4lIEVwO/UZSBlwCQSgIvWMHvH3Z+9t0NpI5pNqqRqa7lqhp5dIqjctJWiPv1AbF/u0uW7X7qm+G8Fp00gaiSZZ2c6nY3LMRuScVeH0adJBTpIYFyeZJ3YnmT1xdg87Y45S9Lg3hCnb5JcxlkVWbvHSCffflfriPhtEDLLqP7V2qEgkEhIRLgzHvHFPizhaNT3p0nfEuWrHsMrYE/o68/wB95t8MC+1lP7kTPlqfIOT/AI6kH/VhdlYxqXp33t597DDVPWPSPriu6FjzJ85xBQDzeVGUrBixNCqx1aWIKNvNjf8ACegnR1uH6Um8sD/eGQpABOktMnbynqMR0OHUtQ7emtUQe7AIFreJPSNrGeQ7UqNljTpuBUyhKFXZSaoRwRC1AQJpsB0Ok7GLbJJ/zOdXjdLh/t/gHrlE1WUzYCWY3j7sx9cczCL7oLNBudTmTtvOwuB5k88XuLVUovDuNbLI5wpkTYbkCPU+eBn9sUk92mzf4iFHoNz+bYmmbWiSnkyfvW/fYfEz9cX8tkVq5XM5aQxK61GotDbC5/e0G1rYCZjj5awCRyH/ADAGCPsXnHfMPIt2THwkMsbYqMXdibTQK4XlqdWkjsBcXJY8rHc4lrUsqvMehJ+lsZ2jYsqzAZgPIHElRWG4I6SMNx35FqCbPQ/9z0I+hw2rXpD3DUJ8SI+k4GasaDgOXpjvGoNZ2AOw/HCaSBNsp5b9MY/qi3qDHxYxixWy/EVElwRz0mT6iPpONBHixwp8D64jX+CqM9lqlV7NWTUN1fUp9DsfzbFyllCD3jHkxP1XFvN5dXHeAPn+PLAipkatME0mOkX0kT5x1+R8cF2PgK/oP77fEYWAH9tt96n/AAt+OFh6WGpB/tB1GHioD4+mI1jp8sTqcQA5PLEoBxGpxIp/Iwhjgpw4fm+Gjzw/UMAHNXgMcNboJxIvlh4GGBWLsfsnDloTunxOJ9Rw4HABylTjlGJlHhhqtjqnrhAPnwwL9oDFMVP+m6v6TB+uCJbEddQylSJUgg+REYadMTVl6uV1sZMP+sEAG1Qajefv6xtyxH2g5KfiPw/ngZ7P1yaZy73rZaQOr0j3pUcyPeH+fri8ASbRfnNvj08emLlyKL2LCPudK9NiQZ5d6cRtXadzfeLdPuxOIMxUmwYgDa3xJ6E/gOWG0TFxvsCevM+lvlibGVa3DaSt+rUo1tTUzGo8zA7pI2kgzE46tOtbvK4iO+CD6stj/Di0zmNwPTCWsPW8jBYUDMzSpt+2y4YfvIrkeoBt8MVKnsnlKq6qax/8VUH/AEkt8AMHHrdJn1+WH5fIo2qrWCimgJJ2MxIAbdRzJGwGKi2+CJwi1ur/AJnn3tB7LdhmKGXOZOh5Yh4/VwJBmQpJMrsLzhlA0aPbJmsw7dm4SHR2B1LqBDAMyyo2mNpAmcGeGMuYqVczUfVqJWkKidqwRTcsovJM9CO9cziv7T8KFVQxoOU1Lr0lkBiwMMO6YJXmII2IBGl70RDGo7pHOMU2aK9NVeqtMKlQktVNP3g2mY+1Zh3uUiMYp+L5nLuXLxULQxXSQftQRGm1rRblbBjNcOr182tdUqUyCoBUTpAEQIsBuYJi8GcG+LcK0EtVXtlqVFDIKckSD32M3Ft4EWjYAvV2Xp6KHA/betWdaRSkrH7Z1RYTtNiY678saHI8TrNWKe8mm7QAVPw2O0b7HrjNUfZ4B6OhCiLUdmLONUcoPSQsWmN4IvqKdEKAA7AdBH/aMZySvYtPai1naRdHUsLqRv4fjiLhtWclQePc10j4QZX4974YgqaeTVD5Gfli17NOGFbLe6X76Fhs42LA23t5P4YIraiW97OIjESW0qdup/wjn52Ft+WL9Owjbw3Pmx5nwAAEbTuFPEnp6+1BNZY1QurReAahkCTsB5eWKx4qzDWToQ7M1y0b6FEaj4zA5kYNL9D1I0bKTIG/XngfU47Wyy9mdLsSRCk9n5Hkx6qth15AdWzlaCKauCReQSwkzLNG9vdFhaZa4qU+EZgmWQ+bMOduZnx9MNRSE3ZXzmdao7MzX2sAAALBRGwAEARisy+vlgjU4OQSWq0kubF7/CMIcKEe+THMU2j4m2L1ImmDVYc7+uNp7JGjTpV8wqldCgNJmf7xo5e6nzGM9TytOYGtztEg36d3UfTBz2oUZfK08kkLUqkmpDAxs1QyYmAFTx7+DkBnsvlSmVpFoGoFiTb3iSJPkRiTiP6OwAcqx5BTLemnAinXqsyrSpqpA+4sgbA3BKjzOCmWydZTqbs2c7u4LGOg2geAxk1vbLT2oGNwBiNSnT0Vrn1I2PhhlDhmYQyo+BG3kcaICv8AepfwN/ux1jmRsaB/ysPnJwamGkh4YK5kuqqOkEHzicW3ok4H/wDqAo+itT0nqpkecdMGg4P44loaKqUeuHtStEeGJ4GODEjM9/6To/v/AMX9MLGhjwwsVrl2LSgEfPyxLTU/kYg0AmwMb7RiwlAgc4N522ta18IZJqw5ST4YZTBjb57W+OJZ/It8MACAOJJwxQCP69PXywlmZtHgJPlAnlhDon8zHrjpbDWB2sDsZUz8zhqaryBA5/K/LwwAT3w4DEHa9Ab9BHwmMdbVAIvO4nbwvY+hwAP0H8jDtRHLDUJI3g9Pn8cInTvY238bD6jAFDwfD8+mHycQ6/P48sKsRI0sT1kRHzM/DABV4lRbWlalatT2M+8NypPzB5HF7I5pcyjNRhau1SkbMDz0jxjbwtzGKzliQAfl9bWGKGZ4axbtA2iqBZ1IJ8m5EbWM4tSXDJcfaCYsdLEg8wRHjMfP0x01QbjYdRyv6dcVxx6oFjOUO0Uf3tP3t4uDJHWb+WK2YThlcy2bdP3GML8GE+oOJp/+BZM/Eac6Qxdh9mmCx+IsPU44DUNwip/jaT/Cv01c8WBmeG0xbOrG8IUHj1P0OKWY9tuH0v2Sms/IkE/HUFA8wrY0+Nk6kFsnwp3GupWZafMqAgNtk+0fOY3vbAjiudGcjLUZXKUzDuGu5mSisTLEm7N/QvQrcZqZ0/r2fsz/AHNFHOodKjhdtjpWB0g4JLnWUaaeVqhQNggQDn9ojrOG3p2QVfJaGlAFWVUQABsIsAMBuIcRzQMU17vIhQT8L4vsK7CRQAnm9UfRA3164XZ5n/qUk/wqzH4lh9MZrYujO1amaJ75ceoHwEjE7PF2VgYA1VKYv0Go1IwaqZN3/aZmq82gEKPiBPz5Y7R4Jlxc0lY8y0t6kscVqQtJmq3G9Jgwf8JYfJTpxDV4+PsoJ6ncfjjTrwjK7BFkzdQDHlOoDfrh2X4DTpghWqaT9nUIP+m+HqiJxkYd+I1G3dvifpth/D866VAUmR0En4R+QcbBeD5ZT+xBPQmflMfLF+kEpgBQEv8AZGn6RhvIvSEsb9izNJM4mtE1V03pVCVDNAuwiGcC17NI9R9Ok695yqVTFgslPMkkExsIgfDFkZVZL03IqC2q7CNtJHNbbC+JKvHgDpzlLTNlrIdQPmwEz+6y9TIFsGrVwOnEoVHRQS9V9/vBfhpAOK6VkYjs6TOJHedjG+41ScEsl7P0ah7RcwtYSSNcQNrFllDEGw67YMJw1utL+MfjiWmgTTMzSoNuzhOopIB/qIJ+AGJTl6RI7jOT9+WPh735vjSHh6iWeqirz0gtHnYAeZOBtX2joUyVyiNWqx7wIMeJqfs0HiurpbfDUZPkG0WNVPJUzWrwrD3EAEqTtI5ubwvLcxBK+e5nP1K9VqzA6j7qiTpUXCj6zuTJ3JxoU0tU7fN1UNQToUsAiTvoBMk9WJkx4A4sNxuhsjFv/jRiT6gYeqtkhVfJX4G1fbsgqczcGTeTJkn8cGxQ8TgXTz1dj+ry9Q+L6U+p1fI4kCZlj3qlOl4INTf6jGIe7LSCpogXJt1/HA3McXpzppzVfookDzbYfPDP7KpEzVdqh/fa3ootglT0KsKAB0AA+WFsG4Jy/BTUftMywnkim0DkTPyHxwd0AWGIlbwthtR2HIR1JjCbsEqJjGGa12kYgZiwgFJ6TP5+GKxasDe4whhDtMdxU7VvzGFgEU6iSVIsBuJmbRGwi8mMSqtoJmBaeU3thYWGBIo25gcv5WOOhJZn1d0kQsAKg/dtPjcn6YWFgAmcGNpBtsD8+XpjiOw2kfXCwsA3sczdHtAoYsACD3WZLjYFkIJ390mDhzVNBC3aZOxaBYmWMgW2vJ8cLCxLGhPVndvgJO2xgeIw5qYgAluUctj5eXwwsLADJUGyqOdh/QC/LFalVV2IVlJF4DAwfADHcLDESCjqNyN9+nLkMOqZRTY/z+eFhYB2IJBG8RsNuX5/4xKqA3+f1I6YWFgFY7sxbbyIHSftW5cyPnjuZI3IQkXJgTYDwvAPKYBwsLE+y1uiAIBfSovcwB9RhlBVixUnc6RYnwI3GOYWKRLVFnKkibAibRO0c+W84mq1ALsQATFz8gTudsLCwCW5y8289hHztyxVqUm1FoERtzkXt5z5WHqsLAPgYlC57wPhzGLdKlba2FhYBEnZ/mT+R5AYgqBridxAjVHrtInCwsAJjHW20+f9LD0GIVojob+M7X+uFhYKGnZKiiIkGebCfUAD8Mcq5JGgaVaTpFgZJExEbmCYjkemFhYFyJ8Aiv7N0BUnsyjgXCsQbi1psPKMSjhQ5Vcz5DMN877fm+FhYvU+xaURv7K0HjtTVdo3aq3rB3GHr7H0B7uXDCftM5seYJ+MYWFiJ5JJFQgmWcvwekolaNMDwUG4sYMbi4+OLYPRVm/j8ibf1OFhYOQezFE7j8MOYCN7cr/QYWFg4BKxtWgOd8NVFGy/LCwsCdoUlTob2Zvv8vpH1xxqJNpPmYn6Y5hYYrI6tEiNI6df+2fjOGIwBM3J5wPw+WFhYVFaibtx98/6f9uOYWFgpBbP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0602" name="Picture 10" descr="https://scontent.fsgn2-2.fna.fbcdn.net/v/t1.0-9/1468714_553719161389789_1900159896_n.jpg?_nc_cat=100&amp;_nc_ohc=XbZWuBch91AAQnS3gvhqYJPgE_Twzc2d1deIpdIVWFvLbu-Uy5h-Qemug&amp;_nc_ht=scontent.fsgn2-2.fna&amp;oh=ea46e02cd1806da46b941b77e410b03a&amp;oe=5E6ABBE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4648200"/>
            <a:ext cx="3242310" cy="12001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Create a Solution Sketch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381000" y="1295400"/>
          <a:ext cx="8229600" cy="152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2819400"/>
            <a:ext cx="8229600" cy="35052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Creating a </a:t>
            </a:r>
            <a:r>
              <a:rPr lang="en-US" sz="2400" i="1" dirty="0" smtClean="0">
                <a:solidFill>
                  <a:srgbClr val="C00000"/>
                </a:solidFill>
              </a:rPr>
              <a:t>solution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 smtClean="0"/>
              <a:t>Creating </a:t>
            </a:r>
            <a:r>
              <a:rPr lang="en-US" sz="2400" i="1" dirty="0" smtClean="0">
                <a:solidFill>
                  <a:srgbClr val="C00000"/>
                </a:solidFill>
              </a:rPr>
              <a:t>projects</a:t>
            </a:r>
            <a:r>
              <a:rPr lang="en-US" sz="2400" dirty="0" smtClean="0"/>
              <a:t>, </a:t>
            </a:r>
            <a:r>
              <a:rPr lang="en-US" sz="2400" i="1" dirty="0" smtClean="0">
                <a:solidFill>
                  <a:srgbClr val="C00000"/>
                </a:solidFill>
              </a:rPr>
              <a:t>folders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 smtClean="0"/>
              <a:t>Specifying </a:t>
            </a:r>
            <a:r>
              <a:rPr lang="en-US" sz="2400" i="1" dirty="0" smtClean="0">
                <a:solidFill>
                  <a:srgbClr val="C00000"/>
                </a:solidFill>
              </a:rPr>
              <a:t>interdependencies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 smtClean="0"/>
              <a:t>Importing </a:t>
            </a:r>
            <a:r>
              <a:rPr lang="en-US" sz="2400" i="1" dirty="0" smtClean="0">
                <a:solidFill>
                  <a:srgbClr val="C00000"/>
                </a:solidFill>
              </a:rPr>
              <a:t>libraries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 smtClean="0"/>
              <a:t>Configuring </a:t>
            </a:r>
            <a:r>
              <a:rPr lang="en-US" sz="2400" i="1" dirty="0" smtClean="0">
                <a:solidFill>
                  <a:srgbClr val="C00000"/>
                </a:solidFill>
              </a:rPr>
              <a:t>compilation</a:t>
            </a:r>
            <a:r>
              <a:rPr lang="en-US" sz="2400" dirty="0" smtClean="0"/>
              <a:t> options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 smtClean="0"/>
              <a:t>Configuring </a:t>
            </a:r>
            <a:r>
              <a:rPr lang="en-US" sz="2400" i="1" dirty="0" smtClean="0">
                <a:solidFill>
                  <a:srgbClr val="C00000"/>
                </a:solidFill>
              </a:rPr>
              <a:t>link</a:t>
            </a:r>
            <a:r>
              <a:rPr lang="en-US" sz="2400" dirty="0" smtClean="0"/>
              <a:t> options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 smtClean="0"/>
              <a:t>Configuring </a:t>
            </a:r>
            <a:r>
              <a:rPr lang="en-US" sz="2400" i="1" dirty="0" smtClean="0">
                <a:solidFill>
                  <a:srgbClr val="C00000"/>
                </a:solidFill>
              </a:rPr>
              <a:t>build</a:t>
            </a:r>
            <a:r>
              <a:rPr lang="en-US" sz="2400" dirty="0" smtClean="0"/>
              <a:t> options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 smtClean="0"/>
              <a:t>Constructing a </a:t>
            </a:r>
            <a:r>
              <a:rPr lang="en-US" sz="2400" i="1" dirty="0" smtClean="0">
                <a:solidFill>
                  <a:srgbClr val="C00000"/>
                </a:solidFill>
              </a:rPr>
              <a:t>Hello World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Define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What</a:t>
            </a:r>
            <a:r>
              <a:rPr lang="en-US" sz="2400" dirty="0" smtClean="0"/>
              <a:t> constitutes an </a:t>
            </a:r>
            <a:r>
              <a:rPr lang="en-US" sz="2400" u="sng" dirty="0" smtClean="0"/>
              <a:t>application component</a:t>
            </a:r>
            <a:r>
              <a:rPr lang="en-US" sz="2400" dirty="0" smtClean="0"/>
              <a:t> (application module)?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How</a:t>
            </a:r>
            <a:r>
              <a:rPr lang="en-US" sz="2400" dirty="0" smtClean="0"/>
              <a:t> is an application component </a:t>
            </a:r>
            <a:r>
              <a:rPr lang="en-US" sz="2400" u="sng" dirty="0" smtClean="0"/>
              <a:t>structured</a:t>
            </a:r>
            <a:r>
              <a:rPr lang="en-US" sz="2400" dirty="0" smtClean="0"/>
              <a:t>, </a:t>
            </a:r>
            <a:r>
              <a:rPr lang="en-US" sz="2400" u="sng" dirty="0" smtClean="0"/>
              <a:t>built</a:t>
            </a:r>
            <a:r>
              <a:rPr lang="en-US" sz="2400" dirty="0" smtClean="0"/>
              <a:t> and </a:t>
            </a:r>
            <a:r>
              <a:rPr lang="en-US" sz="2400" u="sng" dirty="0" smtClean="0"/>
              <a:t>used</a:t>
            </a:r>
            <a:r>
              <a:rPr lang="en-US" sz="2400" dirty="0" smtClean="0"/>
              <a:t>?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How</a:t>
            </a:r>
            <a:r>
              <a:rPr lang="en-US" sz="2400" dirty="0" smtClean="0"/>
              <a:t> will application components </a:t>
            </a:r>
            <a:r>
              <a:rPr lang="en-US" sz="2400" u="sng" dirty="0" smtClean="0"/>
              <a:t>interact</a:t>
            </a:r>
            <a:r>
              <a:rPr lang="en-US" sz="2400" dirty="0" smtClean="0"/>
              <a:t>?</a:t>
            </a:r>
            <a:endParaRPr lang="en-US" sz="2400" dirty="0"/>
          </a:p>
        </p:txBody>
      </p:sp>
      <p:pic>
        <p:nvPicPr>
          <p:cNvPr id="103426" name="Picture 2" descr="Image result for &quot;Node.js Modules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3429000"/>
            <a:ext cx="3543300" cy="3028950"/>
          </a:xfrm>
          <a:prstGeom prst="rect">
            <a:avLst/>
          </a:prstGeom>
          <a:noFill/>
        </p:spPr>
      </p:pic>
      <p:pic>
        <p:nvPicPr>
          <p:cNvPr id="103428" name="Picture 4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33800" y="3886200"/>
            <a:ext cx="5142500" cy="226449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Node.js Folder Structure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09600" y="2021681"/>
            <a:ext cx="78486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>
                <a:latin typeface="Consolas" pitchFamily="49" charset="0"/>
                <a:cs typeface="Arial" pitchFamily="34" charset="0"/>
              </a:rPr>
              <a:t>src</a:t>
            </a:r>
            <a:endParaRPr lang="en-US" dirty="0" smtClean="0">
              <a:latin typeface="Consolas" pitchFamily="49" charset="0"/>
              <a:cs typeface="Arial" pitchFamily="34" charset="0"/>
            </a:endParaRPr>
          </a:p>
          <a:p>
            <a:r>
              <a:rPr lang="en-US" dirty="0" smtClean="0">
                <a:latin typeface="Consolas" pitchFamily="49" charset="0"/>
                <a:cs typeface="Arial" pitchFamily="34" charset="0"/>
              </a:rPr>
              <a:t>│   app.js          # App entry point</a:t>
            </a:r>
          </a:p>
          <a:p>
            <a:r>
              <a:rPr lang="en-US" dirty="0" smtClean="0">
                <a:latin typeface="Consolas" pitchFamily="49" charset="0"/>
                <a:cs typeface="Arial" pitchFamily="34" charset="0"/>
              </a:rPr>
              <a:t>└───</a:t>
            </a:r>
            <a:r>
              <a:rPr lang="en-US" dirty="0" err="1" smtClean="0">
                <a:latin typeface="Consolas" pitchFamily="49" charset="0"/>
                <a:cs typeface="Arial" pitchFamily="34" charset="0"/>
              </a:rPr>
              <a:t>api</a:t>
            </a:r>
            <a:r>
              <a:rPr lang="en-US" dirty="0" smtClean="0">
                <a:latin typeface="Consolas" pitchFamily="49" charset="0"/>
                <a:cs typeface="Arial" pitchFamily="34" charset="0"/>
              </a:rPr>
              <a:t>             # Express route controllers for all the endpoints of the app</a:t>
            </a:r>
          </a:p>
          <a:p>
            <a:r>
              <a:rPr lang="en-US" dirty="0" smtClean="0">
                <a:latin typeface="Consolas" pitchFamily="49" charset="0"/>
                <a:cs typeface="Arial" pitchFamily="34" charset="0"/>
              </a:rPr>
              <a:t>└───</a:t>
            </a:r>
            <a:r>
              <a:rPr lang="en-US" dirty="0" err="1" smtClean="0">
                <a:latin typeface="Consolas" pitchFamily="49" charset="0"/>
                <a:cs typeface="Arial" pitchFamily="34" charset="0"/>
              </a:rPr>
              <a:t>config</a:t>
            </a:r>
            <a:r>
              <a:rPr lang="en-US" dirty="0" smtClean="0">
                <a:latin typeface="Consolas" pitchFamily="49" charset="0"/>
                <a:cs typeface="Arial" pitchFamily="34" charset="0"/>
              </a:rPr>
              <a:t>          # Environment variables and configuration related stuff</a:t>
            </a:r>
          </a:p>
          <a:p>
            <a:r>
              <a:rPr lang="en-US" dirty="0" smtClean="0">
                <a:latin typeface="Consolas" pitchFamily="49" charset="0"/>
                <a:cs typeface="Arial" pitchFamily="34" charset="0"/>
              </a:rPr>
              <a:t>└───jobs            # Jobs definitions for agenda.js</a:t>
            </a:r>
          </a:p>
          <a:p>
            <a:r>
              <a:rPr lang="en-US" dirty="0" smtClean="0">
                <a:latin typeface="Consolas" pitchFamily="49" charset="0"/>
                <a:cs typeface="Arial" pitchFamily="34" charset="0"/>
              </a:rPr>
              <a:t>└───loaders         # Split the startup process into modules</a:t>
            </a:r>
          </a:p>
          <a:p>
            <a:r>
              <a:rPr lang="en-US" dirty="0" smtClean="0">
                <a:latin typeface="Consolas" pitchFamily="49" charset="0"/>
                <a:cs typeface="Arial" pitchFamily="34" charset="0"/>
              </a:rPr>
              <a:t>└───models          # Database models</a:t>
            </a:r>
          </a:p>
          <a:p>
            <a:r>
              <a:rPr lang="en-US" dirty="0" smtClean="0">
                <a:latin typeface="Consolas" pitchFamily="49" charset="0"/>
                <a:cs typeface="Arial" pitchFamily="34" charset="0"/>
              </a:rPr>
              <a:t>└───services        # All the business logic is here</a:t>
            </a:r>
          </a:p>
          <a:p>
            <a:r>
              <a:rPr lang="en-US" dirty="0" smtClean="0">
                <a:latin typeface="Consolas" pitchFamily="49" charset="0"/>
                <a:cs typeface="Arial" pitchFamily="34" charset="0"/>
              </a:rPr>
              <a:t>└───subscribers     # Event handlers for </a:t>
            </a:r>
            <a:r>
              <a:rPr lang="en-US" dirty="0" err="1" smtClean="0">
                <a:latin typeface="Consolas" pitchFamily="49" charset="0"/>
                <a:cs typeface="Arial" pitchFamily="34" charset="0"/>
              </a:rPr>
              <a:t>async</a:t>
            </a:r>
            <a:r>
              <a:rPr lang="en-US" dirty="0" smtClean="0">
                <a:latin typeface="Consolas" pitchFamily="49" charset="0"/>
                <a:cs typeface="Arial" pitchFamily="34" charset="0"/>
              </a:rPr>
              <a:t> task</a:t>
            </a:r>
          </a:p>
          <a:p>
            <a:r>
              <a:rPr lang="en-US" dirty="0" smtClean="0">
                <a:latin typeface="Consolas" pitchFamily="49" charset="0"/>
                <a:cs typeface="Arial" pitchFamily="34" charset="0"/>
              </a:rPr>
              <a:t>└───types           # Type declaration files (</a:t>
            </a:r>
            <a:r>
              <a:rPr lang="en-US" dirty="0" err="1" smtClean="0">
                <a:latin typeface="Consolas" pitchFamily="49" charset="0"/>
                <a:cs typeface="Arial" pitchFamily="34" charset="0"/>
              </a:rPr>
              <a:t>d.ts</a:t>
            </a:r>
            <a:r>
              <a:rPr lang="en-US" dirty="0" smtClean="0">
                <a:latin typeface="Consolas" pitchFamily="49" charset="0"/>
                <a:cs typeface="Arial" pitchFamily="34" charset="0"/>
              </a:rPr>
              <a:t>) for Typescript</a:t>
            </a:r>
            <a:endParaRPr lang="en-US" dirty="0">
              <a:latin typeface="Consolas" pitchFamily="49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Don’t put your business logic inside the controllers because as soon as you need to write </a:t>
            </a:r>
            <a:r>
              <a:rPr lang="en-US" sz="2200" i="1" dirty="0" smtClean="0">
                <a:solidFill>
                  <a:srgbClr val="C00000"/>
                </a:solidFill>
              </a:rPr>
              <a:t>unit tests</a:t>
            </a:r>
            <a:r>
              <a:rPr lang="en-US" sz="2200" dirty="0" smtClean="0"/>
              <a:t>, you will end up dealing with </a:t>
            </a:r>
            <a:r>
              <a:rPr lang="en-US" sz="2200" u="sng" dirty="0" smtClean="0"/>
              <a:t>complex mocks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Someday, you will want to use your </a:t>
            </a:r>
            <a:r>
              <a:rPr lang="en-US" sz="2200" i="1" dirty="0" smtClean="0">
                <a:solidFill>
                  <a:srgbClr val="C00000"/>
                </a:solidFill>
              </a:rPr>
              <a:t>business logic</a:t>
            </a:r>
            <a:r>
              <a:rPr lang="en-US" sz="2200" dirty="0" smtClean="0"/>
              <a:t> on a CLI tool, or not going far, in a recurring task.</a:t>
            </a:r>
          </a:p>
        </p:txBody>
      </p:sp>
      <p:pic>
        <p:nvPicPr>
          <p:cNvPr id="130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3657600"/>
            <a:ext cx="3683000" cy="252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Components Dependency</a:t>
            </a:r>
            <a:endParaRPr lang="en-US" dirty="0"/>
          </a:p>
        </p:txBody>
      </p:sp>
      <p:pic>
        <p:nvPicPr>
          <p:cNvPr id="89090" name="Picture 2" descr="https://jukkatamminen.files.wordpress.com/2010/08/3-taso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7469" y="1937125"/>
            <a:ext cx="7946931" cy="39302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Separation of Concerns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276600"/>
          </a:xfrm>
        </p:spPr>
        <p:txBody>
          <a:bodyPr/>
          <a:lstStyle/>
          <a:p>
            <a:r>
              <a:rPr lang="en-US" sz="2400" dirty="0" smtClean="0"/>
              <a:t>I want the components in my applications to be as </a:t>
            </a:r>
            <a:r>
              <a:rPr lang="en-US" sz="2400" i="1" dirty="0" smtClean="0">
                <a:solidFill>
                  <a:srgbClr val="C00000"/>
                </a:solidFill>
              </a:rPr>
              <a:t>independent</a:t>
            </a:r>
            <a:r>
              <a:rPr lang="en-US" sz="2400" dirty="0" smtClean="0"/>
              <a:t> as possible and to have as few interdependencies as I can arrange.</a:t>
            </a:r>
          </a:p>
          <a:p>
            <a:r>
              <a:rPr lang="en-US" sz="2400" dirty="0" smtClean="0"/>
              <a:t>In an ideal situation, each component knows nothing about any other component and only deals with other areas of the application through </a:t>
            </a:r>
            <a:r>
              <a:rPr lang="en-US" sz="2400" i="1" dirty="0" smtClean="0">
                <a:solidFill>
                  <a:srgbClr val="C00000"/>
                </a:solidFill>
              </a:rPr>
              <a:t>abstract interfaces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This is known as </a:t>
            </a:r>
            <a:r>
              <a:rPr lang="en-US" sz="2400" i="1" dirty="0" smtClean="0">
                <a:solidFill>
                  <a:srgbClr val="C00000"/>
                </a:solidFill>
              </a:rPr>
              <a:t>loose coupling</a:t>
            </a:r>
            <a:r>
              <a:rPr lang="en-US" sz="2400" dirty="0" smtClean="0"/>
              <a:t>, and it makes </a:t>
            </a:r>
            <a:r>
              <a:rPr lang="en-US" sz="2400" u="sng" dirty="0" smtClean="0"/>
              <a:t>testing</a:t>
            </a:r>
            <a:r>
              <a:rPr lang="en-US" sz="2400" dirty="0" smtClean="0"/>
              <a:t> and </a:t>
            </a:r>
            <a:r>
              <a:rPr lang="en-US" sz="2400" u="sng" dirty="0" smtClean="0"/>
              <a:t>modifying</a:t>
            </a:r>
            <a:r>
              <a:rPr lang="en-US" sz="2400" dirty="0" smtClean="0"/>
              <a:t> applications </a:t>
            </a:r>
            <a:r>
              <a:rPr lang="en-US" sz="2400" u="sng" dirty="0" smtClean="0"/>
              <a:t>easier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6553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52800" y="4953000"/>
            <a:ext cx="24003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Dependency Injection Example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029200"/>
            <a:ext cx="8229600" cy="1096963"/>
          </a:xfrm>
        </p:spPr>
        <p:txBody>
          <a:bodyPr/>
          <a:lstStyle/>
          <a:p>
            <a:r>
              <a:rPr lang="en-US" sz="2400" dirty="0" smtClean="0"/>
              <a:t>☠ My </a:t>
            </a:r>
            <a:r>
              <a:rPr lang="en-US" sz="2400" i="1" dirty="0" smtClean="0">
                <a:solidFill>
                  <a:srgbClr val="C00000"/>
                </a:solidFill>
              </a:rPr>
              <a:t>goal</a:t>
            </a:r>
            <a:r>
              <a:rPr lang="en-US" sz="2400" dirty="0" smtClean="0"/>
              <a:t> is being able to </a:t>
            </a:r>
            <a:r>
              <a:rPr lang="en-US" sz="2400" u="sng" dirty="0" smtClean="0"/>
              <a:t>replace</a:t>
            </a:r>
            <a:r>
              <a:rPr lang="en-US" sz="2400" dirty="0" smtClean="0"/>
              <a:t> </a:t>
            </a:r>
            <a:r>
              <a:rPr lang="en-US" sz="2400" dirty="0" err="1" smtClean="0"/>
              <a:t>MyEmailSender</a:t>
            </a:r>
            <a:r>
              <a:rPr lang="en-US" sz="2400" dirty="0" smtClean="0"/>
              <a:t> </a:t>
            </a:r>
            <a:r>
              <a:rPr lang="en-US" sz="2400" u="sng" dirty="0" smtClean="0"/>
              <a:t>without</a:t>
            </a:r>
            <a:r>
              <a:rPr lang="en-US" sz="2400" dirty="0" smtClean="0"/>
              <a:t> having to </a:t>
            </a:r>
            <a:r>
              <a:rPr lang="en-US" sz="2400" u="sng" dirty="0" smtClean="0"/>
              <a:t>change</a:t>
            </a:r>
            <a:r>
              <a:rPr lang="en-US" sz="2400" dirty="0" smtClean="0"/>
              <a:t> </a:t>
            </a:r>
            <a:r>
              <a:rPr lang="en-US" sz="2400" dirty="0" err="1" smtClean="0"/>
              <a:t>PasswordReset</a:t>
            </a:r>
            <a:r>
              <a:rPr lang="en-US" sz="2400" dirty="0" smtClean="0"/>
              <a:t> helper.</a:t>
            </a:r>
            <a:endParaRPr lang="en-US" sz="2400" dirty="0"/>
          </a:p>
        </p:txBody>
      </p:sp>
      <p:pic>
        <p:nvPicPr>
          <p:cNvPr id="890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3925" y="1600200"/>
            <a:ext cx="7296150" cy="100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304800" y="2845475"/>
            <a:ext cx="8534400" cy="2031325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Consolas" pitchFamily="49" charset="0"/>
                <a:cs typeface="Consolas" pitchFamily="49" charset="0"/>
              </a:rPr>
              <a:t>public class 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PasswordResetHelper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 {</a:t>
            </a:r>
          </a:p>
          <a:p>
            <a:pPr lvl="1"/>
            <a:r>
              <a:rPr lang="en-US" dirty="0" smtClean="0">
                <a:latin typeface="Consolas" pitchFamily="49" charset="0"/>
                <a:cs typeface="Consolas" pitchFamily="49" charset="0"/>
              </a:rPr>
              <a:t>public void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ResetPassword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() {</a:t>
            </a:r>
          </a:p>
          <a:p>
            <a:pPr lvl="2"/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IEmailSender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mySender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 = new 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MyEmailSender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();</a:t>
            </a:r>
          </a:p>
          <a:p>
            <a:pPr lvl="2"/>
            <a:r>
              <a:rPr lang="en-US" dirty="0" smtClean="0">
                <a:latin typeface="Consolas" pitchFamily="49" charset="0"/>
                <a:cs typeface="Consolas" pitchFamily="49" charset="0"/>
              </a:rPr>
              <a:t>//...call interface methods to configure e-mail details...</a:t>
            </a:r>
          </a:p>
          <a:p>
            <a:pPr lvl="2"/>
            <a:r>
              <a:rPr lang="en-US" dirty="0" err="1" smtClean="0">
                <a:latin typeface="Consolas" pitchFamily="49" charset="0"/>
                <a:cs typeface="Consolas" pitchFamily="49" charset="0"/>
              </a:rPr>
              <a:t>mySender.SendEmail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();</a:t>
            </a:r>
          </a:p>
          <a:p>
            <a:pPr lvl="1"/>
            <a:r>
              <a:rPr lang="en-US" dirty="0" smtClean="0"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}</a:t>
            </a:r>
            <a:endParaRPr lang="en-US" dirty="0"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☞ 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What I need is a way to get objects that implement an interface </a:t>
            </a:r>
            <a:r>
              <a:rPr lang="en-US" sz="2400" i="1" dirty="0" smtClean="0">
                <a:solidFill>
                  <a:srgbClr val="C00000"/>
                </a:solidFill>
              </a:rPr>
              <a:t>without</a:t>
            </a:r>
            <a:r>
              <a:rPr lang="en-US" sz="2400" dirty="0" smtClean="0"/>
              <a:t> having to </a:t>
            </a:r>
            <a:r>
              <a:rPr lang="en-US" sz="2400" u="sng" dirty="0" smtClean="0"/>
              <a:t>create</a:t>
            </a:r>
            <a:r>
              <a:rPr lang="en-US" sz="2400" dirty="0" smtClean="0"/>
              <a:t> the object directly.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304800" y="2438400"/>
            <a:ext cx="8534400" cy="2862322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public class </a:t>
            </a:r>
            <a:r>
              <a:rPr lang="en-US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PasswordResetHelper</a:t>
            </a:r>
            <a:r>
              <a:rPr lang="en-US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{</a:t>
            </a:r>
          </a:p>
          <a:p>
            <a:pPr lvl="1"/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private </a:t>
            </a:r>
            <a:r>
              <a:rPr lang="en-US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IEmailSender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emailSender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;</a:t>
            </a:r>
          </a:p>
          <a:p>
            <a:pPr lvl="1"/>
            <a:r>
              <a:rPr lang="en-US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public </a:t>
            </a:r>
            <a:r>
              <a:rPr lang="en-US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PasswordResetHelper</a:t>
            </a:r>
            <a:r>
              <a:rPr lang="en-US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IEmailSender</a:t>
            </a:r>
            <a:r>
              <a:rPr lang="en-US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emailSenderParam</a:t>
            </a:r>
            <a:r>
              <a:rPr lang="en-US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) {</a:t>
            </a:r>
          </a:p>
          <a:p>
            <a:pPr lvl="1"/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emailSender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= </a:t>
            </a:r>
            <a:r>
              <a:rPr lang="en-US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emailSenderParam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;</a:t>
            </a:r>
          </a:p>
          <a:p>
            <a:pPr lvl="1"/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lvl="1"/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public void </a:t>
            </a:r>
            <a:r>
              <a:rPr lang="en-US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ResetPassword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() {</a:t>
            </a:r>
          </a:p>
          <a:p>
            <a:pPr lvl="2"/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// ...call interface methods to configure e-mail details...</a:t>
            </a:r>
          </a:p>
          <a:p>
            <a:pPr lvl="2"/>
            <a:r>
              <a:rPr lang="en-US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emailSender.SendEmail</a:t>
            </a:r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();</a:t>
            </a:r>
          </a:p>
          <a:p>
            <a:pPr lvl="1"/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en-US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4800" y="5429071"/>
            <a:ext cx="8534400" cy="1200329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...</a:t>
            </a:r>
          </a:p>
          <a:p>
            <a:r>
              <a:rPr lang="en-US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IEmailSender</a:t>
            </a:r>
            <a:r>
              <a:rPr lang="en-US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sender = new </a:t>
            </a:r>
            <a:r>
              <a:rPr lang="en-US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MyEmailSender</a:t>
            </a:r>
            <a:r>
              <a:rPr lang="en-US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();</a:t>
            </a:r>
          </a:p>
          <a:p>
            <a:r>
              <a:rPr lang="en-US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helper = new </a:t>
            </a:r>
            <a:r>
              <a:rPr lang="en-US" b="1" dirty="0" err="1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PasswordResetHelper</a:t>
            </a:r>
            <a:r>
              <a:rPr lang="en-US" b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(sender);</a:t>
            </a:r>
          </a:p>
          <a:p>
            <a:r>
              <a:rPr lang="en-US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...</a:t>
            </a:r>
            <a:endParaRPr lang="en-US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Dependency Injection Container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☠ How do I </a:t>
            </a:r>
            <a:r>
              <a:rPr lang="en-US" sz="2400" i="1" dirty="0" smtClean="0">
                <a:solidFill>
                  <a:srgbClr val="C00000"/>
                </a:solidFill>
              </a:rPr>
              <a:t>instantiate</a:t>
            </a:r>
            <a:r>
              <a:rPr lang="en-US" sz="2400" dirty="0" smtClean="0"/>
              <a:t> the </a:t>
            </a:r>
            <a:r>
              <a:rPr lang="en-US" sz="2400" u="sng" dirty="0" smtClean="0"/>
              <a:t>concrete implementation</a:t>
            </a:r>
            <a:r>
              <a:rPr lang="en-US" sz="2400" dirty="0" smtClean="0"/>
              <a:t> of interfaces without creating dependencies somewhere else in the application?</a:t>
            </a:r>
          </a:p>
          <a:p>
            <a:r>
              <a:rPr lang="en-US" sz="2400" dirty="0" smtClean="0"/>
              <a:t>☞ The answer is to use a </a:t>
            </a:r>
            <a:r>
              <a:rPr lang="en-US" sz="2400" i="1" dirty="0" smtClean="0">
                <a:solidFill>
                  <a:srgbClr val="C00000"/>
                </a:solidFill>
              </a:rPr>
              <a:t>dependency injection container</a:t>
            </a:r>
            <a:r>
              <a:rPr lang="en-US" sz="2400" dirty="0" smtClean="0"/>
              <a:t>, also known as an </a:t>
            </a:r>
            <a:r>
              <a:rPr lang="en-US" sz="2400" dirty="0" err="1" smtClean="0"/>
              <a:t>IoC</a:t>
            </a:r>
            <a:r>
              <a:rPr lang="en-US" sz="2400" dirty="0" smtClean="0"/>
              <a:t> container.</a:t>
            </a:r>
          </a:p>
          <a:p>
            <a:r>
              <a:rPr lang="en-US" sz="2400" dirty="0" smtClean="0"/>
              <a:t>I </a:t>
            </a:r>
            <a:r>
              <a:rPr lang="en-US" sz="2400" i="1" dirty="0" smtClean="0">
                <a:solidFill>
                  <a:srgbClr val="C00000"/>
                </a:solidFill>
              </a:rPr>
              <a:t>register</a:t>
            </a:r>
            <a:r>
              <a:rPr lang="en-US" sz="2400" dirty="0" smtClean="0"/>
              <a:t> the set of </a:t>
            </a:r>
            <a:r>
              <a:rPr lang="en-US" sz="2400" u="sng" dirty="0" smtClean="0"/>
              <a:t>interfaces</a:t>
            </a:r>
            <a:r>
              <a:rPr lang="en-US" sz="2400" dirty="0" smtClean="0"/>
              <a:t> or abstract types that my application uses with the DI container, and specify which </a:t>
            </a:r>
            <a:r>
              <a:rPr lang="en-US" sz="2400" u="sng" dirty="0" smtClean="0"/>
              <a:t>implementation classes</a:t>
            </a:r>
            <a:r>
              <a:rPr lang="en-US" sz="2400" dirty="0" smtClean="0"/>
              <a:t> should be instantiated to satisfy dependencies.</a:t>
            </a:r>
          </a:p>
          <a:p>
            <a:r>
              <a:rPr lang="en-US" sz="2400" dirty="0" smtClean="0"/>
              <a:t>I no longer create the objects in my application myself using the </a:t>
            </a:r>
            <a:r>
              <a:rPr lang="en-US" sz="2400" i="1" dirty="0" smtClean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new</a:t>
            </a:r>
            <a:r>
              <a:rPr lang="en-US" sz="2400" dirty="0" smtClean="0"/>
              <a:t> keyword. Instead, I go to the DI container and </a:t>
            </a:r>
            <a:r>
              <a:rPr lang="en-US" sz="2400" i="1" dirty="0" smtClean="0">
                <a:solidFill>
                  <a:srgbClr val="C00000"/>
                </a:solidFill>
              </a:rPr>
              <a:t>request</a:t>
            </a:r>
            <a:r>
              <a:rPr lang="en-US" sz="2400" dirty="0" smtClean="0"/>
              <a:t> the objects I need.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.NET Dependency Injection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http://www.ninject.org/</a:t>
            </a:r>
            <a:endParaRPr lang="en-US" sz="2400" dirty="0" smtClean="0"/>
          </a:p>
          <a:p>
            <a:r>
              <a:rPr lang="en-US" sz="2400" dirty="0" smtClean="0">
                <a:hlinkClick r:id="rId3"/>
              </a:rPr>
              <a:t>https://structuremap.github.io/</a:t>
            </a:r>
            <a:endParaRPr lang="en-US" sz="2400" dirty="0" smtClean="0"/>
          </a:p>
          <a:p>
            <a:r>
              <a:rPr lang="en-US" sz="2400" dirty="0" smtClean="0">
                <a:hlinkClick r:id="rId4"/>
              </a:rPr>
              <a:t>https://github.com/unitycontainer/unity</a:t>
            </a:r>
            <a:endParaRPr lang="en-US" sz="2400" dirty="0" smtClean="0"/>
          </a:p>
          <a:p>
            <a:endParaRPr lang="en-US" sz="2400" dirty="0" smtClean="0"/>
          </a:p>
        </p:txBody>
      </p:sp>
      <p:pic>
        <p:nvPicPr>
          <p:cNvPr id="4" name="Picture 2" descr="https://img.icons8.com/ios/452/module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24400" y="3352800"/>
            <a:ext cx="2870200" cy="2870200"/>
          </a:xfrm>
          <a:prstGeom prst="rect">
            <a:avLst/>
          </a:prstGeom>
          <a:noFill/>
        </p:spPr>
      </p:pic>
      <p:pic>
        <p:nvPicPr>
          <p:cNvPr id="80898" name="Picture 2" descr="https://icon-library.com/images/vb-net-icon/vb-net-icon-1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600200" y="3505200"/>
            <a:ext cx="2666667" cy="266666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With </a:t>
            </a:r>
            <a:r>
              <a:rPr lang="en-US" dirty="0" err="1" smtClean="0">
                <a:latin typeface="Consolas" pitchFamily="49" charset="0"/>
              </a:rPr>
              <a:t>Ninject</a:t>
            </a:r>
            <a:r>
              <a:rPr lang="en-US" dirty="0" smtClean="0"/>
              <a:t> (I)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4800" y="1752600"/>
            <a:ext cx="8534400" cy="4524315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Consolas" pitchFamily="49" charset="0"/>
                <a:cs typeface="Consolas" pitchFamily="49" charset="0"/>
              </a:rPr>
              <a:t>public class 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NinjectDependencyResolver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 : 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IDependencyResolver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 {</a:t>
            </a:r>
          </a:p>
          <a:p>
            <a:pPr lvl="1"/>
            <a:r>
              <a:rPr lang="en-US" b="1" dirty="0" smtClean="0">
                <a:latin typeface="Consolas" pitchFamily="49" charset="0"/>
                <a:cs typeface="Consolas" pitchFamily="49" charset="0"/>
              </a:rPr>
              <a:t>private 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IKernel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 kernel;</a:t>
            </a:r>
          </a:p>
          <a:p>
            <a:pPr lvl="1"/>
            <a:r>
              <a:rPr lang="en-US" b="1" dirty="0" smtClean="0">
                <a:latin typeface="Consolas" pitchFamily="49" charset="0"/>
                <a:cs typeface="Consolas" pitchFamily="49" charset="0"/>
              </a:rPr>
              <a:t>public 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NinjectDependencyResolver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(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IKernel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kernelParam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) {</a:t>
            </a:r>
          </a:p>
          <a:p>
            <a:pPr lvl="2"/>
            <a:r>
              <a:rPr lang="en-US" dirty="0" smtClean="0">
                <a:latin typeface="Consolas" pitchFamily="49" charset="0"/>
                <a:cs typeface="Consolas" pitchFamily="49" charset="0"/>
              </a:rPr>
              <a:t>kernel =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kernelParam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;</a:t>
            </a:r>
          </a:p>
          <a:p>
            <a:pPr lvl="2"/>
            <a:r>
              <a:rPr lang="en-US" dirty="0" err="1" smtClean="0">
                <a:latin typeface="Consolas" pitchFamily="49" charset="0"/>
                <a:cs typeface="Consolas" pitchFamily="49" charset="0"/>
              </a:rPr>
              <a:t>AddBindings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();</a:t>
            </a:r>
          </a:p>
          <a:p>
            <a:pPr lvl="1"/>
            <a:r>
              <a:rPr lang="en-US" dirty="0" smtClean="0">
                <a:latin typeface="Consolas" pitchFamily="49" charset="0"/>
                <a:cs typeface="Consolas" pitchFamily="49" charset="0"/>
              </a:rPr>
              <a:t>}</a:t>
            </a:r>
          </a:p>
          <a:p>
            <a:pPr lvl="1"/>
            <a:r>
              <a:rPr lang="en-US" dirty="0" smtClean="0">
                <a:latin typeface="Consolas" pitchFamily="49" charset="0"/>
                <a:cs typeface="Consolas" pitchFamily="49" charset="0"/>
              </a:rPr>
              <a:t>public object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GetService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(Type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serviceType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) {</a:t>
            </a:r>
          </a:p>
          <a:p>
            <a:pPr lvl="1"/>
            <a:r>
              <a:rPr lang="en-US" dirty="0" smtClean="0">
                <a:latin typeface="Consolas" pitchFamily="49" charset="0"/>
                <a:cs typeface="Consolas" pitchFamily="49" charset="0"/>
              </a:rPr>
              <a:t>	return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kernel.TryGet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(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serviceType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);</a:t>
            </a:r>
          </a:p>
          <a:p>
            <a:pPr lvl="1"/>
            <a:r>
              <a:rPr lang="en-US" dirty="0" smtClean="0">
                <a:latin typeface="Consolas" pitchFamily="49" charset="0"/>
                <a:cs typeface="Consolas" pitchFamily="49" charset="0"/>
              </a:rPr>
              <a:t>}</a:t>
            </a:r>
          </a:p>
          <a:p>
            <a:pPr lvl="1"/>
            <a:r>
              <a:rPr lang="en-US" dirty="0" smtClean="0">
                <a:latin typeface="Consolas" pitchFamily="49" charset="0"/>
                <a:cs typeface="Consolas" pitchFamily="49" charset="0"/>
              </a:rPr>
              <a:t>public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IEnumerable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&lt;object&gt;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GetServices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(Type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serviceType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) {</a:t>
            </a:r>
          </a:p>
          <a:p>
            <a:pPr lvl="1"/>
            <a:r>
              <a:rPr lang="en-US" dirty="0" smtClean="0">
                <a:latin typeface="Consolas" pitchFamily="49" charset="0"/>
                <a:cs typeface="Consolas" pitchFamily="49" charset="0"/>
              </a:rPr>
              <a:t>	return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kernel.GetAll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(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serviceType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);</a:t>
            </a:r>
          </a:p>
          <a:p>
            <a:pPr lvl="1"/>
            <a:r>
              <a:rPr lang="en-US" dirty="0" smtClean="0">
                <a:latin typeface="Consolas" pitchFamily="49" charset="0"/>
                <a:cs typeface="Consolas" pitchFamily="49" charset="0"/>
              </a:rPr>
              <a:t>}</a:t>
            </a:r>
          </a:p>
          <a:p>
            <a:pPr lvl="1"/>
            <a:r>
              <a:rPr lang="en-US" dirty="0" smtClean="0">
                <a:latin typeface="Consolas" pitchFamily="49" charset="0"/>
                <a:cs typeface="Consolas" pitchFamily="49" charset="0"/>
              </a:rPr>
              <a:t>private void 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AddBindings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() {</a:t>
            </a:r>
          </a:p>
          <a:p>
            <a:pPr lvl="1"/>
            <a:r>
              <a:rPr lang="en-US" b="1" dirty="0" smtClean="0">
                <a:latin typeface="Consolas" pitchFamily="49" charset="0"/>
                <a:cs typeface="Consolas" pitchFamily="49" charset="0"/>
              </a:rPr>
              <a:t>	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kernel.Bind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&lt;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IEmailSender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&gt;().To&lt;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MyEmailSender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&gt;();</a:t>
            </a:r>
          </a:p>
          <a:p>
            <a:pPr lvl="1"/>
            <a:r>
              <a:rPr lang="en-US" dirty="0" smtClean="0"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}</a:t>
            </a:r>
            <a:endParaRPr lang="en-US" dirty="0"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With </a:t>
            </a:r>
            <a:r>
              <a:rPr lang="en-US" dirty="0" err="1" smtClean="0">
                <a:latin typeface="Consolas" pitchFamily="49" charset="0"/>
              </a:rPr>
              <a:t>Ninject</a:t>
            </a:r>
            <a:r>
              <a:rPr lang="en-US" dirty="0" smtClean="0"/>
              <a:t>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03437"/>
            <a:ext cx="8229600" cy="1706563"/>
          </a:xfrm>
        </p:spPr>
        <p:txBody>
          <a:bodyPr/>
          <a:lstStyle/>
          <a:p>
            <a:r>
              <a:rPr lang="en-US" sz="2400" dirty="0" smtClean="0"/>
              <a:t>Create a file called </a:t>
            </a:r>
            <a:r>
              <a:rPr lang="en-US" sz="2400" dirty="0" err="1" smtClean="0"/>
              <a:t>NinjectWebCommon.cs</a:t>
            </a:r>
            <a:r>
              <a:rPr lang="en-US" sz="2400" dirty="0" smtClean="0"/>
              <a:t> in the </a:t>
            </a:r>
            <a:r>
              <a:rPr lang="en-US" sz="2400" dirty="0" err="1" smtClean="0"/>
              <a:t>App_Start</a:t>
            </a:r>
            <a:r>
              <a:rPr lang="en-US" sz="2400" dirty="0" smtClean="0"/>
              <a:t> folder that defines methods called automatically when the application starts, in order to integrate into the ASP.NET request lifecycle.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609600" y="4140875"/>
            <a:ext cx="7924800" cy="2031325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//</a:t>
            </a:r>
            <a:r>
              <a:rPr lang="en-US" dirty="0" err="1" smtClean="0">
                <a:latin typeface="Consolas" pitchFamily="49" charset="0"/>
                <a:cs typeface="Consolas" pitchFamily="49" charset="0"/>
              </a:rPr>
              <a:t>NinjectWebCommon.cs</a:t>
            </a:r>
            <a:endParaRPr lang="en-US" dirty="0" smtClean="0">
              <a:latin typeface="Consolas" pitchFamily="49" charset="0"/>
              <a:cs typeface="Consolas" pitchFamily="49" charset="0"/>
            </a:endParaRPr>
          </a:p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...</a:t>
            </a:r>
          </a:p>
          <a:p>
            <a:r>
              <a:rPr lang="en-US" b="1" dirty="0" smtClean="0">
                <a:latin typeface="Consolas" pitchFamily="49" charset="0"/>
                <a:cs typeface="Consolas" pitchFamily="49" charset="0"/>
              </a:rPr>
              <a:t>private static void 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RegisterServices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(</a:t>
            </a:r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IKernel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 kernel) {</a:t>
            </a:r>
          </a:p>
          <a:p>
            <a:pPr lvl="1"/>
            <a:r>
              <a:rPr lang="en-US" dirty="0" err="1" smtClean="0">
                <a:latin typeface="Consolas" pitchFamily="49" charset="0"/>
                <a:cs typeface="Consolas" pitchFamily="49" charset="0"/>
              </a:rPr>
              <a:t>System.Web.Mvc.DependencyResolver.SetResolver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(new</a:t>
            </a:r>
          </a:p>
          <a:p>
            <a:pPr lvl="1"/>
            <a:r>
              <a:rPr lang="en-US" b="1" dirty="0" err="1" smtClean="0">
                <a:latin typeface="Consolas" pitchFamily="49" charset="0"/>
                <a:cs typeface="Consolas" pitchFamily="49" charset="0"/>
              </a:rPr>
              <a:t>NinjectDependencyResolver</a:t>
            </a:r>
            <a:r>
              <a:rPr lang="en-US" b="1" dirty="0" smtClean="0">
                <a:latin typeface="Consolas" pitchFamily="49" charset="0"/>
                <a:cs typeface="Consolas" pitchFamily="49" charset="0"/>
              </a:rPr>
              <a:t>(kernel));</a:t>
            </a:r>
          </a:p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en-US" dirty="0" smtClean="0">
                <a:latin typeface="Consolas" pitchFamily="49" charset="0"/>
                <a:cs typeface="Consolas" pitchFamily="49" charset="0"/>
              </a:rPr>
              <a:t>...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Node.js Dependency Injection Tools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https://www.npmjs.com/package/awilix</a:t>
            </a:r>
            <a:endParaRPr lang="en-US" sz="2400" dirty="0" smtClean="0"/>
          </a:p>
          <a:p>
            <a:r>
              <a:rPr lang="en-US" sz="2400" dirty="0" smtClean="0">
                <a:hlinkClick r:id="rId3"/>
              </a:rPr>
              <a:t>https://www.npmjs.com/package/typedi</a:t>
            </a:r>
            <a:endParaRPr lang="en-US" sz="2400" dirty="0" smtClean="0"/>
          </a:p>
          <a:p>
            <a:r>
              <a:rPr lang="en-US" sz="2400" dirty="0" smtClean="0">
                <a:hlinkClick r:id="rId4"/>
              </a:rPr>
              <a:t>https://inversify.io</a:t>
            </a:r>
            <a:endParaRPr lang="en-US" sz="2400" dirty="0" smtClean="0"/>
          </a:p>
          <a:p>
            <a:endParaRPr lang="en-US" sz="2400" dirty="0" smtClean="0"/>
          </a:p>
        </p:txBody>
      </p:sp>
      <p:pic>
        <p:nvPicPr>
          <p:cNvPr id="113666" name="Picture 2" descr="https://img.icons8.com/ios/452/module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24400" y="3200400"/>
            <a:ext cx="2870200" cy="2870200"/>
          </a:xfrm>
          <a:prstGeom prst="rect">
            <a:avLst/>
          </a:prstGeom>
          <a:noFill/>
        </p:spPr>
      </p:pic>
      <p:sp>
        <p:nvSpPr>
          <p:cNvPr id="113668" name="AutoShape 4" descr="data:image/png;base64,iVBORw0KGgoAAAANSUhEUgAAAOEAAADhCAMAAAAJbSJIAAAAkFBMVEX///+DzSl/zB59zBOH0DCw3oHR67ez34fT7LuO0kCDzCmBzCV8zAvt9+OAzCJ/zBz7/ff4/PPN66/m9dbz+uvg8s3q9t2H0iry+uqc2VfY78HF6KG+5pR7zQCt33jI6aaq33Kh22Gl3Wm+5ZaX107e8sqQ1T6w4X6c2lXQ7LKv43ej3WbO7a2D0xu654qX2EtLID1vAAANsElEQVR4nO1daXuqvBZVgkNJJCAiTihOqKdF//+/u2DfnmNCNiSIEJ/b9bVqsyDJnvfudH7xi1/84hdvBW9z2m0//+yPbtsreQlG1yBBhp2CEvJ5bHs5tWN2Cmn3H+xw7rW9pHqxDKjVfYRlo9Ok7VXVh0WMcDcHGmzaXlhNmM6JgF8GZC7aXlwNmPRCW8wvBQ5307YX+CxyB5CDQQdO22t8BkcTFdH77zhe2l5mZUy30AFkQQ5+20utBHeADBl+KWyynrW9XHVsAlpO7WGr7ttesCJ8UyQBi4CCd5Ic010I8MMIIUB4YLJ9F0XOvSIDkBDIHM88kL6Nrm9hdIzBA2iHq7vs8yEZYtHgq+3ll8KPIQmB0W708ylYDyCx3pJjFIESkBweTcJJj4DHMRqBv982nBWFJCBN+O3nnaGHYdBVK8svxwU6gJZNBoIrpA8eWBr0m19+KfwbAdaL0afYgMjeufg4YqKdC2C0hs6VhW6wKB9FoOQgerkACg4gWRZ+8yg0/7t3yVH8zSYBHygbnUpl+AaSHBiZenjk/Dl4AMlWxoJ3T8gWcrS0cAHMwAPYRbGsLu2BnhwbrVpW5PYFElDlGPUDyBlAg/HLVl+OIbQudW+osw+gZ0VubUkOeG9VEmegxmfhdlwA2f0APHQUDCv9pP8B3FkWpc1LjmUCqWgGqu6QgF0fTTuPFzF0MTzpVHJ7oAsglBI99cDbEgzpk4dnbwXQBZneXr1mJEfBAazHuQve0N1GXADOJoFudQPVZdeBUhajl7sAFh+QBKzVNod9BTh8qQtg+gk7KW71PlzQ3LQMun9VLMe5ElBFe4Fq9dW4C+ALloCJyEnxNNwr7Dw+16/IHWEnBXmZiZOKJeCf1u4CGO2gMER6u73STF2Aun2tLgD3GopN1CayDfYUch7X5wIYQ26GVMt4yQFkAdvYNbkAjgdIw8AE8BLWDf8AO4+ffsSzHYE2aJPa/hi6x59VFJ1BCEvARi02B7Y5nnEBXEzokNuk17S/FtancHiqZrB5B8hXi8m8DSffAkxdqbah9mAqEzKrOSmexx6Kc3TRTfXGcXYIkBCtZk1M1tBxNEzFnboF7i5MKu75uuCfAUXOjpXe4lq845+6t+rCBYmfvvGp8CNfRLhFkalF4NIZCLeqFcqvbhaI+NHXWZ6qmO5EkgPH0j9wEmyDF3sPVCF0ZyJZJWsW5vmhuP0DyGKZ94jZkeR397lXSM024z8ABJIjkLxOY3aPWzZpO4YHIBcaQnIbbcIKnNQI0+kAsriwITkk5zD2k0dRgQOts7Cc6HGnUjl1a8HcUrJbuy0cH1dLB1Lf6TPf6b14hc9iWGG1/QpPpT0wDI1fht9okqE7GXmL/vgrxbi/8Kejieqx15jh6Lj/M4+DBP0DITT4mP9ZLRQ8CI0yHB7MH3QPhUq6szjFFFED5/VnbBsUJd3tRpJlkwyzBHX8H7oFwVLnGBFiFNcqYIzCeCVDskGGfxi3Bz4AH3OXH2CaGMeSkm25Q6hBhtzyPsSfWipVmtjoVsaxQYYms3IxQ0+1kiZzXBZrxXoxXEEJwUUc7WJ1WieG7hxwUJaBrN+DoRvL1urlgLbvwNCN5W5QIehcf4bOvPIbvC8j0p7htbweuBAECqbrwtDPu+/un7JtShFK7kgVU2rYAkXujgRQcHRhGAvWbSMUp2r2eOF7d/jH/vIaHUxxCaYNHEVNGF7yexTR6GsqMpXc6WaH8p+3iNjdqwnDA/8KKVoWGYKTZT6NBt80ZujxATFyKo2ArHL6XSh0+unBcMU60a1QxoPuBxxFeyf6mB4Mb5xnWs6rOTU5ilS0sbVg6LLRSOBA5eFzZ1EYWtKC4ZE9hkg6xWfPUrRFGrgWDDlZEcgnArBHUeg30ILhkrJ/kY8kf5U/Gy0YDhiGkHIigsuG20XBMz0YMmYFVmDY6bHBM4GU0YMhu0tvCvkObBxMVKevBUMuah4o5PxNmG1KT/lPaMGQuy+QSt70/NHOQILFaMFwmDAMu4ZCVNkPyD/cdL1Lp5zijVXKJd3RP4gOsBYMnVyKFTL3dWU/aMGws8sZ7ZiG8WA4qSGLTA+GY5EbClOCbuv9cfRcKoQeDCfCTMAsKmFTlMTzP8uFV5WnHgw716LWbfjOEwW39WaoTlQThpPS5nRW5lqkCSHBubdcKOxcTRh2NuKUXBFsAyFkbq+XqdQ9pAvDzmdxj08e941rygTztWHoHNQofv8IDYPesfhVasOw455VGkX+wOoaJF4VaQf6MOx0IqgetASYogjerTox7Ixpldd4XzlZQ7erVgw7kxNYZFcCi0K9P/VimJoZJ4SAlholwEScg6Qbw/TG2cQhsrvqLC0isPB1ZJhitJkHWVKbMkXRWrRkmML1l9EtIIjaKjyJIEFKV4YZnIn/tUp5hiT5ZmqVbV1s5m9UnRn+YOItxvvobNJvpkUvVeBOfAeGfzHyFss/8ziB964V5l7iWzH8hjs67qOYiGtF8zlub8jwDmf69UkEeYz5kMC7MszgXm55jjmHuQ4MJ/8cnqo1/MOY1/IQ703WgGE/+ee0TlSrbN0dRzF3ENtn6D7GcbFKVOYbXCoOvXJ/b58hk0tjIeWOMlM2Iy4Xy9eAIRsBVO/uELMM+aSa9hmyYRlhOkUxmAJDHRnOmHeIY+VQBRvo1pAhl2xAlJuirFmGEffn9hk6bMqXZB3rA7bM9w3eDG6fYSdiE7xN2d/7AbsHctaFBgy51C2iWNnPSYtcypgGDH2ujkSxdJrL3Ez4pCENGLoms8SuEcn+YgY+9Bjwd7EGDDmBlm40XvEqwpb9Ms71oNGBoRdysx1RJPubnYhTvPO+KB0Y5ksRqGQzyemBN56S3Ge0YDjMhWQw2pa3kpn2KO/JEKxGC4Zs6tY3bGReiyKDo8tZ0A6K5o0vPRiy9sXf5RBy6y2H3sx1nTtXJ4XrjvzLPgpCUXgDCSwTPRimUh9ocG4gRFBgxrfDfD4/H25xEJDMEy6Ma9jaZkF34PZvP5/G2Lbte5l7AUJRLFgXhp3bU+WH3wSFF7A2DN0qmQoMiLiIQRuGHXcrvG5kgQngptOHYadzrVCr/h8sI6dx68iwczQrRvEx2oEGiVYMO+6AQP1Hi4DiAkeyXgyz8Wyh4nvEKFgWea90Y5gafCsTSYfwMSXx+F2yvh6wWJsop1SL6Z1K0/q1ZJglKuy3WZ5C9hXRwcQUkWC79yScq5oyzOBML6utSUiYEIQopYZBs9p8EoYkOA8uMuwyaMzwP0ym/qI/Xu5Xq8FqvxwPj55ancLzHemke+7VHgOWQ5V3uHg0yeU717bE0K+w4zym96VR0sXoL9ph6O4q9L50WbeKHcoNWGiF4ZJNShGVYIrAlc9bcoOAWmDID5+yiGSz4w1v52B0KC+oa5zh9DPnyxHkvQnh5i05TD7LasxZ5/3LGTqD/GQD6V7QfDTk+9tJSbvkZhkKR9QT6TwIl+9IcQcyi5ohuFyAQbY1RCX4Z9F4QpWnOgyF2iIqmJQ1ZUth8bkGIgAmEdBXX2XuzUpYp2TZYQSl/HAF2/kgUV1woNEicD8wIU5AKZaBAHuUEzG2MO28Bgyh+aCGSp1/hoG4OxfkU7hwXm2lknR5TMEBvUasnFB2ASdlCebojLhQrSV23z4J9wTPP91WqCme7eCxrtzguhl/+QrSlZ/HBhhOkk02qDif9HgAJxAHg4drdRjwj0JhmIYsFuB4wlRzrj58qmAaGDqs/JGTtVcTzIUS9eh4CrNPcDzhk8OnnBWCXJw4Kx9AKKH5fy2tAkuv4pXDp2YR3NkYcu/WrNFcCiaS1jJ8yoeOIwjJORNyKBjhHq7raj7RBx+i+D+rDZcqhAtO6ap5+vEqkA9xWkCorwKcJTSe0KosISBkszIloypGQdtfNSxiqLnyS6aQe2dwoDMDLMgJqQRw4qHVfdV4wr5Mw3EMBjPV4PYK5oO+bjzhvvTKqWvyDlz4bQQvnY426Qn6wz7sH2rW8gZBfTGbjvbq8YSzlaio7O+/r+PxTsDZ8V3y0chwpvENCVQ1bJBzHf++QEV7xQh3AN6VrYHENiXmupbHOzSh+aA2ujY5fMrxljvzpyYNxbv9sZb/7s1BGyLctjDA1hlNPc+bzuq621IjHrQhoLYR7wRnA1mjFlWvRNEQxw9IDmGi1fzMihgJR4ve0ZCEUMdlK29iOFdQRWtQQqjheCM2kQjK3ZEa8aANIRefbRze957D5CRhZ/ig0YJJGxJCAt4n+rFbaVDm/IZHbesqISbjmNG6SPGc3T1kxNflZaoZ7jBK+Nhz0bByMM6Sfmvd7ohzMRYBEl2J0Fb1tqCVIn1JNYwxkOiMkUCkFaho2kqIe3gdCA7lYquwipZKCF1GnAswOQGv0TKYbgNHMM6CyaeeEuIvPHDt6OMnqDgCA3e6SggWYJgBh7vsfsyMeECFMd7EhnB70Csy0H46NiEJYZN1Ta7W12M6h7YqRW8nIQAoBnNS6klt0Y6G4Kwk8vF/kN60V40lBAQw7pBDegVpLiEgLMBLhQGK30BCQNgnZXFHyxCV974RZrCH/g4bvY+EgAD70FLUEwhoHWComiba2hCKcEUZK5ad6GxDqMI/c1vV0tbLVBnj4FFdw+SdJQQAZxMTZNgpKCLn10XiW8Wof91tt9Fq8fYC4he/+MUv/s/wP6pvDEkjKPBh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3670" name="AutoShape 6" descr="data:image/png;base64,iVBORw0KGgoAAAANSUhEUgAAAOEAAADhCAMAAAAJbSJIAAAAkFBMVEX///+DzSl/zB59zBOH0DCw3oHR67ez34fT7LuO0kCDzCmBzCV8zAvt9+OAzCJ/zBz7/ff4/PPN66/m9dbz+uvg8s3q9t2H0iry+uqc2VfY78HF6KG+5pR7zQCt33jI6aaq33Kh22Gl3Wm+5ZaX107e8sqQ1T6w4X6c2lXQ7LKv43ej3WbO7a2D0xu654qX2EtLID1vAAANsElEQVR4nO1daXuqvBZVgkNJJCAiTihOqKdF//+/u2DfnmNCNiSIEJ/b9bVqsyDJnvfudH7xi1/84hdvBW9z2m0//+yPbtsreQlG1yBBhp2CEvJ5bHs5tWN2Cmn3H+xw7rW9pHqxDKjVfYRlo9Ok7VXVh0WMcDcHGmzaXlhNmM6JgF8GZC7aXlwNmPRCW8wvBQ5307YX+CxyB5CDQQdO22t8BkcTFdH77zhe2l5mZUy30AFkQQ5+20utBHeADBl+KWyynrW9XHVsAlpO7WGr7ttesCJ8UyQBi4CCd5Ic010I8MMIIUB4YLJ9F0XOvSIDkBDIHM88kL6Nrm9hdIzBA2iHq7vs8yEZYtHgq+3ll8KPIQmB0W708ylYDyCx3pJjFIESkBweTcJJj4DHMRqBv982nBWFJCBN+O3nnaGHYdBVK8svxwU6gJZNBoIrpA8eWBr0m19+KfwbAdaL0afYgMjeufg4YqKdC2C0hs6VhW6wKB9FoOQgerkACg4gWRZ+8yg0/7t3yVH8zSYBHygbnUpl+AaSHBiZenjk/Dl4AMlWxoJ3T8gWcrS0cAHMwAPYRbGsLu2BnhwbrVpW5PYFElDlGPUDyBlAg/HLVl+OIbQudW+osw+gZ0VubUkOeG9VEmegxmfhdlwA2f0APHQUDCv9pP8B3FkWpc1LjmUCqWgGqu6QgF0fTTuPFzF0MTzpVHJ7oAsglBI99cDbEgzpk4dnbwXQBZneXr1mJEfBAazHuQve0N1GXADOJoFudQPVZdeBUhajl7sAFh+QBKzVNod9BTh8qQtg+gk7KW71PlzQ3LQMun9VLMe5ElBFe4Fq9dW4C+ALloCJyEnxNNwr7Dw+16/IHWEnBXmZiZOKJeCf1u4CGO2gMER6u73STF2Aun2tLgD3GopN1CayDfYUch7X5wIYQ26GVMt4yQFkAdvYNbkAjgdIw8AE8BLWDf8AO4+ffsSzHYE2aJPa/hi6x59VFJ1BCEvARi02B7Y5nnEBXEzokNuk17S/FtancHiqZrB5B8hXi8m8DSffAkxdqbah9mAqEzKrOSmexx6Kc3TRTfXGcXYIkBCtZk1M1tBxNEzFnboF7i5MKu75uuCfAUXOjpXe4lq845+6t+rCBYmfvvGp8CNfRLhFkalF4NIZCLeqFcqvbhaI+NHXWZ6qmO5EkgPH0j9wEmyDF3sPVCF0ZyJZJWsW5vmhuP0DyGKZ94jZkeR397lXSM024z8ABJIjkLxOY3aPWzZpO4YHIBcaQnIbbcIKnNQI0+kAsriwITkk5zD2k0dRgQOts7Cc6HGnUjl1a8HcUrJbuy0cH1dLB1Lf6TPf6b14hc9iWGG1/QpPpT0wDI1fht9okqE7GXmL/vgrxbi/8Kejieqx15jh6Lj/M4+DBP0DITT4mP9ZLRQ8CI0yHB7MH3QPhUq6szjFFFED5/VnbBsUJd3tRpJlkwyzBHX8H7oFwVLnGBFiFNcqYIzCeCVDskGGfxi3Bz4AH3OXH2CaGMeSkm25Q6hBhtzyPsSfWipVmtjoVsaxQYYms3IxQ0+1kiZzXBZrxXoxXEEJwUUc7WJ1WieG7hxwUJaBrN+DoRvL1urlgLbvwNCN5W5QIehcf4bOvPIbvC8j0p7htbweuBAECqbrwtDPu+/un7JtShFK7kgVU2rYAkXujgRQcHRhGAvWbSMUp2r2eOF7d/jH/vIaHUxxCaYNHEVNGF7yexTR6GsqMpXc6WaH8p+3iNjdqwnDA/8KKVoWGYKTZT6NBt80ZujxATFyKo2ArHL6XSh0+unBcMU60a1QxoPuBxxFeyf6mB4Mb5xnWs6rOTU5ilS0sbVg6LLRSOBA5eFzZ1EYWtKC4ZE9hkg6xWfPUrRFGrgWDDlZEcgnArBHUeg30ILhkrJ/kY8kf5U/Gy0YDhiGkHIigsuG20XBMz0YMmYFVmDY6bHBM4GU0YMhu0tvCvkObBxMVKevBUMuah4o5PxNmG1KT/lPaMGQuy+QSt70/NHOQILFaMFwmDAMu4ZCVNkPyD/cdL1Lp5zijVXKJd3RP4gOsBYMnVyKFTL3dWU/aMGws8sZ7ZiG8WA4qSGLTA+GY5EbClOCbuv9cfRcKoQeDCfCTMAsKmFTlMTzP8uFV5WnHgw716LWbfjOEwW39WaoTlQThpPS5nRW5lqkCSHBubdcKOxcTRh2NuKUXBFsAyFkbq+XqdQ9pAvDzmdxj08e941rygTztWHoHNQofv8IDYPesfhVasOw455VGkX+wOoaJF4VaQf6MOx0IqgetASYogjerTox7Ixpldd4XzlZQ7erVgw7kxNYZFcCi0K9P/VimJoZJ4SAlholwEScg6Qbw/TG2cQhsrvqLC0isPB1ZJhitJkHWVKbMkXRWrRkmML1l9EtIIjaKjyJIEFKV4YZnIn/tUp5hiT5ZmqVbV1s5m9UnRn+YOItxvvobNJvpkUvVeBOfAeGfzHyFss/8ziB964V5l7iWzH8hjs67qOYiGtF8zlub8jwDmf69UkEeYz5kMC7MszgXm55jjmHuQ4MJ/8cnqo1/MOY1/IQ703WgGE/+ee0TlSrbN0dRzF3ENtn6D7GcbFKVOYbXCoOvXJ/b58hk0tjIeWOMlM2Iy4Xy9eAIRsBVO/uELMM+aSa9hmyYRlhOkUxmAJDHRnOmHeIY+VQBRvo1pAhl2xAlJuirFmGEffn9hk6bMqXZB3rA7bM9w3eDG6fYSdiE7xN2d/7AbsHctaFBgy51C2iWNnPSYtcypgGDH2ujkSxdJrL3Ez4pCENGLoms8SuEcn+YgY+9Bjwd7EGDDmBlm40XvEqwpb9Ms71oNGBoRdysx1RJPubnYhTvPO+KB0Y5ksRqGQzyemBN56S3Ge0YDjMhWQw2pa3kpn2KO/JEKxGC4Zs6tY3bGReiyKDo8tZ0A6K5o0vPRiy9sXf5RBy6y2H3sx1nTtXJ4XrjvzLPgpCUXgDCSwTPRimUh9ocG4gRFBgxrfDfD4/H25xEJDMEy6Ma9jaZkF34PZvP5/G2Lbte5l7AUJRLFgXhp3bU+WH3wSFF7A2DN0qmQoMiLiIQRuGHXcrvG5kgQngptOHYadzrVCr/h8sI6dx68iwczQrRvEx2oEGiVYMO+6AQP1Hi4DiAkeyXgyz8Wyh4nvEKFgWea90Y5gafCsTSYfwMSXx+F2yvh6wWJsop1SL6Z1K0/q1ZJglKuy3WZ5C9hXRwcQUkWC79yScq5oyzOBML6utSUiYEIQopYZBs9p8EoYkOA8uMuwyaMzwP0ym/qI/Xu5Xq8FqvxwPj55ancLzHemke+7VHgOWQ5V3uHg0yeU717bE0K+w4zym96VR0sXoL9ph6O4q9L50WbeKHcoNWGiF4ZJNShGVYIrAlc9bcoOAWmDID5+yiGSz4w1v52B0KC+oa5zh9DPnyxHkvQnh5i05TD7LasxZ5/3LGTqD/GQD6V7QfDTk+9tJSbvkZhkKR9QT6TwIl+9IcQcyi5ohuFyAQbY1RCX4Z9F4QpWnOgyF2iIqmJQ1ZUth8bkGIgAmEdBXX2XuzUpYp2TZYQSl/HAF2/kgUV1woNEicD8wIU5AKZaBAHuUEzG2MO28Bgyh+aCGSp1/hoG4OxfkU7hwXm2lknR5TMEBvUasnFB2ASdlCebojLhQrSV23z4J9wTPP91WqCme7eCxrtzguhl/+QrSlZ/HBhhOkk02qDif9HgAJxAHg4drdRjwj0JhmIYsFuB4wlRzrj58qmAaGDqs/JGTtVcTzIUS9eh4CrNPcDzhk8OnnBWCXJw4Kx9AKKH5fy2tAkuv4pXDp2YR3NkYcu/WrNFcCiaS1jJ8yoeOIwjJORNyKBjhHq7raj7RBx+i+D+rDZcqhAtO6ap5+vEqkA9xWkCorwKcJTSe0KosISBkszIloypGQdtfNSxiqLnyS6aQe2dwoDMDLMgJqQRw4qHVfdV4wr5Mw3EMBjPV4PYK5oO+bjzhvvTKqWvyDlz4bQQvnY426Qn6wz7sH2rW8gZBfTGbjvbq8YSzlaio7O+/r+PxTsDZ8V3y0chwpvENCVQ1bJBzHf++QEV7xQh3AN6VrYHENiXmupbHOzSh+aA2ujY5fMrxljvzpyYNxbv9sZb/7s1BGyLctjDA1hlNPc+bzuq621IjHrQhoLYR7wRnA1mjFlWvRNEQxw9IDmGi1fzMihgJR4ve0ZCEUMdlK29iOFdQRWtQQqjheCM2kQjK3ZEa8aANIRefbRze957D5CRhZ/ig0YJJGxJCAt4n+rFbaVDm/IZHbesqISbjmNG6SPGc3T1kxNflZaoZ7jBK+Nhz0bByMM6Sfmvd7ohzMRYBEl2J0Fb1tqCVIn1JNYwxkOiMkUCkFaho2kqIe3gdCA7lYquwipZKCF1GnAswOQGv0TKYbgNHMM6CyaeeEuIvPHDt6OMnqDgCA3e6SggWYJgBh7vsfsyMeECFMd7EhnB70Csy0H46NiEJYZN1Ta7W12M6h7YqRW8nIQAoBnNS6klt0Y6G4Kwk8vF/kN60V40lBAQw7pBDegVpLiEgLMBLhQGK30BCQNgnZXFHyxCV974RZrCH/g4bvY+EgAD70FLUEwhoHWComiba2hCKcEUZK5ad6GxDqMI/c1vV0tbLVBnj4FFdw+SdJQQAZxMTZNgpKCLn10XiW8Wof91tt9Fq8fYC4he/+MUv/s/wP6pvDEkjKPBh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3672" name="AutoShape 8" descr="data:image/png;base64,iVBORw0KGgoAAAANSUhEUgAAAOEAAADhCAMAAAAJbSJIAAAAflBMVEX///8AAACdnZ1FRUXa2toQEBD29vb8/Py8vLz5+fnz8/OGhoaDg4Ps7OzV1dViYmLn5+eurq5ZWVknJyempqYzMzPExMSysrLg4OBTU1NxcXG4uLjNzc09PT2UlJQ4ODh6enpJSUmQkJAuLi50dHRhYWEcHBwZGRmZmZkMDAw/D3FiAAALHUlEQVR4nO1d6ZqqOhBER0VUFjcWxQXHmfG8/wteHWc5kk5lIZB4vlt/FUhBlq7uTtrzOkS4nRbLj491vE9HXT63K4yL3l/YlLbbYxrpoVfDIrfdJpNIFnV+N8z+mb46mVL8bljZbpoZzD94BHu93T8wHCNmAD4iTmy3sBmSGPO74RTYbqU+gpOY3xXDzHZDdZEtpQheUUW226qDwYssvxs2E9vtVUW4UeF3w+WphqPfV+V3xXJsu9nySNcaBK8oBrZbLoe8QCxe39GvxycYjuEMfqWruT2GU+zKt81AgNUQfb/7SAsuiOIhtUwBooQm2uXnf3imXThryNEa6RvnhyEWwdXSTV01gSYaa7Vs4XCc26CAMUdz5PuWuGK0RxRfHNNV0Q619sSZH7HyiMNuOSDglm5AS0v4ZvaODEc8+Yt6G/IA9JZU7+4cTWeMETYRrOsqrJGmUnoBrzJ2dVV4RG2LpT2i2FTv29NVUCOtVawvfwVvZUlX4RevakFPzuhuNhzkCdRIR415HquurnUV3439+cY1lez4Fd113qWuwouYvvwJ4MjedaarZDWSDiZQV711oquwiXZubExGFbr/qXVDDguCyogg2CKZ8tGygzyDfiRTVqTgNbZoyAk0ksEnhdpqpdFT4SSwMTwJlNDgbcNBjt3YbUQ6M/RA8w5y7ORsx6si0FVGDbm8Qs+atWZsYF1lzpDDbmx5jaQDNkvlbxhykK/+gGe8tm1JCXSVgceX0BruIl1kAmV2Uwd5/obu3pWiyeFwbOIgH0E3tq5G0gHUVR/aU3mG4kh/ug0RCXSV1nKMU32aaSQdYF2lnniUwPs110g6iKCbQ81BHlgz7jG2phzkJbpRz2bKBH71hWzXgnfhxZG6AtZVcjMOWmBNayQdQF0l4wEARujBkajlHFAUL2LgancizwFw14p6Wc69Ui6O1BX4uuoguJI3jtvVSDrg6ip8WURf9O5kFg9HV+GL6E/oakr9iJz28SXUFS5n0w2I4QgvGLP/dz0jknWRwb8zk/DQyQH4AMbNCf9dtxa610g6qOkq+N+axf00aclHaYYq39slRJoMhx21rzkG/zP8wf8MDSMps8vxrdodXq9Y716K+HiZpwN1E99Bhn6ynQJf3mI/DlV8CZ0wDNLxL7C/JChnMJh8x25WSnvPumAYPLYZmHr5VHpL2/Io6dXrgmHNNbDg/S+CIQgWOymrowuGNePwhf4XDvTQkInfucLQl9tSykDssXeEYS7Y8wwg8ma7wTDV5nfF9AkYIh+nBDZweXSBIUyOkUHsOMNGXfSOo9MMk+YEocfPPkMY2pQG3yltnSEchOsi3hyvOG/eCrxDunCWoc/JeDhMt4xS8pN0FfNSlLjLom2GpPe9yIAAiU6kdc5tkG2GhFQSbtgakTs2eR/RMsNBj0Ff4o5UUIJj0NtmyNrbkn5YondzdKdlhlW9mXvZm7KWHudSuwyZeJbCbZmcgor+n12GzDCUGYRf8JkplZaKdhkyETuVeDljz9KC3y5DZr5Qyj+rWzn0pg67DOvhvXclhvXJhhZRbjFcKjGc1K5ek0rYLYZ/1JKW69450uXvFkNh0hK8cY+0Zu0yZJZthdXCYzN8HGRY1hkqLRd19eziTEN4MJQSPILVbPqNGWe3s12GAZFwvDCcxmnZ8iYzyd6nJklaZsjduFScxomZjcuWGUJX4nIxm0d509RV214M8Smty2pzGUf6mzhsMyTcGBysN/ssmqjvBrDN0FM96bM49stEpedaZ1g3n6WwfruUsv3WOkPCrpHE7iS1qNhn2Ci4thHXGXCAYbP44cdMYMq6wLBpBDGGTnInGHphwxBbDBLq3WAoOrtODP6uLVcYesFc8wjlL5ydZ+h5fqqY9fWIgmPuOMTwiklWoEMaMBYuKmCKZHlawMOK+Jg9B8NPlnk2jTWmHtID4iTDT/hBnq6msUQ+LW6Uuwx/4CdROp/GLxIflUqreQKG3wiS6Np54ZqyJi57IoZ3jMJ0z7eACPvt6Rh+Ikg5530SmZjPyfAKf0ttvSci3U/L8IotYR2wJrhVhuVf2zB0TgwJ2emVFYs2GT6aoToHD7JOHnbRt8hQKjamdmvqbAeLDOvKXidYwfjM2QCkQwx1dvb7dYbs7mSHeulR4Zbf8OvhOacY1nvYu8Itv8Ek4DrVS8Na49CmNh6YXsp2dYsMg/pOIMHmFwrMTOPUasGkw9D5MBCMM9mtFZ85VUs6ufQHjMpwy2prmmtCnHrkmOUdMB6nV8V+ysgL19QTK/J2ShTZo8cIu8gqQ+JcpqWCxmDDx0vCZWpXH1Inj8oeW1QSnilKn9hlSIfVZpGwr47GFXUl9XJc241wx/o45ufRBHm2ob3ipNPbMkPOCWk33PJotmmUJ5NR4PvBaJLkUbrtnyu+35SMeNv208CzNBVBb7exzdDQBssbjvTTrTMMGgZ/Obd1iKEXasbSauCm+dtn6IXNwtt37LirqAMMvaBRdPsTMT9xyAWGzWdUJLvcYOgN9E/+uNoH0P3hCEPPW+nOqUOBF9IZhl6wgrUkePz2IkPdHYae549Vp5x1Js52d4nhFZO5fELNei/l9HCM4RVhOi2ERsBhk8n6dNxjeMMk3+7PFclzuZipJXq7yfAO3w8H5Tibrz4xz8blYOIrJ+vrMlQ5v7StKLcc5M8vrcVAFM6gtctQ/gzaum9SvtSDTYahwjnCrHNStu6HPYZ+vSw4/DdxnrdkyRVrDBXP8yY3t0iVzbHEcEA4SPAV9DYzib3JVhhqnKvP274jPpq9Nhg4Z5CYhVZtBI9nF4tKkNXeZgcMuWXBBdfxa5TgUts1dcs9odUU+MXmXkWXgvpmQIbWY+3cnRFmgOp3iq11sB3ylZvSVF+T1GPZKkDnaMos4GjHJ6fcTFhPeWmz8DKs9ySXdAUrw08pQ45ZZNorDIVrdsla0oRpA78Puyy1VTkpgEcR7+SPTZnA6rEv6cN3nLBvVTifaSJDJe8US1ni0p+Hy8/yGK4Ima6R+SQBXP9wplzwJ8WOlGXcz7bZiX5oG8MQ17DUq/AMK/FC9uYrCOI6pNpViUNYiZcPk3Xk74C1ZHv9Bm+UUidimC6SiFvRtCjqWD24Se8R1Aau6VwZqLhVt8iEMFrFDNflVqmuChByNiBxYOahX8C11S/GLItIYQ/kxtRDPVTH8YbYaFXiTHY4GtS+SCNdLSvTVYlxJd5fgmYOfroBHqXx0YZ6ScSnIRnU9lAj9U4t1WQUDkdjtfawRlq0WJU4RWvvwlQ11hEcEXql4uUx4BUzio09eAtntVX7ZbODaM+MkcXK2MwdVYhfZ0VR/cG2f3wrqqqIj/2twVrBbWgklyDQSE9TU5MLgUZyqmy2DnKokTZGTTQT8BWNm/Y1kmGku95M4a13opFM4u6pE+Xb/QJrpL05W9cQkp8Z/yBl/3epkUwgeljRxBPECAYRXlo20ZQRzqt6GwVW1hy5sYdqbuzW4Y/JOkYH8BmwRpo6VreeH9XjDSV7GkkPqLmUPSLQSA7WrfcRRdbvjk9R7EAj6WDMKT/2ibeHTjeoEL/ONJI6YMf7zQPEAZHKaY2Uo666vMsf/8k1UorG182Vkz6/RsKfCDph3NNINELVI8q/IJnp6QRKlcMev/DeZhJOC1Cu/3tyTiOJECjF5NzTSDLA2SF/wzmNJI1MboOTzglgriCAIcA7Zk83AB+RCLqqsXCORSARsXZQI2mAn1DYJNXHLSTMkV83nN3VSBpgM+sL99zYzeBnD06nxb8xAGvIV5v1sNcbHs7z7iyY/wAqzKaRhhB57A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3674" name="Picture 10" descr="https://image.flaticon.com/icons/png/512/919/919825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524000" y="3429000"/>
            <a:ext cx="2601186" cy="260118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Verify Technology Agonistic</a:t>
            </a:r>
            <a:endParaRPr lang="en-US" dirty="0"/>
          </a:p>
        </p:txBody>
      </p:sp>
      <p:pic>
        <p:nvPicPr>
          <p:cNvPr id="130050" name="Picture 2" descr="Image result for Database Technology Agnostic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38600" y="5105400"/>
            <a:ext cx="4419600" cy="1470660"/>
          </a:xfrm>
          <a:prstGeom prst="rect">
            <a:avLst/>
          </a:prstGeom>
          <a:noFill/>
        </p:spPr>
      </p:pic>
      <p:sp>
        <p:nvSpPr>
          <p:cNvPr id="130052" name="AutoShape 4" descr="Simplified Clean Architectu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0054" name="AutoShape 6" descr="Simplified Clean Architectu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0055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1676400"/>
            <a:ext cx="8078343" cy="36217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</a:t>
            </a:r>
            <a:r>
              <a:rPr lang="en-US" smtClean="0"/>
              <a:t>You &amp; See 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18020</TotalTime>
  <Words>703</Words>
  <Application>Microsoft Office PowerPoint</Application>
  <PresentationFormat>On-screen Show (4:3)</PresentationFormat>
  <Paragraphs>129</Paragraphs>
  <Slides>21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Solution Sketch</vt:lpstr>
      <vt:lpstr>Objectives</vt:lpstr>
      <vt:lpstr>Contents</vt:lpstr>
      <vt:lpstr>References</vt:lpstr>
      <vt:lpstr>1. Design an Architecture [1]</vt:lpstr>
      <vt:lpstr>2. Select Frameworks</vt:lpstr>
      <vt:lpstr>3. Create a Solution Sketch</vt:lpstr>
      <vt:lpstr>4. Define Components</vt:lpstr>
      <vt:lpstr>Example: Node.js Folder Structure</vt:lpstr>
      <vt:lpstr>Example</vt:lpstr>
      <vt:lpstr>Components Dependency</vt:lpstr>
      <vt:lpstr>Separation of Concerns</vt:lpstr>
      <vt:lpstr>Dependency Injection Example [2]</vt:lpstr>
      <vt:lpstr>☞ Solution</vt:lpstr>
      <vt:lpstr>Dependency Injection Container</vt:lpstr>
      <vt:lpstr>.NET Dependency Injection Tools</vt:lpstr>
      <vt:lpstr>Example With Ninject (I)</vt:lpstr>
      <vt:lpstr>Example With Ninject (II)</vt:lpstr>
      <vt:lpstr>Node.js Dependency Injection Tools</vt:lpstr>
      <vt:lpstr>6. Verify Technology Agonistic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5256</cp:revision>
  <dcterms:created xsi:type="dcterms:W3CDTF">2007-10-06T08:25:13Z</dcterms:created>
  <dcterms:modified xsi:type="dcterms:W3CDTF">2022-03-12T19:18:11Z</dcterms:modified>
</cp:coreProperties>
</file>