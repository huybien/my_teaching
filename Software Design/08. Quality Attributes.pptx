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65"/>
  </p:notesMasterIdLst>
  <p:sldIdLst>
    <p:sldId id="256" r:id="rId2"/>
    <p:sldId id="489" r:id="rId3"/>
    <p:sldId id="488" r:id="rId4"/>
    <p:sldId id="358" r:id="rId5"/>
    <p:sldId id="493" r:id="rId6"/>
    <p:sldId id="519" r:id="rId7"/>
    <p:sldId id="520" r:id="rId8"/>
    <p:sldId id="537" r:id="rId9"/>
    <p:sldId id="508" r:id="rId10"/>
    <p:sldId id="505" r:id="rId11"/>
    <p:sldId id="506" r:id="rId12"/>
    <p:sldId id="481" r:id="rId13"/>
    <p:sldId id="437" r:id="rId14"/>
    <p:sldId id="439" r:id="rId15"/>
    <p:sldId id="538" r:id="rId16"/>
    <p:sldId id="540" r:id="rId17"/>
    <p:sldId id="542" r:id="rId18"/>
    <p:sldId id="539" r:id="rId19"/>
    <p:sldId id="543" r:id="rId20"/>
    <p:sldId id="544" r:id="rId21"/>
    <p:sldId id="546" r:id="rId22"/>
    <p:sldId id="547" r:id="rId23"/>
    <p:sldId id="482" r:id="rId24"/>
    <p:sldId id="440" r:id="rId25"/>
    <p:sldId id="483" r:id="rId26"/>
    <p:sldId id="438" r:id="rId27"/>
    <p:sldId id="441" r:id="rId28"/>
    <p:sldId id="522" r:id="rId29"/>
    <p:sldId id="523" r:id="rId30"/>
    <p:sldId id="484" r:id="rId31"/>
    <p:sldId id="533" r:id="rId32"/>
    <p:sldId id="536" r:id="rId33"/>
    <p:sldId id="507" r:id="rId34"/>
    <p:sldId id="534" r:id="rId35"/>
    <p:sldId id="535" r:id="rId36"/>
    <p:sldId id="509" r:id="rId37"/>
    <p:sldId id="487" r:id="rId38"/>
    <p:sldId id="494" r:id="rId39"/>
    <p:sldId id="525" r:id="rId40"/>
    <p:sldId id="510" r:id="rId41"/>
    <p:sldId id="499" r:id="rId42"/>
    <p:sldId id="500" r:id="rId43"/>
    <p:sldId id="497" r:id="rId44"/>
    <p:sldId id="498" r:id="rId45"/>
    <p:sldId id="526" r:id="rId46"/>
    <p:sldId id="511" r:id="rId47"/>
    <p:sldId id="503" r:id="rId48"/>
    <p:sldId id="504" r:id="rId49"/>
    <p:sldId id="512" r:id="rId50"/>
    <p:sldId id="501" r:id="rId51"/>
    <p:sldId id="502" r:id="rId52"/>
    <p:sldId id="514" r:id="rId53"/>
    <p:sldId id="515" r:id="rId54"/>
    <p:sldId id="516" r:id="rId55"/>
    <p:sldId id="527" r:id="rId56"/>
    <p:sldId id="528" r:id="rId57"/>
    <p:sldId id="529" r:id="rId58"/>
    <p:sldId id="530" r:id="rId59"/>
    <p:sldId id="531" r:id="rId60"/>
    <p:sldId id="532" r:id="rId61"/>
    <p:sldId id="517" r:id="rId62"/>
    <p:sldId id="518" r:id="rId63"/>
    <p:sldId id="359" r:id="rId6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96" autoAdjust="0"/>
    <p:restoredTop sz="94667" autoAdjust="0"/>
  </p:normalViewPr>
  <p:slideViewPr>
    <p:cSldViewPr>
      <p:cViewPr>
        <p:scale>
          <a:sx n="56" d="100"/>
          <a:sy n="56" d="100"/>
        </p:scale>
        <p:origin x="-1434" y="-354"/>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4026E6-0412-4830-8F06-DF45033103D5}" type="datetimeFigureOut">
              <a:rPr lang="en-US" smtClean="0"/>
              <a:pPr/>
              <a:t>7/12/2026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21BAC6-1780-4248-A045-EEDC4FD7C33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F8F1E381-20DA-4745-B537-35B514BA6DD7}" type="datetimeFigureOut">
              <a:rPr lang="en-US"/>
              <a:pPr>
                <a:defRPr/>
              </a:pPr>
              <a:t>7/12/2026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94EF19F-72C6-4835-B8F9-C4043AB145C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656C9F8-4ECB-4B63-B927-93DB51F662D0}" type="datetimeFigureOut">
              <a:rPr lang="en-US"/>
              <a:pPr>
                <a:defRPr/>
              </a:pPr>
              <a:t>7/12/2026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9E5146C-45A3-4063-B945-A6E828CB1A7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120DA55-A2EA-4E91-9DF8-848564DA5A8C}" type="datetimeFigureOut">
              <a:rPr lang="en-US"/>
              <a:pPr>
                <a:defRPr/>
              </a:pPr>
              <a:t>7/12/2026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502FCE2-22A4-4D22-98FA-0E266C502294}"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82FE22C-AAA6-4859-915C-7CA8A229741E}" type="datetimeFigureOut">
              <a:rPr lang="en-US"/>
              <a:pPr>
                <a:defRPr/>
              </a:pPr>
              <a:t>7/12/2026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94E97B5-865B-4943-9516-8680CA16C72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2DB4DA2C-F6C4-40D9-95C2-7E16780900E4}" type="datetimeFigureOut">
              <a:rPr lang="en-US"/>
              <a:pPr>
                <a:defRPr/>
              </a:pPr>
              <a:t>7/12/2026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179A6762-FCC9-4A4D-B55E-A9AEAC8C426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B02FA20-63C4-4E2F-BBAB-9D9ECDF79A55}" type="datetimeFigureOut">
              <a:rPr lang="en-US"/>
              <a:pPr>
                <a:defRPr/>
              </a:pPr>
              <a:t>7/12/2026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D571E3C-6E5C-4814-A904-273FE3A958CC}"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4E24579-F551-4401-BD9C-1A956A73C8B1}" type="datetimeFigureOut">
              <a:rPr lang="en-US"/>
              <a:pPr>
                <a:defRPr/>
              </a:pPr>
              <a:t>7/12/2026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E24CBAC-259E-4BF8-ACF6-FAB2C68750F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C04B6935-2E86-4F35-979C-26D8DA31E11B}" type="datetimeFigureOut">
              <a:rPr lang="en-US"/>
              <a:pPr>
                <a:defRPr/>
              </a:pPr>
              <a:t>7/12/2026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049D8DE-4736-4786-A76F-BA4BFA66C35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34642AA-84FD-46EB-91FE-F301FD1B086D}" type="datetimeFigureOut">
              <a:rPr lang="en-US"/>
              <a:pPr>
                <a:defRPr/>
              </a:pPr>
              <a:t>7/12/2026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2E0BD26-494C-4707-B45F-1E41DB7E206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67AB78B-B950-4223-B948-C26A4E4BFB92}" type="datetimeFigureOut">
              <a:rPr lang="en-US"/>
              <a:pPr>
                <a:defRPr/>
              </a:pPr>
              <a:t>7/12/2026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0435AB7-6027-4C00-A9DE-A82D1F9B718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8E790DE-6227-4769-B4D1-A285E0E78CE4}" type="datetimeFigureOut">
              <a:rPr lang="en-US"/>
              <a:pPr>
                <a:defRPr/>
              </a:pPr>
              <a:t>7/12/2026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F58F97A-8135-4157-8FDD-A5EB0FEF561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6C44B157-FED2-4AB7-A096-BDB0B5D2F088}" type="datetimeFigureOut">
              <a:rPr lang="en-US"/>
              <a:pPr>
                <a:defRPr/>
              </a:pPr>
              <a:t>7/12/2026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BD64C92-C51E-4B83-930E-D172469398A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pingdom.com/" TargetMode="External"/><Relationship Id="rId2" Type="http://schemas.openxmlformats.org/officeDocument/2006/relationships/hyperlink" Target="https://uptimerobot.com/" TargetMode="Externa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hyperlink" Target="https://jmeter.apache.org/" TargetMode="Externa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developer.apple.com/videos/play/wwdc2019/411/" TargetMode="External"/><Relationship Id="rId7" Type="http://schemas.openxmlformats.org/officeDocument/2006/relationships/image" Target="../media/image22.png"/><Relationship Id="rId2" Type="http://schemas.openxmlformats.org/officeDocument/2006/relationships/hyperlink" Target="https://developer.android.com/studio/profile" TargetMode="External"/><Relationship Id="rId1" Type="http://schemas.openxmlformats.org/officeDocument/2006/relationships/slideLayout" Target="../slideLayouts/slideLayout2.xml"/><Relationship Id="rId6" Type="http://schemas.openxmlformats.org/officeDocument/2006/relationships/hyperlink" Target="https://grafana.com/pricing/?src=k6io" TargetMode="External"/><Relationship Id="rId5" Type="http://schemas.openxmlformats.org/officeDocument/2006/relationships/hyperlink" Target="https://k6.io/" TargetMode="External"/><Relationship Id="rId4" Type="http://schemas.openxmlformats.org/officeDocument/2006/relationships/hyperlink" Target="https://locust.io/" TargetMode="Externa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owasp.org/www-community/Vulnerability_Scanning_Tools" TargetMode="External"/><Relationship Id="rId2" Type="http://schemas.openxmlformats.org/officeDocument/2006/relationships/hyperlink" Target="https://www.acunetix.com/" TargetMode="Externa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sz="6000" dirty="0" smtClean="0"/>
              <a:t>Quality Attributes</a:t>
            </a:r>
          </a:p>
        </p:txBody>
      </p:sp>
      <p:sp>
        <p:nvSpPr>
          <p:cNvPr id="5" name="Subtitle 2"/>
          <p:cNvSpPr>
            <a:spLocks noGrp="1"/>
          </p:cNvSpPr>
          <p:nvPr>
            <p:ph type="subTitle" idx="1"/>
          </p:nvPr>
        </p:nvSpPr>
        <p:spPr>
          <a:xfrm>
            <a:off x="1371600" y="3886200"/>
            <a:ext cx="6400800" cy="1752600"/>
          </a:xfrm>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cstate="print"/>
          <a:srcRect/>
          <a:stretch>
            <a:fillRect/>
          </a:stretch>
        </p:blipFill>
        <p:spPr bwMode="auto">
          <a:xfrm>
            <a:off x="6229350" y="2609850"/>
            <a:ext cx="2762250" cy="211455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0"/>
            <a:ext cx="6019800" cy="4648200"/>
          </a:xfrm>
        </p:spPr>
        <p:txBody>
          <a:bodyPr/>
          <a:lstStyle/>
          <a:p>
            <a:pPr>
              <a:buFont typeface="Wingdings" pitchFamily="2" charset="2"/>
              <a:buChar char="Ø"/>
            </a:pPr>
            <a:r>
              <a:rPr lang="en-US" sz="2400" dirty="0" smtClean="0"/>
              <a:t>To </a:t>
            </a:r>
            <a:r>
              <a:rPr lang="en-US" sz="2400" i="1" dirty="0" smtClean="0">
                <a:solidFill>
                  <a:srgbClr val="C00000"/>
                </a:solidFill>
              </a:rPr>
              <a:t>elicit</a:t>
            </a:r>
            <a:r>
              <a:rPr lang="en-US" sz="2400" dirty="0" smtClean="0"/>
              <a:t> and </a:t>
            </a:r>
            <a:r>
              <a:rPr lang="en-US" sz="2400" i="1" dirty="0" smtClean="0">
                <a:solidFill>
                  <a:srgbClr val="C00000"/>
                </a:solidFill>
              </a:rPr>
              <a:t>document</a:t>
            </a:r>
            <a:r>
              <a:rPr lang="en-US" sz="2400" dirty="0" smtClean="0"/>
              <a:t> architectural requirements for software system.</a:t>
            </a:r>
          </a:p>
          <a:p>
            <a:pPr>
              <a:buFont typeface="Wingdings" pitchFamily="2" charset="2"/>
              <a:buChar char="Ø"/>
            </a:pPr>
            <a:r>
              <a:rPr lang="en-US" sz="2400" dirty="0" smtClean="0"/>
              <a:t>To </a:t>
            </a:r>
            <a:r>
              <a:rPr lang="en-US" sz="2400" i="1" dirty="0" smtClean="0">
                <a:solidFill>
                  <a:srgbClr val="C00000"/>
                </a:solidFill>
              </a:rPr>
              <a:t>create</a:t>
            </a:r>
            <a:r>
              <a:rPr lang="en-US" sz="2400" dirty="0" smtClean="0"/>
              <a:t> a simple architectural design to ensure scalability.</a:t>
            </a:r>
            <a:endParaRPr lang="en-US" sz="2400" i="1" dirty="0" smtClean="0">
              <a:solidFill>
                <a:srgbClr val="C00000"/>
              </a:solidFill>
            </a:endParaRPr>
          </a:p>
          <a:p>
            <a:pPr>
              <a:buFont typeface="Wingdings" pitchFamily="2" charset="2"/>
              <a:buChar char="Ø"/>
            </a:pPr>
            <a:endParaRPr lang="en-US" sz="2400" i="1" dirty="0" smtClean="0">
              <a:solidFill>
                <a:srgbClr val="C00000"/>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5562600" cy="4525963"/>
          </a:xfrm>
        </p:spPr>
        <p:txBody>
          <a:bodyPr/>
          <a:lstStyle/>
          <a:p>
            <a:pPr marL="571500" indent="-571500">
              <a:buFont typeface="+mj-lt"/>
              <a:buAutoNum type="romanUcPeriod"/>
            </a:pPr>
            <a:r>
              <a:rPr lang="en-US" sz="2400" dirty="0" smtClean="0"/>
              <a:t>Quality goals.</a:t>
            </a:r>
          </a:p>
          <a:p>
            <a:pPr marL="571500" indent="-571500">
              <a:buFont typeface="+mj-lt"/>
              <a:buAutoNum type="romanUcPeriod"/>
            </a:pPr>
            <a:r>
              <a:rPr lang="en-US" sz="2400" dirty="0" smtClean="0"/>
              <a:t>Quality attributes.</a:t>
            </a:r>
          </a:p>
          <a:p>
            <a:pPr marL="571500" indent="-571500">
              <a:buFont typeface="+mj-lt"/>
              <a:buAutoNum type="romanUcPeriod"/>
            </a:pPr>
            <a:r>
              <a:rPr lang="en-US" sz="2400" dirty="0" smtClean="0"/>
              <a:t>Quality attribute scenarios.</a:t>
            </a:r>
          </a:p>
          <a:p>
            <a:pPr marL="571500" indent="-571500">
              <a:buFont typeface="+mj-lt"/>
              <a:buAutoNum type="romanUcPeriod"/>
            </a:pPr>
            <a:r>
              <a:rPr lang="en-US" sz="2400" dirty="0" smtClean="0"/>
              <a:t>Tactics.</a:t>
            </a:r>
          </a:p>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304800" y="1600200"/>
            <a:ext cx="5867400" cy="4724400"/>
          </a:xfrm>
        </p:spPr>
        <p:txBody>
          <a:bodyPr/>
          <a:lstStyle/>
          <a:p>
            <a:pPr marL="457200" indent="-457200">
              <a:buFont typeface="+mj-lt"/>
              <a:buAutoNum type="arabicPeriod"/>
            </a:pPr>
            <a:r>
              <a:rPr lang="en-US" sz="2400" dirty="0" smtClean="0"/>
              <a:t>Len Bass, Paul Clements and Rick </a:t>
            </a:r>
            <a:r>
              <a:rPr lang="en-US" sz="2400" dirty="0" err="1" smtClean="0"/>
              <a:t>Kazman</a:t>
            </a:r>
            <a:r>
              <a:rPr lang="en-US" sz="2400" dirty="0" smtClean="0"/>
              <a:t> (2021). Software Architecture in Practice. Addison-Wesley.</a:t>
            </a:r>
          </a:p>
          <a:p>
            <a:pPr marL="457200" indent="-457200">
              <a:buFont typeface="+mj-lt"/>
              <a:buAutoNum type="arabicPeriod"/>
            </a:pPr>
            <a:r>
              <a:rPr lang="en-US" sz="2400" dirty="0" smtClean="0"/>
              <a:t>R. </a:t>
            </a:r>
            <a:r>
              <a:rPr lang="en-US" sz="2400" dirty="0" err="1" smtClean="0"/>
              <a:t>Kazman</a:t>
            </a:r>
            <a:r>
              <a:rPr lang="en-US" sz="2400" dirty="0" smtClean="0"/>
              <a:t>, M. Klein and P. Clements (1998). Evaluating Software Architectures for Real-Time Systems.</a:t>
            </a:r>
          </a:p>
          <a:p>
            <a:pPr marL="457200" indent="-457200">
              <a:buFont typeface="+mj-lt"/>
              <a:buAutoNum type="arabicPeriod"/>
            </a:pPr>
            <a:r>
              <a:rPr lang="en-US" sz="2400" dirty="0" smtClean="0"/>
              <a:t>Rick </a:t>
            </a:r>
            <a:r>
              <a:rPr lang="en-US" sz="2400" dirty="0" err="1" smtClean="0"/>
              <a:t>Kazman</a:t>
            </a:r>
            <a:r>
              <a:rPr lang="en-US" sz="2400" dirty="0" smtClean="0"/>
              <a:t>, Mark Klein and Paul Clements (2000). ATAM: Method for Architecture Evaluation.</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67450" y="17526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Functionality [1]</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Functionality</a:t>
            </a:r>
            <a:r>
              <a:rPr lang="en-US" sz="2400" dirty="0" smtClean="0"/>
              <a:t> is the ability of the system to </a:t>
            </a:r>
            <a:r>
              <a:rPr lang="en-US" sz="2400" u="sng" dirty="0" smtClean="0"/>
              <a:t>do the work</a:t>
            </a:r>
            <a:r>
              <a:rPr lang="en-US" sz="2400" dirty="0" smtClean="0"/>
              <a:t> for which it was intended.</a:t>
            </a:r>
          </a:p>
          <a:p>
            <a:r>
              <a:rPr lang="en-US" sz="2400" dirty="0" smtClean="0"/>
              <a:t>If functionality were </a:t>
            </a:r>
            <a:r>
              <a:rPr lang="en-US" sz="2400" i="1" dirty="0" smtClean="0">
                <a:solidFill>
                  <a:srgbClr val="C00000"/>
                </a:solidFill>
              </a:rPr>
              <a:t>the only thing</a:t>
            </a:r>
            <a:r>
              <a:rPr lang="en-US" sz="2400" dirty="0" smtClean="0"/>
              <a:t> that mattered, you wouldn't have to divide the system into pieces at all; a single monolithic blob with </a:t>
            </a:r>
            <a:r>
              <a:rPr lang="en-US" sz="2400" u="sng" dirty="0" smtClean="0"/>
              <a:t>no internal structure</a:t>
            </a:r>
            <a:r>
              <a:rPr lang="en-US" sz="2400" dirty="0" smtClean="0"/>
              <a:t> would do just fine.</a:t>
            </a:r>
          </a:p>
          <a:p>
            <a:r>
              <a:rPr lang="en-US" sz="2400" dirty="0" smtClean="0"/>
              <a:t>But although functionality is </a:t>
            </a:r>
            <a:r>
              <a:rPr lang="en-US" sz="2400" u="sng" dirty="0" smtClean="0"/>
              <a:t>independent of any particular structure</a:t>
            </a:r>
            <a:r>
              <a:rPr lang="en-US" sz="2400" dirty="0" smtClean="0"/>
              <a:t>, functionality is achieved by </a:t>
            </a:r>
            <a:r>
              <a:rPr lang="en-US" sz="2400" i="1" dirty="0" smtClean="0">
                <a:solidFill>
                  <a:srgbClr val="C00000"/>
                </a:solidFill>
              </a:rPr>
              <a:t>assigning responsibilities to architectural elements</a:t>
            </a:r>
            <a:r>
              <a:rPr lang="en-US" sz="2400" dirty="0" smtClean="0"/>
              <a:t>, resulting in one of the most basic of architectural structures.</a:t>
            </a:r>
          </a:p>
          <a:p>
            <a:r>
              <a:rPr lang="en-US" sz="2400" dirty="0" smtClean="0"/>
              <a:t>The architect's interest in functionality is in how it </a:t>
            </a:r>
            <a:r>
              <a:rPr lang="en-US" sz="2400" i="1" dirty="0" smtClean="0">
                <a:solidFill>
                  <a:srgbClr val="C00000"/>
                </a:solidFill>
              </a:rPr>
              <a:t>interacts with</a:t>
            </a:r>
            <a:r>
              <a:rPr lang="en-US" sz="2400" dirty="0" smtClean="0"/>
              <a:t> and </a:t>
            </a:r>
            <a:r>
              <a:rPr lang="en-US" sz="2400" i="1" dirty="0" smtClean="0">
                <a:solidFill>
                  <a:srgbClr val="C00000"/>
                </a:solidFill>
              </a:rPr>
              <a:t>constrains</a:t>
            </a:r>
            <a:r>
              <a:rPr lang="en-US" sz="2400" dirty="0" smtClean="0"/>
              <a:t> </a:t>
            </a:r>
            <a:r>
              <a:rPr lang="en-US" sz="2400" b="1" u="sng" dirty="0" smtClean="0"/>
              <a:t>other qualities</a:t>
            </a:r>
            <a:r>
              <a:rPr lang="en-US" sz="2400" dirty="0" smtClean="0"/>
              <a:t>.</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t>
            </a:r>
            <a:r>
              <a:rPr lang="en-US" dirty="0" err="1" smtClean="0"/>
              <a:t>Facebook</a:t>
            </a:r>
            <a:r>
              <a:rPr lang="en-US" dirty="0" smtClean="0"/>
              <a:t> Functionalities</a:t>
            </a:r>
            <a:endParaRPr lang="en-US" dirty="0"/>
          </a:p>
        </p:txBody>
      </p:sp>
      <p:sp>
        <p:nvSpPr>
          <p:cNvPr id="3" name="Content Placeholder 2"/>
          <p:cNvSpPr>
            <a:spLocks noGrp="1"/>
          </p:cNvSpPr>
          <p:nvPr>
            <p:ph idx="1"/>
          </p:nvPr>
        </p:nvSpPr>
        <p:spPr/>
        <p:txBody>
          <a:bodyPr/>
          <a:lstStyle/>
          <a:p>
            <a:r>
              <a:rPr lang="en-US" sz="2400" dirty="0" smtClean="0"/>
              <a:t>Registration</a:t>
            </a:r>
          </a:p>
          <a:p>
            <a:r>
              <a:rPr lang="en-US" sz="2400" dirty="0" smtClean="0"/>
              <a:t>Login</a:t>
            </a:r>
          </a:p>
          <a:p>
            <a:r>
              <a:rPr lang="en-US" sz="2400" dirty="0" smtClean="0"/>
              <a:t>Profile</a:t>
            </a:r>
          </a:p>
          <a:p>
            <a:r>
              <a:rPr lang="en-US" sz="2400" dirty="0" smtClean="0"/>
              <a:t>Posts</a:t>
            </a:r>
          </a:p>
          <a:p>
            <a:r>
              <a:rPr lang="en-US" sz="2400" dirty="0" smtClean="0"/>
              <a:t>Timeline</a:t>
            </a:r>
          </a:p>
          <a:p>
            <a:r>
              <a:rPr lang="en-US" sz="2400" dirty="0" smtClean="0"/>
              <a:t>Friends</a:t>
            </a:r>
          </a:p>
          <a:p>
            <a:r>
              <a:rPr lang="en-US" sz="2400" dirty="0" smtClean="0"/>
              <a:t>Likes</a:t>
            </a:r>
          </a:p>
          <a:p>
            <a:r>
              <a:rPr lang="en-US" sz="2400" dirty="0" smtClean="0"/>
              <a:t>Comments</a:t>
            </a:r>
          </a:p>
          <a:p>
            <a:r>
              <a:rPr lang="en-US" sz="2400" dirty="0" smtClean="0"/>
              <a:t>Images</a:t>
            </a:r>
          </a:p>
          <a:p>
            <a:r>
              <a:rPr lang="en-US" sz="2400" dirty="0" smtClean="0"/>
              <a:t>Videos</a:t>
            </a:r>
            <a:endParaRPr lang="en-US" sz="2400" dirty="0"/>
          </a:p>
        </p:txBody>
      </p:sp>
      <p:pic>
        <p:nvPicPr>
          <p:cNvPr id="1028" name="Picture 4" descr="https://www.slideteam.net/media/catalog/product/cache/1280x720/y/e/yearly_evolution_of_facebook_features_and_application_slide01.jpg"/>
          <p:cNvPicPr>
            <a:picLocks noChangeAspect="1" noChangeArrowheads="1"/>
          </p:cNvPicPr>
          <p:nvPr/>
        </p:nvPicPr>
        <p:blipFill>
          <a:blip r:embed="rId2" cstate="print"/>
          <a:srcRect/>
          <a:stretch>
            <a:fillRect/>
          </a:stretch>
        </p:blipFill>
        <p:spPr bwMode="auto">
          <a:xfrm>
            <a:off x="4572000" y="1600200"/>
            <a:ext cx="3086100" cy="44577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Requirements</a:t>
            </a:r>
            <a:endParaRPr lang="en-US" dirty="0"/>
          </a:p>
        </p:txBody>
      </p:sp>
      <p:sp>
        <p:nvSpPr>
          <p:cNvPr id="3" name="Content Placeholder 2"/>
          <p:cNvSpPr>
            <a:spLocks noGrp="1"/>
          </p:cNvSpPr>
          <p:nvPr>
            <p:ph idx="1"/>
          </p:nvPr>
        </p:nvSpPr>
        <p:spPr/>
        <p:txBody>
          <a:bodyPr/>
          <a:lstStyle/>
          <a:p>
            <a:r>
              <a:rPr lang="en-US" sz="2400" dirty="0" smtClean="0"/>
              <a:t>Scalability</a:t>
            </a:r>
          </a:p>
          <a:p>
            <a:r>
              <a:rPr lang="en-US" sz="2400" dirty="0" smtClean="0"/>
              <a:t>Availability</a:t>
            </a:r>
          </a:p>
          <a:p>
            <a:r>
              <a:rPr lang="en-US" sz="2400" dirty="0" smtClean="0"/>
              <a:t>Performance</a:t>
            </a:r>
          </a:p>
          <a:p>
            <a:r>
              <a:rPr lang="en-US" sz="2400" dirty="0" smtClean="0"/>
              <a:t>Security</a:t>
            </a:r>
          </a:p>
          <a:p>
            <a:r>
              <a:rPr lang="en-US" sz="2400" dirty="0" smtClean="0"/>
              <a:t>Modifiability</a:t>
            </a:r>
          </a:p>
          <a:p>
            <a:r>
              <a:rPr lang="en-US" sz="2400" dirty="0" smtClean="0"/>
              <a:t>Extensibility</a:t>
            </a:r>
          </a:p>
          <a:p>
            <a:endParaRPr lang="en-US" sz="2400" dirty="0" smtClean="0"/>
          </a:p>
        </p:txBody>
      </p:sp>
      <p:pic>
        <p:nvPicPr>
          <p:cNvPr id="58372" name="Picture 4" descr="https://files.websitebuilder.prositehosting.co.uk/9f/76/9f76c81f-1762-4206-adab-1478c936a19e.jpg"/>
          <p:cNvPicPr>
            <a:picLocks noChangeAspect="1" noChangeArrowheads="1"/>
          </p:cNvPicPr>
          <p:nvPr/>
        </p:nvPicPr>
        <p:blipFill>
          <a:blip r:embed="rId2" cstate="print"/>
          <a:srcRect/>
          <a:stretch>
            <a:fillRect/>
          </a:stretch>
        </p:blipFill>
        <p:spPr bwMode="auto">
          <a:xfrm>
            <a:off x="3962400" y="1758315"/>
            <a:ext cx="3657600" cy="2585085"/>
          </a:xfrm>
          <a:prstGeom prst="rect">
            <a:avLst/>
          </a:prstGeom>
          <a:noFill/>
        </p:spPr>
      </p:pic>
      <p:sp>
        <p:nvSpPr>
          <p:cNvPr id="5" name="Rectangle 4"/>
          <p:cNvSpPr/>
          <p:nvPr/>
        </p:nvSpPr>
        <p:spPr>
          <a:xfrm>
            <a:off x="1828800" y="5029200"/>
            <a:ext cx="5334000" cy="83099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sz="2400" b="1" dirty="0" smtClean="0">
                <a:solidFill>
                  <a:srgbClr val="C00000"/>
                </a:solidFill>
              </a:rPr>
              <a:t>If a complex system fails to meet the quality requirements, it is useless.</a:t>
            </a:r>
            <a:endParaRPr lang="en-US" sz="2400" b="1" dirty="0">
              <a:solidFill>
                <a:srgbClr val="C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Exercise: Scalability</a:t>
            </a:r>
            <a:endParaRPr lang="en-US" sz="4200" dirty="0"/>
          </a:p>
        </p:txBody>
      </p:sp>
      <p:sp>
        <p:nvSpPr>
          <p:cNvPr id="3" name="Content Placeholder 2"/>
          <p:cNvSpPr>
            <a:spLocks noGrp="1"/>
          </p:cNvSpPr>
          <p:nvPr>
            <p:ph idx="1"/>
          </p:nvPr>
        </p:nvSpPr>
        <p:spPr/>
        <p:txBody>
          <a:bodyPr/>
          <a:lstStyle/>
          <a:p>
            <a:r>
              <a:rPr lang="en-US" sz="2400" dirty="0" smtClean="0"/>
              <a:t>200,000 requests in 5 minutes.</a:t>
            </a:r>
          </a:p>
          <a:p>
            <a:r>
              <a:rPr lang="en-US" sz="2400" dirty="0" smtClean="0"/>
              <a:t>How to test scalability?</a:t>
            </a:r>
          </a:p>
          <a:p>
            <a:pPr lvl="1"/>
            <a:r>
              <a:rPr lang="en-US" sz="2000" dirty="0" err="1" smtClean="0"/>
              <a:t>JMeter</a:t>
            </a:r>
            <a:endParaRPr lang="en-US" sz="2000" dirty="0" smtClean="0"/>
          </a:p>
          <a:p>
            <a:pPr lvl="1"/>
            <a:r>
              <a:rPr lang="en-US" sz="2000" dirty="0" smtClean="0"/>
              <a:t>Pingdom</a:t>
            </a:r>
          </a:p>
          <a:p>
            <a:r>
              <a:rPr lang="en-US" sz="2400" dirty="0" smtClean="0"/>
              <a:t>How to achieve scalability?</a:t>
            </a:r>
          </a:p>
          <a:p>
            <a:pPr lvl="1"/>
            <a:r>
              <a:rPr lang="en-US" sz="2000" dirty="0" smtClean="0"/>
              <a:t>Load balancing (</a:t>
            </a:r>
            <a:r>
              <a:rPr lang="en-US" sz="2000" dirty="0" err="1" smtClean="0"/>
              <a:t>nginx</a:t>
            </a:r>
            <a:r>
              <a:rPr lang="en-US" sz="2000" dirty="0" smtClean="0"/>
              <a:t>, </a:t>
            </a:r>
            <a:r>
              <a:rPr lang="en-US" sz="2000" dirty="0" err="1" smtClean="0"/>
              <a:t>HAProxy</a:t>
            </a:r>
            <a:r>
              <a:rPr lang="en-US" sz="2000" dirty="0" smtClean="0"/>
              <a:t>)</a:t>
            </a:r>
          </a:p>
          <a:p>
            <a:pPr lvl="1"/>
            <a:r>
              <a:rPr lang="en-US" sz="2000" dirty="0" smtClean="0"/>
              <a:t>Caching (</a:t>
            </a:r>
            <a:r>
              <a:rPr lang="en-US" sz="2000" dirty="0" err="1" smtClean="0"/>
              <a:t>Redis</a:t>
            </a:r>
            <a:r>
              <a:rPr lang="en-US" sz="2000" dirty="0" smtClean="0"/>
              <a:t>, </a:t>
            </a:r>
            <a:r>
              <a:rPr lang="en-US" sz="2000" dirty="0" err="1" smtClean="0"/>
              <a:t>Memcached</a:t>
            </a:r>
            <a:r>
              <a:rPr lang="en-US" sz="2000" dirty="0" smtClean="0"/>
              <a:t>)</a:t>
            </a:r>
          </a:p>
          <a:p>
            <a:r>
              <a:rPr lang="en-US" sz="2400" i="1" dirty="0" smtClean="0">
                <a:solidFill>
                  <a:srgbClr val="C00000"/>
                </a:solidFill>
              </a:rPr>
              <a:t>Exercise</a:t>
            </a:r>
            <a:r>
              <a:rPr lang="en-US" sz="2400" dirty="0" smtClean="0"/>
              <a:t>: Create an architectural diagram to ensure scalability.</a:t>
            </a:r>
          </a:p>
          <a:p>
            <a:pPr lvl="1"/>
            <a:r>
              <a:rPr lang="en-US" sz="2000" dirty="0" smtClean="0"/>
              <a:t>Browsers, load balancer, web servers, database server, cache servers.</a:t>
            </a:r>
          </a:p>
          <a:p>
            <a:endParaRPr lang="en-US" sz="2400" dirty="0" smtClean="0"/>
          </a:p>
          <a:p>
            <a:endParaRPr lang="en-US" sz="2400" dirty="0"/>
          </a:p>
        </p:txBody>
      </p:sp>
      <p:pic>
        <p:nvPicPr>
          <p:cNvPr id="57346" name="Picture 2" descr="https://smartdev.com/wp-content/uploads/2024/11/1_rfb_nchxjkpzsdlv_lbkmq.png"/>
          <p:cNvPicPr>
            <a:picLocks noChangeAspect="1" noChangeArrowheads="1"/>
          </p:cNvPicPr>
          <p:nvPr/>
        </p:nvPicPr>
        <p:blipFill>
          <a:blip r:embed="rId2" cstate="print"/>
          <a:srcRect/>
          <a:stretch>
            <a:fillRect/>
          </a:stretch>
        </p:blipFill>
        <p:spPr bwMode="auto">
          <a:xfrm>
            <a:off x="5105400" y="1741170"/>
            <a:ext cx="3346450" cy="123063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Stakeholders' Goals</a:t>
            </a:r>
            <a:endParaRPr lang="en-US" dirty="0"/>
          </a:p>
        </p:txBody>
      </p:sp>
      <p:pic>
        <p:nvPicPr>
          <p:cNvPr id="1029" name="Picture 5"/>
          <p:cNvPicPr>
            <a:picLocks noChangeAspect="1" noChangeArrowheads="1"/>
          </p:cNvPicPr>
          <p:nvPr/>
        </p:nvPicPr>
        <p:blipFill>
          <a:blip r:embed="rId2" cstate="print"/>
          <a:srcRect/>
          <a:stretch>
            <a:fillRect/>
          </a:stretch>
        </p:blipFill>
        <p:spPr bwMode="auto">
          <a:xfrm>
            <a:off x="2255838" y="1600200"/>
            <a:ext cx="4632325" cy="4835525"/>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Goals [2]</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Quality goals</a:t>
            </a:r>
            <a:r>
              <a:rPr lang="en-US" sz="2400" dirty="0" smtClean="0"/>
              <a:t> form the basis for architectural evaluation, but quality goals by themselves are </a:t>
            </a:r>
            <a:r>
              <a:rPr lang="en-US" sz="2400" u="sng" dirty="0" smtClean="0"/>
              <a:t>not a sufficient basis</a:t>
            </a:r>
            <a:r>
              <a:rPr lang="en-US" sz="2400" dirty="0" smtClean="0"/>
              <a:t> to judge an architecture for suitability.</a:t>
            </a:r>
          </a:p>
          <a:p>
            <a:pPr lvl="1"/>
            <a:r>
              <a:rPr lang="en-US" sz="2000" dirty="0" smtClean="0"/>
              <a:t>The system shall be </a:t>
            </a:r>
            <a:r>
              <a:rPr lang="en-US" sz="2000" i="1" dirty="0" smtClean="0">
                <a:solidFill>
                  <a:srgbClr val="C00000"/>
                </a:solidFill>
              </a:rPr>
              <a:t>robust</a:t>
            </a:r>
            <a:r>
              <a:rPr lang="en-US" sz="2000" dirty="0" smtClean="0"/>
              <a:t>.</a:t>
            </a:r>
          </a:p>
          <a:p>
            <a:pPr lvl="1"/>
            <a:r>
              <a:rPr lang="en-US" sz="2000" dirty="0" smtClean="0"/>
              <a:t>The system shall be </a:t>
            </a:r>
            <a:r>
              <a:rPr lang="en-US" sz="2000" i="1" dirty="0" smtClean="0">
                <a:solidFill>
                  <a:srgbClr val="C00000"/>
                </a:solidFill>
              </a:rPr>
              <a:t>highly modifiable</a:t>
            </a:r>
            <a:r>
              <a:rPr lang="en-US" sz="2000" dirty="0" smtClean="0"/>
              <a:t>.</a:t>
            </a:r>
          </a:p>
          <a:p>
            <a:pPr lvl="1"/>
            <a:r>
              <a:rPr lang="en-US" sz="2000" dirty="0" smtClean="0"/>
              <a:t>The system shall be </a:t>
            </a:r>
            <a:r>
              <a:rPr lang="en-US" sz="2000" i="1" dirty="0" smtClean="0">
                <a:solidFill>
                  <a:srgbClr val="C00000"/>
                </a:solidFill>
              </a:rPr>
              <a:t>secure</a:t>
            </a:r>
            <a:r>
              <a:rPr lang="en-US" sz="2000" dirty="0" smtClean="0"/>
              <a:t> from unauthorized break-in.</a:t>
            </a:r>
          </a:p>
          <a:p>
            <a:pPr lvl="1"/>
            <a:r>
              <a:rPr lang="en-US" sz="2000" dirty="0" smtClean="0"/>
              <a:t>The system shall exhibit acceptable </a:t>
            </a:r>
            <a:r>
              <a:rPr lang="en-US" sz="2000" i="1" dirty="0" smtClean="0">
                <a:solidFill>
                  <a:srgbClr val="C00000"/>
                </a:solidFill>
              </a:rPr>
              <a:t>performance</a:t>
            </a:r>
            <a:r>
              <a:rPr lang="en-US" sz="2000" dirty="0" smtClean="0"/>
              <a:t>.</a:t>
            </a:r>
          </a:p>
          <a:p>
            <a:endParaRPr lang="en-US" dirty="0"/>
          </a:p>
        </p:txBody>
      </p:sp>
      <p:pic>
        <p:nvPicPr>
          <p:cNvPr id="2050" name="Picture 2" descr="https://static.independent.co.uk/s3fs-public/thumbnails/image/2016/09/19/12/duckjpg.jpg"/>
          <p:cNvPicPr>
            <a:picLocks noChangeAspect="1" noChangeArrowheads="1"/>
          </p:cNvPicPr>
          <p:nvPr/>
        </p:nvPicPr>
        <p:blipFill>
          <a:blip r:embed="rId2" cstate="print"/>
          <a:srcRect/>
          <a:stretch>
            <a:fillRect/>
          </a:stretch>
        </p:blipFill>
        <p:spPr bwMode="auto">
          <a:xfrm>
            <a:off x="2472489" y="4495800"/>
            <a:ext cx="2606040" cy="1954530"/>
          </a:xfrm>
          <a:prstGeom prst="rect">
            <a:avLst/>
          </a:prstGeom>
          <a:noFill/>
        </p:spPr>
      </p:pic>
      <p:sp>
        <p:nvSpPr>
          <p:cNvPr id="5" name="TextBox 4"/>
          <p:cNvSpPr txBox="1"/>
          <p:nvPr/>
        </p:nvSpPr>
        <p:spPr>
          <a:xfrm>
            <a:off x="5368089" y="5181600"/>
            <a:ext cx="2023311" cy="461665"/>
          </a:xfrm>
          <a:prstGeom prst="rect">
            <a:avLst/>
          </a:prstGeom>
          <a:noFill/>
        </p:spPr>
        <p:txBody>
          <a:bodyPr wrap="none" rtlCol="0">
            <a:spAutoFit/>
          </a:bodyPr>
          <a:lstStyle/>
          <a:p>
            <a:r>
              <a:rPr lang="en-US" sz="2400" dirty="0" smtClean="0">
                <a:latin typeface="+mj-lt"/>
              </a:rPr>
              <a:t>Rabbit or Duck</a:t>
            </a:r>
            <a:endParaRPr lang="en-US" sz="2400" dirty="0">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Measuring Quality Attribute [3]</a:t>
            </a:r>
            <a:endParaRPr lang="en-US" dirty="0"/>
          </a:p>
        </p:txBody>
      </p:sp>
      <p:sp>
        <p:nvSpPr>
          <p:cNvPr id="3" name="Content Placeholder 2"/>
          <p:cNvSpPr>
            <a:spLocks noGrp="1"/>
          </p:cNvSpPr>
          <p:nvPr>
            <p:ph idx="1"/>
          </p:nvPr>
        </p:nvSpPr>
        <p:spPr>
          <a:xfrm>
            <a:off x="457200" y="1600200"/>
            <a:ext cx="8229600" cy="4800600"/>
          </a:xfrm>
        </p:spPr>
        <p:txBody>
          <a:bodyPr/>
          <a:lstStyle/>
          <a:p>
            <a:r>
              <a:rPr lang="en-US" sz="2200" dirty="0" smtClean="0"/>
              <a:t>Evaluating an architectural design against quality attribute requirements necessitates </a:t>
            </a:r>
            <a:r>
              <a:rPr lang="en-US" sz="2200" i="1" dirty="0" smtClean="0">
                <a:solidFill>
                  <a:srgbClr val="C00000"/>
                </a:solidFill>
              </a:rPr>
              <a:t>a precise characterization</a:t>
            </a:r>
            <a:r>
              <a:rPr lang="en-US" sz="2200" dirty="0" smtClean="0"/>
              <a:t> of the quality attributes of concern.</a:t>
            </a:r>
          </a:p>
          <a:p>
            <a:r>
              <a:rPr lang="en-US" sz="2200" dirty="0" smtClean="0"/>
              <a:t>For example, understanding an architecture from the point of view of </a:t>
            </a:r>
            <a:r>
              <a:rPr lang="en-US" sz="2200" i="1" dirty="0" smtClean="0">
                <a:solidFill>
                  <a:srgbClr val="C00000"/>
                </a:solidFill>
              </a:rPr>
              <a:t>modifiability</a:t>
            </a:r>
            <a:r>
              <a:rPr lang="en-US" sz="2200" dirty="0" smtClean="0"/>
              <a:t> requires an understanding of </a:t>
            </a:r>
            <a:r>
              <a:rPr lang="en-US" sz="2200" i="1" dirty="0" smtClean="0">
                <a:solidFill>
                  <a:srgbClr val="C00000"/>
                </a:solidFill>
              </a:rPr>
              <a:t>how to measure or observe modifiability</a:t>
            </a:r>
            <a:r>
              <a:rPr lang="en-US" sz="2200" dirty="0" smtClean="0"/>
              <a:t> and an understanding of how various types of architectural decisions impact this measure.</a:t>
            </a:r>
          </a:p>
        </p:txBody>
      </p:sp>
      <p:pic>
        <p:nvPicPr>
          <p:cNvPr id="2050" name="Picture 2" descr="File:Practical Modifiability.svg - Wikimedia Commons"/>
          <p:cNvPicPr>
            <a:picLocks noChangeAspect="1" noChangeArrowheads="1"/>
          </p:cNvPicPr>
          <p:nvPr/>
        </p:nvPicPr>
        <p:blipFill>
          <a:blip r:embed="rId2" cstate="print"/>
          <a:srcRect/>
          <a:stretch>
            <a:fillRect/>
          </a:stretch>
        </p:blipFill>
        <p:spPr bwMode="auto">
          <a:xfrm>
            <a:off x="1447800" y="4343400"/>
            <a:ext cx="1828800" cy="1828800"/>
          </a:xfrm>
          <a:prstGeom prst="rect">
            <a:avLst/>
          </a:prstGeom>
          <a:noFill/>
        </p:spPr>
      </p:pic>
      <p:pic>
        <p:nvPicPr>
          <p:cNvPr id="2052" name="Picture 4" descr="Tape Measure Tricks and Tips"/>
          <p:cNvPicPr>
            <a:picLocks noChangeAspect="1" noChangeArrowheads="1"/>
          </p:cNvPicPr>
          <p:nvPr/>
        </p:nvPicPr>
        <p:blipFill>
          <a:blip r:embed="rId3" cstate="print"/>
          <a:srcRect/>
          <a:stretch>
            <a:fillRect/>
          </a:stretch>
        </p:blipFill>
        <p:spPr bwMode="auto">
          <a:xfrm>
            <a:off x="4343400" y="4343400"/>
            <a:ext cx="3429000" cy="1928813"/>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Attribute Characterizations</a:t>
            </a:r>
            <a:endParaRPr lang="en-US" dirty="0"/>
          </a:p>
        </p:txBody>
      </p:sp>
      <p:sp>
        <p:nvSpPr>
          <p:cNvPr id="3" name="Content Placeholder 2"/>
          <p:cNvSpPr>
            <a:spLocks noGrp="1"/>
          </p:cNvSpPr>
          <p:nvPr>
            <p:ph idx="1"/>
          </p:nvPr>
        </p:nvSpPr>
        <p:spPr>
          <a:xfrm>
            <a:off x="457200" y="1600200"/>
            <a:ext cx="8229600" cy="4800600"/>
          </a:xfrm>
        </p:spPr>
        <p:txBody>
          <a:bodyPr/>
          <a:lstStyle/>
          <a:p>
            <a:r>
              <a:rPr lang="en-US" sz="2400" i="1" dirty="0" smtClean="0">
                <a:solidFill>
                  <a:srgbClr val="C00000"/>
                </a:solidFill>
              </a:rPr>
              <a:t>Quality attribute characterizations</a:t>
            </a:r>
            <a:r>
              <a:rPr lang="en-US" sz="2400" dirty="0" smtClean="0"/>
              <a:t> answer the following questions about each attribute:</a:t>
            </a:r>
          </a:p>
          <a:p>
            <a:pPr lvl="1"/>
            <a:r>
              <a:rPr lang="en-US" sz="2000" dirty="0" smtClean="0"/>
              <a:t>What are the </a:t>
            </a:r>
            <a:r>
              <a:rPr lang="en-US" sz="2000" i="1" dirty="0" smtClean="0">
                <a:solidFill>
                  <a:srgbClr val="C00000"/>
                </a:solidFill>
              </a:rPr>
              <a:t>stimuli</a:t>
            </a:r>
            <a:r>
              <a:rPr lang="en-US" sz="2000" dirty="0" smtClean="0"/>
              <a:t> to which the architecture must respond?</a:t>
            </a:r>
          </a:p>
          <a:p>
            <a:pPr lvl="2"/>
            <a:r>
              <a:rPr lang="en-US" sz="1600" i="1" dirty="0" smtClean="0">
                <a:solidFill>
                  <a:srgbClr val="C00000"/>
                </a:solidFill>
              </a:rPr>
              <a:t>External stimuli</a:t>
            </a:r>
            <a:r>
              <a:rPr lang="en-US" sz="1600" dirty="0" smtClean="0"/>
              <a:t> (or just stimuli for short) are the events that cause the architecture to respond or change.</a:t>
            </a:r>
          </a:p>
          <a:p>
            <a:pPr lvl="1"/>
            <a:r>
              <a:rPr lang="en-US" sz="2000" dirty="0" smtClean="0"/>
              <a:t>What is the </a:t>
            </a:r>
            <a:r>
              <a:rPr lang="en-US" sz="2000" i="1" dirty="0" smtClean="0">
                <a:solidFill>
                  <a:srgbClr val="C00000"/>
                </a:solidFill>
              </a:rPr>
              <a:t>measurable or observable</a:t>
            </a:r>
            <a:r>
              <a:rPr lang="en-US" sz="2000" dirty="0" smtClean="0"/>
              <a:t> manifestation of the quality attribute by which its achievement is judged?</a:t>
            </a:r>
          </a:p>
          <a:p>
            <a:pPr lvl="1"/>
            <a:r>
              <a:rPr lang="en-US" sz="2000" dirty="0" smtClean="0"/>
              <a:t>What are the </a:t>
            </a:r>
            <a:r>
              <a:rPr lang="en-US" sz="2000" i="1" dirty="0" smtClean="0">
                <a:solidFill>
                  <a:srgbClr val="C00000"/>
                </a:solidFill>
              </a:rPr>
              <a:t>key architectural decisions</a:t>
            </a:r>
            <a:r>
              <a:rPr lang="en-US" sz="2000" dirty="0" smtClean="0"/>
              <a:t> that </a:t>
            </a:r>
            <a:r>
              <a:rPr lang="en-US" sz="2000" u="sng" dirty="0" smtClean="0"/>
              <a:t>impact achieving</a:t>
            </a:r>
            <a:r>
              <a:rPr lang="en-US" sz="2000" dirty="0" smtClean="0"/>
              <a:t> the attribute requirement?</a:t>
            </a:r>
          </a:p>
          <a:p>
            <a:pPr lvl="2"/>
            <a:r>
              <a:rPr lang="en-US" sz="1600" i="1" dirty="0" smtClean="0">
                <a:solidFill>
                  <a:srgbClr val="C00000"/>
                </a:solidFill>
              </a:rPr>
              <a:t>Architectural decisions</a:t>
            </a:r>
            <a:r>
              <a:rPr lang="en-US" sz="1600" dirty="0" smtClean="0"/>
              <a:t> are those aspects of an architecture — components, connectors, and their properties—that have a direct impact on achieving attribute responses.</a:t>
            </a:r>
          </a:p>
          <a:p>
            <a:pPr lvl="1"/>
            <a:endParaRPr lang="en-US" sz="2000"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Example Quality Attribute: Performance</a:t>
            </a:r>
            <a:endParaRPr lang="en-US" sz="3800" dirty="0"/>
          </a:p>
        </p:txBody>
      </p:sp>
      <p:sp>
        <p:nvSpPr>
          <p:cNvPr id="3" name="Content Placeholder 2"/>
          <p:cNvSpPr>
            <a:spLocks noGrp="1"/>
          </p:cNvSpPr>
          <p:nvPr>
            <p:ph idx="1"/>
          </p:nvPr>
        </p:nvSpPr>
        <p:spPr/>
        <p:txBody>
          <a:bodyPr/>
          <a:lstStyle/>
          <a:p>
            <a:r>
              <a:rPr lang="en-US" sz="2400" dirty="0" smtClean="0"/>
              <a:t>For example, the external </a:t>
            </a:r>
            <a:r>
              <a:rPr lang="en-US" sz="2400" i="1" dirty="0" smtClean="0">
                <a:solidFill>
                  <a:srgbClr val="C00000"/>
                </a:solidFill>
              </a:rPr>
              <a:t>stimuli for performance</a:t>
            </a:r>
            <a:r>
              <a:rPr lang="en-US" sz="2400" dirty="0" smtClean="0"/>
              <a:t> are </a:t>
            </a:r>
            <a:r>
              <a:rPr lang="en-US" sz="2400" u="sng" dirty="0" smtClean="0"/>
              <a:t>events</a:t>
            </a:r>
            <a:r>
              <a:rPr lang="en-US" sz="2400" dirty="0" smtClean="0"/>
              <a:t> such as </a:t>
            </a:r>
            <a:r>
              <a:rPr lang="en-US" sz="2400" u="sng" dirty="0" smtClean="0"/>
              <a:t>messages</a:t>
            </a:r>
            <a:r>
              <a:rPr lang="en-US" sz="2400" dirty="0" smtClean="0"/>
              <a:t>, </a:t>
            </a:r>
            <a:r>
              <a:rPr lang="en-US" sz="2400" u="sng" dirty="0" smtClean="0"/>
              <a:t>interrupts</a:t>
            </a:r>
            <a:r>
              <a:rPr lang="en-US" sz="2400" dirty="0" smtClean="0"/>
              <a:t>, or </a:t>
            </a:r>
            <a:r>
              <a:rPr lang="en-US" sz="2400" u="sng" dirty="0" smtClean="0"/>
              <a:t>user keystrokes</a:t>
            </a:r>
            <a:r>
              <a:rPr lang="en-US" sz="2400" dirty="0" smtClean="0"/>
              <a:t> that result in computation being initiated.</a:t>
            </a:r>
          </a:p>
          <a:p>
            <a:r>
              <a:rPr lang="en-US" sz="2400" i="1" dirty="0" smtClean="0">
                <a:solidFill>
                  <a:srgbClr val="C00000"/>
                </a:solidFill>
              </a:rPr>
              <a:t>Performance architectural decisions</a:t>
            </a:r>
            <a:r>
              <a:rPr lang="en-US" sz="2400" dirty="0" smtClean="0"/>
              <a:t> include </a:t>
            </a:r>
            <a:r>
              <a:rPr lang="en-US" sz="2400" u="sng" dirty="0" smtClean="0"/>
              <a:t>processor</a:t>
            </a:r>
            <a:r>
              <a:rPr lang="en-US" sz="2400" dirty="0" smtClean="0"/>
              <a:t> and </a:t>
            </a:r>
            <a:r>
              <a:rPr lang="en-US" sz="2400" u="sng" dirty="0" smtClean="0"/>
              <a:t>network</a:t>
            </a:r>
            <a:r>
              <a:rPr lang="en-US" sz="2400" dirty="0" smtClean="0"/>
              <a:t> arbitration mechanisms; </a:t>
            </a:r>
            <a:r>
              <a:rPr lang="en-US" sz="2400" u="sng" dirty="0" smtClean="0"/>
              <a:t>concurrency structures</a:t>
            </a:r>
            <a:r>
              <a:rPr lang="en-US" sz="2400" dirty="0" smtClean="0"/>
              <a:t> including processes, threads, and processors; and properties including </a:t>
            </a:r>
            <a:r>
              <a:rPr lang="en-US" sz="2400" u="sng" dirty="0" smtClean="0"/>
              <a:t>process priorities</a:t>
            </a:r>
            <a:r>
              <a:rPr lang="en-US" sz="2400" dirty="0" smtClean="0"/>
              <a:t> and </a:t>
            </a:r>
            <a:r>
              <a:rPr lang="en-US" sz="2400" u="sng" dirty="0" smtClean="0"/>
              <a:t>execution times</a:t>
            </a:r>
            <a:r>
              <a:rPr lang="en-US" sz="2400" dirty="0" smtClean="0"/>
              <a:t>.</a:t>
            </a:r>
          </a:p>
          <a:p>
            <a:r>
              <a:rPr lang="en-US" sz="2400" i="1" dirty="0" smtClean="0">
                <a:solidFill>
                  <a:srgbClr val="C00000"/>
                </a:solidFill>
              </a:rPr>
              <a:t>Responses</a:t>
            </a:r>
            <a:r>
              <a:rPr lang="en-US" sz="2400" dirty="0" smtClean="0"/>
              <a:t> are characterized by </a:t>
            </a:r>
            <a:r>
              <a:rPr lang="en-US" sz="2400" u="sng" dirty="0" smtClean="0"/>
              <a:t>measurable quantities</a:t>
            </a:r>
            <a:r>
              <a:rPr lang="en-US" sz="2400" dirty="0" smtClean="0"/>
              <a:t> such as </a:t>
            </a:r>
            <a:r>
              <a:rPr lang="en-US" sz="2400" u="sng" dirty="0" smtClean="0"/>
              <a:t>latency</a:t>
            </a:r>
            <a:r>
              <a:rPr lang="en-US" sz="2400" dirty="0" smtClean="0"/>
              <a:t> and </a:t>
            </a:r>
            <a:r>
              <a:rPr lang="en-US" sz="2400" u="sng" dirty="0" smtClean="0"/>
              <a:t>throughput</a:t>
            </a:r>
            <a:r>
              <a:rPr lang="en-US" sz="2400" dirty="0" smtClean="0"/>
              <a:t>.</a:t>
            </a:r>
          </a:p>
        </p:txBody>
      </p:sp>
      <p:pic>
        <p:nvPicPr>
          <p:cNvPr id="12290" name="Picture 2" descr="https://employee-performance.com/blog/wp-content/uploads/performance-improvement-plans.png"/>
          <p:cNvPicPr>
            <a:picLocks noChangeAspect="1" noChangeArrowheads="1"/>
          </p:cNvPicPr>
          <p:nvPr/>
        </p:nvPicPr>
        <p:blipFill>
          <a:blip r:embed="rId2" cstate="print"/>
          <a:srcRect/>
          <a:stretch>
            <a:fillRect/>
          </a:stretch>
        </p:blipFill>
        <p:spPr bwMode="auto">
          <a:xfrm>
            <a:off x="5105400" y="5029200"/>
            <a:ext cx="2926086" cy="1463043"/>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Record </a:t>
            </a:r>
            <a:r>
              <a:rPr lang="en-US" dirty="0" smtClean="0"/>
              <a:t>PC </a:t>
            </a:r>
            <a:r>
              <a:rPr lang="en-US" dirty="0" smtClean="0"/>
              <a:t>information</a:t>
            </a:r>
            <a:endParaRPr lang="en-US" dirty="0"/>
          </a:p>
        </p:txBody>
      </p:sp>
      <p:sp>
        <p:nvSpPr>
          <p:cNvPr id="3" name="Content Placeholder 2"/>
          <p:cNvSpPr>
            <a:spLocks noGrp="1"/>
          </p:cNvSpPr>
          <p:nvPr>
            <p:ph idx="1"/>
          </p:nvPr>
        </p:nvSpPr>
        <p:spPr/>
        <p:txBody>
          <a:bodyPr/>
          <a:lstStyle/>
          <a:p>
            <a:endParaRPr lang="en-US" dirty="0"/>
          </a:p>
        </p:txBody>
      </p:sp>
      <p:sp>
        <p:nvSpPr>
          <p:cNvPr id="4" name="Rectangle 3"/>
          <p:cNvSpPr/>
          <p:nvPr/>
        </p:nvSpPr>
        <p:spPr>
          <a:xfrm>
            <a:off x="457200" y="1600200"/>
            <a:ext cx="8229600" cy="14773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t>Get-</a:t>
            </a:r>
            <a:r>
              <a:rPr lang="en-US" dirty="0" err="1" smtClean="0"/>
              <a:t>ComputerInfo</a:t>
            </a:r>
            <a:r>
              <a:rPr lang="en-US" dirty="0" smtClean="0"/>
              <a:t> |</a:t>
            </a:r>
          </a:p>
          <a:p>
            <a:r>
              <a:rPr lang="en-US" dirty="0" smtClean="0"/>
              <a:t>    Select-Object </a:t>
            </a:r>
            <a:r>
              <a:rPr lang="en-US" dirty="0" err="1" smtClean="0"/>
              <a:t>WindowsProductName</a:t>
            </a:r>
            <a:r>
              <a:rPr lang="en-US" dirty="0" smtClean="0"/>
              <a:t>, </a:t>
            </a:r>
            <a:r>
              <a:rPr lang="en-US" dirty="0" err="1" smtClean="0"/>
              <a:t>WindowsVersion</a:t>
            </a:r>
            <a:r>
              <a:rPr lang="en-US" dirty="0" smtClean="0"/>
              <a:t>, </a:t>
            </a:r>
            <a:r>
              <a:rPr lang="en-US" dirty="0" err="1" smtClean="0"/>
              <a:t>OsArchitecture</a:t>
            </a:r>
            <a:r>
              <a:rPr lang="en-US" dirty="0" smtClean="0"/>
              <a:t>,</a:t>
            </a:r>
          </a:p>
          <a:p>
            <a:r>
              <a:rPr lang="en-US" dirty="0" smtClean="0"/>
              <a:t>        </a:t>
            </a:r>
            <a:r>
              <a:rPr lang="en-US" dirty="0" err="1" smtClean="0"/>
              <a:t>CsManufacturer</a:t>
            </a:r>
            <a:r>
              <a:rPr lang="en-US" dirty="0" smtClean="0"/>
              <a:t>, </a:t>
            </a:r>
            <a:r>
              <a:rPr lang="en-US" dirty="0" err="1" smtClean="0"/>
              <a:t>CsModel</a:t>
            </a:r>
            <a:r>
              <a:rPr lang="en-US" dirty="0" smtClean="0"/>
              <a:t>, </a:t>
            </a:r>
            <a:r>
              <a:rPr lang="en-US" dirty="0" err="1" smtClean="0"/>
              <a:t>CsProcessors</a:t>
            </a:r>
            <a:r>
              <a:rPr lang="en-US" dirty="0" smtClean="0"/>
              <a:t>, </a:t>
            </a:r>
            <a:r>
              <a:rPr lang="en-US" dirty="0" err="1" smtClean="0"/>
              <a:t>CsTotalPhysicalMemory</a:t>
            </a:r>
            <a:r>
              <a:rPr lang="en-US" dirty="0" smtClean="0"/>
              <a:t> |</a:t>
            </a:r>
          </a:p>
          <a:p>
            <a:r>
              <a:rPr lang="en-US" dirty="0" smtClean="0"/>
              <a:t>    Format-List |</a:t>
            </a:r>
          </a:p>
          <a:p>
            <a:r>
              <a:rPr lang="en-US" dirty="0" smtClean="0"/>
              <a:t>    Out-File system-info.txt</a:t>
            </a:r>
            <a:endParaRPr lang="en-US" dirty="0"/>
          </a:p>
        </p:txBody>
      </p:sp>
      <p:sp>
        <p:nvSpPr>
          <p:cNvPr id="5" name="Rectangle 4"/>
          <p:cNvSpPr/>
          <p:nvPr/>
        </p:nvSpPr>
        <p:spPr>
          <a:xfrm>
            <a:off x="457200" y="3352800"/>
            <a:ext cx="8229600"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t>Get-</a:t>
            </a:r>
            <a:r>
              <a:rPr lang="en-US" dirty="0" err="1" smtClean="0"/>
              <a:t>CimInstance</a:t>
            </a:r>
            <a:r>
              <a:rPr lang="en-US" dirty="0" smtClean="0"/>
              <a:t> Win32_Processor |</a:t>
            </a:r>
          </a:p>
          <a:p>
            <a:r>
              <a:rPr lang="en-US" dirty="0" smtClean="0"/>
              <a:t>    Format-List Name, </a:t>
            </a:r>
            <a:r>
              <a:rPr lang="en-US" dirty="0" err="1" smtClean="0"/>
              <a:t>NumberOfCores</a:t>
            </a:r>
            <a:r>
              <a:rPr lang="en-US" dirty="0" smtClean="0"/>
              <a:t>, </a:t>
            </a:r>
            <a:r>
              <a:rPr lang="en-US" dirty="0" err="1" smtClean="0"/>
              <a:t>NumberOfLogicalProcessors</a:t>
            </a:r>
            <a:r>
              <a:rPr lang="en-US" dirty="0" smtClean="0"/>
              <a:t>,</a:t>
            </a:r>
          </a:p>
          <a:p>
            <a:r>
              <a:rPr lang="en-US" dirty="0" smtClean="0"/>
              <a:t>        </a:t>
            </a:r>
            <a:r>
              <a:rPr lang="en-US" dirty="0" err="1" smtClean="0"/>
              <a:t>MaxClockSpeed</a:t>
            </a:r>
            <a:r>
              <a:rPr lang="en-US" dirty="0" smtClean="0"/>
              <a:t> |</a:t>
            </a:r>
          </a:p>
          <a:p>
            <a:r>
              <a:rPr lang="en-US" dirty="0" smtClean="0"/>
              <a:t>    Out-File cpu-info.txt</a:t>
            </a:r>
            <a:endParaRPr lang="en-US" dirty="0"/>
          </a:p>
        </p:txBody>
      </p:sp>
      <p:sp>
        <p:nvSpPr>
          <p:cNvPr id="6" name="Rectangle 5"/>
          <p:cNvSpPr/>
          <p:nvPr/>
        </p:nvSpPr>
        <p:spPr>
          <a:xfrm>
            <a:off x="457200" y="4876800"/>
            <a:ext cx="8229600"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t>Get-</a:t>
            </a:r>
            <a:r>
              <a:rPr lang="en-US" dirty="0" err="1" smtClean="0"/>
              <a:t>CimInstance</a:t>
            </a:r>
            <a:r>
              <a:rPr lang="en-US" dirty="0" smtClean="0"/>
              <a:t> Win32_PhysicalMemory |</a:t>
            </a:r>
          </a:p>
          <a:p>
            <a:r>
              <a:rPr lang="en-US" dirty="0" smtClean="0"/>
              <a:t>    Format-Table Manufacturer, </a:t>
            </a:r>
            <a:r>
              <a:rPr lang="en-US" dirty="0" err="1" smtClean="0"/>
              <a:t>PartNumber</a:t>
            </a:r>
            <a:r>
              <a:rPr lang="en-US" dirty="0" smtClean="0"/>
              <a:t>, Capacity, Speed,</a:t>
            </a:r>
          </a:p>
          <a:p>
            <a:r>
              <a:rPr lang="en-US" dirty="0" smtClean="0"/>
              <a:t>        </a:t>
            </a:r>
            <a:r>
              <a:rPr lang="en-US" dirty="0" err="1" smtClean="0"/>
              <a:t>ConfiguredClockSpeed</a:t>
            </a:r>
            <a:r>
              <a:rPr lang="en-US" dirty="0" smtClean="0"/>
              <a:t> |</a:t>
            </a:r>
          </a:p>
          <a:p>
            <a:r>
              <a:rPr lang="en-US" dirty="0" smtClean="0"/>
              <a:t>    Out-File ram-info.txt</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Install </a:t>
            </a:r>
            <a:r>
              <a:rPr lang="en-US" dirty="0" smtClean="0"/>
              <a:t>the benchmark </a:t>
            </a:r>
            <a:r>
              <a:rPr lang="en-US" dirty="0" smtClean="0"/>
              <a:t>tools (I)</a:t>
            </a:r>
            <a:endParaRPr lang="en-US" dirty="0"/>
          </a:p>
        </p:txBody>
      </p:sp>
      <p:sp>
        <p:nvSpPr>
          <p:cNvPr id="3" name="Content Placeholder 2"/>
          <p:cNvSpPr>
            <a:spLocks noGrp="1"/>
          </p:cNvSpPr>
          <p:nvPr>
            <p:ph idx="1"/>
          </p:nvPr>
        </p:nvSpPr>
        <p:spPr/>
        <p:txBody>
          <a:bodyPr/>
          <a:lstStyle/>
          <a:p>
            <a:r>
              <a:rPr lang="en-US" sz="1800" b="1" dirty="0" smtClean="0"/>
              <a:t># In Windows </a:t>
            </a:r>
            <a:r>
              <a:rPr lang="en-US" sz="1800" b="1" dirty="0" err="1" smtClean="0"/>
              <a:t>PowerShell</a:t>
            </a:r>
            <a:r>
              <a:rPr lang="en-US" sz="1800" b="1" dirty="0" smtClean="0"/>
              <a:t>:</a:t>
            </a:r>
          </a:p>
          <a:p>
            <a:r>
              <a:rPr lang="en-US" sz="1800" b="1" dirty="0" err="1" smtClean="0"/>
              <a:t>cd</a:t>
            </a:r>
            <a:r>
              <a:rPr lang="en-US" sz="1800" b="1" dirty="0" smtClean="0"/>
              <a:t> C:\Users\admin\Downloads</a:t>
            </a:r>
          </a:p>
          <a:p>
            <a:r>
              <a:rPr lang="en-US" sz="1800" dirty="0" err="1" smtClean="0"/>
              <a:t>choco</a:t>
            </a:r>
            <a:r>
              <a:rPr lang="en-US" sz="1800" dirty="0" smtClean="0"/>
              <a:t> </a:t>
            </a:r>
            <a:r>
              <a:rPr lang="en-US" sz="1800" dirty="0" smtClean="0"/>
              <a:t>--version</a:t>
            </a:r>
          </a:p>
          <a:p>
            <a:r>
              <a:rPr lang="en-US" sz="1800" dirty="0" err="1" smtClean="0"/>
              <a:t>git</a:t>
            </a:r>
            <a:r>
              <a:rPr lang="en-US" sz="1800" dirty="0" smtClean="0"/>
              <a:t> --</a:t>
            </a:r>
            <a:r>
              <a:rPr lang="en-US" sz="1800" dirty="0" smtClean="0"/>
              <a:t>version</a:t>
            </a:r>
          </a:p>
          <a:p>
            <a:r>
              <a:rPr lang="en-US" sz="1800" dirty="0" smtClean="0"/>
              <a:t>## LLVM is a compiler infrastructure that includes tools such as Clang for compiling C, C++, and related languages.</a:t>
            </a:r>
          </a:p>
          <a:p>
            <a:r>
              <a:rPr lang="en-US" sz="1800" dirty="0" err="1" smtClean="0"/>
              <a:t>choco</a:t>
            </a:r>
            <a:r>
              <a:rPr lang="en-US" sz="1800" dirty="0" smtClean="0"/>
              <a:t> install </a:t>
            </a:r>
            <a:r>
              <a:rPr lang="en-US" sz="1800" dirty="0" err="1" smtClean="0"/>
              <a:t>llvm</a:t>
            </a:r>
            <a:r>
              <a:rPr lang="en-US" sz="1800" dirty="0" smtClean="0"/>
              <a:t> -y</a:t>
            </a:r>
          </a:p>
          <a:p>
            <a:r>
              <a:rPr lang="en-US" sz="1800" dirty="0" smtClean="0"/>
              <a:t>## </a:t>
            </a:r>
            <a:r>
              <a:rPr lang="en-US" sz="1800" dirty="0" smtClean="0"/>
              <a:t>Restart </a:t>
            </a:r>
            <a:r>
              <a:rPr lang="en-US" sz="1800" dirty="0" err="1" smtClean="0"/>
              <a:t>PowerShell</a:t>
            </a:r>
            <a:endParaRPr lang="en-US" sz="1800" dirty="0" smtClean="0"/>
          </a:p>
          <a:p>
            <a:r>
              <a:rPr lang="en-US" sz="1800" dirty="0" smtClean="0"/>
              <a:t>clang --version</a:t>
            </a:r>
          </a:p>
          <a:p>
            <a:r>
              <a:rPr lang="en-US" sz="1800" dirty="0" smtClean="0"/>
              <a:t>7z</a:t>
            </a:r>
          </a:p>
          <a:p>
            <a:r>
              <a:rPr lang="en-US" sz="1800" dirty="0" smtClean="0"/>
              <a:t>## iperf3 is a command-line tool for measuring network throughput, jitter, packet loss, and connection quality between two computers.</a:t>
            </a:r>
          </a:p>
          <a:p>
            <a:r>
              <a:rPr lang="en-US" sz="1800" dirty="0" err="1" smtClean="0"/>
              <a:t>choco</a:t>
            </a:r>
            <a:r>
              <a:rPr lang="en-US" sz="1800" dirty="0" smtClean="0"/>
              <a:t> install iperf3 -</a:t>
            </a:r>
            <a:r>
              <a:rPr lang="en-US" sz="1800" dirty="0" smtClean="0"/>
              <a:t>y</a:t>
            </a:r>
          </a:p>
          <a:p>
            <a:r>
              <a:rPr lang="en-US" sz="1800" dirty="0" smtClean="0"/>
              <a:t>iperf3 --</a:t>
            </a:r>
            <a:r>
              <a:rPr lang="en-US" sz="1800" dirty="0" smtClean="0"/>
              <a:t>version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Install </a:t>
            </a:r>
            <a:r>
              <a:rPr lang="en-US" dirty="0" smtClean="0"/>
              <a:t>the benchmark </a:t>
            </a:r>
            <a:r>
              <a:rPr lang="en-US" dirty="0" smtClean="0"/>
              <a:t>tools (II)</a:t>
            </a:r>
            <a:endParaRPr lang="en-US" dirty="0"/>
          </a:p>
        </p:txBody>
      </p:sp>
      <p:sp>
        <p:nvSpPr>
          <p:cNvPr id="3" name="Content Placeholder 2"/>
          <p:cNvSpPr>
            <a:spLocks noGrp="1"/>
          </p:cNvSpPr>
          <p:nvPr>
            <p:ph idx="1"/>
          </p:nvPr>
        </p:nvSpPr>
        <p:spPr/>
        <p:txBody>
          <a:bodyPr/>
          <a:lstStyle/>
          <a:p>
            <a:r>
              <a:rPr lang="en-US" sz="1800" dirty="0" smtClean="0"/>
              <a:t>## </a:t>
            </a:r>
            <a:r>
              <a:rPr lang="en-US" sz="1800" dirty="0" err="1" smtClean="0"/>
              <a:t>fio</a:t>
            </a:r>
            <a:r>
              <a:rPr lang="en-US" sz="1800" dirty="0" smtClean="0"/>
              <a:t> (Flexible I/O Tester) is a command-line tool for benchmarking and stress-testing storage devices by measuring throughput, IOPS, and latency under configurable disk I/O workloads</a:t>
            </a:r>
            <a:r>
              <a:rPr lang="en-US" sz="1800" dirty="0" smtClean="0"/>
              <a:t>.</a:t>
            </a:r>
            <a:endParaRPr lang="en-US" sz="1800" dirty="0" smtClean="0"/>
          </a:p>
          <a:p>
            <a:r>
              <a:rPr lang="en-US" sz="1800" dirty="0" err="1" smtClean="0"/>
              <a:t>choco</a:t>
            </a:r>
            <a:r>
              <a:rPr lang="en-US" sz="1800" dirty="0" smtClean="0"/>
              <a:t> install </a:t>
            </a:r>
            <a:r>
              <a:rPr lang="en-US" sz="1800" dirty="0" err="1" smtClean="0"/>
              <a:t>fio</a:t>
            </a:r>
            <a:r>
              <a:rPr lang="en-US" sz="1800" dirty="0" smtClean="0"/>
              <a:t> -</a:t>
            </a:r>
            <a:r>
              <a:rPr lang="en-US" sz="1800" dirty="0" smtClean="0"/>
              <a:t>y</a:t>
            </a:r>
          </a:p>
          <a:p>
            <a:r>
              <a:rPr lang="en-US" sz="1800" dirty="0" err="1" smtClean="0"/>
              <a:t>fio</a:t>
            </a:r>
            <a:r>
              <a:rPr lang="en-US" sz="1800" dirty="0" smtClean="0"/>
              <a:t> --</a:t>
            </a:r>
            <a:r>
              <a:rPr lang="en-US" sz="1800" dirty="0" smtClean="0"/>
              <a:t>version</a:t>
            </a:r>
          </a:p>
          <a:p>
            <a:r>
              <a:rPr lang="en-US" sz="1800" dirty="0" smtClean="0"/>
              <a:t>## </a:t>
            </a:r>
            <a:r>
              <a:rPr lang="en-US" sz="1800" dirty="0" err="1" smtClean="0"/>
              <a:t>jq</a:t>
            </a:r>
            <a:r>
              <a:rPr lang="en-US" sz="1800" dirty="0" smtClean="0"/>
              <a:t> is a command-line tool for parsing, querying, transforming, and formatting JSON data.</a:t>
            </a:r>
          </a:p>
          <a:p>
            <a:r>
              <a:rPr lang="en-US" sz="1800" dirty="0" err="1" smtClean="0"/>
              <a:t>choco</a:t>
            </a:r>
            <a:r>
              <a:rPr lang="en-US" sz="1800" dirty="0" smtClean="0"/>
              <a:t> install </a:t>
            </a:r>
            <a:r>
              <a:rPr lang="en-US" sz="1800" dirty="0" err="1" smtClean="0"/>
              <a:t>jq</a:t>
            </a:r>
            <a:r>
              <a:rPr lang="en-US" sz="1800" dirty="0" smtClean="0"/>
              <a:t> -</a:t>
            </a:r>
            <a:r>
              <a:rPr lang="en-US" sz="1800" dirty="0" smtClean="0"/>
              <a:t>y</a:t>
            </a:r>
          </a:p>
          <a:p>
            <a:r>
              <a:rPr lang="en-US" sz="1800" dirty="0" err="1" smtClean="0"/>
              <a:t>jq</a:t>
            </a:r>
            <a:r>
              <a:rPr lang="en-US" sz="1800" dirty="0" smtClean="0"/>
              <a:t> --</a:t>
            </a:r>
            <a:r>
              <a:rPr lang="en-US" sz="1800" dirty="0" smtClean="0"/>
              <a:t>version</a:t>
            </a:r>
          </a:p>
          <a:p>
            <a:r>
              <a:rPr lang="en-US" sz="1800" dirty="0" smtClean="0"/>
              <a:t>## STREAM is not packaged consistently, so build it from </a:t>
            </a:r>
            <a:r>
              <a:rPr lang="en-US" sz="1800" dirty="0" smtClean="0"/>
              <a:t>source.</a:t>
            </a:r>
            <a:endParaRPr lang="en-US" sz="1800" dirty="0" smtClean="0"/>
          </a:p>
          <a:p>
            <a:r>
              <a:rPr lang="en-US" sz="1800" dirty="0" err="1" smtClean="0"/>
              <a:t>git</a:t>
            </a:r>
            <a:r>
              <a:rPr lang="en-US" sz="1800" dirty="0" smtClean="0"/>
              <a:t> clone https://github.com/jeffhammond/STREAM.git</a:t>
            </a:r>
          </a:p>
          <a:p>
            <a:r>
              <a:rPr lang="en-US" sz="1800" dirty="0" err="1" smtClean="0"/>
              <a:t>cd</a:t>
            </a:r>
            <a:r>
              <a:rPr lang="en-US" sz="1800" dirty="0" smtClean="0"/>
              <a:t> </a:t>
            </a:r>
            <a:r>
              <a:rPr lang="en-US" sz="1800" dirty="0" smtClean="0"/>
              <a:t>STREAM</a:t>
            </a:r>
          </a:p>
          <a:p>
            <a:r>
              <a:rPr lang="en-US" sz="1800" b="1" dirty="0" smtClean="0">
                <a:solidFill>
                  <a:srgbClr val="C00000"/>
                </a:solidFill>
              </a:rPr>
              <a:t>clang -O3 </a:t>
            </a:r>
            <a:r>
              <a:rPr lang="en-US" sz="1800" b="1" dirty="0" err="1" smtClean="0">
                <a:solidFill>
                  <a:srgbClr val="C00000"/>
                </a:solidFill>
              </a:rPr>
              <a:t>stream.c</a:t>
            </a:r>
            <a:r>
              <a:rPr lang="en-US" sz="1800" b="1" dirty="0" smtClean="0">
                <a:solidFill>
                  <a:srgbClr val="C00000"/>
                </a:solidFill>
              </a:rPr>
              <a:t> -o </a:t>
            </a:r>
            <a:r>
              <a:rPr lang="en-US" sz="1800" b="1" dirty="0" smtClean="0">
                <a:solidFill>
                  <a:srgbClr val="C00000"/>
                </a:solidFill>
              </a:rPr>
              <a:t>stream</a:t>
            </a:r>
            <a:endParaRPr lang="en-US" sz="1800" b="1" dirty="0" smtClean="0">
              <a:solidFill>
                <a:srgbClr val="C00000"/>
              </a:solidFill>
            </a:endParaRPr>
          </a:p>
          <a:p>
            <a:endParaRPr lang="en-US" sz="1800"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Record </a:t>
            </a:r>
            <a:r>
              <a:rPr lang="en-US" dirty="0" err="1" smtClean="0"/>
              <a:t>MacBook</a:t>
            </a:r>
            <a:r>
              <a:rPr lang="en-US" dirty="0" smtClean="0"/>
              <a:t> </a:t>
            </a:r>
            <a:r>
              <a:rPr lang="en-US" dirty="0" smtClean="0"/>
              <a:t>information</a:t>
            </a:r>
            <a:endParaRPr lang="en-US" dirty="0"/>
          </a:p>
        </p:txBody>
      </p:sp>
      <p:sp>
        <p:nvSpPr>
          <p:cNvPr id="3" name="Content Placeholder 2"/>
          <p:cNvSpPr>
            <a:spLocks noGrp="1"/>
          </p:cNvSpPr>
          <p:nvPr>
            <p:ph idx="1"/>
          </p:nvPr>
        </p:nvSpPr>
        <p:spPr/>
        <p:txBody>
          <a:bodyPr/>
          <a:lstStyle/>
          <a:p>
            <a:endParaRPr lang="en-US" dirty="0"/>
          </a:p>
        </p:txBody>
      </p:sp>
      <p:sp>
        <p:nvSpPr>
          <p:cNvPr id="4" name="Rectangle 3"/>
          <p:cNvSpPr/>
          <p:nvPr/>
        </p:nvSpPr>
        <p:spPr>
          <a:xfrm>
            <a:off x="457200" y="1600200"/>
            <a:ext cx="8229600"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err="1" smtClean="0"/>
              <a:t>system_profiler</a:t>
            </a:r>
            <a:r>
              <a:rPr lang="en-US" dirty="0" smtClean="0"/>
              <a:t> </a:t>
            </a:r>
            <a:r>
              <a:rPr lang="en-US" dirty="0" err="1" smtClean="0"/>
              <a:t>SPHardwareDataType</a:t>
            </a:r>
            <a:r>
              <a:rPr lang="en-US" dirty="0" smtClean="0"/>
              <a:t> &gt; system-info.txt</a:t>
            </a:r>
          </a:p>
          <a:p>
            <a:r>
              <a:rPr lang="en-US" dirty="0" err="1" smtClean="0"/>
              <a:t>system_profiler</a:t>
            </a:r>
            <a:r>
              <a:rPr lang="en-US" dirty="0" smtClean="0"/>
              <a:t> </a:t>
            </a:r>
            <a:r>
              <a:rPr lang="en-US" dirty="0" err="1" smtClean="0"/>
              <a:t>SPMemoryDataType</a:t>
            </a:r>
            <a:r>
              <a:rPr lang="en-US" dirty="0" smtClean="0"/>
              <a:t> &gt; ram-info.txt</a:t>
            </a:r>
          </a:p>
          <a:p>
            <a:r>
              <a:rPr lang="en-US" dirty="0" err="1" smtClean="0"/>
              <a:t>system_profiler</a:t>
            </a:r>
            <a:r>
              <a:rPr lang="en-US" dirty="0" smtClean="0"/>
              <a:t> </a:t>
            </a:r>
            <a:r>
              <a:rPr lang="en-US" dirty="0" err="1" smtClean="0"/>
              <a:t>SPNVMeDataType</a:t>
            </a:r>
            <a:r>
              <a:rPr lang="en-US" dirty="0" smtClean="0"/>
              <a:t> &gt; disk-info.txt</a:t>
            </a:r>
          </a:p>
          <a:p>
            <a:r>
              <a:rPr lang="en-US" dirty="0" err="1" smtClean="0"/>
              <a:t>system_profiler</a:t>
            </a:r>
            <a:r>
              <a:rPr lang="en-US" dirty="0" smtClean="0"/>
              <a:t> </a:t>
            </a:r>
            <a:r>
              <a:rPr lang="en-US" dirty="0" err="1" smtClean="0"/>
              <a:t>SPNetworkDataType</a:t>
            </a:r>
            <a:r>
              <a:rPr lang="en-US" dirty="0" smtClean="0"/>
              <a:t> &gt; network-info.txt</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Install </a:t>
            </a:r>
            <a:r>
              <a:rPr lang="en-US" dirty="0" smtClean="0"/>
              <a:t>the benchmark </a:t>
            </a:r>
            <a:r>
              <a:rPr lang="en-US" dirty="0" smtClean="0"/>
              <a:t>tools (I)</a:t>
            </a:r>
            <a:endParaRPr lang="en-US" dirty="0"/>
          </a:p>
        </p:txBody>
      </p:sp>
      <p:sp>
        <p:nvSpPr>
          <p:cNvPr id="3" name="Content Placeholder 2"/>
          <p:cNvSpPr>
            <a:spLocks noGrp="1"/>
          </p:cNvSpPr>
          <p:nvPr>
            <p:ph idx="1"/>
          </p:nvPr>
        </p:nvSpPr>
        <p:spPr/>
        <p:txBody>
          <a:bodyPr/>
          <a:lstStyle/>
          <a:p>
            <a:r>
              <a:rPr lang="en-US" sz="2000" b="1" dirty="0" smtClean="0"/>
              <a:t># In </a:t>
            </a:r>
            <a:r>
              <a:rPr lang="en-US" sz="2000" b="1" dirty="0" smtClean="0"/>
              <a:t>Terminal on </a:t>
            </a:r>
            <a:r>
              <a:rPr lang="en-US" sz="2000" b="1" dirty="0" err="1" smtClean="0"/>
              <a:t>macOS</a:t>
            </a:r>
            <a:r>
              <a:rPr lang="en-US" sz="2000" b="1" dirty="0" smtClean="0"/>
              <a:t> over </a:t>
            </a:r>
            <a:r>
              <a:rPr lang="en-US" sz="2000" b="1" dirty="0" smtClean="0"/>
              <a:t>SSH:</a:t>
            </a:r>
          </a:p>
          <a:p>
            <a:r>
              <a:rPr lang="en-US" sz="2000" dirty="0" err="1" smtClean="0"/>
              <a:t>git</a:t>
            </a:r>
            <a:r>
              <a:rPr lang="en-US" sz="2000" dirty="0" smtClean="0"/>
              <a:t> </a:t>
            </a:r>
            <a:r>
              <a:rPr lang="en-US" sz="2000" dirty="0" smtClean="0"/>
              <a:t>--</a:t>
            </a:r>
            <a:r>
              <a:rPr lang="en-US" sz="2000" dirty="0" smtClean="0"/>
              <a:t>version</a:t>
            </a:r>
          </a:p>
          <a:p>
            <a:r>
              <a:rPr lang="en-US" sz="2000" dirty="0" smtClean="0"/>
              <a:t>7zz</a:t>
            </a:r>
          </a:p>
          <a:p>
            <a:r>
              <a:rPr lang="en-US" sz="2000" dirty="0" smtClean="0"/>
              <a:t>## </a:t>
            </a:r>
            <a:r>
              <a:rPr lang="en-US" sz="2000" dirty="0" err="1" smtClean="0"/>
              <a:t>fio</a:t>
            </a:r>
            <a:r>
              <a:rPr lang="en-US" sz="2000" dirty="0" smtClean="0"/>
              <a:t> (Flexible I/O Tester) is a command-line tool for benchmarking and stress-testing storage devices by measuring throughput, IOPS, and latency under configurable disk I/O workloads</a:t>
            </a:r>
            <a:r>
              <a:rPr lang="en-US" sz="2000" dirty="0" smtClean="0"/>
              <a:t>.</a:t>
            </a:r>
          </a:p>
          <a:p>
            <a:r>
              <a:rPr lang="en-US" sz="2000" dirty="0" smtClean="0"/>
              <a:t>brew </a:t>
            </a:r>
            <a:r>
              <a:rPr lang="en-US" sz="2000" dirty="0" smtClean="0"/>
              <a:t>install </a:t>
            </a:r>
            <a:r>
              <a:rPr lang="en-US" sz="2000" dirty="0" err="1" smtClean="0"/>
              <a:t>fio</a:t>
            </a:r>
            <a:endParaRPr lang="en-US" sz="2000" dirty="0" smtClean="0"/>
          </a:p>
          <a:p>
            <a:r>
              <a:rPr lang="en-US" sz="2000" dirty="0" err="1" smtClean="0"/>
              <a:t>fio</a:t>
            </a:r>
            <a:r>
              <a:rPr lang="en-US" sz="2000" dirty="0" smtClean="0"/>
              <a:t> --version</a:t>
            </a:r>
            <a:endParaRPr lang="en-US" sz="2000" dirty="0" smtClean="0"/>
          </a:p>
          <a:p>
            <a:r>
              <a:rPr lang="en-US" sz="2000" dirty="0" smtClean="0"/>
              <a:t>## </a:t>
            </a:r>
            <a:r>
              <a:rPr lang="en-US" sz="2000" dirty="0" smtClean="0"/>
              <a:t>iperf3 is a command-line tool for measuring network throughput, jitter, packet loss, and connection quality between two computers.</a:t>
            </a:r>
          </a:p>
          <a:p>
            <a:r>
              <a:rPr lang="en-US" sz="2000" dirty="0" err="1" smtClean="0"/>
              <a:t>choco</a:t>
            </a:r>
            <a:r>
              <a:rPr lang="en-US" sz="2000" dirty="0" smtClean="0"/>
              <a:t> install iperf3 -</a:t>
            </a:r>
            <a:r>
              <a:rPr lang="en-US" sz="2000" dirty="0" smtClean="0"/>
              <a:t>y</a:t>
            </a:r>
          </a:p>
          <a:p>
            <a:r>
              <a:rPr lang="en-US" sz="2000" dirty="0" smtClean="0"/>
              <a:t>iperf3 --</a:t>
            </a:r>
            <a:r>
              <a:rPr lang="en-US" sz="2000" dirty="0" smtClean="0"/>
              <a:t>version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Install </a:t>
            </a:r>
            <a:r>
              <a:rPr lang="en-US" dirty="0" smtClean="0"/>
              <a:t>the benchmark </a:t>
            </a:r>
            <a:r>
              <a:rPr lang="en-US" dirty="0" smtClean="0"/>
              <a:t>tools (II)</a:t>
            </a:r>
            <a:endParaRPr lang="en-US" dirty="0"/>
          </a:p>
        </p:txBody>
      </p:sp>
      <p:sp>
        <p:nvSpPr>
          <p:cNvPr id="3" name="Content Placeholder 2"/>
          <p:cNvSpPr>
            <a:spLocks noGrp="1"/>
          </p:cNvSpPr>
          <p:nvPr>
            <p:ph idx="1"/>
          </p:nvPr>
        </p:nvSpPr>
        <p:spPr/>
        <p:txBody>
          <a:bodyPr/>
          <a:lstStyle/>
          <a:p>
            <a:r>
              <a:rPr lang="en-US" sz="1800" dirty="0" smtClean="0"/>
              <a:t>## </a:t>
            </a:r>
            <a:r>
              <a:rPr lang="en-US" sz="1800" dirty="0" err="1" smtClean="0"/>
              <a:t>jq</a:t>
            </a:r>
            <a:r>
              <a:rPr lang="en-US" sz="1800" dirty="0" smtClean="0"/>
              <a:t> is a command-line tool for parsing, querying, transforming, and formatting JSON data.</a:t>
            </a:r>
          </a:p>
          <a:p>
            <a:r>
              <a:rPr lang="en-US" sz="1800" dirty="0" smtClean="0"/>
              <a:t>brew install </a:t>
            </a:r>
            <a:r>
              <a:rPr lang="en-US" sz="1800" dirty="0" err="1" smtClean="0"/>
              <a:t>jq</a:t>
            </a:r>
            <a:endParaRPr lang="en-US" sz="1800" dirty="0" smtClean="0"/>
          </a:p>
          <a:p>
            <a:r>
              <a:rPr lang="en-US" sz="1800" dirty="0" err="1" smtClean="0"/>
              <a:t>jq</a:t>
            </a:r>
            <a:r>
              <a:rPr lang="en-US" sz="1800" dirty="0" smtClean="0"/>
              <a:t> --version</a:t>
            </a:r>
          </a:p>
          <a:p>
            <a:endParaRPr lang="en-US" sz="1800" dirty="0" smtClean="0"/>
          </a:p>
          <a:p>
            <a:r>
              <a:rPr lang="en-US" sz="1800" b="1" dirty="0" smtClean="0"/>
              <a:t>## </a:t>
            </a:r>
            <a:r>
              <a:rPr lang="en-US" sz="1800" b="1" dirty="0" smtClean="0"/>
              <a:t>STREAM is not packaged consistently, so build it from </a:t>
            </a:r>
            <a:r>
              <a:rPr lang="en-US" sz="1800" b="1" dirty="0" smtClean="0"/>
              <a:t>source.</a:t>
            </a:r>
            <a:endParaRPr lang="en-US" sz="1800" b="1" dirty="0" smtClean="0"/>
          </a:p>
          <a:p>
            <a:r>
              <a:rPr lang="en-US" sz="1800" dirty="0" err="1" smtClean="0"/>
              <a:t>git</a:t>
            </a:r>
            <a:r>
              <a:rPr lang="en-US" sz="1800" dirty="0" smtClean="0"/>
              <a:t> clone https://github.com/jeffhammond/STREAM.git</a:t>
            </a:r>
          </a:p>
          <a:p>
            <a:r>
              <a:rPr lang="en-US" sz="1800" dirty="0" err="1" smtClean="0"/>
              <a:t>cd</a:t>
            </a:r>
            <a:r>
              <a:rPr lang="en-US" sz="1800" dirty="0" smtClean="0"/>
              <a:t> STREAM</a:t>
            </a:r>
          </a:p>
          <a:p>
            <a:r>
              <a:rPr lang="en-US" sz="1800" dirty="0" smtClean="0"/>
              <a:t>clang -O3 </a:t>
            </a:r>
            <a:r>
              <a:rPr lang="en-US" sz="1800" dirty="0" err="1" smtClean="0"/>
              <a:t>stream.c</a:t>
            </a:r>
            <a:r>
              <a:rPr lang="en-US" sz="1800" dirty="0" smtClean="0"/>
              <a:t> -o stream</a:t>
            </a:r>
          </a:p>
          <a:p>
            <a:r>
              <a:rPr lang="en-US" sz="1800" dirty="0" smtClean="0"/>
              <a:t>./stream</a:t>
            </a:r>
          </a:p>
          <a:p>
            <a:endParaRPr lang="en-US" sz="1800" dirty="0" smtClean="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Run the CPU benchmark</a:t>
            </a:r>
            <a:endParaRPr lang="en-US" dirty="0"/>
          </a:p>
        </p:txBody>
      </p:sp>
      <p:sp>
        <p:nvSpPr>
          <p:cNvPr id="3" name="Content Placeholder 2"/>
          <p:cNvSpPr>
            <a:spLocks noGrp="1"/>
          </p:cNvSpPr>
          <p:nvPr>
            <p:ph idx="1"/>
          </p:nvPr>
        </p:nvSpPr>
        <p:spPr/>
        <p:txBody>
          <a:bodyPr/>
          <a:lstStyle/>
          <a:p>
            <a:endParaRPr lang="en-US" dirty="0"/>
          </a:p>
        </p:txBody>
      </p:sp>
      <p:sp>
        <p:nvSpPr>
          <p:cNvPr id="4" name="Rectangle 3"/>
          <p:cNvSpPr/>
          <p:nvPr/>
        </p:nvSpPr>
        <p:spPr>
          <a:xfrm>
            <a:off x="457200" y="1600200"/>
            <a:ext cx="8229600" cy="203132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1" dirty="0" smtClean="0"/>
              <a:t># In Windows </a:t>
            </a:r>
            <a:r>
              <a:rPr lang="en-US" b="1" dirty="0" err="1" smtClean="0"/>
              <a:t>PowerShell</a:t>
            </a:r>
            <a:r>
              <a:rPr lang="en-US" b="1" dirty="0" smtClean="0"/>
              <a:t>:</a:t>
            </a:r>
            <a:endParaRPr lang="en-US" dirty="0" smtClean="0"/>
          </a:p>
          <a:p>
            <a:r>
              <a:rPr lang="en-US" dirty="0" smtClean="0"/>
              <a:t>1</a:t>
            </a:r>
            <a:r>
              <a:rPr lang="en-US" dirty="0" smtClean="0"/>
              <a:t>..3 | </a:t>
            </a:r>
            <a:r>
              <a:rPr lang="en-US" dirty="0" err="1" smtClean="0"/>
              <a:t>ForEach</a:t>
            </a:r>
            <a:r>
              <a:rPr lang="en-US" dirty="0" smtClean="0"/>
              <a:t>-Object {</a:t>
            </a:r>
          </a:p>
          <a:p>
            <a:r>
              <a:rPr lang="en-US" dirty="0" smtClean="0"/>
              <a:t>    &amp; "C:\Program Files\7-Zip\7z.exe" b `</a:t>
            </a:r>
          </a:p>
          <a:p>
            <a:r>
              <a:rPr lang="en-US" dirty="0" smtClean="0"/>
              <a:t>        | Tee-Object -</a:t>
            </a:r>
            <a:r>
              <a:rPr lang="en-US" dirty="0" err="1" smtClean="0"/>
              <a:t>FilePath</a:t>
            </a:r>
            <a:r>
              <a:rPr lang="en-US" dirty="0" smtClean="0"/>
              <a:t> "</a:t>
            </a:r>
            <a:r>
              <a:rPr lang="en-US" dirty="0" err="1" smtClean="0"/>
              <a:t>cpu</a:t>
            </a:r>
            <a:r>
              <a:rPr lang="en-US" dirty="0" smtClean="0"/>
              <a:t>-run-$_.txt"</a:t>
            </a:r>
          </a:p>
          <a:p>
            <a:endParaRPr lang="en-US" dirty="0" smtClean="0"/>
          </a:p>
          <a:p>
            <a:r>
              <a:rPr lang="en-US" dirty="0" smtClean="0"/>
              <a:t>    Start-Sleep -Seconds 60</a:t>
            </a:r>
          </a:p>
          <a:p>
            <a:r>
              <a:rPr lang="en-US" dirty="0" smtClean="0"/>
              <a:t>}</a:t>
            </a:r>
            <a:endParaRPr lang="en-US" dirty="0"/>
          </a:p>
        </p:txBody>
      </p:sp>
      <p:sp>
        <p:nvSpPr>
          <p:cNvPr id="6" name="Rectangle 5"/>
          <p:cNvSpPr/>
          <p:nvPr/>
        </p:nvSpPr>
        <p:spPr>
          <a:xfrm>
            <a:off x="457200" y="4038600"/>
            <a:ext cx="8229600" cy="150810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1" dirty="0" smtClean="0"/>
              <a:t># In Terminal on </a:t>
            </a:r>
            <a:r>
              <a:rPr lang="en-US" b="1" dirty="0" err="1" smtClean="0"/>
              <a:t>macOS</a:t>
            </a:r>
            <a:r>
              <a:rPr lang="en-US" b="1" dirty="0" smtClean="0"/>
              <a:t> over SSH:</a:t>
            </a:r>
            <a:endParaRPr lang="en-US" dirty="0" smtClean="0"/>
          </a:p>
          <a:p>
            <a:r>
              <a:rPr lang="en-US" dirty="0" smtClean="0"/>
              <a:t>for run in 1 2 3; do</a:t>
            </a:r>
          </a:p>
          <a:p>
            <a:r>
              <a:rPr lang="en-US" dirty="0" smtClean="0"/>
              <a:t>    7zz b | tee "</a:t>
            </a:r>
            <a:r>
              <a:rPr lang="en-US" dirty="0" err="1" smtClean="0"/>
              <a:t>cpu</a:t>
            </a:r>
            <a:r>
              <a:rPr lang="en-US" dirty="0" smtClean="0"/>
              <a:t>-run-$run.txt"</a:t>
            </a:r>
          </a:p>
          <a:p>
            <a:r>
              <a:rPr lang="en-US" dirty="0" smtClean="0"/>
              <a:t>    sleep 60</a:t>
            </a:r>
          </a:p>
          <a:p>
            <a:r>
              <a:rPr lang="en-US" dirty="0" smtClean="0"/>
              <a:t>done</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Interpret </a:t>
            </a:r>
            <a:r>
              <a:rPr lang="en-US" dirty="0" smtClean="0"/>
              <a:t>the CPU </a:t>
            </a:r>
            <a:r>
              <a:rPr lang="en-US" dirty="0" smtClean="0"/>
              <a:t>benchmark results</a:t>
            </a:r>
            <a:endParaRPr lang="en-US" dirty="0"/>
          </a:p>
        </p:txBody>
      </p:sp>
      <p:sp>
        <p:nvSpPr>
          <p:cNvPr id="3" name="Content Placeholder 2"/>
          <p:cNvSpPr>
            <a:spLocks noGrp="1"/>
          </p:cNvSpPr>
          <p:nvPr>
            <p:ph idx="1"/>
          </p:nvPr>
        </p:nvSpPr>
        <p:spPr/>
        <p:txBody>
          <a:bodyPr/>
          <a:lstStyle/>
          <a:p>
            <a:r>
              <a:rPr lang="en-US" sz="2000" dirty="0" smtClean="0"/>
              <a:t>Look near the bottom of each result for:</a:t>
            </a:r>
          </a:p>
          <a:p>
            <a:pPr lvl="1"/>
            <a:r>
              <a:rPr lang="en-US" sz="1800" dirty="0" smtClean="0"/>
              <a:t>Compressing</a:t>
            </a:r>
          </a:p>
          <a:p>
            <a:pPr lvl="1"/>
            <a:r>
              <a:rPr lang="en-US" sz="1800" dirty="0" smtClean="0"/>
              <a:t>Decompressing</a:t>
            </a:r>
          </a:p>
          <a:p>
            <a:pPr lvl="1"/>
            <a:r>
              <a:rPr lang="en-US" sz="1800" dirty="0" smtClean="0"/>
              <a:t>Total Rating</a:t>
            </a:r>
          </a:p>
          <a:p>
            <a:r>
              <a:rPr lang="en-US" sz="2000" dirty="0" smtClean="0"/>
              <a:t>Higher ratings are better.</a:t>
            </a:r>
          </a:p>
          <a:p>
            <a:endParaRPr lang="en-US" sz="2000" dirty="0"/>
          </a:p>
        </p:txBody>
      </p:sp>
      <p:pic>
        <p:nvPicPr>
          <p:cNvPr id="1026" name="Picture 2"/>
          <p:cNvPicPr>
            <a:picLocks noChangeAspect="1" noChangeArrowheads="1"/>
          </p:cNvPicPr>
          <p:nvPr/>
        </p:nvPicPr>
        <p:blipFill>
          <a:blip r:embed="rId2" cstate="print"/>
          <a:srcRect/>
          <a:stretch>
            <a:fillRect/>
          </a:stretch>
        </p:blipFill>
        <p:spPr bwMode="auto">
          <a:xfrm>
            <a:off x="4191000" y="2057400"/>
            <a:ext cx="4451350" cy="207645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1447800" y="4343400"/>
            <a:ext cx="5289550" cy="204787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Example Quality Attribute: Modifiability</a:t>
            </a:r>
            <a:endParaRPr lang="en-US" sz="3800" dirty="0"/>
          </a:p>
        </p:txBody>
      </p:sp>
      <p:sp>
        <p:nvSpPr>
          <p:cNvPr id="3" name="Content Placeholder 2"/>
          <p:cNvSpPr>
            <a:spLocks noGrp="1"/>
          </p:cNvSpPr>
          <p:nvPr>
            <p:ph idx="1"/>
          </p:nvPr>
        </p:nvSpPr>
        <p:spPr/>
        <p:txBody>
          <a:bodyPr/>
          <a:lstStyle/>
          <a:p>
            <a:r>
              <a:rPr lang="en-US" sz="2400" dirty="0" smtClean="0"/>
              <a:t>For </a:t>
            </a:r>
            <a:r>
              <a:rPr lang="en-US" sz="2400" i="1" dirty="0" smtClean="0">
                <a:solidFill>
                  <a:srgbClr val="C00000"/>
                </a:solidFill>
              </a:rPr>
              <a:t>modifiability</a:t>
            </a:r>
            <a:r>
              <a:rPr lang="en-US" sz="2400" dirty="0" smtClean="0"/>
              <a:t>, the external </a:t>
            </a:r>
            <a:r>
              <a:rPr lang="en-US" sz="2400" i="1" dirty="0" smtClean="0">
                <a:solidFill>
                  <a:srgbClr val="C00000"/>
                </a:solidFill>
              </a:rPr>
              <a:t>stimuli</a:t>
            </a:r>
            <a:r>
              <a:rPr lang="en-US" sz="2400" dirty="0" smtClean="0"/>
              <a:t> are </a:t>
            </a:r>
            <a:r>
              <a:rPr lang="en-US" sz="2400" u="sng" dirty="0" smtClean="0"/>
              <a:t>change requests</a:t>
            </a:r>
            <a:r>
              <a:rPr lang="en-US" sz="2400" dirty="0" smtClean="0"/>
              <a:t> to the system's software.</a:t>
            </a:r>
          </a:p>
          <a:p>
            <a:r>
              <a:rPr lang="en-US" sz="2400" i="1" dirty="0" smtClean="0">
                <a:solidFill>
                  <a:srgbClr val="C00000"/>
                </a:solidFill>
              </a:rPr>
              <a:t>Architectural decisions</a:t>
            </a:r>
            <a:r>
              <a:rPr lang="en-US" sz="2400" dirty="0" smtClean="0"/>
              <a:t> include </a:t>
            </a:r>
            <a:r>
              <a:rPr lang="en-US" sz="2400" u="sng" dirty="0" smtClean="0"/>
              <a:t>encapsulation</a:t>
            </a:r>
            <a:r>
              <a:rPr lang="en-US" sz="2400" dirty="0" smtClean="0"/>
              <a:t> and </a:t>
            </a:r>
            <a:r>
              <a:rPr lang="en-US" sz="2400" u="sng" dirty="0" smtClean="0"/>
              <a:t>indirection mechanisms</a:t>
            </a:r>
            <a:r>
              <a:rPr lang="en-US" sz="2400" dirty="0" smtClean="0"/>
              <a:t>, and </a:t>
            </a:r>
          </a:p>
          <a:p>
            <a:r>
              <a:rPr lang="en-US" sz="2400" dirty="0" smtClean="0"/>
              <a:t>the </a:t>
            </a:r>
            <a:r>
              <a:rPr lang="en-US" sz="2400" i="1" dirty="0" smtClean="0">
                <a:solidFill>
                  <a:srgbClr val="C00000"/>
                </a:solidFill>
              </a:rPr>
              <a:t>response</a:t>
            </a:r>
            <a:r>
              <a:rPr lang="en-US" sz="2400" dirty="0" smtClean="0"/>
              <a:t> is measured in terms of the </a:t>
            </a:r>
            <a:r>
              <a:rPr lang="en-US" sz="2400" u="sng" dirty="0" smtClean="0"/>
              <a:t>number of affected</a:t>
            </a:r>
            <a:r>
              <a:rPr lang="en-US" sz="2400" dirty="0" smtClean="0"/>
              <a:t> components, connectors, and interfaces and </a:t>
            </a:r>
            <a:r>
              <a:rPr lang="en-US" sz="2400" u="sng" dirty="0" smtClean="0"/>
              <a:t>the amount of effort</a:t>
            </a:r>
            <a:r>
              <a:rPr lang="en-US" sz="2400" dirty="0" smtClean="0"/>
              <a:t> involved in changing these affected elements.</a:t>
            </a:r>
            <a:endParaRPr lang="en-US" sz="2400" dirty="0"/>
          </a:p>
        </p:txBody>
      </p:sp>
      <p:pic>
        <p:nvPicPr>
          <p:cNvPr id="11266" name="Picture 2" descr="https://i1.wp.com/www.complexsql.com/wp-content/uploads/2018/01/Alter-table.png?fit=400%2C400&amp;ssl=1"/>
          <p:cNvPicPr>
            <a:picLocks noChangeAspect="1" noChangeArrowheads="1"/>
          </p:cNvPicPr>
          <p:nvPr/>
        </p:nvPicPr>
        <p:blipFill>
          <a:blip r:embed="rId2" cstate="print"/>
          <a:srcRect/>
          <a:stretch>
            <a:fillRect/>
          </a:stretch>
        </p:blipFill>
        <p:spPr bwMode="auto">
          <a:xfrm>
            <a:off x="3810000" y="4495800"/>
            <a:ext cx="1828800" cy="1828800"/>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Why Use Attribute Characterizations?</a:t>
            </a:r>
            <a:endParaRPr lang="en-US" sz="4000" dirty="0"/>
          </a:p>
        </p:txBody>
      </p:sp>
      <p:sp>
        <p:nvSpPr>
          <p:cNvPr id="3" name="Content Placeholder 2"/>
          <p:cNvSpPr>
            <a:spLocks noGrp="1"/>
          </p:cNvSpPr>
          <p:nvPr>
            <p:ph idx="1"/>
          </p:nvPr>
        </p:nvSpPr>
        <p:spPr/>
        <p:txBody>
          <a:bodyPr/>
          <a:lstStyle/>
          <a:p>
            <a:r>
              <a:rPr lang="en-US" sz="2400" dirty="0" smtClean="0"/>
              <a:t>The attribute characterizations help to </a:t>
            </a:r>
            <a:r>
              <a:rPr lang="en-US" sz="2400" u="sng" dirty="0" smtClean="0"/>
              <a:t>ensure attribute coverage</a:t>
            </a:r>
            <a:r>
              <a:rPr lang="en-US" sz="2400" dirty="0" smtClean="0"/>
              <a:t> as well as offering a rationale </a:t>
            </a:r>
            <a:r>
              <a:rPr lang="en-US" sz="2400" i="1" dirty="0" smtClean="0">
                <a:solidFill>
                  <a:srgbClr val="C00000"/>
                </a:solidFill>
              </a:rPr>
              <a:t>for asking elicitation questions</a:t>
            </a:r>
            <a:r>
              <a:rPr lang="en-US" sz="2400" dirty="0" smtClean="0"/>
              <a:t>. (REQUIREMENTS ELICITATION)</a:t>
            </a:r>
          </a:p>
          <a:p>
            <a:r>
              <a:rPr lang="en-US" sz="2400" dirty="0" smtClean="0"/>
              <a:t>Examples of </a:t>
            </a:r>
            <a:r>
              <a:rPr lang="en-US" sz="2400" i="1" dirty="0" smtClean="0">
                <a:solidFill>
                  <a:srgbClr val="C00000"/>
                </a:solidFill>
              </a:rPr>
              <a:t>performance related questions</a:t>
            </a:r>
            <a:r>
              <a:rPr lang="en-US" sz="2400" dirty="0" smtClean="0"/>
              <a:t>:</a:t>
            </a:r>
          </a:p>
          <a:p>
            <a:pPr lvl="1"/>
            <a:r>
              <a:rPr lang="en-US" sz="1600" dirty="0" smtClean="0"/>
              <a:t>What is the physical location of the hardware and its connectivity?</a:t>
            </a:r>
          </a:p>
          <a:p>
            <a:pPr lvl="1"/>
            <a:r>
              <a:rPr lang="en-US" sz="1600" dirty="0" smtClean="0"/>
              <a:t>What are the bandwidth characteristics of the network?</a:t>
            </a:r>
          </a:p>
          <a:p>
            <a:pPr lvl="1"/>
            <a:r>
              <a:rPr lang="en-US" sz="1600" dirty="0" smtClean="0"/>
              <a:t>Do you use a synchronous or an asynchronous protocol?</a:t>
            </a:r>
          </a:p>
          <a:p>
            <a:pPr lvl="1"/>
            <a:r>
              <a:rPr lang="en-US" sz="1600" dirty="0" smtClean="0"/>
              <a:t>What is the location of firewalls and their impact on performance?</a:t>
            </a:r>
          </a:p>
          <a:p>
            <a:pPr lvl="1"/>
            <a:r>
              <a:rPr lang="en-US" sz="1600" dirty="0" smtClean="0"/>
              <a:t>What information is cached versus regenerated? Based upon what principles?</a:t>
            </a:r>
          </a:p>
          <a:p>
            <a:pPr lvl="1"/>
            <a:r>
              <a:rPr lang="en-US" sz="1600" dirty="0" smtClean="0"/>
              <a:t>How are resources allocated to service requests?</a:t>
            </a:r>
          </a:p>
          <a:p>
            <a:pPr lvl="1"/>
            <a:r>
              <a:rPr lang="en-US" sz="1600" dirty="0" smtClean="0"/>
              <a:t>How do we characterize client loading, (e.g., how many concurrent sessions, how many users)?</a:t>
            </a:r>
          </a:p>
          <a:p>
            <a:pPr lvl="1"/>
            <a:r>
              <a:rPr lang="en-US" sz="1600" dirty="0" smtClean="0"/>
              <a:t>What are the performance characteristics of the middleware: load balancing, monitoring, reconfiguring services to resources?</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Scenarios</a:t>
            </a:r>
            <a:endParaRPr lang="en-US" dirty="0"/>
          </a:p>
        </p:txBody>
      </p:sp>
      <p:sp>
        <p:nvSpPr>
          <p:cNvPr id="3" name="Content Placeholder 2"/>
          <p:cNvSpPr>
            <a:spLocks noGrp="1"/>
          </p:cNvSpPr>
          <p:nvPr>
            <p:ph idx="1"/>
          </p:nvPr>
        </p:nvSpPr>
        <p:spPr/>
        <p:txBody>
          <a:bodyPr/>
          <a:lstStyle/>
          <a:p>
            <a:r>
              <a:rPr lang="en-US" sz="2200" dirty="0" smtClean="0"/>
              <a:t>Typically the first job of an architecture analysis is to precisely </a:t>
            </a:r>
            <a:r>
              <a:rPr lang="en-US" sz="2200" i="1" dirty="0" smtClean="0">
                <a:solidFill>
                  <a:srgbClr val="C00000"/>
                </a:solidFill>
              </a:rPr>
              <a:t>elicit the specific quality goals</a:t>
            </a:r>
            <a:r>
              <a:rPr lang="en-US" sz="2200" dirty="0" smtClean="0"/>
              <a:t> against which the architecture will be judged. The </a:t>
            </a:r>
            <a:r>
              <a:rPr lang="en-US" sz="2200" i="1" dirty="0" smtClean="0">
                <a:solidFill>
                  <a:srgbClr val="C00000"/>
                </a:solidFill>
              </a:rPr>
              <a:t>mechanism</a:t>
            </a:r>
            <a:r>
              <a:rPr lang="en-US" sz="2200" dirty="0" smtClean="0"/>
              <a:t> that we use for this elicitation is the </a:t>
            </a:r>
            <a:r>
              <a:rPr lang="en-US" sz="2200" u="sng" dirty="0" smtClean="0"/>
              <a:t>scenario</a:t>
            </a:r>
            <a:r>
              <a:rPr lang="en-US" sz="2200" dirty="0" smtClean="0"/>
              <a:t>.</a:t>
            </a:r>
          </a:p>
          <a:p>
            <a:r>
              <a:rPr lang="en-US" sz="2200" i="1" dirty="0" smtClean="0">
                <a:solidFill>
                  <a:srgbClr val="C00000"/>
                </a:solidFill>
              </a:rPr>
              <a:t>A scenario</a:t>
            </a:r>
            <a:r>
              <a:rPr lang="en-US" sz="2200" dirty="0" smtClean="0"/>
              <a:t> is a </a:t>
            </a:r>
            <a:r>
              <a:rPr lang="en-US" sz="2200" u="sng" dirty="0" smtClean="0"/>
              <a:t>short statement</a:t>
            </a:r>
            <a:r>
              <a:rPr lang="en-US" sz="2200" dirty="0" smtClean="0"/>
              <a:t> describing an </a:t>
            </a:r>
            <a:r>
              <a:rPr lang="en-US" sz="2200" u="sng" dirty="0" smtClean="0"/>
              <a:t>interaction</a:t>
            </a:r>
            <a:r>
              <a:rPr lang="en-US" sz="2200" dirty="0" smtClean="0"/>
              <a:t> of one of the </a:t>
            </a:r>
            <a:r>
              <a:rPr lang="en-US" sz="2200" u="sng" dirty="0" smtClean="0"/>
              <a:t>stakeholders</a:t>
            </a:r>
            <a:r>
              <a:rPr lang="en-US" sz="2200" dirty="0" smtClean="0"/>
              <a:t> with the system.</a:t>
            </a:r>
          </a:p>
          <a:p>
            <a:pPr lvl="1"/>
            <a:r>
              <a:rPr lang="en-US" sz="1700" i="1" dirty="0" smtClean="0">
                <a:solidFill>
                  <a:srgbClr val="C00000"/>
                </a:solidFill>
              </a:rPr>
              <a:t>A user</a:t>
            </a:r>
            <a:r>
              <a:rPr lang="en-US" sz="1700" dirty="0" smtClean="0"/>
              <a:t> would describe using the system to perform some task; his scenarios would very much resemble use cases in object-oriented parlance.</a:t>
            </a:r>
          </a:p>
          <a:p>
            <a:pPr lvl="1"/>
            <a:r>
              <a:rPr lang="en-US" sz="1700" i="1" dirty="0" smtClean="0">
                <a:solidFill>
                  <a:srgbClr val="C00000"/>
                </a:solidFill>
              </a:rPr>
              <a:t>A maintainer</a:t>
            </a:r>
            <a:r>
              <a:rPr lang="en-US" sz="1700" dirty="0" smtClean="0"/>
              <a:t> would describe making a change to the system, such as upgrading the operating system in a particular way or adding a specific new function.</a:t>
            </a:r>
          </a:p>
          <a:p>
            <a:pPr lvl="1"/>
            <a:r>
              <a:rPr lang="en-US" sz="1700" i="1" dirty="0" smtClean="0">
                <a:solidFill>
                  <a:srgbClr val="C00000"/>
                </a:solidFill>
              </a:rPr>
              <a:t>A developer's</a:t>
            </a:r>
            <a:r>
              <a:rPr lang="en-US" sz="1700" dirty="0" smtClean="0"/>
              <a:t> scenario might talk about using the architecture to build the system or predict its performance.</a:t>
            </a:r>
          </a:p>
          <a:p>
            <a:pPr lvl="1"/>
            <a:r>
              <a:rPr lang="en-US" sz="1700" i="1" dirty="0" smtClean="0">
                <a:solidFill>
                  <a:srgbClr val="C00000"/>
                </a:solidFill>
              </a:rPr>
              <a:t>A customer's</a:t>
            </a:r>
            <a:r>
              <a:rPr lang="en-US" sz="1700" dirty="0" smtClean="0"/>
              <a:t> scenario might describe how the architecture is to be re-used for a second product in a product line.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 Scenarios</a:t>
            </a:r>
            <a:endParaRPr lang="en-US" dirty="0"/>
          </a:p>
        </p:txBody>
      </p:sp>
      <p:sp>
        <p:nvSpPr>
          <p:cNvPr id="3" name="Content Placeholder 2"/>
          <p:cNvSpPr>
            <a:spLocks noGrp="1"/>
          </p:cNvSpPr>
          <p:nvPr>
            <p:ph idx="1"/>
          </p:nvPr>
        </p:nvSpPr>
        <p:spPr/>
        <p:txBody>
          <a:bodyPr/>
          <a:lstStyle/>
          <a:p>
            <a:r>
              <a:rPr lang="en-US" sz="2600" i="1" dirty="0" smtClean="0">
                <a:solidFill>
                  <a:srgbClr val="C00000"/>
                </a:solidFill>
              </a:rPr>
              <a:t>Use case scenarios</a:t>
            </a:r>
            <a:r>
              <a:rPr lang="en-US" sz="2600" dirty="0" smtClean="0"/>
              <a:t> describe a </a:t>
            </a:r>
            <a:r>
              <a:rPr lang="en-US" sz="2600" u="sng" dirty="0" smtClean="0"/>
              <a:t>user's intended interaction</a:t>
            </a:r>
            <a:r>
              <a:rPr lang="en-US" sz="2600" dirty="0" smtClean="0"/>
              <a:t> with the completed, running system.</a:t>
            </a:r>
          </a:p>
          <a:p>
            <a:pPr lvl="1"/>
            <a:r>
              <a:rPr lang="en-US" sz="2200" dirty="0" smtClean="0"/>
              <a:t>The user wants to examine budgetary and actual data under different fiscal years without re-entering project data. (</a:t>
            </a:r>
            <a:r>
              <a:rPr lang="en-US" sz="2200" b="1" dirty="0" smtClean="0"/>
              <a:t>usability</a:t>
            </a:r>
            <a:r>
              <a:rPr lang="en-US" sz="2200" dirty="0" smtClean="0"/>
              <a:t>)</a:t>
            </a:r>
          </a:p>
          <a:p>
            <a:pPr lvl="1"/>
            <a:r>
              <a:rPr lang="en-US" sz="2200" dirty="0" smtClean="0"/>
              <a:t>User changes graph layout from horizontal to vertical and graph is redrawn in one second. (</a:t>
            </a:r>
            <a:r>
              <a:rPr lang="en-US" sz="2200" b="1" dirty="0" smtClean="0"/>
              <a:t>performance</a:t>
            </a:r>
            <a:r>
              <a:rPr lang="en-US" sz="2200" dirty="0" smtClean="0"/>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Growth Scenarios</a:t>
            </a:r>
            <a:endParaRPr lang="en-US" dirty="0"/>
          </a:p>
        </p:txBody>
      </p:sp>
      <p:sp>
        <p:nvSpPr>
          <p:cNvPr id="3" name="Content Placeholder 2"/>
          <p:cNvSpPr>
            <a:spLocks noGrp="1"/>
          </p:cNvSpPr>
          <p:nvPr>
            <p:ph idx="1"/>
          </p:nvPr>
        </p:nvSpPr>
        <p:spPr/>
        <p:txBody>
          <a:bodyPr/>
          <a:lstStyle/>
          <a:p>
            <a:r>
              <a:rPr lang="en-US" sz="2600" i="1" dirty="0" smtClean="0">
                <a:solidFill>
                  <a:srgbClr val="C00000"/>
                </a:solidFill>
              </a:rPr>
              <a:t>Growth scenarios</a:t>
            </a:r>
            <a:r>
              <a:rPr lang="en-US" sz="2600" dirty="0" smtClean="0"/>
              <a:t> represent typical anticipated future changes to a system.</a:t>
            </a:r>
          </a:p>
          <a:p>
            <a:pPr lvl="1"/>
            <a:r>
              <a:rPr lang="en-US" sz="2200" dirty="0" smtClean="0"/>
              <a:t>The maximum number of tracks to be handled by the system doubles and the maximum latency of track data to the screen is kept to </a:t>
            </a:r>
            <a:r>
              <a:rPr lang="en-US" sz="2200" b="1" dirty="0" smtClean="0"/>
              <a:t>200 </a:t>
            </a:r>
            <a:r>
              <a:rPr lang="en-US" sz="2200" b="1" dirty="0" err="1" smtClean="0"/>
              <a:t>ms</a:t>
            </a:r>
            <a:r>
              <a:rPr lang="en-US" sz="2200" dirty="0" err="1" smtClean="0"/>
              <a:t>.</a:t>
            </a:r>
            <a:endParaRPr lang="en-US" sz="2200" dirty="0" smtClean="0"/>
          </a:p>
          <a:p>
            <a:pPr lvl="1"/>
            <a:r>
              <a:rPr lang="en-US" sz="2200" dirty="0" smtClean="0"/>
              <a:t>Migrate to a new operating system, or a new release of the existing operating system in less than </a:t>
            </a:r>
            <a:r>
              <a:rPr lang="en-US" sz="2200" b="1" dirty="0" smtClean="0"/>
              <a:t>a person-year of work</a:t>
            </a:r>
            <a:r>
              <a:rPr lang="en-US" sz="2200" dirty="0" smtClean="0"/>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Exploratory Scenarios</a:t>
            </a:r>
            <a:endParaRPr lang="en-US" dirty="0"/>
          </a:p>
        </p:txBody>
      </p:sp>
      <p:sp>
        <p:nvSpPr>
          <p:cNvPr id="3" name="Content Placeholder 2"/>
          <p:cNvSpPr>
            <a:spLocks noGrp="1"/>
          </p:cNvSpPr>
          <p:nvPr>
            <p:ph idx="1"/>
          </p:nvPr>
        </p:nvSpPr>
        <p:spPr/>
        <p:txBody>
          <a:bodyPr/>
          <a:lstStyle/>
          <a:p>
            <a:r>
              <a:rPr lang="en-US" sz="2600" i="1" dirty="0" smtClean="0">
                <a:solidFill>
                  <a:srgbClr val="C00000"/>
                </a:solidFill>
              </a:rPr>
              <a:t>Exploratory scenarios</a:t>
            </a:r>
            <a:r>
              <a:rPr lang="en-US" sz="2600" dirty="0" smtClean="0"/>
              <a:t> push the envelope and stress the system.</a:t>
            </a:r>
          </a:p>
          <a:p>
            <a:pPr lvl="1"/>
            <a:r>
              <a:rPr lang="en-US" sz="2200" dirty="0" smtClean="0"/>
              <a:t>Improve the system's </a:t>
            </a:r>
            <a:r>
              <a:rPr lang="en-US" sz="2200" b="1" dirty="0" smtClean="0"/>
              <a:t>availability</a:t>
            </a:r>
            <a:r>
              <a:rPr lang="en-US" sz="2200" dirty="0" smtClean="0"/>
              <a:t> from 98% to 99.999%.</a:t>
            </a:r>
          </a:p>
          <a:p>
            <a:pPr lvl="1"/>
            <a:r>
              <a:rPr lang="en-US" sz="2200" dirty="0" smtClean="0"/>
              <a:t>Half of the servers go down during normal operation without affecting overall system </a:t>
            </a:r>
            <a:r>
              <a:rPr lang="en-US" sz="2200" b="1" dirty="0" smtClean="0"/>
              <a:t>availability</a:t>
            </a:r>
            <a:r>
              <a:rPr lang="en-US" sz="2200" dirty="0" smtClean="0"/>
              <a:t>.</a:t>
            </a:r>
            <a:endParaRPr lang="en-US"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Attribute Scenario Representation [1]</a:t>
            </a:r>
            <a:endParaRPr lang="en-US" dirty="0"/>
          </a:p>
        </p:txBody>
      </p:sp>
      <p:sp>
        <p:nvSpPr>
          <p:cNvPr id="3" name="Content Placeholder 2"/>
          <p:cNvSpPr>
            <a:spLocks noGrp="1"/>
          </p:cNvSpPr>
          <p:nvPr>
            <p:ph idx="1"/>
          </p:nvPr>
        </p:nvSpPr>
        <p:spPr/>
        <p:txBody>
          <a:bodyPr/>
          <a:lstStyle/>
          <a:p>
            <a:r>
              <a:rPr lang="en-US" sz="2400" dirty="0" smtClean="0"/>
              <a:t>Quality attribute scenarios have six parts: Stimulus, Stimulus Source, Response, Response Measure, Environment, Artifact.</a:t>
            </a:r>
          </a:p>
          <a:p>
            <a:r>
              <a:rPr lang="en-US" sz="2400" dirty="0" smtClean="0"/>
              <a:t>The environment is the set of circumstances in which the scenario takes place.</a:t>
            </a:r>
          </a:p>
        </p:txBody>
      </p:sp>
      <p:pic>
        <p:nvPicPr>
          <p:cNvPr id="26625" name="Picture 1"/>
          <p:cNvPicPr>
            <a:picLocks noChangeAspect="1" noChangeArrowheads="1"/>
          </p:cNvPicPr>
          <p:nvPr/>
        </p:nvPicPr>
        <p:blipFill>
          <a:blip r:embed="rId2" cstate="print"/>
          <a:srcRect/>
          <a:stretch>
            <a:fillRect/>
          </a:stretch>
        </p:blipFill>
        <p:spPr bwMode="auto">
          <a:xfrm>
            <a:off x="1690688" y="4035425"/>
            <a:ext cx="5762625" cy="1908175"/>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Availability Scenario</a:t>
            </a:r>
            <a:endParaRPr lang="en-US" dirty="0"/>
          </a:p>
        </p:txBody>
      </p:sp>
      <p:sp>
        <p:nvSpPr>
          <p:cNvPr id="3" name="Content Placeholder 2"/>
          <p:cNvSpPr>
            <a:spLocks noGrp="1"/>
          </p:cNvSpPr>
          <p:nvPr>
            <p:ph idx="1"/>
          </p:nvPr>
        </p:nvSpPr>
        <p:spPr/>
        <p:txBody>
          <a:bodyPr/>
          <a:lstStyle/>
          <a:p>
            <a:r>
              <a:rPr lang="en-US" sz="2000" i="1" dirty="0" smtClean="0">
                <a:solidFill>
                  <a:srgbClr val="C00000"/>
                </a:solidFill>
              </a:rPr>
              <a:t>Availability</a:t>
            </a:r>
            <a:r>
              <a:rPr lang="en-US" sz="2000" dirty="0" smtClean="0"/>
              <a:t> refers to a property of software that it is there and </a:t>
            </a:r>
            <a:r>
              <a:rPr lang="en-US" sz="2000" u="sng" dirty="0" smtClean="0"/>
              <a:t>ready to carry out its task</a:t>
            </a:r>
            <a:r>
              <a:rPr lang="en-US" sz="2000" dirty="0" smtClean="0"/>
              <a:t> when you need it to be.</a:t>
            </a:r>
          </a:p>
          <a:p>
            <a:r>
              <a:rPr lang="en-US" sz="2000" dirty="0" smtClean="0"/>
              <a:t>Mean Time Between Failure (MTBF), Mean Time To Recovery (MTTR).</a:t>
            </a:r>
            <a:endParaRPr lang="en-US" sz="2000" dirty="0"/>
          </a:p>
        </p:txBody>
      </p:sp>
      <p:pic>
        <p:nvPicPr>
          <p:cNvPr id="65538" name="Picture 2"/>
          <p:cNvPicPr>
            <a:picLocks noChangeAspect="1" noChangeArrowheads="1"/>
          </p:cNvPicPr>
          <p:nvPr/>
        </p:nvPicPr>
        <p:blipFill>
          <a:blip r:embed="rId2" cstate="print"/>
          <a:srcRect/>
          <a:stretch>
            <a:fillRect/>
          </a:stretch>
        </p:blipFill>
        <p:spPr bwMode="auto">
          <a:xfrm>
            <a:off x="1333500" y="3492500"/>
            <a:ext cx="6477000" cy="214630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Complex Availability Scenario</a:t>
            </a:r>
            <a:endParaRPr lang="en-US" dirty="0"/>
          </a:p>
        </p:txBody>
      </p:sp>
      <p:pic>
        <p:nvPicPr>
          <p:cNvPr id="23553" name="Picture 1"/>
          <p:cNvPicPr>
            <a:picLocks noChangeAspect="1" noChangeArrowheads="1"/>
          </p:cNvPicPr>
          <p:nvPr/>
        </p:nvPicPr>
        <p:blipFill>
          <a:blip r:embed="rId2" cstate="print"/>
          <a:srcRect/>
          <a:stretch>
            <a:fillRect/>
          </a:stretch>
        </p:blipFill>
        <p:spPr bwMode="auto">
          <a:xfrm>
            <a:off x="1127125" y="2438400"/>
            <a:ext cx="6889750" cy="259715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Architectural Tactics</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Architectural tactics</a:t>
            </a:r>
            <a:r>
              <a:rPr lang="en-US" sz="2200" dirty="0" smtClean="0"/>
              <a:t> – the </a:t>
            </a:r>
            <a:r>
              <a:rPr lang="en-US" sz="2200" u="sng" dirty="0" smtClean="0"/>
              <a:t>techniques</a:t>
            </a:r>
            <a:r>
              <a:rPr lang="en-US" sz="2200" dirty="0" smtClean="0"/>
              <a:t> an architect can use to achieve the required quality attributes.</a:t>
            </a:r>
          </a:p>
          <a:p>
            <a:r>
              <a:rPr lang="en-US" sz="2200" dirty="0" smtClean="0"/>
              <a:t>A </a:t>
            </a:r>
            <a:r>
              <a:rPr lang="en-US" sz="2200" i="1" dirty="0" smtClean="0">
                <a:solidFill>
                  <a:srgbClr val="C00000"/>
                </a:solidFill>
              </a:rPr>
              <a:t>tactic</a:t>
            </a:r>
            <a:r>
              <a:rPr lang="en-US" sz="2200" dirty="0" smtClean="0"/>
              <a:t> is a </a:t>
            </a:r>
            <a:r>
              <a:rPr lang="en-US" sz="2200" u="sng" dirty="0" smtClean="0"/>
              <a:t>design decision</a:t>
            </a:r>
            <a:r>
              <a:rPr lang="en-US" sz="2200" dirty="0" smtClean="0"/>
              <a:t> that influences the achievement of a quality attribute response—tactics directly affect the system's </a:t>
            </a:r>
            <a:r>
              <a:rPr lang="en-US" sz="2200" u="sng" dirty="0" smtClean="0"/>
              <a:t>response</a:t>
            </a:r>
            <a:r>
              <a:rPr lang="en-US" sz="2200" dirty="0" smtClean="0"/>
              <a:t> to some </a:t>
            </a:r>
            <a:r>
              <a:rPr lang="en-US" sz="2200" u="sng" dirty="0" smtClean="0"/>
              <a:t>stimulus</a:t>
            </a:r>
            <a:r>
              <a:rPr lang="en-US" sz="2200" dirty="0" smtClean="0"/>
              <a:t>.</a:t>
            </a:r>
          </a:p>
          <a:p>
            <a:endParaRPr lang="en-US" sz="2200" dirty="0" smtClean="0"/>
          </a:p>
          <a:p>
            <a:endParaRPr lang="en-US" sz="2200" dirty="0" smtClean="0"/>
          </a:p>
          <a:p>
            <a:endParaRPr lang="en-US" sz="2200" dirty="0" smtClean="0"/>
          </a:p>
          <a:p>
            <a:endParaRPr lang="en-US" sz="2200" dirty="0" smtClean="0"/>
          </a:p>
          <a:p>
            <a:r>
              <a:rPr lang="en-US" sz="2200" dirty="0" smtClean="0"/>
              <a:t>If </a:t>
            </a:r>
            <a:r>
              <a:rPr lang="en-US" sz="2200" i="1" dirty="0" smtClean="0">
                <a:solidFill>
                  <a:srgbClr val="C00000"/>
                </a:solidFill>
              </a:rPr>
              <a:t>no pattern exists</a:t>
            </a:r>
            <a:r>
              <a:rPr lang="en-US" sz="2200" dirty="0" smtClean="0"/>
              <a:t> to realize the architect's design goal, </a:t>
            </a:r>
            <a:r>
              <a:rPr lang="en-US" sz="2200" b="1" dirty="0" smtClean="0"/>
              <a:t>tactics</a:t>
            </a:r>
            <a:r>
              <a:rPr lang="en-US" sz="2200" dirty="0" smtClean="0"/>
              <a:t> allow the architect to construct a design fragment from “first principles.”</a:t>
            </a:r>
          </a:p>
        </p:txBody>
      </p:sp>
      <p:pic>
        <p:nvPicPr>
          <p:cNvPr id="1027" name="Picture 3"/>
          <p:cNvPicPr>
            <a:picLocks noChangeAspect="1" noChangeArrowheads="1"/>
          </p:cNvPicPr>
          <p:nvPr/>
        </p:nvPicPr>
        <p:blipFill>
          <a:blip r:embed="rId2" cstate="print"/>
          <a:srcRect/>
          <a:stretch>
            <a:fillRect/>
          </a:stretch>
        </p:blipFill>
        <p:spPr bwMode="auto">
          <a:xfrm>
            <a:off x="2820924" y="3505200"/>
            <a:ext cx="3579876" cy="1426464"/>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Tactics for Availability</a:t>
            </a:r>
            <a:endParaRPr lang="en-US" dirty="0"/>
          </a:p>
        </p:txBody>
      </p:sp>
      <p:sp>
        <p:nvSpPr>
          <p:cNvPr id="3" name="Content Placeholder 2"/>
          <p:cNvSpPr>
            <a:spLocks noGrp="1"/>
          </p:cNvSpPr>
          <p:nvPr>
            <p:ph idx="1"/>
          </p:nvPr>
        </p:nvSpPr>
        <p:spPr/>
        <p:txBody>
          <a:bodyPr/>
          <a:lstStyle/>
          <a:p>
            <a:r>
              <a:rPr lang="en-US" sz="2400" dirty="0" smtClean="0"/>
              <a:t>How to design an architecture for availability?</a:t>
            </a:r>
          </a:p>
          <a:p>
            <a:pPr lvl="1"/>
            <a:r>
              <a:rPr lang="en-US" sz="2000" dirty="0" smtClean="0"/>
              <a:t>Detect Faults.</a:t>
            </a:r>
          </a:p>
          <a:p>
            <a:pPr lvl="2"/>
            <a:r>
              <a:rPr lang="en-US" sz="1600" dirty="0" smtClean="0"/>
              <a:t>Ping/echo.</a:t>
            </a:r>
          </a:p>
          <a:p>
            <a:pPr lvl="2"/>
            <a:r>
              <a:rPr lang="en-US" sz="1600" dirty="0" smtClean="0"/>
              <a:t>Monitor.</a:t>
            </a:r>
          </a:p>
          <a:p>
            <a:pPr lvl="2"/>
            <a:r>
              <a:rPr lang="en-US" sz="1600" dirty="0" smtClean="0"/>
              <a:t>Heartbeat.</a:t>
            </a:r>
          </a:p>
          <a:p>
            <a:pPr lvl="2"/>
            <a:r>
              <a:rPr lang="en-US" sz="1600" dirty="0" smtClean="0"/>
              <a:t>Timeout.</a:t>
            </a:r>
          </a:p>
          <a:p>
            <a:pPr lvl="1"/>
            <a:r>
              <a:rPr lang="en-US" sz="2000" dirty="0" smtClean="0"/>
              <a:t>Recover from Faults.</a:t>
            </a:r>
          </a:p>
          <a:p>
            <a:pPr lvl="2"/>
            <a:r>
              <a:rPr lang="en-US" sz="1600" dirty="0" smtClean="0"/>
              <a:t>Active redundancy (hot spare).</a:t>
            </a:r>
          </a:p>
          <a:p>
            <a:pPr lvl="2"/>
            <a:r>
              <a:rPr lang="en-US" sz="1600" dirty="0" smtClean="0"/>
              <a:t>Passive redundancy (warm spare).</a:t>
            </a:r>
          </a:p>
          <a:p>
            <a:pPr lvl="2"/>
            <a:r>
              <a:rPr lang="en-US" sz="1600" dirty="0" smtClean="0"/>
              <a:t>Rollback.</a:t>
            </a:r>
          </a:p>
          <a:p>
            <a:pPr lvl="2"/>
            <a:r>
              <a:rPr lang="en-US" sz="1600" dirty="0" smtClean="0"/>
              <a:t>Retry.</a:t>
            </a:r>
          </a:p>
          <a:p>
            <a:pPr lvl="1"/>
            <a:r>
              <a:rPr lang="en-US" sz="2000" dirty="0" smtClean="0"/>
              <a:t>Prevent Faults.</a:t>
            </a:r>
          </a:p>
          <a:p>
            <a:pPr lvl="2"/>
            <a:r>
              <a:rPr lang="en-US" sz="1600" dirty="0" smtClean="0"/>
              <a:t>Transactions. (ACID properties.)</a:t>
            </a:r>
          </a:p>
          <a:p>
            <a:pPr lvl="2"/>
            <a:r>
              <a:rPr lang="en-US" sz="1600" dirty="0" smtClean="0"/>
              <a:t>Exception prevention.</a:t>
            </a:r>
            <a:endParaRPr lang="en-US" sz="1600" dirty="0"/>
          </a:p>
        </p:txBody>
      </p:sp>
      <p:pic>
        <p:nvPicPr>
          <p:cNvPr id="4" name="Picture 4"/>
          <p:cNvPicPr>
            <a:picLocks noChangeAspect="1" noChangeArrowheads="1"/>
          </p:cNvPicPr>
          <p:nvPr/>
        </p:nvPicPr>
        <p:blipFill>
          <a:blip r:embed="rId2" cstate="print"/>
          <a:srcRect/>
          <a:stretch>
            <a:fillRect/>
          </a:stretch>
        </p:blipFill>
        <p:spPr bwMode="auto">
          <a:xfrm>
            <a:off x="6248400" y="1981200"/>
            <a:ext cx="2314575" cy="1981200"/>
          </a:xfrm>
          <a:prstGeom prst="rect">
            <a:avLst/>
          </a:prstGeom>
          <a:noFill/>
          <a:ln w="9525">
            <a:noFill/>
            <a:miter lim="800000"/>
            <a:headEnd/>
            <a:tailEnd/>
          </a:ln>
          <a:effectLst/>
        </p:spPr>
      </p:pic>
      <p:pic>
        <p:nvPicPr>
          <p:cNvPr id="36868" name="Picture 4" descr="https://www.schranner.com/images/default-source/insights-blog/title-images/tactics7642960fcbe368bdbc66ff000097e6db.png?sfvrsn=51a1fe69_4"/>
          <p:cNvPicPr>
            <a:picLocks noChangeAspect="1" noChangeArrowheads="1"/>
          </p:cNvPicPr>
          <p:nvPr/>
        </p:nvPicPr>
        <p:blipFill>
          <a:blip r:embed="rId3" cstate="print"/>
          <a:srcRect/>
          <a:stretch>
            <a:fillRect/>
          </a:stretch>
        </p:blipFill>
        <p:spPr bwMode="auto">
          <a:xfrm>
            <a:off x="5461355" y="4267200"/>
            <a:ext cx="2844445" cy="2133334"/>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for Testing Availability</a:t>
            </a:r>
            <a:endParaRPr lang="en-US" dirty="0"/>
          </a:p>
        </p:txBody>
      </p:sp>
      <p:sp>
        <p:nvSpPr>
          <p:cNvPr id="3" name="Content Placeholder 2"/>
          <p:cNvSpPr>
            <a:spLocks noGrp="1"/>
          </p:cNvSpPr>
          <p:nvPr>
            <p:ph idx="1"/>
          </p:nvPr>
        </p:nvSpPr>
        <p:spPr/>
        <p:txBody>
          <a:bodyPr/>
          <a:lstStyle/>
          <a:p>
            <a:r>
              <a:rPr lang="en-US" sz="2400" dirty="0" smtClean="0">
                <a:hlinkClick r:id="rId2"/>
              </a:rPr>
              <a:t>https://uptimerobot.com/</a:t>
            </a:r>
            <a:endParaRPr lang="en-US" sz="2400" dirty="0" smtClean="0"/>
          </a:p>
          <a:p>
            <a:r>
              <a:rPr lang="en-US" sz="2400" dirty="0" smtClean="0">
                <a:hlinkClick r:id="rId3"/>
              </a:rPr>
              <a:t>https://www.pingdom.com/</a:t>
            </a:r>
            <a:endParaRPr lang="en-US" sz="2400" dirty="0" smtClean="0"/>
          </a:p>
          <a:p>
            <a:r>
              <a:rPr lang="en-US" sz="2400" dirty="0" smtClean="0">
                <a:hlinkClick r:id="rId4"/>
              </a:rPr>
              <a:t>https://jmeter.apache.org/</a:t>
            </a:r>
            <a:endParaRPr lang="en-US" sz="2400" dirty="0" smtClean="0"/>
          </a:p>
        </p:txBody>
      </p:sp>
      <p:sp>
        <p:nvSpPr>
          <p:cNvPr id="1026" name="AutoShape 2" descr="17 Software Development Trends for 2025 &amp; Beyon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https://www.netsolutions.com/wp-content/uploads/2023/03/The-Future-of-Software-Development-in-2024-and-Beyond.webp"/>
          <p:cNvSpPr>
            <a:spLocks noChangeAspect="1" noChangeArrowheads="1"/>
          </p:cNvSpPr>
          <p:nvPr/>
        </p:nvSpPr>
        <p:spPr bwMode="auto">
          <a:xfrm>
            <a:off x="155575" y="-2590800"/>
            <a:ext cx="9601200" cy="5400675"/>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9" name="Picture 5"/>
          <p:cNvPicPr>
            <a:picLocks noChangeAspect="1" noChangeArrowheads="1"/>
          </p:cNvPicPr>
          <p:nvPr/>
        </p:nvPicPr>
        <p:blipFill>
          <a:blip r:embed="rId5" cstate="print"/>
          <a:srcRect/>
          <a:stretch>
            <a:fillRect/>
          </a:stretch>
        </p:blipFill>
        <p:spPr bwMode="auto">
          <a:xfrm>
            <a:off x="2301875" y="3387725"/>
            <a:ext cx="4540250" cy="2555875"/>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 Scenario</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Performance</a:t>
            </a:r>
            <a:r>
              <a:rPr lang="en-US" sz="2400" dirty="0" smtClean="0"/>
              <a:t>, that is: It's about time and the software system's ability to </a:t>
            </a:r>
            <a:r>
              <a:rPr lang="en-US" sz="2400" u="sng" dirty="0" smtClean="0"/>
              <a:t>meet timing requirements</a:t>
            </a:r>
            <a:r>
              <a:rPr lang="en-US" sz="2400" dirty="0" smtClean="0"/>
              <a:t>.</a:t>
            </a:r>
            <a:endParaRPr lang="en-US" sz="2400" dirty="0"/>
          </a:p>
        </p:txBody>
      </p:sp>
      <p:pic>
        <p:nvPicPr>
          <p:cNvPr id="3075" name="Picture 3"/>
          <p:cNvPicPr>
            <a:picLocks noChangeAspect="1" noChangeArrowheads="1"/>
          </p:cNvPicPr>
          <p:nvPr/>
        </p:nvPicPr>
        <p:blipFill>
          <a:blip r:embed="rId2" cstate="print"/>
          <a:srcRect/>
          <a:stretch>
            <a:fillRect/>
          </a:stretch>
        </p:blipFill>
        <p:spPr bwMode="auto">
          <a:xfrm>
            <a:off x="1085850" y="2698750"/>
            <a:ext cx="6972300" cy="362585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Tactics for Performance</a:t>
            </a:r>
            <a:endParaRPr lang="en-US" dirty="0"/>
          </a:p>
        </p:txBody>
      </p:sp>
      <p:sp>
        <p:nvSpPr>
          <p:cNvPr id="3" name="Content Placeholder 2"/>
          <p:cNvSpPr>
            <a:spLocks noGrp="1"/>
          </p:cNvSpPr>
          <p:nvPr>
            <p:ph idx="1"/>
          </p:nvPr>
        </p:nvSpPr>
        <p:spPr/>
        <p:txBody>
          <a:bodyPr/>
          <a:lstStyle/>
          <a:p>
            <a:r>
              <a:rPr lang="en-US" sz="2400" dirty="0" smtClean="0"/>
              <a:t>How to design an architecture for performance?</a:t>
            </a:r>
          </a:p>
          <a:p>
            <a:pPr lvl="1"/>
            <a:r>
              <a:rPr lang="en-US" sz="2000" dirty="0" smtClean="0"/>
              <a:t>Control Resource Demand.</a:t>
            </a:r>
          </a:p>
          <a:p>
            <a:pPr lvl="2"/>
            <a:r>
              <a:rPr lang="en-US" sz="1600" dirty="0" smtClean="0"/>
              <a:t>Manage sampling rate.</a:t>
            </a:r>
          </a:p>
          <a:p>
            <a:pPr lvl="2"/>
            <a:r>
              <a:rPr lang="en-US" sz="1600" dirty="0" smtClean="0"/>
              <a:t>Limit event response.</a:t>
            </a:r>
          </a:p>
          <a:p>
            <a:pPr lvl="2"/>
            <a:r>
              <a:rPr lang="en-US" sz="1600" dirty="0" smtClean="0"/>
              <a:t>Prioritize events.</a:t>
            </a:r>
          </a:p>
          <a:p>
            <a:pPr lvl="2"/>
            <a:r>
              <a:rPr lang="en-US" sz="1600" dirty="0" smtClean="0"/>
              <a:t>Reduce overhead.</a:t>
            </a:r>
          </a:p>
          <a:p>
            <a:pPr lvl="2"/>
            <a:r>
              <a:rPr lang="en-US" sz="1600" dirty="0" smtClean="0"/>
              <a:t>Bound execution times.</a:t>
            </a:r>
          </a:p>
          <a:p>
            <a:pPr lvl="2"/>
            <a:r>
              <a:rPr lang="en-US" sz="1600" dirty="0" smtClean="0"/>
              <a:t>Increase resource efficiency.</a:t>
            </a:r>
          </a:p>
          <a:p>
            <a:pPr lvl="1"/>
            <a:r>
              <a:rPr lang="en-US" sz="2000" dirty="0" smtClean="0"/>
              <a:t>Manage Resources.</a:t>
            </a:r>
          </a:p>
          <a:p>
            <a:pPr lvl="2"/>
            <a:r>
              <a:rPr lang="en-US" sz="1600" dirty="0" smtClean="0"/>
              <a:t>Increase resources.</a:t>
            </a:r>
          </a:p>
          <a:p>
            <a:pPr lvl="2"/>
            <a:r>
              <a:rPr lang="en-US" sz="1600" dirty="0" smtClean="0"/>
              <a:t>Introduce concurrency.</a:t>
            </a:r>
          </a:p>
          <a:p>
            <a:pPr lvl="2"/>
            <a:r>
              <a:rPr lang="en-US" sz="1600" dirty="0" smtClean="0"/>
              <a:t>Maintain multiple copies of computations.</a:t>
            </a:r>
          </a:p>
          <a:p>
            <a:pPr lvl="2"/>
            <a:r>
              <a:rPr lang="en-US" sz="1600" dirty="0" smtClean="0"/>
              <a:t>Maintain multiple copies of data.</a:t>
            </a:r>
          </a:p>
          <a:p>
            <a:pPr lvl="2"/>
            <a:r>
              <a:rPr lang="en-US" sz="1600" dirty="0" smtClean="0"/>
              <a:t>Bound queue sizes.</a:t>
            </a:r>
          </a:p>
          <a:p>
            <a:pPr lvl="2"/>
            <a:r>
              <a:rPr lang="en-US" sz="1600" dirty="0" smtClean="0"/>
              <a:t>Schedule resources.</a:t>
            </a:r>
          </a:p>
        </p:txBody>
      </p:sp>
      <p:pic>
        <p:nvPicPr>
          <p:cNvPr id="5" name="Picture 4"/>
          <p:cNvPicPr>
            <a:picLocks noChangeAspect="1" noChangeArrowheads="1"/>
          </p:cNvPicPr>
          <p:nvPr/>
        </p:nvPicPr>
        <p:blipFill>
          <a:blip r:embed="rId2" cstate="print"/>
          <a:srcRect/>
          <a:stretch>
            <a:fillRect/>
          </a:stretch>
        </p:blipFill>
        <p:spPr bwMode="auto">
          <a:xfrm>
            <a:off x="6248400" y="2286000"/>
            <a:ext cx="2314575" cy="1981200"/>
          </a:xfrm>
          <a:prstGeom prst="rect">
            <a:avLst/>
          </a:prstGeom>
          <a:noFill/>
          <a:ln w="9525">
            <a:noFill/>
            <a:miter lim="800000"/>
            <a:headEnd/>
            <a:tailEnd/>
          </a:ln>
          <a:effectLst/>
        </p:spPr>
      </p:pic>
      <p:pic>
        <p:nvPicPr>
          <p:cNvPr id="6" name="Picture 4" descr="https://www.schranner.com/images/default-source/insights-blog/title-images/tactics7642960fcbe368bdbc66ff000097e6db.png?sfvrsn=51a1fe69_4"/>
          <p:cNvPicPr>
            <a:picLocks noChangeAspect="1" noChangeArrowheads="1"/>
          </p:cNvPicPr>
          <p:nvPr/>
        </p:nvPicPr>
        <p:blipFill>
          <a:blip r:embed="rId3" cstate="print"/>
          <a:srcRect/>
          <a:stretch>
            <a:fillRect/>
          </a:stretch>
        </p:blipFill>
        <p:spPr bwMode="auto">
          <a:xfrm>
            <a:off x="5562600" y="4495800"/>
            <a:ext cx="2844445" cy="2133334"/>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for Testing Performance</a:t>
            </a:r>
            <a:endParaRPr lang="en-US" dirty="0"/>
          </a:p>
        </p:txBody>
      </p:sp>
      <p:sp>
        <p:nvSpPr>
          <p:cNvPr id="3" name="Content Placeholder 2"/>
          <p:cNvSpPr>
            <a:spLocks noGrp="1"/>
          </p:cNvSpPr>
          <p:nvPr>
            <p:ph idx="1"/>
          </p:nvPr>
        </p:nvSpPr>
        <p:spPr/>
        <p:txBody>
          <a:bodyPr/>
          <a:lstStyle/>
          <a:p>
            <a:r>
              <a:rPr lang="en-US" sz="2200" dirty="0" smtClean="0">
                <a:hlinkClick r:id="rId2"/>
              </a:rPr>
              <a:t>https://developer.android.com/studio/profile</a:t>
            </a:r>
            <a:endParaRPr lang="en-US" sz="2200" dirty="0" smtClean="0"/>
          </a:p>
          <a:p>
            <a:r>
              <a:rPr lang="en-US" sz="2200" dirty="0" smtClean="0">
                <a:hlinkClick r:id="rId3"/>
              </a:rPr>
              <a:t>https://developer.apple.com/videos/play/wwdc2019/411/</a:t>
            </a:r>
            <a:endParaRPr lang="en-US" sz="2200" dirty="0" smtClean="0"/>
          </a:p>
          <a:p>
            <a:r>
              <a:rPr lang="en-US" sz="2200" dirty="0" smtClean="0">
                <a:hlinkClick r:id="rId4"/>
              </a:rPr>
              <a:t>https://locust.io/</a:t>
            </a:r>
            <a:endParaRPr lang="en-US" sz="2200" dirty="0" smtClean="0"/>
          </a:p>
          <a:p>
            <a:r>
              <a:rPr lang="en-US" sz="2200" dirty="0" smtClean="0">
                <a:hlinkClick r:id="rId5"/>
              </a:rPr>
              <a:t>https://k6.io/</a:t>
            </a:r>
            <a:endParaRPr lang="en-US" sz="2200" dirty="0" smtClean="0"/>
          </a:p>
          <a:p>
            <a:r>
              <a:rPr lang="en-US" sz="2200" dirty="0" smtClean="0">
                <a:hlinkClick r:id="rId6"/>
              </a:rPr>
              <a:t>https://grafana.com/pricing/?src=k6io#k6-performance-testing</a:t>
            </a:r>
            <a:endParaRPr lang="en-US" sz="2200" dirty="0" smtClean="0"/>
          </a:p>
        </p:txBody>
      </p:sp>
      <p:sp>
        <p:nvSpPr>
          <p:cNvPr id="1026" name="AutoShape 2" descr="17 Software Development Trends for 2025 &amp; Beyon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https://www.netsolutions.com/wp-content/uploads/2023/03/The-Future-of-Software-Development-in-2024-and-Beyond.webp"/>
          <p:cNvSpPr>
            <a:spLocks noChangeAspect="1" noChangeArrowheads="1"/>
          </p:cNvSpPr>
          <p:nvPr/>
        </p:nvSpPr>
        <p:spPr bwMode="auto">
          <a:xfrm>
            <a:off x="155575" y="-2590800"/>
            <a:ext cx="9601200" cy="5400675"/>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9" name="Picture 5"/>
          <p:cNvPicPr>
            <a:picLocks noChangeAspect="1" noChangeArrowheads="1"/>
          </p:cNvPicPr>
          <p:nvPr/>
        </p:nvPicPr>
        <p:blipFill>
          <a:blip r:embed="rId7" cstate="print"/>
          <a:srcRect/>
          <a:stretch>
            <a:fillRect/>
          </a:stretch>
        </p:blipFill>
        <p:spPr bwMode="auto">
          <a:xfrm>
            <a:off x="2667000" y="4038600"/>
            <a:ext cx="3631174" cy="2045030"/>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Security Concepts (I)</a:t>
            </a:r>
            <a:endParaRPr lang="en-US" dirty="0"/>
          </a:p>
        </p:txBody>
      </p:sp>
      <p:sp>
        <p:nvSpPr>
          <p:cNvPr id="3" name="Content Placeholder 2"/>
          <p:cNvSpPr>
            <a:spLocks noGrp="1"/>
          </p:cNvSpPr>
          <p:nvPr>
            <p:ph idx="1"/>
          </p:nvPr>
        </p:nvSpPr>
        <p:spPr/>
        <p:txBody>
          <a:bodyPr/>
          <a:lstStyle/>
          <a:p>
            <a:r>
              <a:rPr lang="en-US" sz="2400" dirty="0" smtClean="0"/>
              <a:t>The simplest </a:t>
            </a:r>
            <a:r>
              <a:rPr lang="en-US" sz="2400" i="1" dirty="0" smtClean="0">
                <a:solidFill>
                  <a:srgbClr val="C00000"/>
                </a:solidFill>
              </a:rPr>
              <a:t>approach to characterizing security</a:t>
            </a:r>
            <a:r>
              <a:rPr lang="en-US" sz="2400" dirty="0" smtClean="0"/>
              <a:t> has three characteristics: confidentiality, integrity, and availability (CIA):</a:t>
            </a:r>
          </a:p>
          <a:p>
            <a:pPr lvl="1"/>
            <a:r>
              <a:rPr lang="en-US" sz="2000" i="1" dirty="0" smtClean="0">
                <a:solidFill>
                  <a:srgbClr val="C00000"/>
                </a:solidFill>
              </a:rPr>
              <a:t>Confidentiality</a:t>
            </a:r>
            <a:r>
              <a:rPr lang="en-US" sz="2000" dirty="0" smtClean="0"/>
              <a:t> is the property that data or services are protected from unauthorized access. For example, a hacker cannot access your income tax returns on a government computer.</a:t>
            </a:r>
          </a:p>
          <a:p>
            <a:pPr lvl="1"/>
            <a:r>
              <a:rPr lang="en-US" sz="2000" i="1" dirty="0" smtClean="0">
                <a:solidFill>
                  <a:srgbClr val="C00000"/>
                </a:solidFill>
              </a:rPr>
              <a:t>Integrity</a:t>
            </a:r>
            <a:r>
              <a:rPr lang="en-US" sz="2000" dirty="0" smtClean="0"/>
              <a:t> is the property that data or services are not subject to unauthorized manipulation. For example, your grade has not been changed since your instructor assigned it.</a:t>
            </a:r>
          </a:p>
          <a:p>
            <a:pPr lvl="1"/>
            <a:r>
              <a:rPr lang="en-US" sz="2000" i="1" dirty="0" smtClean="0">
                <a:solidFill>
                  <a:srgbClr val="C00000"/>
                </a:solidFill>
              </a:rPr>
              <a:t>Availability</a:t>
            </a:r>
            <a:r>
              <a:rPr lang="en-US" sz="2000" dirty="0" smtClean="0"/>
              <a:t> is the property that the system will be available for legitimate use. For example, a denial-of-service attack won't prevent you from ordering book from an online bookstore.</a:t>
            </a:r>
          </a:p>
        </p:txBody>
      </p:sp>
      <p:pic>
        <p:nvPicPr>
          <p:cNvPr id="5" name="Picture 2" descr="https://diamondbusiness.net/wp-content/uploads/2017/04/security-new-Web-Image.jpg"/>
          <p:cNvPicPr>
            <a:picLocks noChangeAspect="1" noChangeArrowheads="1"/>
          </p:cNvPicPr>
          <p:nvPr/>
        </p:nvPicPr>
        <p:blipFill>
          <a:blip r:embed="rId2" cstate="print"/>
          <a:srcRect/>
          <a:stretch>
            <a:fillRect/>
          </a:stretch>
        </p:blipFill>
        <p:spPr bwMode="auto">
          <a:xfrm>
            <a:off x="7239000" y="457200"/>
            <a:ext cx="1241379" cy="828000"/>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Security Concepts (II)</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Other characteristics</a:t>
            </a:r>
            <a:r>
              <a:rPr lang="en-US" sz="2400" dirty="0" smtClean="0"/>
              <a:t> that are used to support CIA are these:</a:t>
            </a:r>
          </a:p>
          <a:p>
            <a:pPr lvl="1"/>
            <a:r>
              <a:rPr lang="en-US" sz="2000" i="1" dirty="0" smtClean="0">
                <a:solidFill>
                  <a:srgbClr val="C00000"/>
                </a:solidFill>
              </a:rPr>
              <a:t>Authentication</a:t>
            </a:r>
            <a:r>
              <a:rPr lang="en-US" sz="2000" dirty="0" smtClean="0"/>
              <a:t> verifies the identities of the parties to a transaction and checks if they are truly who they claim to be. For example, when you get an email purporting to come from a bank, authentication guarantees that it actually comes from the bank.</a:t>
            </a:r>
          </a:p>
          <a:p>
            <a:pPr lvl="1"/>
            <a:r>
              <a:rPr lang="en-US" sz="2000" i="1" dirty="0" err="1" smtClean="0">
                <a:solidFill>
                  <a:srgbClr val="C00000"/>
                </a:solidFill>
              </a:rPr>
              <a:t>Nonrepudiation</a:t>
            </a:r>
            <a:r>
              <a:rPr lang="en-US" sz="2000" dirty="0" smtClean="0"/>
              <a:t> guarantees that the sender of a message cannot later deny having sent the message, and that the recipient cannot deny having received the message. For example, you cannot deny ordering something from the Internet, or the merchant cannot disclaim getting your order.</a:t>
            </a:r>
          </a:p>
          <a:p>
            <a:pPr lvl="1"/>
            <a:r>
              <a:rPr lang="en-US" sz="2000" i="1" dirty="0" smtClean="0">
                <a:solidFill>
                  <a:srgbClr val="C00000"/>
                </a:solidFill>
              </a:rPr>
              <a:t>Authorization</a:t>
            </a:r>
            <a:r>
              <a:rPr lang="en-US" sz="2000" dirty="0" smtClean="0"/>
              <a:t> grants a user the privileges to perform a task. For example, an online banking system authorizes a legitimate user to access his account.</a:t>
            </a:r>
            <a:endParaRPr lang="en-US" sz="2000" dirty="0"/>
          </a:p>
        </p:txBody>
      </p:sp>
      <p:pic>
        <p:nvPicPr>
          <p:cNvPr id="4" name="Picture 2" descr="https://diamondbusiness.net/wp-content/uploads/2017/04/security-new-Web-Image.jpg"/>
          <p:cNvPicPr>
            <a:picLocks noChangeAspect="1" noChangeArrowheads="1"/>
          </p:cNvPicPr>
          <p:nvPr/>
        </p:nvPicPr>
        <p:blipFill>
          <a:blip r:embed="rId2" cstate="print"/>
          <a:srcRect/>
          <a:stretch>
            <a:fillRect/>
          </a:stretch>
        </p:blipFill>
        <p:spPr bwMode="auto">
          <a:xfrm>
            <a:off x="7239000" y="457200"/>
            <a:ext cx="1241379" cy="828000"/>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Security Scenario</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Security</a:t>
            </a:r>
            <a:r>
              <a:rPr lang="en-US" sz="2400" dirty="0" smtClean="0"/>
              <a:t> is a measure of the system's ability to </a:t>
            </a:r>
            <a:r>
              <a:rPr lang="en-US" sz="2400" u="sng" dirty="0" smtClean="0"/>
              <a:t>protect data</a:t>
            </a:r>
            <a:r>
              <a:rPr lang="en-US" sz="2400" dirty="0" smtClean="0"/>
              <a:t> and information from </a:t>
            </a:r>
            <a:r>
              <a:rPr lang="en-US" sz="2400" u="sng" dirty="0" smtClean="0"/>
              <a:t>unauthorized access</a:t>
            </a:r>
            <a:r>
              <a:rPr lang="en-US" sz="2400" dirty="0" smtClean="0"/>
              <a:t> while still providing access to people and systems that are authorized.</a:t>
            </a:r>
          </a:p>
        </p:txBody>
      </p:sp>
      <p:pic>
        <p:nvPicPr>
          <p:cNvPr id="40963" name="Picture 3"/>
          <p:cNvPicPr>
            <a:picLocks noChangeAspect="1" noChangeArrowheads="1"/>
          </p:cNvPicPr>
          <p:nvPr/>
        </p:nvPicPr>
        <p:blipFill>
          <a:blip r:embed="rId2" cstate="print"/>
          <a:srcRect/>
          <a:stretch>
            <a:fillRect/>
          </a:stretch>
        </p:blipFill>
        <p:spPr bwMode="auto">
          <a:xfrm>
            <a:off x="1414463" y="3048000"/>
            <a:ext cx="6315075" cy="3276600"/>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Tactics for Security</a:t>
            </a:r>
            <a:endParaRPr lang="en-US" dirty="0"/>
          </a:p>
        </p:txBody>
      </p:sp>
      <p:sp>
        <p:nvSpPr>
          <p:cNvPr id="3" name="Content Placeholder 2"/>
          <p:cNvSpPr>
            <a:spLocks noGrp="1"/>
          </p:cNvSpPr>
          <p:nvPr>
            <p:ph idx="1"/>
          </p:nvPr>
        </p:nvSpPr>
        <p:spPr/>
        <p:txBody>
          <a:bodyPr/>
          <a:lstStyle/>
          <a:p>
            <a:r>
              <a:rPr lang="en-US" sz="2400" dirty="0" smtClean="0"/>
              <a:t>How to design an architecture for security?</a:t>
            </a:r>
          </a:p>
          <a:p>
            <a:pPr lvl="1"/>
            <a:r>
              <a:rPr lang="en-US" sz="2000" dirty="0" smtClean="0"/>
              <a:t>Detect Attacks</a:t>
            </a:r>
          </a:p>
          <a:p>
            <a:pPr lvl="2"/>
            <a:r>
              <a:rPr lang="en-US" sz="1600" dirty="0" smtClean="0"/>
              <a:t>Detect service denial.</a:t>
            </a:r>
          </a:p>
          <a:p>
            <a:pPr lvl="2"/>
            <a:r>
              <a:rPr lang="en-US" sz="1600" dirty="0" smtClean="0"/>
              <a:t>Verify message integrity.</a:t>
            </a:r>
          </a:p>
          <a:p>
            <a:pPr lvl="1"/>
            <a:r>
              <a:rPr lang="en-US" sz="2000" dirty="0" smtClean="0"/>
              <a:t>Resist Attacks</a:t>
            </a:r>
          </a:p>
          <a:p>
            <a:pPr lvl="2"/>
            <a:r>
              <a:rPr lang="en-US" sz="1600" dirty="0" smtClean="0"/>
              <a:t>Authenticate actors.</a:t>
            </a:r>
          </a:p>
          <a:p>
            <a:pPr lvl="2"/>
            <a:r>
              <a:rPr lang="en-US" sz="1600" dirty="0" smtClean="0"/>
              <a:t>Authorize actors.</a:t>
            </a:r>
          </a:p>
          <a:p>
            <a:pPr lvl="2"/>
            <a:r>
              <a:rPr lang="en-US" sz="1600" dirty="0" smtClean="0"/>
              <a:t>Limit access.</a:t>
            </a:r>
          </a:p>
          <a:p>
            <a:pPr lvl="2"/>
            <a:r>
              <a:rPr lang="en-US" sz="1600" dirty="0" smtClean="0"/>
              <a:t>Limit exposure.</a:t>
            </a:r>
          </a:p>
          <a:p>
            <a:pPr lvl="2"/>
            <a:r>
              <a:rPr lang="en-US" sz="1600" dirty="0" smtClean="0"/>
              <a:t>Encrypt data.</a:t>
            </a:r>
          </a:p>
          <a:p>
            <a:pPr lvl="2"/>
            <a:r>
              <a:rPr lang="en-US" sz="1600" dirty="0" smtClean="0"/>
              <a:t>Separate entities.</a:t>
            </a:r>
          </a:p>
          <a:p>
            <a:pPr lvl="1"/>
            <a:r>
              <a:rPr lang="en-US" sz="2000" dirty="0" smtClean="0"/>
              <a:t>React to Attacks</a:t>
            </a:r>
          </a:p>
          <a:p>
            <a:pPr lvl="2"/>
            <a:r>
              <a:rPr lang="en-US" sz="1600" dirty="0" smtClean="0"/>
              <a:t>Revoke access.</a:t>
            </a:r>
          </a:p>
          <a:p>
            <a:pPr lvl="2"/>
            <a:r>
              <a:rPr lang="en-US" sz="1600" dirty="0" smtClean="0"/>
              <a:t>Lock computer.</a:t>
            </a:r>
          </a:p>
          <a:p>
            <a:pPr lvl="2"/>
            <a:r>
              <a:rPr lang="en-US" sz="1600" dirty="0" smtClean="0"/>
              <a:t>Inform actors.</a:t>
            </a:r>
          </a:p>
        </p:txBody>
      </p:sp>
      <p:pic>
        <p:nvPicPr>
          <p:cNvPr id="5" name="Picture 4"/>
          <p:cNvPicPr>
            <a:picLocks noChangeAspect="1" noChangeArrowheads="1"/>
          </p:cNvPicPr>
          <p:nvPr/>
        </p:nvPicPr>
        <p:blipFill>
          <a:blip r:embed="rId2" cstate="print"/>
          <a:srcRect/>
          <a:stretch>
            <a:fillRect/>
          </a:stretch>
        </p:blipFill>
        <p:spPr bwMode="auto">
          <a:xfrm>
            <a:off x="6553200" y="1371600"/>
            <a:ext cx="2314575" cy="1981200"/>
          </a:xfrm>
          <a:prstGeom prst="rect">
            <a:avLst/>
          </a:prstGeom>
          <a:noFill/>
          <a:ln w="9525">
            <a:noFill/>
            <a:miter lim="800000"/>
            <a:headEnd/>
            <a:tailEnd/>
          </a:ln>
          <a:effectLst/>
        </p:spPr>
      </p:pic>
      <p:pic>
        <p:nvPicPr>
          <p:cNvPr id="6" name="Picture 4" descr="https://www.schranner.com/images/default-source/insights-blog/title-images/tactics7642960fcbe368bdbc66ff000097e6db.png?sfvrsn=51a1fe69_4"/>
          <p:cNvPicPr>
            <a:picLocks noChangeAspect="1" noChangeArrowheads="1"/>
          </p:cNvPicPr>
          <p:nvPr/>
        </p:nvPicPr>
        <p:blipFill>
          <a:blip r:embed="rId3" cstate="print"/>
          <a:srcRect/>
          <a:stretch>
            <a:fillRect/>
          </a:stretch>
        </p:blipFill>
        <p:spPr bwMode="auto">
          <a:xfrm>
            <a:off x="5410200" y="4038600"/>
            <a:ext cx="2844445" cy="2133334"/>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for Security Testing</a:t>
            </a:r>
            <a:endParaRPr lang="en-US" dirty="0"/>
          </a:p>
        </p:txBody>
      </p:sp>
      <p:sp>
        <p:nvSpPr>
          <p:cNvPr id="3" name="Content Placeholder 2"/>
          <p:cNvSpPr>
            <a:spLocks noGrp="1"/>
          </p:cNvSpPr>
          <p:nvPr>
            <p:ph idx="1"/>
          </p:nvPr>
        </p:nvSpPr>
        <p:spPr/>
        <p:txBody>
          <a:bodyPr/>
          <a:lstStyle/>
          <a:p>
            <a:r>
              <a:rPr lang="en-US" sz="2200" dirty="0" smtClean="0">
                <a:hlinkClick r:id="rId2"/>
              </a:rPr>
              <a:t>https://portswigger.net/burp/pro</a:t>
            </a:r>
          </a:p>
          <a:p>
            <a:r>
              <a:rPr lang="en-US" sz="2200" dirty="0" smtClean="0">
                <a:hlinkClick r:id="rId2"/>
              </a:rPr>
              <a:t>https://www.acunetix.com/</a:t>
            </a:r>
            <a:endParaRPr lang="en-US" sz="2200" dirty="0" smtClean="0"/>
          </a:p>
          <a:p>
            <a:r>
              <a:rPr lang="en-US" sz="2200" dirty="0" smtClean="0">
                <a:hlinkClick r:id="rId3"/>
              </a:rPr>
              <a:t>https://owasp.org/www-community/Vulnerability_Scanning_Tools</a:t>
            </a:r>
            <a:endParaRPr lang="en-US" sz="2200" dirty="0" smtClean="0"/>
          </a:p>
          <a:p>
            <a:endParaRPr lang="en-US" sz="2200" dirty="0" smtClean="0"/>
          </a:p>
        </p:txBody>
      </p:sp>
      <p:sp>
        <p:nvSpPr>
          <p:cNvPr id="1026" name="AutoShape 2" descr="17 Software Development Trends for 2025 &amp; Beyon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https://www.netsolutions.com/wp-content/uploads/2023/03/The-Future-of-Software-Development-in-2024-and-Beyond.webp"/>
          <p:cNvSpPr>
            <a:spLocks noChangeAspect="1" noChangeArrowheads="1"/>
          </p:cNvSpPr>
          <p:nvPr/>
        </p:nvSpPr>
        <p:spPr bwMode="auto">
          <a:xfrm>
            <a:off x="155575" y="-2590800"/>
            <a:ext cx="9601200" cy="5400675"/>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9" name="Picture 5"/>
          <p:cNvPicPr>
            <a:picLocks noChangeAspect="1" noChangeArrowheads="1"/>
          </p:cNvPicPr>
          <p:nvPr/>
        </p:nvPicPr>
        <p:blipFill>
          <a:blip r:embed="rId4" cstate="print"/>
          <a:srcRect/>
          <a:stretch>
            <a:fillRect/>
          </a:stretch>
        </p:blipFill>
        <p:spPr bwMode="auto">
          <a:xfrm>
            <a:off x="2301875" y="3311525"/>
            <a:ext cx="4540250" cy="2555875"/>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Modifiability Scenario</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Modifiability</a:t>
            </a:r>
            <a:r>
              <a:rPr lang="en-US" sz="2400" dirty="0" smtClean="0"/>
              <a:t> is about change, and our interest in it centers on the cost and risk of making changes.</a:t>
            </a:r>
            <a:endParaRPr lang="en-US" sz="2400" dirty="0"/>
          </a:p>
        </p:txBody>
      </p:sp>
      <p:pic>
        <p:nvPicPr>
          <p:cNvPr id="33795" name="Picture 3"/>
          <p:cNvPicPr>
            <a:picLocks noChangeAspect="1" noChangeArrowheads="1"/>
          </p:cNvPicPr>
          <p:nvPr/>
        </p:nvPicPr>
        <p:blipFill>
          <a:blip r:embed="rId2" cstate="print"/>
          <a:srcRect/>
          <a:stretch>
            <a:fillRect/>
          </a:stretch>
        </p:blipFill>
        <p:spPr bwMode="auto">
          <a:xfrm>
            <a:off x="1184275" y="2733675"/>
            <a:ext cx="6775450" cy="3209925"/>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Tactics for Modifiability</a:t>
            </a:r>
            <a:endParaRPr lang="en-US" dirty="0"/>
          </a:p>
        </p:txBody>
      </p:sp>
      <p:sp>
        <p:nvSpPr>
          <p:cNvPr id="3" name="Content Placeholder 2"/>
          <p:cNvSpPr>
            <a:spLocks noGrp="1"/>
          </p:cNvSpPr>
          <p:nvPr>
            <p:ph idx="1"/>
          </p:nvPr>
        </p:nvSpPr>
        <p:spPr/>
        <p:txBody>
          <a:bodyPr/>
          <a:lstStyle/>
          <a:p>
            <a:r>
              <a:rPr lang="en-US" sz="2400" dirty="0" smtClean="0"/>
              <a:t>How to design an architecture for modifiability?</a:t>
            </a:r>
          </a:p>
          <a:p>
            <a:pPr lvl="1"/>
            <a:r>
              <a:rPr lang="en-US" sz="2000" dirty="0" smtClean="0"/>
              <a:t>Reduce Size of a Module.</a:t>
            </a:r>
          </a:p>
          <a:p>
            <a:pPr lvl="1"/>
            <a:r>
              <a:rPr lang="en-US" sz="2000" dirty="0" smtClean="0"/>
              <a:t>Increase Cohesion.</a:t>
            </a:r>
          </a:p>
          <a:p>
            <a:pPr lvl="1"/>
            <a:r>
              <a:rPr lang="en-US" sz="2000" dirty="0" smtClean="0"/>
              <a:t>Reduce Coupling.</a:t>
            </a:r>
          </a:p>
          <a:p>
            <a:pPr lvl="1"/>
            <a:r>
              <a:rPr lang="en-US" sz="2000" dirty="0" smtClean="0"/>
              <a:t>Defer Binding.</a:t>
            </a:r>
          </a:p>
        </p:txBody>
      </p:sp>
      <p:pic>
        <p:nvPicPr>
          <p:cNvPr id="5" name="Picture 4"/>
          <p:cNvPicPr>
            <a:picLocks noChangeAspect="1" noChangeArrowheads="1"/>
          </p:cNvPicPr>
          <p:nvPr/>
        </p:nvPicPr>
        <p:blipFill>
          <a:blip r:embed="rId2" cstate="print"/>
          <a:srcRect/>
          <a:stretch>
            <a:fillRect/>
          </a:stretch>
        </p:blipFill>
        <p:spPr bwMode="auto">
          <a:xfrm>
            <a:off x="6248400" y="2286000"/>
            <a:ext cx="2314575" cy="1981200"/>
          </a:xfrm>
          <a:prstGeom prst="rect">
            <a:avLst/>
          </a:prstGeom>
          <a:noFill/>
          <a:ln w="9525">
            <a:noFill/>
            <a:miter lim="800000"/>
            <a:headEnd/>
            <a:tailEnd/>
          </a:ln>
          <a:effectLst/>
        </p:spPr>
      </p:pic>
      <p:pic>
        <p:nvPicPr>
          <p:cNvPr id="6" name="Picture 4" descr="https://www.schranner.com/images/default-source/insights-blog/title-images/tactics7642960fcbe368bdbc66ff000097e6db.png?sfvrsn=51a1fe69_4"/>
          <p:cNvPicPr>
            <a:picLocks noChangeAspect="1" noChangeArrowheads="1"/>
          </p:cNvPicPr>
          <p:nvPr/>
        </p:nvPicPr>
        <p:blipFill>
          <a:blip r:embed="rId3" cstate="print"/>
          <a:srcRect/>
          <a:stretch>
            <a:fillRect/>
          </a:stretch>
        </p:blipFill>
        <p:spPr bwMode="auto">
          <a:xfrm>
            <a:off x="2590800" y="4038866"/>
            <a:ext cx="2844445" cy="2133334"/>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Testability Scenario</a:t>
            </a:r>
            <a:endParaRPr lang="en-US" dirty="0"/>
          </a:p>
        </p:txBody>
      </p:sp>
      <p:sp>
        <p:nvSpPr>
          <p:cNvPr id="3" name="Content Placeholder 2"/>
          <p:cNvSpPr>
            <a:spLocks noGrp="1"/>
          </p:cNvSpPr>
          <p:nvPr>
            <p:ph idx="1"/>
          </p:nvPr>
        </p:nvSpPr>
        <p:spPr/>
        <p:txBody>
          <a:bodyPr/>
          <a:lstStyle/>
          <a:p>
            <a:r>
              <a:rPr lang="en-US" sz="2400" dirty="0" smtClean="0"/>
              <a:t>Software </a:t>
            </a:r>
            <a:r>
              <a:rPr lang="en-US" sz="2400" i="1" dirty="0" smtClean="0">
                <a:solidFill>
                  <a:srgbClr val="C00000"/>
                </a:solidFill>
              </a:rPr>
              <a:t>testability</a:t>
            </a:r>
            <a:r>
              <a:rPr lang="en-US" sz="2400" dirty="0" smtClean="0"/>
              <a:t> refers to the ease with which software can be made to demonstrate its faults through (typically execution-based) testing.</a:t>
            </a:r>
          </a:p>
          <a:p>
            <a:r>
              <a:rPr lang="en-US" sz="2400" dirty="0" smtClean="0"/>
              <a:t>Intuitively, a system is testable if it “gives up” its faults easily. If a fault is present in a system, then we want it to </a:t>
            </a:r>
            <a:r>
              <a:rPr lang="en-US" sz="2400" i="1" dirty="0" smtClean="0">
                <a:solidFill>
                  <a:srgbClr val="C00000"/>
                </a:solidFill>
              </a:rPr>
              <a:t>fail during testing as quickly as possible</a:t>
            </a:r>
            <a:r>
              <a:rPr lang="en-US" sz="2400" dirty="0" smtClean="0"/>
              <a:t>.</a:t>
            </a:r>
            <a:endParaRPr lang="en-US" sz="2400" dirty="0"/>
          </a:p>
        </p:txBody>
      </p:sp>
      <p:pic>
        <p:nvPicPr>
          <p:cNvPr id="43013" name="Picture 5"/>
          <p:cNvPicPr>
            <a:picLocks noChangeAspect="1" noChangeArrowheads="1"/>
          </p:cNvPicPr>
          <p:nvPr/>
        </p:nvPicPr>
        <p:blipFill>
          <a:blip r:embed="rId2" cstate="print"/>
          <a:srcRect/>
          <a:stretch>
            <a:fillRect/>
          </a:stretch>
        </p:blipFill>
        <p:spPr bwMode="auto">
          <a:xfrm>
            <a:off x="1652588" y="4073525"/>
            <a:ext cx="5838825" cy="2555875"/>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Tactics for Testability</a:t>
            </a:r>
            <a:endParaRPr lang="en-US" dirty="0"/>
          </a:p>
        </p:txBody>
      </p:sp>
      <p:sp>
        <p:nvSpPr>
          <p:cNvPr id="3" name="Content Placeholder 2"/>
          <p:cNvSpPr>
            <a:spLocks noGrp="1"/>
          </p:cNvSpPr>
          <p:nvPr>
            <p:ph idx="1"/>
          </p:nvPr>
        </p:nvSpPr>
        <p:spPr/>
        <p:txBody>
          <a:bodyPr/>
          <a:lstStyle/>
          <a:p>
            <a:r>
              <a:rPr lang="en-US" sz="2400" dirty="0" smtClean="0"/>
              <a:t>How to design an architecture for testability?</a:t>
            </a:r>
          </a:p>
          <a:p>
            <a:pPr lvl="1"/>
            <a:r>
              <a:rPr lang="en-US" sz="2000" dirty="0" smtClean="0"/>
              <a:t>Control and Observe System State</a:t>
            </a:r>
          </a:p>
          <a:p>
            <a:pPr lvl="2"/>
            <a:r>
              <a:rPr lang="en-US" sz="1600" dirty="0" smtClean="0"/>
              <a:t>Specialized interfaces</a:t>
            </a:r>
          </a:p>
          <a:p>
            <a:pPr lvl="2"/>
            <a:r>
              <a:rPr lang="en-US" sz="1600" dirty="0" smtClean="0"/>
              <a:t>Abstract data sources</a:t>
            </a:r>
          </a:p>
          <a:p>
            <a:pPr lvl="1"/>
            <a:r>
              <a:rPr lang="en-US" sz="2000" dirty="0" smtClean="0"/>
              <a:t>Limit Complexity</a:t>
            </a:r>
          </a:p>
          <a:p>
            <a:pPr lvl="2"/>
            <a:r>
              <a:rPr lang="en-US" sz="1600" dirty="0" smtClean="0"/>
              <a:t>Limit structural complexity</a:t>
            </a:r>
          </a:p>
          <a:p>
            <a:pPr lvl="2"/>
            <a:r>
              <a:rPr lang="en-US" sz="1600" dirty="0" smtClean="0"/>
              <a:t>Limit </a:t>
            </a:r>
            <a:r>
              <a:rPr lang="en-US" sz="1600" dirty="0" err="1" smtClean="0"/>
              <a:t>nondeterminism</a:t>
            </a:r>
            <a:endParaRPr lang="en-US" sz="1600" dirty="0" smtClean="0"/>
          </a:p>
        </p:txBody>
      </p:sp>
      <p:pic>
        <p:nvPicPr>
          <p:cNvPr id="5" name="Picture 4"/>
          <p:cNvPicPr>
            <a:picLocks noChangeAspect="1" noChangeArrowheads="1"/>
          </p:cNvPicPr>
          <p:nvPr/>
        </p:nvPicPr>
        <p:blipFill>
          <a:blip r:embed="rId2" cstate="print"/>
          <a:srcRect/>
          <a:stretch>
            <a:fillRect/>
          </a:stretch>
        </p:blipFill>
        <p:spPr bwMode="auto">
          <a:xfrm>
            <a:off x="6248400" y="2133600"/>
            <a:ext cx="2314575" cy="1981200"/>
          </a:xfrm>
          <a:prstGeom prst="rect">
            <a:avLst/>
          </a:prstGeom>
          <a:noFill/>
          <a:ln w="9525">
            <a:noFill/>
            <a:miter lim="800000"/>
            <a:headEnd/>
            <a:tailEnd/>
          </a:ln>
          <a:effectLst/>
        </p:spPr>
      </p:pic>
      <p:pic>
        <p:nvPicPr>
          <p:cNvPr id="6" name="Picture 4" descr="https://www.schranner.com/images/default-source/insights-blog/title-images/tactics7642960fcbe368bdbc66ff000097e6db.png?sfvrsn=51a1fe69_4"/>
          <p:cNvPicPr>
            <a:picLocks noChangeAspect="1" noChangeArrowheads="1"/>
          </p:cNvPicPr>
          <p:nvPr/>
        </p:nvPicPr>
        <p:blipFill>
          <a:blip r:embed="rId3" cstate="print"/>
          <a:srcRect/>
          <a:stretch>
            <a:fillRect/>
          </a:stretch>
        </p:blipFill>
        <p:spPr bwMode="auto">
          <a:xfrm>
            <a:off x="2794355" y="4267200"/>
            <a:ext cx="2844445" cy="2133334"/>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Deployability</a:t>
            </a:r>
            <a:r>
              <a:rPr lang="en-US" dirty="0" smtClean="0"/>
              <a:t> Scenario</a:t>
            </a:r>
            <a:endParaRPr lang="en-US" dirty="0"/>
          </a:p>
        </p:txBody>
      </p:sp>
      <p:sp>
        <p:nvSpPr>
          <p:cNvPr id="3" name="Content Placeholder 2"/>
          <p:cNvSpPr>
            <a:spLocks noGrp="1"/>
          </p:cNvSpPr>
          <p:nvPr>
            <p:ph idx="1"/>
          </p:nvPr>
        </p:nvSpPr>
        <p:spPr/>
        <p:txBody>
          <a:bodyPr/>
          <a:lstStyle/>
          <a:p>
            <a:r>
              <a:rPr lang="en-US" sz="2400" dirty="0" err="1" smtClean="0"/>
              <a:t>Deployability</a:t>
            </a:r>
            <a:r>
              <a:rPr lang="en-US" sz="2400" dirty="0" smtClean="0"/>
              <a:t> refers to a property of software indicating that it may be deployed—that is, allocated to an environment for execution—within a predictable and acceptable amount of time and effort.</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1211263" y="3470275"/>
            <a:ext cx="6721475" cy="2397125"/>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Tactics for </a:t>
            </a:r>
            <a:r>
              <a:rPr lang="en-US" dirty="0" err="1" smtClean="0"/>
              <a:t>Deployability</a:t>
            </a:r>
            <a:endParaRPr lang="en-US" dirty="0"/>
          </a:p>
        </p:txBody>
      </p:sp>
      <p:pic>
        <p:nvPicPr>
          <p:cNvPr id="2054" name="Picture 6"/>
          <p:cNvPicPr>
            <a:picLocks noChangeAspect="1" noChangeArrowheads="1"/>
          </p:cNvPicPr>
          <p:nvPr/>
        </p:nvPicPr>
        <p:blipFill>
          <a:blip r:embed="rId2" cstate="print"/>
          <a:srcRect/>
          <a:stretch>
            <a:fillRect/>
          </a:stretch>
        </p:blipFill>
        <p:spPr bwMode="auto">
          <a:xfrm>
            <a:off x="679450" y="2057400"/>
            <a:ext cx="7785100" cy="3505200"/>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Usability</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Usability</a:t>
            </a:r>
            <a:r>
              <a:rPr lang="en-US" sz="2400" dirty="0" smtClean="0"/>
              <a:t> is concerned with </a:t>
            </a:r>
            <a:r>
              <a:rPr lang="en-US" sz="2400" u="sng" dirty="0" smtClean="0"/>
              <a:t>how easy</a:t>
            </a:r>
            <a:r>
              <a:rPr lang="en-US" sz="2400" dirty="0" smtClean="0"/>
              <a:t> it is for the user to </a:t>
            </a:r>
            <a:r>
              <a:rPr lang="en-US" sz="2400" u="sng" dirty="0" smtClean="0"/>
              <a:t>accomplish a desired task</a:t>
            </a:r>
            <a:r>
              <a:rPr lang="en-US" sz="2400" dirty="0" smtClean="0"/>
              <a:t> and the kind of user support that the system provides.</a:t>
            </a:r>
            <a:endParaRPr lang="en-US" sz="2400" dirty="0"/>
          </a:p>
        </p:txBody>
      </p:sp>
      <p:pic>
        <p:nvPicPr>
          <p:cNvPr id="62467" name="Picture 3"/>
          <p:cNvPicPr>
            <a:picLocks noChangeAspect="1" noChangeArrowheads="1"/>
          </p:cNvPicPr>
          <p:nvPr/>
        </p:nvPicPr>
        <p:blipFill>
          <a:blip r:embed="rId2" cstate="print"/>
          <a:srcRect/>
          <a:stretch>
            <a:fillRect/>
          </a:stretch>
        </p:blipFill>
        <p:spPr bwMode="auto">
          <a:xfrm>
            <a:off x="730250" y="3419475"/>
            <a:ext cx="7683500" cy="2066925"/>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Tactics for Usability</a:t>
            </a:r>
            <a:endParaRPr lang="en-US" dirty="0"/>
          </a:p>
        </p:txBody>
      </p:sp>
      <p:pic>
        <p:nvPicPr>
          <p:cNvPr id="63490" name="Picture 2"/>
          <p:cNvPicPr>
            <a:picLocks noChangeAspect="1" noChangeArrowheads="1"/>
          </p:cNvPicPr>
          <p:nvPr/>
        </p:nvPicPr>
        <p:blipFill>
          <a:blip r:embed="rId2" cstate="print"/>
          <a:srcRect/>
          <a:stretch>
            <a:fillRect/>
          </a:stretch>
        </p:blipFill>
        <p:spPr bwMode="auto">
          <a:xfrm>
            <a:off x="1952625" y="2108200"/>
            <a:ext cx="5238750" cy="3302000"/>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Maintain Task Model</a:t>
            </a:r>
            <a:endParaRPr lang="en-US" dirty="0"/>
          </a:p>
        </p:txBody>
      </p:sp>
      <p:sp>
        <p:nvSpPr>
          <p:cNvPr id="3" name="Content Placeholder 2"/>
          <p:cNvSpPr>
            <a:spLocks noGrp="1"/>
          </p:cNvSpPr>
          <p:nvPr>
            <p:ph idx="1"/>
          </p:nvPr>
        </p:nvSpPr>
        <p:spPr/>
        <p:txBody>
          <a:bodyPr/>
          <a:lstStyle/>
          <a:p>
            <a:r>
              <a:rPr lang="en-US" sz="2400" dirty="0" smtClean="0"/>
              <a:t>The </a:t>
            </a:r>
            <a:r>
              <a:rPr lang="en-US" sz="2400" i="1" dirty="0" smtClean="0">
                <a:solidFill>
                  <a:srgbClr val="C00000"/>
                </a:solidFill>
              </a:rPr>
              <a:t>task model</a:t>
            </a:r>
            <a:r>
              <a:rPr lang="en-US" sz="2400" dirty="0" smtClean="0"/>
              <a:t> is used to determine context so the system can have some </a:t>
            </a:r>
            <a:r>
              <a:rPr lang="en-US" sz="2400" u="sng" dirty="0" smtClean="0"/>
              <a:t>idea of what the user is attempting to do</a:t>
            </a:r>
            <a:r>
              <a:rPr lang="en-US" sz="2400" dirty="0" smtClean="0"/>
              <a:t> and provide assistance.</a:t>
            </a:r>
          </a:p>
          <a:p>
            <a:r>
              <a:rPr lang="en-US" sz="2400" dirty="0" smtClean="0"/>
              <a:t>For example, many search engines provide </a:t>
            </a:r>
            <a:r>
              <a:rPr lang="en-US" sz="2400" i="1" dirty="0" smtClean="0">
                <a:solidFill>
                  <a:srgbClr val="C00000"/>
                </a:solidFill>
              </a:rPr>
              <a:t>predictive type-ahead capabilities</a:t>
            </a:r>
            <a:r>
              <a:rPr lang="en-US" sz="2400" dirty="0" smtClean="0"/>
              <a:t>, and many mail clients provide spell-correction. Both of these functions are based on task models.</a:t>
            </a:r>
          </a:p>
        </p:txBody>
      </p:sp>
      <p:pic>
        <p:nvPicPr>
          <p:cNvPr id="6146" name="Picture 2" descr="https://images.samsung.com/is/image/samsung/assets/uk/support/mobile-devices/how-can-i-personalise-and-turn-predictive-text-on-and-off-on-my-samsung-galaxy-device/images/1-uk-how-can-i-personalise-and-turn-predictive-text-on-and-off.png?$ORIGIN_PNG$"/>
          <p:cNvPicPr>
            <a:picLocks noChangeAspect="1" noChangeArrowheads="1"/>
          </p:cNvPicPr>
          <p:nvPr/>
        </p:nvPicPr>
        <p:blipFill>
          <a:blip r:embed="rId2" cstate="print"/>
          <a:srcRect/>
          <a:stretch>
            <a:fillRect/>
          </a:stretch>
        </p:blipFill>
        <p:spPr bwMode="auto">
          <a:xfrm>
            <a:off x="3124200" y="4419600"/>
            <a:ext cx="2767013" cy="1524000"/>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Maintain User Model</a:t>
            </a:r>
            <a:endParaRPr lang="en-US" dirty="0"/>
          </a:p>
        </p:txBody>
      </p:sp>
      <p:sp>
        <p:nvSpPr>
          <p:cNvPr id="3" name="Content Placeholder 2"/>
          <p:cNvSpPr>
            <a:spLocks noGrp="1"/>
          </p:cNvSpPr>
          <p:nvPr>
            <p:ph idx="1"/>
          </p:nvPr>
        </p:nvSpPr>
        <p:spPr/>
        <p:txBody>
          <a:bodyPr/>
          <a:lstStyle/>
          <a:p>
            <a:r>
              <a:rPr lang="en-US" sz="2200" dirty="0" smtClean="0"/>
              <a:t>The </a:t>
            </a:r>
            <a:r>
              <a:rPr lang="en-US" sz="2200" i="1" dirty="0" smtClean="0">
                <a:solidFill>
                  <a:srgbClr val="C00000"/>
                </a:solidFill>
              </a:rPr>
              <a:t>user model</a:t>
            </a:r>
            <a:r>
              <a:rPr lang="en-US" sz="2200" dirty="0" smtClean="0"/>
              <a:t> explicitly represents </a:t>
            </a:r>
            <a:r>
              <a:rPr lang="en-US" sz="2200" u="sng" dirty="0" smtClean="0"/>
              <a:t>the user's knowledge of the system</a:t>
            </a:r>
            <a:r>
              <a:rPr lang="en-US" sz="2200" dirty="0" smtClean="0"/>
              <a:t>, the user's behavior in terms of expected response time, and other aspects specific to a user or a class of users.</a:t>
            </a:r>
          </a:p>
          <a:p>
            <a:r>
              <a:rPr lang="en-US" sz="2200" dirty="0" smtClean="0"/>
              <a:t>For example, language-learning apps are constantly monitoring areas </a:t>
            </a:r>
            <a:r>
              <a:rPr lang="en-US" sz="2200" i="1" dirty="0" smtClean="0">
                <a:solidFill>
                  <a:srgbClr val="C00000"/>
                </a:solidFill>
              </a:rPr>
              <a:t>where a user makes mistakes</a:t>
            </a:r>
            <a:r>
              <a:rPr lang="en-US" sz="2200" dirty="0" smtClean="0"/>
              <a:t> and then providing additional exercises to correct those behaviors.</a:t>
            </a:r>
          </a:p>
          <a:p>
            <a:r>
              <a:rPr lang="en-US" sz="2200" dirty="0" smtClean="0"/>
              <a:t>A special case of this tactic is commonly found in user interface customization, wherein a user can explicitly modify the system's user model.</a:t>
            </a:r>
          </a:p>
        </p:txBody>
      </p:sp>
      <p:pic>
        <p:nvPicPr>
          <p:cNvPr id="5122" name="Picture 2"/>
          <p:cNvPicPr>
            <a:picLocks noChangeAspect="1" noChangeArrowheads="1"/>
          </p:cNvPicPr>
          <p:nvPr/>
        </p:nvPicPr>
        <p:blipFill>
          <a:blip r:embed="rId2" cstate="print"/>
          <a:srcRect/>
          <a:stretch>
            <a:fillRect/>
          </a:stretch>
        </p:blipFill>
        <p:spPr bwMode="auto">
          <a:xfrm>
            <a:off x="2879725" y="4689475"/>
            <a:ext cx="3384550" cy="1787525"/>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Maintain System Model</a:t>
            </a:r>
            <a:endParaRPr lang="en-US" dirty="0"/>
          </a:p>
        </p:txBody>
      </p:sp>
      <p:sp>
        <p:nvSpPr>
          <p:cNvPr id="3" name="Content Placeholder 2"/>
          <p:cNvSpPr>
            <a:spLocks noGrp="1"/>
          </p:cNvSpPr>
          <p:nvPr>
            <p:ph idx="1"/>
          </p:nvPr>
        </p:nvSpPr>
        <p:spPr/>
        <p:txBody>
          <a:bodyPr/>
          <a:lstStyle/>
          <a:p>
            <a:r>
              <a:rPr lang="en-US" sz="2400" dirty="0" smtClean="0"/>
              <a:t>The </a:t>
            </a:r>
            <a:r>
              <a:rPr lang="en-US" sz="2400" i="1" dirty="0" smtClean="0">
                <a:solidFill>
                  <a:srgbClr val="C00000"/>
                </a:solidFill>
              </a:rPr>
              <a:t>system</a:t>
            </a:r>
            <a:r>
              <a:rPr lang="en-US" sz="2400" dirty="0" smtClean="0"/>
              <a:t> maintains an explicit model of itself. This is used to determine </a:t>
            </a:r>
            <a:r>
              <a:rPr lang="en-US" sz="2400" u="sng" dirty="0" smtClean="0"/>
              <a:t>expected system behavior</a:t>
            </a:r>
            <a:r>
              <a:rPr lang="en-US" sz="2400" dirty="0" smtClean="0"/>
              <a:t> so that </a:t>
            </a:r>
            <a:r>
              <a:rPr lang="en-US" sz="2400" u="sng" dirty="0" smtClean="0"/>
              <a:t>appropriate feedback</a:t>
            </a:r>
            <a:r>
              <a:rPr lang="en-US" sz="2400" dirty="0" smtClean="0"/>
              <a:t> can be given to the user.</a:t>
            </a:r>
          </a:p>
          <a:p>
            <a:r>
              <a:rPr lang="en-US" sz="2400" dirty="0" smtClean="0"/>
              <a:t>A common manifestation of a system model is </a:t>
            </a:r>
            <a:r>
              <a:rPr lang="en-US" sz="2400" i="1" dirty="0" smtClean="0">
                <a:solidFill>
                  <a:srgbClr val="C00000"/>
                </a:solidFill>
              </a:rPr>
              <a:t>a progress bar</a:t>
            </a:r>
            <a:r>
              <a:rPr lang="en-US" sz="2400" dirty="0" smtClean="0"/>
              <a:t> that predicts the time needed to complete the current activity.</a:t>
            </a:r>
            <a:endParaRPr lang="en-US" sz="2400" dirty="0"/>
          </a:p>
        </p:txBody>
      </p:sp>
      <p:pic>
        <p:nvPicPr>
          <p:cNvPr id="4098" name="Picture 2"/>
          <p:cNvPicPr>
            <a:picLocks noChangeAspect="1" noChangeArrowheads="1"/>
          </p:cNvPicPr>
          <p:nvPr/>
        </p:nvPicPr>
        <p:blipFill>
          <a:blip r:embed="rId2" cstate="print"/>
          <a:srcRect/>
          <a:stretch>
            <a:fillRect/>
          </a:stretch>
        </p:blipFill>
        <p:spPr bwMode="auto">
          <a:xfrm>
            <a:off x="3048000" y="4267200"/>
            <a:ext cx="3101340" cy="1619250"/>
          </a:xfrm>
          <a:prstGeom prst="rect">
            <a:avLst/>
          </a:prstGeom>
          <a:noFill/>
          <a:ln w="9525">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Kinds of Quality Attributes</a:t>
            </a:r>
            <a:endParaRPr lang="en-US" dirty="0"/>
          </a:p>
        </p:txBody>
      </p:sp>
      <p:pic>
        <p:nvPicPr>
          <p:cNvPr id="3074" name="Picture 2" descr="https://article.imrpress.com/journal/CEOG/51/4/10.31083/j.ceog5104088/2709-0094-51-4-088/fig1.png"/>
          <p:cNvPicPr>
            <a:picLocks noChangeAspect="1" noChangeArrowheads="1"/>
          </p:cNvPicPr>
          <p:nvPr/>
        </p:nvPicPr>
        <p:blipFill>
          <a:blip r:embed="rId2" cstate="print"/>
          <a:srcRect/>
          <a:stretch>
            <a:fillRect/>
          </a:stretch>
        </p:blipFill>
        <p:spPr bwMode="auto">
          <a:xfrm>
            <a:off x="609600" y="1676400"/>
            <a:ext cx="8185726" cy="4422047"/>
          </a:xfrm>
          <a:prstGeom prst="rect">
            <a:avLst/>
          </a:prstGeom>
          <a:noFill/>
        </p:spPr>
      </p:pic>
      <p:sp>
        <p:nvSpPr>
          <p:cNvPr id="5" name="Rectangle 4"/>
          <p:cNvSpPr/>
          <p:nvPr/>
        </p:nvSpPr>
        <p:spPr>
          <a:xfrm>
            <a:off x="381000" y="4572000"/>
            <a:ext cx="3200400"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t>ISO/IEC FCD 25010: Systems and Software Engineering: Systems and Software Product Quality Requirements and Evaluation (</a:t>
            </a:r>
            <a:r>
              <a:rPr lang="en-US" dirty="0" err="1" smtClean="0"/>
              <a:t>SQuaRE</a:t>
            </a:r>
            <a:r>
              <a:rPr lang="en-US" dirty="0" smtClean="0"/>
              <a:t>): System and Software Quality Models.</a:t>
            </a:r>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10568</TotalTime>
  <Words>2753</Words>
  <Application>Microsoft Office PowerPoint</Application>
  <PresentationFormat>On-screen Show (4:3)</PresentationFormat>
  <Paragraphs>319</Paragraphs>
  <Slides>63</Slides>
  <Notes>0</Notes>
  <HiddenSlides>0</HiddenSlides>
  <MMClips>0</MMClips>
  <ScaleCrop>false</ScaleCrop>
  <HeadingPairs>
    <vt:vector size="4" baseType="variant">
      <vt:variant>
        <vt:lpstr>Theme</vt:lpstr>
      </vt:variant>
      <vt:variant>
        <vt:i4>1</vt:i4>
      </vt:variant>
      <vt:variant>
        <vt:lpstr>Slide Titles</vt:lpstr>
      </vt:variant>
      <vt:variant>
        <vt:i4>63</vt:i4>
      </vt:variant>
    </vt:vector>
  </HeadingPairs>
  <TitlesOfParts>
    <vt:vector size="64" baseType="lpstr">
      <vt:lpstr>Office Theme</vt:lpstr>
      <vt:lpstr>Quality Attributes</vt:lpstr>
      <vt:lpstr>Objectives</vt:lpstr>
      <vt:lpstr>Contents</vt:lpstr>
      <vt:lpstr>References</vt:lpstr>
      <vt:lpstr>Functionality [1]</vt:lpstr>
      <vt:lpstr>Example: Facebook Functionalities</vt:lpstr>
      <vt:lpstr>Quality Requirements</vt:lpstr>
      <vt:lpstr>Exercise: Scalability</vt:lpstr>
      <vt:lpstr>Slide 9</vt:lpstr>
      <vt:lpstr>Stakeholders' Goals</vt:lpstr>
      <vt:lpstr>Quality Goals [2]</vt:lpstr>
      <vt:lpstr>Measuring Quality Attribute [3]</vt:lpstr>
      <vt:lpstr>Quality Attribute Characterizations</vt:lpstr>
      <vt:lpstr>Example Quality Attribute: Performance</vt:lpstr>
      <vt:lpstr>Record PC information</vt:lpstr>
      <vt:lpstr>Install the benchmark tools (I)</vt:lpstr>
      <vt:lpstr>Install the benchmark tools (II)</vt:lpstr>
      <vt:lpstr>Record MacBook information</vt:lpstr>
      <vt:lpstr>Install the benchmark tools (I)</vt:lpstr>
      <vt:lpstr>Install the benchmark tools (II)</vt:lpstr>
      <vt:lpstr>Run the CPU benchmark</vt:lpstr>
      <vt:lpstr>Interpret the CPU benchmark results</vt:lpstr>
      <vt:lpstr>Example Quality Attribute: Modifiability</vt:lpstr>
      <vt:lpstr>Why Use Attribute Characterizations?</vt:lpstr>
      <vt:lpstr>Slide 25</vt:lpstr>
      <vt:lpstr>Scenarios</vt:lpstr>
      <vt:lpstr>Use Case Scenarios</vt:lpstr>
      <vt:lpstr>Growth Scenarios</vt:lpstr>
      <vt:lpstr>Exploratory Scenarios</vt:lpstr>
      <vt:lpstr>Quality Attribute Scenario Representation [1]</vt:lpstr>
      <vt:lpstr>Example: Availability Scenario</vt:lpstr>
      <vt:lpstr>More Complex Availability Scenario</vt:lpstr>
      <vt:lpstr>Architectural Tactics</vt:lpstr>
      <vt:lpstr>Example: Tactics for Availability</vt:lpstr>
      <vt:lpstr>Tools for Testing Availability</vt:lpstr>
      <vt:lpstr>Slide 36</vt:lpstr>
      <vt:lpstr>Performance Scenario</vt:lpstr>
      <vt:lpstr>Tactics for Performance</vt:lpstr>
      <vt:lpstr>Tools for Testing Performance</vt:lpstr>
      <vt:lpstr>Slide 40</vt:lpstr>
      <vt:lpstr>Security Concepts (I)</vt:lpstr>
      <vt:lpstr>Security Concepts (II)</vt:lpstr>
      <vt:lpstr>Security Scenario</vt:lpstr>
      <vt:lpstr>Tactics for Security</vt:lpstr>
      <vt:lpstr>Tools for Security Testing</vt:lpstr>
      <vt:lpstr>Slide 46</vt:lpstr>
      <vt:lpstr>Modifiability Scenario</vt:lpstr>
      <vt:lpstr>Tactics for Modifiability</vt:lpstr>
      <vt:lpstr>Slide 49</vt:lpstr>
      <vt:lpstr>Testability Scenario</vt:lpstr>
      <vt:lpstr>Tactics for Testability</vt:lpstr>
      <vt:lpstr>Slide 52</vt:lpstr>
      <vt:lpstr>Deployability Scenario</vt:lpstr>
      <vt:lpstr>Tactics for Deployability</vt:lpstr>
      <vt:lpstr>Slide 55</vt:lpstr>
      <vt:lpstr>Usability</vt:lpstr>
      <vt:lpstr>Tactics for Usability</vt:lpstr>
      <vt:lpstr>Maintain Task Model</vt:lpstr>
      <vt:lpstr>Maintain User Model</vt:lpstr>
      <vt:lpstr>Maintain System Model</vt:lpstr>
      <vt:lpstr>Slide 61</vt:lpstr>
      <vt:lpstr>Other Kinds of Quality Attributes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3804</cp:revision>
  <dcterms:created xsi:type="dcterms:W3CDTF">2007-10-06T08:25:13Z</dcterms:created>
  <dcterms:modified xsi:type="dcterms:W3CDTF">2026-07-12T15:41:07Z</dcterms:modified>
</cp:coreProperties>
</file>