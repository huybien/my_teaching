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slides/slide5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6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538" r:id="rId16"/>
    <p:sldId id="540" r:id="rId17"/>
    <p:sldId id="542" r:id="rId18"/>
    <p:sldId id="539" r:id="rId19"/>
    <p:sldId id="543" r:id="rId20"/>
    <p:sldId id="544" r:id="rId21"/>
    <p:sldId id="546" r:id="rId22"/>
    <p:sldId id="547" r:id="rId23"/>
    <p:sldId id="548" r:id="rId24"/>
    <p:sldId id="549" r:id="rId25"/>
    <p:sldId id="482" r:id="rId26"/>
    <p:sldId id="440" r:id="rId27"/>
    <p:sldId id="483" r:id="rId28"/>
    <p:sldId id="438" r:id="rId29"/>
    <p:sldId id="441" r:id="rId30"/>
    <p:sldId id="522" r:id="rId31"/>
    <p:sldId id="523" r:id="rId32"/>
    <p:sldId id="484" r:id="rId33"/>
    <p:sldId id="533" r:id="rId34"/>
    <p:sldId id="536" r:id="rId35"/>
    <p:sldId id="507" r:id="rId36"/>
    <p:sldId id="534" r:id="rId37"/>
    <p:sldId id="535" r:id="rId38"/>
    <p:sldId id="509" r:id="rId39"/>
    <p:sldId id="487" r:id="rId40"/>
    <p:sldId id="494" r:id="rId41"/>
    <p:sldId id="525" r:id="rId42"/>
    <p:sldId id="510" r:id="rId43"/>
    <p:sldId id="499" r:id="rId44"/>
    <p:sldId id="500" r:id="rId45"/>
    <p:sldId id="497" r:id="rId46"/>
    <p:sldId id="498" r:id="rId47"/>
    <p:sldId id="526" r:id="rId48"/>
    <p:sldId id="511" r:id="rId49"/>
    <p:sldId id="503" r:id="rId50"/>
    <p:sldId id="504" r:id="rId51"/>
    <p:sldId id="512" r:id="rId52"/>
    <p:sldId id="501" r:id="rId53"/>
    <p:sldId id="502" r:id="rId54"/>
    <p:sldId id="514" r:id="rId55"/>
    <p:sldId id="515" r:id="rId56"/>
    <p:sldId id="516" r:id="rId57"/>
    <p:sldId id="527" r:id="rId58"/>
    <p:sldId id="528" r:id="rId59"/>
    <p:sldId id="529" r:id="rId60"/>
    <p:sldId id="530" r:id="rId61"/>
    <p:sldId id="531" r:id="rId62"/>
    <p:sldId id="532" r:id="rId63"/>
    <p:sldId id="517" r:id="rId64"/>
    <p:sldId id="518" r:id="rId65"/>
    <p:sldId id="359" r:id="rId6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196" autoAdjust="0"/>
    <p:restoredTop sz="94667" autoAdjust="0"/>
  </p:normalViewPr>
  <p:slideViewPr>
    <p:cSldViewPr>
      <p:cViewPr>
        <p:scale>
          <a:sx n="56" d="100"/>
          <a:sy n="56" d="100"/>
        </p:scale>
        <p:origin x="-1434" y="-354"/>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7/12/2026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7/12/2026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7/12/2026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7/12/2026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7/12/2026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7/12/2026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7/12/2026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7/12/2026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hyperlink" Target="https://jmeter.apache.org/"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7" Type="http://schemas.openxmlformats.org/officeDocument/2006/relationships/image" Target="../media/image24.png"/><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6" Type="http://schemas.openxmlformats.org/officeDocument/2006/relationships/hyperlink" Target="https://grafana.com/pricing/?src=k6io" TargetMode="External"/><Relationship Id="rId5" Type="http://schemas.openxmlformats.org/officeDocument/2006/relationships/hyperlink" Target="https://k6.io/" TargetMode="External"/><Relationship Id="rId4" Type="http://schemas.openxmlformats.org/officeDocument/2006/relationships/hyperlink" Target="https://locust.io/" TargetMode="External"/></Relationships>
</file>

<file path=ppt/slides/_rels/slide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Record PC </a:t>
            </a:r>
            <a:r>
              <a:rPr lang="en-US" dirty="0" smtClean="0"/>
              <a:t>information</a:t>
            </a:r>
            <a:endParaRPr lang="en-US" dirty="0"/>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457200" y="1600200"/>
            <a:ext cx="8229600" cy="14773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Get-</a:t>
            </a:r>
            <a:r>
              <a:rPr lang="en-US" dirty="0" err="1" smtClean="0"/>
              <a:t>ComputerInfo</a:t>
            </a:r>
            <a:r>
              <a:rPr lang="en-US" dirty="0" smtClean="0"/>
              <a:t> |</a:t>
            </a:r>
          </a:p>
          <a:p>
            <a:r>
              <a:rPr lang="en-US" dirty="0" smtClean="0"/>
              <a:t>    Select-Object </a:t>
            </a:r>
            <a:r>
              <a:rPr lang="en-US" dirty="0" err="1" smtClean="0"/>
              <a:t>WindowsProductName</a:t>
            </a:r>
            <a:r>
              <a:rPr lang="en-US" dirty="0" smtClean="0"/>
              <a:t>, </a:t>
            </a:r>
            <a:r>
              <a:rPr lang="en-US" dirty="0" err="1" smtClean="0"/>
              <a:t>WindowsVersion</a:t>
            </a:r>
            <a:r>
              <a:rPr lang="en-US" dirty="0" smtClean="0"/>
              <a:t>, </a:t>
            </a:r>
            <a:r>
              <a:rPr lang="en-US" dirty="0" err="1" smtClean="0"/>
              <a:t>OsArchitecture</a:t>
            </a:r>
            <a:r>
              <a:rPr lang="en-US" dirty="0" smtClean="0"/>
              <a:t>,</a:t>
            </a:r>
          </a:p>
          <a:p>
            <a:r>
              <a:rPr lang="en-US" dirty="0" smtClean="0"/>
              <a:t>        </a:t>
            </a:r>
            <a:r>
              <a:rPr lang="en-US" dirty="0" err="1" smtClean="0"/>
              <a:t>CsManufacturer</a:t>
            </a:r>
            <a:r>
              <a:rPr lang="en-US" dirty="0" smtClean="0"/>
              <a:t>, </a:t>
            </a:r>
            <a:r>
              <a:rPr lang="en-US" dirty="0" err="1" smtClean="0"/>
              <a:t>CsModel</a:t>
            </a:r>
            <a:r>
              <a:rPr lang="en-US" dirty="0" smtClean="0"/>
              <a:t>, </a:t>
            </a:r>
            <a:r>
              <a:rPr lang="en-US" dirty="0" err="1" smtClean="0"/>
              <a:t>CsProcessors</a:t>
            </a:r>
            <a:r>
              <a:rPr lang="en-US" dirty="0" smtClean="0"/>
              <a:t>, </a:t>
            </a:r>
            <a:r>
              <a:rPr lang="en-US" dirty="0" err="1" smtClean="0"/>
              <a:t>CsTotalPhysicalMemory</a:t>
            </a:r>
            <a:r>
              <a:rPr lang="en-US" dirty="0" smtClean="0"/>
              <a:t> |</a:t>
            </a:r>
          </a:p>
          <a:p>
            <a:r>
              <a:rPr lang="en-US" dirty="0" smtClean="0"/>
              <a:t>    Format-List |</a:t>
            </a:r>
          </a:p>
          <a:p>
            <a:r>
              <a:rPr lang="en-US" dirty="0" smtClean="0"/>
              <a:t>    Out-File system-info.txt</a:t>
            </a:r>
            <a:endParaRPr lang="en-US" dirty="0"/>
          </a:p>
        </p:txBody>
      </p:sp>
      <p:sp>
        <p:nvSpPr>
          <p:cNvPr id="5" name="Rectangle 4"/>
          <p:cNvSpPr/>
          <p:nvPr/>
        </p:nvSpPr>
        <p:spPr>
          <a:xfrm>
            <a:off x="457200" y="33528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Get-</a:t>
            </a:r>
            <a:r>
              <a:rPr lang="en-US" dirty="0" err="1" smtClean="0"/>
              <a:t>CimInstance</a:t>
            </a:r>
            <a:r>
              <a:rPr lang="en-US" dirty="0" smtClean="0"/>
              <a:t> Win32_Processor |</a:t>
            </a:r>
          </a:p>
          <a:p>
            <a:r>
              <a:rPr lang="en-US" dirty="0" smtClean="0"/>
              <a:t>    Format-List Name, </a:t>
            </a:r>
            <a:r>
              <a:rPr lang="en-US" dirty="0" err="1" smtClean="0"/>
              <a:t>NumberOfCores</a:t>
            </a:r>
            <a:r>
              <a:rPr lang="en-US" dirty="0" smtClean="0"/>
              <a:t>, </a:t>
            </a:r>
            <a:r>
              <a:rPr lang="en-US" dirty="0" err="1" smtClean="0"/>
              <a:t>NumberOfLogicalProcessors</a:t>
            </a:r>
            <a:r>
              <a:rPr lang="en-US" dirty="0" smtClean="0"/>
              <a:t>,</a:t>
            </a:r>
          </a:p>
          <a:p>
            <a:r>
              <a:rPr lang="en-US" dirty="0" smtClean="0"/>
              <a:t>        </a:t>
            </a:r>
            <a:r>
              <a:rPr lang="en-US" dirty="0" err="1" smtClean="0"/>
              <a:t>MaxClockSpeed</a:t>
            </a:r>
            <a:r>
              <a:rPr lang="en-US" dirty="0" smtClean="0"/>
              <a:t> |</a:t>
            </a:r>
          </a:p>
          <a:p>
            <a:r>
              <a:rPr lang="en-US" dirty="0" smtClean="0"/>
              <a:t>    Out-File cpu-info.txt</a:t>
            </a:r>
            <a:endParaRPr lang="en-US" dirty="0"/>
          </a:p>
        </p:txBody>
      </p:sp>
      <p:sp>
        <p:nvSpPr>
          <p:cNvPr id="6" name="Rectangle 5"/>
          <p:cNvSpPr/>
          <p:nvPr/>
        </p:nvSpPr>
        <p:spPr>
          <a:xfrm>
            <a:off x="457200" y="48768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Get-</a:t>
            </a:r>
            <a:r>
              <a:rPr lang="en-US" dirty="0" err="1" smtClean="0"/>
              <a:t>CimInstance</a:t>
            </a:r>
            <a:r>
              <a:rPr lang="en-US" dirty="0" smtClean="0"/>
              <a:t> Win32_PhysicalMemory |</a:t>
            </a:r>
          </a:p>
          <a:p>
            <a:r>
              <a:rPr lang="en-US" dirty="0" smtClean="0"/>
              <a:t>    Format-Table Manufacturer, </a:t>
            </a:r>
            <a:r>
              <a:rPr lang="en-US" dirty="0" err="1" smtClean="0"/>
              <a:t>PartNumber</a:t>
            </a:r>
            <a:r>
              <a:rPr lang="en-US" dirty="0" smtClean="0"/>
              <a:t>, Capacity, Speed,</a:t>
            </a:r>
          </a:p>
          <a:p>
            <a:r>
              <a:rPr lang="en-US" dirty="0" smtClean="0"/>
              <a:t>        </a:t>
            </a:r>
            <a:r>
              <a:rPr lang="en-US" dirty="0" err="1" smtClean="0"/>
              <a:t>ConfiguredClockSpeed</a:t>
            </a:r>
            <a:r>
              <a:rPr lang="en-US" dirty="0" smtClean="0"/>
              <a:t> |</a:t>
            </a:r>
          </a:p>
          <a:p>
            <a:r>
              <a:rPr lang="en-US" dirty="0" smtClean="0"/>
              <a:t>    Out-File ram-info.txt</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Install </a:t>
            </a:r>
            <a:r>
              <a:rPr lang="en-US" dirty="0" smtClean="0"/>
              <a:t>the benchmark </a:t>
            </a:r>
            <a:r>
              <a:rPr lang="en-US" dirty="0" smtClean="0"/>
              <a:t>tools (I)</a:t>
            </a:r>
            <a:endParaRPr lang="en-US" dirty="0"/>
          </a:p>
        </p:txBody>
      </p:sp>
      <p:sp>
        <p:nvSpPr>
          <p:cNvPr id="3" name="Content Placeholder 2"/>
          <p:cNvSpPr>
            <a:spLocks noGrp="1"/>
          </p:cNvSpPr>
          <p:nvPr>
            <p:ph idx="1"/>
          </p:nvPr>
        </p:nvSpPr>
        <p:spPr/>
        <p:txBody>
          <a:bodyPr/>
          <a:lstStyle/>
          <a:p>
            <a:r>
              <a:rPr lang="en-US" sz="1800" b="1" dirty="0" smtClean="0"/>
              <a:t># In Windows </a:t>
            </a:r>
            <a:r>
              <a:rPr lang="en-US" sz="1800" b="1" dirty="0" err="1" smtClean="0"/>
              <a:t>PowerShell</a:t>
            </a:r>
            <a:r>
              <a:rPr lang="en-US" sz="1800" b="1" dirty="0" smtClean="0"/>
              <a:t>:</a:t>
            </a:r>
          </a:p>
          <a:p>
            <a:r>
              <a:rPr lang="en-US" sz="1800" b="1" dirty="0" err="1" smtClean="0"/>
              <a:t>cd</a:t>
            </a:r>
            <a:r>
              <a:rPr lang="en-US" sz="1800" b="1" dirty="0" smtClean="0"/>
              <a:t> C:\Users\admin\Downloads</a:t>
            </a:r>
          </a:p>
          <a:p>
            <a:r>
              <a:rPr lang="en-US" sz="1800" dirty="0" err="1" smtClean="0"/>
              <a:t>choco</a:t>
            </a:r>
            <a:r>
              <a:rPr lang="en-US" sz="1800" dirty="0" smtClean="0"/>
              <a:t> </a:t>
            </a:r>
            <a:r>
              <a:rPr lang="en-US" sz="1800" dirty="0" smtClean="0"/>
              <a:t>--version</a:t>
            </a:r>
          </a:p>
          <a:p>
            <a:r>
              <a:rPr lang="en-US" sz="1800" dirty="0" err="1" smtClean="0"/>
              <a:t>git</a:t>
            </a:r>
            <a:r>
              <a:rPr lang="en-US" sz="1800" dirty="0" smtClean="0"/>
              <a:t> --</a:t>
            </a:r>
            <a:r>
              <a:rPr lang="en-US" sz="1800" dirty="0" smtClean="0"/>
              <a:t>version</a:t>
            </a:r>
          </a:p>
          <a:p>
            <a:r>
              <a:rPr lang="en-US" sz="1800" dirty="0" smtClean="0"/>
              <a:t>## LLVM is a compiler infrastructure that includes tools such as Clang for compiling C, C++, and related languages.</a:t>
            </a:r>
          </a:p>
          <a:p>
            <a:r>
              <a:rPr lang="en-US" sz="1800" dirty="0" err="1" smtClean="0"/>
              <a:t>choco</a:t>
            </a:r>
            <a:r>
              <a:rPr lang="en-US" sz="1800" dirty="0" smtClean="0"/>
              <a:t> install </a:t>
            </a:r>
            <a:r>
              <a:rPr lang="en-US" sz="1800" dirty="0" err="1" smtClean="0"/>
              <a:t>llvm</a:t>
            </a:r>
            <a:r>
              <a:rPr lang="en-US" sz="1800" dirty="0" smtClean="0"/>
              <a:t> -y</a:t>
            </a:r>
          </a:p>
          <a:p>
            <a:r>
              <a:rPr lang="en-US" sz="1800" dirty="0" smtClean="0"/>
              <a:t>## </a:t>
            </a:r>
            <a:r>
              <a:rPr lang="en-US" sz="1800" dirty="0" smtClean="0"/>
              <a:t>Restart </a:t>
            </a:r>
            <a:r>
              <a:rPr lang="en-US" sz="1800" dirty="0" err="1" smtClean="0"/>
              <a:t>PowerShell</a:t>
            </a:r>
            <a:endParaRPr lang="en-US" sz="1800" dirty="0" smtClean="0"/>
          </a:p>
          <a:p>
            <a:r>
              <a:rPr lang="en-US" sz="1800" dirty="0" smtClean="0"/>
              <a:t>clang --version</a:t>
            </a:r>
          </a:p>
          <a:p>
            <a:r>
              <a:rPr lang="en-US" sz="1800" dirty="0" smtClean="0"/>
              <a:t>7z</a:t>
            </a:r>
          </a:p>
          <a:p>
            <a:r>
              <a:rPr lang="en-US" sz="1800" dirty="0" smtClean="0"/>
              <a:t>## iperf3 is a command-line tool for measuring network throughput, jitter, packet loss, and connection quality between two computers.</a:t>
            </a:r>
          </a:p>
          <a:p>
            <a:r>
              <a:rPr lang="en-US" sz="1800" dirty="0" err="1" smtClean="0"/>
              <a:t>choco</a:t>
            </a:r>
            <a:r>
              <a:rPr lang="en-US" sz="1800" dirty="0" smtClean="0"/>
              <a:t> install iperf3 -</a:t>
            </a:r>
            <a:r>
              <a:rPr lang="en-US" sz="1800" dirty="0" smtClean="0"/>
              <a:t>y</a:t>
            </a:r>
          </a:p>
          <a:p>
            <a:r>
              <a:rPr lang="en-US" sz="1800" dirty="0" smtClean="0"/>
              <a:t>iperf3 --</a:t>
            </a:r>
            <a:r>
              <a:rPr lang="en-US" sz="1800" dirty="0" smtClean="0"/>
              <a:t>version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Install </a:t>
            </a:r>
            <a:r>
              <a:rPr lang="en-US" dirty="0" smtClean="0"/>
              <a:t>the benchmark </a:t>
            </a:r>
            <a:r>
              <a:rPr lang="en-US" dirty="0" smtClean="0"/>
              <a:t>tools (II)</a:t>
            </a:r>
            <a:endParaRPr lang="en-US" dirty="0"/>
          </a:p>
        </p:txBody>
      </p:sp>
      <p:sp>
        <p:nvSpPr>
          <p:cNvPr id="3" name="Content Placeholder 2"/>
          <p:cNvSpPr>
            <a:spLocks noGrp="1"/>
          </p:cNvSpPr>
          <p:nvPr>
            <p:ph idx="1"/>
          </p:nvPr>
        </p:nvSpPr>
        <p:spPr/>
        <p:txBody>
          <a:bodyPr/>
          <a:lstStyle/>
          <a:p>
            <a:r>
              <a:rPr lang="en-US" sz="1800" dirty="0" smtClean="0"/>
              <a:t>## </a:t>
            </a:r>
            <a:r>
              <a:rPr lang="en-US" sz="1800" dirty="0" err="1" smtClean="0"/>
              <a:t>fio</a:t>
            </a:r>
            <a:r>
              <a:rPr lang="en-US" sz="1800" dirty="0" smtClean="0"/>
              <a:t> (Flexible I/O Tester) is a command-line tool for benchmarking and stress-testing storage devices by measuring throughput, IOPS, and latency under configurable disk I/O workloads</a:t>
            </a:r>
            <a:r>
              <a:rPr lang="en-US" sz="1800" dirty="0" smtClean="0"/>
              <a:t>.</a:t>
            </a:r>
            <a:endParaRPr lang="en-US" sz="1800" dirty="0" smtClean="0"/>
          </a:p>
          <a:p>
            <a:r>
              <a:rPr lang="en-US" sz="1800" dirty="0" err="1" smtClean="0"/>
              <a:t>choco</a:t>
            </a:r>
            <a:r>
              <a:rPr lang="en-US" sz="1800" dirty="0" smtClean="0"/>
              <a:t> install </a:t>
            </a:r>
            <a:r>
              <a:rPr lang="en-US" sz="1800" dirty="0" err="1" smtClean="0"/>
              <a:t>fio</a:t>
            </a:r>
            <a:r>
              <a:rPr lang="en-US" sz="1800" dirty="0" smtClean="0"/>
              <a:t> -</a:t>
            </a:r>
            <a:r>
              <a:rPr lang="en-US" sz="1800" dirty="0" smtClean="0"/>
              <a:t>y</a:t>
            </a:r>
          </a:p>
          <a:p>
            <a:r>
              <a:rPr lang="en-US" sz="1800" dirty="0" err="1" smtClean="0"/>
              <a:t>fio</a:t>
            </a:r>
            <a:r>
              <a:rPr lang="en-US" sz="1800" dirty="0" smtClean="0"/>
              <a:t> --</a:t>
            </a:r>
            <a:r>
              <a:rPr lang="en-US" sz="1800" dirty="0" smtClean="0"/>
              <a:t>version</a:t>
            </a:r>
          </a:p>
          <a:p>
            <a:r>
              <a:rPr lang="en-US" sz="1800" dirty="0" smtClean="0"/>
              <a:t>## </a:t>
            </a:r>
            <a:r>
              <a:rPr lang="en-US" sz="1800" dirty="0" err="1" smtClean="0"/>
              <a:t>jq</a:t>
            </a:r>
            <a:r>
              <a:rPr lang="en-US" sz="1800" dirty="0" smtClean="0"/>
              <a:t> is a command-line tool for parsing, querying, transforming, and formatting JSON data.</a:t>
            </a:r>
          </a:p>
          <a:p>
            <a:r>
              <a:rPr lang="en-US" sz="1800" dirty="0" err="1" smtClean="0"/>
              <a:t>choco</a:t>
            </a:r>
            <a:r>
              <a:rPr lang="en-US" sz="1800" dirty="0" smtClean="0"/>
              <a:t> install </a:t>
            </a:r>
            <a:r>
              <a:rPr lang="en-US" sz="1800" dirty="0" err="1" smtClean="0"/>
              <a:t>jq</a:t>
            </a:r>
            <a:r>
              <a:rPr lang="en-US" sz="1800" dirty="0" smtClean="0"/>
              <a:t> -</a:t>
            </a:r>
            <a:r>
              <a:rPr lang="en-US" sz="1800" dirty="0" smtClean="0"/>
              <a:t>y</a:t>
            </a:r>
          </a:p>
          <a:p>
            <a:r>
              <a:rPr lang="en-US" sz="1800" dirty="0" err="1" smtClean="0"/>
              <a:t>jq</a:t>
            </a:r>
            <a:r>
              <a:rPr lang="en-US" sz="1800" dirty="0" smtClean="0"/>
              <a:t> --</a:t>
            </a:r>
            <a:r>
              <a:rPr lang="en-US" sz="1800" dirty="0" smtClean="0"/>
              <a:t>version</a:t>
            </a:r>
          </a:p>
          <a:p>
            <a:r>
              <a:rPr lang="en-US" sz="1800" dirty="0" smtClean="0"/>
              <a:t>## STREAM is not packaged consistently, so build it from </a:t>
            </a:r>
            <a:r>
              <a:rPr lang="en-US" sz="1800" dirty="0" smtClean="0"/>
              <a:t>source.</a:t>
            </a:r>
            <a:endParaRPr lang="en-US" sz="1800" dirty="0" smtClean="0"/>
          </a:p>
          <a:p>
            <a:r>
              <a:rPr lang="en-US" sz="1800" dirty="0" err="1" smtClean="0"/>
              <a:t>git</a:t>
            </a:r>
            <a:r>
              <a:rPr lang="en-US" sz="1800" dirty="0" smtClean="0"/>
              <a:t> clone https://github.com/jeffhammond/STREAM.git</a:t>
            </a:r>
          </a:p>
          <a:p>
            <a:r>
              <a:rPr lang="en-US" sz="1800" dirty="0" err="1" smtClean="0"/>
              <a:t>cd</a:t>
            </a:r>
            <a:r>
              <a:rPr lang="en-US" sz="1800" dirty="0" smtClean="0"/>
              <a:t> </a:t>
            </a:r>
            <a:r>
              <a:rPr lang="en-US" sz="1800" dirty="0" smtClean="0"/>
              <a:t>STREAM</a:t>
            </a:r>
          </a:p>
          <a:p>
            <a:r>
              <a:rPr lang="en-US" sz="1800" b="1" dirty="0" smtClean="0">
                <a:solidFill>
                  <a:srgbClr val="C00000"/>
                </a:solidFill>
              </a:rPr>
              <a:t>clang -O3 </a:t>
            </a:r>
            <a:r>
              <a:rPr lang="en-US" sz="1800" b="1" dirty="0" err="1" smtClean="0">
                <a:solidFill>
                  <a:srgbClr val="C00000"/>
                </a:solidFill>
              </a:rPr>
              <a:t>stream.c</a:t>
            </a:r>
            <a:r>
              <a:rPr lang="en-US" sz="1800" b="1" dirty="0" smtClean="0">
                <a:solidFill>
                  <a:srgbClr val="C00000"/>
                </a:solidFill>
              </a:rPr>
              <a:t> -o </a:t>
            </a:r>
            <a:r>
              <a:rPr lang="en-US" sz="1800" b="1" dirty="0" smtClean="0">
                <a:solidFill>
                  <a:srgbClr val="C00000"/>
                </a:solidFill>
              </a:rPr>
              <a:t>stream (Ask Claude Code to fix build errors without using WSL and download files only to the source folder if necessary)</a:t>
            </a:r>
            <a:endParaRPr lang="en-US" sz="1800" b="1" dirty="0" smtClean="0">
              <a:solidFill>
                <a:srgbClr val="C00000"/>
              </a:solidFill>
            </a:endParaRPr>
          </a:p>
          <a:p>
            <a:r>
              <a:rPr lang="en-US" sz="1800" dirty="0" smtClean="0"/>
              <a:t>.\</a:t>
            </a:r>
            <a:r>
              <a:rPr lang="en-US" sz="1800" dirty="0" smtClean="0"/>
              <a:t>stream.exe</a:t>
            </a:r>
            <a:endParaRPr lang="en-US" sz="1800" dirty="0" smtClean="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Record </a:t>
            </a:r>
            <a:r>
              <a:rPr lang="en-US" dirty="0" err="1" smtClean="0"/>
              <a:t>MacBook</a:t>
            </a:r>
            <a:r>
              <a:rPr lang="en-US" dirty="0" smtClean="0"/>
              <a:t> </a:t>
            </a:r>
            <a:r>
              <a:rPr lang="en-US" dirty="0" smtClean="0"/>
              <a:t>information</a:t>
            </a:r>
            <a:endParaRPr lang="en-US" dirty="0"/>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457200" y="16002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err="1" smtClean="0"/>
              <a:t>system_profiler</a:t>
            </a:r>
            <a:r>
              <a:rPr lang="en-US" dirty="0" smtClean="0"/>
              <a:t> </a:t>
            </a:r>
            <a:r>
              <a:rPr lang="en-US" dirty="0" err="1" smtClean="0"/>
              <a:t>SPHardwareDataType</a:t>
            </a:r>
            <a:r>
              <a:rPr lang="en-US" dirty="0" smtClean="0"/>
              <a:t> &gt; system-info.txt</a:t>
            </a:r>
          </a:p>
          <a:p>
            <a:r>
              <a:rPr lang="en-US" dirty="0" err="1" smtClean="0"/>
              <a:t>system_profiler</a:t>
            </a:r>
            <a:r>
              <a:rPr lang="en-US" dirty="0" smtClean="0"/>
              <a:t> </a:t>
            </a:r>
            <a:r>
              <a:rPr lang="en-US" dirty="0" err="1" smtClean="0"/>
              <a:t>SPMemoryDataType</a:t>
            </a:r>
            <a:r>
              <a:rPr lang="en-US" dirty="0" smtClean="0"/>
              <a:t> &gt; ram-info.txt</a:t>
            </a:r>
          </a:p>
          <a:p>
            <a:r>
              <a:rPr lang="en-US" dirty="0" err="1" smtClean="0"/>
              <a:t>system_profiler</a:t>
            </a:r>
            <a:r>
              <a:rPr lang="en-US" dirty="0" smtClean="0"/>
              <a:t> </a:t>
            </a:r>
            <a:r>
              <a:rPr lang="en-US" dirty="0" err="1" smtClean="0"/>
              <a:t>SPNVMeDataType</a:t>
            </a:r>
            <a:r>
              <a:rPr lang="en-US" dirty="0" smtClean="0"/>
              <a:t> &gt; disk-info.txt</a:t>
            </a:r>
          </a:p>
          <a:p>
            <a:r>
              <a:rPr lang="en-US" dirty="0" err="1" smtClean="0"/>
              <a:t>system_profiler</a:t>
            </a:r>
            <a:r>
              <a:rPr lang="en-US" dirty="0" smtClean="0"/>
              <a:t> </a:t>
            </a:r>
            <a:r>
              <a:rPr lang="en-US" dirty="0" err="1" smtClean="0"/>
              <a:t>SPNetworkDataType</a:t>
            </a:r>
            <a:r>
              <a:rPr lang="en-US" dirty="0" smtClean="0"/>
              <a:t> &gt; network-info.txt</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Install </a:t>
            </a:r>
            <a:r>
              <a:rPr lang="en-US" dirty="0" smtClean="0"/>
              <a:t>the benchmark </a:t>
            </a:r>
            <a:r>
              <a:rPr lang="en-US" dirty="0" smtClean="0"/>
              <a:t>tools (I)</a:t>
            </a:r>
            <a:endParaRPr lang="en-US" dirty="0"/>
          </a:p>
        </p:txBody>
      </p:sp>
      <p:sp>
        <p:nvSpPr>
          <p:cNvPr id="3" name="Content Placeholder 2"/>
          <p:cNvSpPr>
            <a:spLocks noGrp="1"/>
          </p:cNvSpPr>
          <p:nvPr>
            <p:ph idx="1"/>
          </p:nvPr>
        </p:nvSpPr>
        <p:spPr/>
        <p:txBody>
          <a:bodyPr/>
          <a:lstStyle/>
          <a:p>
            <a:r>
              <a:rPr lang="en-US" sz="2000" b="1" dirty="0" smtClean="0"/>
              <a:t># In </a:t>
            </a:r>
            <a:r>
              <a:rPr lang="en-US" sz="2000" b="1" dirty="0" smtClean="0"/>
              <a:t>Terminal on </a:t>
            </a:r>
            <a:r>
              <a:rPr lang="en-US" sz="2000" b="1" dirty="0" err="1" smtClean="0"/>
              <a:t>macOS</a:t>
            </a:r>
            <a:r>
              <a:rPr lang="en-US" sz="2000" b="1" dirty="0" smtClean="0"/>
              <a:t> over </a:t>
            </a:r>
            <a:r>
              <a:rPr lang="en-US" sz="2000" b="1" dirty="0" smtClean="0"/>
              <a:t>SSH:</a:t>
            </a:r>
          </a:p>
          <a:p>
            <a:r>
              <a:rPr lang="en-US" sz="2000" dirty="0" err="1" smtClean="0"/>
              <a:t>git</a:t>
            </a:r>
            <a:r>
              <a:rPr lang="en-US" sz="2000" dirty="0" smtClean="0"/>
              <a:t> </a:t>
            </a:r>
            <a:r>
              <a:rPr lang="en-US" sz="2000" dirty="0" smtClean="0"/>
              <a:t>--</a:t>
            </a:r>
            <a:r>
              <a:rPr lang="en-US" sz="2000" dirty="0" smtClean="0"/>
              <a:t>version</a:t>
            </a:r>
          </a:p>
          <a:p>
            <a:r>
              <a:rPr lang="en-US" sz="2000" dirty="0" smtClean="0"/>
              <a:t>7zz</a:t>
            </a:r>
          </a:p>
          <a:p>
            <a:r>
              <a:rPr lang="en-US" sz="2000" dirty="0" smtClean="0"/>
              <a:t>## </a:t>
            </a:r>
            <a:r>
              <a:rPr lang="en-US" sz="2000" dirty="0" err="1" smtClean="0"/>
              <a:t>fio</a:t>
            </a:r>
            <a:r>
              <a:rPr lang="en-US" sz="2000" dirty="0" smtClean="0"/>
              <a:t> (Flexible I/O Tester) is a command-line tool for benchmarking and stress-testing storage devices by measuring throughput, IOPS, and latency under configurable disk I/O workloads</a:t>
            </a:r>
            <a:r>
              <a:rPr lang="en-US" sz="2000" dirty="0" smtClean="0"/>
              <a:t>.</a:t>
            </a:r>
          </a:p>
          <a:p>
            <a:r>
              <a:rPr lang="en-US" sz="2000" dirty="0" smtClean="0"/>
              <a:t>brew </a:t>
            </a:r>
            <a:r>
              <a:rPr lang="en-US" sz="2000" dirty="0" smtClean="0"/>
              <a:t>install </a:t>
            </a:r>
            <a:r>
              <a:rPr lang="en-US" sz="2000" dirty="0" err="1" smtClean="0"/>
              <a:t>fio</a:t>
            </a:r>
            <a:endParaRPr lang="en-US" sz="2000" dirty="0" smtClean="0"/>
          </a:p>
          <a:p>
            <a:r>
              <a:rPr lang="en-US" sz="2000" dirty="0" err="1" smtClean="0"/>
              <a:t>fio</a:t>
            </a:r>
            <a:r>
              <a:rPr lang="en-US" sz="2000" dirty="0" smtClean="0"/>
              <a:t> --version</a:t>
            </a:r>
            <a:endParaRPr lang="en-US" sz="2000" dirty="0" smtClean="0"/>
          </a:p>
          <a:p>
            <a:r>
              <a:rPr lang="en-US" sz="2000" dirty="0" smtClean="0"/>
              <a:t>## </a:t>
            </a:r>
            <a:r>
              <a:rPr lang="en-US" sz="2000" dirty="0" smtClean="0"/>
              <a:t>iperf3 is a command-line tool for measuring network throughput, jitter, packet loss, and connection quality between two computers.</a:t>
            </a:r>
          </a:p>
          <a:p>
            <a:r>
              <a:rPr lang="en-US" sz="2000" dirty="0" err="1" smtClean="0"/>
              <a:t>choco</a:t>
            </a:r>
            <a:r>
              <a:rPr lang="en-US" sz="2000" dirty="0" smtClean="0"/>
              <a:t> install iperf3 -</a:t>
            </a:r>
            <a:r>
              <a:rPr lang="en-US" sz="2000" dirty="0" smtClean="0"/>
              <a:t>y</a:t>
            </a:r>
          </a:p>
          <a:p>
            <a:r>
              <a:rPr lang="en-US" sz="2000" dirty="0" smtClean="0"/>
              <a:t>iperf3 --</a:t>
            </a:r>
            <a:r>
              <a:rPr lang="en-US" sz="2000" dirty="0" smtClean="0"/>
              <a:t>version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Install </a:t>
            </a:r>
            <a:r>
              <a:rPr lang="en-US" dirty="0" smtClean="0"/>
              <a:t>the benchmark </a:t>
            </a:r>
            <a:r>
              <a:rPr lang="en-US" dirty="0" smtClean="0"/>
              <a:t>tools (II)</a:t>
            </a:r>
            <a:endParaRPr lang="en-US" dirty="0"/>
          </a:p>
        </p:txBody>
      </p:sp>
      <p:sp>
        <p:nvSpPr>
          <p:cNvPr id="3" name="Content Placeholder 2"/>
          <p:cNvSpPr>
            <a:spLocks noGrp="1"/>
          </p:cNvSpPr>
          <p:nvPr>
            <p:ph idx="1"/>
          </p:nvPr>
        </p:nvSpPr>
        <p:spPr/>
        <p:txBody>
          <a:bodyPr/>
          <a:lstStyle/>
          <a:p>
            <a:r>
              <a:rPr lang="en-US" sz="1800" dirty="0" smtClean="0"/>
              <a:t>## </a:t>
            </a:r>
            <a:r>
              <a:rPr lang="en-US" sz="1800" dirty="0" err="1" smtClean="0"/>
              <a:t>jq</a:t>
            </a:r>
            <a:r>
              <a:rPr lang="en-US" sz="1800" dirty="0" smtClean="0"/>
              <a:t> is a command-line tool for parsing, querying, transforming, and formatting JSON data.</a:t>
            </a:r>
          </a:p>
          <a:p>
            <a:r>
              <a:rPr lang="en-US" sz="1800" dirty="0" smtClean="0"/>
              <a:t>brew install </a:t>
            </a:r>
            <a:r>
              <a:rPr lang="en-US" sz="1800" dirty="0" err="1" smtClean="0"/>
              <a:t>jq</a:t>
            </a:r>
            <a:endParaRPr lang="en-US" sz="1800" dirty="0" smtClean="0"/>
          </a:p>
          <a:p>
            <a:r>
              <a:rPr lang="en-US" sz="1800" dirty="0" err="1" smtClean="0"/>
              <a:t>jq</a:t>
            </a:r>
            <a:r>
              <a:rPr lang="en-US" sz="1800" dirty="0" smtClean="0"/>
              <a:t> --version</a:t>
            </a:r>
          </a:p>
          <a:p>
            <a:endParaRPr lang="en-US" sz="1800" dirty="0" smtClean="0"/>
          </a:p>
          <a:p>
            <a:r>
              <a:rPr lang="en-US" sz="1800" b="1" dirty="0" smtClean="0"/>
              <a:t>## </a:t>
            </a:r>
            <a:r>
              <a:rPr lang="en-US" sz="1800" b="1" dirty="0" smtClean="0"/>
              <a:t>STREAM is not packaged consistently, so build it from </a:t>
            </a:r>
            <a:r>
              <a:rPr lang="en-US" sz="1800" b="1" dirty="0" smtClean="0"/>
              <a:t>source.</a:t>
            </a:r>
            <a:endParaRPr lang="en-US" sz="1800" b="1" dirty="0" smtClean="0"/>
          </a:p>
          <a:p>
            <a:r>
              <a:rPr lang="en-US" sz="1800" dirty="0" err="1" smtClean="0"/>
              <a:t>git</a:t>
            </a:r>
            <a:r>
              <a:rPr lang="en-US" sz="1800" dirty="0" smtClean="0"/>
              <a:t> clone https://github.com/jeffhammond/STREAM.git</a:t>
            </a:r>
          </a:p>
          <a:p>
            <a:r>
              <a:rPr lang="en-US" sz="1800" dirty="0" err="1" smtClean="0"/>
              <a:t>cd</a:t>
            </a:r>
            <a:r>
              <a:rPr lang="en-US" sz="1800" dirty="0" smtClean="0"/>
              <a:t> STREAM</a:t>
            </a:r>
          </a:p>
          <a:p>
            <a:r>
              <a:rPr lang="en-US" sz="1800" dirty="0" smtClean="0"/>
              <a:t>clang -O3 </a:t>
            </a:r>
            <a:r>
              <a:rPr lang="en-US" sz="1800" dirty="0" err="1" smtClean="0"/>
              <a:t>stream.c</a:t>
            </a:r>
            <a:r>
              <a:rPr lang="en-US" sz="1800" dirty="0" smtClean="0"/>
              <a:t> -o stream</a:t>
            </a:r>
          </a:p>
          <a:p>
            <a:r>
              <a:rPr lang="en-US" sz="1800" dirty="0" smtClean="0"/>
              <a:t>./stream</a:t>
            </a:r>
          </a:p>
          <a:p>
            <a:endParaRPr lang="en-US" sz="1800" dirty="0" smtClean="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Run </a:t>
            </a:r>
            <a:r>
              <a:rPr lang="en-US" dirty="0" smtClean="0"/>
              <a:t>the CPU benchmark</a:t>
            </a:r>
            <a:endParaRPr lang="en-US" dirty="0"/>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457200" y="1600200"/>
            <a:ext cx="8229600" cy="203132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b="1" dirty="0" smtClean="0"/>
              <a:t># In Windows </a:t>
            </a:r>
            <a:r>
              <a:rPr lang="en-US" b="1" dirty="0" err="1" smtClean="0"/>
              <a:t>PowerShell</a:t>
            </a:r>
            <a:r>
              <a:rPr lang="en-US" b="1" dirty="0" smtClean="0"/>
              <a:t>:</a:t>
            </a:r>
            <a:endParaRPr lang="en-US" dirty="0" smtClean="0"/>
          </a:p>
          <a:p>
            <a:r>
              <a:rPr lang="en-US" dirty="0" smtClean="0"/>
              <a:t>1</a:t>
            </a:r>
            <a:r>
              <a:rPr lang="en-US" dirty="0" smtClean="0"/>
              <a:t>..3 | </a:t>
            </a:r>
            <a:r>
              <a:rPr lang="en-US" dirty="0" err="1" smtClean="0"/>
              <a:t>ForEach</a:t>
            </a:r>
            <a:r>
              <a:rPr lang="en-US" dirty="0" smtClean="0"/>
              <a:t>-Object {</a:t>
            </a:r>
          </a:p>
          <a:p>
            <a:r>
              <a:rPr lang="en-US" dirty="0" smtClean="0"/>
              <a:t>    &amp; "C:\Program Files\7-Zip\7z.exe" b `</a:t>
            </a:r>
          </a:p>
          <a:p>
            <a:r>
              <a:rPr lang="en-US" dirty="0" smtClean="0"/>
              <a:t>        | Tee-Object -</a:t>
            </a:r>
            <a:r>
              <a:rPr lang="en-US" dirty="0" err="1" smtClean="0"/>
              <a:t>FilePath</a:t>
            </a:r>
            <a:r>
              <a:rPr lang="en-US" dirty="0" smtClean="0"/>
              <a:t> "</a:t>
            </a:r>
            <a:r>
              <a:rPr lang="en-US" dirty="0" err="1" smtClean="0"/>
              <a:t>cpu</a:t>
            </a:r>
            <a:r>
              <a:rPr lang="en-US" dirty="0" smtClean="0"/>
              <a:t>-run-$_.txt"</a:t>
            </a:r>
          </a:p>
          <a:p>
            <a:endParaRPr lang="en-US" dirty="0" smtClean="0"/>
          </a:p>
          <a:p>
            <a:r>
              <a:rPr lang="en-US" dirty="0" smtClean="0"/>
              <a:t>    Start-Sleep -Seconds 60</a:t>
            </a:r>
          </a:p>
          <a:p>
            <a:r>
              <a:rPr lang="en-US" dirty="0" smtClean="0"/>
              <a:t>}</a:t>
            </a:r>
            <a:endParaRPr lang="en-US" dirty="0"/>
          </a:p>
        </p:txBody>
      </p:sp>
      <p:sp>
        <p:nvSpPr>
          <p:cNvPr id="6" name="Rectangle 5"/>
          <p:cNvSpPr/>
          <p:nvPr/>
        </p:nvSpPr>
        <p:spPr>
          <a:xfrm>
            <a:off x="457200" y="4038600"/>
            <a:ext cx="8229600" cy="150810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b="1" dirty="0" smtClean="0"/>
              <a:t># In Terminal on </a:t>
            </a:r>
            <a:r>
              <a:rPr lang="en-US" b="1" dirty="0" err="1" smtClean="0"/>
              <a:t>macOS</a:t>
            </a:r>
            <a:r>
              <a:rPr lang="en-US" b="1" dirty="0" smtClean="0"/>
              <a:t> over SSH:</a:t>
            </a:r>
            <a:endParaRPr lang="en-US" dirty="0" smtClean="0"/>
          </a:p>
          <a:p>
            <a:r>
              <a:rPr lang="en-US" dirty="0" smtClean="0"/>
              <a:t>for run in 1 2 3; do</a:t>
            </a:r>
          </a:p>
          <a:p>
            <a:r>
              <a:rPr lang="en-US" dirty="0" smtClean="0"/>
              <a:t>    7zz b | tee "</a:t>
            </a:r>
            <a:r>
              <a:rPr lang="en-US" dirty="0" err="1" smtClean="0"/>
              <a:t>cpu</a:t>
            </a:r>
            <a:r>
              <a:rPr lang="en-US" dirty="0" smtClean="0"/>
              <a:t>-run-$run.txt"</a:t>
            </a:r>
          </a:p>
          <a:p>
            <a:r>
              <a:rPr lang="en-US" dirty="0" smtClean="0"/>
              <a:t>    sleep 60</a:t>
            </a:r>
          </a:p>
          <a:p>
            <a:r>
              <a:rPr lang="en-US" dirty="0" smtClean="0"/>
              <a:t>done</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4000" dirty="0" smtClean="0"/>
              <a:t>8. Interpret </a:t>
            </a:r>
            <a:r>
              <a:rPr lang="en-US" sz="4000" dirty="0" smtClean="0"/>
              <a:t>the CPU </a:t>
            </a:r>
            <a:r>
              <a:rPr lang="en-US" sz="4000" dirty="0" smtClean="0"/>
              <a:t>benchmark results</a:t>
            </a:r>
            <a:endParaRPr lang="en-US" sz="4000" dirty="0"/>
          </a:p>
        </p:txBody>
      </p:sp>
      <p:sp>
        <p:nvSpPr>
          <p:cNvPr id="3" name="Content Placeholder 2"/>
          <p:cNvSpPr>
            <a:spLocks noGrp="1"/>
          </p:cNvSpPr>
          <p:nvPr>
            <p:ph idx="1"/>
          </p:nvPr>
        </p:nvSpPr>
        <p:spPr/>
        <p:txBody>
          <a:bodyPr/>
          <a:lstStyle/>
          <a:p>
            <a:r>
              <a:rPr lang="en-US" sz="2000" dirty="0" smtClean="0"/>
              <a:t>Look near the bottom of each result for:</a:t>
            </a:r>
          </a:p>
          <a:p>
            <a:pPr lvl="1"/>
            <a:r>
              <a:rPr lang="en-US" sz="1800" dirty="0" smtClean="0"/>
              <a:t>Compressing</a:t>
            </a:r>
          </a:p>
          <a:p>
            <a:pPr lvl="1"/>
            <a:r>
              <a:rPr lang="en-US" sz="1800" dirty="0" smtClean="0"/>
              <a:t>Decompressing</a:t>
            </a:r>
          </a:p>
          <a:p>
            <a:pPr lvl="1"/>
            <a:r>
              <a:rPr lang="en-US" sz="1800" dirty="0" smtClean="0"/>
              <a:t>Total Rating</a:t>
            </a:r>
          </a:p>
          <a:p>
            <a:r>
              <a:rPr lang="en-US" sz="2000" dirty="0" smtClean="0"/>
              <a:t>Higher ratings are better.</a:t>
            </a:r>
          </a:p>
          <a:p>
            <a:endParaRPr lang="en-US" sz="2000" dirty="0"/>
          </a:p>
        </p:txBody>
      </p:sp>
      <p:pic>
        <p:nvPicPr>
          <p:cNvPr id="1026" name="Picture 2"/>
          <p:cNvPicPr>
            <a:picLocks noChangeAspect="1" noChangeArrowheads="1"/>
          </p:cNvPicPr>
          <p:nvPr/>
        </p:nvPicPr>
        <p:blipFill>
          <a:blip r:embed="rId2" cstate="print"/>
          <a:srcRect/>
          <a:stretch>
            <a:fillRect/>
          </a:stretch>
        </p:blipFill>
        <p:spPr bwMode="auto">
          <a:xfrm>
            <a:off x="4191000" y="2057400"/>
            <a:ext cx="4451350" cy="2076450"/>
          </a:xfrm>
          <a:prstGeom prst="rect">
            <a:avLst/>
          </a:prstGeom>
          <a:noFill/>
          <a:ln w="9525">
            <a:noFill/>
            <a:miter lim="800000"/>
            <a:headEnd/>
            <a:tailEnd/>
          </a:ln>
        </p:spPr>
      </p:pic>
      <p:pic>
        <p:nvPicPr>
          <p:cNvPr id="1027" name="Picture 3"/>
          <p:cNvPicPr>
            <a:picLocks noChangeAspect="1" noChangeArrowheads="1"/>
          </p:cNvPicPr>
          <p:nvPr/>
        </p:nvPicPr>
        <p:blipFill>
          <a:blip r:embed="rId3" cstate="print"/>
          <a:srcRect/>
          <a:stretch>
            <a:fillRect/>
          </a:stretch>
        </p:blipFill>
        <p:spPr bwMode="auto">
          <a:xfrm>
            <a:off x="1447800" y="4343400"/>
            <a:ext cx="5289550" cy="20478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9. Run </a:t>
            </a:r>
            <a:r>
              <a:rPr lang="en-US" dirty="0" smtClean="0"/>
              <a:t>the </a:t>
            </a:r>
            <a:r>
              <a:rPr lang="en-US" dirty="0" smtClean="0"/>
              <a:t>RAM </a:t>
            </a:r>
            <a:r>
              <a:rPr lang="en-US" dirty="0" smtClean="0"/>
              <a:t>benchmark</a:t>
            </a:r>
            <a:endParaRPr lang="en-US" dirty="0"/>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457200" y="16002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b="1" dirty="0" smtClean="0"/>
              <a:t># In Windows </a:t>
            </a:r>
            <a:r>
              <a:rPr lang="en-US" b="1" dirty="0" err="1" smtClean="0"/>
              <a:t>PowerShell</a:t>
            </a:r>
            <a:r>
              <a:rPr lang="en-US" b="1" dirty="0" smtClean="0"/>
              <a:t>:</a:t>
            </a:r>
            <a:endParaRPr lang="en-US" dirty="0" smtClean="0"/>
          </a:p>
          <a:p>
            <a:r>
              <a:rPr lang="en-US" dirty="0" smtClean="0"/>
              <a:t>.\stream.exe | Tee-Object </a:t>
            </a:r>
            <a:r>
              <a:rPr lang="en-US" dirty="0" smtClean="0"/>
              <a:t>stream-pc-run1.txt</a:t>
            </a:r>
          </a:p>
          <a:p>
            <a:r>
              <a:rPr lang="en-US" dirty="0" smtClean="0"/>
              <a:t>.\stream.exe | Tee-Object </a:t>
            </a:r>
            <a:r>
              <a:rPr lang="en-US" dirty="0" smtClean="0"/>
              <a:t>stream-pc-run2.txt</a:t>
            </a:r>
          </a:p>
          <a:p>
            <a:r>
              <a:rPr lang="en-US" dirty="0" smtClean="0"/>
              <a:t>.\stream.exe | Tee-Object </a:t>
            </a:r>
            <a:r>
              <a:rPr lang="en-US" dirty="0" smtClean="0"/>
              <a:t>stream-pc-run3.txt</a:t>
            </a:r>
            <a:endParaRPr lang="en-US" dirty="0"/>
          </a:p>
        </p:txBody>
      </p:sp>
      <p:sp>
        <p:nvSpPr>
          <p:cNvPr id="6" name="Rectangle 5"/>
          <p:cNvSpPr/>
          <p:nvPr/>
        </p:nvSpPr>
        <p:spPr>
          <a:xfrm>
            <a:off x="457200" y="40386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b="1" dirty="0" smtClean="0"/>
              <a:t># In Terminal on </a:t>
            </a:r>
            <a:r>
              <a:rPr lang="en-US" b="1" dirty="0" err="1" smtClean="0"/>
              <a:t>macOS</a:t>
            </a:r>
            <a:r>
              <a:rPr lang="en-US" b="1" dirty="0" smtClean="0"/>
              <a:t> over SSH:</a:t>
            </a:r>
            <a:endParaRPr lang="en-US" dirty="0" smtClean="0"/>
          </a:p>
          <a:p>
            <a:r>
              <a:rPr lang="en-US" dirty="0" smtClean="0"/>
              <a:t>./stream | tee </a:t>
            </a:r>
            <a:r>
              <a:rPr lang="en-US" dirty="0" smtClean="0"/>
              <a:t>stream-mac-run1.txt</a:t>
            </a:r>
          </a:p>
          <a:p>
            <a:r>
              <a:rPr lang="en-US" dirty="0" smtClean="0"/>
              <a:t>./stream | tee </a:t>
            </a:r>
            <a:r>
              <a:rPr lang="en-US" dirty="0" smtClean="0"/>
              <a:t>stream-mac-run2.txt</a:t>
            </a:r>
          </a:p>
          <a:p>
            <a:r>
              <a:rPr lang="en-US" dirty="0" smtClean="0"/>
              <a:t>./stream | tee </a:t>
            </a:r>
            <a:r>
              <a:rPr lang="en-US" dirty="0" smtClean="0"/>
              <a:t>stream-mac-run3.txt </a:t>
            </a:r>
            <a:endParaRPr lang="en-US" dirty="0" smtClean="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800" dirty="0" smtClean="0"/>
              <a:t>10. Interpret </a:t>
            </a:r>
            <a:r>
              <a:rPr lang="en-US" sz="3800" dirty="0" smtClean="0"/>
              <a:t>the </a:t>
            </a:r>
            <a:r>
              <a:rPr lang="en-US" sz="3800" dirty="0" smtClean="0"/>
              <a:t>RAM benchmark results</a:t>
            </a:r>
            <a:endParaRPr lang="en-US" sz="3800" dirty="0"/>
          </a:p>
        </p:txBody>
      </p:sp>
      <p:sp>
        <p:nvSpPr>
          <p:cNvPr id="3" name="Content Placeholder 2"/>
          <p:cNvSpPr>
            <a:spLocks noGrp="1"/>
          </p:cNvSpPr>
          <p:nvPr>
            <p:ph idx="1"/>
          </p:nvPr>
        </p:nvSpPr>
        <p:spPr/>
        <p:txBody>
          <a:bodyPr/>
          <a:lstStyle/>
          <a:p>
            <a:r>
              <a:rPr lang="en-US" sz="1600" b="1" dirty="0" smtClean="0"/>
              <a:t>Copy</a:t>
            </a:r>
            <a:r>
              <a:rPr lang="en-US" sz="1600" dirty="0" smtClean="0"/>
              <a:t>: memory copy bandwidth </a:t>
            </a:r>
          </a:p>
          <a:p>
            <a:r>
              <a:rPr lang="en-US" sz="1600" b="1" dirty="0" smtClean="0"/>
              <a:t>Scale</a:t>
            </a:r>
            <a:r>
              <a:rPr lang="en-US" sz="1600" dirty="0" smtClean="0"/>
              <a:t>: read, multiply, and write </a:t>
            </a:r>
          </a:p>
          <a:p>
            <a:r>
              <a:rPr lang="en-US" sz="1600" b="1" dirty="0" smtClean="0"/>
              <a:t>Add</a:t>
            </a:r>
            <a:r>
              <a:rPr lang="en-US" sz="1600" dirty="0" smtClean="0"/>
              <a:t>: two reads and one write </a:t>
            </a:r>
          </a:p>
          <a:p>
            <a:r>
              <a:rPr lang="en-US" sz="1600" b="1" dirty="0" smtClean="0"/>
              <a:t>Triad</a:t>
            </a:r>
            <a:r>
              <a:rPr lang="en-US" sz="1600" dirty="0" smtClean="0"/>
              <a:t>: two reads, one multiply, one add, and one write (the most representative overall</a:t>
            </a:r>
            <a:r>
              <a:rPr lang="en-US" sz="1600" dirty="0" smtClean="0"/>
              <a:t>)</a:t>
            </a:r>
          </a:p>
          <a:p>
            <a:r>
              <a:rPr lang="en-US" sz="1600" dirty="0" smtClean="0"/>
              <a:t>Use </a:t>
            </a:r>
            <a:r>
              <a:rPr lang="en-US" sz="1600" b="1" dirty="0" smtClean="0"/>
              <a:t>Triad</a:t>
            </a:r>
            <a:r>
              <a:rPr lang="en-US" sz="1600" dirty="0" smtClean="0"/>
              <a:t> as the primary comparison.</a:t>
            </a:r>
          </a:p>
          <a:p>
            <a:r>
              <a:rPr lang="en-US" sz="1600" dirty="0" smtClean="0"/>
              <a:t>STREAM developers recommend </a:t>
            </a:r>
            <a:r>
              <a:rPr lang="en-US" sz="1600" b="1" dirty="0" smtClean="0"/>
              <a:t>Triad</a:t>
            </a:r>
            <a:r>
              <a:rPr lang="en-US" sz="1600" dirty="0" smtClean="0"/>
              <a:t> because it represents a realistic memory-intensive workload involving both reads and writes. The other operations provide additional context:</a:t>
            </a:r>
          </a:p>
          <a:p>
            <a:r>
              <a:rPr lang="en-US" sz="1600" dirty="0" smtClean="0"/>
              <a:t>Upload the result files and ask </a:t>
            </a:r>
            <a:r>
              <a:rPr lang="en-US" sz="1600" dirty="0" err="1" smtClean="0"/>
              <a:t>ChatGPT</a:t>
            </a:r>
            <a:r>
              <a:rPr lang="en-US" sz="1600" dirty="0" smtClean="0"/>
              <a:t> to </a:t>
            </a:r>
            <a:r>
              <a:rPr lang="en-US" sz="1600" dirty="0" err="1" smtClean="0"/>
              <a:t>calaculte</a:t>
            </a:r>
            <a:r>
              <a:rPr lang="en-US" sz="1600" dirty="0" smtClean="0"/>
              <a:t> and compare RAM benchmark results.</a:t>
            </a:r>
            <a:endParaRPr lang="en-US" sz="1600" dirty="0"/>
          </a:p>
        </p:txBody>
      </p:sp>
      <p:pic>
        <p:nvPicPr>
          <p:cNvPr id="2050" name="Picture 2"/>
          <p:cNvPicPr>
            <a:picLocks noChangeAspect="1" noChangeArrowheads="1"/>
          </p:cNvPicPr>
          <p:nvPr/>
        </p:nvPicPr>
        <p:blipFill>
          <a:blip r:embed="rId2" cstate="print"/>
          <a:srcRect/>
          <a:stretch>
            <a:fillRect/>
          </a:stretch>
        </p:blipFill>
        <p:spPr bwMode="auto">
          <a:xfrm>
            <a:off x="2286000" y="4152900"/>
            <a:ext cx="4594225" cy="876300"/>
          </a:xfrm>
          <a:prstGeom prst="rect">
            <a:avLst/>
          </a:prstGeom>
          <a:noFill/>
          <a:ln w="9525">
            <a:noFill/>
            <a:miter lim="800000"/>
            <a:headEnd/>
            <a:tailEnd/>
          </a:ln>
        </p:spPr>
      </p:pic>
      <p:pic>
        <p:nvPicPr>
          <p:cNvPr id="2051" name="Picture 3"/>
          <p:cNvPicPr>
            <a:picLocks noChangeAspect="1" noChangeArrowheads="1"/>
          </p:cNvPicPr>
          <p:nvPr/>
        </p:nvPicPr>
        <p:blipFill>
          <a:blip r:embed="rId3" cstate="print"/>
          <a:srcRect/>
          <a:stretch>
            <a:fillRect/>
          </a:stretch>
        </p:blipFill>
        <p:spPr bwMode="auto">
          <a:xfrm>
            <a:off x="2209800" y="5410200"/>
            <a:ext cx="4787900" cy="727075"/>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Performance</a:t>
            </a:r>
            <a:endParaRPr lang="en-US" dirty="0"/>
          </a:p>
        </p:txBody>
      </p:sp>
      <p:sp>
        <p:nvSpPr>
          <p:cNvPr id="3" name="Content Placeholder 2"/>
          <p:cNvSpPr>
            <a:spLocks noGrp="1"/>
          </p:cNvSpPr>
          <p:nvPr>
            <p:ph idx="1"/>
          </p:nvPr>
        </p:nvSpPr>
        <p:spPr/>
        <p:txBody>
          <a:bodyPr/>
          <a:lstStyle/>
          <a:p>
            <a:r>
              <a:rPr lang="en-US" sz="2200" dirty="0" smtClean="0">
                <a:hlinkClick r:id="rId2"/>
              </a:rPr>
              <a:t>https://developer.android.com/studio/profile</a:t>
            </a:r>
            <a:endParaRPr lang="en-US" sz="2200" dirty="0" smtClean="0"/>
          </a:p>
          <a:p>
            <a:r>
              <a:rPr lang="en-US" sz="2200" dirty="0" smtClean="0">
                <a:hlinkClick r:id="rId3"/>
              </a:rPr>
              <a:t>https://developer.apple.com/videos/play/wwdc2019/411/</a:t>
            </a:r>
            <a:endParaRPr lang="en-US" sz="2200" dirty="0" smtClean="0"/>
          </a:p>
          <a:p>
            <a:r>
              <a:rPr lang="en-US" sz="2200" dirty="0" smtClean="0">
                <a:hlinkClick r:id="rId4"/>
              </a:rPr>
              <a:t>https://locust.io/</a:t>
            </a:r>
            <a:endParaRPr lang="en-US" sz="2200" dirty="0" smtClean="0"/>
          </a:p>
          <a:p>
            <a:r>
              <a:rPr lang="en-US" sz="2200" dirty="0" smtClean="0">
                <a:hlinkClick r:id="rId5"/>
              </a:rPr>
              <a:t>https://k6.io/</a:t>
            </a:r>
            <a:endParaRPr lang="en-US" sz="2200" dirty="0" smtClean="0"/>
          </a:p>
          <a:p>
            <a:r>
              <a:rPr lang="en-US" sz="2200" dirty="0" smtClean="0">
                <a:hlinkClick r:id="rId6"/>
              </a:rPr>
              <a:t>https://grafana.com/pricing/?src=k6io#k6-performance-testing</a:t>
            </a:r>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7" cstate="print"/>
          <a:srcRect/>
          <a:stretch>
            <a:fillRect/>
          </a:stretch>
        </p:blipFill>
        <p:spPr bwMode="auto">
          <a:xfrm>
            <a:off x="2667000" y="4038600"/>
            <a:ext cx="3631174" cy="2045030"/>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 Testing</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p>
          <a:p>
            <a:r>
              <a:rPr lang="en-US" sz="2200" dirty="0" smtClean="0">
                <a:hlinkClick r:id="rId2"/>
              </a:rPr>
              <a:t>https://www.acunetix.com/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10653</TotalTime>
  <Words>2935</Words>
  <Application>Microsoft Office PowerPoint</Application>
  <PresentationFormat>On-screen Show (4:3)</PresentationFormat>
  <Paragraphs>337</Paragraphs>
  <Slides>65</Slides>
  <Notes>0</Notes>
  <HiddenSlides>0</HiddenSlides>
  <MMClips>0</MMClips>
  <ScaleCrop>false</ScaleCrop>
  <HeadingPairs>
    <vt:vector size="4" baseType="variant">
      <vt:variant>
        <vt:lpstr>Theme</vt:lpstr>
      </vt:variant>
      <vt:variant>
        <vt:i4>1</vt:i4>
      </vt:variant>
      <vt:variant>
        <vt:lpstr>Slide Titles</vt:lpstr>
      </vt:variant>
      <vt:variant>
        <vt:i4>65</vt:i4>
      </vt:variant>
    </vt:vector>
  </HeadingPairs>
  <TitlesOfParts>
    <vt:vector size="6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1. Record PC information</vt:lpstr>
      <vt:lpstr>2. Install the benchmark tools (I)</vt:lpstr>
      <vt:lpstr>3. Install the benchmark tools (II)</vt:lpstr>
      <vt:lpstr>4. Record MacBook information</vt:lpstr>
      <vt:lpstr>5. Install the benchmark tools (I)</vt:lpstr>
      <vt:lpstr>6. Install the benchmark tools (II)</vt:lpstr>
      <vt:lpstr>7. Run the CPU benchmark</vt:lpstr>
      <vt:lpstr>8. Interpret the CPU benchmark results</vt:lpstr>
      <vt:lpstr>9. Run the RAM benchmark</vt:lpstr>
      <vt:lpstr>10. Interpret the RAM benchmark results</vt:lpstr>
      <vt:lpstr>Example Quality Attribute: Modifiability</vt:lpstr>
      <vt:lpstr>Why Use Attribute Characterizations?</vt:lpstr>
      <vt:lpstr>Slide 27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Testing Availability</vt:lpstr>
      <vt:lpstr>Slide 38</vt:lpstr>
      <vt:lpstr>Performance Scenario</vt:lpstr>
      <vt:lpstr>Tactics for Performance</vt:lpstr>
      <vt:lpstr>Tools for Testing Performance</vt:lpstr>
      <vt:lpstr>Slide 42</vt:lpstr>
      <vt:lpstr>Security Concepts (I)</vt:lpstr>
      <vt:lpstr>Security Concepts (II)</vt:lpstr>
      <vt:lpstr>Security Scenario</vt:lpstr>
      <vt:lpstr>Tactics for Security</vt:lpstr>
      <vt:lpstr>Tools for Security Testing</vt:lpstr>
      <vt:lpstr>Slide 48</vt:lpstr>
      <vt:lpstr>Modifiability Scenario</vt:lpstr>
      <vt:lpstr>Tactics for Modifiability</vt:lpstr>
      <vt:lpstr>Slide 51</vt:lpstr>
      <vt:lpstr>Testability Scenario</vt:lpstr>
      <vt:lpstr>Tactics for Testability</vt:lpstr>
      <vt:lpstr>Slide 54</vt:lpstr>
      <vt:lpstr>Deployability Scenario</vt:lpstr>
      <vt:lpstr>Tactics for Deployability</vt:lpstr>
      <vt:lpstr>Slide 57</vt:lpstr>
      <vt:lpstr>Usability</vt:lpstr>
      <vt:lpstr>Tactics for Usability</vt:lpstr>
      <vt:lpstr>Maintain Task Model</vt:lpstr>
      <vt:lpstr>Maintain User Model</vt:lpstr>
      <vt:lpstr>Maintain System Model</vt:lpstr>
      <vt:lpstr>Slide 63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3842</cp:revision>
  <dcterms:created xsi:type="dcterms:W3CDTF">2007-10-06T08:25:13Z</dcterms:created>
  <dcterms:modified xsi:type="dcterms:W3CDTF">2026-07-12T17:05:38Z</dcterms:modified>
</cp:coreProperties>
</file>