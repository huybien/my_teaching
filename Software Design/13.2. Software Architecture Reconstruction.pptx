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2"/>
  </p:notesMasterIdLst>
  <p:handoutMasterIdLst>
    <p:handoutMasterId r:id="rId13"/>
  </p:handoutMasterIdLst>
  <p:sldIdLst>
    <p:sldId id="256" r:id="rId2"/>
    <p:sldId id="480" r:id="rId3"/>
    <p:sldId id="713" r:id="rId4"/>
    <p:sldId id="712" r:id="rId5"/>
    <p:sldId id="822" r:id="rId6"/>
    <p:sldId id="823" r:id="rId7"/>
    <p:sldId id="824" r:id="rId8"/>
    <p:sldId id="821" r:id="rId9"/>
    <p:sldId id="812" r:id="rId10"/>
    <p:sldId id="359" r:id="rId1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8" autoAdjust="0"/>
    <p:restoredTop sz="94667" autoAdjust="0"/>
  </p:normalViewPr>
  <p:slideViewPr>
    <p:cSldViewPr>
      <p:cViewPr>
        <p:scale>
          <a:sx n="50" d="100"/>
          <a:sy n="50" d="100"/>
        </p:scale>
        <p:origin x="-1602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B5CE0D-E8F9-4F17-B1ED-147CA73C5D15}" type="datetimeFigureOut">
              <a:rPr lang="en-US" smtClean="0"/>
              <a:pPr/>
              <a:t>5/19/2026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071A1A-C7CB-4206-B7C5-2991EE43889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4026E6-0412-4830-8F06-DF45033103D5}" type="datetimeFigureOut">
              <a:rPr lang="en-US" smtClean="0"/>
              <a:pPr/>
              <a:t>5/19/2026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21BAC6-1780-4248-A045-EEDC4FD7C3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F1E381-20DA-4745-B537-35B514BA6DD7}" type="datetimeFigureOut">
              <a:rPr lang="en-US"/>
              <a:pPr>
                <a:defRPr/>
              </a:pPr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4EF19F-72C6-4835-B8F9-C4043AB145C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56C9F8-4ECB-4B63-B927-93DB51F662D0}" type="datetimeFigureOut">
              <a:rPr lang="en-US"/>
              <a:pPr>
                <a:defRPr/>
              </a:pPr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E5146C-45A3-4063-B945-A6E828CB1A7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20DA55-A2EA-4E91-9DF8-848564DA5A8C}" type="datetimeFigureOut">
              <a:rPr lang="en-US"/>
              <a:pPr>
                <a:defRPr/>
              </a:pPr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02FCE2-22A4-4D22-98FA-0E266C50229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2FE22C-AAA6-4859-915C-7CA8A229741E}" type="datetimeFigureOut">
              <a:rPr lang="en-US"/>
              <a:pPr>
                <a:defRPr/>
              </a:pPr>
              <a:t>5/19/2026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4E97B5-865B-4943-9516-8680CA16C72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B4DA2C-F6C4-40D9-95C2-7E16780900E4}" type="datetimeFigureOut">
              <a:rPr lang="en-US"/>
              <a:pPr>
                <a:defRPr/>
              </a:pPr>
              <a:t>5/19/2026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9A6762-FCC9-4A4D-B55E-A9AEAC8C426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02FA20-63C4-4E2F-BBAB-9D9ECDF79A55}" type="datetimeFigureOut">
              <a:rPr lang="en-US"/>
              <a:pPr>
                <a:defRPr/>
              </a:pPr>
              <a:t>5/19/2026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571E3C-6E5C-4814-A904-273FE3A958C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E24579-F551-4401-BD9C-1A956A73C8B1}" type="datetimeFigureOut">
              <a:rPr lang="en-US"/>
              <a:pPr>
                <a:defRPr/>
              </a:pPr>
              <a:t>5/19/2026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24CBAC-259E-4BF8-ACF6-FAB2C68750F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4B6935-2E86-4F35-979C-26D8DA31E11B}" type="datetimeFigureOut">
              <a:rPr lang="en-US"/>
              <a:pPr>
                <a:defRPr/>
              </a:pPr>
              <a:t>5/19/2026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49D8DE-4736-4786-A76F-BA4BFA66C35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4642AA-84FD-46EB-91FE-F301FD1B086D}" type="datetimeFigureOut">
              <a:rPr lang="en-US"/>
              <a:pPr>
                <a:defRPr/>
              </a:pPr>
              <a:t>5/19/2026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E0BD26-494C-4707-B45F-1E41DB7E206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7AB78B-B950-4223-B948-C26A4E4BFB92}" type="datetimeFigureOut">
              <a:rPr lang="en-US"/>
              <a:pPr>
                <a:defRPr/>
              </a:pPr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435AB7-6027-4C00-A9DE-A82D1F9B718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E790DE-6227-4769-B4D1-A285E0E78CE4}" type="datetimeFigureOut">
              <a:rPr lang="en-US"/>
              <a:pPr>
                <a:defRPr/>
              </a:pPr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58F97A-8135-4157-8FDD-A5EB0FEF56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C44B157-FED2-4AB7-A096-BDB0B5D2F088}" type="datetimeFigureOut">
              <a:rPr lang="en-US"/>
              <a:pPr>
                <a:defRPr/>
              </a:pPr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BD64C92-C51E-4B83-930E-D172469398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sz="6000" dirty="0" smtClean="0"/>
              <a:t>Software Architecture Reconstruction</a:t>
            </a:r>
            <a:endParaRPr lang="en-US" sz="6000" dirty="0" smtClean="0"/>
          </a:p>
        </p:txBody>
      </p:sp>
      <p:sp>
        <p:nvSpPr>
          <p:cNvPr id="5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29350" y="260985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19800" cy="4648200"/>
          </a:xfrm>
        </p:spPr>
        <p:txBody>
          <a:bodyPr/>
          <a:lstStyle/>
          <a:p>
            <a:pPr marL="457200" indent="-457200">
              <a:buFont typeface="Wingdings" pitchFamily="2" charset="2"/>
              <a:buChar char="Ø"/>
            </a:pPr>
            <a:endParaRPr lang="en-US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5626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457200" lvl="0" indent="-457200">
              <a:buFont typeface="+mj-lt"/>
              <a:buAutoNum type="arabicPeriod"/>
            </a:pPr>
            <a:endParaRPr lang="en-US" sz="1800" dirty="0" smtClean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781800" y="2286000"/>
            <a:ext cx="1997710" cy="303149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Software Architecture Reconstruction?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Architecture conformance </a:t>
            </a:r>
            <a:r>
              <a:rPr lang="en-US" dirty="0" smtClean="0"/>
              <a:t>analysis.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Software </a:t>
            </a:r>
            <a:r>
              <a:rPr lang="en-US" dirty="0" smtClean="0"/>
              <a:t>Architecture Recovery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Software architecture recovery can be divided into two </a:t>
            </a:r>
            <a:r>
              <a:rPr lang="en-US" i="1" dirty="0" smtClean="0">
                <a:solidFill>
                  <a:srgbClr val="C00000"/>
                </a:solidFill>
              </a:rPr>
              <a:t>phases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identification and extraction of </a:t>
            </a:r>
            <a:r>
              <a:rPr lang="en-US" i="1" dirty="0" smtClean="0">
                <a:solidFill>
                  <a:srgbClr val="C00000"/>
                </a:solidFill>
              </a:rPr>
              <a:t>source code artifacts</a:t>
            </a:r>
            <a:r>
              <a:rPr lang="en-US" dirty="0" smtClean="0"/>
              <a:t>, including </a:t>
            </a:r>
            <a:r>
              <a:rPr lang="en-US" dirty="0" smtClean="0"/>
              <a:t>the architectural </a:t>
            </a:r>
            <a:r>
              <a:rPr lang="en-US" dirty="0" smtClean="0"/>
              <a:t>elements; </a:t>
            </a:r>
            <a:r>
              <a:rPr lang="en-US" dirty="0" smtClean="0"/>
              <a:t>and</a:t>
            </a:r>
          </a:p>
          <a:p>
            <a:pPr lvl="1"/>
            <a:r>
              <a:rPr lang="en-US" dirty="0" smtClean="0"/>
              <a:t>analysis of the extracted source artifacts to derive a </a:t>
            </a:r>
            <a:r>
              <a:rPr lang="en-US" i="1" dirty="0" smtClean="0">
                <a:solidFill>
                  <a:srgbClr val="C00000"/>
                </a:solidFill>
              </a:rPr>
              <a:t>view</a:t>
            </a:r>
            <a:r>
              <a:rPr lang="en-US" dirty="0" smtClean="0"/>
              <a:t> of </a:t>
            </a:r>
            <a:r>
              <a:rPr lang="en-US" dirty="0" smtClean="0"/>
              <a:t>the implemented </a:t>
            </a:r>
            <a:r>
              <a:rPr lang="en-US" dirty="0" smtClean="0"/>
              <a:t>architecture</a:t>
            </a:r>
            <a:r>
              <a:rPr lang="en-US" dirty="0" smtClean="0"/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Source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dirty="0" smtClean="0"/>
              <a:t>extracted source artifacts </a:t>
            </a:r>
            <a:r>
              <a:rPr lang="en-US" dirty="0" smtClean="0"/>
              <a:t>form a </a:t>
            </a:r>
            <a:r>
              <a:rPr lang="en-US" i="1" dirty="0" smtClean="0">
                <a:solidFill>
                  <a:srgbClr val="C00000"/>
                </a:solidFill>
              </a:rPr>
              <a:t>source model</a:t>
            </a:r>
            <a:r>
              <a:rPr lang="en-US" dirty="0" smtClean="0"/>
              <a:t>, which comprises </a:t>
            </a:r>
            <a:endParaRPr lang="en-US" dirty="0" smtClean="0"/>
          </a:p>
          <a:p>
            <a:pPr lvl="1"/>
            <a:r>
              <a:rPr lang="en-US" sz="2400" dirty="0" smtClean="0"/>
              <a:t>a collection </a:t>
            </a:r>
            <a:r>
              <a:rPr lang="en-US" sz="2400" dirty="0" smtClean="0"/>
              <a:t>of </a:t>
            </a:r>
            <a:r>
              <a:rPr lang="en-US" sz="2400" i="1" dirty="0" smtClean="0">
                <a:solidFill>
                  <a:srgbClr val="C00000"/>
                </a:solidFill>
              </a:rPr>
              <a:t>elements</a:t>
            </a:r>
            <a:r>
              <a:rPr lang="en-US" sz="2400" dirty="0" smtClean="0"/>
              <a:t> (e.g., functions, files, variables, objects, etc.), </a:t>
            </a:r>
            <a:endParaRPr lang="en-US" sz="2400" dirty="0" smtClean="0"/>
          </a:p>
          <a:p>
            <a:pPr lvl="1"/>
            <a:r>
              <a:rPr lang="en-US" sz="2400" dirty="0" smtClean="0"/>
              <a:t>a </a:t>
            </a:r>
            <a:r>
              <a:rPr lang="en-US" sz="2400" dirty="0" smtClean="0"/>
              <a:t>set </a:t>
            </a:r>
            <a:r>
              <a:rPr lang="en-US" sz="2400" dirty="0" smtClean="0"/>
              <a:t>of </a:t>
            </a:r>
            <a:r>
              <a:rPr lang="en-US" sz="2400" i="1" dirty="0" smtClean="0">
                <a:solidFill>
                  <a:srgbClr val="C00000"/>
                </a:solidFill>
              </a:rPr>
              <a:t>relations</a:t>
            </a:r>
            <a:r>
              <a:rPr lang="en-US" sz="2400" dirty="0" smtClean="0"/>
              <a:t> </a:t>
            </a:r>
            <a:r>
              <a:rPr lang="en-US" sz="2400" dirty="0" smtClean="0"/>
              <a:t>between the elements (e.g., ‘‘function calls function’’, ‘‘object </a:t>
            </a:r>
            <a:r>
              <a:rPr lang="en-US" sz="2400" dirty="0" smtClean="0"/>
              <a:t>A has </a:t>
            </a:r>
            <a:r>
              <a:rPr lang="en-US" sz="2400" dirty="0" smtClean="0"/>
              <a:t>an instance’’) and </a:t>
            </a:r>
            <a:endParaRPr lang="en-US" sz="2400" dirty="0" smtClean="0"/>
          </a:p>
          <a:p>
            <a:pPr lvl="1"/>
            <a:r>
              <a:rPr lang="en-US" sz="2400" dirty="0" smtClean="0"/>
              <a:t>a </a:t>
            </a:r>
            <a:r>
              <a:rPr lang="en-US" sz="2400" dirty="0" smtClean="0"/>
              <a:t>set </a:t>
            </a:r>
            <a:r>
              <a:rPr lang="en-US" sz="2400" dirty="0" smtClean="0"/>
              <a:t>of </a:t>
            </a:r>
            <a:r>
              <a:rPr lang="en-US" sz="2400" i="1" dirty="0" smtClean="0">
                <a:solidFill>
                  <a:srgbClr val="C00000"/>
                </a:solidFill>
              </a:rPr>
              <a:t>attributes</a:t>
            </a:r>
            <a:r>
              <a:rPr lang="en-US" sz="2400" dirty="0" smtClean="0"/>
              <a:t> </a:t>
            </a:r>
            <a:r>
              <a:rPr lang="en-US" sz="2400" dirty="0" smtClean="0"/>
              <a:t>of these elements and relations (e.g</a:t>
            </a:r>
            <a:r>
              <a:rPr lang="en-US" sz="2400" dirty="0" smtClean="0"/>
              <a:t>., ‘‘</a:t>
            </a:r>
            <a:r>
              <a:rPr lang="en-US" sz="2400" dirty="0" smtClean="0"/>
              <a:t>function calls function N times’’), to represent the </a:t>
            </a:r>
            <a:r>
              <a:rPr lang="en-US" sz="2400" dirty="0" smtClean="0"/>
              <a:t>system.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Architecture Recovery Method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At </a:t>
            </a:r>
            <a:r>
              <a:rPr lang="en-US" sz="2400" dirty="0" smtClean="0"/>
              <a:t>the source file and module </a:t>
            </a:r>
            <a:r>
              <a:rPr lang="en-US" sz="2400" dirty="0" smtClean="0"/>
              <a:t>levels: </a:t>
            </a:r>
            <a:r>
              <a:rPr lang="en-US" sz="2400" dirty="0" smtClean="0"/>
              <a:t>the </a:t>
            </a:r>
            <a:r>
              <a:rPr lang="en-US" sz="2400" i="1" dirty="0" smtClean="0">
                <a:solidFill>
                  <a:srgbClr val="C00000"/>
                </a:solidFill>
              </a:rPr>
              <a:t>software’s call-graph</a:t>
            </a:r>
            <a:r>
              <a:rPr lang="en-US" sz="2400" dirty="0" smtClean="0"/>
              <a:t> is extracted from source </a:t>
            </a:r>
            <a:r>
              <a:rPr lang="en-US" sz="2400" dirty="0" smtClean="0"/>
              <a:t>code.</a:t>
            </a:r>
          </a:p>
          <a:p>
            <a:r>
              <a:rPr lang="en-US" sz="2400" dirty="0" smtClean="0"/>
              <a:t>Automated tools and frameworks can be used to extract and reason </a:t>
            </a:r>
            <a:r>
              <a:rPr lang="en-US" sz="2400" dirty="0" smtClean="0"/>
              <a:t>about code-level </a:t>
            </a:r>
            <a:r>
              <a:rPr lang="en-US" sz="2400" dirty="0" smtClean="0"/>
              <a:t>facts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However</a:t>
            </a:r>
            <a:r>
              <a:rPr lang="en-US" sz="2400" dirty="0" smtClean="0"/>
              <a:t>, </a:t>
            </a:r>
            <a:r>
              <a:rPr lang="en-US" sz="2400" i="1" dirty="0" smtClean="0">
                <a:solidFill>
                  <a:srgbClr val="C00000"/>
                </a:solidFill>
              </a:rPr>
              <a:t>human input</a:t>
            </a:r>
            <a:r>
              <a:rPr lang="en-US" sz="2400" dirty="0" smtClean="0"/>
              <a:t> is needed to extract and infer </a:t>
            </a:r>
            <a:r>
              <a:rPr lang="en-US" sz="2400" dirty="0" smtClean="0"/>
              <a:t>facts about </a:t>
            </a:r>
            <a:r>
              <a:rPr lang="en-US" sz="2400" u="sng" dirty="0" smtClean="0"/>
              <a:t>higher-level </a:t>
            </a:r>
            <a:r>
              <a:rPr lang="en-US" sz="2400" u="sng" dirty="0" smtClean="0"/>
              <a:t>abstractions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An </a:t>
            </a:r>
            <a:r>
              <a:rPr lang="en-US" sz="2400" i="1" dirty="0" smtClean="0">
                <a:solidFill>
                  <a:srgbClr val="C00000"/>
                </a:solidFill>
              </a:rPr>
              <a:t>architecture recovery </a:t>
            </a:r>
            <a:r>
              <a:rPr lang="en-US" sz="2400" i="1" dirty="0" smtClean="0">
                <a:solidFill>
                  <a:srgbClr val="C00000"/>
                </a:solidFill>
              </a:rPr>
              <a:t>method</a:t>
            </a:r>
            <a:r>
              <a:rPr lang="en-US" sz="2400" dirty="0" smtClean="0"/>
              <a:t> defines a series of steps, and the pre/post conditions </a:t>
            </a:r>
            <a:r>
              <a:rPr lang="en-US" sz="2400" dirty="0" smtClean="0"/>
              <a:t>for each </a:t>
            </a:r>
            <a:r>
              <a:rPr lang="en-US" sz="2400" dirty="0" smtClean="0"/>
              <a:t>step, to guide an analyst in systematically applying existing </a:t>
            </a:r>
            <a:r>
              <a:rPr lang="en-US" sz="2400" dirty="0" smtClean="0"/>
              <a:t>reverse engineering </a:t>
            </a:r>
            <a:r>
              <a:rPr lang="en-US" sz="2400" dirty="0" smtClean="0"/>
              <a:t>tools to recover a system’s architecture.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You Again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11788</TotalTime>
  <Words>249</Words>
  <Application>Microsoft Office PowerPoint</Application>
  <PresentationFormat>On-screen Show (4:3)</PresentationFormat>
  <Paragraphs>27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Software Architecture Reconstruction</vt:lpstr>
      <vt:lpstr>Objectives</vt:lpstr>
      <vt:lpstr>Contents</vt:lpstr>
      <vt:lpstr>References</vt:lpstr>
      <vt:lpstr>Why Software Architecture Reconstruction?</vt:lpstr>
      <vt:lpstr>Software Architecture Recovery</vt:lpstr>
      <vt:lpstr>Source Model</vt:lpstr>
      <vt:lpstr>Architecture Recovery Method</vt:lpstr>
      <vt:lpstr>Slide 9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4818</cp:revision>
  <dcterms:created xsi:type="dcterms:W3CDTF">2007-10-06T08:25:13Z</dcterms:created>
  <dcterms:modified xsi:type="dcterms:W3CDTF">2026-05-19T17:18:15Z</dcterms:modified>
</cp:coreProperties>
</file>