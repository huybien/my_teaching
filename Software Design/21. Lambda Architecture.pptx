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6"/>
  </p:notesMasterIdLst>
  <p:sldIdLst>
    <p:sldId id="256" r:id="rId2"/>
    <p:sldId id="477" r:id="rId3"/>
    <p:sldId id="607" r:id="rId4"/>
    <p:sldId id="478" r:id="rId5"/>
    <p:sldId id="608" r:id="rId6"/>
    <p:sldId id="609" r:id="rId7"/>
    <p:sldId id="610" r:id="rId8"/>
    <p:sldId id="611" r:id="rId9"/>
    <p:sldId id="612" r:id="rId10"/>
    <p:sldId id="613" r:id="rId11"/>
    <p:sldId id="614" r:id="rId12"/>
    <p:sldId id="616" r:id="rId13"/>
    <p:sldId id="617" r:id="rId14"/>
    <p:sldId id="618" r:id="rId15"/>
    <p:sldId id="619" r:id="rId16"/>
    <p:sldId id="620" r:id="rId17"/>
    <p:sldId id="623" r:id="rId18"/>
    <p:sldId id="622" r:id="rId19"/>
    <p:sldId id="628" r:id="rId20"/>
    <p:sldId id="630" r:id="rId21"/>
    <p:sldId id="631" r:id="rId22"/>
    <p:sldId id="633" r:id="rId23"/>
    <p:sldId id="634" r:id="rId24"/>
    <p:sldId id="635" r:id="rId25"/>
    <p:sldId id="636" r:id="rId26"/>
    <p:sldId id="638" r:id="rId27"/>
    <p:sldId id="639" r:id="rId28"/>
    <p:sldId id="640" r:id="rId29"/>
    <p:sldId id="641" r:id="rId30"/>
    <p:sldId id="642" r:id="rId31"/>
    <p:sldId id="629" r:id="rId32"/>
    <p:sldId id="637" r:id="rId33"/>
    <p:sldId id="643" r:id="rId34"/>
    <p:sldId id="644" r:id="rId35"/>
    <p:sldId id="627" r:id="rId36"/>
    <p:sldId id="621" r:id="rId37"/>
    <p:sldId id="626" r:id="rId38"/>
    <p:sldId id="625" r:id="rId39"/>
    <p:sldId id="645" r:id="rId40"/>
    <p:sldId id="647" r:id="rId41"/>
    <p:sldId id="646" r:id="rId42"/>
    <p:sldId id="648" r:id="rId43"/>
    <p:sldId id="649" r:id="rId44"/>
    <p:sldId id="343" r:id="rId4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06" autoAdjust="0"/>
    <p:restoredTop sz="94667" autoAdjust="0"/>
  </p:normalViewPr>
  <p:slideViewPr>
    <p:cSldViewPr>
      <p:cViewPr>
        <p:scale>
          <a:sx n="50" d="100"/>
          <a:sy n="50" d="100"/>
        </p:scale>
        <p:origin x="-155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912C56-9914-4E1B-8096-3F8D8B76373A}" type="datetimeFigureOut">
              <a:rPr lang="en-US" smtClean="0"/>
              <a:pPr/>
              <a:t>8/14/2026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C85866-E1FF-45B8-BF0C-9A23A1C230E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C85866-E1FF-45B8-BF0C-9A23A1C230E5}"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8/14/2026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8/14/2026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8/14/2026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8/14/2026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8/14/2026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8/14/2026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8/14/2026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8/14/2026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8/14/2026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8/14/2026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8/14/2026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linkedin.com/pulse/lambda-architecture-practical-example-richard-su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linkedin.com/pulse/how-i-created-real-time-data-processing-pipeline-using-shergil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blog.insightdatascience.com/implementing-lambda-architecture-to-track-real-time-updates-f99f03e0c53"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milinda.pathirage.org/kappa-architecture.co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learn.microsoft.com/en-us/azure/architecture/databases/guide/big-data-architecture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learn.microsoft.com/en-us/azure/architecture/databases/guide/big-data-architecture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beam.apache.org/get-started/beam-overview/"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Lambda Architecture</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0"/>
            <a:ext cx="5410200" cy="37338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791200" y="222885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800" dirty="0" smtClean="0"/>
              <a:t>Lambda Architecture</a:t>
            </a:r>
          </a:p>
          <a:p>
            <a:pPr marL="571500" indent="-571500">
              <a:buFont typeface="+mj-lt"/>
              <a:buAutoNum type="romanUcPeriod"/>
            </a:pPr>
            <a:r>
              <a:rPr lang="en-US" sz="2800" dirty="0" err="1" smtClean="0"/>
              <a:t>Realtime</a:t>
            </a:r>
            <a:r>
              <a:rPr lang="en-US" sz="2800" dirty="0" smtClean="0"/>
              <a:t> Views</a:t>
            </a:r>
          </a:p>
          <a:p>
            <a:pPr marL="571500" indent="-571500">
              <a:buFont typeface="+mj-lt"/>
              <a:buAutoNum type="romanUcPeriod"/>
            </a:pPr>
            <a:r>
              <a:rPr lang="en-US" sz="2800" dirty="0" smtClean="0"/>
              <a:t>Examples</a:t>
            </a:r>
          </a:p>
          <a:p>
            <a:pPr marL="571500" indent="-571500">
              <a:buFont typeface="+mj-lt"/>
              <a:buAutoNum type="romanUcPeriod"/>
            </a:pPr>
            <a:endParaRPr lang="en-US" sz="28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638800" cy="4525963"/>
          </a:xfrm>
        </p:spPr>
        <p:txBody>
          <a:bodyPr/>
          <a:lstStyle/>
          <a:p>
            <a:pPr marL="457200" indent="-457200">
              <a:buFont typeface="+mj-lt"/>
              <a:buAutoNum type="arabicPeriod"/>
            </a:pPr>
            <a:r>
              <a:rPr lang="en-US" sz="2400" dirty="0" smtClean="0"/>
              <a:t>Nathan </a:t>
            </a:r>
            <a:r>
              <a:rPr lang="en-US" sz="2400" dirty="0" err="1" smtClean="0"/>
              <a:t>Marz</a:t>
            </a:r>
            <a:r>
              <a:rPr lang="en-US" sz="2400" dirty="0" smtClean="0"/>
              <a:t> and James Warren (2015). Big Data - Principles and Best Practices of Scalable </a:t>
            </a:r>
            <a:r>
              <a:rPr lang="en-US" sz="2400" dirty="0" err="1" smtClean="0"/>
              <a:t>Realtime</a:t>
            </a:r>
            <a:r>
              <a:rPr lang="en-US" sz="2400" dirty="0" smtClean="0"/>
              <a:t> Data Systems. Manning Publications.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Analytics Application [1]</a:t>
            </a:r>
            <a:endParaRPr lang="en-US" dirty="0"/>
          </a:p>
        </p:txBody>
      </p:sp>
      <p:sp>
        <p:nvSpPr>
          <p:cNvPr id="3" name="Content Placeholder 2"/>
          <p:cNvSpPr>
            <a:spLocks noGrp="1"/>
          </p:cNvSpPr>
          <p:nvPr>
            <p:ph idx="1"/>
          </p:nvPr>
        </p:nvSpPr>
        <p:spPr>
          <a:xfrm>
            <a:off x="457200" y="1600200"/>
            <a:ext cx="5334000" cy="4525963"/>
          </a:xfrm>
        </p:spPr>
        <p:txBody>
          <a:bodyPr/>
          <a:lstStyle/>
          <a:p>
            <a:r>
              <a:rPr lang="en-US" sz="2400" dirty="0" smtClean="0"/>
              <a:t>The </a:t>
            </a:r>
            <a:r>
              <a:rPr lang="en-US" sz="2400" i="1" dirty="0" smtClean="0">
                <a:solidFill>
                  <a:srgbClr val="C00000"/>
                </a:solidFill>
              </a:rPr>
              <a:t>application</a:t>
            </a:r>
            <a:r>
              <a:rPr lang="en-US" sz="2400" dirty="0" smtClean="0"/>
              <a:t> should track the number of </a:t>
            </a:r>
            <a:r>
              <a:rPr lang="en-US" sz="2400" b="1" dirty="0" err="1" smtClean="0"/>
              <a:t>pageviews</a:t>
            </a:r>
            <a:r>
              <a:rPr lang="en-US" sz="2400" dirty="0" smtClean="0"/>
              <a:t> for any URL a customer wishes to track.</a:t>
            </a:r>
          </a:p>
          <a:p>
            <a:r>
              <a:rPr lang="en-US" sz="2400" dirty="0" smtClean="0"/>
              <a:t>The </a:t>
            </a:r>
            <a:r>
              <a:rPr lang="en-US" sz="2400" u="sng" dirty="0" smtClean="0"/>
              <a:t>customer’s web page</a:t>
            </a:r>
            <a:r>
              <a:rPr lang="en-US" sz="2400" dirty="0" smtClean="0"/>
              <a:t> pings the </a:t>
            </a:r>
            <a:r>
              <a:rPr lang="en-US" sz="2400" i="1" dirty="0" smtClean="0">
                <a:solidFill>
                  <a:srgbClr val="C00000"/>
                </a:solidFill>
              </a:rPr>
              <a:t>application</a:t>
            </a:r>
            <a:r>
              <a:rPr lang="en-US" sz="2400" dirty="0" smtClean="0"/>
              <a:t>’s web server with its URL every time a </a:t>
            </a:r>
            <a:r>
              <a:rPr lang="en-US" sz="2400" b="1" dirty="0" err="1" smtClean="0"/>
              <a:t>pageview</a:t>
            </a:r>
            <a:r>
              <a:rPr lang="en-US" sz="2400" dirty="0" smtClean="0"/>
              <a:t> is received.</a:t>
            </a:r>
          </a:p>
          <a:p>
            <a:r>
              <a:rPr lang="en-US" sz="2400" dirty="0" smtClean="0"/>
              <a:t>The </a:t>
            </a:r>
            <a:r>
              <a:rPr lang="en-US" sz="2400" i="1" dirty="0" smtClean="0">
                <a:solidFill>
                  <a:srgbClr val="C00000"/>
                </a:solidFill>
              </a:rPr>
              <a:t>application</a:t>
            </a:r>
            <a:r>
              <a:rPr lang="en-US" sz="2400" dirty="0" smtClean="0"/>
              <a:t> should be able to tell you at any point what the top 100 URLs are by number of </a:t>
            </a:r>
            <a:r>
              <a:rPr lang="en-US" sz="2400" b="1" dirty="0" err="1" smtClean="0"/>
              <a:t>pageviews</a:t>
            </a:r>
            <a:r>
              <a:rPr lang="en-US" sz="2400" dirty="0" smtClean="0"/>
              <a:t>.</a:t>
            </a:r>
          </a:p>
          <a:p>
            <a:r>
              <a:rPr lang="en-US" sz="2400" i="1" dirty="0" smtClean="0">
                <a:solidFill>
                  <a:srgbClr val="C00000"/>
                </a:solidFill>
              </a:rPr>
              <a:t>Timeout error on inserting to the database.</a:t>
            </a:r>
            <a:endParaRPr lang="en-US" sz="2400" i="1" dirty="0">
              <a:solidFill>
                <a:srgbClr val="C00000"/>
              </a:solidFill>
            </a:endParaRPr>
          </a:p>
        </p:txBody>
      </p:sp>
      <p:pic>
        <p:nvPicPr>
          <p:cNvPr id="1027" name="Picture 3"/>
          <p:cNvPicPr>
            <a:picLocks noChangeAspect="1" noChangeArrowheads="1"/>
          </p:cNvPicPr>
          <p:nvPr/>
        </p:nvPicPr>
        <p:blipFill>
          <a:blip r:embed="rId2" cstate="print"/>
          <a:srcRect/>
          <a:stretch>
            <a:fillRect/>
          </a:stretch>
        </p:blipFill>
        <p:spPr bwMode="auto">
          <a:xfrm>
            <a:off x="5867400" y="1752600"/>
            <a:ext cx="2851150" cy="2178050"/>
          </a:xfrm>
          <a:prstGeom prst="rect">
            <a:avLst/>
          </a:prstGeom>
          <a:noFill/>
          <a:ln w="9525">
            <a:noFill/>
            <a:miter lim="800000"/>
            <a:headEnd/>
            <a:tailEnd/>
          </a:ln>
        </p:spPr>
      </p:pic>
      <p:sp>
        <p:nvSpPr>
          <p:cNvPr id="6" name="Rectangle 5"/>
          <p:cNvSpPr/>
          <p:nvPr/>
        </p:nvSpPr>
        <p:spPr>
          <a:xfrm>
            <a:off x="5715000" y="4114800"/>
            <a:ext cx="3048000" cy="1200329"/>
          </a:xfrm>
          <a:prstGeom prst="rect">
            <a:avLst/>
          </a:prstGeom>
        </p:spPr>
        <p:txBody>
          <a:bodyPr wrap="square">
            <a:spAutoFit/>
          </a:bodyPr>
          <a:lstStyle/>
          <a:p>
            <a:pPr algn="ctr"/>
            <a:r>
              <a:rPr lang="en-US" sz="2400" b="1" dirty="0" smtClean="0">
                <a:latin typeface="+mj-lt"/>
              </a:rPr>
              <a:t>Relational schema for</a:t>
            </a:r>
            <a:br>
              <a:rPr lang="en-US" sz="2400" b="1" dirty="0" smtClean="0">
                <a:latin typeface="+mj-lt"/>
              </a:rPr>
            </a:br>
            <a:r>
              <a:rPr lang="en-US" sz="2400" b="1" dirty="0" smtClean="0">
                <a:latin typeface="+mj-lt"/>
              </a:rPr>
              <a:t>simple analytics application</a:t>
            </a:r>
            <a:endParaRPr lang="en-US" sz="2400" b="1"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with a Queue</a:t>
            </a:r>
            <a:endParaRPr lang="en-US" dirty="0"/>
          </a:p>
        </p:txBody>
      </p:sp>
      <p:sp>
        <p:nvSpPr>
          <p:cNvPr id="3" name="Content Placeholder 2"/>
          <p:cNvSpPr>
            <a:spLocks noGrp="1"/>
          </p:cNvSpPr>
          <p:nvPr>
            <p:ph idx="1"/>
          </p:nvPr>
        </p:nvSpPr>
        <p:spPr>
          <a:xfrm>
            <a:off x="457200" y="1600200"/>
            <a:ext cx="4953000" cy="4525963"/>
          </a:xfrm>
        </p:spPr>
        <p:txBody>
          <a:bodyPr/>
          <a:lstStyle/>
          <a:p>
            <a:r>
              <a:rPr lang="en-US" sz="2200" dirty="0" smtClean="0"/>
              <a:t>Instead of having the web server hit the database directly, you insert a queue between the web server and the database.</a:t>
            </a:r>
          </a:p>
          <a:p>
            <a:r>
              <a:rPr lang="en-US" sz="2200" dirty="0" smtClean="0"/>
              <a:t>Whenever you receive a new </a:t>
            </a:r>
            <a:r>
              <a:rPr lang="en-US" sz="2200" dirty="0" err="1" smtClean="0"/>
              <a:t>pageview</a:t>
            </a:r>
            <a:r>
              <a:rPr lang="en-US" sz="2200" dirty="0" smtClean="0"/>
              <a:t>, that event is added to the queue.</a:t>
            </a:r>
          </a:p>
          <a:p>
            <a:r>
              <a:rPr lang="en-US" sz="2200" dirty="0" smtClean="0"/>
              <a:t>You then create a worker process that reads 100 events at a time off the queue, and batches them into a single database update.</a:t>
            </a:r>
          </a:p>
          <a:p>
            <a:r>
              <a:rPr lang="en-US" sz="2200" i="1" dirty="0" smtClean="0">
                <a:solidFill>
                  <a:srgbClr val="C00000"/>
                </a:solidFill>
              </a:rPr>
              <a:t>The database is clearly the bottleneck.</a:t>
            </a:r>
            <a:endParaRPr lang="en-US" sz="2200" i="1" dirty="0">
              <a:solidFill>
                <a:srgbClr val="C0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5397500" y="1828800"/>
            <a:ext cx="3365500" cy="1809750"/>
          </a:xfrm>
          <a:prstGeom prst="rect">
            <a:avLst/>
          </a:prstGeom>
          <a:noFill/>
          <a:ln w="9525">
            <a:noFill/>
            <a:miter lim="800000"/>
            <a:headEnd/>
            <a:tailEnd/>
          </a:ln>
        </p:spPr>
      </p:pic>
      <p:sp>
        <p:nvSpPr>
          <p:cNvPr id="5" name="Rectangle 4"/>
          <p:cNvSpPr/>
          <p:nvPr/>
        </p:nvSpPr>
        <p:spPr>
          <a:xfrm>
            <a:off x="5626100" y="3962400"/>
            <a:ext cx="3048000" cy="769441"/>
          </a:xfrm>
          <a:prstGeom prst="rect">
            <a:avLst/>
          </a:prstGeom>
        </p:spPr>
        <p:txBody>
          <a:bodyPr wrap="square">
            <a:spAutoFit/>
          </a:bodyPr>
          <a:lstStyle/>
          <a:p>
            <a:pPr algn="ctr"/>
            <a:r>
              <a:rPr lang="en-US" sz="2200" b="1" dirty="0" smtClean="0">
                <a:latin typeface="+mj-lt"/>
              </a:rPr>
              <a:t>Batching updates with queue and worker</a:t>
            </a:r>
            <a:endParaRPr lang="en-US" sz="2200" b="1"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Scaling by </a:t>
            </a:r>
            <a:r>
              <a:rPr lang="en-US" dirty="0" err="1" smtClean="0"/>
              <a:t>Sharding</a:t>
            </a:r>
            <a:r>
              <a:rPr lang="en-US" dirty="0" smtClean="0"/>
              <a:t> the Database</a:t>
            </a:r>
            <a:endParaRPr lang="en-US" dirty="0"/>
          </a:p>
        </p:txBody>
      </p:sp>
      <p:sp>
        <p:nvSpPr>
          <p:cNvPr id="3" name="Content Placeholder 2"/>
          <p:cNvSpPr>
            <a:spLocks noGrp="1"/>
          </p:cNvSpPr>
          <p:nvPr>
            <p:ph idx="1"/>
          </p:nvPr>
        </p:nvSpPr>
        <p:spPr>
          <a:xfrm>
            <a:off x="457200" y="1600200"/>
            <a:ext cx="4953000" cy="4525963"/>
          </a:xfrm>
        </p:spPr>
        <p:txBody>
          <a:bodyPr/>
          <a:lstStyle/>
          <a:p>
            <a:r>
              <a:rPr lang="en-US" sz="2400" dirty="0" smtClean="0"/>
              <a:t>Use </a:t>
            </a:r>
            <a:r>
              <a:rPr lang="en-US" sz="2400" i="1" dirty="0" smtClean="0">
                <a:solidFill>
                  <a:srgbClr val="C00000"/>
                </a:solidFill>
              </a:rPr>
              <a:t>multiple database servers</a:t>
            </a:r>
            <a:r>
              <a:rPr lang="en-US" sz="2400" dirty="0" smtClean="0"/>
              <a:t> and spread the table across all the servers.</a:t>
            </a:r>
          </a:p>
          <a:p>
            <a:r>
              <a:rPr lang="en-US" sz="2400" dirty="0" smtClean="0"/>
              <a:t>Each server will have a subset of the data for the table.</a:t>
            </a:r>
          </a:p>
          <a:p>
            <a:r>
              <a:rPr lang="en-US" sz="2400" dirty="0" smtClean="0"/>
              <a:t>As the application gets more and more popular, you keep having to </a:t>
            </a:r>
            <a:r>
              <a:rPr lang="en-US" sz="2400" dirty="0" err="1" smtClean="0"/>
              <a:t>reshard</a:t>
            </a:r>
            <a:r>
              <a:rPr lang="en-US" sz="2400" dirty="0" smtClean="0"/>
              <a:t> the database into more shards to keep up with the write load.</a:t>
            </a:r>
            <a:endParaRPr lang="en-US" sz="2200" i="1" dirty="0">
              <a:solidFill>
                <a:srgbClr val="C0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5397500" y="1828800"/>
            <a:ext cx="3365500" cy="1809750"/>
          </a:xfrm>
          <a:prstGeom prst="rect">
            <a:avLst/>
          </a:prstGeom>
          <a:noFill/>
          <a:ln w="9525">
            <a:noFill/>
            <a:miter lim="800000"/>
            <a:headEnd/>
            <a:tailEnd/>
          </a:ln>
        </p:spPr>
      </p:pic>
      <p:sp>
        <p:nvSpPr>
          <p:cNvPr id="5" name="Rectangle 4"/>
          <p:cNvSpPr/>
          <p:nvPr/>
        </p:nvSpPr>
        <p:spPr>
          <a:xfrm>
            <a:off x="5626100" y="3962400"/>
            <a:ext cx="3048000" cy="769441"/>
          </a:xfrm>
          <a:prstGeom prst="rect">
            <a:avLst/>
          </a:prstGeom>
        </p:spPr>
        <p:txBody>
          <a:bodyPr wrap="square">
            <a:spAutoFit/>
          </a:bodyPr>
          <a:lstStyle/>
          <a:p>
            <a:pPr algn="ctr"/>
            <a:r>
              <a:rPr lang="en-US" sz="2200" b="1" dirty="0" smtClean="0">
                <a:latin typeface="+mj-lt"/>
              </a:rPr>
              <a:t>Batching updates with queue and worker</a:t>
            </a:r>
            <a:endParaRPr lang="en-US" sz="2200" b="1"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Corruption Issue</a:t>
            </a:r>
            <a:endParaRPr lang="en-US" dirty="0"/>
          </a:p>
        </p:txBody>
      </p:sp>
      <p:sp>
        <p:nvSpPr>
          <p:cNvPr id="3" name="Content Placeholder 2"/>
          <p:cNvSpPr>
            <a:spLocks noGrp="1"/>
          </p:cNvSpPr>
          <p:nvPr>
            <p:ph idx="1"/>
          </p:nvPr>
        </p:nvSpPr>
        <p:spPr/>
        <p:txBody>
          <a:bodyPr/>
          <a:lstStyle/>
          <a:p>
            <a:r>
              <a:rPr lang="en-US" sz="2400" dirty="0" smtClean="0"/>
              <a:t>While working on the queue/worker code, you accidentally deploy a bug to production that increments the number of </a:t>
            </a:r>
            <a:r>
              <a:rPr lang="en-US" sz="2400" b="1" dirty="0" err="1" smtClean="0"/>
              <a:t>pageviews</a:t>
            </a:r>
            <a:r>
              <a:rPr lang="en-US" sz="2400" dirty="0" smtClean="0"/>
              <a:t> </a:t>
            </a:r>
            <a:r>
              <a:rPr lang="en-US" sz="2400" i="1" dirty="0" smtClean="0">
                <a:solidFill>
                  <a:srgbClr val="C00000"/>
                </a:solidFill>
              </a:rPr>
              <a:t>by two</a:t>
            </a:r>
            <a:r>
              <a:rPr lang="en-US" sz="2400" dirty="0" smtClean="0"/>
              <a:t>, instead of by one, for every URL.</a:t>
            </a:r>
          </a:p>
          <a:p>
            <a:r>
              <a:rPr lang="en-US" sz="2400" dirty="0" smtClean="0"/>
              <a:t>You don’t notice until 24 hours later, but by then the damage is done.</a:t>
            </a:r>
          </a:p>
          <a:p>
            <a:r>
              <a:rPr lang="en-US" sz="2400" dirty="0" smtClean="0"/>
              <a:t>The system is </a:t>
            </a:r>
            <a:r>
              <a:rPr lang="en-US" sz="2400" u="sng" dirty="0" smtClean="0"/>
              <a:t>not</a:t>
            </a:r>
            <a:r>
              <a:rPr lang="en-US" sz="2400" dirty="0" smtClean="0"/>
              <a:t> engineered for </a:t>
            </a:r>
            <a:r>
              <a:rPr lang="en-US" sz="2400" i="1" dirty="0" smtClean="0">
                <a:solidFill>
                  <a:srgbClr val="C00000"/>
                </a:solidFill>
              </a:rPr>
              <a:t>human mistakes</a:t>
            </a:r>
            <a:r>
              <a:rPr lang="en-US" sz="2400" dirty="0" smtClean="0"/>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Fully Incremental Architecture Issue</a:t>
            </a:r>
            <a:endParaRPr lang="en-US" sz="4200" dirty="0"/>
          </a:p>
        </p:txBody>
      </p:sp>
      <p:sp>
        <p:nvSpPr>
          <p:cNvPr id="3" name="Content Placeholder 2"/>
          <p:cNvSpPr>
            <a:spLocks noGrp="1"/>
          </p:cNvSpPr>
          <p:nvPr>
            <p:ph idx="1"/>
          </p:nvPr>
        </p:nvSpPr>
        <p:spPr/>
        <p:txBody>
          <a:bodyPr/>
          <a:lstStyle/>
          <a:p>
            <a:r>
              <a:rPr lang="en-US" sz="2400" i="1" dirty="0" smtClean="0">
                <a:solidFill>
                  <a:srgbClr val="C00000"/>
                </a:solidFill>
              </a:rPr>
              <a:t>Fully incremental architecture</a:t>
            </a:r>
            <a:r>
              <a:rPr lang="en-US" sz="2400" dirty="0" smtClean="0"/>
              <a:t> is architecture that makes use of read/write databases and maintains the state in those databases </a:t>
            </a:r>
            <a:r>
              <a:rPr lang="en-US" sz="2400" u="sng" dirty="0" smtClean="0"/>
              <a:t>incrementally</a:t>
            </a:r>
            <a:r>
              <a:rPr lang="en-US" sz="2400" dirty="0" smtClean="0"/>
              <a:t> (e.g. </a:t>
            </a:r>
            <a:r>
              <a:rPr lang="en-US" sz="2400" b="1" dirty="0" err="1" smtClean="0"/>
              <a:t>pageviews</a:t>
            </a:r>
            <a:r>
              <a:rPr lang="en-US" sz="2400" dirty="0" smtClean="0"/>
              <a:t> column).</a:t>
            </a:r>
          </a:p>
          <a:p>
            <a:r>
              <a:rPr lang="en-US" sz="2400" dirty="0" smtClean="0"/>
              <a:t>Lack of human-fault tolerance.</a:t>
            </a:r>
            <a:endParaRPr lang="en-US" sz="2400" dirty="0"/>
          </a:p>
        </p:txBody>
      </p:sp>
      <p:pic>
        <p:nvPicPr>
          <p:cNvPr id="4" name="Picture 3"/>
          <p:cNvPicPr>
            <a:picLocks noChangeAspect="1" noChangeArrowheads="1"/>
          </p:cNvPicPr>
          <p:nvPr/>
        </p:nvPicPr>
        <p:blipFill>
          <a:blip r:embed="rId2" cstate="print"/>
          <a:srcRect/>
          <a:stretch>
            <a:fillRect/>
          </a:stretch>
        </p:blipFill>
        <p:spPr bwMode="auto">
          <a:xfrm>
            <a:off x="4953000" y="3505200"/>
            <a:ext cx="2851150" cy="21780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Log</a:t>
            </a:r>
            <a:endParaRPr lang="en-US" dirty="0"/>
          </a:p>
        </p:txBody>
      </p:sp>
      <p:sp>
        <p:nvSpPr>
          <p:cNvPr id="3" name="Content Placeholder 2"/>
          <p:cNvSpPr>
            <a:spLocks noGrp="1"/>
          </p:cNvSpPr>
          <p:nvPr>
            <p:ph idx="1"/>
          </p:nvPr>
        </p:nvSpPr>
        <p:spPr>
          <a:xfrm>
            <a:off x="457200" y="1600200"/>
            <a:ext cx="4038600" cy="4525963"/>
          </a:xfrm>
        </p:spPr>
        <p:txBody>
          <a:bodyPr/>
          <a:lstStyle/>
          <a:p>
            <a:r>
              <a:rPr lang="en-US" sz="2000" dirty="0" smtClean="0"/>
              <a:t>Every event is permanently logged to an events </a:t>
            </a:r>
            <a:r>
              <a:rPr lang="en-US" sz="2000" dirty="0" err="1" smtClean="0"/>
              <a:t>datastore</a:t>
            </a:r>
            <a:r>
              <a:rPr lang="en-US" sz="2000" dirty="0" smtClean="0"/>
              <a:t>.</a:t>
            </a:r>
          </a:p>
          <a:p>
            <a:r>
              <a:rPr lang="en-US" sz="2000" dirty="0" smtClean="0"/>
              <a:t>By keeping every event, if a human mistake causes database corruption, you can go back to the events store and reconstruct the proper state for the database.</a:t>
            </a:r>
          </a:p>
          <a:p>
            <a:r>
              <a:rPr lang="en-US" sz="2000" dirty="0" smtClean="0"/>
              <a:t>Because the events store is immutable and constantly growing, redundant checks, like permissions, can be put in to make it highly unlikely for a mistake to trample over the events store.</a:t>
            </a:r>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4581525" y="2057400"/>
            <a:ext cx="4105275" cy="2892425"/>
          </a:xfrm>
          <a:prstGeom prst="rect">
            <a:avLst/>
          </a:prstGeom>
          <a:noFill/>
          <a:ln w="9525">
            <a:noFill/>
            <a:miter lim="800000"/>
            <a:headEnd/>
            <a:tailEnd/>
          </a:ln>
        </p:spPr>
      </p:pic>
      <p:sp>
        <p:nvSpPr>
          <p:cNvPr id="6" name="Rectangle 5"/>
          <p:cNvSpPr/>
          <p:nvPr/>
        </p:nvSpPr>
        <p:spPr>
          <a:xfrm>
            <a:off x="4800600" y="5181600"/>
            <a:ext cx="3581400" cy="707886"/>
          </a:xfrm>
          <a:prstGeom prst="rect">
            <a:avLst/>
          </a:prstGeom>
        </p:spPr>
        <p:txBody>
          <a:bodyPr wrap="square">
            <a:spAutoFit/>
          </a:bodyPr>
          <a:lstStyle/>
          <a:p>
            <a:pPr algn="ctr"/>
            <a:r>
              <a:rPr lang="en-US" sz="2000" b="1" dirty="0" smtClean="0">
                <a:latin typeface="+mj-lt"/>
              </a:rPr>
              <a:t>Adding logging to</a:t>
            </a:r>
          </a:p>
          <a:p>
            <a:pPr algn="ctr"/>
            <a:r>
              <a:rPr lang="en-US" sz="2000" b="1" dirty="0" smtClean="0">
                <a:latin typeface="+mj-lt"/>
              </a:rPr>
              <a:t>fully incremental architectures</a:t>
            </a:r>
            <a:endParaRPr lang="en-US" sz="2000" b="1"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Layer</a:t>
            </a:r>
            <a:endParaRPr lang="en-US" dirty="0"/>
          </a:p>
        </p:txBody>
      </p:sp>
      <p:sp>
        <p:nvSpPr>
          <p:cNvPr id="3" name="Content Placeholder 2"/>
          <p:cNvSpPr>
            <a:spLocks noGrp="1"/>
          </p:cNvSpPr>
          <p:nvPr>
            <p:ph idx="1"/>
          </p:nvPr>
        </p:nvSpPr>
        <p:spPr>
          <a:xfrm>
            <a:off x="457200" y="1600200"/>
            <a:ext cx="3429000" cy="4525963"/>
          </a:xfrm>
        </p:spPr>
        <p:txBody>
          <a:bodyPr/>
          <a:lstStyle/>
          <a:p>
            <a:r>
              <a:rPr lang="en-US" sz="2200" dirty="0" smtClean="0"/>
              <a:t>Creating the </a:t>
            </a:r>
            <a:r>
              <a:rPr lang="en-US" sz="2200" i="1" dirty="0" smtClean="0">
                <a:solidFill>
                  <a:srgbClr val="C00000"/>
                </a:solidFill>
              </a:rPr>
              <a:t>batch view</a:t>
            </a:r>
            <a:r>
              <a:rPr lang="en-US" sz="2200" dirty="0" smtClean="0"/>
              <a:t> is clearly going to be a </a:t>
            </a:r>
            <a:r>
              <a:rPr lang="en-US" sz="2200" u="sng" dirty="0" smtClean="0"/>
              <a:t>high-latency operation</a:t>
            </a:r>
            <a:r>
              <a:rPr lang="en-US" sz="2200" dirty="0" smtClean="0"/>
              <a:t>, because it’s running a function on all the data you have.</a:t>
            </a:r>
          </a:p>
          <a:p>
            <a:r>
              <a:rPr lang="en-US" sz="2200" dirty="0" smtClean="0"/>
              <a:t>By the time it finishes, a lot of new data will have collected that’s not represented in the batch views, and the queries will be </a:t>
            </a:r>
            <a:r>
              <a:rPr lang="en-US" sz="2200" i="1" dirty="0" smtClean="0">
                <a:solidFill>
                  <a:srgbClr val="C00000"/>
                </a:solidFill>
              </a:rPr>
              <a:t>out of date</a:t>
            </a:r>
            <a:r>
              <a:rPr lang="en-US" sz="2200" dirty="0" smtClean="0"/>
              <a:t> by many hours.</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4114800" y="2720975"/>
            <a:ext cx="4486275" cy="2689225"/>
          </a:xfrm>
          <a:prstGeom prst="rect">
            <a:avLst/>
          </a:prstGeom>
          <a:noFill/>
          <a:ln w="9525">
            <a:noFill/>
            <a:miter lim="800000"/>
            <a:headEnd/>
            <a:tailEnd/>
          </a:ln>
        </p:spPr>
      </p:pic>
      <p:sp>
        <p:nvSpPr>
          <p:cNvPr id="5" name="Rectangle 4"/>
          <p:cNvSpPr/>
          <p:nvPr/>
        </p:nvSpPr>
        <p:spPr>
          <a:xfrm>
            <a:off x="4267200" y="1676400"/>
            <a:ext cx="4572000" cy="769441"/>
          </a:xfrm>
          <a:prstGeom prst="rect">
            <a:avLst/>
          </a:prstGeom>
        </p:spPr>
        <p:txBody>
          <a:bodyPr>
            <a:spAutoFit/>
          </a:bodyPr>
          <a:lstStyle/>
          <a:p>
            <a:r>
              <a:rPr lang="en-US" sz="2200" b="1" dirty="0" smtClean="0">
                <a:latin typeface="+mj-lt"/>
              </a:rPr>
              <a:t>batch view = function(all data)</a:t>
            </a:r>
          </a:p>
          <a:p>
            <a:r>
              <a:rPr lang="en-US" sz="2200" b="1" dirty="0" smtClean="0">
                <a:latin typeface="+mj-lt"/>
              </a:rPr>
              <a:t>         query = function(batch view)</a:t>
            </a:r>
            <a:endParaRPr lang="en-US" sz="2200" b="1" dirty="0">
              <a:latin typeface="+mj-lt"/>
            </a:endParaRPr>
          </a:p>
        </p:txBody>
      </p:sp>
      <p:sp>
        <p:nvSpPr>
          <p:cNvPr id="6" name="Rectangle 5"/>
          <p:cNvSpPr/>
          <p:nvPr/>
        </p:nvSpPr>
        <p:spPr>
          <a:xfrm>
            <a:off x="4038600" y="5562600"/>
            <a:ext cx="4572000" cy="1107996"/>
          </a:xfrm>
          <a:prstGeom prst="rect">
            <a:avLst/>
          </a:prstGeom>
        </p:spPr>
        <p:txBody>
          <a:bodyPr>
            <a:spAutoFit/>
          </a:bodyPr>
          <a:lstStyle/>
          <a:p>
            <a:r>
              <a:rPr lang="en-US" sz="2200" b="1" dirty="0" smtClean="0">
                <a:latin typeface="+mj-lt"/>
              </a:rPr>
              <a:t>function </a:t>
            </a:r>
            <a:r>
              <a:rPr lang="en-US" sz="2200" b="1" dirty="0" err="1" smtClean="0">
                <a:latin typeface="+mj-lt"/>
              </a:rPr>
              <a:t>runBatchLayer</a:t>
            </a:r>
            <a:r>
              <a:rPr lang="en-US" sz="2200" b="1" dirty="0" smtClean="0">
                <a:latin typeface="+mj-lt"/>
              </a:rPr>
              <a:t>():</a:t>
            </a:r>
          </a:p>
          <a:p>
            <a:r>
              <a:rPr lang="en-US" sz="2200" b="1" dirty="0" smtClean="0">
                <a:latin typeface="+mj-lt"/>
              </a:rPr>
              <a:t>    while(true):</a:t>
            </a:r>
          </a:p>
          <a:p>
            <a:r>
              <a:rPr lang="en-US" sz="2200" b="1" dirty="0" smtClean="0">
                <a:latin typeface="+mj-lt"/>
              </a:rPr>
              <a:t>        </a:t>
            </a:r>
            <a:r>
              <a:rPr lang="en-US" sz="2200" b="1" dirty="0" err="1" smtClean="0">
                <a:latin typeface="+mj-lt"/>
              </a:rPr>
              <a:t>recomputeBatchViews</a:t>
            </a:r>
            <a:r>
              <a:rPr lang="en-US" sz="2200" b="1" dirty="0" smtClean="0">
                <a:latin typeface="+mj-lt"/>
              </a:rPr>
              <a:t>()</a:t>
            </a:r>
            <a:endParaRPr lang="en-US" sz="2200" b="1"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Serving Layer</a:t>
            </a:r>
            <a:endParaRPr lang="en-US" dirty="0"/>
          </a:p>
        </p:txBody>
      </p:sp>
      <p:sp>
        <p:nvSpPr>
          <p:cNvPr id="3" name="Content Placeholder 2"/>
          <p:cNvSpPr>
            <a:spLocks noGrp="1"/>
          </p:cNvSpPr>
          <p:nvPr>
            <p:ph idx="1"/>
          </p:nvPr>
        </p:nvSpPr>
        <p:spPr>
          <a:xfrm>
            <a:off x="457200" y="1600200"/>
            <a:ext cx="5181600" cy="4525963"/>
          </a:xfrm>
        </p:spPr>
        <p:txBody>
          <a:bodyPr/>
          <a:lstStyle/>
          <a:p>
            <a:r>
              <a:rPr lang="en-US" sz="2200" dirty="0" smtClean="0"/>
              <a:t>The batch layer emits batch views as the result of its functions.</a:t>
            </a:r>
          </a:p>
          <a:p>
            <a:r>
              <a:rPr lang="en-US" sz="2200" dirty="0" smtClean="0"/>
              <a:t>The next step is to load the views somewhere so that they can be queried.</a:t>
            </a:r>
          </a:p>
          <a:p>
            <a:r>
              <a:rPr lang="en-US" sz="2200" dirty="0" smtClean="0"/>
              <a:t>A </a:t>
            </a:r>
            <a:r>
              <a:rPr lang="en-US" sz="2200" i="1" dirty="0" smtClean="0">
                <a:solidFill>
                  <a:srgbClr val="C00000"/>
                </a:solidFill>
              </a:rPr>
              <a:t>serving layer database</a:t>
            </a:r>
            <a:r>
              <a:rPr lang="en-US" sz="2200" dirty="0" smtClean="0"/>
              <a:t> supports </a:t>
            </a:r>
            <a:r>
              <a:rPr lang="en-US" sz="2200" u="sng" dirty="0" smtClean="0"/>
              <a:t>batch updates</a:t>
            </a:r>
            <a:r>
              <a:rPr lang="en-US" sz="2200" dirty="0" smtClean="0"/>
              <a:t> and </a:t>
            </a:r>
            <a:r>
              <a:rPr lang="en-US" sz="2200" u="sng" dirty="0" smtClean="0"/>
              <a:t>random reads</a:t>
            </a:r>
            <a:r>
              <a:rPr lang="en-US" sz="2200" dirty="0" smtClean="0"/>
              <a:t>.</a:t>
            </a:r>
          </a:p>
          <a:p>
            <a:r>
              <a:rPr lang="en-US" sz="2200" dirty="0" smtClean="0"/>
              <a:t>Most notably, it doesn’t need to support random writes. This is a very important point, as random writes cause most of the complexity in databases. By not supporting random writes, these databases are extremely simple.</a:t>
            </a:r>
          </a:p>
          <a:p>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5943600" y="2895600"/>
            <a:ext cx="2851150" cy="14636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Layer</a:t>
            </a:r>
            <a:endParaRPr lang="en-US" dirty="0"/>
          </a:p>
        </p:txBody>
      </p:sp>
      <p:sp>
        <p:nvSpPr>
          <p:cNvPr id="3" name="Content Placeholder 2"/>
          <p:cNvSpPr>
            <a:spLocks noGrp="1"/>
          </p:cNvSpPr>
          <p:nvPr>
            <p:ph idx="1"/>
          </p:nvPr>
        </p:nvSpPr>
        <p:spPr>
          <a:xfrm>
            <a:off x="457200" y="1600200"/>
            <a:ext cx="4953000" cy="4525963"/>
          </a:xfrm>
        </p:spPr>
        <p:txBody>
          <a:bodyPr/>
          <a:lstStyle/>
          <a:p>
            <a:r>
              <a:rPr lang="en-US" sz="2000" dirty="0" smtClean="0"/>
              <a:t>The only data not represented in the batch view is the data that came in while the </a:t>
            </a:r>
            <a:r>
              <a:rPr lang="en-US" sz="2000" dirty="0" err="1" smtClean="0"/>
              <a:t>precomputation</a:t>
            </a:r>
            <a:r>
              <a:rPr lang="en-US" sz="2000" dirty="0" smtClean="0"/>
              <a:t> was running.</a:t>
            </a:r>
          </a:p>
          <a:p>
            <a:r>
              <a:rPr lang="en-US" sz="2000" dirty="0" smtClean="0"/>
              <a:t>All that’s left to do to have a </a:t>
            </a:r>
            <a:r>
              <a:rPr lang="en-US" sz="2000" i="1" dirty="0" smtClean="0">
                <a:solidFill>
                  <a:srgbClr val="C00000"/>
                </a:solidFill>
              </a:rPr>
              <a:t>fully </a:t>
            </a:r>
            <a:r>
              <a:rPr lang="en-US" sz="2000" i="1" dirty="0" err="1" smtClean="0">
                <a:solidFill>
                  <a:srgbClr val="C00000"/>
                </a:solidFill>
              </a:rPr>
              <a:t>realtime</a:t>
            </a:r>
            <a:r>
              <a:rPr lang="en-US" sz="2000" i="1" dirty="0" smtClean="0">
                <a:solidFill>
                  <a:srgbClr val="C00000"/>
                </a:solidFill>
              </a:rPr>
              <a:t> data system</a:t>
            </a:r>
            <a:r>
              <a:rPr lang="en-US" sz="2000" dirty="0" smtClean="0"/>
              <a:t>—that is, to have arbitrary functions computed on arbitrary data in real time—is to </a:t>
            </a:r>
            <a:r>
              <a:rPr lang="en-US" sz="2000" u="sng" dirty="0" smtClean="0"/>
              <a:t>compensate</a:t>
            </a:r>
            <a:r>
              <a:rPr lang="en-US" sz="2000" dirty="0" smtClean="0"/>
              <a:t> for those last few hours of data.</a:t>
            </a:r>
          </a:p>
          <a:p>
            <a:r>
              <a:rPr lang="en-US" sz="2000" dirty="0" smtClean="0"/>
              <a:t>This is the purpose of the </a:t>
            </a:r>
            <a:r>
              <a:rPr lang="en-US" sz="2000" i="1" dirty="0" smtClean="0">
                <a:solidFill>
                  <a:srgbClr val="C00000"/>
                </a:solidFill>
              </a:rPr>
              <a:t>speed layer</a:t>
            </a:r>
            <a:r>
              <a:rPr lang="en-US" sz="2000" dirty="0" smtClean="0"/>
              <a:t>.</a:t>
            </a:r>
          </a:p>
          <a:p>
            <a:r>
              <a:rPr lang="en-US" sz="2000" dirty="0" smtClean="0"/>
              <a:t>As its name suggests, its goal is to ensure new data is represented in query functions as quickly as needed for the application requirements.</a:t>
            </a:r>
            <a:endParaRPr lang="en-US" sz="2000" dirty="0"/>
          </a:p>
        </p:txBody>
      </p:sp>
      <p:pic>
        <p:nvPicPr>
          <p:cNvPr id="4098" name="Picture 2"/>
          <p:cNvPicPr>
            <a:picLocks noChangeAspect="1" noChangeArrowheads="1"/>
          </p:cNvPicPr>
          <p:nvPr/>
        </p:nvPicPr>
        <p:blipFill>
          <a:blip r:embed="rId2" cstate="print"/>
          <a:srcRect/>
          <a:stretch>
            <a:fillRect/>
          </a:stretch>
        </p:blipFill>
        <p:spPr bwMode="auto">
          <a:xfrm>
            <a:off x="5610225" y="2819400"/>
            <a:ext cx="3000375" cy="14414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Architecture</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381000" y="1524000"/>
            <a:ext cx="4670425" cy="4759325"/>
          </a:xfrm>
          <a:prstGeom prst="rect">
            <a:avLst/>
          </a:prstGeom>
          <a:noFill/>
          <a:ln w="9525">
            <a:noFill/>
            <a:miter lim="800000"/>
            <a:headEnd/>
            <a:tailEnd/>
          </a:ln>
        </p:spPr>
      </p:pic>
      <p:sp>
        <p:nvSpPr>
          <p:cNvPr id="6" name="Rectangle 5"/>
          <p:cNvSpPr/>
          <p:nvPr/>
        </p:nvSpPr>
        <p:spPr>
          <a:xfrm>
            <a:off x="3657600" y="1447800"/>
            <a:ext cx="52578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latin typeface="+mj-lt"/>
              </a:rPr>
              <a:t>     batch view = function( all data )</a:t>
            </a:r>
          </a:p>
          <a:p>
            <a:r>
              <a:rPr lang="en-US" b="1" dirty="0" err="1" smtClean="0">
                <a:latin typeface="+mj-lt"/>
              </a:rPr>
              <a:t>realtime</a:t>
            </a:r>
            <a:r>
              <a:rPr lang="en-US" b="1" dirty="0" smtClean="0">
                <a:latin typeface="+mj-lt"/>
              </a:rPr>
              <a:t> view = function( </a:t>
            </a:r>
            <a:r>
              <a:rPr lang="en-US" b="1" dirty="0" err="1" smtClean="0">
                <a:latin typeface="+mj-lt"/>
              </a:rPr>
              <a:t>realtime</a:t>
            </a:r>
            <a:r>
              <a:rPr lang="en-US" b="1" dirty="0" smtClean="0">
                <a:latin typeface="+mj-lt"/>
              </a:rPr>
              <a:t> view , new data )</a:t>
            </a:r>
          </a:p>
          <a:p>
            <a:r>
              <a:rPr lang="en-US" b="1" dirty="0" smtClean="0">
                <a:latin typeface="+mj-lt"/>
              </a:rPr>
              <a:t>              query = function( batch view . </a:t>
            </a:r>
            <a:r>
              <a:rPr lang="en-US" b="1" dirty="0" err="1" smtClean="0">
                <a:latin typeface="+mj-lt"/>
              </a:rPr>
              <a:t>realtime</a:t>
            </a:r>
            <a:r>
              <a:rPr lang="en-US" b="1" dirty="0" smtClean="0">
                <a:latin typeface="+mj-lt"/>
              </a:rPr>
              <a:t> view )</a:t>
            </a:r>
            <a:endParaRPr lang="en-US" b="1"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Complexity Isolation</a:t>
            </a:r>
            <a:endParaRPr lang="en-US" dirty="0"/>
          </a:p>
        </p:txBody>
      </p:sp>
      <p:sp>
        <p:nvSpPr>
          <p:cNvPr id="3" name="Content Placeholder 2"/>
          <p:cNvSpPr>
            <a:spLocks noGrp="1"/>
          </p:cNvSpPr>
          <p:nvPr>
            <p:ph idx="1"/>
          </p:nvPr>
        </p:nvSpPr>
        <p:spPr/>
        <p:txBody>
          <a:bodyPr/>
          <a:lstStyle/>
          <a:p>
            <a:r>
              <a:rPr lang="en-US" sz="2200" dirty="0" smtClean="0"/>
              <a:t>Once data makes it through the batch layer into the serving layer, the corresponding results in the </a:t>
            </a:r>
            <a:r>
              <a:rPr lang="en-US" sz="2200" dirty="0" err="1" smtClean="0"/>
              <a:t>realtime</a:t>
            </a:r>
            <a:r>
              <a:rPr lang="en-US" sz="2200" dirty="0" smtClean="0"/>
              <a:t> views are no longer needed. This means you can </a:t>
            </a:r>
            <a:r>
              <a:rPr lang="en-US" sz="2200" i="1" dirty="0" smtClean="0">
                <a:solidFill>
                  <a:srgbClr val="C00000"/>
                </a:solidFill>
              </a:rPr>
              <a:t>discard</a:t>
            </a:r>
            <a:r>
              <a:rPr lang="en-US" sz="2200" dirty="0" smtClean="0"/>
              <a:t> pieces of the </a:t>
            </a:r>
            <a:r>
              <a:rPr lang="en-US" sz="2200" u="sng" dirty="0" err="1" smtClean="0"/>
              <a:t>realtime</a:t>
            </a:r>
            <a:r>
              <a:rPr lang="en-US" sz="2200" u="sng" dirty="0" smtClean="0"/>
              <a:t> view</a:t>
            </a:r>
            <a:r>
              <a:rPr lang="en-US" sz="2200" dirty="0" smtClean="0"/>
              <a:t> as they’re no longer needed.</a:t>
            </a:r>
          </a:p>
          <a:p>
            <a:r>
              <a:rPr lang="en-US" sz="2200" dirty="0" smtClean="0"/>
              <a:t>This is a wonderful result, because the speed layer is far more complex than the batch and serving layers.</a:t>
            </a:r>
          </a:p>
          <a:p>
            <a:r>
              <a:rPr lang="en-US" sz="2200" dirty="0" smtClean="0"/>
              <a:t>This property of the Lambda Architecture is called complexity isolation, meaning that complexity is pushed into a layer whose results are only temporary.</a:t>
            </a:r>
          </a:p>
          <a:p>
            <a:r>
              <a:rPr lang="en-US" sz="2200" dirty="0" smtClean="0"/>
              <a:t>If anything ever goes wrong, you can discard the state for the </a:t>
            </a:r>
            <a:r>
              <a:rPr lang="en-US" sz="2200" i="1" dirty="0" smtClean="0">
                <a:solidFill>
                  <a:srgbClr val="C00000"/>
                </a:solidFill>
              </a:rPr>
              <a:t>entire speed layer</a:t>
            </a:r>
            <a:r>
              <a:rPr lang="en-US" sz="2200" dirty="0" smtClean="0"/>
              <a:t>, and everything will be back to normal within a few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Tools</a:t>
            </a:r>
            <a:endParaRPr lang="en-US" dirty="0"/>
          </a:p>
        </p:txBody>
      </p:sp>
      <p:sp>
        <p:nvSpPr>
          <p:cNvPr id="3" name="Content Placeholder 2"/>
          <p:cNvSpPr>
            <a:spLocks noGrp="1"/>
          </p:cNvSpPr>
          <p:nvPr>
            <p:ph idx="1"/>
          </p:nvPr>
        </p:nvSpPr>
        <p:spPr/>
        <p:txBody>
          <a:bodyPr/>
          <a:lstStyle/>
          <a:p>
            <a:r>
              <a:rPr lang="en-US" sz="2400" dirty="0" smtClean="0"/>
              <a:t>Batch computation systems: </a:t>
            </a:r>
            <a:r>
              <a:rPr lang="en-US" sz="2400" dirty="0" err="1" smtClean="0"/>
              <a:t>Hadoop</a:t>
            </a:r>
            <a:endParaRPr lang="en-US" sz="2400" dirty="0" smtClean="0"/>
          </a:p>
          <a:p>
            <a:r>
              <a:rPr lang="en-US" sz="2400" dirty="0" smtClean="0"/>
              <a:t>Serialization frameworks provide tools and libraries for using objects between languages: Thrift, Protocol Buffers, and Avro.</a:t>
            </a:r>
          </a:p>
          <a:p>
            <a:r>
              <a:rPr lang="en-US" sz="2400" dirty="0" smtClean="0"/>
              <a:t>Random-access </a:t>
            </a:r>
            <a:r>
              <a:rPr lang="en-US" sz="2400" dirty="0" err="1" smtClean="0"/>
              <a:t>NoSQL</a:t>
            </a:r>
            <a:r>
              <a:rPr lang="en-US" sz="2400" dirty="0" smtClean="0"/>
              <a:t> databases: Cassandra, </a:t>
            </a:r>
            <a:r>
              <a:rPr lang="en-US" sz="2400" dirty="0" err="1" smtClean="0"/>
              <a:t>HBase</a:t>
            </a:r>
            <a:r>
              <a:rPr lang="en-US" sz="2400" dirty="0" smtClean="0"/>
              <a:t>, </a:t>
            </a:r>
            <a:r>
              <a:rPr lang="en-US" sz="2400" dirty="0" err="1" smtClean="0"/>
              <a:t>MongoDB</a:t>
            </a:r>
            <a:r>
              <a:rPr lang="en-US" sz="2400" dirty="0" smtClean="0"/>
              <a:t>, </a:t>
            </a:r>
            <a:r>
              <a:rPr lang="en-US" sz="2400" dirty="0" err="1" smtClean="0"/>
              <a:t>Voldemort</a:t>
            </a:r>
            <a:r>
              <a:rPr lang="en-US" sz="2400" dirty="0" smtClean="0"/>
              <a:t>, </a:t>
            </a:r>
            <a:r>
              <a:rPr lang="en-US" sz="2400" dirty="0" err="1" smtClean="0"/>
              <a:t>Riak</a:t>
            </a:r>
            <a:r>
              <a:rPr lang="en-US" sz="2400" dirty="0" smtClean="0"/>
              <a:t>, </a:t>
            </a:r>
            <a:r>
              <a:rPr lang="en-US" sz="2400" dirty="0" err="1" smtClean="0"/>
              <a:t>CouchDB</a:t>
            </a:r>
            <a:r>
              <a:rPr lang="en-US" sz="2400" dirty="0" smtClean="0"/>
              <a:t>.</a:t>
            </a:r>
          </a:p>
          <a:p>
            <a:r>
              <a:rPr lang="en-US" sz="2400" dirty="0" smtClean="0"/>
              <a:t>Messaging or queuing systems: Apache Kafka, </a:t>
            </a:r>
            <a:r>
              <a:rPr lang="en-US" sz="2400" dirty="0" err="1" smtClean="0"/>
              <a:t>RabbitMQ</a:t>
            </a:r>
            <a:r>
              <a:rPr lang="en-US" sz="2400" dirty="0" smtClean="0"/>
              <a:t>.</a:t>
            </a:r>
          </a:p>
          <a:p>
            <a:r>
              <a:rPr lang="en-US" sz="2400" dirty="0" err="1" smtClean="0"/>
              <a:t>Realtime</a:t>
            </a:r>
            <a:r>
              <a:rPr lang="en-US" sz="2400" dirty="0" smtClean="0"/>
              <a:t> computation systems: Apache Storm.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Computing </a:t>
            </a:r>
            <a:r>
              <a:rPr lang="en-US" dirty="0" err="1" smtClean="0"/>
              <a:t>Realtime</a:t>
            </a:r>
            <a:r>
              <a:rPr lang="en-US" dirty="0" smtClean="0"/>
              <a:t> Views</a:t>
            </a:r>
            <a:endParaRPr lang="en-US" dirty="0"/>
          </a:p>
        </p:txBody>
      </p:sp>
      <p:sp>
        <p:nvSpPr>
          <p:cNvPr id="3" name="Content Placeholder 2"/>
          <p:cNvSpPr>
            <a:spLocks noGrp="1"/>
          </p:cNvSpPr>
          <p:nvPr>
            <p:ph idx="1"/>
          </p:nvPr>
        </p:nvSpPr>
        <p:spPr/>
        <p:txBody>
          <a:bodyPr/>
          <a:lstStyle/>
          <a:p>
            <a:r>
              <a:rPr lang="en-US" sz="2000" dirty="0" smtClean="0"/>
              <a:t>The idea is to update the </a:t>
            </a:r>
            <a:r>
              <a:rPr lang="en-US" sz="2000" dirty="0" err="1" smtClean="0"/>
              <a:t>realtime</a:t>
            </a:r>
            <a:r>
              <a:rPr lang="en-US" sz="2000" dirty="0" smtClean="0"/>
              <a:t> views as data comes in, thereby reusing the work that previously went into producing the views.</a:t>
            </a:r>
          </a:p>
          <a:p>
            <a:r>
              <a:rPr lang="en-US" sz="2000" dirty="0" smtClean="0"/>
              <a:t>This requires the use of </a:t>
            </a:r>
            <a:r>
              <a:rPr lang="en-US" sz="2000" i="1" dirty="0" smtClean="0">
                <a:solidFill>
                  <a:srgbClr val="C00000"/>
                </a:solidFill>
              </a:rPr>
              <a:t>random-read/random-write databases</a:t>
            </a:r>
            <a:r>
              <a:rPr lang="en-US" sz="2000" dirty="0" smtClean="0"/>
              <a:t> so that updates can be performed on existing views.</a:t>
            </a:r>
          </a:p>
        </p:txBody>
      </p:sp>
      <p:pic>
        <p:nvPicPr>
          <p:cNvPr id="6146" name="Picture 2"/>
          <p:cNvPicPr>
            <a:picLocks noChangeAspect="1" noChangeArrowheads="1"/>
          </p:cNvPicPr>
          <p:nvPr/>
        </p:nvPicPr>
        <p:blipFill>
          <a:blip r:embed="rId2" cstate="print"/>
          <a:srcRect/>
          <a:stretch>
            <a:fillRect/>
          </a:stretch>
        </p:blipFill>
        <p:spPr bwMode="auto">
          <a:xfrm>
            <a:off x="838200" y="3124200"/>
            <a:ext cx="5880100" cy="3086100"/>
          </a:xfrm>
          <a:prstGeom prst="rect">
            <a:avLst/>
          </a:prstGeom>
          <a:noFill/>
          <a:ln w="9525">
            <a:noFill/>
            <a:miter lim="800000"/>
            <a:headEnd/>
            <a:tailEnd/>
          </a:ln>
        </p:spPr>
      </p:pic>
      <p:sp>
        <p:nvSpPr>
          <p:cNvPr id="6" name="Rectangle 5"/>
          <p:cNvSpPr/>
          <p:nvPr/>
        </p:nvSpPr>
        <p:spPr>
          <a:xfrm>
            <a:off x="5943600" y="4105870"/>
            <a:ext cx="28194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err="1" smtClean="0">
                <a:latin typeface="+mj-lt"/>
              </a:rPr>
              <a:t>realtime</a:t>
            </a:r>
            <a:r>
              <a:rPr lang="en-US" b="1" dirty="0" smtClean="0">
                <a:latin typeface="+mj-lt"/>
              </a:rPr>
              <a:t> view = function( new data, </a:t>
            </a:r>
          </a:p>
          <a:p>
            <a:r>
              <a:rPr lang="en-US" b="1" dirty="0" smtClean="0">
                <a:latin typeface="+mj-lt"/>
              </a:rPr>
              <a:t>previous </a:t>
            </a:r>
            <a:r>
              <a:rPr lang="en-US" b="1" dirty="0" err="1" smtClean="0">
                <a:latin typeface="+mj-lt"/>
              </a:rPr>
              <a:t>realtime</a:t>
            </a:r>
            <a:r>
              <a:rPr lang="en-US" b="1" dirty="0" smtClean="0">
                <a:latin typeface="+mj-lt"/>
              </a:rPr>
              <a:t> view)</a:t>
            </a:r>
            <a:endParaRPr lang="en-US" b="1"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Storing </a:t>
            </a:r>
            <a:r>
              <a:rPr lang="en-US" dirty="0" err="1" smtClean="0"/>
              <a:t>Realtime</a:t>
            </a:r>
            <a:r>
              <a:rPr lang="en-US" dirty="0" smtClean="0"/>
              <a:t> Views</a:t>
            </a:r>
            <a:endParaRPr lang="en-US" dirty="0"/>
          </a:p>
        </p:txBody>
      </p:sp>
      <p:sp>
        <p:nvSpPr>
          <p:cNvPr id="3" name="Content Placeholder 2"/>
          <p:cNvSpPr>
            <a:spLocks noGrp="1"/>
          </p:cNvSpPr>
          <p:nvPr>
            <p:ph idx="1"/>
          </p:nvPr>
        </p:nvSpPr>
        <p:spPr/>
        <p:txBody>
          <a:bodyPr/>
          <a:lstStyle/>
          <a:p>
            <a:r>
              <a:rPr lang="en-US" sz="2400" dirty="0" smtClean="0"/>
              <a:t>The obligations of the speed layer views are quite demanding—the Lambda Architecture requires </a:t>
            </a:r>
            <a:r>
              <a:rPr lang="en-US" sz="2400" i="1" dirty="0" smtClean="0">
                <a:solidFill>
                  <a:srgbClr val="C00000"/>
                </a:solidFill>
              </a:rPr>
              <a:t>low-latency random reads</a:t>
            </a:r>
            <a:r>
              <a:rPr lang="en-US" sz="2400" dirty="0" smtClean="0"/>
              <a:t>, and using incremental algorithms necessitates </a:t>
            </a:r>
            <a:r>
              <a:rPr lang="en-US" sz="2400" u="sng" dirty="0" smtClean="0"/>
              <a:t>low-latency random updates</a:t>
            </a:r>
            <a:r>
              <a:rPr lang="en-US" sz="2400" dirty="0" smtClean="0"/>
              <a:t>.</a:t>
            </a:r>
          </a:p>
          <a:p>
            <a:r>
              <a:rPr lang="en-US" sz="2400" dirty="0" smtClean="0"/>
              <a:t>These properties are common to a class of databases that have been dubbed </a:t>
            </a:r>
            <a:r>
              <a:rPr lang="en-US" sz="2400" i="1" dirty="0" err="1" smtClean="0">
                <a:solidFill>
                  <a:srgbClr val="C00000"/>
                </a:solidFill>
              </a:rPr>
              <a:t>NoSQL</a:t>
            </a:r>
            <a:r>
              <a:rPr lang="en-US" sz="2400" i="1" dirty="0" smtClean="0">
                <a:solidFill>
                  <a:srgbClr val="C00000"/>
                </a:solidFill>
              </a:rPr>
              <a:t> databases</a:t>
            </a:r>
            <a:r>
              <a:rPr lang="en-US" sz="2400" i="1" dirty="0" smtClean="0"/>
              <a:t>.</a:t>
            </a:r>
          </a:p>
          <a:p>
            <a:r>
              <a:rPr lang="en-US" sz="2400" b="1" i="1" dirty="0" smtClean="0"/>
              <a:t>Examples: Cassandra</a:t>
            </a:r>
            <a:endParaRPr lang="en-US" sz="2400" i="1" dirty="0" smtClean="0"/>
          </a:p>
          <a:p>
            <a:r>
              <a:rPr lang="en-US" sz="2400" b="1" i="1" dirty="0" err="1" smtClean="0">
                <a:solidFill>
                  <a:srgbClr val="C00000"/>
                </a:solidFill>
              </a:rPr>
              <a:t>Realtime</a:t>
            </a:r>
            <a:r>
              <a:rPr lang="en-US" sz="2400" b="1" i="1" dirty="0" smtClean="0">
                <a:solidFill>
                  <a:srgbClr val="C00000"/>
                </a:solidFill>
              </a:rPr>
              <a:t> views are just </a:t>
            </a:r>
            <a:r>
              <a:rPr lang="en-US" sz="2400" b="1" i="1" dirty="0" err="1" smtClean="0">
                <a:solidFill>
                  <a:srgbClr val="C00000"/>
                </a:solidFill>
              </a:rPr>
              <a:t>realtime</a:t>
            </a:r>
            <a:r>
              <a:rPr lang="en-US" sz="2400" b="1" i="1" dirty="0" smtClean="0">
                <a:solidFill>
                  <a:srgbClr val="C00000"/>
                </a:solidFill>
              </a:rPr>
              <a:t> data that is processed and stored in databases.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Expiring </a:t>
            </a:r>
            <a:r>
              <a:rPr lang="en-US" dirty="0" err="1" smtClean="0"/>
              <a:t>Realtime</a:t>
            </a:r>
            <a:r>
              <a:rPr lang="en-US" dirty="0" smtClean="0"/>
              <a:t> Views</a:t>
            </a:r>
            <a:endParaRPr lang="en-US" dirty="0"/>
          </a:p>
        </p:txBody>
      </p:sp>
      <p:sp>
        <p:nvSpPr>
          <p:cNvPr id="3" name="Content Placeholder 2"/>
          <p:cNvSpPr>
            <a:spLocks noGrp="1"/>
          </p:cNvSpPr>
          <p:nvPr>
            <p:ph idx="1"/>
          </p:nvPr>
        </p:nvSpPr>
        <p:spPr/>
        <p:txBody>
          <a:bodyPr/>
          <a:lstStyle/>
          <a:p>
            <a:r>
              <a:rPr lang="en-US" sz="2400" dirty="0" smtClean="0"/>
              <a:t>Because the simpler batch and serving layers continuously override the speed layer, the speed layer views only need to represent </a:t>
            </a:r>
            <a:r>
              <a:rPr lang="en-US" sz="2400" i="1" dirty="0" smtClean="0">
                <a:solidFill>
                  <a:srgbClr val="C00000"/>
                </a:solidFill>
              </a:rPr>
              <a:t>data yet to be processed</a:t>
            </a:r>
            <a:r>
              <a:rPr lang="en-US" sz="2400" dirty="0" smtClean="0"/>
              <a:t> by the batch computation workflow.</a:t>
            </a:r>
          </a:p>
          <a:p>
            <a:r>
              <a:rPr lang="en-US" sz="2400" dirty="0" smtClean="0"/>
              <a:t>Once a </a:t>
            </a:r>
            <a:r>
              <a:rPr lang="en-US" sz="2400" u="sng" dirty="0" smtClean="0"/>
              <a:t>batch computation</a:t>
            </a:r>
            <a:r>
              <a:rPr lang="en-US" sz="2400" dirty="0" smtClean="0"/>
              <a:t> run </a:t>
            </a:r>
            <a:r>
              <a:rPr lang="en-US" sz="2400" dirty="0" smtClean="0">
                <a:solidFill>
                  <a:srgbClr val="C00000"/>
                </a:solidFill>
              </a:rPr>
              <a:t>finishes</a:t>
            </a:r>
            <a:r>
              <a:rPr lang="en-US" sz="2400" dirty="0" smtClean="0"/>
              <a:t>, you can then </a:t>
            </a:r>
            <a:r>
              <a:rPr lang="en-US" sz="2400" u="sng" dirty="0" smtClean="0"/>
              <a:t>discard</a:t>
            </a:r>
            <a:r>
              <a:rPr lang="en-US" sz="2400" dirty="0" smtClean="0"/>
              <a:t> a portion of the speed layer views—the parts now absorbed into the serving layer—but obviously you must keep  </a:t>
            </a:r>
            <a:r>
              <a:rPr lang="en-US" sz="2400" dirty="0" err="1" smtClean="0"/>
              <a:t>verything</a:t>
            </a:r>
            <a:r>
              <a:rPr lang="en-US" sz="2400" dirty="0" smtClean="0"/>
              <a:t> else.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10 Minutes</a:t>
            </a:r>
            <a:endParaRPr lang="en-US" dirty="0"/>
          </a:p>
        </p:txBody>
      </p:sp>
      <p:sp>
        <p:nvSpPr>
          <p:cNvPr id="3" name="Content Placeholder 2"/>
          <p:cNvSpPr>
            <a:spLocks noGrp="1"/>
          </p:cNvSpPr>
          <p:nvPr>
            <p:ph idx="1"/>
          </p:nvPr>
        </p:nvSpPr>
        <p:spPr/>
        <p:txBody>
          <a:bodyPr/>
          <a:lstStyle/>
          <a:p>
            <a:r>
              <a:rPr lang="en-US" sz="2400" dirty="0" smtClean="0"/>
              <a:t>After the first batch computation run, the serving layer remains empty but the speed layer has processed recent data.</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209800" y="3581400"/>
            <a:ext cx="4743450" cy="20193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15 Minutes</a:t>
            </a:r>
            <a:endParaRPr lang="en-US" dirty="0"/>
          </a:p>
        </p:txBody>
      </p:sp>
      <p:sp>
        <p:nvSpPr>
          <p:cNvPr id="3" name="Content Placeholder 2"/>
          <p:cNvSpPr>
            <a:spLocks noGrp="1"/>
          </p:cNvSpPr>
          <p:nvPr>
            <p:ph idx="1"/>
          </p:nvPr>
        </p:nvSpPr>
        <p:spPr/>
        <p:txBody>
          <a:bodyPr/>
          <a:lstStyle/>
          <a:p>
            <a:r>
              <a:rPr lang="en-US" sz="2200" dirty="0" smtClean="0"/>
              <a:t>The second run of the batch layer immediately commences to process the 10 minutes of data that accumulated during the first run. For illustrative purposes, say the second run takes 15 minutes.</a:t>
            </a:r>
          </a:p>
          <a:p>
            <a:r>
              <a:rPr lang="en-US" sz="2200" dirty="0" smtClean="0"/>
              <a:t>When it finishes, the serving layer views will represent the first 10 minutes of data, whereas the speed layer views will represent all 25 minutes of data.</a:t>
            </a:r>
          </a:p>
          <a:p>
            <a:r>
              <a:rPr lang="en-US" sz="2200" dirty="0" smtClean="0"/>
              <a:t>The first 10 minutes can now be expired from the speed layer views.</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1371600" y="4648200"/>
            <a:ext cx="6553200" cy="1778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18 Minutes</a:t>
            </a:r>
            <a:endParaRPr lang="en-US" dirty="0"/>
          </a:p>
        </p:txBody>
      </p:sp>
      <p:sp>
        <p:nvSpPr>
          <p:cNvPr id="3" name="Content Placeholder 2"/>
          <p:cNvSpPr>
            <a:spLocks noGrp="1"/>
          </p:cNvSpPr>
          <p:nvPr>
            <p:ph idx="1"/>
          </p:nvPr>
        </p:nvSpPr>
        <p:spPr/>
        <p:txBody>
          <a:bodyPr/>
          <a:lstStyle/>
          <a:p>
            <a:r>
              <a:rPr lang="en-US" sz="2400" dirty="0" smtClean="0"/>
              <a:t>Finally, suppose the third run of the batch layer takes 18 minutes. Consider the instant </a:t>
            </a:r>
            <a:r>
              <a:rPr lang="en-US" sz="2400" i="1" dirty="0" smtClean="0">
                <a:solidFill>
                  <a:srgbClr val="C00000"/>
                </a:solidFill>
              </a:rPr>
              <a:t>before</a:t>
            </a:r>
            <a:r>
              <a:rPr lang="en-US" sz="2400" dirty="0" smtClean="0"/>
              <a:t> the third run completes.</a:t>
            </a:r>
          </a:p>
          <a:p>
            <a:r>
              <a:rPr lang="en-US" sz="2400" dirty="0" smtClean="0"/>
              <a:t>At this point, the serving layer still only represents 10 minutes of data, leaving the speed layer to handle the remaining 33 minutes of data.</a:t>
            </a:r>
          </a:p>
          <a:p>
            <a:r>
              <a:rPr lang="en-US" sz="2400" dirty="0" smtClean="0"/>
              <a:t>When a batch layer run finishes, data from three runs ago can safely be discarded from the speed layer.</a:t>
            </a:r>
            <a:endParaRPr lang="en-US" sz="2200" dirty="0"/>
          </a:p>
        </p:txBody>
      </p:sp>
      <p:pic>
        <p:nvPicPr>
          <p:cNvPr id="3074" name="Picture 2"/>
          <p:cNvPicPr>
            <a:picLocks noChangeAspect="1" noChangeArrowheads="1"/>
          </p:cNvPicPr>
          <p:nvPr/>
        </p:nvPicPr>
        <p:blipFill>
          <a:blip r:embed="rId2" cstate="print"/>
          <a:srcRect/>
          <a:stretch>
            <a:fillRect/>
          </a:stretch>
        </p:blipFill>
        <p:spPr bwMode="auto">
          <a:xfrm>
            <a:off x="990600" y="4591050"/>
            <a:ext cx="7253288" cy="13525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Sets of </a:t>
            </a:r>
            <a:r>
              <a:rPr lang="en-US" dirty="0" err="1" smtClean="0"/>
              <a:t>Realtime</a:t>
            </a:r>
            <a:r>
              <a:rPr lang="en-US" dirty="0" smtClean="0"/>
              <a:t> Views</a:t>
            </a:r>
            <a:endParaRPr lang="en-US" dirty="0"/>
          </a:p>
        </p:txBody>
      </p:sp>
      <p:sp>
        <p:nvSpPr>
          <p:cNvPr id="3" name="Content Placeholder 2"/>
          <p:cNvSpPr>
            <a:spLocks noGrp="1"/>
          </p:cNvSpPr>
          <p:nvPr>
            <p:ph idx="1"/>
          </p:nvPr>
        </p:nvSpPr>
        <p:spPr/>
        <p:txBody>
          <a:bodyPr/>
          <a:lstStyle/>
          <a:p>
            <a:r>
              <a:rPr lang="en-US" sz="2200" dirty="0" smtClean="0"/>
              <a:t>The simplest way to accomplish this task is to maintain </a:t>
            </a:r>
            <a:r>
              <a:rPr lang="en-US" sz="2200" i="1" dirty="0" smtClean="0">
                <a:solidFill>
                  <a:srgbClr val="C00000"/>
                </a:solidFill>
              </a:rPr>
              <a:t>two sets of </a:t>
            </a:r>
            <a:r>
              <a:rPr lang="en-US" sz="2200" i="1" dirty="0" err="1" smtClean="0">
                <a:solidFill>
                  <a:srgbClr val="C00000"/>
                </a:solidFill>
              </a:rPr>
              <a:t>realtime</a:t>
            </a:r>
            <a:r>
              <a:rPr lang="en-US" sz="2200" i="1" dirty="0" smtClean="0">
                <a:solidFill>
                  <a:srgbClr val="C00000"/>
                </a:solidFill>
              </a:rPr>
              <a:t> views</a:t>
            </a:r>
            <a:r>
              <a:rPr lang="en-US" sz="2200" dirty="0" smtClean="0"/>
              <a:t> and </a:t>
            </a:r>
            <a:r>
              <a:rPr lang="en-US" sz="2200" u="sng" dirty="0" smtClean="0"/>
              <a:t>alternate clearing them</a:t>
            </a:r>
            <a:r>
              <a:rPr lang="en-US" sz="2200" dirty="0" smtClean="0"/>
              <a:t> after each batch layer run.</a:t>
            </a:r>
          </a:p>
          <a:p>
            <a:r>
              <a:rPr lang="en-US" sz="2200" dirty="0" smtClean="0"/>
              <a:t>One of those sets of </a:t>
            </a:r>
            <a:r>
              <a:rPr lang="en-US" sz="2200" dirty="0" err="1" smtClean="0"/>
              <a:t>realtime</a:t>
            </a:r>
            <a:r>
              <a:rPr lang="en-US" sz="2200" dirty="0" smtClean="0"/>
              <a:t> views will exactly represent the data necessary to compensate for the serving layer views.</a:t>
            </a:r>
          </a:p>
          <a:p>
            <a:r>
              <a:rPr lang="en-US" sz="2200" dirty="0" smtClean="0"/>
              <a:t>After each batch layer run, the </a:t>
            </a:r>
            <a:r>
              <a:rPr lang="en-US" sz="2200" i="1" dirty="0" smtClean="0">
                <a:solidFill>
                  <a:srgbClr val="C00000"/>
                </a:solidFill>
              </a:rPr>
              <a:t>application</a:t>
            </a:r>
            <a:r>
              <a:rPr lang="en-US" sz="2200" dirty="0" smtClean="0"/>
              <a:t> should switch to </a:t>
            </a:r>
            <a:r>
              <a:rPr lang="en-US" sz="2200" u="sng" dirty="0" smtClean="0"/>
              <a:t>reading</a:t>
            </a:r>
            <a:r>
              <a:rPr lang="en-US" sz="2200" dirty="0" smtClean="0"/>
              <a:t> from the </a:t>
            </a:r>
            <a:r>
              <a:rPr lang="en-US" sz="2200" dirty="0" err="1" smtClean="0"/>
              <a:t>realtime</a:t>
            </a:r>
            <a:r>
              <a:rPr lang="en-US" sz="2200" dirty="0" smtClean="0"/>
              <a:t> view with </a:t>
            </a:r>
            <a:r>
              <a:rPr lang="en-US" sz="2200" u="sng" dirty="0" smtClean="0"/>
              <a:t>more data</a:t>
            </a:r>
            <a:r>
              <a:rPr lang="en-US" sz="2200" dirty="0" smtClean="0"/>
              <a:t> (and away from the one that was just cleared).</a:t>
            </a:r>
          </a:p>
          <a:p>
            <a:r>
              <a:rPr lang="en-US" sz="2200" b="1" dirty="0" smtClean="0">
                <a:solidFill>
                  <a:srgbClr val="C00000"/>
                </a:solidFill>
              </a:rPr>
              <a:t>This is the key idea of Lambda Architecture.</a:t>
            </a:r>
            <a:endParaRPr lang="en-US" sz="2200" b="1" dirty="0">
              <a:solidFill>
                <a:srgbClr val="C00000"/>
              </a:solidFill>
            </a:endParaRPr>
          </a:p>
        </p:txBody>
      </p:sp>
      <p:pic>
        <p:nvPicPr>
          <p:cNvPr id="4098" name="Picture 2"/>
          <p:cNvPicPr>
            <a:picLocks noChangeAspect="1" noChangeArrowheads="1"/>
          </p:cNvPicPr>
          <p:nvPr/>
        </p:nvPicPr>
        <p:blipFill>
          <a:blip r:embed="rId3" cstate="print"/>
          <a:srcRect/>
          <a:stretch>
            <a:fillRect/>
          </a:stretch>
        </p:blipFill>
        <p:spPr bwMode="auto">
          <a:xfrm>
            <a:off x="685800" y="4977130"/>
            <a:ext cx="7916545" cy="127127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Traditional Reporting</a:t>
            </a:r>
            <a:endParaRPr lang="en-US" dirty="0"/>
          </a:p>
        </p:txBody>
      </p:sp>
      <p:sp>
        <p:nvSpPr>
          <p:cNvPr id="3" name="Content Placeholder 2"/>
          <p:cNvSpPr>
            <a:spLocks noGrp="1"/>
          </p:cNvSpPr>
          <p:nvPr>
            <p:ph idx="1"/>
          </p:nvPr>
        </p:nvSpPr>
        <p:spPr/>
        <p:txBody>
          <a:bodyPr/>
          <a:lstStyle/>
          <a:p>
            <a:r>
              <a:rPr lang="en-US" sz="2400" dirty="0" smtClean="0">
                <a:hlinkClick r:id="rId2"/>
              </a:rPr>
              <a:t>https://www.linkedin.com/pulse/lambda-architecture-practical-example-richard-sun</a:t>
            </a:r>
            <a:endParaRPr lang="en-US" sz="2400" dirty="0" smtClean="0"/>
          </a:p>
          <a:p>
            <a:r>
              <a:rPr lang="en-US" sz="2400" dirty="0" smtClean="0"/>
              <a:t>Daily User Counts</a:t>
            </a:r>
          </a:p>
          <a:p>
            <a:endParaRPr lang="en-US" sz="2400" dirty="0" smtClean="0"/>
          </a:p>
          <a:p>
            <a:endParaRPr lang="en-US" sz="2400" dirty="0" smtClean="0"/>
          </a:p>
          <a:p>
            <a:endParaRPr lang="en-US" sz="2400" dirty="0" smtClean="0"/>
          </a:p>
          <a:p>
            <a:endParaRPr lang="en-US" sz="2400" dirty="0" smtClean="0"/>
          </a:p>
          <a:p>
            <a:r>
              <a:rPr lang="en-US" sz="2400" dirty="0" smtClean="0"/>
              <a:t>SELECT COUNT(DISTINCT </a:t>
            </a:r>
            <a:r>
              <a:rPr lang="en-US" sz="2400" dirty="0" err="1" smtClean="0"/>
              <a:t>player_id</a:t>
            </a:r>
            <a:r>
              <a:rPr lang="en-US" sz="2400" dirty="0" smtClean="0"/>
              <a:t>) </a:t>
            </a:r>
          </a:p>
          <a:p>
            <a:pPr>
              <a:buNone/>
            </a:pPr>
            <a:r>
              <a:rPr lang="en-US" sz="2400" dirty="0" smtClean="0"/>
              <a:t>	FROM </a:t>
            </a:r>
            <a:r>
              <a:rPr lang="en-US" sz="2400" dirty="0" err="1" smtClean="0"/>
              <a:t>player_table</a:t>
            </a:r>
            <a:r>
              <a:rPr lang="en-US" sz="2400" dirty="0" smtClean="0"/>
              <a:t> </a:t>
            </a:r>
          </a:p>
          <a:p>
            <a:pPr>
              <a:buNone/>
            </a:pPr>
            <a:r>
              <a:rPr lang="en-US" sz="2400" dirty="0" smtClean="0"/>
              <a:t>	WHERE DATE(`timestamp`) = DATE_SUB(CUR_DATE(), INTERVAL 1 DAY)</a:t>
            </a:r>
          </a:p>
        </p:txBody>
      </p:sp>
      <p:pic>
        <p:nvPicPr>
          <p:cNvPr id="48130" name="Picture 2" descr="No alt text provided for this image"/>
          <p:cNvPicPr>
            <a:picLocks noChangeAspect="1" noChangeArrowheads="1"/>
          </p:cNvPicPr>
          <p:nvPr/>
        </p:nvPicPr>
        <p:blipFill>
          <a:blip r:embed="rId3" cstate="print"/>
          <a:srcRect/>
          <a:stretch>
            <a:fillRect/>
          </a:stretch>
        </p:blipFill>
        <p:spPr bwMode="auto">
          <a:xfrm>
            <a:off x="1066800" y="2886074"/>
            <a:ext cx="7086600" cy="153352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Message Queue and Batch Layer</a:t>
            </a:r>
            <a:endParaRPr lang="en-US" dirty="0"/>
          </a:p>
        </p:txBody>
      </p:sp>
      <p:sp>
        <p:nvSpPr>
          <p:cNvPr id="3" name="Content Placeholder 2"/>
          <p:cNvSpPr>
            <a:spLocks noGrp="1"/>
          </p:cNvSpPr>
          <p:nvPr>
            <p:ph idx="1"/>
          </p:nvPr>
        </p:nvSpPr>
        <p:spPr/>
        <p:txBody>
          <a:bodyPr/>
          <a:lstStyle/>
          <a:p>
            <a:r>
              <a:rPr lang="en-US" sz="2400" dirty="0" smtClean="0"/>
              <a:t>Write to a message queue instead, which can efficiently support a high number of write requests.</a:t>
            </a:r>
          </a:p>
          <a:p>
            <a:r>
              <a:rPr lang="en-US" sz="2400" dirty="0" smtClean="0"/>
              <a:t>Introduce data retention by regularly purging stale data used already by previous daily jobs from the message queue.</a:t>
            </a:r>
            <a:endParaRPr lang="en-US" sz="2400" b="1" dirty="0" smtClean="0"/>
          </a:p>
        </p:txBody>
      </p:sp>
      <p:pic>
        <p:nvPicPr>
          <p:cNvPr id="50178" name="Picture 2" descr="No alt text provided for this image"/>
          <p:cNvPicPr>
            <a:picLocks noChangeAspect="1" noChangeArrowheads="1"/>
          </p:cNvPicPr>
          <p:nvPr/>
        </p:nvPicPr>
        <p:blipFill>
          <a:blip r:embed="rId2" cstate="print"/>
          <a:srcRect/>
          <a:stretch>
            <a:fillRect/>
          </a:stretch>
        </p:blipFill>
        <p:spPr bwMode="auto">
          <a:xfrm>
            <a:off x="1219200" y="3486149"/>
            <a:ext cx="7086600" cy="2457451"/>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Today Counts and Real-time Layer</a:t>
            </a:r>
            <a:endParaRPr lang="en-US" dirty="0"/>
          </a:p>
        </p:txBody>
      </p:sp>
      <p:sp>
        <p:nvSpPr>
          <p:cNvPr id="3" name="Content Placeholder 2"/>
          <p:cNvSpPr>
            <a:spLocks noGrp="1"/>
          </p:cNvSpPr>
          <p:nvPr>
            <p:ph idx="1"/>
          </p:nvPr>
        </p:nvSpPr>
        <p:spPr/>
        <p:txBody>
          <a:bodyPr/>
          <a:lstStyle/>
          <a:p>
            <a:r>
              <a:rPr lang="en-US" sz="2000" dirty="0" smtClean="0"/>
              <a:t>We set up our streaming job, and add it as an additional consumer to our message queue where it constantly fetches the latest user IDs from the queue. </a:t>
            </a:r>
            <a:r>
              <a:rPr lang="en-US" sz="2000" b="1" dirty="0" smtClean="0">
                <a:solidFill>
                  <a:srgbClr val="C00000"/>
                </a:solidFill>
              </a:rPr>
              <a:t>The key idea is that this consumer serves only for today count. The important idea is cutover time.</a:t>
            </a:r>
          </a:p>
          <a:p>
            <a:r>
              <a:rPr lang="en-US" sz="2000" dirty="0" smtClean="0"/>
              <a:t>Since Bob is fine with just a rough number in real-time, we decide to use a probabilistic cardinality counter, such as </a:t>
            </a:r>
            <a:r>
              <a:rPr lang="en-US" sz="2000" dirty="0" err="1" smtClean="0"/>
              <a:t>HyperLogLog</a:t>
            </a:r>
            <a:r>
              <a:rPr lang="en-US" sz="2000" dirty="0" smtClean="0"/>
              <a:t> which can approximate the number of </a:t>
            </a:r>
            <a:r>
              <a:rPr lang="en-US" sz="2000" dirty="0" err="1" smtClean="0"/>
              <a:t>uniques</a:t>
            </a:r>
            <a:r>
              <a:rPr lang="en-US" sz="2000" dirty="0" smtClean="0"/>
              <a:t> to a high degree of accuracy at a fraction of the memory footprint.</a:t>
            </a:r>
          </a:p>
        </p:txBody>
      </p:sp>
      <p:pic>
        <p:nvPicPr>
          <p:cNvPr id="51202" name="Picture 2" descr="No alt text provided for this image"/>
          <p:cNvPicPr>
            <a:picLocks noChangeAspect="1" noChangeArrowheads="1"/>
          </p:cNvPicPr>
          <p:nvPr/>
        </p:nvPicPr>
        <p:blipFill>
          <a:blip r:embed="rId2" cstate="print"/>
          <a:srcRect/>
          <a:stretch>
            <a:fillRect/>
          </a:stretch>
        </p:blipFill>
        <p:spPr bwMode="auto">
          <a:xfrm>
            <a:off x="2209800" y="4191000"/>
            <a:ext cx="4724643" cy="2089257"/>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Serving Layer</a:t>
            </a:r>
            <a:endParaRPr lang="en-US" dirty="0"/>
          </a:p>
        </p:txBody>
      </p:sp>
      <p:sp>
        <p:nvSpPr>
          <p:cNvPr id="3" name="Content Placeholder 2"/>
          <p:cNvSpPr>
            <a:spLocks noGrp="1"/>
          </p:cNvSpPr>
          <p:nvPr>
            <p:ph idx="1"/>
          </p:nvPr>
        </p:nvSpPr>
        <p:spPr/>
        <p:txBody>
          <a:bodyPr/>
          <a:lstStyle/>
          <a:p>
            <a:r>
              <a:rPr lang="en-US" sz="2400" dirty="0" smtClean="0"/>
              <a:t>We join the different databases we have behind a single interface, and build tools and dashboards so the business team can visualize the data and run reports on an ad-hoc basis. </a:t>
            </a:r>
            <a:r>
              <a:rPr lang="en-US" sz="2400" b="1" dirty="0" smtClean="0">
                <a:solidFill>
                  <a:srgbClr val="C00000"/>
                </a:solidFill>
              </a:rPr>
              <a:t>The key idea is to use cutover time to merge data of different databases.</a:t>
            </a:r>
            <a:endParaRPr lang="en-US" sz="2400" dirty="0" smtClean="0"/>
          </a:p>
        </p:txBody>
      </p:sp>
      <p:pic>
        <p:nvPicPr>
          <p:cNvPr id="52226" name="Picture 2" descr="No alt text provided for this image"/>
          <p:cNvPicPr>
            <a:picLocks noChangeAspect="1" noChangeArrowheads="1"/>
          </p:cNvPicPr>
          <p:nvPr/>
        </p:nvPicPr>
        <p:blipFill>
          <a:blip r:embed="rId2" cstate="print"/>
          <a:srcRect/>
          <a:stretch>
            <a:fillRect/>
          </a:stretch>
        </p:blipFill>
        <p:spPr bwMode="auto">
          <a:xfrm>
            <a:off x="1143000" y="3857624"/>
            <a:ext cx="7086600" cy="1781176"/>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r>
              <a:rPr lang="en-US" sz="2000" dirty="0" smtClean="0">
                <a:hlinkClick r:id="rId2"/>
              </a:rPr>
              <a:t>https://www.linkedin.com/pulse/how-i-created-real-time-data-processing-pipeline-using-shergill</a:t>
            </a:r>
            <a:endParaRPr lang="en-US" sz="2000" dirty="0" smtClean="0"/>
          </a:p>
        </p:txBody>
      </p:sp>
      <p:pic>
        <p:nvPicPr>
          <p:cNvPr id="15362" name="Picture 2" descr="https://media.licdn.com/dms/image/D5612AQElAlLEtznUDg/article-cover_image-shrink_720_1280/0/1662952445412?e=2147483647&amp;v=beta&amp;t=XFS5t6XiuOd3vUo2dWQ7CGxm9QcR3SUTkR3B5_kQ02U"/>
          <p:cNvPicPr>
            <a:picLocks noChangeAspect="1" noChangeArrowheads="1"/>
          </p:cNvPicPr>
          <p:nvPr/>
        </p:nvPicPr>
        <p:blipFill>
          <a:blip r:embed="rId3" cstate="print"/>
          <a:srcRect/>
          <a:stretch>
            <a:fillRect/>
          </a:stretch>
        </p:blipFill>
        <p:spPr bwMode="auto">
          <a:xfrm>
            <a:off x="1219200" y="2743200"/>
            <a:ext cx="6423025" cy="3513773"/>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 Notes</a:t>
            </a:r>
            <a:endParaRPr lang="en-US" dirty="0"/>
          </a:p>
        </p:txBody>
      </p:sp>
      <p:sp>
        <p:nvSpPr>
          <p:cNvPr id="3" name="Content Placeholder 2"/>
          <p:cNvSpPr>
            <a:spLocks noGrp="1"/>
          </p:cNvSpPr>
          <p:nvPr>
            <p:ph idx="1"/>
          </p:nvPr>
        </p:nvSpPr>
        <p:spPr/>
        <p:txBody>
          <a:bodyPr/>
          <a:lstStyle/>
          <a:p>
            <a:r>
              <a:rPr lang="en-US" sz="2200" dirty="0" smtClean="0"/>
              <a:t>Batch Layer uses Spark SQL API as a computation engine for processing all the data from Master Hive Dataset and Hive Table and creating a batch view which gets stored back to the Hive Table.</a:t>
            </a:r>
          </a:p>
          <a:p>
            <a:r>
              <a:rPr lang="en-US" sz="2200" dirty="0" smtClean="0"/>
              <a:t>The stream processing engine I have used is Spark Structured Streaming. </a:t>
            </a:r>
            <a:r>
              <a:rPr lang="en-US" sz="2200" dirty="0" err="1" smtClean="0"/>
              <a:t>HBase</a:t>
            </a:r>
            <a:r>
              <a:rPr lang="en-US" sz="2200" dirty="0" smtClean="0"/>
              <a:t> is low latency </a:t>
            </a:r>
            <a:r>
              <a:rPr lang="en-US" sz="2200" dirty="0" err="1" smtClean="0"/>
              <a:t>NoSQL</a:t>
            </a:r>
            <a:r>
              <a:rPr lang="en-US" sz="2200" dirty="0" smtClean="0"/>
              <a:t> database which can handle random access writes optimal for storing real-time data. </a:t>
            </a:r>
          </a:p>
          <a:p>
            <a:r>
              <a:rPr lang="en-US" sz="2200" dirty="0" smtClean="0"/>
              <a:t>I have used Apache Druid for joining Batch and Real-time views as this database is made for real-time data analytics applications. This enables us to run low latency SQL queries on top of various data sources which is perfect for my use case. I can query Hive source which stores my Batch views and </a:t>
            </a:r>
            <a:r>
              <a:rPr lang="en-US" sz="2200" dirty="0" err="1" smtClean="0"/>
              <a:t>HBase</a:t>
            </a:r>
            <a:r>
              <a:rPr lang="en-US" sz="2200" dirty="0" smtClean="0"/>
              <a:t> which stores my Real-time views. </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 </a:t>
            </a:r>
            <a:endParaRPr lang="en-US" dirty="0"/>
          </a:p>
        </p:txBody>
      </p:sp>
      <p:sp>
        <p:nvSpPr>
          <p:cNvPr id="3" name="Content Placeholder 2"/>
          <p:cNvSpPr>
            <a:spLocks noGrp="1"/>
          </p:cNvSpPr>
          <p:nvPr>
            <p:ph idx="1"/>
          </p:nvPr>
        </p:nvSpPr>
        <p:spPr/>
        <p:txBody>
          <a:bodyPr/>
          <a:lstStyle/>
          <a:p>
            <a:r>
              <a:rPr lang="en-US" sz="1800" dirty="0" smtClean="0">
                <a:hlinkClick r:id="rId2"/>
              </a:rPr>
              <a:t>https://blog.insightdatascience.com/implementing-lambda-architecture-to-track-real-time-updates-f99f03e0c53</a:t>
            </a:r>
            <a:endParaRPr lang="en-US" sz="1800" dirty="0" smtClean="0"/>
          </a:p>
          <a:p>
            <a:r>
              <a:rPr lang="en-US" sz="1800" b="1" dirty="0" smtClean="0">
                <a:solidFill>
                  <a:srgbClr val="C00000"/>
                </a:solidFill>
              </a:rPr>
              <a:t>The key idea is to use three database tables</a:t>
            </a:r>
            <a:r>
              <a:rPr lang="en-US" sz="1800" dirty="0" smtClean="0"/>
              <a:t>: one that stores the result of the batch processing, one that stores only the trades made since the last batch processing run was finished, and one that stores the correct up to date values.</a:t>
            </a:r>
          </a:p>
          <a:p>
            <a:r>
              <a:rPr lang="en-US" sz="1800" dirty="0" smtClean="0"/>
              <a:t>By using a separate database table to record only deltas, and having the full counts replaced by the results of the batch processing, any incorrect results caused by software, hardware or network problems will be resolved after a successful run of the batch processing, ensuring accurate results after each run.</a:t>
            </a:r>
            <a:endParaRPr lang="en-US" sz="1800" b="1" dirty="0" smtClean="0"/>
          </a:p>
        </p:txBody>
      </p:sp>
      <p:sp>
        <p:nvSpPr>
          <p:cNvPr id="53250" name="AutoShape 2"/>
          <p:cNvSpPr>
            <a:spLocks noChangeAspect="1" noChangeArrowheads="1"/>
          </p:cNvSpPr>
          <p:nvPr/>
        </p:nvSpPr>
        <p:spPr bwMode="auto">
          <a:xfrm>
            <a:off x="155575" y="-1698625"/>
            <a:ext cx="9525000" cy="35433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3252" name="AutoShape 4"/>
          <p:cNvSpPr>
            <a:spLocks noChangeAspect="1" noChangeArrowheads="1"/>
          </p:cNvSpPr>
          <p:nvPr/>
        </p:nvSpPr>
        <p:spPr bwMode="auto">
          <a:xfrm>
            <a:off x="155575" y="-1698625"/>
            <a:ext cx="9525000" cy="35433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3253" name="Picture 5"/>
          <p:cNvPicPr>
            <a:picLocks noChangeAspect="1" noChangeArrowheads="1"/>
          </p:cNvPicPr>
          <p:nvPr/>
        </p:nvPicPr>
        <p:blipFill>
          <a:blip r:embed="rId3" cstate="print"/>
          <a:srcRect/>
          <a:stretch>
            <a:fillRect/>
          </a:stretch>
        </p:blipFill>
        <p:spPr bwMode="auto">
          <a:xfrm>
            <a:off x="2544763" y="4664075"/>
            <a:ext cx="4054475" cy="15081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Kappa Architecture</a:t>
            </a:r>
            <a:endParaRPr lang="en-US" dirty="0"/>
          </a:p>
        </p:txBody>
      </p:sp>
      <p:sp>
        <p:nvSpPr>
          <p:cNvPr id="3" name="Content Placeholder 2"/>
          <p:cNvSpPr>
            <a:spLocks noGrp="1"/>
          </p:cNvSpPr>
          <p:nvPr>
            <p:ph idx="1"/>
          </p:nvPr>
        </p:nvSpPr>
        <p:spPr/>
        <p:txBody>
          <a:bodyPr/>
          <a:lstStyle/>
          <a:p>
            <a:r>
              <a:rPr lang="en-US" sz="2400" dirty="0" smtClean="0">
                <a:hlinkClick r:id="rId2"/>
              </a:rPr>
              <a:t>https://milinda.pathirage.org/kappa-architecture.com/</a:t>
            </a:r>
            <a:endParaRPr lang="en-US" sz="2400" dirty="0" smtClean="0"/>
          </a:p>
          <a:p>
            <a:r>
              <a:rPr lang="en-US" sz="2400" dirty="0" smtClean="0"/>
              <a:t>Kappa Architecture is a simplification of Lambda Architecture.</a:t>
            </a:r>
          </a:p>
          <a:p>
            <a:r>
              <a:rPr lang="en-US" sz="2400" dirty="0" smtClean="0"/>
              <a:t>A Kappa Architecture system is like a Lambda Architecture system with </a:t>
            </a:r>
            <a:r>
              <a:rPr lang="en-US" sz="2400" i="1" dirty="0" smtClean="0">
                <a:solidFill>
                  <a:srgbClr val="C00000"/>
                </a:solidFill>
              </a:rPr>
              <a:t>the batch processing system removed</a:t>
            </a:r>
            <a:r>
              <a:rPr lang="en-US" sz="2400" dirty="0" smtClean="0"/>
              <a:t>.</a:t>
            </a:r>
          </a:p>
          <a:p>
            <a:r>
              <a:rPr lang="en-US" sz="2400" dirty="0" smtClean="0"/>
              <a:t>To replace batch processing, data is simply fed through the streaming system quickly.</a:t>
            </a:r>
          </a:p>
          <a:p>
            <a:endParaRPr lang="en-US" sz="2400"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a:t>
            </a:r>
            <a:r>
              <a:rPr lang="en-US" dirty="0" smtClean="0"/>
              <a:t>Architecture</a:t>
            </a:r>
            <a:endParaRPr lang="en-US" dirty="0"/>
          </a:p>
        </p:txBody>
      </p:sp>
      <p:sp>
        <p:nvSpPr>
          <p:cNvPr id="3" name="Content Placeholder 2"/>
          <p:cNvSpPr>
            <a:spLocks noGrp="1"/>
          </p:cNvSpPr>
          <p:nvPr>
            <p:ph idx="1"/>
          </p:nvPr>
        </p:nvSpPr>
        <p:spPr/>
        <p:txBody>
          <a:bodyPr/>
          <a:lstStyle/>
          <a:p>
            <a:r>
              <a:rPr lang="en-US" sz="2000" dirty="0" smtClean="0">
                <a:hlinkClick r:id="rId2"/>
              </a:rPr>
              <a:t>https://learn.microsoft.com/en-us/azure/architecture/databases/guide/big-data-architectures</a:t>
            </a:r>
            <a:endParaRPr lang="en-US" sz="2000" dirty="0" smtClean="0"/>
          </a:p>
          <a:p>
            <a:endParaRPr lang="en-US" sz="2000" dirty="0" smtClean="0"/>
          </a:p>
        </p:txBody>
      </p:sp>
      <p:pic>
        <p:nvPicPr>
          <p:cNvPr id="35842" name="Picture 2" descr="https://learn.microsoft.com/en-us/azure/architecture/databases/guide/_images/lambda.png"/>
          <p:cNvPicPr>
            <a:picLocks noChangeAspect="1" noChangeArrowheads="1"/>
          </p:cNvPicPr>
          <p:nvPr/>
        </p:nvPicPr>
        <p:blipFill>
          <a:blip r:embed="rId3" cstate="print"/>
          <a:srcRect/>
          <a:stretch>
            <a:fillRect/>
          </a:stretch>
        </p:blipFill>
        <p:spPr bwMode="auto">
          <a:xfrm>
            <a:off x="1600200" y="2971800"/>
            <a:ext cx="5753100" cy="2828925"/>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Kappa Architecture</a:t>
            </a:r>
            <a:endParaRPr lang="en-US" dirty="0"/>
          </a:p>
        </p:txBody>
      </p:sp>
      <p:sp>
        <p:nvSpPr>
          <p:cNvPr id="3" name="Content Placeholder 2"/>
          <p:cNvSpPr>
            <a:spLocks noGrp="1"/>
          </p:cNvSpPr>
          <p:nvPr>
            <p:ph idx="1"/>
          </p:nvPr>
        </p:nvSpPr>
        <p:spPr/>
        <p:txBody>
          <a:bodyPr/>
          <a:lstStyle/>
          <a:p>
            <a:r>
              <a:rPr lang="en-US" sz="2000" dirty="0" smtClean="0">
                <a:hlinkClick r:id="rId2"/>
              </a:rPr>
              <a:t>https://learn.microsoft.com/en-us/azure/architecture/databases/guide/big-data-architectures</a:t>
            </a:r>
            <a:endParaRPr lang="en-US" sz="2000" dirty="0" smtClean="0"/>
          </a:p>
          <a:p>
            <a:endParaRPr lang="en-US" sz="2000" dirty="0" smtClean="0"/>
          </a:p>
        </p:txBody>
      </p:sp>
      <p:pic>
        <p:nvPicPr>
          <p:cNvPr id="9218" name="Picture 2" descr="Kappa architecture diagram"/>
          <p:cNvPicPr>
            <a:picLocks noChangeAspect="1" noChangeArrowheads="1"/>
          </p:cNvPicPr>
          <p:nvPr/>
        </p:nvPicPr>
        <p:blipFill>
          <a:blip r:embed="rId3" cstate="print"/>
          <a:srcRect/>
          <a:stretch>
            <a:fillRect/>
          </a:stretch>
        </p:blipFill>
        <p:spPr bwMode="auto">
          <a:xfrm>
            <a:off x="1828800" y="3048000"/>
            <a:ext cx="6010275" cy="2524126"/>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Beam</a:t>
            </a:r>
            <a:endParaRPr lang="en-US" dirty="0"/>
          </a:p>
        </p:txBody>
      </p:sp>
      <p:sp>
        <p:nvSpPr>
          <p:cNvPr id="3" name="Content Placeholder 2"/>
          <p:cNvSpPr>
            <a:spLocks noGrp="1"/>
          </p:cNvSpPr>
          <p:nvPr>
            <p:ph idx="1"/>
          </p:nvPr>
        </p:nvSpPr>
        <p:spPr/>
        <p:txBody>
          <a:bodyPr/>
          <a:lstStyle/>
          <a:p>
            <a:r>
              <a:rPr lang="en-US" sz="2400" dirty="0" smtClean="0">
                <a:hlinkClick r:id="rId2"/>
              </a:rPr>
              <a:t>https://beam.apache.org/get-started/beam-overview/</a:t>
            </a:r>
            <a:endParaRPr lang="en-US" sz="2400" dirty="0" smtClean="0"/>
          </a:p>
          <a:p>
            <a:r>
              <a:rPr lang="en-US" sz="2400" dirty="0" smtClean="0"/>
              <a:t>Apache Beam is an open source, unified model for defining both batch and streaming data-parallel processing pipelines.</a:t>
            </a:r>
          </a:p>
          <a:p>
            <a:r>
              <a:rPr lang="en-US" sz="2400" dirty="0" smtClean="0"/>
              <a:t>Using one of the open source Beam SDKs, you build a program that defines the pipeline.</a:t>
            </a:r>
          </a:p>
          <a:p>
            <a:r>
              <a:rPr lang="en-US" sz="2400" dirty="0" smtClean="0"/>
              <a:t>The pipeline is then executed by one of Beam’s supported distributed processing back-ends, which include Apache </a:t>
            </a:r>
            <a:r>
              <a:rPr lang="en-US" sz="2400" dirty="0" err="1" smtClean="0"/>
              <a:t>Flink</a:t>
            </a:r>
            <a:r>
              <a:rPr lang="en-US" sz="2400" dirty="0" smtClean="0"/>
              <a:t>, Apache Spark, and Google Cloud Dataflow.</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Beam Overview</a:t>
            </a:r>
            <a:endParaRPr lang="en-US" dirty="0"/>
          </a:p>
        </p:txBody>
      </p:sp>
      <p:pic>
        <p:nvPicPr>
          <p:cNvPr id="2050" name="Picture 2" descr="https://beam.apache.org/images/learner_graph.png"/>
          <p:cNvPicPr>
            <a:picLocks noChangeAspect="1" noChangeArrowheads="1"/>
          </p:cNvPicPr>
          <p:nvPr/>
        </p:nvPicPr>
        <p:blipFill>
          <a:blip r:embed="rId2" cstate="print"/>
          <a:srcRect/>
          <a:stretch>
            <a:fillRect/>
          </a:stretch>
        </p:blipFill>
        <p:spPr bwMode="auto">
          <a:xfrm>
            <a:off x="2209800" y="1754505"/>
            <a:ext cx="5038408" cy="4493895"/>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Beam SDKs</a:t>
            </a:r>
            <a:endParaRPr lang="en-US" dirty="0"/>
          </a:p>
        </p:txBody>
      </p:sp>
      <p:sp>
        <p:nvSpPr>
          <p:cNvPr id="3" name="Content Placeholder 2"/>
          <p:cNvSpPr>
            <a:spLocks noGrp="1"/>
          </p:cNvSpPr>
          <p:nvPr>
            <p:ph idx="1"/>
          </p:nvPr>
        </p:nvSpPr>
        <p:spPr/>
        <p:txBody>
          <a:bodyPr/>
          <a:lstStyle/>
          <a:p>
            <a:r>
              <a:rPr lang="en-US" dirty="0" smtClean="0"/>
              <a:t>Apache Beam Java SDK Java</a:t>
            </a:r>
          </a:p>
          <a:p>
            <a:r>
              <a:rPr lang="en-US" dirty="0" smtClean="0"/>
              <a:t>Apache Beam Python SDK Python</a:t>
            </a:r>
          </a:p>
          <a:p>
            <a:r>
              <a:rPr lang="en-US" dirty="0" smtClean="0"/>
              <a:t>Apache Beam Go SDK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Beam Pipeline Runners</a:t>
            </a:r>
            <a:endParaRPr lang="en-US" dirty="0"/>
          </a:p>
        </p:txBody>
      </p:sp>
      <p:sp>
        <p:nvSpPr>
          <p:cNvPr id="3" name="Content Placeholder 2"/>
          <p:cNvSpPr>
            <a:spLocks noGrp="1"/>
          </p:cNvSpPr>
          <p:nvPr>
            <p:ph idx="1"/>
          </p:nvPr>
        </p:nvSpPr>
        <p:spPr/>
        <p:txBody>
          <a:bodyPr/>
          <a:lstStyle/>
          <a:p>
            <a:r>
              <a:rPr lang="en-US" dirty="0" smtClean="0"/>
              <a:t>Direct Runner</a:t>
            </a:r>
          </a:p>
          <a:p>
            <a:r>
              <a:rPr lang="en-US" dirty="0" smtClean="0"/>
              <a:t>Apache </a:t>
            </a:r>
            <a:r>
              <a:rPr lang="en-US" dirty="0" err="1" smtClean="0"/>
              <a:t>Flink</a:t>
            </a:r>
            <a:r>
              <a:rPr lang="en-US" dirty="0" smtClean="0"/>
              <a:t> Runner</a:t>
            </a:r>
          </a:p>
          <a:p>
            <a:r>
              <a:rPr lang="en-US" dirty="0" smtClean="0"/>
              <a:t>Apache </a:t>
            </a:r>
            <a:r>
              <a:rPr lang="en-US" dirty="0" err="1" smtClean="0"/>
              <a:t>Nemo</a:t>
            </a:r>
            <a:r>
              <a:rPr lang="en-US" dirty="0" smtClean="0"/>
              <a:t> Runner</a:t>
            </a:r>
          </a:p>
          <a:p>
            <a:r>
              <a:rPr lang="en-US" dirty="0" smtClean="0"/>
              <a:t>Apache </a:t>
            </a:r>
            <a:r>
              <a:rPr lang="en-US" dirty="0" err="1" smtClean="0"/>
              <a:t>Samza</a:t>
            </a:r>
            <a:r>
              <a:rPr lang="en-US" dirty="0" smtClean="0"/>
              <a:t> Runner</a:t>
            </a:r>
          </a:p>
          <a:p>
            <a:r>
              <a:rPr lang="en-US" dirty="0" smtClean="0"/>
              <a:t>Apache Spark Runner</a:t>
            </a:r>
          </a:p>
          <a:p>
            <a:r>
              <a:rPr lang="en-US" dirty="0" smtClean="0"/>
              <a:t>Google Cloud Dataflow Runner</a:t>
            </a:r>
          </a:p>
          <a:p>
            <a:r>
              <a:rPr lang="en-US" dirty="0" err="1" smtClean="0"/>
              <a:t>Hazelcast</a:t>
            </a:r>
            <a:r>
              <a:rPr lang="en-US" dirty="0" smtClean="0"/>
              <a:t> Jet Runner</a:t>
            </a:r>
          </a:p>
          <a:p>
            <a:r>
              <a:rPr lang="en-US" dirty="0" smtClean="0"/>
              <a:t>Twister2 Runner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11096</TotalTime>
  <Words>2022</Words>
  <Application>Microsoft Office PowerPoint</Application>
  <PresentationFormat>On-screen Show (4:3)</PresentationFormat>
  <Paragraphs>163</Paragraphs>
  <Slides>44</Slides>
  <Notes>1</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Lambda Architecture</vt:lpstr>
      <vt:lpstr>Objectives</vt:lpstr>
      <vt:lpstr>Contents</vt:lpstr>
      <vt:lpstr>References</vt:lpstr>
      <vt:lpstr>Simple Analytics Application [1]</vt:lpstr>
      <vt:lpstr>Scaling with a Queue</vt:lpstr>
      <vt:lpstr>Scaling by Sharding the Database</vt:lpstr>
      <vt:lpstr>Corruption Issue</vt:lpstr>
      <vt:lpstr>Fully Incremental Architecture Issue</vt:lpstr>
      <vt:lpstr>Event Log</vt:lpstr>
      <vt:lpstr>Batch Layer</vt:lpstr>
      <vt:lpstr>Serving Layer</vt:lpstr>
      <vt:lpstr>Speed Layer</vt:lpstr>
      <vt:lpstr>Lambda Architecture</vt:lpstr>
      <vt:lpstr>Complexity Isolation</vt:lpstr>
      <vt:lpstr>Implementation Tools</vt:lpstr>
      <vt:lpstr>Slide 17</vt:lpstr>
      <vt:lpstr>Computing Realtime Views</vt:lpstr>
      <vt:lpstr>Storing Realtime Views</vt:lpstr>
      <vt:lpstr>Expiring Realtime Views</vt:lpstr>
      <vt:lpstr>First 10 Minutes</vt:lpstr>
      <vt:lpstr>Next 15 Minutes</vt:lpstr>
      <vt:lpstr>Next 18 Minutes</vt:lpstr>
      <vt:lpstr>Two Sets of Realtime Views</vt:lpstr>
      <vt:lpstr>Slide 25</vt:lpstr>
      <vt:lpstr>Example 1: Traditional Reporting</vt:lpstr>
      <vt:lpstr>Example 1: Message Queue and Batch Layer</vt:lpstr>
      <vt:lpstr>Example 1: Today Counts and Real-time Layer</vt:lpstr>
      <vt:lpstr>Example 1: Serving Layer</vt:lpstr>
      <vt:lpstr>Slide 30</vt:lpstr>
      <vt:lpstr>Example 2</vt:lpstr>
      <vt:lpstr>Example 2 Notes</vt:lpstr>
      <vt:lpstr>Slide 33</vt:lpstr>
      <vt:lpstr>Example 3: </vt:lpstr>
      <vt:lpstr>Slide 35</vt:lpstr>
      <vt:lpstr>Kappa Architecture</vt:lpstr>
      <vt:lpstr>Lambda Architecture</vt:lpstr>
      <vt:lpstr>Kappa Architecture</vt:lpstr>
      <vt:lpstr>Slide 39</vt:lpstr>
      <vt:lpstr>Apache Beam</vt:lpstr>
      <vt:lpstr>Apache Beam Overview</vt:lpstr>
      <vt:lpstr>Apache Beam SDKs</vt:lpstr>
      <vt:lpstr>Apache Beam Pipeline Runners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4260</cp:revision>
  <dcterms:created xsi:type="dcterms:W3CDTF">2007-10-06T08:25:13Z</dcterms:created>
  <dcterms:modified xsi:type="dcterms:W3CDTF">2026-08-13T18:50:10Z</dcterms:modified>
</cp:coreProperties>
</file>