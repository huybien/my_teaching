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42"/>
  </p:notesMasterIdLst>
  <p:sldIdLst>
    <p:sldId id="256" r:id="rId2"/>
    <p:sldId id="358" r:id="rId3"/>
    <p:sldId id="436" r:id="rId4"/>
    <p:sldId id="437" r:id="rId5"/>
    <p:sldId id="441" r:id="rId6"/>
    <p:sldId id="475" r:id="rId7"/>
    <p:sldId id="442" r:id="rId8"/>
    <p:sldId id="443" r:id="rId9"/>
    <p:sldId id="444" r:id="rId10"/>
    <p:sldId id="445" r:id="rId11"/>
    <p:sldId id="446" r:id="rId12"/>
    <p:sldId id="474" r:id="rId13"/>
    <p:sldId id="447" r:id="rId14"/>
    <p:sldId id="448" r:id="rId15"/>
    <p:sldId id="449" r:id="rId16"/>
    <p:sldId id="450" r:id="rId17"/>
    <p:sldId id="452" r:id="rId18"/>
    <p:sldId id="451" r:id="rId19"/>
    <p:sldId id="455" r:id="rId20"/>
    <p:sldId id="454" r:id="rId21"/>
    <p:sldId id="457" r:id="rId22"/>
    <p:sldId id="476" r:id="rId23"/>
    <p:sldId id="458" r:id="rId24"/>
    <p:sldId id="461" r:id="rId25"/>
    <p:sldId id="459" r:id="rId26"/>
    <p:sldId id="462" r:id="rId27"/>
    <p:sldId id="460" r:id="rId28"/>
    <p:sldId id="463" r:id="rId29"/>
    <p:sldId id="477" r:id="rId30"/>
    <p:sldId id="464" r:id="rId31"/>
    <p:sldId id="465" r:id="rId32"/>
    <p:sldId id="466" r:id="rId33"/>
    <p:sldId id="467" r:id="rId34"/>
    <p:sldId id="468" r:id="rId35"/>
    <p:sldId id="478" r:id="rId36"/>
    <p:sldId id="479" r:id="rId37"/>
    <p:sldId id="471" r:id="rId38"/>
    <p:sldId id="472" r:id="rId39"/>
    <p:sldId id="473" r:id="rId40"/>
    <p:sldId id="359" r:id="rId4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26" autoAdjust="0"/>
    <p:restoredTop sz="94667" autoAdjust="0"/>
  </p:normalViewPr>
  <p:slideViewPr>
    <p:cSldViewPr>
      <p:cViewPr>
        <p:scale>
          <a:sx n="60" d="100"/>
          <a:sy n="60" d="100"/>
        </p:scale>
        <p:origin x="-1272" y="-264"/>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D4026E6-0412-4830-8F06-DF45033103D5}" type="datetimeFigureOut">
              <a:rPr lang="en-US" smtClean="0"/>
              <a:pPr/>
              <a:t>3/23/2016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221BAC6-1780-4248-A045-EEDC4FD7C33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F8F1E381-20DA-4745-B537-35B514BA6DD7}" type="datetimeFigureOut">
              <a:rPr lang="en-US"/>
              <a:pPr>
                <a:defRPr/>
              </a:pPr>
              <a:t>3/23/2016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94EF19F-72C6-4835-B8F9-C4043AB145C9}"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5656C9F8-4ECB-4B63-B927-93DB51F662D0}" type="datetimeFigureOut">
              <a:rPr lang="en-US"/>
              <a:pPr>
                <a:defRPr/>
              </a:pPr>
              <a:t>3/23/2016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9E5146C-45A3-4063-B945-A6E828CB1A71}"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7120DA55-A2EA-4E91-9DF8-848564DA5A8C}" type="datetimeFigureOut">
              <a:rPr lang="en-US"/>
              <a:pPr>
                <a:defRPr/>
              </a:pPr>
              <a:t>3/23/2016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502FCE2-22A4-4D22-98FA-0E266C502294}"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D82FE22C-AAA6-4859-915C-7CA8A229741E}" type="datetimeFigureOut">
              <a:rPr lang="en-US"/>
              <a:pPr>
                <a:defRPr/>
              </a:pPr>
              <a:t>3/23/2016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94E97B5-865B-4943-9516-8680CA16C722}"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2DB4DA2C-F6C4-40D9-95C2-7E16780900E4}" type="datetimeFigureOut">
              <a:rPr lang="en-US"/>
              <a:pPr>
                <a:defRPr/>
              </a:pPr>
              <a:t>3/23/2016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179A6762-FCC9-4A4D-B55E-A9AEAC8C4268}"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B02FA20-63C4-4E2F-BBAB-9D9ECDF79A55}" type="datetimeFigureOut">
              <a:rPr lang="en-US"/>
              <a:pPr>
                <a:defRPr/>
              </a:pPr>
              <a:t>3/23/2016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D571E3C-6E5C-4814-A904-273FE3A958CC}"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4E24579-F551-4401-BD9C-1A956A73C8B1}" type="datetimeFigureOut">
              <a:rPr lang="en-US"/>
              <a:pPr>
                <a:defRPr/>
              </a:pPr>
              <a:t>3/23/2016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6E24CBAC-259E-4BF8-ACF6-FAB2C68750FB}"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C04B6935-2E86-4F35-979C-26D8DA31E11B}" type="datetimeFigureOut">
              <a:rPr lang="en-US"/>
              <a:pPr>
                <a:defRPr/>
              </a:pPr>
              <a:t>3/23/2016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049D8DE-4736-4786-A76F-BA4BFA66C358}"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34642AA-84FD-46EB-91FE-F301FD1B086D}" type="datetimeFigureOut">
              <a:rPr lang="en-US"/>
              <a:pPr>
                <a:defRPr/>
              </a:pPr>
              <a:t>3/23/2016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2E0BD26-494C-4707-B45F-1E41DB7E206B}"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67AB78B-B950-4223-B948-C26A4E4BFB92}" type="datetimeFigureOut">
              <a:rPr lang="en-US"/>
              <a:pPr>
                <a:defRPr/>
              </a:pPr>
              <a:t>3/23/2016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0435AB7-6027-4C00-A9DE-A82D1F9B718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8E790DE-6227-4769-B4D1-A285E0E78CE4}" type="datetimeFigureOut">
              <a:rPr lang="en-US"/>
              <a:pPr>
                <a:defRPr/>
              </a:pPr>
              <a:t>3/23/2016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F58F97A-8135-4157-8FDD-A5EB0FEF5618}"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6C44B157-FED2-4AB7-A096-BDB0B5D2F088}" type="datetimeFigureOut">
              <a:rPr lang="en-US"/>
              <a:pPr>
                <a:defRPr/>
              </a:pPr>
              <a:t>3/23/2016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5BD64C92-C51E-4B83-930E-D172469398A1}"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msdn.microsoft.com/en-us/library/dd460648(v=vs.110).aspx"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hyperlink" Target="https://www.drupal.org/" TargetMode="External"/><Relationship Id="rId3" Type="http://schemas.openxmlformats.org/officeDocument/2006/relationships/hyperlink" Target="https://umbraco.com/" TargetMode="External"/><Relationship Id="rId7" Type="http://schemas.openxmlformats.org/officeDocument/2006/relationships/hyperlink" Target="http://www.yiiframework.com/" TargetMode="External"/><Relationship Id="rId2" Type="http://schemas.openxmlformats.org/officeDocument/2006/relationships/hyperlink" Target="http://www.dnnsoftware.com/" TargetMode="External"/><Relationship Id="rId1" Type="http://schemas.openxmlformats.org/officeDocument/2006/relationships/slideLayout" Target="../slideLayouts/slideLayout2.xml"/><Relationship Id="rId6" Type="http://schemas.openxmlformats.org/officeDocument/2006/relationships/hyperlink" Target="http://www.sitefinity.com/web-development-platform" TargetMode="External"/><Relationship Id="rId5" Type="http://schemas.openxmlformats.org/officeDocument/2006/relationships/hyperlink" Target="http://www.kentico.com/download-demo/free-cms-for-asp-net" TargetMode="External"/><Relationship Id="rId4" Type="http://schemas.openxmlformats.org/officeDocument/2006/relationships/hyperlink" Target="http://www.orchardproject.net/" TargetMode="External"/><Relationship Id="rId9" Type="http://schemas.openxmlformats.org/officeDocument/2006/relationships/hyperlink" Target="https://www.joomla.org/" TargetMode="Externa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en.wikipedia.org/wiki/Convention_over_configuration"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p:txBody>
          <a:bodyPr/>
          <a:lstStyle/>
          <a:p>
            <a:pPr eaLnBrk="1" hangingPunct="1"/>
            <a:r>
              <a:rPr lang="en-US" sz="6000" dirty="0" smtClean="0"/>
              <a:t>Application Frameworks</a:t>
            </a:r>
          </a:p>
        </p:txBody>
      </p:sp>
      <p:sp>
        <p:nvSpPr>
          <p:cNvPr id="5" name="Subtitle 2"/>
          <p:cNvSpPr>
            <a:spLocks noGrp="1"/>
          </p:cNvSpPr>
          <p:nvPr>
            <p:ph type="subTitle" idx="1"/>
          </p:nvPr>
        </p:nvSpPr>
        <p:spPr>
          <a:xfrm>
            <a:off x="1371600" y="3886200"/>
            <a:ext cx="6400800" cy="1752600"/>
          </a:xfrm>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295400"/>
            <a:ext cx="5715000" cy="5181600"/>
          </a:xfrm>
        </p:spPr>
        <p:txBody>
          <a:bodyPr/>
          <a:lstStyle/>
          <a:p>
            <a:pPr marL="457200" indent="-457200">
              <a:buFont typeface="+mj-lt"/>
              <a:buAutoNum type="arabicPeriod"/>
            </a:pPr>
            <a:r>
              <a:rPr lang="en-US" sz="2400" dirty="0" err="1" smtClean="0"/>
              <a:t>Xin</a:t>
            </a:r>
            <a:r>
              <a:rPr lang="en-US" sz="2400" dirty="0" smtClean="0"/>
              <a:t> Chen. Developing Application Frameworks in .NET. </a:t>
            </a:r>
            <a:r>
              <a:rPr lang="en-US" sz="2400" dirty="0" err="1" smtClean="0"/>
              <a:t>Apress</a:t>
            </a:r>
            <a:r>
              <a:rPr lang="en-US" sz="2400" dirty="0" smtClean="0"/>
              <a:t>. 2004.</a:t>
            </a:r>
          </a:p>
          <a:p>
            <a:pPr marL="457200" lvl="0" indent="-457200">
              <a:buFont typeface="+mj-lt"/>
              <a:buAutoNum type="arabicPeriod"/>
            </a:pPr>
            <a:r>
              <a:rPr lang="en-US" sz="2400" dirty="0" smtClean="0"/>
              <a:t>Ralph E. Johnson and Brian Foote. Designing </a:t>
            </a:r>
            <a:r>
              <a:rPr lang="en-US" sz="2400" dirty="0" err="1" smtClean="0"/>
              <a:t>Reuseable</a:t>
            </a:r>
            <a:r>
              <a:rPr lang="en-US" sz="2400" dirty="0" smtClean="0"/>
              <a:t> Classes. Journal Of Object-Oriented Programming, v.1, n.2. 1988.</a:t>
            </a: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096000" y="1676400"/>
            <a:ext cx="2724150" cy="4133850"/>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cstate="print"/>
          <a:srcRect/>
          <a:stretch>
            <a:fillRect/>
          </a:stretch>
        </p:blipFill>
        <p:spPr bwMode="auto">
          <a:xfrm>
            <a:off x="5772150" y="2133600"/>
            <a:ext cx="3219450" cy="3257550"/>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What is an Application Framework? [1]</a:t>
            </a:r>
            <a:endParaRPr lang="en-US" dirty="0"/>
          </a:p>
        </p:txBody>
      </p:sp>
      <p:sp>
        <p:nvSpPr>
          <p:cNvPr id="3" name="Content Placeholder 2"/>
          <p:cNvSpPr>
            <a:spLocks noGrp="1"/>
          </p:cNvSpPr>
          <p:nvPr>
            <p:ph idx="1"/>
          </p:nvPr>
        </p:nvSpPr>
        <p:spPr>
          <a:xfrm>
            <a:off x="457200" y="1600200"/>
            <a:ext cx="5410200" cy="4525963"/>
          </a:xfrm>
        </p:spPr>
        <p:txBody>
          <a:bodyPr/>
          <a:lstStyle/>
          <a:p>
            <a:r>
              <a:rPr lang="en-US" sz="2400" i="1" dirty="0" smtClean="0">
                <a:solidFill>
                  <a:srgbClr val="C00000"/>
                </a:solidFill>
              </a:rPr>
              <a:t>Framework</a:t>
            </a:r>
            <a:r>
              <a:rPr lang="en-US" sz="2400" dirty="0" smtClean="0"/>
              <a:t> – a set of reusable designs and code that can assist in the development of software applications.</a:t>
            </a:r>
          </a:p>
          <a:p>
            <a:r>
              <a:rPr lang="en-US" sz="2400" dirty="0" smtClean="0"/>
              <a:t>An application framework provides developers with </a:t>
            </a:r>
            <a:r>
              <a:rPr lang="en-US" sz="2400" i="1" dirty="0" smtClean="0">
                <a:solidFill>
                  <a:srgbClr val="C00000"/>
                </a:solidFill>
              </a:rPr>
              <a:t>a structure and template</a:t>
            </a:r>
            <a:r>
              <a:rPr lang="en-US" sz="2400" dirty="0" smtClean="0"/>
              <a:t> that they can use as </a:t>
            </a:r>
            <a:r>
              <a:rPr lang="en-US" sz="2400" u="sng" dirty="0" smtClean="0"/>
              <a:t>a baseline</a:t>
            </a:r>
            <a:r>
              <a:rPr lang="en-US" sz="2400" dirty="0" smtClean="0"/>
              <a:t> to build their applications.</a:t>
            </a:r>
          </a:p>
          <a:p>
            <a:r>
              <a:rPr lang="en-US" sz="2400" dirty="0" smtClean="0"/>
              <a:t>Such a framework often consists of </a:t>
            </a:r>
            <a:r>
              <a:rPr lang="en-US" sz="2400" i="1" dirty="0" smtClean="0">
                <a:solidFill>
                  <a:srgbClr val="C00000"/>
                </a:solidFill>
              </a:rPr>
              <a:t>abstract classes</a:t>
            </a:r>
            <a:r>
              <a:rPr lang="en-US" sz="2400" dirty="0" smtClean="0"/>
              <a:t>, </a:t>
            </a:r>
            <a:r>
              <a:rPr lang="en-US" sz="2400" i="1" dirty="0" smtClean="0">
                <a:solidFill>
                  <a:srgbClr val="C00000"/>
                </a:solidFill>
              </a:rPr>
              <a:t>concrete classes</a:t>
            </a:r>
            <a:r>
              <a:rPr lang="en-US" sz="2400" dirty="0" smtClean="0"/>
              <a:t>, and </a:t>
            </a:r>
            <a:r>
              <a:rPr lang="en-US" sz="2400" i="1" dirty="0" smtClean="0">
                <a:solidFill>
                  <a:srgbClr val="C00000"/>
                </a:solidFill>
              </a:rPr>
              <a:t>predefined interaction</a:t>
            </a:r>
            <a:r>
              <a:rPr lang="en-US" sz="2400" dirty="0" smtClean="0"/>
              <a:t> among the classes throughout the framework.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Framework [2]</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A framework</a:t>
            </a:r>
            <a:r>
              <a:rPr lang="en-US" sz="2400" dirty="0" smtClean="0"/>
              <a:t> is a set of classes that embodies an abstract design for solutions to a family of related problems, and supports reuses at a larger granularity than classes. </a:t>
            </a:r>
          </a:p>
          <a:p>
            <a:r>
              <a:rPr lang="en-US" sz="2400" dirty="0" smtClean="0"/>
              <a:t>A framework is </a:t>
            </a:r>
            <a:r>
              <a:rPr lang="en-US" sz="2400" i="1" dirty="0" smtClean="0">
                <a:solidFill>
                  <a:srgbClr val="C00000"/>
                </a:solidFill>
              </a:rPr>
              <a:t>an abstract design</a:t>
            </a:r>
            <a:r>
              <a:rPr lang="en-US" sz="2400" dirty="0" smtClean="0"/>
              <a:t> for a particular kind of application, and usually consists of a number of classes. These classes can be taken from a class library, or can be application-specific.</a:t>
            </a:r>
          </a:p>
          <a:p>
            <a:r>
              <a:rPr lang="en-US" sz="2400" dirty="0" smtClean="0"/>
              <a:t>The ability of frameworks to allow </a:t>
            </a:r>
            <a:r>
              <a:rPr lang="en-US" sz="2400" i="1" dirty="0" smtClean="0">
                <a:solidFill>
                  <a:srgbClr val="C00000"/>
                </a:solidFill>
              </a:rPr>
              <a:t>the extension of existing library components</a:t>
            </a:r>
            <a:r>
              <a:rPr lang="en-US" sz="2400" dirty="0" smtClean="0"/>
              <a:t> is one of their principal strengths.</a:t>
            </a:r>
          </a:p>
          <a:p>
            <a:r>
              <a:rPr lang="en-US" sz="2400" dirty="0" smtClean="0"/>
              <a:t>Frameworks can </a:t>
            </a:r>
            <a:r>
              <a:rPr lang="en-US" sz="2400" i="1" dirty="0" smtClean="0">
                <a:solidFill>
                  <a:srgbClr val="C00000"/>
                </a:solidFill>
              </a:rPr>
              <a:t>be built on top of other frameworks</a:t>
            </a:r>
            <a:r>
              <a:rPr lang="en-US" sz="2400" dirty="0" smtClean="0"/>
              <a:t> by sharing abstract classes.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Sample Application Frameworks [1]</a:t>
            </a:r>
            <a:endParaRPr lang="en-US" dirty="0"/>
          </a:p>
        </p:txBody>
      </p:sp>
      <p:sp>
        <p:nvSpPr>
          <p:cNvPr id="3" name="Content Placeholder 2"/>
          <p:cNvSpPr>
            <a:spLocks noGrp="1"/>
          </p:cNvSpPr>
          <p:nvPr>
            <p:ph idx="1"/>
          </p:nvPr>
        </p:nvSpPr>
        <p:spPr/>
        <p:txBody>
          <a:bodyPr/>
          <a:lstStyle/>
          <a:p>
            <a:r>
              <a:rPr lang="en-US" sz="2200" dirty="0" smtClean="0"/>
              <a:t>Some of the well-known </a:t>
            </a:r>
            <a:r>
              <a:rPr lang="en-US" sz="2200" i="1" dirty="0" smtClean="0">
                <a:solidFill>
                  <a:srgbClr val="C00000"/>
                </a:solidFill>
              </a:rPr>
              <a:t>user-interface frameworks</a:t>
            </a:r>
            <a:r>
              <a:rPr lang="en-US" sz="2200" dirty="0" smtClean="0"/>
              <a:t> are </a:t>
            </a:r>
            <a:r>
              <a:rPr lang="en-US" sz="2200" dirty="0" err="1" smtClean="0"/>
              <a:t>MacApp</a:t>
            </a:r>
            <a:r>
              <a:rPr lang="en-US" sz="2200" dirty="0" smtClean="0"/>
              <a:t> and MFC, which assist in application development on Macintosh and Windows systems, respectively. </a:t>
            </a:r>
          </a:p>
          <a:p>
            <a:r>
              <a:rPr lang="en-US" sz="2200" i="1" dirty="0" smtClean="0">
                <a:solidFill>
                  <a:srgbClr val="C00000"/>
                </a:solidFill>
              </a:rPr>
              <a:t>Java and .NET</a:t>
            </a:r>
            <a:r>
              <a:rPr lang="en-US" sz="2200" dirty="0" smtClean="0"/>
              <a:t> are both frameworks that target </a:t>
            </a:r>
            <a:r>
              <a:rPr lang="en-US" sz="2200" u="sng" dirty="0" smtClean="0"/>
              <a:t>all types of applications</a:t>
            </a:r>
            <a:r>
              <a:rPr lang="en-US" sz="2200" dirty="0" smtClean="0"/>
              <a:t>, and thus such frameworks must not contain any business-domain-related classes and designs.</a:t>
            </a:r>
          </a:p>
          <a:p>
            <a:r>
              <a:rPr lang="en-US" sz="2200" i="1" dirty="0" smtClean="0">
                <a:solidFill>
                  <a:srgbClr val="C00000"/>
                </a:solidFill>
              </a:rPr>
              <a:t>San Francisco</a:t>
            </a:r>
            <a:r>
              <a:rPr lang="en-US" sz="2200" dirty="0" smtClean="0"/>
              <a:t> was developed using Java, and it consists of the application frameworks for various </a:t>
            </a:r>
            <a:r>
              <a:rPr lang="en-US" sz="2200" u="sng" dirty="0" smtClean="0"/>
              <a:t>business domains</a:t>
            </a:r>
            <a:r>
              <a:rPr lang="en-US" sz="2200" dirty="0" smtClean="0"/>
              <a:t>, such as order management, warehouse management, and general ledger management.</a:t>
            </a:r>
          </a:p>
          <a:p>
            <a:r>
              <a:rPr lang="en-US" sz="2200" dirty="0" smtClean="0"/>
              <a:t>Unlike </a:t>
            </a:r>
            <a:r>
              <a:rPr lang="en-US" sz="2200" i="1" dirty="0" smtClean="0">
                <a:solidFill>
                  <a:srgbClr val="C00000"/>
                </a:solidFill>
              </a:rPr>
              <a:t>general-purpose frameworks</a:t>
            </a:r>
            <a:r>
              <a:rPr lang="en-US" sz="2200" dirty="0" smtClean="0"/>
              <a:t> such as Java and .NET, the San Francisco framework is designed especially for specific business domains.</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Application Framework?</a:t>
            </a:r>
            <a:endParaRPr lang="en-US" dirty="0"/>
          </a:p>
        </p:txBody>
      </p:sp>
      <p:sp>
        <p:nvSpPr>
          <p:cNvPr id="3" name="Content Placeholder 2"/>
          <p:cNvSpPr>
            <a:spLocks noGrp="1"/>
          </p:cNvSpPr>
          <p:nvPr>
            <p:ph idx="1"/>
          </p:nvPr>
        </p:nvSpPr>
        <p:spPr/>
        <p:txBody>
          <a:bodyPr/>
          <a:lstStyle/>
          <a:p>
            <a:r>
              <a:rPr lang="en-US" sz="2400" dirty="0" smtClean="0"/>
              <a:t>Developers can then build the application on top of the framework and </a:t>
            </a:r>
            <a:r>
              <a:rPr lang="en-US" sz="2400" i="1" dirty="0" smtClean="0">
                <a:solidFill>
                  <a:srgbClr val="C00000"/>
                </a:solidFill>
              </a:rPr>
              <a:t>reduce the development effort</a:t>
            </a:r>
            <a:r>
              <a:rPr lang="en-US" sz="2400" dirty="0" smtClean="0"/>
              <a:t> through reuse of code and designs provided in the framework.</a:t>
            </a:r>
          </a:p>
          <a:p>
            <a:r>
              <a:rPr lang="en-US" sz="2400" dirty="0" smtClean="0"/>
              <a:t>Of course, many applications have been </a:t>
            </a:r>
            <a:r>
              <a:rPr lang="en-US" sz="2400" i="1" dirty="0" smtClean="0">
                <a:solidFill>
                  <a:srgbClr val="C00000"/>
                </a:solidFill>
              </a:rPr>
              <a:t>developed without using a framework</a:t>
            </a:r>
            <a:r>
              <a:rPr lang="en-US" sz="2400" dirty="0" smtClean="0"/>
              <a:t>, so you can probably do the job without even knowing the concept of a framework.</a:t>
            </a:r>
          </a:p>
          <a:p>
            <a:r>
              <a:rPr lang="en-US" sz="2400" dirty="0" smtClean="0"/>
              <a:t>In the world of application development, everything can be done, </a:t>
            </a:r>
            <a:r>
              <a:rPr lang="en-US" sz="2400" i="1" dirty="0" smtClean="0">
                <a:solidFill>
                  <a:srgbClr val="C00000"/>
                </a:solidFill>
              </a:rPr>
              <a:t>with or without a framework</a:t>
            </a:r>
            <a:r>
              <a:rPr lang="en-US" sz="2400" dirty="0" smtClean="0"/>
              <a:t>.</a:t>
            </a:r>
          </a:p>
        </p:txBody>
      </p:sp>
      <p:pic>
        <p:nvPicPr>
          <p:cNvPr id="2050" name="Picture 2"/>
          <p:cNvPicPr>
            <a:picLocks noChangeAspect="1" noChangeArrowheads="1"/>
          </p:cNvPicPr>
          <p:nvPr/>
        </p:nvPicPr>
        <p:blipFill>
          <a:blip r:embed="rId2" cstate="print"/>
          <a:srcRect/>
          <a:stretch>
            <a:fillRect/>
          </a:stretch>
        </p:blipFill>
        <p:spPr bwMode="auto">
          <a:xfrm>
            <a:off x="2587625" y="4876800"/>
            <a:ext cx="3968750" cy="15240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Framework Benefits?</a:t>
            </a:r>
            <a:endParaRPr lang="en-US" dirty="0"/>
          </a:p>
        </p:txBody>
      </p:sp>
      <p:sp>
        <p:nvSpPr>
          <p:cNvPr id="3" name="Content Placeholder 2"/>
          <p:cNvSpPr>
            <a:spLocks noGrp="1"/>
          </p:cNvSpPr>
          <p:nvPr>
            <p:ph idx="1"/>
          </p:nvPr>
        </p:nvSpPr>
        <p:spPr>
          <a:xfrm>
            <a:off x="457200" y="1600200"/>
            <a:ext cx="8229600" cy="4876800"/>
          </a:xfrm>
        </p:spPr>
        <p:txBody>
          <a:bodyPr/>
          <a:lstStyle/>
          <a:p>
            <a:r>
              <a:rPr lang="en-US" sz="2000" i="1" dirty="0" smtClean="0">
                <a:solidFill>
                  <a:srgbClr val="C00000"/>
                </a:solidFill>
              </a:rPr>
              <a:t>Modularity</a:t>
            </a:r>
          </a:p>
          <a:p>
            <a:pPr lvl="1"/>
            <a:r>
              <a:rPr lang="en-US" sz="1200" dirty="0" smtClean="0"/>
              <a:t>By dividing the framework into modules, we can maximize productivity by assigning a developer the specific part of the application that would benefit most from that developer's expertise.</a:t>
            </a:r>
          </a:p>
          <a:p>
            <a:r>
              <a:rPr lang="en-US" sz="2000" i="1" dirty="0" smtClean="0">
                <a:solidFill>
                  <a:srgbClr val="C00000"/>
                </a:solidFill>
              </a:rPr>
              <a:t>Reusability</a:t>
            </a:r>
          </a:p>
          <a:p>
            <a:pPr lvl="1"/>
            <a:r>
              <a:rPr lang="en-US" sz="1200" dirty="0" smtClean="0"/>
              <a:t>An application framework provides reusability to the application built on top of it not only by sharing its classes and code, but by sharing its designs as well.</a:t>
            </a:r>
          </a:p>
          <a:p>
            <a:r>
              <a:rPr lang="en-US" sz="2000" i="1" dirty="0" smtClean="0">
                <a:solidFill>
                  <a:srgbClr val="C00000"/>
                </a:solidFill>
              </a:rPr>
              <a:t>Extensibility</a:t>
            </a:r>
          </a:p>
          <a:p>
            <a:pPr lvl="1"/>
            <a:r>
              <a:rPr lang="en-US" sz="1200" dirty="0" smtClean="0"/>
              <a:t>Each business application is unique in its business requirements, architecture, and implementation.</a:t>
            </a:r>
          </a:p>
          <a:p>
            <a:pPr lvl="1"/>
            <a:r>
              <a:rPr lang="en-US" sz="1200" dirty="0" smtClean="0"/>
              <a:t>It is impossible for a framework to accommodate such variation by itself, but if a framework is designed in such way that it leaves room for some customization, then different business applications can still use the generic features of the framework, yet at the same time developers will have the freedom to tailor their applications to the unique business requirements by plugging the customized logic into the framework.</a:t>
            </a:r>
          </a:p>
          <a:p>
            <a:r>
              <a:rPr lang="en-US" sz="2000" i="1" dirty="0" smtClean="0">
                <a:solidFill>
                  <a:srgbClr val="C00000"/>
                </a:solidFill>
              </a:rPr>
              <a:t>Simplicity</a:t>
            </a:r>
          </a:p>
          <a:p>
            <a:pPr lvl="1"/>
            <a:r>
              <a:rPr lang="en-US" sz="1200" dirty="0" smtClean="0"/>
              <a:t>Simplicity refers to the way the framework simplifies development by encapsulating much of the control of process flow and hiding it from the developers.</a:t>
            </a:r>
          </a:p>
          <a:p>
            <a:r>
              <a:rPr lang="en-US" sz="2000" i="1" dirty="0" smtClean="0">
                <a:solidFill>
                  <a:srgbClr val="C00000"/>
                </a:solidFill>
              </a:rPr>
              <a:t>Maintainability</a:t>
            </a:r>
          </a:p>
          <a:p>
            <a:pPr lvl="1"/>
            <a:r>
              <a:rPr lang="en-US" sz="1200" dirty="0" smtClean="0"/>
              <a:t>Having a single copy of the framework code base makes the application easy to maintain, because you need to make a change only once when a requirement changes.</a:t>
            </a:r>
          </a:p>
          <a:p>
            <a:pPr lvl="1"/>
            <a:r>
              <a:rPr lang="en-US" sz="1200" dirty="0" smtClean="0"/>
              <a:t>The application framework may also contain many layers. When changes do occur, only the components at the layer where the business assumption is broken need to be fixed and tested.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Framework Drawbacks</a:t>
            </a:r>
            <a:endParaRPr lang="en-US" dirty="0"/>
          </a:p>
        </p:txBody>
      </p:sp>
      <p:sp>
        <p:nvSpPr>
          <p:cNvPr id="3" name="Content Placeholder 2"/>
          <p:cNvSpPr>
            <a:spLocks noGrp="1"/>
          </p:cNvSpPr>
          <p:nvPr>
            <p:ph idx="1"/>
          </p:nvPr>
        </p:nvSpPr>
        <p:spPr/>
        <p:txBody>
          <a:bodyPr/>
          <a:lstStyle/>
          <a:p>
            <a:r>
              <a:rPr lang="en-US" sz="2200" i="1" dirty="0" smtClean="0">
                <a:solidFill>
                  <a:srgbClr val="C00000"/>
                </a:solidFill>
              </a:rPr>
              <a:t>Additional Development Effort</a:t>
            </a:r>
          </a:p>
          <a:p>
            <a:pPr lvl="1"/>
            <a:r>
              <a:rPr lang="en-US" sz="1600" dirty="0" smtClean="0"/>
              <a:t>It is important that those who are developing the framework </a:t>
            </a:r>
            <a:r>
              <a:rPr lang="en-US" sz="1600" i="1" dirty="0" smtClean="0">
                <a:solidFill>
                  <a:srgbClr val="C00000"/>
                </a:solidFill>
              </a:rPr>
              <a:t>be competent in both business knowledge and software development</a:t>
            </a:r>
            <a:r>
              <a:rPr lang="en-US" sz="1600" dirty="0" smtClean="0"/>
              <a:t>.</a:t>
            </a:r>
          </a:p>
          <a:p>
            <a:pPr lvl="1"/>
            <a:r>
              <a:rPr lang="en-US" sz="1600" dirty="0" smtClean="0"/>
              <a:t>Without business expertise, you cannot create the business-domain-specific framework layers that developers rely on to offset their lack of knowledge of the business domain.</a:t>
            </a:r>
          </a:p>
          <a:p>
            <a:pPr lvl="1"/>
            <a:r>
              <a:rPr lang="en-US" sz="1600" dirty="0" smtClean="0"/>
              <a:t>Without the technical expertise in software development, you cannot transfer the concept of the framework from theory to the concrete framework code that developers can reuse and extend.</a:t>
            </a:r>
          </a:p>
          <a:p>
            <a:r>
              <a:rPr lang="en-US" sz="2200" i="1" dirty="0" smtClean="0">
                <a:solidFill>
                  <a:srgbClr val="C00000"/>
                </a:solidFill>
              </a:rPr>
              <a:t>Developer Training</a:t>
            </a:r>
          </a:p>
          <a:p>
            <a:pPr lvl="1"/>
            <a:r>
              <a:rPr lang="en-US" sz="1600" dirty="0" smtClean="0"/>
              <a:t>Because </a:t>
            </a:r>
            <a:r>
              <a:rPr lang="en-US" sz="1600" i="1" dirty="0" smtClean="0">
                <a:solidFill>
                  <a:srgbClr val="C00000"/>
                </a:solidFill>
              </a:rPr>
              <a:t>the users of the framework are the developers </a:t>
            </a:r>
            <a:r>
              <a:rPr lang="en-US" sz="1600" dirty="0" smtClean="0"/>
              <a:t>who are building the application, user training for the framework means training the developers to use the application framework.</a:t>
            </a:r>
          </a:p>
          <a:p>
            <a:pPr lvl="1"/>
            <a:r>
              <a:rPr lang="en-US" sz="1600" dirty="0" smtClean="0"/>
              <a:t>As with any new product and programming model, an application framework contains many APIs, services, and configuration settings that are strange to developers, and it will take some time for developers to work with the framework before they become fluent with it and fully productive in developing applications based on it.</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Framework Layers</a:t>
            </a:r>
            <a:endParaRPr lang="en-US" dirty="0"/>
          </a:p>
        </p:txBody>
      </p:sp>
      <p:sp>
        <p:nvSpPr>
          <p:cNvPr id="3" name="Content Placeholder 2"/>
          <p:cNvSpPr>
            <a:spLocks noGrp="1"/>
          </p:cNvSpPr>
          <p:nvPr>
            <p:ph idx="1"/>
          </p:nvPr>
        </p:nvSpPr>
        <p:spPr>
          <a:xfrm>
            <a:off x="457200" y="4694237"/>
            <a:ext cx="8229600" cy="1782763"/>
          </a:xfrm>
        </p:spPr>
        <p:txBody>
          <a:bodyPr/>
          <a:lstStyle/>
          <a:p>
            <a:r>
              <a:rPr lang="en-US" sz="2200" i="1" dirty="0" smtClean="0">
                <a:solidFill>
                  <a:srgbClr val="C00000"/>
                </a:solidFill>
              </a:rPr>
              <a:t>The Domain-Specific Framework Layer</a:t>
            </a:r>
            <a:r>
              <a:rPr lang="en-US" sz="2200" dirty="0" smtClean="0"/>
              <a:t> encapsulates and abstracts business-domain knowledge in a form that can be easily adapted by developers in building the actual business application.</a:t>
            </a:r>
          </a:p>
          <a:p>
            <a:r>
              <a:rPr lang="en-US" sz="2200" i="1" dirty="0" smtClean="0">
                <a:solidFill>
                  <a:srgbClr val="C00000"/>
                </a:solidFill>
              </a:rPr>
              <a:t>The Cross-Domain Framework Layer</a:t>
            </a:r>
            <a:r>
              <a:rPr lang="en-US" sz="2200" dirty="0" smtClean="0"/>
              <a:t> consists of specialized framework components that target a specific business domain.</a:t>
            </a:r>
            <a:endParaRPr lang="en-US" sz="2200" dirty="0"/>
          </a:p>
        </p:txBody>
      </p:sp>
      <p:pic>
        <p:nvPicPr>
          <p:cNvPr id="1026" name="Picture 2"/>
          <p:cNvPicPr>
            <a:picLocks noChangeAspect="1" noChangeArrowheads="1"/>
          </p:cNvPicPr>
          <p:nvPr/>
        </p:nvPicPr>
        <p:blipFill>
          <a:blip r:embed="rId2" cstate="print"/>
          <a:srcRect/>
          <a:stretch>
            <a:fillRect/>
          </a:stretch>
        </p:blipFill>
        <p:spPr bwMode="auto">
          <a:xfrm>
            <a:off x="1809750" y="1514475"/>
            <a:ext cx="5524500" cy="2905125"/>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Framework Development Process</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304800" y="1981200"/>
            <a:ext cx="3867150" cy="4114800"/>
          </a:xfrm>
          <a:prstGeom prst="rect">
            <a:avLst/>
          </a:prstGeom>
          <a:noFill/>
          <a:ln w="9525">
            <a:noFill/>
            <a:miter lim="800000"/>
            <a:headEnd/>
            <a:tailEnd/>
          </a:ln>
        </p:spPr>
      </p:pic>
      <p:sp>
        <p:nvSpPr>
          <p:cNvPr id="5" name="Rectangle 4"/>
          <p:cNvSpPr/>
          <p:nvPr/>
        </p:nvSpPr>
        <p:spPr>
          <a:xfrm>
            <a:off x="4267200" y="1676400"/>
            <a:ext cx="4572000" cy="2585323"/>
          </a:xfrm>
          <a:prstGeom prst="rect">
            <a:avLst/>
          </a:prstGeom>
        </p:spPr>
        <p:txBody>
          <a:bodyPr wrap="square">
            <a:spAutoFit/>
          </a:bodyPr>
          <a:lstStyle/>
          <a:p>
            <a:pPr marL="457200" indent="-457200">
              <a:buFont typeface="Arial" pitchFamily="34" charset="0"/>
              <a:buChar char="•"/>
            </a:pPr>
            <a:r>
              <a:rPr lang="en-US" i="1" dirty="0" smtClean="0">
                <a:solidFill>
                  <a:srgbClr val="C00000"/>
                </a:solidFill>
                <a:latin typeface="+mj-lt"/>
              </a:rPr>
              <a:t>Identify the key features</a:t>
            </a:r>
            <a:r>
              <a:rPr lang="en-US" dirty="0" smtClean="0">
                <a:latin typeface="+mj-lt"/>
              </a:rPr>
              <a:t> that are to be included in the framework.</a:t>
            </a:r>
          </a:p>
          <a:p>
            <a:pPr marL="457200" indent="-457200">
              <a:buFont typeface="Arial" pitchFamily="34" charset="0"/>
              <a:buChar char="•"/>
            </a:pPr>
            <a:r>
              <a:rPr lang="en-US" i="1" dirty="0" smtClean="0">
                <a:solidFill>
                  <a:srgbClr val="C00000"/>
                </a:solidFill>
                <a:latin typeface="+mj-lt"/>
              </a:rPr>
              <a:t>What types of business applications</a:t>
            </a:r>
            <a:r>
              <a:rPr lang="en-US" dirty="0" smtClean="0">
                <a:latin typeface="+mj-lt"/>
              </a:rPr>
              <a:t> will be relying on this framework? </a:t>
            </a:r>
          </a:p>
          <a:p>
            <a:pPr marL="457200" indent="-457200">
              <a:buFont typeface="Arial" pitchFamily="34" charset="0"/>
              <a:buChar char="•"/>
            </a:pPr>
            <a:r>
              <a:rPr lang="en-US" i="1" dirty="0" smtClean="0">
                <a:solidFill>
                  <a:srgbClr val="C00000"/>
                </a:solidFill>
                <a:latin typeface="+mj-lt"/>
              </a:rPr>
              <a:t>What use cases</a:t>
            </a:r>
            <a:r>
              <a:rPr lang="en-US" dirty="0" smtClean="0">
                <a:latin typeface="+mj-lt"/>
              </a:rPr>
              <a:t> will the framework support?</a:t>
            </a:r>
          </a:p>
          <a:p>
            <a:pPr marL="457200" indent="-457200">
              <a:buFont typeface="Arial" pitchFamily="34" charset="0"/>
              <a:buChar char="•"/>
            </a:pPr>
            <a:r>
              <a:rPr lang="en-US" dirty="0" smtClean="0">
                <a:latin typeface="+mj-lt"/>
              </a:rPr>
              <a:t>How will developers be able to develop their business applications on top of this framework?</a:t>
            </a:r>
            <a:endParaRPr lang="en-US" dirty="0">
              <a:latin typeface="+mj-lt"/>
            </a:endParaRPr>
          </a:p>
        </p:txBody>
      </p:sp>
      <p:sp>
        <p:nvSpPr>
          <p:cNvPr id="6" name="Rectangle 5"/>
          <p:cNvSpPr/>
          <p:nvPr/>
        </p:nvSpPr>
        <p:spPr>
          <a:xfrm>
            <a:off x="4267200" y="4419600"/>
            <a:ext cx="4572000" cy="1754326"/>
          </a:xfrm>
          <a:prstGeom prst="rect">
            <a:avLst/>
          </a:prstGeom>
        </p:spPr>
        <p:txBody>
          <a:bodyPr wrap="square">
            <a:spAutoFit/>
          </a:bodyPr>
          <a:lstStyle/>
          <a:p>
            <a:pPr marL="457200" indent="-457200">
              <a:buFont typeface="Arial" pitchFamily="34" charset="0"/>
              <a:buChar char="•"/>
            </a:pPr>
            <a:r>
              <a:rPr lang="en-US" i="1" dirty="0" smtClean="0">
                <a:solidFill>
                  <a:srgbClr val="C00000"/>
                </a:solidFill>
                <a:latin typeface="+mj-lt"/>
              </a:rPr>
              <a:t>Identity the common spots and the hot spots</a:t>
            </a:r>
            <a:r>
              <a:rPr lang="en-US" dirty="0" smtClean="0">
                <a:latin typeface="+mj-lt"/>
              </a:rPr>
              <a:t> in both the domain-specific layer and the cross-domain framework layer.</a:t>
            </a:r>
          </a:p>
          <a:p>
            <a:pPr marL="457200" indent="-457200">
              <a:buFont typeface="Arial" pitchFamily="34" charset="0"/>
              <a:buChar char="•"/>
            </a:pPr>
            <a:r>
              <a:rPr lang="en-US" i="1" dirty="0" smtClean="0">
                <a:solidFill>
                  <a:srgbClr val="C00000"/>
                </a:solidFill>
                <a:latin typeface="+mj-lt"/>
              </a:rPr>
              <a:t>Devise an architecture</a:t>
            </a:r>
            <a:r>
              <a:rPr lang="en-US" dirty="0" smtClean="0">
                <a:latin typeface="+mj-lt"/>
              </a:rPr>
              <a:t> for the framework that will be used as a blueprint during the construction phase.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Framework Documentation</a:t>
            </a:r>
            <a:endParaRPr lang="en-US" dirty="0"/>
          </a:p>
        </p:txBody>
      </p:sp>
      <p:sp>
        <p:nvSpPr>
          <p:cNvPr id="3" name="Content Placeholder 2"/>
          <p:cNvSpPr>
            <a:spLocks noGrp="1"/>
          </p:cNvSpPr>
          <p:nvPr>
            <p:ph idx="1"/>
          </p:nvPr>
        </p:nvSpPr>
        <p:spPr/>
        <p:txBody>
          <a:bodyPr/>
          <a:lstStyle/>
          <a:p>
            <a:r>
              <a:rPr lang="en-US" sz="2200" i="1" dirty="0" smtClean="0">
                <a:solidFill>
                  <a:srgbClr val="C00000"/>
                </a:solidFill>
              </a:rPr>
              <a:t>An overview of the framework</a:t>
            </a:r>
            <a:r>
              <a:rPr lang="en-US" sz="2200" dirty="0" smtClean="0"/>
              <a:t> that explains the purpose of the framework and the major components and services available in the framework.</a:t>
            </a:r>
          </a:p>
          <a:p>
            <a:r>
              <a:rPr lang="en-US" sz="2200" i="1" dirty="0" smtClean="0">
                <a:solidFill>
                  <a:srgbClr val="C00000"/>
                </a:solidFill>
              </a:rPr>
              <a:t>Some pictures, diagrams, and descriptions of the framework</a:t>
            </a:r>
            <a:r>
              <a:rPr lang="en-US" sz="2200" dirty="0" smtClean="0"/>
              <a:t> that help developers grasp the framework and its design philosophy.</a:t>
            </a:r>
          </a:p>
          <a:p>
            <a:r>
              <a:rPr lang="en-US" sz="2200" i="1" dirty="0" smtClean="0">
                <a:solidFill>
                  <a:srgbClr val="C00000"/>
                </a:solidFill>
              </a:rPr>
              <a:t>An API reference for the functionalities</a:t>
            </a:r>
            <a:r>
              <a:rPr lang="en-US" sz="2200" dirty="0" smtClean="0"/>
              <a:t> inside the framework that enables developers to look up the framework's functionalities during the development process.</a:t>
            </a:r>
          </a:p>
          <a:p>
            <a:r>
              <a:rPr lang="en-US" sz="2200" i="1" dirty="0" smtClean="0">
                <a:solidFill>
                  <a:srgbClr val="C00000"/>
                </a:solidFill>
              </a:rPr>
              <a:t>A collection of examples</a:t>
            </a:r>
            <a:r>
              <a:rPr lang="en-US" sz="2200" dirty="0" smtClean="0"/>
              <a:t> that show how the framework is used. Concrete examples of the framework in action best demonstrate the usage scenario of the application framework and help shorten the learning process for developers.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Common Spots</a:t>
            </a:r>
            <a:endParaRPr lang="en-US" dirty="0"/>
          </a:p>
        </p:txBody>
      </p:sp>
      <p:sp>
        <p:nvSpPr>
          <p:cNvPr id="7" name="Content Placeholder 6"/>
          <p:cNvSpPr>
            <a:spLocks noGrp="1"/>
          </p:cNvSpPr>
          <p:nvPr>
            <p:ph idx="1"/>
          </p:nvPr>
        </p:nvSpPr>
        <p:spPr>
          <a:xfrm>
            <a:off x="4953000" y="1981200"/>
            <a:ext cx="4038600" cy="4191000"/>
          </a:xfrm>
        </p:spPr>
        <p:txBody>
          <a:bodyPr/>
          <a:lstStyle/>
          <a:p>
            <a:r>
              <a:rPr lang="en-US" sz="2000" i="1" dirty="0" smtClean="0">
                <a:solidFill>
                  <a:srgbClr val="C00000"/>
                </a:solidFill>
              </a:rPr>
              <a:t>Common spots</a:t>
            </a:r>
            <a:r>
              <a:rPr lang="en-US" sz="2000" dirty="0" smtClean="0"/>
              <a:t> represent the places in the business application where a common theme is repeated over and over again.</a:t>
            </a:r>
          </a:p>
          <a:p>
            <a:r>
              <a:rPr lang="en-US" sz="2000" dirty="0" smtClean="0"/>
              <a:t>Common spots can </a:t>
            </a:r>
            <a:r>
              <a:rPr lang="en-US" sz="2000" i="1" dirty="0" smtClean="0">
                <a:solidFill>
                  <a:srgbClr val="C00000"/>
                </a:solidFill>
              </a:rPr>
              <a:t>exist</a:t>
            </a:r>
            <a:r>
              <a:rPr lang="en-US" sz="2000" dirty="0" smtClean="0"/>
              <a:t> in both the </a:t>
            </a:r>
            <a:r>
              <a:rPr lang="en-US" sz="2000" u="sng" dirty="0" smtClean="0"/>
              <a:t>domain-specific</a:t>
            </a:r>
            <a:r>
              <a:rPr lang="en-US" sz="2000" dirty="0" smtClean="0"/>
              <a:t> framework layer and the </a:t>
            </a:r>
            <a:r>
              <a:rPr lang="en-US" sz="2000" u="sng" dirty="0" smtClean="0"/>
              <a:t>cross-domain</a:t>
            </a:r>
            <a:r>
              <a:rPr lang="en-US" sz="2000" dirty="0" smtClean="0"/>
              <a:t> framework layer.</a:t>
            </a:r>
          </a:p>
          <a:p>
            <a:r>
              <a:rPr lang="en-US" sz="2000" dirty="0" smtClean="0"/>
              <a:t>By moving such common spots into the framework, </a:t>
            </a:r>
            <a:r>
              <a:rPr lang="en-US" sz="2000" i="1" dirty="0" smtClean="0">
                <a:solidFill>
                  <a:srgbClr val="C00000"/>
                </a:solidFill>
              </a:rPr>
              <a:t>you avoid the duplication</a:t>
            </a:r>
            <a:r>
              <a:rPr lang="en-US" sz="2000" dirty="0" smtClean="0"/>
              <a:t> of such common spots throughout the application, and hence promote code reuse.</a:t>
            </a:r>
            <a:endParaRPr lang="en-US" sz="2000" dirty="0"/>
          </a:p>
        </p:txBody>
      </p:sp>
      <p:pic>
        <p:nvPicPr>
          <p:cNvPr id="3077" name="Picture 5"/>
          <p:cNvPicPr>
            <a:picLocks noChangeAspect="1" noChangeArrowheads="1"/>
          </p:cNvPicPr>
          <p:nvPr/>
        </p:nvPicPr>
        <p:blipFill>
          <a:blip r:embed="rId2" cstate="print"/>
          <a:srcRect/>
          <a:stretch>
            <a:fillRect/>
          </a:stretch>
        </p:blipFill>
        <p:spPr bwMode="auto">
          <a:xfrm>
            <a:off x="152400" y="1571625"/>
            <a:ext cx="4800600" cy="4600575"/>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Implementation of Common Spots</a:t>
            </a:r>
            <a:endParaRPr lang="en-US" dirty="0"/>
          </a:p>
        </p:txBody>
      </p:sp>
      <p:sp>
        <p:nvSpPr>
          <p:cNvPr id="3" name="Content Placeholder 2"/>
          <p:cNvSpPr>
            <a:spLocks noGrp="1"/>
          </p:cNvSpPr>
          <p:nvPr>
            <p:ph idx="1"/>
          </p:nvPr>
        </p:nvSpPr>
        <p:spPr/>
        <p:txBody>
          <a:bodyPr/>
          <a:lstStyle/>
          <a:p>
            <a:r>
              <a:rPr lang="en-US" sz="2200" dirty="0" smtClean="0"/>
              <a:t>After identifying a common spot, the framework designer can develop the </a:t>
            </a:r>
            <a:r>
              <a:rPr lang="en-US" sz="2200" i="1" dirty="0" smtClean="0">
                <a:solidFill>
                  <a:srgbClr val="C00000"/>
                </a:solidFill>
              </a:rPr>
              <a:t>components</a:t>
            </a:r>
            <a:r>
              <a:rPr lang="en-US" sz="2200" dirty="0" smtClean="0"/>
              <a:t> that </a:t>
            </a:r>
            <a:r>
              <a:rPr lang="en-US" sz="2200" i="1" dirty="0" smtClean="0">
                <a:solidFill>
                  <a:srgbClr val="C00000"/>
                </a:solidFill>
              </a:rPr>
              <a:t>encapsulate</a:t>
            </a:r>
            <a:r>
              <a:rPr lang="en-US" sz="2200" dirty="0" smtClean="0"/>
              <a:t> the </a:t>
            </a:r>
            <a:r>
              <a:rPr lang="en-US" sz="2200" u="sng" dirty="0" smtClean="0"/>
              <a:t>theme and logic</a:t>
            </a:r>
            <a:r>
              <a:rPr lang="en-US" sz="2200" dirty="0" smtClean="0"/>
              <a:t> in the common spot.</a:t>
            </a:r>
          </a:p>
          <a:p>
            <a:r>
              <a:rPr lang="en-US" sz="2200" dirty="0" smtClean="0"/>
              <a:t>Such components often take the form of </a:t>
            </a:r>
            <a:r>
              <a:rPr lang="en-US" sz="2200" i="1" dirty="0" smtClean="0">
                <a:solidFill>
                  <a:srgbClr val="C00000"/>
                </a:solidFill>
              </a:rPr>
              <a:t>concrete classes</a:t>
            </a:r>
            <a:r>
              <a:rPr lang="en-US" sz="2200" dirty="0" smtClean="0"/>
              <a:t> or </a:t>
            </a:r>
            <a:r>
              <a:rPr lang="en-US" sz="2200" i="1" dirty="0" smtClean="0">
                <a:solidFill>
                  <a:srgbClr val="C00000"/>
                </a:solidFill>
              </a:rPr>
              <a:t>executables</a:t>
            </a:r>
            <a:r>
              <a:rPr lang="en-US" sz="2200" dirty="0" smtClean="0"/>
              <a:t>.</a:t>
            </a:r>
          </a:p>
          <a:p>
            <a:r>
              <a:rPr lang="en-US" sz="2200" dirty="0" smtClean="0"/>
              <a:t>To accommodate the </a:t>
            </a:r>
            <a:r>
              <a:rPr lang="en-US" sz="2200" i="1" dirty="0" smtClean="0">
                <a:solidFill>
                  <a:srgbClr val="C00000"/>
                </a:solidFill>
              </a:rPr>
              <a:t>small variations</a:t>
            </a:r>
            <a:r>
              <a:rPr lang="en-US" sz="2200" dirty="0" smtClean="0"/>
              <a:t> in the component, some </a:t>
            </a:r>
            <a:r>
              <a:rPr lang="en-US" sz="2200" u="sng" dirty="0" smtClean="0"/>
              <a:t>configuration data</a:t>
            </a:r>
            <a:r>
              <a:rPr lang="en-US" sz="2200" dirty="0" smtClean="0"/>
              <a:t> may also accompany the component.</a:t>
            </a:r>
          </a:p>
          <a:p>
            <a:r>
              <a:rPr lang="en-US" sz="2200" dirty="0" smtClean="0"/>
              <a:t>For example, you can allocate certain sections in the </a:t>
            </a:r>
            <a:r>
              <a:rPr lang="en-US" sz="2200" i="1" dirty="0" smtClean="0">
                <a:solidFill>
                  <a:srgbClr val="C00000"/>
                </a:solidFill>
              </a:rPr>
              <a:t>configuration file</a:t>
            </a:r>
            <a:r>
              <a:rPr lang="en-US" sz="2200" dirty="0" smtClean="0"/>
              <a:t> for </a:t>
            </a:r>
            <a:r>
              <a:rPr lang="en-US" sz="2200" u="sng" dirty="0" smtClean="0"/>
              <a:t>parameterization</a:t>
            </a:r>
            <a:r>
              <a:rPr lang="en-US" sz="2200" dirty="0" smtClean="0"/>
              <a:t> of the framework components.</a:t>
            </a:r>
          </a:p>
          <a:p>
            <a:r>
              <a:rPr lang="en-US" sz="2200" dirty="0" smtClean="0"/>
              <a:t>In terms of </a:t>
            </a:r>
            <a:r>
              <a:rPr lang="en-US" sz="2200" i="1" dirty="0" smtClean="0">
                <a:solidFill>
                  <a:srgbClr val="C00000"/>
                </a:solidFill>
              </a:rPr>
              <a:t>adapting such framework components</a:t>
            </a:r>
            <a:r>
              <a:rPr lang="en-US" sz="2200" dirty="0" smtClean="0"/>
              <a:t>, developers need to write little or no code to use the component within the application.</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Hot Spots</a:t>
            </a:r>
            <a:endParaRPr lang="en-US" dirty="0"/>
          </a:p>
        </p:txBody>
      </p:sp>
      <p:sp>
        <p:nvSpPr>
          <p:cNvPr id="3" name="Content Placeholder 2"/>
          <p:cNvSpPr>
            <a:spLocks noGrp="1"/>
          </p:cNvSpPr>
          <p:nvPr>
            <p:ph idx="1"/>
          </p:nvPr>
        </p:nvSpPr>
        <p:spPr>
          <a:xfrm>
            <a:off x="5257800" y="1600200"/>
            <a:ext cx="3657600" cy="4800600"/>
          </a:xfrm>
        </p:spPr>
        <p:txBody>
          <a:bodyPr/>
          <a:lstStyle/>
          <a:p>
            <a:r>
              <a:rPr lang="en-US" sz="2000" i="1" dirty="0" smtClean="0">
                <a:solidFill>
                  <a:srgbClr val="C00000"/>
                </a:solidFill>
              </a:rPr>
              <a:t>A hot spot</a:t>
            </a:r>
            <a:r>
              <a:rPr lang="en-US" sz="2000" dirty="0" smtClean="0"/>
              <a:t> is point of flexibility in the application framework.</a:t>
            </a:r>
          </a:p>
          <a:p>
            <a:r>
              <a:rPr lang="en-US" sz="2000" i="1" dirty="0" smtClean="0">
                <a:solidFill>
                  <a:srgbClr val="C00000"/>
                </a:solidFill>
              </a:rPr>
              <a:t>It is a placeholder</a:t>
            </a:r>
            <a:r>
              <a:rPr lang="en-US" sz="2000" dirty="0" smtClean="0"/>
              <a:t> embedded in the framework where application-specific customization occurs.</a:t>
            </a:r>
          </a:p>
          <a:p>
            <a:r>
              <a:rPr lang="en-US" sz="2000" i="1" dirty="0" smtClean="0">
                <a:solidFill>
                  <a:srgbClr val="C00000"/>
                </a:solidFill>
              </a:rPr>
              <a:t>There is nothing for the framework to implement</a:t>
            </a:r>
            <a:r>
              <a:rPr lang="en-US" sz="2000" dirty="0" smtClean="0"/>
              <a:t> except to leave an empty placeholder, which is later filled with a custom implementation by the business application built on top of the framework.</a:t>
            </a:r>
            <a:endParaRPr lang="en-US" sz="2000" dirty="0"/>
          </a:p>
        </p:txBody>
      </p:sp>
      <p:pic>
        <p:nvPicPr>
          <p:cNvPr id="4098" name="Picture 2"/>
          <p:cNvPicPr>
            <a:picLocks noChangeAspect="1" noChangeArrowheads="1"/>
          </p:cNvPicPr>
          <p:nvPr/>
        </p:nvPicPr>
        <p:blipFill>
          <a:blip r:embed="rId2" cstate="print"/>
          <a:srcRect/>
          <a:stretch>
            <a:fillRect/>
          </a:stretch>
        </p:blipFill>
        <p:spPr bwMode="auto">
          <a:xfrm>
            <a:off x="133350" y="1600200"/>
            <a:ext cx="5124450" cy="432435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Hook Methods</a:t>
            </a:r>
            <a:endParaRPr lang="en-US" dirty="0"/>
          </a:p>
        </p:txBody>
      </p:sp>
      <p:sp>
        <p:nvSpPr>
          <p:cNvPr id="3" name="Content Placeholder 2"/>
          <p:cNvSpPr>
            <a:spLocks noGrp="1"/>
          </p:cNvSpPr>
          <p:nvPr>
            <p:ph idx="1"/>
          </p:nvPr>
        </p:nvSpPr>
        <p:spPr>
          <a:xfrm>
            <a:off x="76200" y="1600200"/>
            <a:ext cx="3962400" cy="4525963"/>
          </a:xfrm>
        </p:spPr>
        <p:txBody>
          <a:bodyPr/>
          <a:lstStyle/>
          <a:p>
            <a:r>
              <a:rPr lang="en-US" sz="2000" i="1" dirty="0" smtClean="0">
                <a:solidFill>
                  <a:srgbClr val="C00000"/>
                </a:solidFill>
              </a:rPr>
              <a:t>A hook method</a:t>
            </a:r>
            <a:r>
              <a:rPr lang="en-US" sz="2000" dirty="0" smtClean="0"/>
              <a:t> is a placeholder that will be filled by the application-specific logic.</a:t>
            </a:r>
          </a:p>
          <a:p>
            <a:r>
              <a:rPr lang="en-US" sz="2000" i="1" dirty="0" smtClean="0">
                <a:solidFill>
                  <a:srgbClr val="C00000"/>
                </a:solidFill>
              </a:rPr>
              <a:t>It is the manifestation</a:t>
            </a:r>
            <a:r>
              <a:rPr lang="en-US" sz="2000" dirty="0" smtClean="0"/>
              <a:t> of a hot spot concept in an actual class.</a:t>
            </a:r>
          </a:p>
          <a:p>
            <a:r>
              <a:rPr lang="en-US" sz="2000" i="1" dirty="0" smtClean="0">
                <a:solidFill>
                  <a:srgbClr val="C00000"/>
                </a:solidFill>
              </a:rPr>
              <a:t>A hot spot can be in the form of a class or application</a:t>
            </a:r>
            <a:r>
              <a:rPr lang="en-US" sz="2000" dirty="0" smtClean="0"/>
              <a:t>, although the method form is the most common manifestation of a hot spot.</a:t>
            </a:r>
          </a:p>
          <a:p>
            <a:r>
              <a:rPr lang="en-US" sz="2000" i="1" dirty="0" smtClean="0">
                <a:solidFill>
                  <a:srgbClr val="C00000"/>
                </a:solidFill>
              </a:rPr>
              <a:t>It often appears in the form of an abstract method</a:t>
            </a:r>
            <a:r>
              <a:rPr lang="en-US" sz="2000" dirty="0" smtClean="0"/>
              <a:t> inside an abstract class.</a:t>
            </a:r>
          </a:p>
        </p:txBody>
      </p:sp>
      <p:sp>
        <p:nvSpPr>
          <p:cNvPr id="4" name="Rectangle 3"/>
          <p:cNvSpPr/>
          <p:nvPr/>
        </p:nvSpPr>
        <p:spPr>
          <a:xfrm>
            <a:off x="4038600" y="1636216"/>
            <a:ext cx="5029200" cy="4154984"/>
          </a:xfrm>
          <a:prstGeom prst="rect">
            <a:avLst/>
          </a:prstGeom>
          <a:solidFill>
            <a:schemeClr val="bg2"/>
          </a:solidFill>
          <a:ln w="9525">
            <a:solidFill>
              <a:schemeClr val="bg2">
                <a:lumMod val="10000"/>
              </a:schemeClr>
            </a:solidFill>
          </a:ln>
        </p:spPr>
        <p:txBody>
          <a:bodyPr wrap="square">
            <a:spAutoFit/>
          </a:bodyPr>
          <a:lstStyle/>
          <a:p>
            <a:r>
              <a:rPr lang="en-US" sz="1200" dirty="0" smtClean="0">
                <a:solidFill>
                  <a:srgbClr val="C00000"/>
                </a:solidFill>
                <a:latin typeface="Courier New" pitchFamily="49" charset="0"/>
                <a:cs typeface="Courier New" pitchFamily="49" charset="0"/>
              </a:rPr>
              <a:t>public abstract class </a:t>
            </a:r>
            <a:r>
              <a:rPr lang="en-US" sz="1200" dirty="0" err="1" smtClean="0">
                <a:solidFill>
                  <a:srgbClr val="C00000"/>
                </a:solidFill>
                <a:latin typeface="Courier New" pitchFamily="49" charset="0"/>
                <a:cs typeface="Courier New" pitchFamily="49" charset="0"/>
              </a:rPr>
              <a:t>BasicBusiness</a:t>
            </a:r>
            <a:endParaRPr lang="en-US" sz="1200" dirty="0" smtClean="0">
              <a:solidFill>
                <a:srgbClr val="C00000"/>
              </a:solidFill>
              <a:latin typeface="Courier New" pitchFamily="49" charset="0"/>
              <a:cs typeface="Courier New" pitchFamily="49" charset="0"/>
            </a:endParaRPr>
          </a:p>
          <a:p>
            <a:r>
              <a:rPr lang="en-US" sz="1200" dirty="0" smtClean="0">
                <a:solidFill>
                  <a:srgbClr val="C00000"/>
                </a:solidFill>
                <a:latin typeface="Courier New" pitchFamily="49" charset="0"/>
                <a:cs typeface="Courier New" pitchFamily="49" charset="0"/>
              </a:rPr>
              <a:t>{</a:t>
            </a:r>
          </a:p>
          <a:p>
            <a:r>
              <a:rPr lang="en-US" sz="1200" dirty="0" smtClean="0">
                <a:solidFill>
                  <a:srgbClr val="C00000"/>
                </a:solidFill>
                <a:latin typeface="Courier New" pitchFamily="49" charset="0"/>
                <a:cs typeface="Courier New" pitchFamily="49" charset="0"/>
              </a:rPr>
              <a:t>     protected float income;</a:t>
            </a:r>
          </a:p>
          <a:p>
            <a:r>
              <a:rPr lang="en-US" sz="1200" dirty="0" smtClean="0">
                <a:solidFill>
                  <a:srgbClr val="C00000"/>
                </a:solidFill>
                <a:latin typeface="Courier New" pitchFamily="49" charset="0"/>
                <a:cs typeface="Courier New" pitchFamily="49" charset="0"/>
              </a:rPr>
              <a:t>     //the template method</a:t>
            </a:r>
          </a:p>
          <a:p>
            <a:r>
              <a:rPr lang="en-US" sz="1200" dirty="0" smtClean="0">
                <a:solidFill>
                  <a:srgbClr val="C00000"/>
                </a:solidFill>
                <a:latin typeface="Courier New" pitchFamily="49" charset="0"/>
                <a:cs typeface="Courier New" pitchFamily="49" charset="0"/>
              </a:rPr>
              <a:t>     public void </a:t>
            </a:r>
            <a:r>
              <a:rPr lang="en-US" sz="1200" dirty="0" err="1" smtClean="0">
                <a:solidFill>
                  <a:srgbClr val="C00000"/>
                </a:solidFill>
                <a:latin typeface="Courier New" pitchFamily="49" charset="0"/>
                <a:cs typeface="Courier New" pitchFamily="49" charset="0"/>
              </a:rPr>
              <a:t>ReportTax</a:t>
            </a:r>
            <a:r>
              <a:rPr lang="en-US" sz="1200" dirty="0" smtClean="0">
                <a:solidFill>
                  <a:srgbClr val="C00000"/>
                </a:solidFill>
                <a:latin typeface="Courier New" pitchFamily="49" charset="0"/>
                <a:cs typeface="Courier New" pitchFamily="49" charset="0"/>
              </a:rPr>
              <a:t>()</a:t>
            </a:r>
          </a:p>
          <a:p>
            <a:r>
              <a:rPr lang="en-US" sz="1200" dirty="0" smtClean="0">
                <a:solidFill>
                  <a:srgbClr val="C00000"/>
                </a:solidFill>
                <a:latin typeface="Courier New" pitchFamily="49" charset="0"/>
                <a:cs typeface="Courier New" pitchFamily="49" charset="0"/>
              </a:rPr>
              <a:t>     {</a:t>
            </a:r>
          </a:p>
          <a:p>
            <a:r>
              <a:rPr lang="en-US" sz="1200" b="1" dirty="0" smtClean="0">
                <a:solidFill>
                  <a:srgbClr val="C00000"/>
                </a:solidFill>
                <a:latin typeface="Courier New" pitchFamily="49" charset="0"/>
                <a:cs typeface="Courier New" pitchFamily="49" charset="0"/>
              </a:rPr>
              <a:t>          float </a:t>
            </a:r>
            <a:r>
              <a:rPr lang="en-US" sz="1200" b="1" dirty="0" err="1" smtClean="0">
                <a:solidFill>
                  <a:srgbClr val="C00000"/>
                </a:solidFill>
                <a:latin typeface="Courier New" pitchFamily="49" charset="0"/>
                <a:cs typeface="Courier New" pitchFamily="49" charset="0"/>
              </a:rPr>
              <a:t>sTax</a:t>
            </a:r>
            <a:r>
              <a:rPr lang="en-US" sz="1200" b="1" dirty="0" smtClean="0">
                <a:solidFill>
                  <a:srgbClr val="C00000"/>
                </a:solidFill>
                <a:latin typeface="Courier New" pitchFamily="49" charset="0"/>
                <a:cs typeface="Courier New" pitchFamily="49" charset="0"/>
              </a:rPr>
              <a:t> = </a:t>
            </a:r>
            <a:r>
              <a:rPr lang="en-US" sz="1200" b="1" dirty="0" err="1" smtClean="0">
                <a:solidFill>
                  <a:srgbClr val="C00000"/>
                </a:solidFill>
                <a:latin typeface="Courier New" pitchFamily="49" charset="0"/>
                <a:cs typeface="Courier New" pitchFamily="49" charset="0"/>
              </a:rPr>
              <a:t>CalculateStateTax</a:t>
            </a:r>
            <a:r>
              <a:rPr lang="en-US" sz="1200" b="1" dirty="0" smtClean="0">
                <a:solidFill>
                  <a:srgbClr val="C00000"/>
                </a:solidFill>
                <a:latin typeface="Courier New" pitchFamily="49" charset="0"/>
                <a:cs typeface="Courier New" pitchFamily="49" charset="0"/>
              </a:rPr>
              <a:t>();</a:t>
            </a:r>
          </a:p>
          <a:p>
            <a:r>
              <a:rPr lang="en-US" sz="1200" b="1" dirty="0" smtClean="0">
                <a:solidFill>
                  <a:srgbClr val="C00000"/>
                </a:solidFill>
                <a:latin typeface="Courier New" pitchFamily="49" charset="0"/>
                <a:cs typeface="Courier New" pitchFamily="49" charset="0"/>
              </a:rPr>
              <a:t>          float </a:t>
            </a:r>
            <a:r>
              <a:rPr lang="en-US" sz="1200" b="1" dirty="0" err="1" smtClean="0">
                <a:solidFill>
                  <a:srgbClr val="C00000"/>
                </a:solidFill>
                <a:latin typeface="Courier New" pitchFamily="49" charset="0"/>
                <a:cs typeface="Courier New" pitchFamily="49" charset="0"/>
              </a:rPr>
              <a:t>fTax</a:t>
            </a:r>
            <a:r>
              <a:rPr lang="en-US" sz="1200" b="1" dirty="0" smtClean="0">
                <a:solidFill>
                  <a:srgbClr val="C00000"/>
                </a:solidFill>
                <a:latin typeface="Courier New" pitchFamily="49" charset="0"/>
                <a:cs typeface="Courier New" pitchFamily="49" charset="0"/>
              </a:rPr>
              <a:t> = </a:t>
            </a:r>
            <a:r>
              <a:rPr lang="en-US" sz="1200" b="1" dirty="0" err="1" smtClean="0">
                <a:solidFill>
                  <a:srgbClr val="C00000"/>
                </a:solidFill>
                <a:latin typeface="Courier New" pitchFamily="49" charset="0"/>
                <a:cs typeface="Courier New" pitchFamily="49" charset="0"/>
              </a:rPr>
              <a:t>CalculateFedTax</a:t>
            </a:r>
            <a:r>
              <a:rPr lang="en-US" sz="1200" b="1" dirty="0" smtClean="0">
                <a:solidFill>
                  <a:srgbClr val="C00000"/>
                </a:solidFill>
                <a:latin typeface="Courier New" pitchFamily="49" charset="0"/>
                <a:cs typeface="Courier New" pitchFamily="49" charset="0"/>
              </a:rPr>
              <a:t>();</a:t>
            </a:r>
          </a:p>
          <a:p>
            <a:r>
              <a:rPr lang="en-US" sz="1200" dirty="0" smtClean="0">
                <a:solidFill>
                  <a:srgbClr val="C00000"/>
                </a:solidFill>
                <a:latin typeface="Courier New" pitchFamily="49" charset="0"/>
                <a:cs typeface="Courier New" pitchFamily="49" charset="0"/>
              </a:rPr>
              <a:t>          </a:t>
            </a:r>
            <a:r>
              <a:rPr lang="en-US" sz="1200" dirty="0" err="1" smtClean="0">
                <a:solidFill>
                  <a:srgbClr val="C00000"/>
                </a:solidFill>
                <a:latin typeface="Courier New" pitchFamily="49" charset="0"/>
                <a:cs typeface="Courier New" pitchFamily="49" charset="0"/>
              </a:rPr>
              <a:t>bool</a:t>
            </a:r>
            <a:r>
              <a:rPr lang="en-US" sz="1200" dirty="0" smtClean="0">
                <a:solidFill>
                  <a:srgbClr val="C00000"/>
                </a:solidFill>
                <a:latin typeface="Courier New" pitchFamily="49" charset="0"/>
                <a:cs typeface="Courier New" pitchFamily="49" charset="0"/>
              </a:rPr>
              <a:t> ok = </a:t>
            </a:r>
            <a:r>
              <a:rPr lang="en-US" sz="1200" dirty="0" err="1" smtClean="0">
                <a:solidFill>
                  <a:srgbClr val="C00000"/>
                </a:solidFill>
                <a:latin typeface="Courier New" pitchFamily="49" charset="0"/>
                <a:cs typeface="Courier New" pitchFamily="49" charset="0"/>
              </a:rPr>
              <a:t>CheckBankBalance</a:t>
            </a:r>
            <a:r>
              <a:rPr lang="en-US" sz="1200" dirty="0" smtClean="0">
                <a:solidFill>
                  <a:srgbClr val="C00000"/>
                </a:solidFill>
                <a:latin typeface="Courier New" pitchFamily="49" charset="0"/>
                <a:cs typeface="Courier New" pitchFamily="49" charset="0"/>
              </a:rPr>
              <a:t>(</a:t>
            </a:r>
            <a:r>
              <a:rPr lang="en-US" sz="1200" dirty="0" err="1" smtClean="0">
                <a:solidFill>
                  <a:srgbClr val="C00000"/>
                </a:solidFill>
                <a:latin typeface="Courier New" pitchFamily="49" charset="0"/>
                <a:cs typeface="Courier New" pitchFamily="49" charset="0"/>
              </a:rPr>
              <a:t>sTax</a:t>
            </a:r>
            <a:r>
              <a:rPr lang="en-US" sz="1200" dirty="0" smtClean="0">
                <a:solidFill>
                  <a:srgbClr val="C00000"/>
                </a:solidFill>
                <a:latin typeface="Courier New" pitchFamily="49" charset="0"/>
                <a:cs typeface="Courier New" pitchFamily="49" charset="0"/>
              </a:rPr>
              <a:t> + </a:t>
            </a:r>
            <a:r>
              <a:rPr lang="en-US" sz="1200" dirty="0" err="1" smtClean="0">
                <a:solidFill>
                  <a:srgbClr val="C00000"/>
                </a:solidFill>
                <a:latin typeface="Courier New" pitchFamily="49" charset="0"/>
                <a:cs typeface="Courier New" pitchFamily="49" charset="0"/>
              </a:rPr>
              <a:t>fTax</a:t>
            </a:r>
            <a:r>
              <a:rPr lang="en-US" sz="1200" dirty="0" smtClean="0">
                <a:solidFill>
                  <a:srgbClr val="C00000"/>
                </a:solidFill>
                <a:latin typeface="Courier New" pitchFamily="49" charset="0"/>
                <a:cs typeface="Courier New" pitchFamily="49" charset="0"/>
              </a:rPr>
              <a:t>);</a:t>
            </a:r>
          </a:p>
          <a:p>
            <a:r>
              <a:rPr lang="en-US" sz="1200" dirty="0" smtClean="0">
                <a:solidFill>
                  <a:srgbClr val="C00000"/>
                </a:solidFill>
                <a:latin typeface="Courier New" pitchFamily="49" charset="0"/>
                <a:cs typeface="Courier New" pitchFamily="49" charset="0"/>
              </a:rPr>
              <a:t>          if (!ok)</a:t>
            </a:r>
          </a:p>
          <a:p>
            <a:r>
              <a:rPr lang="en-US" sz="1200" dirty="0" smtClean="0">
                <a:solidFill>
                  <a:srgbClr val="C00000"/>
                </a:solidFill>
                <a:latin typeface="Courier New" pitchFamily="49" charset="0"/>
                <a:cs typeface="Courier New" pitchFamily="49" charset="0"/>
              </a:rPr>
              <a:t>          {</a:t>
            </a:r>
          </a:p>
          <a:p>
            <a:r>
              <a:rPr lang="en-US" sz="1200" dirty="0" smtClean="0">
                <a:solidFill>
                  <a:srgbClr val="C00000"/>
                </a:solidFill>
                <a:latin typeface="Courier New" pitchFamily="49" charset="0"/>
                <a:cs typeface="Courier New" pitchFamily="49" charset="0"/>
              </a:rPr>
              <a:t>               </a:t>
            </a:r>
            <a:r>
              <a:rPr lang="en-US" sz="1200" dirty="0" err="1" smtClean="0">
                <a:solidFill>
                  <a:srgbClr val="C00000"/>
                </a:solidFill>
                <a:latin typeface="Courier New" pitchFamily="49" charset="0"/>
                <a:cs typeface="Courier New" pitchFamily="49" charset="0"/>
              </a:rPr>
              <a:t>FileBankruptcy</a:t>
            </a:r>
            <a:r>
              <a:rPr lang="en-US" sz="1200" dirty="0" smtClean="0">
                <a:solidFill>
                  <a:srgbClr val="C00000"/>
                </a:solidFill>
                <a:latin typeface="Courier New" pitchFamily="49" charset="0"/>
                <a:cs typeface="Courier New" pitchFamily="49" charset="0"/>
              </a:rPr>
              <a:t>();</a:t>
            </a:r>
          </a:p>
          <a:p>
            <a:r>
              <a:rPr lang="en-US" sz="1200" dirty="0" smtClean="0">
                <a:solidFill>
                  <a:srgbClr val="C00000"/>
                </a:solidFill>
                <a:latin typeface="Courier New" pitchFamily="49" charset="0"/>
                <a:cs typeface="Courier New" pitchFamily="49" charset="0"/>
              </a:rPr>
              <a:t>          }</a:t>
            </a:r>
          </a:p>
          <a:p>
            <a:r>
              <a:rPr lang="en-US" sz="1200" dirty="0" smtClean="0">
                <a:solidFill>
                  <a:srgbClr val="C00000"/>
                </a:solidFill>
                <a:latin typeface="Courier New" pitchFamily="49" charset="0"/>
                <a:cs typeface="Courier New" pitchFamily="49" charset="0"/>
              </a:rPr>
              <a:t>          else</a:t>
            </a:r>
          </a:p>
          <a:p>
            <a:r>
              <a:rPr lang="en-US" sz="1200" dirty="0" smtClean="0">
                <a:solidFill>
                  <a:srgbClr val="C00000"/>
                </a:solidFill>
                <a:latin typeface="Courier New" pitchFamily="49" charset="0"/>
                <a:cs typeface="Courier New" pitchFamily="49" charset="0"/>
              </a:rPr>
              <a:t>          {</a:t>
            </a:r>
          </a:p>
          <a:p>
            <a:r>
              <a:rPr lang="en-US" sz="1200" dirty="0" smtClean="0">
                <a:solidFill>
                  <a:srgbClr val="C00000"/>
                </a:solidFill>
                <a:latin typeface="Courier New" pitchFamily="49" charset="0"/>
                <a:cs typeface="Courier New" pitchFamily="49" charset="0"/>
              </a:rPr>
              <a:t>               </a:t>
            </a:r>
            <a:r>
              <a:rPr lang="en-US" sz="1200" dirty="0" err="1" smtClean="0">
                <a:solidFill>
                  <a:srgbClr val="C00000"/>
                </a:solidFill>
                <a:latin typeface="Courier New" pitchFamily="49" charset="0"/>
                <a:cs typeface="Courier New" pitchFamily="49" charset="0"/>
              </a:rPr>
              <a:t>SendMoneyToGov</a:t>
            </a:r>
            <a:r>
              <a:rPr lang="en-US" sz="1200" dirty="0" smtClean="0">
                <a:solidFill>
                  <a:srgbClr val="C00000"/>
                </a:solidFill>
                <a:latin typeface="Courier New" pitchFamily="49" charset="0"/>
                <a:cs typeface="Courier New" pitchFamily="49" charset="0"/>
              </a:rPr>
              <a:t>(</a:t>
            </a:r>
            <a:r>
              <a:rPr lang="en-US" sz="1200" dirty="0" err="1" smtClean="0">
                <a:solidFill>
                  <a:srgbClr val="C00000"/>
                </a:solidFill>
                <a:latin typeface="Courier New" pitchFamily="49" charset="0"/>
                <a:cs typeface="Courier New" pitchFamily="49" charset="0"/>
              </a:rPr>
              <a:t>sTax</a:t>
            </a:r>
            <a:r>
              <a:rPr lang="en-US" sz="1200" dirty="0" smtClean="0">
                <a:solidFill>
                  <a:srgbClr val="C00000"/>
                </a:solidFill>
                <a:latin typeface="Courier New" pitchFamily="49" charset="0"/>
                <a:cs typeface="Courier New" pitchFamily="49" charset="0"/>
              </a:rPr>
              <a:t> + </a:t>
            </a:r>
            <a:r>
              <a:rPr lang="en-US" sz="1200" dirty="0" err="1" smtClean="0">
                <a:solidFill>
                  <a:srgbClr val="C00000"/>
                </a:solidFill>
                <a:latin typeface="Courier New" pitchFamily="49" charset="0"/>
                <a:cs typeface="Courier New" pitchFamily="49" charset="0"/>
              </a:rPr>
              <a:t>fTax</a:t>
            </a:r>
            <a:r>
              <a:rPr lang="en-US" sz="1200" dirty="0" smtClean="0">
                <a:solidFill>
                  <a:srgbClr val="C00000"/>
                </a:solidFill>
                <a:latin typeface="Courier New" pitchFamily="49" charset="0"/>
                <a:cs typeface="Courier New" pitchFamily="49" charset="0"/>
              </a:rPr>
              <a:t>);</a:t>
            </a:r>
          </a:p>
          <a:p>
            <a:r>
              <a:rPr lang="en-US" sz="1200" dirty="0" smtClean="0">
                <a:solidFill>
                  <a:srgbClr val="C00000"/>
                </a:solidFill>
                <a:latin typeface="Courier New" pitchFamily="49" charset="0"/>
                <a:cs typeface="Courier New" pitchFamily="49" charset="0"/>
              </a:rPr>
              <a:t>          }</a:t>
            </a:r>
          </a:p>
          <a:p>
            <a:r>
              <a:rPr lang="en-US" sz="1200" dirty="0" smtClean="0">
                <a:solidFill>
                  <a:srgbClr val="C00000"/>
                </a:solidFill>
                <a:latin typeface="Courier New" pitchFamily="49" charset="0"/>
                <a:cs typeface="Courier New" pitchFamily="49" charset="0"/>
              </a:rPr>
              <a:t>     }</a:t>
            </a:r>
          </a:p>
          <a:p>
            <a:endParaRPr lang="en-US" sz="1200" dirty="0" smtClean="0">
              <a:solidFill>
                <a:srgbClr val="C00000"/>
              </a:solidFill>
              <a:latin typeface="Courier New" pitchFamily="49" charset="0"/>
              <a:cs typeface="Courier New" pitchFamily="49" charset="0"/>
            </a:endParaRPr>
          </a:p>
          <a:p>
            <a:r>
              <a:rPr lang="en-US" sz="1200" b="1" dirty="0" smtClean="0">
                <a:solidFill>
                  <a:srgbClr val="C00000"/>
                </a:solidFill>
                <a:latin typeface="Courier New" pitchFamily="49" charset="0"/>
                <a:cs typeface="Courier New" pitchFamily="49" charset="0"/>
              </a:rPr>
              <a:t>     protected abstract float </a:t>
            </a:r>
            <a:r>
              <a:rPr lang="en-US" sz="1200" b="1" dirty="0" err="1" smtClean="0">
                <a:solidFill>
                  <a:srgbClr val="C00000"/>
                </a:solidFill>
                <a:latin typeface="Courier New" pitchFamily="49" charset="0"/>
                <a:cs typeface="Courier New" pitchFamily="49" charset="0"/>
              </a:rPr>
              <a:t>CalculateStateTax</a:t>
            </a:r>
            <a:r>
              <a:rPr lang="en-US" sz="1200" b="1" dirty="0" smtClean="0">
                <a:solidFill>
                  <a:srgbClr val="C00000"/>
                </a:solidFill>
                <a:latin typeface="Courier New" pitchFamily="49" charset="0"/>
                <a:cs typeface="Courier New" pitchFamily="49" charset="0"/>
              </a:rPr>
              <a:t>();</a:t>
            </a:r>
          </a:p>
          <a:p>
            <a:r>
              <a:rPr lang="en-US" sz="1200" b="1" dirty="0" smtClean="0">
                <a:solidFill>
                  <a:srgbClr val="C00000"/>
                </a:solidFill>
                <a:latin typeface="Courier New" pitchFamily="49" charset="0"/>
                <a:cs typeface="Courier New" pitchFamily="49" charset="0"/>
              </a:rPr>
              <a:t>     protected abstract float </a:t>
            </a:r>
            <a:r>
              <a:rPr lang="en-US" sz="1200" b="1" dirty="0" err="1" smtClean="0">
                <a:solidFill>
                  <a:srgbClr val="C00000"/>
                </a:solidFill>
                <a:latin typeface="Courier New" pitchFamily="49" charset="0"/>
                <a:cs typeface="Courier New" pitchFamily="49" charset="0"/>
              </a:rPr>
              <a:t>CalculateFedTax</a:t>
            </a:r>
            <a:r>
              <a:rPr lang="en-US" sz="1200" b="1" dirty="0" smtClean="0">
                <a:solidFill>
                  <a:srgbClr val="C00000"/>
                </a:solidFill>
                <a:latin typeface="Courier New" pitchFamily="49" charset="0"/>
                <a:cs typeface="Courier New" pitchFamily="49" charset="0"/>
              </a:rPr>
              <a:t>();</a:t>
            </a:r>
          </a:p>
          <a:p>
            <a:r>
              <a:rPr lang="en-US" sz="1200" dirty="0" smtClean="0">
                <a:solidFill>
                  <a:srgbClr val="C00000"/>
                </a:solidFill>
                <a:latin typeface="Courier New" pitchFamily="49" charset="0"/>
                <a:cs typeface="Courier New" pitchFamily="49" charset="0"/>
              </a:rPr>
              <a:t>}</a:t>
            </a:r>
            <a:endParaRPr lang="en-US" sz="1200" dirty="0">
              <a:solidFill>
                <a:srgbClr val="C00000"/>
              </a:solidFill>
              <a:latin typeface="Courier New" pitchFamily="49" charset="0"/>
              <a:cs typeface="Courier New" pitchFamily="49"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Filling of the "Hot Spot"</a:t>
            </a:r>
            <a:endParaRPr lang="en-US" dirty="0"/>
          </a:p>
        </p:txBody>
      </p:sp>
      <p:sp>
        <p:nvSpPr>
          <p:cNvPr id="4" name="Rectangle 3"/>
          <p:cNvSpPr/>
          <p:nvPr/>
        </p:nvSpPr>
        <p:spPr>
          <a:xfrm>
            <a:off x="228600" y="1447800"/>
            <a:ext cx="8686800" cy="3293209"/>
          </a:xfrm>
          <a:prstGeom prst="rect">
            <a:avLst/>
          </a:prstGeom>
          <a:solidFill>
            <a:schemeClr val="bg2"/>
          </a:solidFill>
          <a:ln w="9525">
            <a:solidFill>
              <a:schemeClr val="bg2">
                <a:lumMod val="10000"/>
              </a:schemeClr>
            </a:solidFill>
          </a:ln>
        </p:spPr>
        <p:txBody>
          <a:bodyPr wrap="square">
            <a:spAutoFit/>
          </a:bodyPr>
          <a:lstStyle/>
          <a:p>
            <a:r>
              <a:rPr lang="en-US" sz="1600" b="1" dirty="0" smtClean="0">
                <a:solidFill>
                  <a:schemeClr val="tx2"/>
                </a:solidFill>
                <a:latin typeface="Courier New" pitchFamily="49" charset="0"/>
                <a:cs typeface="Courier New" pitchFamily="49" charset="0"/>
              </a:rPr>
              <a:t>public class </a:t>
            </a:r>
            <a:r>
              <a:rPr lang="en-US" sz="1600" b="1" dirty="0" err="1" smtClean="0">
                <a:solidFill>
                  <a:schemeClr val="tx2"/>
                </a:solidFill>
                <a:latin typeface="Courier New" pitchFamily="49" charset="0"/>
                <a:cs typeface="Courier New" pitchFamily="49" charset="0"/>
              </a:rPr>
              <a:t>NewYorkBusiness</a:t>
            </a:r>
            <a:r>
              <a:rPr lang="en-US" sz="1600" b="1" dirty="0" smtClean="0">
                <a:solidFill>
                  <a:schemeClr val="tx2"/>
                </a:solidFill>
                <a:latin typeface="Courier New" pitchFamily="49" charset="0"/>
                <a:cs typeface="Courier New" pitchFamily="49" charset="0"/>
              </a:rPr>
              <a:t> : </a:t>
            </a:r>
            <a:r>
              <a:rPr lang="en-US" sz="1600" b="1" dirty="0" err="1" smtClean="0">
                <a:solidFill>
                  <a:schemeClr val="tx2"/>
                </a:solidFill>
                <a:latin typeface="Courier New" pitchFamily="49" charset="0"/>
                <a:cs typeface="Courier New" pitchFamily="49" charset="0"/>
              </a:rPr>
              <a:t>BasicBusiness</a:t>
            </a:r>
            <a:endParaRPr lang="en-US" sz="1600" b="1" dirty="0" smtClean="0">
              <a:solidFill>
                <a:schemeClr val="tx2"/>
              </a:solidFill>
              <a:latin typeface="Courier New" pitchFamily="49" charset="0"/>
              <a:cs typeface="Courier New" pitchFamily="49" charset="0"/>
            </a:endParaRPr>
          </a:p>
          <a:p>
            <a:r>
              <a:rPr lang="en-US" sz="1600" dirty="0" smtClean="0">
                <a:solidFill>
                  <a:srgbClr val="C00000"/>
                </a:solidFill>
                <a:latin typeface="Courier New" pitchFamily="49" charset="0"/>
                <a:cs typeface="Courier New" pitchFamily="49" charset="0"/>
              </a:rPr>
              <a:t>{</a:t>
            </a:r>
          </a:p>
          <a:p>
            <a:r>
              <a:rPr lang="en-US" sz="1600" dirty="0" smtClean="0">
                <a:solidFill>
                  <a:srgbClr val="C00000"/>
                </a:solidFill>
                <a:latin typeface="Courier New" pitchFamily="49" charset="0"/>
                <a:cs typeface="Courier New" pitchFamily="49" charset="0"/>
              </a:rPr>
              <a:t>     //implementation of abstract method</a:t>
            </a:r>
          </a:p>
          <a:p>
            <a:r>
              <a:rPr lang="en-US" sz="1600" dirty="0" smtClean="0">
                <a:solidFill>
                  <a:srgbClr val="C00000"/>
                </a:solidFill>
                <a:latin typeface="Courier New" pitchFamily="49" charset="0"/>
                <a:cs typeface="Courier New" pitchFamily="49" charset="0"/>
              </a:rPr>
              <a:t>     </a:t>
            </a:r>
            <a:r>
              <a:rPr lang="en-US" sz="1600" b="1" dirty="0" smtClean="0">
                <a:solidFill>
                  <a:schemeClr val="tx2"/>
                </a:solidFill>
                <a:latin typeface="Courier New" pitchFamily="49" charset="0"/>
                <a:cs typeface="Courier New" pitchFamily="49" charset="0"/>
              </a:rPr>
              <a:t>protected override float </a:t>
            </a:r>
            <a:r>
              <a:rPr lang="en-US" sz="1600" b="1" dirty="0" err="1" smtClean="0">
                <a:solidFill>
                  <a:schemeClr val="tx2"/>
                </a:solidFill>
                <a:latin typeface="Courier New" pitchFamily="49" charset="0"/>
                <a:cs typeface="Courier New" pitchFamily="49" charset="0"/>
              </a:rPr>
              <a:t>CalculateStateTax</a:t>
            </a:r>
            <a:r>
              <a:rPr lang="en-US" sz="1600" b="1" dirty="0" smtClean="0">
                <a:solidFill>
                  <a:schemeClr val="tx2"/>
                </a:solidFill>
                <a:latin typeface="Courier New" pitchFamily="49" charset="0"/>
                <a:cs typeface="Courier New" pitchFamily="49" charset="0"/>
              </a:rPr>
              <a:t>()</a:t>
            </a:r>
          </a:p>
          <a:p>
            <a:r>
              <a:rPr lang="en-US" sz="1600" dirty="0" smtClean="0">
                <a:solidFill>
                  <a:srgbClr val="C00000"/>
                </a:solidFill>
                <a:latin typeface="Courier New" pitchFamily="49" charset="0"/>
                <a:cs typeface="Courier New" pitchFamily="49" charset="0"/>
              </a:rPr>
              <a:t>     {</a:t>
            </a:r>
          </a:p>
          <a:p>
            <a:r>
              <a:rPr lang="en-US" sz="1600" dirty="0" smtClean="0">
                <a:solidFill>
                  <a:srgbClr val="C00000"/>
                </a:solidFill>
                <a:latin typeface="Courier New" pitchFamily="49" charset="0"/>
                <a:cs typeface="Courier New" pitchFamily="49" charset="0"/>
              </a:rPr>
              <a:t>          return </a:t>
            </a:r>
            <a:r>
              <a:rPr lang="en-US" sz="1600" b="1" dirty="0" smtClean="0">
                <a:solidFill>
                  <a:schemeClr val="tx2"/>
                </a:solidFill>
                <a:latin typeface="Courier New" pitchFamily="49" charset="0"/>
                <a:cs typeface="Courier New" pitchFamily="49" charset="0"/>
              </a:rPr>
              <a:t>income</a:t>
            </a:r>
            <a:r>
              <a:rPr lang="en-US" sz="1600" dirty="0" smtClean="0">
                <a:solidFill>
                  <a:srgbClr val="C00000"/>
                </a:solidFill>
                <a:latin typeface="Courier New" pitchFamily="49" charset="0"/>
                <a:cs typeface="Courier New" pitchFamily="49" charset="0"/>
              </a:rPr>
              <a:t> * 0.1F;</a:t>
            </a:r>
          </a:p>
          <a:p>
            <a:r>
              <a:rPr lang="en-US" sz="1600" dirty="0" smtClean="0">
                <a:solidFill>
                  <a:srgbClr val="C00000"/>
                </a:solidFill>
                <a:latin typeface="Courier New" pitchFamily="49" charset="0"/>
                <a:cs typeface="Courier New" pitchFamily="49" charset="0"/>
              </a:rPr>
              <a:t>     }</a:t>
            </a:r>
          </a:p>
          <a:p>
            <a:r>
              <a:rPr lang="en-US" sz="1600" dirty="0" smtClean="0">
                <a:solidFill>
                  <a:srgbClr val="C00000"/>
                </a:solidFill>
                <a:latin typeface="Courier New" pitchFamily="49" charset="0"/>
                <a:cs typeface="Courier New" pitchFamily="49" charset="0"/>
              </a:rPr>
              <a:t>     //implementation of abstract method</a:t>
            </a:r>
          </a:p>
          <a:p>
            <a:r>
              <a:rPr lang="en-US" sz="1600" dirty="0" smtClean="0">
                <a:solidFill>
                  <a:srgbClr val="C00000"/>
                </a:solidFill>
                <a:latin typeface="Courier New" pitchFamily="49" charset="0"/>
                <a:cs typeface="Courier New" pitchFamily="49" charset="0"/>
              </a:rPr>
              <a:t>     </a:t>
            </a:r>
            <a:r>
              <a:rPr lang="en-US" sz="1600" b="1" dirty="0" smtClean="0">
                <a:solidFill>
                  <a:schemeClr val="tx2"/>
                </a:solidFill>
                <a:latin typeface="Courier New" pitchFamily="49" charset="0"/>
                <a:cs typeface="Courier New" pitchFamily="49" charset="0"/>
              </a:rPr>
              <a:t>protected override float </a:t>
            </a:r>
            <a:r>
              <a:rPr lang="en-US" sz="1600" b="1" dirty="0" err="1" smtClean="0">
                <a:solidFill>
                  <a:schemeClr val="tx2"/>
                </a:solidFill>
                <a:latin typeface="Courier New" pitchFamily="49" charset="0"/>
                <a:cs typeface="Courier New" pitchFamily="49" charset="0"/>
              </a:rPr>
              <a:t>CalculateFedTax</a:t>
            </a:r>
            <a:r>
              <a:rPr lang="en-US" sz="1600" b="1" dirty="0" smtClean="0">
                <a:solidFill>
                  <a:schemeClr val="tx2"/>
                </a:solidFill>
                <a:latin typeface="Courier New" pitchFamily="49" charset="0"/>
                <a:cs typeface="Courier New" pitchFamily="49" charset="0"/>
              </a:rPr>
              <a:t>()</a:t>
            </a:r>
          </a:p>
          <a:p>
            <a:r>
              <a:rPr lang="en-US" sz="1600" dirty="0" smtClean="0">
                <a:solidFill>
                  <a:srgbClr val="C00000"/>
                </a:solidFill>
                <a:latin typeface="Courier New" pitchFamily="49" charset="0"/>
                <a:cs typeface="Courier New" pitchFamily="49" charset="0"/>
              </a:rPr>
              <a:t>     {</a:t>
            </a:r>
          </a:p>
          <a:p>
            <a:r>
              <a:rPr lang="en-US" sz="1600" dirty="0" smtClean="0">
                <a:solidFill>
                  <a:srgbClr val="C00000"/>
                </a:solidFill>
                <a:latin typeface="Courier New" pitchFamily="49" charset="0"/>
                <a:cs typeface="Courier New" pitchFamily="49" charset="0"/>
              </a:rPr>
              <a:t>          return </a:t>
            </a:r>
            <a:r>
              <a:rPr lang="en-US" sz="1600" b="1" dirty="0" smtClean="0">
                <a:solidFill>
                  <a:schemeClr val="tx2"/>
                </a:solidFill>
                <a:latin typeface="Courier New" pitchFamily="49" charset="0"/>
                <a:cs typeface="Courier New" pitchFamily="49" charset="0"/>
              </a:rPr>
              <a:t>income</a:t>
            </a:r>
            <a:r>
              <a:rPr lang="en-US" sz="1600" dirty="0" smtClean="0">
                <a:solidFill>
                  <a:srgbClr val="C00000"/>
                </a:solidFill>
                <a:latin typeface="Courier New" pitchFamily="49" charset="0"/>
                <a:cs typeface="Courier New" pitchFamily="49" charset="0"/>
              </a:rPr>
              <a:t> * 0.2F;</a:t>
            </a:r>
          </a:p>
          <a:p>
            <a:r>
              <a:rPr lang="en-US" sz="1600" dirty="0" smtClean="0">
                <a:solidFill>
                  <a:srgbClr val="C00000"/>
                </a:solidFill>
                <a:latin typeface="Courier New" pitchFamily="49" charset="0"/>
                <a:cs typeface="Courier New" pitchFamily="49" charset="0"/>
              </a:rPr>
              <a:t>     }</a:t>
            </a:r>
          </a:p>
          <a:p>
            <a:r>
              <a:rPr lang="en-US" sz="1600" dirty="0" smtClean="0">
                <a:solidFill>
                  <a:srgbClr val="C00000"/>
                </a:solidFill>
                <a:latin typeface="Courier New" pitchFamily="49" charset="0"/>
                <a:cs typeface="Courier New" pitchFamily="49" charset="0"/>
              </a:rPr>
              <a:t>}</a:t>
            </a:r>
            <a:endParaRPr lang="en-US" sz="1600" dirty="0">
              <a:solidFill>
                <a:srgbClr val="C00000"/>
              </a:solidFill>
              <a:latin typeface="Courier New" pitchFamily="49" charset="0"/>
              <a:cs typeface="Courier New" pitchFamily="49" charset="0"/>
            </a:endParaRPr>
          </a:p>
        </p:txBody>
      </p:sp>
      <p:sp>
        <p:nvSpPr>
          <p:cNvPr id="7" name="Rectangle 6"/>
          <p:cNvSpPr/>
          <p:nvPr/>
        </p:nvSpPr>
        <p:spPr>
          <a:xfrm>
            <a:off x="228600" y="4854476"/>
            <a:ext cx="8686800" cy="1600438"/>
          </a:xfrm>
          <a:prstGeom prst="rect">
            <a:avLst/>
          </a:prstGeom>
          <a:solidFill>
            <a:schemeClr val="bg2"/>
          </a:solidFill>
          <a:ln w="9525">
            <a:solidFill>
              <a:schemeClr val="bg2">
                <a:lumMod val="10000"/>
              </a:schemeClr>
            </a:solidFill>
          </a:ln>
        </p:spPr>
        <p:txBody>
          <a:bodyPr wrap="square">
            <a:spAutoFit/>
          </a:bodyPr>
          <a:lstStyle/>
          <a:p>
            <a:r>
              <a:rPr lang="en-US" sz="1400" dirty="0" err="1" smtClean="0">
                <a:solidFill>
                  <a:srgbClr val="C00000"/>
                </a:solidFill>
                <a:latin typeface="Courier New" pitchFamily="49" charset="0"/>
                <a:cs typeface="Courier New" pitchFamily="49" charset="0"/>
              </a:rPr>
              <a:t>BasicBusiness</a:t>
            </a:r>
            <a:r>
              <a:rPr lang="en-US" sz="1400" dirty="0" smtClean="0">
                <a:solidFill>
                  <a:srgbClr val="C00000"/>
                </a:solidFill>
                <a:latin typeface="Courier New" pitchFamily="49" charset="0"/>
                <a:cs typeface="Courier New" pitchFamily="49" charset="0"/>
              </a:rPr>
              <a:t> </a:t>
            </a:r>
            <a:r>
              <a:rPr lang="en-US" sz="1400" dirty="0" err="1" smtClean="0">
                <a:solidFill>
                  <a:srgbClr val="C00000"/>
                </a:solidFill>
                <a:latin typeface="Courier New" pitchFamily="49" charset="0"/>
                <a:cs typeface="Courier New" pitchFamily="49" charset="0"/>
              </a:rPr>
              <a:t>nyBusiness</a:t>
            </a:r>
            <a:r>
              <a:rPr lang="en-US" sz="1400" dirty="0" smtClean="0">
                <a:solidFill>
                  <a:srgbClr val="C00000"/>
                </a:solidFill>
                <a:latin typeface="Courier New" pitchFamily="49" charset="0"/>
                <a:cs typeface="Courier New" pitchFamily="49" charset="0"/>
              </a:rPr>
              <a:t> = new </a:t>
            </a:r>
            <a:r>
              <a:rPr lang="en-US" sz="1400" dirty="0" err="1" smtClean="0">
                <a:solidFill>
                  <a:srgbClr val="C00000"/>
                </a:solidFill>
                <a:latin typeface="Courier New" pitchFamily="49" charset="0"/>
                <a:cs typeface="Courier New" pitchFamily="49" charset="0"/>
              </a:rPr>
              <a:t>NewYorkBusiness</a:t>
            </a:r>
            <a:r>
              <a:rPr lang="en-US" sz="1400" dirty="0" smtClean="0">
                <a:solidFill>
                  <a:srgbClr val="C00000"/>
                </a:solidFill>
                <a:latin typeface="Courier New" pitchFamily="49" charset="0"/>
                <a:cs typeface="Courier New" pitchFamily="49" charset="0"/>
              </a:rPr>
              <a:t>();</a:t>
            </a:r>
          </a:p>
          <a:p>
            <a:r>
              <a:rPr lang="en-US" sz="1400" dirty="0" smtClean="0">
                <a:solidFill>
                  <a:srgbClr val="C00000"/>
                </a:solidFill>
                <a:latin typeface="Courier New" pitchFamily="49" charset="0"/>
                <a:cs typeface="Courier New" pitchFamily="49" charset="0"/>
              </a:rPr>
              <a:t>//</a:t>
            </a:r>
            <a:r>
              <a:rPr lang="en-US" sz="1400" dirty="0" err="1" smtClean="0">
                <a:solidFill>
                  <a:srgbClr val="C00000"/>
                </a:solidFill>
                <a:latin typeface="Courier New" pitchFamily="49" charset="0"/>
                <a:cs typeface="Courier New" pitchFamily="49" charset="0"/>
              </a:rPr>
              <a:t>ReportTax</a:t>
            </a:r>
            <a:r>
              <a:rPr lang="en-US" sz="1400" dirty="0" smtClean="0">
                <a:solidFill>
                  <a:srgbClr val="C00000"/>
                </a:solidFill>
                <a:latin typeface="Courier New" pitchFamily="49" charset="0"/>
                <a:cs typeface="Courier New" pitchFamily="49" charset="0"/>
              </a:rPr>
              <a:t> now will use the tax calculation algorithm defined for New York.</a:t>
            </a:r>
          </a:p>
          <a:p>
            <a:r>
              <a:rPr lang="en-US" sz="1400" dirty="0" err="1" smtClean="0">
                <a:solidFill>
                  <a:srgbClr val="C00000"/>
                </a:solidFill>
                <a:latin typeface="Courier New" pitchFamily="49" charset="0"/>
                <a:cs typeface="Courier New" pitchFamily="49" charset="0"/>
              </a:rPr>
              <a:t>nyBusiness.ReportTax</a:t>
            </a:r>
            <a:r>
              <a:rPr lang="en-US" sz="1400" dirty="0" smtClean="0">
                <a:solidFill>
                  <a:srgbClr val="C00000"/>
                </a:solidFill>
                <a:latin typeface="Courier New" pitchFamily="49" charset="0"/>
                <a:cs typeface="Courier New" pitchFamily="49" charset="0"/>
              </a:rPr>
              <a:t>();</a:t>
            </a:r>
          </a:p>
          <a:p>
            <a:endParaRPr lang="en-US" sz="1400" dirty="0" smtClean="0">
              <a:solidFill>
                <a:srgbClr val="C00000"/>
              </a:solidFill>
              <a:latin typeface="Courier New" pitchFamily="49" charset="0"/>
              <a:cs typeface="Courier New" pitchFamily="49" charset="0"/>
            </a:endParaRPr>
          </a:p>
          <a:p>
            <a:r>
              <a:rPr lang="en-US" sz="1400" dirty="0" err="1" smtClean="0">
                <a:solidFill>
                  <a:srgbClr val="C00000"/>
                </a:solidFill>
                <a:latin typeface="Courier New" pitchFamily="49" charset="0"/>
                <a:cs typeface="Courier New" pitchFamily="49" charset="0"/>
              </a:rPr>
              <a:t>BasicBusiness</a:t>
            </a:r>
            <a:r>
              <a:rPr lang="en-US" sz="1400" dirty="0" smtClean="0">
                <a:solidFill>
                  <a:srgbClr val="C00000"/>
                </a:solidFill>
                <a:latin typeface="Courier New" pitchFamily="49" charset="0"/>
                <a:cs typeface="Courier New" pitchFamily="49" charset="0"/>
              </a:rPr>
              <a:t> </a:t>
            </a:r>
            <a:r>
              <a:rPr lang="en-US" sz="1400" dirty="0" err="1" smtClean="0">
                <a:solidFill>
                  <a:srgbClr val="C00000"/>
                </a:solidFill>
                <a:latin typeface="Courier New" pitchFamily="49" charset="0"/>
                <a:cs typeface="Courier New" pitchFamily="49" charset="0"/>
              </a:rPr>
              <a:t>caBusiness</a:t>
            </a:r>
            <a:r>
              <a:rPr lang="en-US" sz="1400" dirty="0" smtClean="0">
                <a:solidFill>
                  <a:srgbClr val="C00000"/>
                </a:solidFill>
                <a:latin typeface="Courier New" pitchFamily="49" charset="0"/>
                <a:cs typeface="Courier New" pitchFamily="49" charset="0"/>
              </a:rPr>
              <a:t> = new </a:t>
            </a:r>
            <a:r>
              <a:rPr lang="en-US" sz="1400" dirty="0" err="1" smtClean="0">
                <a:solidFill>
                  <a:srgbClr val="C00000"/>
                </a:solidFill>
                <a:latin typeface="Courier New" pitchFamily="49" charset="0"/>
                <a:cs typeface="Courier New" pitchFamily="49" charset="0"/>
              </a:rPr>
              <a:t>CaliforniaBusiness</a:t>
            </a:r>
            <a:r>
              <a:rPr lang="en-US" sz="1400" dirty="0" smtClean="0">
                <a:solidFill>
                  <a:srgbClr val="C00000"/>
                </a:solidFill>
                <a:latin typeface="Courier New" pitchFamily="49" charset="0"/>
                <a:cs typeface="Courier New" pitchFamily="49" charset="0"/>
              </a:rPr>
              <a:t>();</a:t>
            </a:r>
          </a:p>
          <a:p>
            <a:r>
              <a:rPr lang="en-US" sz="1400" dirty="0" smtClean="0">
                <a:solidFill>
                  <a:srgbClr val="C00000"/>
                </a:solidFill>
                <a:latin typeface="Courier New" pitchFamily="49" charset="0"/>
                <a:cs typeface="Courier New" pitchFamily="49" charset="0"/>
              </a:rPr>
              <a:t>//</a:t>
            </a:r>
            <a:r>
              <a:rPr lang="en-US" sz="1400" dirty="0" err="1" smtClean="0">
                <a:solidFill>
                  <a:srgbClr val="C00000"/>
                </a:solidFill>
                <a:latin typeface="Courier New" pitchFamily="49" charset="0"/>
                <a:cs typeface="Courier New" pitchFamily="49" charset="0"/>
              </a:rPr>
              <a:t>ReportTax</a:t>
            </a:r>
            <a:r>
              <a:rPr lang="en-US" sz="1400" dirty="0" smtClean="0">
                <a:solidFill>
                  <a:srgbClr val="C00000"/>
                </a:solidFill>
                <a:latin typeface="Courier New" pitchFamily="49" charset="0"/>
                <a:cs typeface="Courier New" pitchFamily="49" charset="0"/>
              </a:rPr>
              <a:t> now will use the tax calculation algorithm defined for California.</a:t>
            </a:r>
          </a:p>
          <a:p>
            <a:r>
              <a:rPr lang="en-US" sz="1400" dirty="0" err="1" smtClean="0">
                <a:solidFill>
                  <a:srgbClr val="C00000"/>
                </a:solidFill>
                <a:latin typeface="Courier New" pitchFamily="49" charset="0"/>
                <a:cs typeface="Courier New" pitchFamily="49" charset="0"/>
              </a:rPr>
              <a:t>caBusiness.ReportTax</a:t>
            </a:r>
            <a:r>
              <a:rPr lang="en-US" sz="1400" dirty="0" smtClean="0">
                <a:solidFill>
                  <a:srgbClr val="C00000"/>
                </a:solidFill>
                <a:latin typeface="Courier New" pitchFamily="49" charset="0"/>
                <a:cs typeface="Courier New" pitchFamily="49" charset="0"/>
              </a:rPr>
              <a:t>();</a:t>
            </a:r>
            <a:endParaRPr lang="en-US" sz="1400" dirty="0">
              <a:solidFill>
                <a:srgbClr val="C00000"/>
              </a:solidFill>
              <a:latin typeface="Courier New" pitchFamily="49" charset="0"/>
              <a:cs typeface="Courier New" pitchFamily="49"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dirty="0" smtClean="0"/>
              <a:t>Template Methods vs. Hook Methods</a:t>
            </a:r>
            <a:endParaRPr lang="en-US" dirty="0"/>
          </a:p>
        </p:txBody>
      </p:sp>
      <p:pic>
        <p:nvPicPr>
          <p:cNvPr id="5122" name="Picture 2"/>
          <p:cNvPicPr>
            <a:picLocks noChangeAspect="1" noChangeArrowheads="1"/>
          </p:cNvPicPr>
          <p:nvPr/>
        </p:nvPicPr>
        <p:blipFill>
          <a:blip r:embed="rId2" cstate="print"/>
          <a:srcRect/>
          <a:stretch>
            <a:fillRect/>
          </a:stretch>
        </p:blipFill>
        <p:spPr bwMode="auto">
          <a:xfrm>
            <a:off x="1457325" y="2190750"/>
            <a:ext cx="6229350" cy="337185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Pluggable Components</a:t>
            </a:r>
            <a:endParaRPr lang="en-US" dirty="0"/>
          </a:p>
        </p:txBody>
      </p:sp>
      <p:sp>
        <p:nvSpPr>
          <p:cNvPr id="4" name="Rectangle 3"/>
          <p:cNvSpPr/>
          <p:nvPr/>
        </p:nvSpPr>
        <p:spPr>
          <a:xfrm>
            <a:off x="228600" y="4217075"/>
            <a:ext cx="3581400" cy="2031325"/>
          </a:xfrm>
          <a:prstGeom prst="rect">
            <a:avLst/>
          </a:prstGeom>
          <a:solidFill>
            <a:schemeClr val="bg2"/>
          </a:solidFill>
          <a:ln w="9525">
            <a:solidFill>
              <a:schemeClr val="bg2">
                <a:lumMod val="10000"/>
              </a:schemeClr>
            </a:solidFill>
          </a:ln>
        </p:spPr>
        <p:txBody>
          <a:bodyPr wrap="square">
            <a:spAutoFit/>
          </a:bodyPr>
          <a:lstStyle/>
          <a:p>
            <a:r>
              <a:rPr lang="en-US" sz="1400" dirty="0" smtClean="0">
                <a:solidFill>
                  <a:srgbClr val="C00000"/>
                </a:solidFill>
                <a:latin typeface="Courier New" pitchFamily="49" charset="0"/>
                <a:cs typeface="Courier New" pitchFamily="49" charset="0"/>
              </a:rPr>
              <a:t>public interface </a:t>
            </a:r>
            <a:r>
              <a:rPr lang="en-US" sz="1400" dirty="0" err="1" smtClean="0">
                <a:solidFill>
                  <a:srgbClr val="C00000"/>
                </a:solidFill>
                <a:latin typeface="Courier New" pitchFamily="49" charset="0"/>
                <a:cs typeface="Courier New" pitchFamily="49" charset="0"/>
              </a:rPr>
              <a:t>ICalculateTax</a:t>
            </a:r>
            <a:endParaRPr lang="en-US" sz="1400" dirty="0" smtClean="0">
              <a:solidFill>
                <a:srgbClr val="C00000"/>
              </a:solidFill>
              <a:latin typeface="Courier New" pitchFamily="49" charset="0"/>
              <a:cs typeface="Courier New" pitchFamily="49" charset="0"/>
            </a:endParaRPr>
          </a:p>
          <a:p>
            <a:r>
              <a:rPr lang="en-US" sz="1400" dirty="0" smtClean="0">
                <a:solidFill>
                  <a:srgbClr val="C00000"/>
                </a:solidFill>
                <a:latin typeface="Courier New" pitchFamily="49" charset="0"/>
                <a:cs typeface="Courier New" pitchFamily="49" charset="0"/>
              </a:rPr>
              <a:t>{</a:t>
            </a:r>
          </a:p>
          <a:p>
            <a:r>
              <a:rPr lang="en-US" sz="1400" dirty="0" smtClean="0">
                <a:solidFill>
                  <a:srgbClr val="C00000"/>
                </a:solidFill>
                <a:latin typeface="Courier New" pitchFamily="49" charset="0"/>
                <a:cs typeface="Courier New" pitchFamily="49" charset="0"/>
              </a:rPr>
              <a:t>     float </a:t>
            </a:r>
            <a:r>
              <a:rPr lang="en-US" sz="1400" dirty="0" err="1" smtClean="0">
                <a:solidFill>
                  <a:srgbClr val="C00000"/>
                </a:solidFill>
                <a:latin typeface="Courier New" pitchFamily="49" charset="0"/>
                <a:cs typeface="Courier New" pitchFamily="49" charset="0"/>
              </a:rPr>
              <a:t>CalculateStateTax</a:t>
            </a:r>
            <a:r>
              <a:rPr lang="en-US" sz="1400" dirty="0" smtClean="0">
                <a:solidFill>
                  <a:srgbClr val="C00000"/>
                </a:solidFill>
                <a:latin typeface="Courier New" pitchFamily="49" charset="0"/>
                <a:cs typeface="Courier New" pitchFamily="49" charset="0"/>
              </a:rPr>
              <a:t>();</a:t>
            </a:r>
          </a:p>
          <a:p>
            <a:r>
              <a:rPr lang="en-US" sz="1400" dirty="0" smtClean="0">
                <a:solidFill>
                  <a:srgbClr val="C00000"/>
                </a:solidFill>
                <a:latin typeface="Courier New" pitchFamily="49" charset="0"/>
                <a:cs typeface="Courier New" pitchFamily="49" charset="0"/>
              </a:rPr>
              <a:t>     float </a:t>
            </a:r>
            <a:r>
              <a:rPr lang="en-US" sz="1400" dirty="0" err="1" smtClean="0">
                <a:solidFill>
                  <a:srgbClr val="C00000"/>
                </a:solidFill>
                <a:latin typeface="Courier New" pitchFamily="49" charset="0"/>
                <a:cs typeface="Courier New" pitchFamily="49" charset="0"/>
              </a:rPr>
              <a:t>CalculateFedTax</a:t>
            </a:r>
            <a:r>
              <a:rPr lang="en-US" sz="1400" dirty="0" smtClean="0">
                <a:solidFill>
                  <a:srgbClr val="C00000"/>
                </a:solidFill>
                <a:latin typeface="Courier New" pitchFamily="49" charset="0"/>
                <a:cs typeface="Courier New" pitchFamily="49" charset="0"/>
              </a:rPr>
              <a:t>();</a:t>
            </a:r>
          </a:p>
          <a:p>
            <a:r>
              <a:rPr lang="en-US" sz="1400" dirty="0" smtClean="0">
                <a:solidFill>
                  <a:srgbClr val="C00000"/>
                </a:solidFill>
                <a:latin typeface="Courier New" pitchFamily="49" charset="0"/>
                <a:cs typeface="Courier New" pitchFamily="49" charset="0"/>
              </a:rPr>
              <a:t>     float Income</a:t>
            </a:r>
          </a:p>
          <a:p>
            <a:r>
              <a:rPr lang="en-US" sz="1400" dirty="0" smtClean="0">
                <a:solidFill>
                  <a:srgbClr val="C00000"/>
                </a:solidFill>
                <a:latin typeface="Courier New" pitchFamily="49" charset="0"/>
                <a:cs typeface="Courier New" pitchFamily="49" charset="0"/>
              </a:rPr>
              <a:t>     {</a:t>
            </a:r>
          </a:p>
          <a:p>
            <a:r>
              <a:rPr lang="en-US" sz="1400" dirty="0" smtClean="0">
                <a:solidFill>
                  <a:srgbClr val="C00000"/>
                </a:solidFill>
                <a:latin typeface="Courier New" pitchFamily="49" charset="0"/>
                <a:cs typeface="Courier New" pitchFamily="49" charset="0"/>
              </a:rPr>
              <a:t>         </a:t>
            </a:r>
            <a:r>
              <a:rPr lang="en-US" sz="1400" dirty="0" err="1" smtClean="0">
                <a:solidFill>
                  <a:srgbClr val="C00000"/>
                </a:solidFill>
                <a:latin typeface="Courier New" pitchFamily="49" charset="0"/>
                <a:cs typeface="Courier New" pitchFamily="49" charset="0"/>
              </a:rPr>
              <a:t>get;set</a:t>
            </a:r>
            <a:r>
              <a:rPr lang="en-US" sz="1400" dirty="0" smtClean="0">
                <a:solidFill>
                  <a:srgbClr val="C00000"/>
                </a:solidFill>
                <a:latin typeface="Courier New" pitchFamily="49" charset="0"/>
                <a:cs typeface="Courier New" pitchFamily="49" charset="0"/>
              </a:rPr>
              <a:t>;</a:t>
            </a:r>
          </a:p>
          <a:p>
            <a:r>
              <a:rPr lang="en-US" sz="1400" dirty="0" smtClean="0">
                <a:solidFill>
                  <a:srgbClr val="C00000"/>
                </a:solidFill>
                <a:latin typeface="Courier New" pitchFamily="49" charset="0"/>
                <a:cs typeface="Courier New" pitchFamily="49" charset="0"/>
              </a:rPr>
              <a:t>     }</a:t>
            </a:r>
          </a:p>
          <a:p>
            <a:r>
              <a:rPr lang="en-US" sz="1400" dirty="0" smtClean="0">
                <a:solidFill>
                  <a:srgbClr val="C00000"/>
                </a:solidFill>
                <a:latin typeface="Courier New" pitchFamily="49" charset="0"/>
                <a:cs typeface="Courier New" pitchFamily="49" charset="0"/>
              </a:rPr>
              <a:t>}</a:t>
            </a:r>
          </a:p>
        </p:txBody>
      </p:sp>
      <p:sp>
        <p:nvSpPr>
          <p:cNvPr id="5" name="Rectangle 4"/>
          <p:cNvSpPr/>
          <p:nvPr/>
        </p:nvSpPr>
        <p:spPr>
          <a:xfrm>
            <a:off x="4114800" y="2971800"/>
            <a:ext cx="4876800" cy="3754874"/>
          </a:xfrm>
          <a:prstGeom prst="rect">
            <a:avLst/>
          </a:prstGeom>
          <a:solidFill>
            <a:schemeClr val="bg2"/>
          </a:solidFill>
          <a:ln w="9525">
            <a:solidFill>
              <a:schemeClr val="bg2">
                <a:lumMod val="10000"/>
              </a:schemeClr>
            </a:solidFill>
          </a:ln>
        </p:spPr>
        <p:txBody>
          <a:bodyPr wrap="square">
            <a:spAutoFit/>
          </a:bodyPr>
          <a:lstStyle/>
          <a:p>
            <a:r>
              <a:rPr lang="en-US" sz="1400" dirty="0" smtClean="0">
                <a:solidFill>
                  <a:srgbClr val="C00000"/>
                </a:solidFill>
                <a:latin typeface="Courier New" pitchFamily="49" charset="0"/>
                <a:cs typeface="Courier New" pitchFamily="49" charset="0"/>
              </a:rPr>
              <a:t>public class </a:t>
            </a:r>
            <a:r>
              <a:rPr lang="en-US" sz="1400" dirty="0" err="1" smtClean="0">
                <a:solidFill>
                  <a:srgbClr val="C00000"/>
                </a:solidFill>
                <a:latin typeface="Courier New" pitchFamily="49" charset="0"/>
                <a:cs typeface="Courier New" pitchFamily="49" charset="0"/>
              </a:rPr>
              <a:t>NewYorkBusiness</a:t>
            </a:r>
            <a:r>
              <a:rPr lang="en-US" sz="1400" dirty="0" smtClean="0">
                <a:solidFill>
                  <a:srgbClr val="C00000"/>
                </a:solidFill>
                <a:latin typeface="Courier New" pitchFamily="49" charset="0"/>
                <a:cs typeface="Courier New" pitchFamily="49" charset="0"/>
              </a:rPr>
              <a:t> : </a:t>
            </a:r>
            <a:r>
              <a:rPr lang="en-US" sz="1400" dirty="0" err="1" smtClean="0">
                <a:solidFill>
                  <a:srgbClr val="C00000"/>
                </a:solidFill>
                <a:latin typeface="Courier New" pitchFamily="49" charset="0"/>
                <a:cs typeface="Courier New" pitchFamily="49" charset="0"/>
              </a:rPr>
              <a:t>ICalculateTax</a:t>
            </a:r>
            <a:endParaRPr lang="en-US" sz="1400" dirty="0" smtClean="0">
              <a:solidFill>
                <a:srgbClr val="C00000"/>
              </a:solidFill>
              <a:latin typeface="Courier New" pitchFamily="49" charset="0"/>
              <a:cs typeface="Courier New" pitchFamily="49" charset="0"/>
            </a:endParaRPr>
          </a:p>
          <a:p>
            <a:r>
              <a:rPr lang="en-US" sz="1400" dirty="0" smtClean="0">
                <a:solidFill>
                  <a:srgbClr val="C00000"/>
                </a:solidFill>
                <a:latin typeface="Courier New" pitchFamily="49" charset="0"/>
                <a:cs typeface="Courier New" pitchFamily="49" charset="0"/>
              </a:rPr>
              <a:t>{</a:t>
            </a:r>
          </a:p>
          <a:p>
            <a:r>
              <a:rPr lang="en-US" sz="1400" dirty="0" smtClean="0">
                <a:solidFill>
                  <a:srgbClr val="C00000"/>
                </a:solidFill>
                <a:latin typeface="Courier New" pitchFamily="49" charset="0"/>
                <a:cs typeface="Courier New" pitchFamily="49" charset="0"/>
              </a:rPr>
              <a:t>     private float income;</a:t>
            </a:r>
          </a:p>
          <a:p>
            <a:r>
              <a:rPr lang="en-US" sz="1400" dirty="0" smtClean="0">
                <a:solidFill>
                  <a:srgbClr val="C00000"/>
                </a:solidFill>
                <a:latin typeface="Courier New" pitchFamily="49" charset="0"/>
                <a:cs typeface="Courier New" pitchFamily="49" charset="0"/>
              </a:rPr>
              <a:t>     public float Income</a:t>
            </a:r>
          </a:p>
          <a:p>
            <a:r>
              <a:rPr lang="en-US" sz="1400" dirty="0" smtClean="0">
                <a:solidFill>
                  <a:srgbClr val="C00000"/>
                </a:solidFill>
                <a:latin typeface="Courier New" pitchFamily="49" charset="0"/>
                <a:cs typeface="Courier New" pitchFamily="49" charset="0"/>
              </a:rPr>
              <a:t>     {</a:t>
            </a:r>
          </a:p>
          <a:p>
            <a:r>
              <a:rPr lang="en-US" sz="1400" dirty="0" smtClean="0">
                <a:solidFill>
                  <a:srgbClr val="C00000"/>
                </a:solidFill>
                <a:latin typeface="Courier New" pitchFamily="49" charset="0"/>
                <a:cs typeface="Courier New" pitchFamily="49" charset="0"/>
              </a:rPr>
              <a:t>          get { return income; }</a:t>
            </a:r>
          </a:p>
          <a:p>
            <a:r>
              <a:rPr lang="en-US" sz="1400" dirty="0" smtClean="0">
                <a:solidFill>
                  <a:srgbClr val="C00000"/>
                </a:solidFill>
                <a:latin typeface="Courier New" pitchFamily="49" charset="0"/>
                <a:cs typeface="Courier New" pitchFamily="49" charset="0"/>
              </a:rPr>
              <a:t>          set { income = value; }</a:t>
            </a:r>
          </a:p>
          <a:p>
            <a:r>
              <a:rPr lang="en-US" sz="1400" dirty="0" smtClean="0">
                <a:solidFill>
                  <a:srgbClr val="C00000"/>
                </a:solidFill>
                <a:latin typeface="Courier New" pitchFamily="49" charset="0"/>
                <a:cs typeface="Courier New" pitchFamily="49" charset="0"/>
              </a:rPr>
              <a:t>     }</a:t>
            </a:r>
          </a:p>
          <a:p>
            <a:r>
              <a:rPr lang="en-US" sz="1400" dirty="0" smtClean="0">
                <a:solidFill>
                  <a:srgbClr val="C00000"/>
                </a:solidFill>
                <a:latin typeface="Courier New" pitchFamily="49" charset="0"/>
                <a:cs typeface="Courier New" pitchFamily="49" charset="0"/>
              </a:rPr>
              <a:t>     public float </a:t>
            </a:r>
            <a:r>
              <a:rPr lang="en-US" sz="1400" dirty="0" err="1" smtClean="0">
                <a:solidFill>
                  <a:srgbClr val="C00000"/>
                </a:solidFill>
                <a:latin typeface="Courier New" pitchFamily="49" charset="0"/>
                <a:cs typeface="Courier New" pitchFamily="49" charset="0"/>
              </a:rPr>
              <a:t>CalculateStateTax</a:t>
            </a:r>
            <a:r>
              <a:rPr lang="en-US" sz="1400" dirty="0" smtClean="0">
                <a:solidFill>
                  <a:srgbClr val="C00000"/>
                </a:solidFill>
                <a:latin typeface="Courier New" pitchFamily="49" charset="0"/>
                <a:cs typeface="Courier New" pitchFamily="49" charset="0"/>
              </a:rPr>
              <a:t>()</a:t>
            </a:r>
          </a:p>
          <a:p>
            <a:r>
              <a:rPr lang="en-US" sz="1400" dirty="0" smtClean="0">
                <a:solidFill>
                  <a:srgbClr val="C00000"/>
                </a:solidFill>
                <a:latin typeface="Courier New" pitchFamily="49" charset="0"/>
                <a:cs typeface="Courier New" pitchFamily="49" charset="0"/>
              </a:rPr>
              <a:t>     {</a:t>
            </a:r>
          </a:p>
          <a:p>
            <a:r>
              <a:rPr lang="en-US" sz="1400" dirty="0" smtClean="0">
                <a:solidFill>
                  <a:srgbClr val="C00000"/>
                </a:solidFill>
                <a:latin typeface="Courier New" pitchFamily="49" charset="0"/>
                <a:cs typeface="Courier New" pitchFamily="49" charset="0"/>
              </a:rPr>
              <a:t>          return income * 0.1F;</a:t>
            </a:r>
          </a:p>
          <a:p>
            <a:r>
              <a:rPr lang="en-US" sz="1400" dirty="0" smtClean="0">
                <a:solidFill>
                  <a:srgbClr val="C00000"/>
                </a:solidFill>
                <a:latin typeface="Courier New" pitchFamily="49" charset="0"/>
                <a:cs typeface="Courier New" pitchFamily="49" charset="0"/>
              </a:rPr>
              <a:t>     }</a:t>
            </a:r>
          </a:p>
          <a:p>
            <a:r>
              <a:rPr lang="en-US" sz="1400" dirty="0" smtClean="0">
                <a:solidFill>
                  <a:srgbClr val="C00000"/>
                </a:solidFill>
                <a:latin typeface="Courier New" pitchFamily="49" charset="0"/>
                <a:cs typeface="Courier New" pitchFamily="49" charset="0"/>
              </a:rPr>
              <a:t>     public float </a:t>
            </a:r>
            <a:r>
              <a:rPr lang="en-US" sz="1400" dirty="0" err="1" smtClean="0">
                <a:solidFill>
                  <a:srgbClr val="C00000"/>
                </a:solidFill>
                <a:latin typeface="Courier New" pitchFamily="49" charset="0"/>
                <a:cs typeface="Courier New" pitchFamily="49" charset="0"/>
              </a:rPr>
              <a:t>CalculateFedTax</a:t>
            </a:r>
            <a:r>
              <a:rPr lang="en-US" sz="1400" dirty="0" smtClean="0">
                <a:solidFill>
                  <a:srgbClr val="C00000"/>
                </a:solidFill>
                <a:latin typeface="Courier New" pitchFamily="49" charset="0"/>
                <a:cs typeface="Courier New" pitchFamily="49" charset="0"/>
              </a:rPr>
              <a:t>()</a:t>
            </a:r>
          </a:p>
          <a:p>
            <a:r>
              <a:rPr lang="en-US" sz="1400" dirty="0" smtClean="0">
                <a:solidFill>
                  <a:srgbClr val="C00000"/>
                </a:solidFill>
                <a:latin typeface="Courier New" pitchFamily="49" charset="0"/>
                <a:cs typeface="Courier New" pitchFamily="49" charset="0"/>
              </a:rPr>
              <a:t>     {</a:t>
            </a:r>
          </a:p>
          <a:p>
            <a:r>
              <a:rPr lang="en-US" sz="1400" dirty="0" smtClean="0">
                <a:solidFill>
                  <a:srgbClr val="C00000"/>
                </a:solidFill>
                <a:latin typeface="Courier New" pitchFamily="49" charset="0"/>
                <a:cs typeface="Courier New" pitchFamily="49" charset="0"/>
              </a:rPr>
              <a:t>          return income * 0.2F;</a:t>
            </a:r>
          </a:p>
          <a:p>
            <a:r>
              <a:rPr lang="en-US" sz="1400" dirty="0" smtClean="0">
                <a:solidFill>
                  <a:srgbClr val="C00000"/>
                </a:solidFill>
                <a:latin typeface="Courier New" pitchFamily="49" charset="0"/>
                <a:cs typeface="Courier New" pitchFamily="49" charset="0"/>
              </a:rPr>
              <a:t>     }</a:t>
            </a:r>
          </a:p>
          <a:p>
            <a:r>
              <a:rPr lang="en-US" sz="1400" dirty="0" smtClean="0">
                <a:solidFill>
                  <a:srgbClr val="C00000"/>
                </a:solidFill>
                <a:latin typeface="Courier New" pitchFamily="49" charset="0"/>
                <a:cs typeface="Courier New" pitchFamily="49" charset="0"/>
              </a:rPr>
              <a:t>}</a:t>
            </a:r>
            <a:endParaRPr lang="en-US" sz="1400" dirty="0">
              <a:solidFill>
                <a:srgbClr val="C00000"/>
              </a:solidFill>
              <a:latin typeface="Courier New" pitchFamily="49" charset="0"/>
              <a:cs typeface="Courier New" pitchFamily="49" charset="0"/>
            </a:endParaRPr>
          </a:p>
        </p:txBody>
      </p:sp>
      <p:sp>
        <p:nvSpPr>
          <p:cNvPr id="6" name="Content Placeholder 2"/>
          <p:cNvSpPr>
            <a:spLocks noGrp="1"/>
          </p:cNvSpPr>
          <p:nvPr>
            <p:ph idx="1"/>
          </p:nvPr>
        </p:nvSpPr>
        <p:spPr>
          <a:xfrm>
            <a:off x="228600" y="1447800"/>
            <a:ext cx="8686800" cy="1447800"/>
          </a:xfrm>
        </p:spPr>
        <p:txBody>
          <a:bodyPr/>
          <a:lstStyle/>
          <a:p>
            <a:r>
              <a:rPr lang="en-US" sz="2200" dirty="0" smtClean="0"/>
              <a:t>To enable hot spots through pluggable components, </a:t>
            </a:r>
            <a:r>
              <a:rPr lang="en-US" sz="2200" i="1" dirty="0" smtClean="0">
                <a:solidFill>
                  <a:srgbClr val="C00000"/>
                </a:solidFill>
              </a:rPr>
              <a:t>the application framework must define the interface</a:t>
            </a:r>
            <a:r>
              <a:rPr lang="en-US" sz="2200" dirty="0" smtClean="0"/>
              <a:t> for the hot spot.</a:t>
            </a:r>
          </a:p>
          <a:p>
            <a:r>
              <a:rPr lang="en-US" sz="2200" i="1" dirty="0" smtClean="0">
                <a:solidFill>
                  <a:srgbClr val="C00000"/>
                </a:solidFill>
              </a:rPr>
              <a:t>Developers will need to create pluggable application components</a:t>
            </a:r>
            <a:r>
              <a:rPr lang="en-US" sz="2200" dirty="0" smtClean="0"/>
              <a:t> that have matching interfaces with the hot spot in the framework.</a:t>
            </a:r>
          </a:p>
        </p:txBody>
      </p:sp>
      <p:sp>
        <p:nvSpPr>
          <p:cNvPr id="8" name="Rectangle 7"/>
          <p:cNvSpPr/>
          <p:nvPr/>
        </p:nvSpPr>
        <p:spPr>
          <a:xfrm>
            <a:off x="228600" y="3124200"/>
            <a:ext cx="3581400" cy="830997"/>
          </a:xfrm>
          <a:prstGeom prst="rect">
            <a:avLst/>
          </a:prstGeom>
        </p:spPr>
        <p:txBody>
          <a:bodyPr wrap="square">
            <a:spAutoFit/>
          </a:bodyPr>
          <a:lstStyle/>
          <a:p>
            <a:r>
              <a:rPr lang="en-US" sz="1600" i="1" dirty="0" smtClean="0">
                <a:solidFill>
                  <a:srgbClr val="C00000"/>
                </a:solidFill>
                <a:latin typeface="+mj-lt"/>
              </a:rPr>
              <a:t>An interface describes a set of methods</a:t>
            </a:r>
            <a:r>
              <a:rPr lang="en-US" sz="1600" dirty="0" smtClean="0">
                <a:latin typeface="+mj-lt"/>
              </a:rPr>
              <a:t> a class must implement to be considered compatible with the interface.</a:t>
            </a:r>
            <a:endParaRPr lang="en-US" sz="1600" dirty="0">
              <a:latin typeface="+mj-l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Composition Approach</a:t>
            </a:r>
            <a:endParaRPr lang="en-US" dirty="0"/>
          </a:p>
        </p:txBody>
      </p:sp>
      <p:pic>
        <p:nvPicPr>
          <p:cNvPr id="6147" name="Picture 3"/>
          <p:cNvPicPr>
            <a:picLocks noChangeAspect="1" noChangeArrowheads="1"/>
          </p:cNvPicPr>
          <p:nvPr/>
        </p:nvPicPr>
        <p:blipFill>
          <a:blip r:embed="rId2" cstate="print"/>
          <a:srcRect/>
          <a:stretch>
            <a:fillRect/>
          </a:stretch>
        </p:blipFill>
        <p:spPr bwMode="auto">
          <a:xfrm>
            <a:off x="1447800" y="3276600"/>
            <a:ext cx="6515100" cy="2667000"/>
          </a:xfrm>
          <a:prstGeom prst="rect">
            <a:avLst/>
          </a:prstGeom>
          <a:noFill/>
          <a:ln w="9525">
            <a:noFill/>
            <a:miter lim="800000"/>
            <a:headEnd/>
            <a:tailEnd/>
          </a:ln>
        </p:spPr>
      </p:pic>
      <p:sp>
        <p:nvSpPr>
          <p:cNvPr id="5" name="Rectangle 4"/>
          <p:cNvSpPr/>
          <p:nvPr/>
        </p:nvSpPr>
        <p:spPr>
          <a:xfrm>
            <a:off x="457200" y="1600200"/>
            <a:ext cx="8077200" cy="1200329"/>
          </a:xfrm>
          <a:prstGeom prst="rect">
            <a:avLst/>
          </a:prstGeom>
        </p:spPr>
        <p:txBody>
          <a:bodyPr wrap="square">
            <a:spAutoFit/>
          </a:bodyPr>
          <a:lstStyle/>
          <a:p>
            <a:pPr algn="ctr"/>
            <a:r>
              <a:rPr lang="en-US" sz="2400" i="1" dirty="0" smtClean="0">
                <a:solidFill>
                  <a:srgbClr val="C00000"/>
                </a:solidFill>
                <a:latin typeface="+mj-lt"/>
              </a:rPr>
              <a:t>The developer can then plug the component into the hot spot</a:t>
            </a:r>
            <a:r>
              <a:rPr lang="en-US" sz="2400" dirty="0" smtClean="0">
                <a:latin typeface="+mj-lt"/>
              </a:rPr>
              <a:t> by binding the application component and the framework component together.</a:t>
            </a:r>
            <a:endParaRPr lang="en-US" sz="2400" dirty="0">
              <a:latin typeface="+mj-l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Binding Application Component to Framework Component </a:t>
            </a:r>
            <a:endParaRPr lang="en-US" dirty="0"/>
          </a:p>
        </p:txBody>
      </p:sp>
      <p:sp>
        <p:nvSpPr>
          <p:cNvPr id="6" name="Rectangle 5"/>
          <p:cNvSpPr/>
          <p:nvPr/>
        </p:nvSpPr>
        <p:spPr>
          <a:xfrm>
            <a:off x="457200" y="1642170"/>
            <a:ext cx="8305800" cy="3046988"/>
          </a:xfrm>
          <a:prstGeom prst="rect">
            <a:avLst/>
          </a:prstGeom>
          <a:solidFill>
            <a:schemeClr val="bg2"/>
          </a:solidFill>
          <a:ln w="9525">
            <a:solidFill>
              <a:schemeClr val="bg2">
                <a:lumMod val="10000"/>
              </a:schemeClr>
            </a:solidFill>
          </a:ln>
        </p:spPr>
        <p:txBody>
          <a:bodyPr wrap="square">
            <a:spAutoFit/>
          </a:bodyPr>
          <a:lstStyle/>
          <a:p>
            <a:r>
              <a:rPr lang="en-US" sz="1600" b="1" dirty="0" smtClean="0">
                <a:solidFill>
                  <a:schemeClr val="tx2"/>
                </a:solidFill>
                <a:latin typeface="Courier New" pitchFamily="49" charset="0"/>
                <a:cs typeface="Courier New" pitchFamily="49" charset="0"/>
              </a:rPr>
              <a:t>// Instead of making an abstract class, we make a concrete class.</a:t>
            </a:r>
          </a:p>
          <a:p>
            <a:r>
              <a:rPr lang="en-US" sz="1600" dirty="0" smtClean="0">
                <a:solidFill>
                  <a:srgbClr val="C00000"/>
                </a:solidFill>
                <a:latin typeface="Courier New" pitchFamily="49" charset="0"/>
                <a:cs typeface="Courier New" pitchFamily="49" charset="0"/>
              </a:rPr>
              <a:t>public class </a:t>
            </a:r>
            <a:r>
              <a:rPr lang="en-US" sz="1600" dirty="0" err="1" smtClean="0">
                <a:solidFill>
                  <a:srgbClr val="C00000"/>
                </a:solidFill>
                <a:latin typeface="Courier New" pitchFamily="49" charset="0"/>
                <a:cs typeface="Courier New" pitchFamily="49" charset="0"/>
              </a:rPr>
              <a:t>BasicBusiness</a:t>
            </a:r>
            <a:r>
              <a:rPr lang="en-US" sz="1600" dirty="0" smtClean="0">
                <a:solidFill>
                  <a:srgbClr val="C00000"/>
                </a:solidFill>
                <a:latin typeface="Courier New" pitchFamily="49" charset="0"/>
                <a:cs typeface="Courier New" pitchFamily="49" charset="0"/>
              </a:rPr>
              <a:t> </a:t>
            </a:r>
          </a:p>
          <a:p>
            <a:r>
              <a:rPr lang="en-US" sz="1600" dirty="0" smtClean="0">
                <a:solidFill>
                  <a:srgbClr val="C00000"/>
                </a:solidFill>
                <a:latin typeface="Courier New" pitchFamily="49" charset="0"/>
                <a:cs typeface="Courier New" pitchFamily="49" charset="0"/>
              </a:rPr>
              <a:t>{</a:t>
            </a:r>
          </a:p>
          <a:p>
            <a:r>
              <a:rPr lang="en-US" sz="1600" dirty="0" smtClean="0">
                <a:solidFill>
                  <a:schemeClr val="tx2"/>
                </a:solidFill>
                <a:latin typeface="Courier New" pitchFamily="49" charset="0"/>
                <a:cs typeface="Courier New" pitchFamily="49" charset="0"/>
              </a:rPr>
              <a:t>     </a:t>
            </a:r>
            <a:r>
              <a:rPr lang="en-US" sz="1600" b="1" dirty="0" smtClean="0">
                <a:solidFill>
                  <a:schemeClr val="tx2"/>
                </a:solidFill>
                <a:latin typeface="Courier New" pitchFamily="49" charset="0"/>
                <a:cs typeface="Courier New" pitchFamily="49" charset="0"/>
              </a:rPr>
              <a:t>public void </a:t>
            </a:r>
            <a:r>
              <a:rPr lang="en-US" sz="1600" b="1" dirty="0" err="1" smtClean="0">
                <a:solidFill>
                  <a:schemeClr val="tx2"/>
                </a:solidFill>
                <a:latin typeface="Courier New" pitchFamily="49" charset="0"/>
                <a:cs typeface="Courier New" pitchFamily="49" charset="0"/>
              </a:rPr>
              <a:t>ReportTax</a:t>
            </a:r>
            <a:r>
              <a:rPr lang="en-US" sz="1600" b="1" dirty="0" smtClean="0">
                <a:solidFill>
                  <a:schemeClr val="tx2"/>
                </a:solidFill>
                <a:latin typeface="Courier New" pitchFamily="49" charset="0"/>
                <a:cs typeface="Courier New" pitchFamily="49" charset="0"/>
              </a:rPr>
              <a:t> (</a:t>
            </a:r>
            <a:r>
              <a:rPr lang="en-US" sz="1600" b="1" dirty="0" err="1" smtClean="0">
                <a:solidFill>
                  <a:schemeClr val="tx2"/>
                </a:solidFill>
                <a:latin typeface="Courier New" pitchFamily="49" charset="0"/>
                <a:cs typeface="Courier New" pitchFamily="49" charset="0"/>
              </a:rPr>
              <a:t>ICalculateTax</a:t>
            </a:r>
            <a:r>
              <a:rPr lang="en-US" sz="1600" b="1" dirty="0" smtClean="0">
                <a:solidFill>
                  <a:schemeClr val="tx2"/>
                </a:solidFill>
                <a:latin typeface="Courier New" pitchFamily="49" charset="0"/>
                <a:cs typeface="Courier New" pitchFamily="49" charset="0"/>
              </a:rPr>
              <a:t> calculator)</a:t>
            </a:r>
          </a:p>
          <a:p>
            <a:r>
              <a:rPr lang="en-US" sz="1600" dirty="0" smtClean="0">
                <a:solidFill>
                  <a:srgbClr val="C00000"/>
                </a:solidFill>
                <a:latin typeface="Courier New" pitchFamily="49" charset="0"/>
                <a:cs typeface="Courier New" pitchFamily="49" charset="0"/>
              </a:rPr>
              <a:t>     {</a:t>
            </a:r>
          </a:p>
          <a:p>
            <a:r>
              <a:rPr lang="en-US" sz="1600" b="1" dirty="0" smtClean="0">
                <a:solidFill>
                  <a:schemeClr val="tx2"/>
                </a:solidFill>
                <a:latin typeface="Courier New" pitchFamily="49" charset="0"/>
                <a:cs typeface="Courier New" pitchFamily="49" charset="0"/>
              </a:rPr>
              <a:t>          float </a:t>
            </a:r>
            <a:r>
              <a:rPr lang="en-US" sz="1600" b="1" dirty="0" err="1" smtClean="0">
                <a:solidFill>
                  <a:schemeClr val="tx2"/>
                </a:solidFill>
                <a:latin typeface="Courier New" pitchFamily="49" charset="0"/>
                <a:cs typeface="Courier New" pitchFamily="49" charset="0"/>
              </a:rPr>
              <a:t>sTax</a:t>
            </a:r>
            <a:r>
              <a:rPr lang="en-US" sz="1600" b="1" dirty="0" smtClean="0">
                <a:solidFill>
                  <a:schemeClr val="tx2"/>
                </a:solidFill>
                <a:latin typeface="Courier New" pitchFamily="49" charset="0"/>
                <a:cs typeface="Courier New" pitchFamily="49" charset="0"/>
              </a:rPr>
              <a:t> = </a:t>
            </a:r>
            <a:r>
              <a:rPr lang="en-US" sz="1600" b="1" dirty="0" err="1" smtClean="0">
                <a:solidFill>
                  <a:schemeClr val="tx2"/>
                </a:solidFill>
                <a:latin typeface="Courier New" pitchFamily="49" charset="0"/>
                <a:cs typeface="Courier New" pitchFamily="49" charset="0"/>
              </a:rPr>
              <a:t>calculator.CalculateStateTax</a:t>
            </a:r>
            <a:r>
              <a:rPr lang="en-US" sz="1600" b="1" dirty="0" smtClean="0">
                <a:solidFill>
                  <a:schemeClr val="tx2"/>
                </a:solidFill>
                <a:latin typeface="Courier New" pitchFamily="49" charset="0"/>
                <a:cs typeface="Courier New" pitchFamily="49" charset="0"/>
              </a:rPr>
              <a:t>();</a:t>
            </a:r>
          </a:p>
          <a:p>
            <a:r>
              <a:rPr lang="en-US" sz="1600" b="1" dirty="0" smtClean="0">
                <a:solidFill>
                  <a:schemeClr val="tx2"/>
                </a:solidFill>
                <a:latin typeface="Courier New" pitchFamily="49" charset="0"/>
                <a:cs typeface="Courier New" pitchFamily="49" charset="0"/>
              </a:rPr>
              <a:t>          float </a:t>
            </a:r>
            <a:r>
              <a:rPr lang="en-US" sz="1600" b="1" dirty="0" err="1" smtClean="0">
                <a:solidFill>
                  <a:schemeClr val="tx2"/>
                </a:solidFill>
                <a:latin typeface="Courier New" pitchFamily="49" charset="0"/>
                <a:cs typeface="Courier New" pitchFamily="49" charset="0"/>
              </a:rPr>
              <a:t>fTax</a:t>
            </a:r>
            <a:r>
              <a:rPr lang="en-US" sz="1600" b="1" dirty="0" smtClean="0">
                <a:solidFill>
                  <a:schemeClr val="tx2"/>
                </a:solidFill>
                <a:latin typeface="Courier New" pitchFamily="49" charset="0"/>
                <a:cs typeface="Courier New" pitchFamily="49" charset="0"/>
              </a:rPr>
              <a:t> = </a:t>
            </a:r>
            <a:r>
              <a:rPr lang="en-US" sz="1600" b="1" dirty="0" err="1" smtClean="0">
                <a:solidFill>
                  <a:schemeClr val="tx2"/>
                </a:solidFill>
                <a:latin typeface="Courier New" pitchFamily="49" charset="0"/>
                <a:cs typeface="Courier New" pitchFamily="49" charset="0"/>
              </a:rPr>
              <a:t>calculator.CalculateFedTax</a:t>
            </a:r>
            <a:r>
              <a:rPr lang="en-US" sz="1600" b="1" dirty="0" smtClean="0">
                <a:solidFill>
                  <a:schemeClr val="tx2"/>
                </a:solidFill>
                <a:latin typeface="Courier New" pitchFamily="49" charset="0"/>
                <a:cs typeface="Courier New" pitchFamily="49" charset="0"/>
              </a:rPr>
              <a:t>();</a:t>
            </a:r>
          </a:p>
          <a:p>
            <a:r>
              <a:rPr lang="en-US" sz="1600" dirty="0" smtClean="0">
                <a:solidFill>
                  <a:srgbClr val="C00000"/>
                </a:solidFill>
                <a:latin typeface="Courier New" pitchFamily="49" charset="0"/>
                <a:cs typeface="Courier New" pitchFamily="49" charset="0"/>
              </a:rPr>
              <a:t>          </a:t>
            </a:r>
            <a:r>
              <a:rPr lang="en-US" sz="1600" dirty="0" err="1" smtClean="0">
                <a:solidFill>
                  <a:srgbClr val="C00000"/>
                </a:solidFill>
                <a:latin typeface="Courier New" pitchFamily="49" charset="0"/>
                <a:cs typeface="Courier New" pitchFamily="49" charset="0"/>
              </a:rPr>
              <a:t>bool</a:t>
            </a:r>
            <a:r>
              <a:rPr lang="en-US" sz="1600" dirty="0" smtClean="0">
                <a:solidFill>
                  <a:srgbClr val="C00000"/>
                </a:solidFill>
                <a:latin typeface="Courier New" pitchFamily="49" charset="0"/>
                <a:cs typeface="Courier New" pitchFamily="49" charset="0"/>
              </a:rPr>
              <a:t> ok = </a:t>
            </a:r>
            <a:r>
              <a:rPr lang="en-US" sz="1600" dirty="0" err="1" smtClean="0">
                <a:solidFill>
                  <a:srgbClr val="C00000"/>
                </a:solidFill>
                <a:latin typeface="Courier New" pitchFamily="49" charset="0"/>
                <a:cs typeface="Courier New" pitchFamily="49" charset="0"/>
              </a:rPr>
              <a:t>CheckBankBalance</a:t>
            </a:r>
            <a:r>
              <a:rPr lang="en-US" sz="1600" dirty="0" smtClean="0">
                <a:solidFill>
                  <a:srgbClr val="C00000"/>
                </a:solidFill>
                <a:latin typeface="Courier New" pitchFamily="49" charset="0"/>
                <a:cs typeface="Courier New" pitchFamily="49" charset="0"/>
              </a:rPr>
              <a:t>(</a:t>
            </a:r>
            <a:r>
              <a:rPr lang="en-US" sz="1600" dirty="0" err="1" smtClean="0">
                <a:solidFill>
                  <a:srgbClr val="C00000"/>
                </a:solidFill>
                <a:latin typeface="Courier New" pitchFamily="49" charset="0"/>
                <a:cs typeface="Courier New" pitchFamily="49" charset="0"/>
              </a:rPr>
              <a:t>sTax</a:t>
            </a:r>
            <a:r>
              <a:rPr lang="en-US" sz="1600" dirty="0" smtClean="0">
                <a:solidFill>
                  <a:srgbClr val="C00000"/>
                </a:solidFill>
                <a:latin typeface="Courier New" pitchFamily="49" charset="0"/>
                <a:cs typeface="Courier New" pitchFamily="49" charset="0"/>
              </a:rPr>
              <a:t> + </a:t>
            </a:r>
            <a:r>
              <a:rPr lang="en-US" sz="1600" dirty="0" err="1" smtClean="0">
                <a:solidFill>
                  <a:srgbClr val="C00000"/>
                </a:solidFill>
                <a:latin typeface="Courier New" pitchFamily="49" charset="0"/>
                <a:cs typeface="Courier New" pitchFamily="49" charset="0"/>
              </a:rPr>
              <a:t>fTax</a:t>
            </a:r>
            <a:r>
              <a:rPr lang="en-US" sz="1600" dirty="0" smtClean="0">
                <a:solidFill>
                  <a:srgbClr val="C00000"/>
                </a:solidFill>
                <a:latin typeface="Courier New" pitchFamily="49" charset="0"/>
                <a:cs typeface="Courier New" pitchFamily="49" charset="0"/>
              </a:rPr>
              <a:t>);</a:t>
            </a:r>
          </a:p>
          <a:p>
            <a:r>
              <a:rPr lang="en-US" sz="1600" dirty="0" smtClean="0">
                <a:solidFill>
                  <a:srgbClr val="C00000"/>
                </a:solidFill>
                <a:latin typeface="Courier New" pitchFamily="49" charset="0"/>
                <a:cs typeface="Courier New" pitchFamily="49" charset="0"/>
              </a:rPr>
              <a:t>          if (!ok){ </a:t>
            </a:r>
            <a:r>
              <a:rPr lang="en-US" sz="1600" dirty="0" err="1" smtClean="0">
                <a:solidFill>
                  <a:srgbClr val="C00000"/>
                </a:solidFill>
                <a:latin typeface="Courier New" pitchFamily="49" charset="0"/>
                <a:cs typeface="Courier New" pitchFamily="49" charset="0"/>
              </a:rPr>
              <a:t>FileBankruptcy</a:t>
            </a:r>
            <a:r>
              <a:rPr lang="en-US" sz="1600" dirty="0" smtClean="0">
                <a:solidFill>
                  <a:srgbClr val="C00000"/>
                </a:solidFill>
                <a:latin typeface="Courier New" pitchFamily="49" charset="0"/>
                <a:cs typeface="Courier New" pitchFamily="49" charset="0"/>
              </a:rPr>
              <a:t>(); }</a:t>
            </a:r>
          </a:p>
          <a:p>
            <a:r>
              <a:rPr lang="en-US" sz="1600" dirty="0" smtClean="0">
                <a:solidFill>
                  <a:srgbClr val="C00000"/>
                </a:solidFill>
                <a:latin typeface="Courier New" pitchFamily="49" charset="0"/>
                <a:cs typeface="Courier New" pitchFamily="49" charset="0"/>
              </a:rPr>
              <a:t>          else{ </a:t>
            </a:r>
            <a:r>
              <a:rPr lang="en-US" sz="1600" dirty="0" err="1" smtClean="0">
                <a:solidFill>
                  <a:srgbClr val="C00000"/>
                </a:solidFill>
                <a:latin typeface="Courier New" pitchFamily="49" charset="0"/>
                <a:cs typeface="Courier New" pitchFamily="49" charset="0"/>
              </a:rPr>
              <a:t>SendMoneyToGov</a:t>
            </a:r>
            <a:r>
              <a:rPr lang="en-US" sz="1600" dirty="0" smtClean="0">
                <a:solidFill>
                  <a:srgbClr val="C00000"/>
                </a:solidFill>
                <a:latin typeface="Courier New" pitchFamily="49" charset="0"/>
                <a:cs typeface="Courier New" pitchFamily="49" charset="0"/>
              </a:rPr>
              <a:t>(</a:t>
            </a:r>
            <a:r>
              <a:rPr lang="en-US" sz="1600" dirty="0" err="1" smtClean="0">
                <a:solidFill>
                  <a:srgbClr val="C00000"/>
                </a:solidFill>
                <a:latin typeface="Courier New" pitchFamily="49" charset="0"/>
                <a:cs typeface="Courier New" pitchFamily="49" charset="0"/>
              </a:rPr>
              <a:t>sTax</a:t>
            </a:r>
            <a:r>
              <a:rPr lang="en-US" sz="1600" dirty="0" smtClean="0">
                <a:solidFill>
                  <a:srgbClr val="C00000"/>
                </a:solidFill>
                <a:latin typeface="Courier New" pitchFamily="49" charset="0"/>
                <a:cs typeface="Courier New" pitchFamily="49" charset="0"/>
              </a:rPr>
              <a:t> + </a:t>
            </a:r>
            <a:r>
              <a:rPr lang="en-US" sz="1600" dirty="0" err="1" smtClean="0">
                <a:solidFill>
                  <a:srgbClr val="C00000"/>
                </a:solidFill>
                <a:latin typeface="Courier New" pitchFamily="49" charset="0"/>
                <a:cs typeface="Courier New" pitchFamily="49" charset="0"/>
              </a:rPr>
              <a:t>fTax</a:t>
            </a:r>
            <a:r>
              <a:rPr lang="en-US" sz="1600" dirty="0" smtClean="0">
                <a:solidFill>
                  <a:srgbClr val="C00000"/>
                </a:solidFill>
                <a:latin typeface="Courier New" pitchFamily="49" charset="0"/>
                <a:cs typeface="Courier New" pitchFamily="49" charset="0"/>
              </a:rPr>
              <a:t>); }</a:t>
            </a:r>
          </a:p>
          <a:p>
            <a:r>
              <a:rPr lang="en-US" sz="1600" dirty="0" smtClean="0">
                <a:solidFill>
                  <a:srgbClr val="C00000"/>
                </a:solidFill>
                <a:latin typeface="Courier New" pitchFamily="49" charset="0"/>
                <a:cs typeface="Courier New" pitchFamily="49" charset="0"/>
              </a:rPr>
              <a:t>     }</a:t>
            </a:r>
          </a:p>
          <a:p>
            <a:r>
              <a:rPr lang="en-US" sz="1600" dirty="0" smtClean="0">
                <a:solidFill>
                  <a:srgbClr val="C00000"/>
                </a:solidFill>
                <a:latin typeface="Courier New" pitchFamily="49" charset="0"/>
                <a:cs typeface="Courier New" pitchFamily="49" charset="0"/>
              </a:rPr>
              <a:t>}</a:t>
            </a:r>
            <a:endParaRPr lang="en-US" sz="1600" dirty="0">
              <a:solidFill>
                <a:srgbClr val="C00000"/>
              </a:solidFill>
              <a:latin typeface="Courier New" pitchFamily="49" charset="0"/>
              <a:cs typeface="Courier New" pitchFamily="49" charset="0"/>
            </a:endParaRPr>
          </a:p>
        </p:txBody>
      </p:sp>
      <p:sp>
        <p:nvSpPr>
          <p:cNvPr id="8" name="Rectangle 7"/>
          <p:cNvSpPr/>
          <p:nvPr/>
        </p:nvSpPr>
        <p:spPr>
          <a:xfrm>
            <a:off x="457200" y="5105400"/>
            <a:ext cx="8305800" cy="1569660"/>
          </a:xfrm>
          <a:prstGeom prst="rect">
            <a:avLst/>
          </a:prstGeom>
          <a:solidFill>
            <a:schemeClr val="bg2"/>
          </a:solidFill>
          <a:ln w="9525">
            <a:solidFill>
              <a:schemeClr val="bg2">
                <a:lumMod val="10000"/>
              </a:schemeClr>
            </a:solidFill>
          </a:ln>
        </p:spPr>
        <p:txBody>
          <a:bodyPr wrap="square">
            <a:spAutoFit/>
          </a:bodyPr>
          <a:lstStyle/>
          <a:p>
            <a:r>
              <a:rPr lang="en-US" sz="1600" dirty="0" err="1" smtClean="0">
                <a:solidFill>
                  <a:srgbClr val="C00000"/>
                </a:solidFill>
                <a:latin typeface="Courier New" pitchFamily="49" charset="0"/>
                <a:cs typeface="Courier New" pitchFamily="49" charset="0"/>
              </a:rPr>
              <a:t>ICalculateTax</a:t>
            </a:r>
            <a:r>
              <a:rPr lang="en-US" sz="1600" dirty="0" smtClean="0">
                <a:solidFill>
                  <a:srgbClr val="C00000"/>
                </a:solidFill>
                <a:latin typeface="Courier New" pitchFamily="49" charset="0"/>
                <a:cs typeface="Courier New" pitchFamily="49" charset="0"/>
              </a:rPr>
              <a:t> </a:t>
            </a:r>
            <a:r>
              <a:rPr lang="en-US" sz="1600" dirty="0" err="1" smtClean="0">
                <a:solidFill>
                  <a:srgbClr val="C00000"/>
                </a:solidFill>
                <a:latin typeface="Courier New" pitchFamily="49" charset="0"/>
                <a:cs typeface="Courier New" pitchFamily="49" charset="0"/>
              </a:rPr>
              <a:t>nyBusiness</a:t>
            </a:r>
            <a:r>
              <a:rPr lang="en-US" sz="1600" dirty="0" smtClean="0">
                <a:solidFill>
                  <a:srgbClr val="C00000"/>
                </a:solidFill>
                <a:latin typeface="Courier New" pitchFamily="49" charset="0"/>
                <a:cs typeface="Courier New" pitchFamily="49" charset="0"/>
              </a:rPr>
              <a:t> = new </a:t>
            </a:r>
            <a:r>
              <a:rPr lang="en-US" sz="1600" dirty="0" err="1" smtClean="0">
                <a:solidFill>
                  <a:srgbClr val="C00000"/>
                </a:solidFill>
                <a:latin typeface="Courier New" pitchFamily="49" charset="0"/>
                <a:cs typeface="Courier New" pitchFamily="49" charset="0"/>
              </a:rPr>
              <a:t>NewYorkBusiness</a:t>
            </a:r>
            <a:r>
              <a:rPr lang="en-US" sz="1600" dirty="0" smtClean="0">
                <a:solidFill>
                  <a:srgbClr val="C00000"/>
                </a:solidFill>
                <a:latin typeface="Courier New" pitchFamily="49" charset="0"/>
                <a:cs typeface="Courier New" pitchFamily="49" charset="0"/>
              </a:rPr>
              <a:t>();</a:t>
            </a:r>
          </a:p>
          <a:p>
            <a:r>
              <a:rPr lang="en-US" sz="1600" dirty="0" err="1" smtClean="0">
                <a:solidFill>
                  <a:srgbClr val="C00000"/>
                </a:solidFill>
                <a:latin typeface="Courier New" pitchFamily="49" charset="0"/>
                <a:cs typeface="Courier New" pitchFamily="49" charset="0"/>
              </a:rPr>
              <a:t>ICalculateTax</a:t>
            </a:r>
            <a:r>
              <a:rPr lang="en-US" sz="1600" dirty="0" smtClean="0">
                <a:solidFill>
                  <a:srgbClr val="C00000"/>
                </a:solidFill>
                <a:latin typeface="Courier New" pitchFamily="49" charset="0"/>
                <a:cs typeface="Courier New" pitchFamily="49" charset="0"/>
              </a:rPr>
              <a:t> </a:t>
            </a:r>
            <a:r>
              <a:rPr lang="en-US" sz="1600" dirty="0" err="1" smtClean="0">
                <a:solidFill>
                  <a:srgbClr val="C00000"/>
                </a:solidFill>
                <a:latin typeface="Courier New" pitchFamily="49" charset="0"/>
                <a:cs typeface="Courier New" pitchFamily="49" charset="0"/>
              </a:rPr>
              <a:t>caBusiness</a:t>
            </a:r>
            <a:r>
              <a:rPr lang="en-US" sz="1600" dirty="0" smtClean="0">
                <a:solidFill>
                  <a:srgbClr val="C00000"/>
                </a:solidFill>
                <a:latin typeface="Courier New" pitchFamily="49" charset="0"/>
                <a:cs typeface="Courier New" pitchFamily="49" charset="0"/>
              </a:rPr>
              <a:t> = new </a:t>
            </a:r>
            <a:r>
              <a:rPr lang="en-US" sz="1600" dirty="0" err="1" smtClean="0">
                <a:solidFill>
                  <a:srgbClr val="C00000"/>
                </a:solidFill>
                <a:latin typeface="Courier New" pitchFamily="49" charset="0"/>
                <a:cs typeface="Courier New" pitchFamily="49" charset="0"/>
              </a:rPr>
              <a:t>CaliforniaBusiness</a:t>
            </a:r>
            <a:r>
              <a:rPr lang="en-US" sz="1600" dirty="0" smtClean="0">
                <a:solidFill>
                  <a:srgbClr val="C00000"/>
                </a:solidFill>
                <a:latin typeface="Courier New" pitchFamily="49" charset="0"/>
                <a:cs typeface="Courier New" pitchFamily="49" charset="0"/>
              </a:rPr>
              <a:t>();</a:t>
            </a:r>
          </a:p>
          <a:p>
            <a:endParaRPr lang="en-US" sz="1600" dirty="0" smtClean="0">
              <a:solidFill>
                <a:srgbClr val="C00000"/>
              </a:solidFill>
              <a:latin typeface="Courier New" pitchFamily="49" charset="0"/>
              <a:cs typeface="Courier New" pitchFamily="49" charset="0"/>
            </a:endParaRPr>
          </a:p>
          <a:p>
            <a:r>
              <a:rPr lang="en-US" sz="1600" dirty="0" err="1" smtClean="0">
                <a:solidFill>
                  <a:srgbClr val="C00000"/>
                </a:solidFill>
                <a:latin typeface="Courier New" pitchFamily="49" charset="0"/>
                <a:cs typeface="Courier New" pitchFamily="49" charset="0"/>
              </a:rPr>
              <a:t>BasicBusiness</a:t>
            </a:r>
            <a:r>
              <a:rPr lang="en-US" sz="1600" dirty="0" smtClean="0">
                <a:solidFill>
                  <a:srgbClr val="C00000"/>
                </a:solidFill>
                <a:latin typeface="Courier New" pitchFamily="49" charset="0"/>
                <a:cs typeface="Courier New" pitchFamily="49" charset="0"/>
              </a:rPr>
              <a:t> basic = new </a:t>
            </a:r>
            <a:r>
              <a:rPr lang="en-US" sz="1600" dirty="0" err="1" smtClean="0">
                <a:solidFill>
                  <a:srgbClr val="C00000"/>
                </a:solidFill>
                <a:latin typeface="Courier New" pitchFamily="49" charset="0"/>
                <a:cs typeface="Courier New" pitchFamily="49" charset="0"/>
              </a:rPr>
              <a:t>BasicBusiness</a:t>
            </a:r>
            <a:r>
              <a:rPr lang="en-US" sz="1600" dirty="0" smtClean="0">
                <a:solidFill>
                  <a:srgbClr val="C00000"/>
                </a:solidFill>
                <a:latin typeface="Courier New" pitchFamily="49" charset="0"/>
                <a:cs typeface="Courier New" pitchFamily="49" charset="0"/>
              </a:rPr>
              <a:t>();</a:t>
            </a:r>
          </a:p>
          <a:p>
            <a:r>
              <a:rPr lang="en-US" sz="1600" dirty="0" err="1" smtClean="0">
                <a:solidFill>
                  <a:srgbClr val="C00000"/>
                </a:solidFill>
                <a:latin typeface="Courier New" pitchFamily="49" charset="0"/>
                <a:cs typeface="Courier New" pitchFamily="49" charset="0"/>
              </a:rPr>
              <a:t>basic.ReportTax</a:t>
            </a:r>
            <a:r>
              <a:rPr lang="en-US" sz="1600" dirty="0" smtClean="0">
                <a:solidFill>
                  <a:srgbClr val="C00000"/>
                </a:solidFill>
                <a:latin typeface="Courier New" pitchFamily="49" charset="0"/>
                <a:cs typeface="Courier New" pitchFamily="49" charset="0"/>
              </a:rPr>
              <a:t>(</a:t>
            </a:r>
            <a:r>
              <a:rPr lang="en-US" sz="1600" dirty="0" err="1" smtClean="0">
                <a:solidFill>
                  <a:srgbClr val="C00000"/>
                </a:solidFill>
                <a:latin typeface="Courier New" pitchFamily="49" charset="0"/>
                <a:cs typeface="Courier New" pitchFamily="49" charset="0"/>
              </a:rPr>
              <a:t>nyBusiness</a:t>
            </a:r>
            <a:r>
              <a:rPr lang="en-US" sz="1600" dirty="0" smtClean="0">
                <a:solidFill>
                  <a:srgbClr val="C00000"/>
                </a:solidFill>
                <a:latin typeface="Courier New" pitchFamily="49" charset="0"/>
                <a:cs typeface="Courier New" pitchFamily="49" charset="0"/>
              </a:rPr>
              <a:t>);</a:t>
            </a:r>
          </a:p>
          <a:p>
            <a:r>
              <a:rPr lang="en-US" sz="1600" dirty="0" err="1" smtClean="0">
                <a:solidFill>
                  <a:srgbClr val="C00000"/>
                </a:solidFill>
                <a:latin typeface="Courier New" pitchFamily="49" charset="0"/>
                <a:cs typeface="Courier New" pitchFamily="49" charset="0"/>
              </a:rPr>
              <a:t>basic.ReportTax</a:t>
            </a:r>
            <a:r>
              <a:rPr lang="en-US" sz="1600" dirty="0" smtClean="0">
                <a:solidFill>
                  <a:srgbClr val="C00000"/>
                </a:solidFill>
                <a:latin typeface="Courier New" pitchFamily="49" charset="0"/>
                <a:cs typeface="Courier New" pitchFamily="49" charset="0"/>
              </a:rPr>
              <a:t>(</a:t>
            </a:r>
            <a:r>
              <a:rPr lang="en-US" sz="1600" dirty="0" err="1" smtClean="0">
                <a:solidFill>
                  <a:srgbClr val="C00000"/>
                </a:solidFill>
                <a:latin typeface="Courier New" pitchFamily="49" charset="0"/>
                <a:cs typeface="Courier New" pitchFamily="49" charset="0"/>
              </a:rPr>
              <a:t>caBusiness</a:t>
            </a:r>
            <a:r>
              <a:rPr lang="en-US" sz="1600" dirty="0" smtClean="0">
                <a:solidFill>
                  <a:srgbClr val="C00000"/>
                </a:solidFill>
                <a:latin typeface="Courier New" pitchFamily="49" charset="0"/>
                <a:cs typeface="Courier New" pitchFamily="49" charset="0"/>
              </a:rPr>
              <a:t>);</a:t>
            </a:r>
            <a:endParaRPr lang="en-US" sz="1600" dirty="0">
              <a:solidFill>
                <a:srgbClr val="C00000"/>
              </a:solidFill>
              <a:latin typeface="Courier New" pitchFamily="49" charset="0"/>
              <a:cs typeface="Courier New" pitchFamily="49"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Inversion of Control [1]</a:t>
            </a:r>
            <a:endParaRPr lang="en-US" dirty="0"/>
          </a:p>
        </p:txBody>
      </p:sp>
      <p:sp>
        <p:nvSpPr>
          <p:cNvPr id="3" name="Content Placeholder 2"/>
          <p:cNvSpPr>
            <a:spLocks noGrp="1"/>
          </p:cNvSpPr>
          <p:nvPr>
            <p:ph idx="1"/>
          </p:nvPr>
        </p:nvSpPr>
        <p:spPr/>
        <p:txBody>
          <a:bodyPr/>
          <a:lstStyle/>
          <a:p>
            <a:r>
              <a:rPr lang="en-US" sz="2400" dirty="0" smtClean="0"/>
              <a:t>The </a:t>
            </a:r>
            <a:r>
              <a:rPr lang="en-US" sz="2400" i="1" dirty="0" smtClean="0">
                <a:solidFill>
                  <a:srgbClr val="C00000"/>
                </a:solidFill>
              </a:rPr>
              <a:t>methods</a:t>
            </a:r>
            <a:r>
              <a:rPr lang="en-US" sz="2400" dirty="0" smtClean="0"/>
              <a:t> defined by the user to </a:t>
            </a:r>
            <a:r>
              <a:rPr lang="en-US" sz="2400" u="sng" dirty="0" smtClean="0"/>
              <a:t>tailor the framework</a:t>
            </a:r>
            <a:r>
              <a:rPr lang="en-US" sz="2400" dirty="0" smtClean="0"/>
              <a:t> will often be called from within the framework itself, rather than from the user's application code.</a:t>
            </a:r>
          </a:p>
          <a:p>
            <a:r>
              <a:rPr lang="en-US" sz="2400" dirty="0" smtClean="0"/>
              <a:t>The </a:t>
            </a:r>
            <a:r>
              <a:rPr lang="en-US" sz="2400" i="1" dirty="0" smtClean="0">
                <a:solidFill>
                  <a:srgbClr val="C00000"/>
                </a:solidFill>
              </a:rPr>
              <a:t>framework</a:t>
            </a:r>
            <a:r>
              <a:rPr lang="en-US" sz="2400" dirty="0" smtClean="0"/>
              <a:t> plays the role of the </a:t>
            </a:r>
            <a:r>
              <a:rPr lang="en-US" sz="2400" i="1" dirty="0" smtClean="0">
                <a:solidFill>
                  <a:srgbClr val="C00000"/>
                </a:solidFill>
              </a:rPr>
              <a:t>main program</a:t>
            </a:r>
            <a:r>
              <a:rPr lang="en-US" sz="2400" dirty="0" smtClean="0"/>
              <a:t> in </a:t>
            </a:r>
            <a:r>
              <a:rPr lang="en-US" sz="2400" u="sng" dirty="0" smtClean="0"/>
              <a:t>coordinating</a:t>
            </a:r>
            <a:r>
              <a:rPr lang="en-US" sz="2400" dirty="0" smtClean="0"/>
              <a:t> and </a:t>
            </a:r>
            <a:r>
              <a:rPr lang="en-US" sz="2400" u="sng" dirty="0" smtClean="0"/>
              <a:t>sequencing</a:t>
            </a:r>
            <a:r>
              <a:rPr lang="en-US" sz="2400" dirty="0" smtClean="0"/>
              <a:t> application activity.</a:t>
            </a:r>
          </a:p>
          <a:p>
            <a:r>
              <a:rPr lang="en-US" sz="2400" i="1" dirty="0" smtClean="0">
                <a:solidFill>
                  <a:srgbClr val="C00000"/>
                </a:solidFill>
              </a:rPr>
              <a:t>This inversion of control</a:t>
            </a:r>
            <a:r>
              <a:rPr lang="en-US" sz="2400" dirty="0" smtClean="0"/>
              <a:t> gives frameworks the power to serve as extensible skeletons.</a:t>
            </a:r>
          </a:p>
          <a:p>
            <a:r>
              <a:rPr lang="en-US" sz="2400" i="1" u="sng" dirty="0" smtClean="0">
                <a:solidFill>
                  <a:srgbClr val="C00000"/>
                </a:solidFill>
              </a:rPr>
              <a:t>Your code calls a library but a framework calls your code.</a:t>
            </a:r>
            <a:endParaRPr lang="en-US" sz="2400" i="1" u="sng" dirty="0">
              <a:solidFill>
                <a:srgbClr val="C0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White-box Frameworks [2]</a:t>
            </a:r>
            <a:endParaRPr lang="en-US" dirty="0"/>
          </a:p>
        </p:txBody>
      </p:sp>
      <p:sp>
        <p:nvSpPr>
          <p:cNvPr id="3" name="Content Placeholder 2"/>
          <p:cNvSpPr>
            <a:spLocks noGrp="1"/>
          </p:cNvSpPr>
          <p:nvPr>
            <p:ph idx="1"/>
          </p:nvPr>
        </p:nvSpPr>
        <p:spPr>
          <a:xfrm>
            <a:off x="457200" y="1600201"/>
            <a:ext cx="8229600" cy="1142999"/>
          </a:xfrm>
        </p:spPr>
        <p:txBody>
          <a:bodyPr/>
          <a:lstStyle/>
          <a:p>
            <a:r>
              <a:rPr lang="en-US" sz="2000" dirty="0" smtClean="0"/>
              <a:t>A </a:t>
            </a:r>
            <a:r>
              <a:rPr lang="en-US" sz="2000" i="1" dirty="0" smtClean="0">
                <a:solidFill>
                  <a:srgbClr val="C00000"/>
                </a:solidFill>
              </a:rPr>
              <a:t>white-box framework</a:t>
            </a:r>
            <a:r>
              <a:rPr lang="en-US" sz="2000" dirty="0" smtClean="0"/>
              <a:t> is a framework that consists of abstract classes.</a:t>
            </a:r>
          </a:p>
          <a:p>
            <a:r>
              <a:rPr lang="en-US" sz="2000" i="1" dirty="0" smtClean="0">
                <a:solidFill>
                  <a:srgbClr val="C00000"/>
                </a:solidFill>
              </a:rPr>
              <a:t>Adapting a white-box framework</a:t>
            </a:r>
            <a:r>
              <a:rPr lang="en-US" sz="2000" dirty="0" smtClean="0"/>
              <a:t> requires developers to create concrete classes that inherit the abstract classes in the framework. </a:t>
            </a:r>
            <a:endParaRPr lang="en-US" sz="2000" dirty="0"/>
          </a:p>
        </p:txBody>
      </p:sp>
      <p:sp>
        <p:nvSpPr>
          <p:cNvPr id="1026" name="AutoShape 2" descr="mk:@MSITStore:D:\My%20Study\Software%20Design\References\13.%20Application%20Frameworks\Xin%20Chen.%20Developing%20Application%20Frameworks%20in%20.NET.%20Apress.%202004.chm::/8888final/images/fig49_01_0.jpg"/>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27" name="Picture 3"/>
          <p:cNvPicPr>
            <a:picLocks noChangeAspect="1" noChangeArrowheads="1"/>
          </p:cNvPicPr>
          <p:nvPr/>
        </p:nvPicPr>
        <p:blipFill>
          <a:blip r:embed="rId2" cstate="print"/>
          <a:srcRect/>
          <a:stretch>
            <a:fillRect/>
          </a:stretch>
        </p:blipFill>
        <p:spPr bwMode="auto">
          <a:xfrm>
            <a:off x="2819400" y="2819400"/>
            <a:ext cx="4429125" cy="388620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White-box Frameworks [1]</a:t>
            </a:r>
            <a:endParaRPr lang="en-US" dirty="0"/>
          </a:p>
        </p:txBody>
      </p:sp>
      <p:sp>
        <p:nvSpPr>
          <p:cNvPr id="3" name="Content Placeholder 2"/>
          <p:cNvSpPr>
            <a:spLocks noGrp="1"/>
          </p:cNvSpPr>
          <p:nvPr>
            <p:ph idx="1"/>
          </p:nvPr>
        </p:nvSpPr>
        <p:spPr/>
        <p:txBody>
          <a:bodyPr/>
          <a:lstStyle/>
          <a:p>
            <a:r>
              <a:rPr lang="en-US" sz="2200" i="1" dirty="0" smtClean="0">
                <a:solidFill>
                  <a:srgbClr val="C00000"/>
                </a:solidFill>
              </a:rPr>
              <a:t>A framework's application specific behavior</a:t>
            </a:r>
            <a:r>
              <a:rPr lang="en-US" sz="2200" dirty="0" smtClean="0"/>
              <a:t> is usually defined by adding methods to subclasses of one or more of its classes.</a:t>
            </a:r>
          </a:p>
          <a:p>
            <a:r>
              <a:rPr lang="en-US" sz="2200" i="1" dirty="0" smtClean="0">
                <a:solidFill>
                  <a:srgbClr val="C00000"/>
                </a:solidFill>
              </a:rPr>
              <a:t>Each method added to a subclass must abide</a:t>
            </a:r>
            <a:r>
              <a:rPr lang="en-US" sz="2200" dirty="0" smtClean="0"/>
              <a:t> by the internal conventions of its super-classes.</a:t>
            </a:r>
          </a:p>
          <a:p>
            <a:r>
              <a:rPr lang="en-US" sz="2200" i="1" dirty="0" smtClean="0">
                <a:solidFill>
                  <a:srgbClr val="C00000"/>
                </a:solidFill>
              </a:rPr>
              <a:t>We call these white-box frameworks</a:t>
            </a:r>
            <a:r>
              <a:rPr lang="en-US" sz="2200" dirty="0" smtClean="0"/>
              <a:t> because their implementation must be understood to use them.</a:t>
            </a:r>
          </a:p>
          <a:p>
            <a:endParaRPr lang="en-US" sz="2200" dirty="0" smtClean="0"/>
          </a:p>
          <a:p>
            <a:r>
              <a:rPr lang="en-US" sz="2200" dirty="0" smtClean="0"/>
              <a:t>The major problem with such a framework is that every application requires the </a:t>
            </a:r>
            <a:r>
              <a:rPr lang="en-US" sz="2200" i="1" dirty="0" smtClean="0">
                <a:solidFill>
                  <a:srgbClr val="C00000"/>
                </a:solidFill>
              </a:rPr>
              <a:t>creation of many new subclasses</a:t>
            </a:r>
            <a:r>
              <a:rPr lang="en-US" sz="2200" dirty="0" smtClean="0"/>
              <a:t>.</a:t>
            </a:r>
          </a:p>
          <a:p>
            <a:r>
              <a:rPr lang="en-US" sz="2200" dirty="0" smtClean="0"/>
              <a:t>A second problem is that a white-box framework can be </a:t>
            </a:r>
            <a:r>
              <a:rPr lang="en-US" sz="2200" i="1" dirty="0" smtClean="0">
                <a:solidFill>
                  <a:srgbClr val="C00000"/>
                </a:solidFill>
              </a:rPr>
              <a:t>difficult to learn to use</a:t>
            </a:r>
            <a:r>
              <a:rPr lang="en-US" sz="2200" dirty="0" smtClean="0"/>
              <a:t>, since learning to use it is the same as learning how it is constructed.</a:t>
            </a:r>
            <a:endParaRPr lang="en-US" sz="2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Black-box Frameworks [2]</a:t>
            </a:r>
            <a:endParaRPr lang="en-US" dirty="0"/>
          </a:p>
        </p:txBody>
      </p:sp>
      <p:sp>
        <p:nvSpPr>
          <p:cNvPr id="3" name="Content Placeholder 2"/>
          <p:cNvSpPr>
            <a:spLocks noGrp="1"/>
          </p:cNvSpPr>
          <p:nvPr>
            <p:ph idx="1"/>
          </p:nvPr>
        </p:nvSpPr>
        <p:spPr>
          <a:xfrm>
            <a:off x="228600" y="1600200"/>
            <a:ext cx="4267200" cy="4800600"/>
          </a:xfrm>
        </p:spPr>
        <p:txBody>
          <a:bodyPr/>
          <a:lstStyle/>
          <a:p>
            <a:r>
              <a:rPr lang="en-US" sz="2000" i="1" dirty="0" smtClean="0">
                <a:solidFill>
                  <a:srgbClr val="C00000"/>
                </a:solidFill>
              </a:rPr>
              <a:t>Black-box frameworks consist of</a:t>
            </a:r>
            <a:r>
              <a:rPr lang="en-US" sz="2000" dirty="0" smtClean="0"/>
              <a:t> concrete and ready-to-use classes and services.</a:t>
            </a:r>
          </a:p>
          <a:p>
            <a:r>
              <a:rPr lang="en-US" sz="2000" i="1" dirty="0" smtClean="0">
                <a:solidFill>
                  <a:srgbClr val="C00000"/>
                </a:solidFill>
              </a:rPr>
              <a:t>Although developers can extend the existing framework components</a:t>
            </a:r>
            <a:r>
              <a:rPr lang="en-US" sz="2000" dirty="0" smtClean="0"/>
              <a:t> to achieve customization in a black-box framework, they more often adapt the framework by combining a number of components to create the desired result.</a:t>
            </a:r>
          </a:p>
          <a:p>
            <a:r>
              <a:rPr lang="en-US" sz="2000" i="1" dirty="0" smtClean="0">
                <a:solidFill>
                  <a:srgbClr val="C00000"/>
                </a:solidFill>
              </a:rPr>
              <a:t>When using a black-box framework, developers must implement</a:t>
            </a:r>
            <a:r>
              <a:rPr lang="en-US" sz="2000" dirty="0" smtClean="0"/>
              <a:t> their own process flow and coordination logic needed to link multiple components together.</a:t>
            </a:r>
            <a:endParaRPr lang="en-US" sz="2000" dirty="0"/>
          </a:p>
        </p:txBody>
      </p:sp>
      <p:pic>
        <p:nvPicPr>
          <p:cNvPr id="38914" name="Picture 2"/>
          <p:cNvPicPr>
            <a:picLocks noChangeAspect="1" noChangeArrowheads="1"/>
          </p:cNvPicPr>
          <p:nvPr/>
        </p:nvPicPr>
        <p:blipFill>
          <a:blip r:embed="rId2" cstate="print"/>
          <a:srcRect/>
          <a:stretch>
            <a:fillRect/>
          </a:stretch>
        </p:blipFill>
        <p:spPr bwMode="auto">
          <a:xfrm>
            <a:off x="4505325" y="1676400"/>
            <a:ext cx="4486275" cy="4533900"/>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Black-box Frameworks [1]</a:t>
            </a:r>
            <a:endParaRPr lang="en-US" dirty="0"/>
          </a:p>
        </p:txBody>
      </p:sp>
      <p:sp>
        <p:nvSpPr>
          <p:cNvPr id="3" name="Content Placeholder 2"/>
          <p:cNvSpPr>
            <a:spLocks noGrp="1"/>
          </p:cNvSpPr>
          <p:nvPr>
            <p:ph idx="1"/>
          </p:nvPr>
        </p:nvSpPr>
        <p:spPr/>
        <p:txBody>
          <a:bodyPr/>
          <a:lstStyle/>
          <a:p>
            <a:r>
              <a:rPr lang="en-US" sz="2200" i="1" dirty="0" smtClean="0">
                <a:solidFill>
                  <a:srgbClr val="C00000"/>
                </a:solidFill>
              </a:rPr>
              <a:t>Another way to customize a framework is to supply it with a set of components</a:t>
            </a:r>
            <a:r>
              <a:rPr lang="en-US" sz="2200" dirty="0" smtClean="0"/>
              <a:t> that provide the application specific behavior.</a:t>
            </a:r>
          </a:p>
          <a:p>
            <a:r>
              <a:rPr lang="en-US" sz="2200" i="1" dirty="0" smtClean="0">
                <a:solidFill>
                  <a:srgbClr val="C00000"/>
                </a:solidFill>
              </a:rPr>
              <a:t>Each of these components will be required</a:t>
            </a:r>
            <a:r>
              <a:rPr lang="en-US" sz="2200" dirty="0" smtClean="0"/>
              <a:t> to understand a particular protocol.</a:t>
            </a:r>
          </a:p>
          <a:p>
            <a:r>
              <a:rPr lang="en-US" sz="2200" dirty="0" smtClean="0"/>
              <a:t>All or most of the components might be provided by a component library.</a:t>
            </a:r>
          </a:p>
          <a:p>
            <a:r>
              <a:rPr lang="en-US" sz="2200" i="1" dirty="0" smtClean="0">
                <a:solidFill>
                  <a:srgbClr val="C00000"/>
                </a:solidFill>
              </a:rPr>
              <a:t>The interface between components can be defined by protocol</a:t>
            </a:r>
            <a:r>
              <a:rPr lang="en-US" sz="2200" dirty="0" smtClean="0"/>
              <a:t>, so the user needs to understand only the external interface of the components. </a:t>
            </a:r>
          </a:p>
          <a:p>
            <a:r>
              <a:rPr lang="en-US" sz="2200" dirty="0" smtClean="0"/>
              <a:t>Thus, this kind of a framework is called </a:t>
            </a:r>
            <a:r>
              <a:rPr lang="en-US" sz="2200" i="1" dirty="0" smtClean="0">
                <a:solidFill>
                  <a:srgbClr val="C00000"/>
                </a:solidFill>
              </a:rPr>
              <a:t>a black-box framework</a:t>
            </a:r>
            <a:r>
              <a:rPr lang="en-US" sz="2200" dirty="0" smtClean="0"/>
              <a:t>.</a:t>
            </a:r>
            <a:endParaRPr lang="en-US" sz="2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Gray-Box Frameworks</a:t>
            </a:r>
            <a:endParaRPr lang="en-US" dirty="0"/>
          </a:p>
        </p:txBody>
      </p:sp>
      <p:sp>
        <p:nvSpPr>
          <p:cNvPr id="3" name="Content Placeholder 2"/>
          <p:cNvSpPr>
            <a:spLocks noGrp="1"/>
          </p:cNvSpPr>
          <p:nvPr>
            <p:ph idx="1"/>
          </p:nvPr>
        </p:nvSpPr>
        <p:spPr>
          <a:xfrm>
            <a:off x="228600" y="1600200"/>
            <a:ext cx="4267200" cy="4800600"/>
          </a:xfrm>
        </p:spPr>
        <p:txBody>
          <a:bodyPr/>
          <a:lstStyle/>
          <a:p>
            <a:r>
              <a:rPr lang="en-US" sz="2000" i="1" dirty="0" smtClean="0">
                <a:solidFill>
                  <a:srgbClr val="C00000"/>
                </a:solidFill>
              </a:rPr>
              <a:t>Gray-box frameworks are usually made up</a:t>
            </a:r>
            <a:r>
              <a:rPr lang="en-US" sz="2000" dirty="0" smtClean="0"/>
              <a:t> with combination of abstract classes and concrete classes.</a:t>
            </a:r>
          </a:p>
          <a:p>
            <a:r>
              <a:rPr lang="en-US" sz="2000" i="1" dirty="0" smtClean="0">
                <a:solidFill>
                  <a:srgbClr val="C00000"/>
                </a:solidFill>
              </a:rPr>
              <a:t>The approach of enabling its common spots and hot spots</a:t>
            </a:r>
            <a:r>
              <a:rPr lang="en-US" sz="2000" dirty="0" smtClean="0"/>
              <a:t> is determined on a component-by-component basis.</a:t>
            </a:r>
          </a:p>
          <a:p>
            <a:r>
              <a:rPr lang="en-US" sz="2000" i="1" dirty="0" smtClean="0">
                <a:solidFill>
                  <a:srgbClr val="C00000"/>
                </a:solidFill>
              </a:rPr>
              <a:t>From the performance point of view</a:t>
            </a:r>
            <a:r>
              <a:rPr lang="en-US" sz="2000" dirty="0" smtClean="0"/>
              <a:t>, the composition approach tends to be slower than the inheritance approach, primarily because of the extra components it has to load and access at run time to produce the desired results.</a:t>
            </a:r>
            <a:endParaRPr lang="en-US" sz="2000" dirty="0"/>
          </a:p>
        </p:txBody>
      </p:sp>
      <p:pic>
        <p:nvPicPr>
          <p:cNvPr id="39939" name="Picture 3"/>
          <p:cNvPicPr>
            <a:picLocks noChangeAspect="1" noChangeArrowheads="1"/>
          </p:cNvPicPr>
          <p:nvPr/>
        </p:nvPicPr>
        <p:blipFill>
          <a:blip r:embed="rId2" cstate="print"/>
          <a:srcRect/>
          <a:stretch>
            <a:fillRect/>
          </a:stretch>
        </p:blipFill>
        <p:spPr bwMode="auto">
          <a:xfrm>
            <a:off x="4505325" y="1714500"/>
            <a:ext cx="4486275" cy="4533900"/>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Extensibility Requirement</a:t>
            </a:r>
            <a:endParaRPr lang="en-US" dirty="0"/>
          </a:p>
        </p:txBody>
      </p:sp>
      <p:sp>
        <p:nvSpPr>
          <p:cNvPr id="3" name="Content Placeholder 2"/>
          <p:cNvSpPr>
            <a:spLocks noGrp="1"/>
          </p:cNvSpPr>
          <p:nvPr>
            <p:ph idx="1"/>
          </p:nvPr>
        </p:nvSpPr>
        <p:spPr/>
        <p:txBody>
          <a:bodyPr/>
          <a:lstStyle/>
          <a:p>
            <a:r>
              <a:rPr lang="en-US" sz="2400" dirty="0" smtClean="0">
                <a:hlinkClick r:id="rId2"/>
              </a:rPr>
              <a:t>http://msdn.microsoft.com/en-us/library/dd460648%28v=vs.110%29.aspx</a:t>
            </a:r>
            <a:endParaRPr lang="en-US" sz="2400" dirty="0" smtClean="0"/>
          </a:p>
          <a:p>
            <a:r>
              <a:rPr lang="en-US" sz="2400" dirty="0" smtClean="0"/>
              <a:t>Imagine that you are the architect of a large application that must provide support for </a:t>
            </a:r>
            <a:r>
              <a:rPr lang="en-US" sz="2400" i="1" dirty="0" smtClean="0">
                <a:solidFill>
                  <a:srgbClr val="C00000"/>
                </a:solidFill>
              </a:rPr>
              <a:t>extensibility</a:t>
            </a:r>
            <a:r>
              <a:rPr lang="en-US" sz="2400" dirty="0" smtClean="0"/>
              <a:t>.</a:t>
            </a:r>
          </a:p>
          <a:p>
            <a:r>
              <a:rPr lang="en-US" sz="2400" dirty="0" smtClean="0"/>
              <a:t>Your application has to include a potentially large number of </a:t>
            </a:r>
            <a:r>
              <a:rPr lang="en-US" sz="2400" i="1" dirty="0" smtClean="0">
                <a:solidFill>
                  <a:srgbClr val="C00000"/>
                </a:solidFill>
              </a:rPr>
              <a:t>smaller components</a:t>
            </a:r>
            <a:r>
              <a:rPr lang="en-US" sz="2400" dirty="0" smtClean="0"/>
              <a:t>, and is responsible for </a:t>
            </a:r>
            <a:r>
              <a:rPr lang="en-US" sz="2400" i="1" dirty="0" smtClean="0">
                <a:solidFill>
                  <a:srgbClr val="C00000"/>
                </a:solidFill>
              </a:rPr>
              <a:t>creating</a:t>
            </a:r>
            <a:r>
              <a:rPr lang="en-US" sz="2400" dirty="0" smtClean="0"/>
              <a:t> and </a:t>
            </a:r>
            <a:r>
              <a:rPr lang="en-US" sz="2400" i="1" dirty="0" smtClean="0">
                <a:solidFill>
                  <a:srgbClr val="C00000"/>
                </a:solidFill>
              </a:rPr>
              <a:t>running</a:t>
            </a:r>
            <a:r>
              <a:rPr lang="en-US" sz="2400" dirty="0" smtClean="0"/>
              <a:t> them.</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Source Code Approach</a:t>
            </a:r>
            <a:endParaRPr lang="en-US" dirty="0"/>
          </a:p>
        </p:txBody>
      </p:sp>
      <p:sp>
        <p:nvSpPr>
          <p:cNvPr id="3" name="Content Placeholder 2"/>
          <p:cNvSpPr>
            <a:spLocks noGrp="1"/>
          </p:cNvSpPr>
          <p:nvPr>
            <p:ph idx="1"/>
          </p:nvPr>
        </p:nvSpPr>
        <p:spPr/>
        <p:txBody>
          <a:bodyPr/>
          <a:lstStyle/>
          <a:p>
            <a:r>
              <a:rPr lang="en-US" sz="2400" dirty="0" smtClean="0"/>
              <a:t>The simplest approach to the problem is to </a:t>
            </a:r>
            <a:r>
              <a:rPr lang="en-US" sz="2400" i="1" dirty="0" smtClean="0">
                <a:solidFill>
                  <a:srgbClr val="C00000"/>
                </a:solidFill>
              </a:rPr>
              <a:t>include the components as source code</a:t>
            </a:r>
            <a:r>
              <a:rPr lang="en-US" sz="2400" dirty="0" smtClean="0"/>
              <a:t> in your application, and call them directly from your code.</a:t>
            </a:r>
          </a:p>
          <a:p>
            <a:endParaRPr lang="en-US" sz="2400" dirty="0" smtClean="0"/>
          </a:p>
          <a:p>
            <a:endParaRPr lang="en-US" sz="2400" dirty="0" smtClean="0"/>
          </a:p>
          <a:p>
            <a:r>
              <a:rPr lang="en-US" sz="2400" dirty="0" smtClean="0"/>
              <a:t>You cannot add new components </a:t>
            </a:r>
            <a:r>
              <a:rPr lang="en-US" sz="2400" i="1" dirty="0" smtClean="0">
                <a:solidFill>
                  <a:srgbClr val="C00000"/>
                </a:solidFill>
              </a:rPr>
              <a:t>without modifying the source code</a:t>
            </a:r>
            <a:r>
              <a:rPr lang="en-US" sz="2400" dirty="0" smtClean="0"/>
              <a:t>.</a:t>
            </a:r>
          </a:p>
          <a:p>
            <a:r>
              <a:rPr lang="en-US" sz="2400" dirty="0" smtClean="0"/>
              <a:t>You may </a:t>
            </a:r>
            <a:r>
              <a:rPr lang="en-US" sz="2400" i="1" dirty="0" smtClean="0">
                <a:solidFill>
                  <a:srgbClr val="C00000"/>
                </a:solidFill>
              </a:rPr>
              <a:t>not have access to the source code</a:t>
            </a:r>
            <a:r>
              <a:rPr lang="en-US" sz="2400" dirty="0" smtClean="0"/>
              <a:t> for the components, because they might be developed by third parties, and for the same reason you cannot allow them to access yours. </a:t>
            </a:r>
          </a:p>
          <a:p>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Interface Approach</a:t>
            </a:r>
            <a:endParaRPr lang="en-US" dirty="0"/>
          </a:p>
        </p:txBody>
      </p:sp>
      <p:sp>
        <p:nvSpPr>
          <p:cNvPr id="3" name="Content Placeholder 2"/>
          <p:cNvSpPr>
            <a:spLocks noGrp="1"/>
          </p:cNvSpPr>
          <p:nvPr>
            <p:ph idx="1"/>
          </p:nvPr>
        </p:nvSpPr>
        <p:spPr/>
        <p:txBody>
          <a:bodyPr/>
          <a:lstStyle/>
          <a:p>
            <a:r>
              <a:rPr lang="en-US" sz="2400" dirty="0" smtClean="0"/>
              <a:t>A slightly more sophisticated approach would be to provide an extension point or </a:t>
            </a:r>
            <a:r>
              <a:rPr lang="en-US" sz="2400" i="1" dirty="0" smtClean="0">
                <a:solidFill>
                  <a:srgbClr val="C00000"/>
                </a:solidFill>
              </a:rPr>
              <a:t>interface</a:t>
            </a:r>
            <a:r>
              <a:rPr lang="en-US" sz="2400" dirty="0" smtClean="0"/>
              <a:t>, to permit decoupling between the application and its components.</a:t>
            </a:r>
          </a:p>
          <a:p>
            <a:r>
              <a:rPr lang="en-US" sz="2400" dirty="0" smtClean="0"/>
              <a:t>Under this model, you might provide an interface that a component can </a:t>
            </a:r>
            <a:r>
              <a:rPr lang="en-US" sz="2400" i="1" dirty="0" smtClean="0">
                <a:solidFill>
                  <a:srgbClr val="C00000"/>
                </a:solidFill>
              </a:rPr>
              <a:t>implement</a:t>
            </a:r>
            <a:r>
              <a:rPr lang="en-US" sz="2400" dirty="0" smtClean="0"/>
              <a:t>, and an API to enable it to interact with your application.</a:t>
            </a:r>
          </a:p>
          <a:p>
            <a:r>
              <a:rPr lang="en-US" sz="2400" dirty="0" smtClean="0"/>
              <a:t>This </a:t>
            </a:r>
            <a:r>
              <a:rPr lang="en-US" sz="2400" i="1" dirty="0" smtClean="0">
                <a:solidFill>
                  <a:srgbClr val="C00000"/>
                </a:solidFill>
              </a:rPr>
              <a:t>solves</a:t>
            </a:r>
            <a:r>
              <a:rPr lang="en-US" sz="2400" dirty="0" smtClean="0"/>
              <a:t> the problem of requiring </a:t>
            </a:r>
            <a:r>
              <a:rPr lang="en-US" sz="2400" i="1" dirty="0" smtClean="0">
                <a:solidFill>
                  <a:srgbClr val="C00000"/>
                </a:solidFill>
              </a:rPr>
              <a:t>source code</a:t>
            </a:r>
            <a:r>
              <a:rPr lang="en-US" sz="2400" dirty="0" smtClean="0"/>
              <a:t> access, but it still has its own difficulties.</a:t>
            </a:r>
          </a:p>
          <a:p>
            <a:pPr lvl="1"/>
            <a:r>
              <a:rPr lang="en-US" sz="2000" dirty="0" smtClean="0"/>
              <a:t>Registration</a:t>
            </a:r>
          </a:p>
          <a:p>
            <a:pPr lvl="1"/>
            <a:r>
              <a:rPr lang="en-US" sz="2000" dirty="0" smtClean="0"/>
              <a:t>Particular Communication</a:t>
            </a:r>
          </a:p>
          <a:p>
            <a:pPr lvl="1"/>
            <a:endParaRPr lang="en-US" sz="2000" dirty="0" smtClean="0"/>
          </a:p>
          <a:p>
            <a:pPr lvl="1"/>
            <a:endParaRPr lang="en-US" sz="2000" dirty="0" smtClean="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Registration </a:t>
            </a:r>
            <a:r>
              <a:rPr lang="en-US" dirty="0" smtClean="0"/>
              <a:t>Problem</a:t>
            </a:r>
            <a:endParaRPr lang="en-US" dirty="0"/>
          </a:p>
        </p:txBody>
      </p:sp>
      <p:sp>
        <p:nvSpPr>
          <p:cNvPr id="3" name="Content Placeholder 2"/>
          <p:cNvSpPr>
            <a:spLocks noGrp="1"/>
          </p:cNvSpPr>
          <p:nvPr>
            <p:ph idx="1"/>
          </p:nvPr>
        </p:nvSpPr>
        <p:spPr/>
        <p:txBody>
          <a:bodyPr/>
          <a:lstStyle/>
          <a:p>
            <a:r>
              <a:rPr lang="en-US" sz="2400" dirty="0" smtClean="0"/>
              <a:t>Because the application lacks any capacity for </a:t>
            </a:r>
            <a:r>
              <a:rPr lang="en-US" sz="2400" i="1" dirty="0" smtClean="0">
                <a:solidFill>
                  <a:srgbClr val="C00000"/>
                </a:solidFill>
              </a:rPr>
              <a:t>discovering components</a:t>
            </a:r>
            <a:r>
              <a:rPr lang="en-US" sz="2400" dirty="0" smtClean="0"/>
              <a:t> on its own, it must still be explicitly told which components are available and should be loaded.</a:t>
            </a:r>
          </a:p>
          <a:p>
            <a:r>
              <a:rPr lang="en-US" sz="2400" dirty="0" smtClean="0"/>
              <a:t>This is typically accomplished by </a:t>
            </a:r>
            <a:r>
              <a:rPr lang="en-US" sz="2400" i="1" dirty="0" smtClean="0">
                <a:solidFill>
                  <a:srgbClr val="C00000"/>
                </a:solidFill>
              </a:rPr>
              <a:t>explicitly registering</a:t>
            </a:r>
            <a:r>
              <a:rPr lang="en-US" sz="2400" dirty="0" smtClean="0"/>
              <a:t> the available components in a configuration file.</a:t>
            </a:r>
          </a:p>
          <a:p>
            <a:r>
              <a:rPr lang="en-US" sz="2400" dirty="0" smtClean="0"/>
              <a:t>This means that assuring that the </a:t>
            </a:r>
            <a:r>
              <a:rPr lang="en-US" sz="2400" i="1" dirty="0" smtClean="0">
                <a:solidFill>
                  <a:srgbClr val="C00000"/>
                </a:solidFill>
              </a:rPr>
              <a:t>components are correct</a:t>
            </a:r>
            <a:r>
              <a:rPr lang="en-US" sz="2400" dirty="0" smtClean="0"/>
              <a:t> becomes a maintenance issue, particularly if it is the end user and not the developer who is expected to do the updating.</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Particular Communication</a:t>
            </a:r>
            <a:endParaRPr lang="en-US" dirty="0"/>
          </a:p>
        </p:txBody>
      </p:sp>
      <p:sp>
        <p:nvSpPr>
          <p:cNvPr id="3" name="Content Placeholder 2"/>
          <p:cNvSpPr>
            <a:spLocks noGrp="1"/>
          </p:cNvSpPr>
          <p:nvPr>
            <p:ph idx="1"/>
          </p:nvPr>
        </p:nvSpPr>
        <p:spPr/>
        <p:txBody>
          <a:bodyPr/>
          <a:lstStyle/>
          <a:p>
            <a:r>
              <a:rPr lang="en-US" sz="2400" dirty="0" smtClean="0"/>
              <a:t>Components are </a:t>
            </a:r>
            <a:r>
              <a:rPr lang="en-US" sz="2400" i="1" dirty="0" smtClean="0">
                <a:solidFill>
                  <a:srgbClr val="C00000"/>
                </a:solidFill>
              </a:rPr>
              <a:t>incapable of communicating</a:t>
            </a:r>
            <a:r>
              <a:rPr lang="en-US" sz="2400" dirty="0" smtClean="0"/>
              <a:t> with one another, except through the rigidly defined channels of the application itself.</a:t>
            </a:r>
          </a:p>
          <a:p>
            <a:r>
              <a:rPr lang="en-US" sz="2400" dirty="0" smtClean="0"/>
              <a:t>If the application architect has </a:t>
            </a:r>
            <a:r>
              <a:rPr lang="en-US" sz="2400" i="1" dirty="0" smtClean="0">
                <a:solidFill>
                  <a:srgbClr val="C00000"/>
                </a:solidFill>
              </a:rPr>
              <a:t>not anticipated</a:t>
            </a:r>
            <a:r>
              <a:rPr lang="en-US" sz="2400" dirty="0" smtClean="0"/>
              <a:t> the need for a </a:t>
            </a:r>
            <a:r>
              <a:rPr lang="en-US" sz="2400" i="1" dirty="0" smtClean="0">
                <a:solidFill>
                  <a:srgbClr val="C00000"/>
                </a:solidFill>
              </a:rPr>
              <a:t>particular communication</a:t>
            </a:r>
            <a:r>
              <a:rPr lang="en-US" sz="2400" dirty="0" smtClean="0"/>
              <a:t>, it is usually impossible.</a:t>
            </a:r>
          </a:p>
          <a:p>
            <a:endParaRPr lang="en-US" sz="2400" dirty="0" smtClean="0"/>
          </a:p>
          <a:p>
            <a:r>
              <a:rPr lang="en-US" sz="2400" dirty="0" smtClean="0"/>
              <a:t>The component developers must accept a </a:t>
            </a:r>
            <a:r>
              <a:rPr lang="en-US" sz="2400" i="1" dirty="0" smtClean="0">
                <a:solidFill>
                  <a:srgbClr val="C00000"/>
                </a:solidFill>
              </a:rPr>
              <a:t>hard dependency</a:t>
            </a:r>
            <a:r>
              <a:rPr lang="en-US" sz="2400" dirty="0" smtClean="0"/>
              <a:t> on what </a:t>
            </a:r>
            <a:r>
              <a:rPr lang="en-US" sz="2400" i="1" dirty="0" smtClean="0">
                <a:solidFill>
                  <a:srgbClr val="C00000"/>
                </a:solidFill>
              </a:rPr>
              <a:t>assembly contains the interface</a:t>
            </a:r>
            <a:r>
              <a:rPr lang="en-US" sz="2400" dirty="0" smtClean="0"/>
              <a:t> they implement.</a:t>
            </a:r>
          </a:p>
          <a:p>
            <a:r>
              <a:rPr lang="en-US" sz="2400" dirty="0" smtClean="0"/>
              <a:t>This makes it difficult for a component to </a:t>
            </a:r>
            <a:r>
              <a:rPr lang="en-US" sz="2400" i="1" dirty="0" smtClean="0">
                <a:solidFill>
                  <a:srgbClr val="C00000"/>
                </a:solidFill>
              </a:rPr>
              <a:t>be used in more than one application</a:t>
            </a:r>
            <a:r>
              <a:rPr lang="en-US" sz="2400" dirty="0" smtClean="0"/>
              <a:t>, and can also create problems when you create a test framework for components.</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CMS Framework</a:t>
            </a:r>
            <a:endParaRPr lang="en-US" dirty="0"/>
          </a:p>
        </p:txBody>
      </p:sp>
      <p:sp>
        <p:nvSpPr>
          <p:cNvPr id="3" name="Content Placeholder 2"/>
          <p:cNvSpPr>
            <a:spLocks noGrp="1"/>
          </p:cNvSpPr>
          <p:nvPr>
            <p:ph idx="1"/>
          </p:nvPr>
        </p:nvSpPr>
        <p:spPr/>
        <p:txBody>
          <a:bodyPr/>
          <a:lstStyle/>
          <a:p>
            <a:pPr lvl="0"/>
            <a:r>
              <a:rPr lang="en-US" sz="2000" u="sng" dirty="0" smtClean="0">
                <a:hlinkClick r:id="rId2"/>
              </a:rPr>
              <a:t>http://www.dnnsoftware.com/</a:t>
            </a:r>
            <a:r>
              <a:rPr lang="en-US" sz="2000" dirty="0" smtClean="0"/>
              <a:t> (ASP.NET Web Forms, built-in Active Directory support, very matured solution) </a:t>
            </a:r>
          </a:p>
          <a:p>
            <a:pPr lvl="0"/>
            <a:r>
              <a:rPr lang="en-US" sz="2000" u="sng" dirty="0" smtClean="0">
                <a:hlinkClick r:id="rId3"/>
              </a:rPr>
              <a:t>https://umbraco.com/</a:t>
            </a:r>
            <a:r>
              <a:rPr lang="en-US" sz="2000" dirty="0" smtClean="0"/>
              <a:t> (ASP.NET MVC, built-in Active Directory support)</a:t>
            </a:r>
          </a:p>
          <a:p>
            <a:pPr lvl="0"/>
            <a:r>
              <a:rPr lang="en-US" sz="2000" u="sng" dirty="0" smtClean="0">
                <a:hlinkClick r:id="rId4"/>
              </a:rPr>
              <a:t>http://www.orchardproject.net/</a:t>
            </a:r>
            <a:r>
              <a:rPr lang="en-US" sz="2000" dirty="0" smtClean="0"/>
              <a:t> (ASP.NET MVC, no built-in Active Directory support)</a:t>
            </a:r>
          </a:p>
          <a:p>
            <a:pPr lvl="0"/>
            <a:r>
              <a:rPr lang="en-US" sz="2000" u="sng" dirty="0" smtClean="0">
                <a:hlinkClick r:id="rId5"/>
              </a:rPr>
              <a:t>http://www.kentico.com/download-demo/free-cms-for-asp-net</a:t>
            </a:r>
            <a:r>
              <a:rPr lang="en-US" sz="2000" dirty="0" smtClean="0"/>
              <a:t> (built-in Active Directory support, commercial solution)</a:t>
            </a:r>
          </a:p>
          <a:p>
            <a:pPr lvl="0"/>
            <a:r>
              <a:rPr lang="en-US" sz="2000" u="sng" dirty="0" smtClean="0">
                <a:hlinkClick r:id="rId6"/>
              </a:rPr>
              <a:t>http://www.sitefinity.com/web-development-platform</a:t>
            </a:r>
            <a:r>
              <a:rPr lang="en-US" sz="2000" dirty="0" smtClean="0"/>
              <a:t> (built-in Active Directory support, commercial solution)</a:t>
            </a:r>
          </a:p>
          <a:p>
            <a:r>
              <a:rPr lang="en-US" sz="2000" dirty="0" smtClean="0"/>
              <a:t> </a:t>
            </a:r>
            <a:r>
              <a:rPr lang="en-US" sz="2000" u="sng" dirty="0" smtClean="0">
                <a:hlinkClick r:id="rId7"/>
              </a:rPr>
              <a:t>http://www.yiiframework.com</a:t>
            </a:r>
            <a:r>
              <a:rPr lang="en-US" sz="2000" dirty="0" smtClean="0"/>
              <a:t> (PHP, Active Directory support via module)</a:t>
            </a:r>
          </a:p>
          <a:p>
            <a:pPr lvl="0"/>
            <a:r>
              <a:rPr lang="en-US" sz="2000" u="sng" dirty="0" smtClean="0">
                <a:hlinkClick r:id="rId8"/>
              </a:rPr>
              <a:t>https://www.drupal.org/</a:t>
            </a:r>
            <a:r>
              <a:rPr lang="en-US" sz="2000" dirty="0" smtClean="0"/>
              <a:t> (PHP, Active Directory support via module)</a:t>
            </a:r>
          </a:p>
          <a:p>
            <a:pPr lvl="0"/>
            <a:r>
              <a:rPr lang="en-US" sz="2000" u="sng" dirty="0" smtClean="0">
                <a:hlinkClick r:id="rId9"/>
              </a:rPr>
              <a:t>https://www.joomla.org/</a:t>
            </a:r>
            <a:r>
              <a:rPr lang="en-US" sz="2000" dirty="0" smtClean="0"/>
              <a:t> (PHP, Active Directory support via module)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Middleware</a:t>
            </a:r>
            <a:endParaRPr lang="en-US" dirty="0"/>
          </a:p>
        </p:txBody>
      </p:sp>
      <p:sp>
        <p:nvSpPr>
          <p:cNvPr id="3" name="Content Placeholder 2"/>
          <p:cNvSpPr>
            <a:spLocks noGrp="1"/>
          </p:cNvSpPr>
          <p:nvPr>
            <p:ph idx="1"/>
          </p:nvPr>
        </p:nvSpPr>
        <p:spPr/>
        <p:txBody>
          <a:bodyPr/>
          <a:lstStyle/>
          <a:p>
            <a:r>
              <a:rPr lang="en-US" sz="2400" dirty="0" smtClean="0"/>
              <a:t>The </a:t>
            </a:r>
            <a:r>
              <a:rPr lang="en-US" sz="2400" i="1" dirty="0" smtClean="0">
                <a:solidFill>
                  <a:srgbClr val="C00000"/>
                </a:solidFill>
              </a:rPr>
              <a:t>aim</a:t>
            </a:r>
            <a:r>
              <a:rPr lang="en-US" sz="2400" dirty="0" smtClean="0"/>
              <a:t> of these middleware platforms is focused on</a:t>
            </a:r>
          </a:p>
          <a:p>
            <a:r>
              <a:rPr lang="en-US" sz="2400" dirty="0" smtClean="0"/>
              <a:t>reducing the application engineering complexity of building multi-tenant software by</a:t>
            </a:r>
          </a:p>
          <a:p>
            <a:r>
              <a:rPr lang="en-US" sz="2400" dirty="0" smtClean="0"/>
              <a:t>shifting this complexity from the application design towards a reusable middleware architecture.</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Convention Over Configuration</a:t>
            </a:r>
            <a:endParaRPr lang="en-US" dirty="0"/>
          </a:p>
        </p:txBody>
      </p:sp>
      <p:sp>
        <p:nvSpPr>
          <p:cNvPr id="3" name="Content Placeholder 2"/>
          <p:cNvSpPr>
            <a:spLocks noGrp="1"/>
          </p:cNvSpPr>
          <p:nvPr>
            <p:ph idx="1"/>
          </p:nvPr>
        </p:nvSpPr>
        <p:spPr/>
        <p:txBody>
          <a:bodyPr/>
          <a:lstStyle/>
          <a:p>
            <a:r>
              <a:rPr lang="en-US" sz="1800" dirty="0" smtClean="0">
                <a:hlinkClick r:id="rId2"/>
              </a:rPr>
              <a:t>https://en.wikipedia.org/wiki/Convention_over_configuration</a:t>
            </a:r>
            <a:endParaRPr lang="en-US" sz="1800" dirty="0" smtClean="0"/>
          </a:p>
          <a:p>
            <a:r>
              <a:rPr lang="en-US" sz="1800" dirty="0" smtClean="0"/>
              <a:t>Convention over configuration (also known as coding by convention) is a software design paradigm which seeks to decrease the number of decisions that developers need to make, gaining simplicity, and not necessarily losing flexibility.</a:t>
            </a:r>
          </a:p>
          <a:p>
            <a:r>
              <a:rPr lang="en-US" sz="1800" dirty="0" smtClean="0"/>
              <a:t>The phrase essentially means a developer only needs to specify unconventional aspects of the application.</a:t>
            </a:r>
          </a:p>
          <a:p>
            <a:r>
              <a:rPr lang="en-US" sz="1800" dirty="0" smtClean="0"/>
              <a:t>For example, if there is a class Sale in the model, the corresponding table in the database is called "sales" by default.</a:t>
            </a:r>
          </a:p>
          <a:p>
            <a:r>
              <a:rPr lang="en-US" sz="1800" dirty="0" smtClean="0"/>
              <a:t>It is only if one deviates from this convention, such as calling the table "product sales", that one needs to write code regarding these names.</a:t>
            </a:r>
          </a:p>
          <a:p>
            <a:r>
              <a:rPr lang="en-US" sz="1800" dirty="0" smtClean="0"/>
              <a:t>When the convention implemented by the tool matches the desired behavior, it behaves as expected without having to write configuration files.</a:t>
            </a:r>
          </a:p>
          <a:p>
            <a:r>
              <a:rPr lang="en-US" sz="1800" dirty="0" smtClean="0"/>
              <a:t>Only when the desired behavior deviates from the implemented convention is explicit configuration required.</a:t>
            </a:r>
            <a:endParaRPr 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Convention Over Configuration?</a:t>
            </a:r>
            <a:endParaRPr lang="en-US" dirty="0"/>
          </a:p>
        </p:txBody>
      </p:sp>
      <p:sp>
        <p:nvSpPr>
          <p:cNvPr id="3" name="Content Placeholder 2"/>
          <p:cNvSpPr>
            <a:spLocks noGrp="1"/>
          </p:cNvSpPr>
          <p:nvPr>
            <p:ph idx="1"/>
          </p:nvPr>
        </p:nvSpPr>
        <p:spPr>
          <a:xfrm>
            <a:off x="457200" y="1905000"/>
            <a:ext cx="8229600" cy="4221163"/>
          </a:xfrm>
        </p:spPr>
        <p:txBody>
          <a:bodyPr/>
          <a:lstStyle/>
          <a:p>
            <a:r>
              <a:rPr lang="en-US" sz="1900" dirty="0" smtClean="0"/>
              <a:t>Some frameworks need multiple configuration files, each with many settings.</a:t>
            </a:r>
          </a:p>
          <a:p>
            <a:r>
              <a:rPr lang="en-US" sz="1900" dirty="0" smtClean="0"/>
              <a:t>These provide information specific to each project, ranging from URLs to mappings between classes and database tables.</a:t>
            </a:r>
          </a:p>
          <a:p>
            <a:r>
              <a:rPr lang="en-US" sz="1900" dirty="0" smtClean="0"/>
              <a:t>A large number of configuration files with lots of parameters is often difficult to maintain.</a:t>
            </a:r>
          </a:p>
          <a:p>
            <a:r>
              <a:rPr lang="en-US" sz="1900" dirty="0" smtClean="0"/>
              <a:t>For example, early versions of the Java persistence </a:t>
            </a:r>
            <a:r>
              <a:rPr lang="en-US" sz="1900" dirty="0" err="1" smtClean="0"/>
              <a:t>mapper</a:t>
            </a:r>
            <a:r>
              <a:rPr lang="en-US" sz="1900" dirty="0" smtClean="0"/>
              <a:t> Hibernate mapped entities and their fields to the database by describing these relationships in XML files.</a:t>
            </a:r>
          </a:p>
          <a:p>
            <a:r>
              <a:rPr lang="en-US" sz="1900" dirty="0" smtClean="0"/>
              <a:t>Most of this information could have been revealed by conventionally mapping class names to the identically named database tables and the fields to their columns, respectively.</a:t>
            </a:r>
          </a:p>
          <a:p>
            <a:r>
              <a:rPr lang="en-US" sz="1900" dirty="0" smtClean="0"/>
              <a:t>“Convention over configuration" </a:t>
            </a:r>
            <a:r>
              <a:rPr lang="en-US" sz="1900" i="1" dirty="0" smtClean="0">
                <a:solidFill>
                  <a:srgbClr val="C00000"/>
                </a:solidFill>
              </a:rPr>
              <a:t>violates</a:t>
            </a:r>
            <a:r>
              <a:rPr lang="en-US" sz="1900" dirty="0" smtClean="0"/>
              <a:t> the principle "explicit is better than implicit“.</a:t>
            </a:r>
            <a:endParaRPr lang="en-US" sz="1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a:t>
            </a:r>
            <a:r>
              <a:rPr lang="en-US" smtClean="0"/>
              <a:t>You for </a:t>
            </a:r>
            <a:r>
              <a:rPr lang="en-US" dirty="0" smtClean="0"/>
              <a:t>Your Time</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10011</TotalTime>
  <Words>3041</Words>
  <Application>Microsoft Office PowerPoint</Application>
  <PresentationFormat>On-screen Show (4:3)</PresentationFormat>
  <Paragraphs>262</Paragraphs>
  <Slides>40</Slides>
  <Notes>0</Notes>
  <HiddenSlides>0</HiddenSlides>
  <MMClips>0</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Office Theme</vt:lpstr>
      <vt:lpstr>Application Frameworks</vt:lpstr>
      <vt:lpstr>References</vt:lpstr>
      <vt:lpstr>What is an Application Framework? [1]</vt:lpstr>
      <vt:lpstr>Framework [2]</vt:lpstr>
      <vt:lpstr>Sample Application Frameworks [1]</vt:lpstr>
      <vt:lpstr>Why Application Framework?</vt:lpstr>
      <vt:lpstr>Framework Benefits?</vt:lpstr>
      <vt:lpstr>Framework Drawbacks</vt:lpstr>
      <vt:lpstr>Framework Layers</vt:lpstr>
      <vt:lpstr>The Framework Development Process</vt:lpstr>
      <vt:lpstr>Framework Documentation</vt:lpstr>
      <vt:lpstr>Slide 12</vt:lpstr>
      <vt:lpstr>Common Spots</vt:lpstr>
      <vt:lpstr>Implementation of Common Spots</vt:lpstr>
      <vt:lpstr>Hot Spots</vt:lpstr>
      <vt:lpstr>Hook Methods</vt:lpstr>
      <vt:lpstr>Filling of the "Hot Spot"</vt:lpstr>
      <vt:lpstr>Template Methods vs. Hook Methods</vt:lpstr>
      <vt:lpstr>Pluggable Components</vt:lpstr>
      <vt:lpstr>Composition Approach</vt:lpstr>
      <vt:lpstr>Binding Application Component to Framework Component </vt:lpstr>
      <vt:lpstr>Slide 22</vt:lpstr>
      <vt:lpstr>Inversion of Control [1]</vt:lpstr>
      <vt:lpstr>White-box Frameworks [2]</vt:lpstr>
      <vt:lpstr>White-box Frameworks [1]</vt:lpstr>
      <vt:lpstr>Black-box Frameworks [2]</vt:lpstr>
      <vt:lpstr>Black-box Frameworks [1]</vt:lpstr>
      <vt:lpstr>Gray-Box Frameworks</vt:lpstr>
      <vt:lpstr>Slide 29</vt:lpstr>
      <vt:lpstr>Extensibility Requirement</vt:lpstr>
      <vt:lpstr>Source Code Approach</vt:lpstr>
      <vt:lpstr>Interface Approach</vt:lpstr>
      <vt:lpstr>Registration Problem</vt:lpstr>
      <vt:lpstr>Particular Communication</vt:lpstr>
      <vt:lpstr>CMS Framework</vt:lpstr>
      <vt:lpstr>Slide 36</vt:lpstr>
      <vt:lpstr>Middleware</vt:lpstr>
      <vt:lpstr>Convention Over Configuration</vt:lpstr>
      <vt:lpstr>Why Convention Over Configuration?</vt:lpstr>
      <vt:lpstr>Thank You for Your Time</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admin</cp:lastModifiedBy>
  <cp:revision>3098</cp:revision>
  <dcterms:created xsi:type="dcterms:W3CDTF">2007-10-06T08:25:13Z</dcterms:created>
  <dcterms:modified xsi:type="dcterms:W3CDTF">2016-03-23T12:08:20Z</dcterms:modified>
</cp:coreProperties>
</file>