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8"/>
  </p:notesMasterIdLst>
  <p:handoutMasterIdLst>
    <p:handoutMasterId r:id="rId109"/>
  </p:handoutMasterIdLst>
  <p:sldIdLst>
    <p:sldId id="256" r:id="rId2"/>
    <p:sldId id="632" r:id="rId3"/>
    <p:sldId id="633" r:id="rId4"/>
    <p:sldId id="634" r:id="rId5"/>
    <p:sldId id="475" r:id="rId6"/>
    <p:sldId id="520" r:id="rId7"/>
    <p:sldId id="476" r:id="rId8"/>
    <p:sldId id="631" r:id="rId9"/>
    <p:sldId id="481" r:id="rId10"/>
    <p:sldId id="482" r:id="rId11"/>
    <p:sldId id="483" r:id="rId12"/>
    <p:sldId id="474" r:id="rId13"/>
    <p:sldId id="473" r:id="rId14"/>
    <p:sldId id="348" r:id="rId15"/>
    <p:sldId id="477" r:id="rId16"/>
    <p:sldId id="497" r:id="rId17"/>
    <p:sldId id="546" r:id="rId18"/>
    <p:sldId id="525" r:id="rId19"/>
    <p:sldId id="575" r:id="rId20"/>
    <p:sldId id="526" r:id="rId21"/>
    <p:sldId id="576" r:id="rId22"/>
    <p:sldId id="544" r:id="rId23"/>
    <p:sldId id="554" r:id="rId24"/>
    <p:sldId id="545" r:id="rId25"/>
    <p:sldId id="456" r:id="rId26"/>
    <p:sldId id="457" r:id="rId27"/>
    <p:sldId id="596" r:id="rId28"/>
    <p:sldId id="458" r:id="rId29"/>
    <p:sldId id="627" r:id="rId30"/>
    <p:sldId id="585" r:id="rId31"/>
    <p:sldId id="584" r:id="rId32"/>
    <p:sldId id="587" r:id="rId33"/>
    <p:sldId id="577" r:id="rId34"/>
    <p:sldId id="578" r:id="rId35"/>
    <p:sldId id="589" r:id="rId36"/>
    <p:sldId id="598" r:id="rId37"/>
    <p:sldId id="579" r:id="rId38"/>
    <p:sldId id="580" r:id="rId39"/>
    <p:sldId id="588" r:id="rId40"/>
    <p:sldId id="611" r:id="rId41"/>
    <p:sldId id="612" r:id="rId42"/>
    <p:sldId id="613" r:id="rId43"/>
    <p:sldId id="615" r:id="rId44"/>
    <p:sldId id="614" r:id="rId45"/>
    <p:sldId id="618" r:id="rId46"/>
    <p:sldId id="617" r:id="rId47"/>
    <p:sldId id="581" r:id="rId48"/>
    <p:sldId id="590" r:id="rId49"/>
    <p:sldId id="599" r:id="rId50"/>
    <p:sldId id="591" r:id="rId51"/>
    <p:sldId id="592" r:id="rId52"/>
    <p:sldId id="594" r:id="rId53"/>
    <p:sldId id="603" r:id="rId54"/>
    <p:sldId id="583" r:id="rId55"/>
    <p:sldId id="538" r:id="rId56"/>
    <p:sldId id="629" r:id="rId57"/>
    <p:sldId id="540" r:id="rId58"/>
    <p:sldId id="548" r:id="rId59"/>
    <p:sldId id="600" r:id="rId60"/>
    <p:sldId id="608" r:id="rId61"/>
    <p:sldId id="628" r:id="rId62"/>
    <p:sldId id="550" r:id="rId63"/>
    <p:sldId id="601" r:id="rId64"/>
    <p:sldId id="593" r:id="rId65"/>
    <p:sldId id="626" r:id="rId66"/>
    <p:sldId id="624" r:id="rId67"/>
    <p:sldId id="595" r:id="rId68"/>
    <p:sldId id="610" r:id="rId69"/>
    <p:sldId id="605" r:id="rId70"/>
    <p:sldId id="635" r:id="rId71"/>
    <p:sldId id="637" r:id="rId72"/>
    <p:sldId id="636" r:id="rId73"/>
    <p:sldId id="638" r:id="rId74"/>
    <p:sldId id="620" r:id="rId75"/>
    <p:sldId id="606" r:id="rId76"/>
    <p:sldId id="563" r:id="rId77"/>
    <p:sldId id="564" r:id="rId78"/>
    <p:sldId id="562" r:id="rId79"/>
    <p:sldId id="621" r:id="rId80"/>
    <p:sldId id="622" r:id="rId81"/>
    <p:sldId id="623" r:id="rId82"/>
    <p:sldId id="491" r:id="rId83"/>
    <p:sldId id="522" r:id="rId84"/>
    <p:sldId id="500" r:id="rId85"/>
    <p:sldId id="501" r:id="rId86"/>
    <p:sldId id="502" r:id="rId87"/>
    <p:sldId id="508" r:id="rId88"/>
    <p:sldId id="567" r:id="rId89"/>
    <p:sldId id="509" r:id="rId90"/>
    <p:sldId id="504" r:id="rId91"/>
    <p:sldId id="505" r:id="rId92"/>
    <p:sldId id="506" r:id="rId93"/>
    <p:sldId id="511" r:id="rId94"/>
    <p:sldId id="568" r:id="rId95"/>
    <p:sldId id="512" r:id="rId96"/>
    <p:sldId id="513" r:id="rId97"/>
    <p:sldId id="514" r:id="rId98"/>
    <p:sldId id="515" r:id="rId99"/>
    <p:sldId id="571" r:id="rId100"/>
    <p:sldId id="572" r:id="rId101"/>
    <p:sldId id="573" r:id="rId102"/>
    <p:sldId id="574" r:id="rId103"/>
    <p:sldId id="565" r:id="rId104"/>
    <p:sldId id="464" r:id="rId105"/>
    <p:sldId id="479" r:id="rId106"/>
    <p:sldId id="430" r:id="rId10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69" autoAdjust="0"/>
    <p:restoredTop sz="94667" autoAdjust="0"/>
  </p:normalViewPr>
  <p:slideViewPr>
    <p:cSldViewPr>
      <p:cViewPr>
        <p:scale>
          <a:sx n="50" d="100"/>
          <a:sy n="50" d="100"/>
        </p:scale>
        <p:origin x="-1482" y="-400"/>
      </p:cViewPr>
      <p:guideLst>
        <p:guide orient="horz" pos="2160"/>
        <p:guide pos="2880"/>
      </p:guideLst>
    </p:cSldViewPr>
  </p:slideViewPr>
  <p:outlineViewPr>
    <p:cViewPr>
      <p:scale>
        <a:sx n="33" d="100"/>
        <a:sy n="33" d="100"/>
      </p:scale>
      <p:origin x="0" y="46014"/>
    </p:cViewPr>
  </p:outlineViewPr>
  <p:notesTextViewPr>
    <p:cViewPr>
      <p:scale>
        <a:sx n="125" d="100"/>
        <a:sy n="125"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37F66-8A81-4C04-967E-919A1AC14198}" type="doc">
      <dgm:prSet loTypeId="urn:microsoft.com/office/officeart/2005/8/layout/process2" loCatId="process" qsTypeId="urn:microsoft.com/office/officeart/2005/8/quickstyle/simple1" qsCatId="simple" csTypeId="urn:microsoft.com/office/officeart/2005/8/colors/accent1_2" csCatId="accent1" phldr="1"/>
      <dgm:spPr/>
    </dgm:pt>
    <dgm:pt modelId="{B25233B5-55D1-4A7F-995A-7AF3B460D270}">
      <dgm:prSet phldrT="[Text]" custT="1"/>
      <dgm:spPr/>
      <dgm:t>
        <a:bodyPr/>
        <a:lstStyle/>
        <a:p>
          <a:r>
            <a:rPr lang="en-US" sz="2400" smtClean="0"/>
            <a:t>Capturing the Requirements</a:t>
          </a:r>
          <a:endParaRPr lang="en-US" sz="2400"/>
        </a:p>
      </dgm:t>
    </dgm:pt>
    <dgm:pt modelId="{A9D1BDD1-0B7E-4229-B237-B4AC6B7D8585}" type="parTrans" cxnId="{54AB74D1-FA30-4B1A-80C5-931ACD73C3C3}">
      <dgm:prSet/>
      <dgm:spPr/>
      <dgm:t>
        <a:bodyPr/>
        <a:lstStyle/>
        <a:p>
          <a:endParaRPr lang="en-US"/>
        </a:p>
      </dgm:t>
    </dgm:pt>
    <dgm:pt modelId="{C7CE2175-F8B2-460A-A6DC-8BBB5F96B28F}" type="sibTrans" cxnId="{54AB74D1-FA30-4B1A-80C5-931ACD73C3C3}">
      <dgm:prSet/>
      <dgm:spPr/>
      <dgm:t>
        <a:bodyPr/>
        <a:lstStyle/>
        <a:p>
          <a:endParaRPr lang="en-US"/>
        </a:p>
      </dgm:t>
    </dgm:pt>
    <dgm:pt modelId="{85F391AA-4BE5-4E52-B9B8-E2733B11872D}">
      <dgm:prSet custT="1"/>
      <dgm:spPr>
        <a:solidFill>
          <a:schemeClr val="accent2"/>
        </a:solidFill>
      </dgm:spPr>
      <dgm:t>
        <a:bodyPr/>
        <a:lstStyle/>
        <a:p>
          <a:r>
            <a:rPr lang="en-US" sz="2400" smtClean="0"/>
            <a:t>Prototyping the Application</a:t>
          </a:r>
          <a:endParaRPr lang="en-US" sz="2400"/>
        </a:p>
      </dgm:t>
    </dgm:pt>
    <dgm:pt modelId="{6FB7076A-B279-4D92-8662-229B7A6C2187}" type="parTrans" cxnId="{B653940F-EE02-4349-8261-D80D8F4A9521}">
      <dgm:prSet/>
      <dgm:spPr/>
      <dgm:t>
        <a:bodyPr/>
        <a:lstStyle/>
        <a:p>
          <a:endParaRPr lang="en-US"/>
        </a:p>
      </dgm:t>
    </dgm:pt>
    <dgm:pt modelId="{8F9EF7B3-E135-411A-8F4D-BA80933400BE}" type="sibTrans" cxnId="{B653940F-EE02-4349-8261-D80D8F4A9521}">
      <dgm:prSet/>
      <dgm:spPr/>
      <dgm:t>
        <a:bodyPr/>
        <a:lstStyle/>
        <a:p>
          <a:endParaRPr lang="en-US"/>
        </a:p>
      </dgm:t>
    </dgm:pt>
    <dgm:pt modelId="{9E456F92-1ABC-4A62-8E25-97E9B088E224}">
      <dgm:prSet custT="1"/>
      <dgm:spPr>
        <a:solidFill>
          <a:schemeClr val="accent3"/>
        </a:solidFill>
      </dgm:spPr>
      <dgm:t>
        <a:bodyPr/>
        <a:lstStyle/>
        <a:p>
          <a:r>
            <a:rPr lang="en-US" sz="2400" smtClean="0"/>
            <a:t>Designing the Application</a:t>
          </a:r>
          <a:endParaRPr lang="en-US" sz="2400"/>
        </a:p>
      </dgm:t>
    </dgm:pt>
    <dgm:pt modelId="{45BDBAF0-4A59-4EC3-8B46-B8C9752E9DF5}" type="parTrans" cxnId="{27642D72-535C-4338-8C14-36491C5B5211}">
      <dgm:prSet/>
      <dgm:spPr/>
      <dgm:t>
        <a:bodyPr/>
        <a:lstStyle/>
        <a:p>
          <a:endParaRPr lang="en-US"/>
        </a:p>
      </dgm:t>
    </dgm:pt>
    <dgm:pt modelId="{D12BC888-673E-42B1-861A-FC6F41530047}" type="sibTrans" cxnId="{27642D72-535C-4338-8C14-36491C5B5211}">
      <dgm:prSet/>
      <dgm:spPr/>
      <dgm:t>
        <a:bodyPr/>
        <a:lstStyle/>
        <a:p>
          <a:endParaRPr lang="en-US"/>
        </a:p>
      </dgm:t>
    </dgm:pt>
    <dgm:pt modelId="{58100C5A-115A-4C2D-8C52-B87451F51DE7}">
      <dgm:prSet custT="1"/>
      <dgm:spPr>
        <a:solidFill>
          <a:schemeClr val="accent4"/>
        </a:solidFill>
      </dgm:spPr>
      <dgm:t>
        <a:bodyPr/>
        <a:lstStyle/>
        <a:p>
          <a:r>
            <a:rPr lang="en-US" sz="2400" smtClean="0"/>
            <a:t>Developing the Application</a:t>
          </a:r>
          <a:endParaRPr lang="en-US" sz="2400"/>
        </a:p>
      </dgm:t>
    </dgm:pt>
    <dgm:pt modelId="{6C1DA523-62F7-4155-8146-09EE6EDEEBB7}" type="parTrans" cxnId="{F061FBD8-317A-40A1-87A0-A560204A7DED}">
      <dgm:prSet/>
      <dgm:spPr/>
      <dgm:t>
        <a:bodyPr/>
        <a:lstStyle/>
        <a:p>
          <a:endParaRPr lang="en-US"/>
        </a:p>
      </dgm:t>
    </dgm:pt>
    <dgm:pt modelId="{F7F372F9-6D13-42CE-A829-8BC15D37A213}" type="sibTrans" cxnId="{F061FBD8-317A-40A1-87A0-A560204A7DED}">
      <dgm:prSet/>
      <dgm:spPr/>
      <dgm:t>
        <a:bodyPr/>
        <a:lstStyle/>
        <a:p>
          <a:endParaRPr lang="en-US"/>
        </a:p>
      </dgm:t>
    </dgm:pt>
    <dgm:pt modelId="{E991CE02-2A60-4C0D-A58B-31C74A3B2953}">
      <dgm:prSet custT="1"/>
      <dgm:spPr>
        <a:solidFill>
          <a:schemeClr val="accent5"/>
        </a:solidFill>
      </dgm:spPr>
      <dgm:t>
        <a:bodyPr/>
        <a:lstStyle/>
        <a:p>
          <a:r>
            <a:rPr lang="en-US" sz="2400" smtClean="0"/>
            <a:t>Testing the Application</a:t>
          </a:r>
          <a:endParaRPr lang="en-US" sz="2400"/>
        </a:p>
      </dgm:t>
    </dgm:pt>
    <dgm:pt modelId="{29A09767-E577-4651-950D-C3D1110F42A1}" type="parTrans" cxnId="{5D04EC2E-388D-4F7C-A8EA-011CFB1615B6}">
      <dgm:prSet/>
      <dgm:spPr/>
      <dgm:t>
        <a:bodyPr/>
        <a:lstStyle/>
        <a:p>
          <a:endParaRPr lang="en-US"/>
        </a:p>
      </dgm:t>
    </dgm:pt>
    <dgm:pt modelId="{975FFF48-A9CA-4BE1-855B-5949814072CB}" type="sibTrans" cxnId="{5D04EC2E-388D-4F7C-A8EA-011CFB1615B6}">
      <dgm:prSet/>
      <dgm:spPr/>
      <dgm:t>
        <a:bodyPr/>
        <a:lstStyle/>
        <a:p>
          <a:endParaRPr lang="en-US"/>
        </a:p>
      </dgm:t>
    </dgm:pt>
    <dgm:pt modelId="{03D8E78B-895A-4A36-8B30-418CBFB9B34E}">
      <dgm:prSet custT="1"/>
      <dgm:spPr>
        <a:solidFill>
          <a:schemeClr val="accent6"/>
        </a:solidFill>
      </dgm:spPr>
      <dgm:t>
        <a:bodyPr/>
        <a:lstStyle/>
        <a:p>
          <a:r>
            <a:rPr lang="en-US" sz="2400" dirty="0" smtClean="0"/>
            <a:t>Deploying the Application</a:t>
          </a:r>
          <a:endParaRPr lang="en-US" sz="2400" dirty="0"/>
        </a:p>
      </dgm:t>
    </dgm:pt>
    <dgm:pt modelId="{4BCCA0C4-17F5-45D4-8019-AA1CEE177E95}" type="parTrans" cxnId="{665A39EE-DBD0-4B70-8232-8EA8F5BF4E23}">
      <dgm:prSet/>
      <dgm:spPr/>
      <dgm:t>
        <a:bodyPr/>
        <a:lstStyle/>
        <a:p>
          <a:endParaRPr lang="en-US"/>
        </a:p>
      </dgm:t>
    </dgm:pt>
    <dgm:pt modelId="{2E7D64F0-D637-4E0A-BA78-3CDDC49E0D21}" type="sibTrans" cxnId="{665A39EE-DBD0-4B70-8232-8EA8F5BF4E23}">
      <dgm:prSet/>
      <dgm:spPr/>
      <dgm:t>
        <a:bodyPr/>
        <a:lstStyle/>
        <a:p>
          <a:endParaRPr lang="en-US"/>
        </a:p>
      </dgm:t>
    </dgm:pt>
    <dgm:pt modelId="{E7BF3D5D-E2A9-48D5-9542-1B7BCB826EE4}" type="pres">
      <dgm:prSet presAssocID="{16937F66-8A81-4C04-967E-919A1AC14198}" presName="linearFlow" presStyleCnt="0">
        <dgm:presLayoutVars>
          <dgm:resizeHandles val="exact"/>
        </dgm:presLayoutVars>
      </dgm:prSet>
      <dgm:spPr/>
    </dgm:pt>
    <dgm:pt modelId="{BEB086F3-6CBB-487B-8028-088A73A45244}" type="pres">
      <dgm:prSet presAssocID="{B25233B5-55D1-4A7F-995A-7AF3B460D270}" presName="node" presStyleLbl="node1" presStyleIdx="0" presStyleCnt="6" custScaleX="239486">
        <dgm:presLayoutVars>
          <dgm:bulletEnabled val="1"/>
        </dgm:presLayoutVars>
      </dgm:prSet>
      <dgm:spPr/>
      <dgm:t>
        <a:bodyPr/>
        <a:lstStyle/>
        <a:p>
          <a:endParaRPr lang="en-US"/>
        </a:p>
      </dgm:t>
    </dgm:pt>
    <dgm:pt modelId="{31C55B71-E707-44C4-9082-88BC14CD5775}" type="pres">
      <dgm:prSet presAssocID="{C7CE2175-F8B2-460A-A6DC-8BBB5F96B28F}" presName="sibTrans" presStyleLbl="sibTrans2D1" presStyleIdx="0" presStyleCnt="5"/>
      <dgm:spPr/>
      <dgm:t>
        <a:bodyPr/>
        <a:lstStyle/>
        <a:p>
          <a:endParaRPr lang="en-US"/>
        </a:p>
      </dgm:t>
    </dgm:pt>
    <dgm:pt modelId="{6C0CB977-B88D-4E90-9398-8784778C0592}" type="pres">
      <dgm:prSet presAssocID="{C7CE2175-F8B2-460A-A6DC-8BBB5F96B28F}" presName="connectorText" presStyleLbl="sibTrans2D1" presStyleIdx="0" presStyleCnt="5"/>
      <dgm:spPr/>
      <dgm:t>
        <a:bodyPr/>
        <a:lstStyle/>
        <a:p>
          <a:endParaRPr lang="en-US"/>
        </a:p>
      </dgm:t>
    </dgm:pt>
    <dgm:pt modelId="{1174A09F-80F8-4F8B-8371-2CC072796E7A}" type="pres">
      <dgm:prSet presAssocID="{85F391AA-4BE5-4E52-B9B8-E2733B11872D}" presName="node" presStyleLbl="node1" presStyleIdx="1" presStyleCnt="6" custScaleX="239486">
        <dgm:presLayoutVars>
          <dgm:bulletEnabled val="1"/>
        </dgm:presLayoutVars>
      </dgm:prSet>
      <dgm:spPr/>
      <dgm:t>
        <a:bodyPr/>
        <a:lstStyle/>
        <a:p>
          <a:endParaRPr lang="en-US"/>
        </a:p>
      </dgm:t>
    </dgm:pt>
    <dgm:pt modelId="{C78BFAA8-89EC-441C-B39D-B09B75AE6E43}" type="pres">
      <dgm:prSet presAssocID="{8F9EF7B3-E135-411A-8F4D-BA80933400BE}" presName="sibTrans" presStyleLbl="sibTrans2D1" presStyleIdx="1" presStyleCnt="5"/>
      <dgm:spPr/>
      <dgm:t>
        <a:bodyPr/>
        <a:lstStyle/>
        <a:p>
          <a:endParaRPr lang="en-US"/>
        </a:p>
      </dgm:t>
    </dgm:pt>
    <dgm:pt modelId="{5EAB39CE-2CD9-487A-926F-FD45B38985AC}" type="pres">
      <dgm:prSet presAssocID="{8F9EF7B3-E135-411A-8F4D-BA80933400BE}" presName="connectorText" presStyleLbl="sibTrans2D1" presStyleIdx="1" presStyleCnt="5"/>
      <dgm:spPr/>
      <dgm:t>
        <a:bodyPr/>
        <a:lstStyle/>
        <a:p>
          <a:endParaRPr lang="en-US"/>
        </a:p>
      </dgm:t>
    </dgm:pt>
    <dgm:pt modelId="{405B837A-8154-4945-8B4E-56D8E53D8B3E}" type="pres">
      <dgm:prSet presAssocID="{9E456F92-1ABC-4A62-8E25-97E9B088E224}" presName="node" presStyleLbl="node1" presStyleIdx="2" presStyleCnt="6" custScaleX="239486">
        <dgm:presLayoutVars>
          <dgm:bulletEnabled val="1"/>
        </dgm:presLayoutVars>
      </dgm:prSet>
      <dgm:spPr/>
      <dgm:t>
        <a:bodyPr/>
        <a:lstStyle/>
        <a:p>
          <a:endParaRPr lang="en-US"/>
        </a:p>
      </dgm:t>
    </dgm:pt>
    <dgm:pt modelId="{0DD106C3-2600-48E5-944D-B16E24D052B5}" type="pres">
      <dgm:prSet presAssocID="{D12BC888-673E-42B1-861A-FC6F41530047}" presName="sibTrans" presStyleLbl="sibTrans2D1" presStyleIdx="2" presStyleCnt="5"/>
      <dgm:spPr/>
      <dgm:t>
        <a:bodyPr/>
        <a:lstStyle/>
        <a:p>
          <a:endParaRPr lang="en-US"/>
        </a:p>
      </dgm:t>
    </dgm:pt>
    <dgm:pt modelId="{AA445F99-E2A9-414F-B7A2-36CF5F6657AF}" type="pres">
      <dgm:prSet presAssocID="{D12BC888-673E-42B1-861A-FC6F41530047}" presName="connectorText" presStyleLbl="sibTrans2D1" presStyleIdx="2" presStyleCnt="5"/>
      <dgm:spPr/>
      <dgm:t>
        <a:bodyPr/>
        <a:lstStyle/>
        <a:p>
          <a:endParaRPr lang="en-US"/>
        </a:p>
      </dgm:t>
    </dgm:pt>
    <dgm:pt modelId="{AC63C727-0EB5-437E-8156-A208BA166B0C}" type="pres">
      <dgm:prSet presAssocID="{58100C5A-115A-4C2D-8C52-B87451F51DE7}" presName="node" presStyleLbl="node1" presStyleIdx="3" presStyleCnt="6" custScaleX="239486">
        <dgm:presLayoutVars>
          <dgm:bulletEnabled val="1"/>
        </dgm:presLayoutVars>
      </dgm:prSet>
      <dgm:spPr/>
      <dgm:t>
        <a:bodyPr/>
        <a:lstStyle/>
        <a:p>
          <a:endParaRPr lang="en-US"/>
        </a:p>
      </dgm:t>
    </dgm:pt>
    <dgm:pt modelId="{2A513BA7-5D4D-49D9-A859-E9D33F6C83F5}" type="pres">
      <dgm:prSet presAssocID="{F7F372F9-6D13-42CE-A829-8BC15D37A213}" presName="sibTrans" presStyleLbl="sibTrans2D1" presStyleIdx="3" presStyleCnt="5"/>
      <dgm:spPr/>
      <dgm:t>
        <a:bodyPr/>
        <a:lstStyle/>
        <a:p>
          <a:endParaRPr lang="en-US"/>
        </a:p>
      </dgm:t>
    </dgm:pt>
    <dgm:pt modelId="{35B87DB8-0A6B-419A-BFDD-14CDA0D856DE}" type="pres">
      <dgm:prSet presAssocID="{F7F372F9-6D13-42CE-A829-8BC15D37A213}" presName="connectorText" presStyleLbl="sibTrans2D1" presStyleIdx="3" presStyleCnt="5"/>
      <dgm:spPr/>
      <dgm:t>
        <a:bodyPr/>
        <a:lstStyle/>
        <a:p>
          <a:endParaRPr lang="en-US"/>
        </a:p>
      </dgm:t>
    </dgm:pt>
    <dgm:pt modelId="{34EA4C15-016A-4B89-867D-23F51B4BA8FA}" type="pres">
      <dgm:prSet presAssocID="{E991CE02-2A60-4C0D-A58B-31C74A3B2953}" presName="node" presStyleLbl="node1" presStyleIdx="4" presStyleCnt="6" custScaleX="239486">
        <dgm:presLayoutVars>
          <dgm:bulletEnabled val="1"/>
        </dgm:presLayoutVars>
      </dgm:prSet>
      <dgm:spPr/>
      <dgm:t>
        <a:bodyPr/>
        <a:lstStyle/>
        <a:p>
          <a:endParaRPr lang="en-US"/>
        </a:p>
      </dgm:t>
    </dgm:pt>
    <dgm:pt modelId="{11D6DD4F-FB29-4958-96C2-CE3ED34299DB}" type="pres">
      <dgm:prSet presAssocID="{975FFF48-A9CA-4BE1-855B-5949814072CB}" presName="sibTrans" presStyleLbl="sibTrans2D1" presStyleIdx="4" presStyleCnt="5"/>
      <dgm:spPr/>
      <dgm:t>
        <a:bodyPr/>
        <a:lstStyle/>
        <a:p>
          <a:endParaRPr lang="en-US"/>
        </a:p>
      </dgm:t>
    </dgm:pt>
    <dgm:pt modelId="{7A35B52F-F349-4701-B623-04A1D153D77B}" type="pres">
      <dgm:prSet presAssocID="{975FFF48-A9CA-4BE1-855B-5949814072CB}" presName="connectorText" presStyleLbl="sibTrans2D1" presStyleIdx="4" presStyleCnt="5"/>
      <dgm:spPr/>
      <dgm:t>
        <a:bodyPr/>
        <a:lstStyle/>
        <a:p>
          <a:endParaRPr lang="en-US"/>
        </a:p>
      </dgm:t>
    </dgm:pt>
    <dgm:pt modelId="{9AD52AB6-AC2A-4158-9019-3D3D0DFA308B}" type="pres">
      <dgm:prSet presAssocID="{03D8E78B-895A-4A36-8B30-418CBFB9B34E}" presName="node" presStyleLbl="node1" presStyleIdx="5" presStyleCnt="6" custScaleX="239486">
        <dgm:presLayoutVars>
          <dgm:bulletEnabled val="1"/>
        </dgm:presLayoutVars>
      </dgm:prSet>
      <dgm:spPr/>
      <dgm:t>
        <a:bodyPr/>
        <a:lstStyle/>
        <a:p>
          <a:endParaRPr lang="en-US"/>
        </a:p>
      </dgm:t>
    </dgm:pt>
  </dgm:ptLst>
  <dgm:cxnLst>
    <dgm:cxn modelId="{665A39EE-DBD0-4B70-8232-8EA8F5BF4E23}" srcId="{16937F66-8A81-4C04-967E-919A1AC14198}" destId="{03D8E78B-895A-4A36-8B30-418CBFB9B34E}" srcOrd="5" destOrd="0" parTransId="{4BCCA0C4-17F5-45D4-8019-AA1CEE177E95}" sibTransId="{2E7D64F0-D637-4E0A-BA78-3CDDC49E0D21}"/>
    <dgm:cxn modelId="{983632A1-64E7-4775-A8B4-B36110BFA9AF}" type="presOf" srcId="{8F9EF7B3-E135-411A-8F4D-BA80933400BE}" destId="{5EAB39CE-2CD9-487A-926F-FD45B38985AC}" srcOrd="1" destOrd="0" presId="urn:microsoft.com/office/officeart/2005/8/layout/process2"/>
    <dgm:cxn modelId="{54AB74D1-FA30-4B1A-80C5-931ACD73C3C3}" srcId="{16937F66-8A81-4C04-967E-919A1AC14198}" destId="{B25233B5-55D1-4A7F-995A-7AF3B460D270}" srcOrd="0" destOrd="0" parTransId="{A9D1BDD1-0B7E-4229-B237-B4AC6B7D8585}" sibTransId="{C7CE2175-F8B2-460A-A6DC-8BBB5F96B28F}"/>
    <dgm:cxn modelId="{A06CF3FE-F501-42D2-A6F6-2CD0949991B9}" type="presOf" srcId="{03D8E78B-895A-4A36-8B30-418CBFB9B34E}" destId="{9AD52AB6-AC2A-4158-9019-3D3D0DFA308B}" srcOrd="0" destOrd="0" presId="urn:microsoft.com/office/officeart/2005/8/layout/process2"/>
    <dgm:cxn modelId="{5784B67E-9A01-4E37-9407-645FA6CD207B}" type="presOf" srcId="{D12BC888-673E-42B1-861A-FC6F41530047}" destId="{AA445F99-E2A9-414F-B7A2-36CF5F6657AF}" srcOrd="1" destOrd="0" presId="urn:microsoft.com/office/officeart/2005/8/layout/process2"/>
    <dgm:cxn modelId="{3A3C05AC-4EC9-495A-84A1-E9E387C0FE3A}" type="presOf" srcId="{C7CE2175-F8B2-460A-A6DC-8BBB5F96B28F}" destId="{6C0CB977-B88D-4E90-9398-8784778C0592}" srcOrd="1" destOrd="0" presId="urn:microsoft.com/office/officeart/2005/8/layout/process2"/>
    <dgm:cxn modelId="{CF29E94A-7E24-4E3A-955E-A4220BE7AA58}" type="presOf" srcId="{8F9EF7B3-E135-411A-8F4D-BA80933400BE}" destId="{C78BFAA8-89EC-441C-B39D-B09B75AE6E43}" srcOrd="0" destOrd="0" presId="urn:microsoft.com/office/officeart/2005/8/layout/process2"/>
    <dgm:cxn modelId="{A5A67E68-EF3E-4DF4-9C98-7C8AF8052447}" type="presOf" srcId="{16937F66-8A81-4C04-967E-919A1AC14198}" destId="{E7BF3D5D-E2A9-48D5-9542-1B7BCB826EE4}" srcOrd="0" destOrd="0" presId="urn:microsoft.com/office/officeart/2005/8/layout/process2"/>
    <dgm:cxn modelId="{39AEC38C-77E9-4674-8CA6-5CF832BB176B}" type="presOf" srcId="{F7F372F9-6D13-42CE-A829-8BC15D37A213}" destId="{2A513BA7-5D4D-49D9-A859-E9D33F6C83F5}" srcOrd="0" destOrd="0" presId="urn:microsoft.com/office/officeart/2005/8/layout/process2"/>
    <dgm:cxn modelId="{B5D5AC16-E68F-480A-B652-23685A28B494}" type="presOf" srcId="{B25233B5-55D1-4A7F-995A-7AF3B460D270}" destId="{BEB086F3-6CBB-487B-8028-088A73A45244}" srcOrd="0" destOrd="0" presId="urn:microsoft.com/office/officeart/2005/8/layout/process2"/>
    <dgm:cxn modelId="{E6F7B3EF-7016-462F-9E39-48B277ED5128}" type="presOf" srcId="{85F391AA-4BE5-4E52-B9B8-E2733B11872D}" destId="{1174A09F-80F8-4F8B-8371-2CC072796E7A}" srcOrd="0" destOrd="0" presId="urn:microsoft.com/office/officeart/2005/8/layout/process2"/>
    <dgm:cxn modelId="{5EF4512F-D5DF-4EE4-A0AB-62ACEB1FCBB4}" type="presOf" srcId="{C7CE2175-F8B2-460A-A6DC-8BBB5F96B28F}" destId="{31C55B71-E707-44C4-9082-88BC14CD5775}" srcOrd="0" destOrd="0" presId="urn:microsoft.com/office/officeart/2005/8/layout/process2"/>
    <dgm:cxn modelId="{47DCC962-EA85-4178-B72D-29C1DD3D1BEC}" type="presOf" srcId="{9E456F92-1ABC-4A62-8E25-97E9B088E224}" destId="{405B837A-8154-4945-8B4E-56D8E53D8B3E}" srcOrd="0" destOrd="0" presId="urn:microsoft.com/office/officeart/2005/8/layout/process2"/>
    <dgm:cxn modelId="{4D840FA7-56BB-4DC0-AEC4-5F230D2BD627}" type="presOf" srcId="{F7F372F9-6D13-42CE-A829-8BC15D37A213}" destId="{35B87DB8-0A6B-419A-BFDD-14CDA0D856DE}" srcOrd="1" destOrd="0" presId="urn:microsoft.com/office/officeart/2005/8/layout/process2"/>
    <dgm:cxn modelId="{F061FBD8-317A-40A1-87A0-A560204A7DED}" srcId="{16937F66-8A81-4C04-967E-919A1AC14198}" destId="{58100C5A-115A-4C2D-8C52-B87451F51DE7}" srcOrd="3" destOrd="0" parTransId="{6C1DA523-62F7-4155-8146-09EE6EDEEBB7}" sibTransId="{F7F372F9-6D13-42CE-A829-8BC15D37A213}"/>
    <dgm:cxn modelId="{5D04EC2E-388D-4F7C-A8EA-011CFB1615B6}" srcId="{16937F66-8A81-4C04-967E-919A1AC14198}" destId="{E991CE02-2A60-4C0D-A58B-31C74A3B2953}" srcOrd="4" destOrd="0" parTransId="{29A09767-E577-4651-950D-C3D1110F42A1}" sibTransId="{975FFF48-A9CA-4BE1-855B-5949814072CB}"/>
    <dgm:cxn modelId="{DDDFB8C3-0523-447F-9D4B-E75C66722B2B}" type="presOf" srcId="{58100C5A-115A-4C2D-8C52-B87451F51DE7}" destId="{AC63C727-0EB5-437E-8156-A208BA166B0C}" srcOrd="0" destOrd="0" presId="urn:microsoft.com/office/officeart/2005/8/layout/process2"/>
    <dgm:cxn modelId="{42A9E69A-6656-460C-A3FC-011996FBCBE5}" type="presOf" srcId="{975FFF48-A9CA-4BE1-855B-5949814072CB}" destId="{7A35B52F-F349-4701-B623-04A1D153D77B}" srcOrd="1" destOrd="0" presId="urn:microsoft.com/office/officeart/2005/8/layout/process2"/>
    <dgm:cxn modelId="{BE6A7D6C-EC26-4882-91C7-3E1D6709074C}" type="presOf" srcId="{975FFF48-A9CA-4BE1-855B-5949814072CB}" destId="{11D6DD4F-FB29-4958-96C2-CE3ED34299DB}" srcOrd="0" destOrd="0" presId="urn:microsoft.com/office/officeart/2005/8/layout/process2"/>
    <dgm:cxn modelId="{5E797190-3E78-4ABA-980F-53F91C183752}" type="presOf" srcId="{D12BC888-673E-42B1-861A-FC6F41530047}" destId="{0DD106C3-2600-48E5-944D-B16E24D052B5}" srcOrd="0" destOrd="0" presId="urn:microsoft.com/office/officeart/2005/8/layout/process2"/>
    <dgm:cxn modelId="{1A5F35A8-C59F-4B59-B12A-7AD2BE5FBF05}" type="presOf" srcId="{E991CE02-2A60-4C0D-A58B-31C74A3B2953}" destId="{34EA4C15-016A-4B89-867D-23F51B4BA8FA}" srcOrd="0" destOrd="0" presId="urn:microsoft.com/office/officeart/2005/8/layout/process2"/>
    <dgm:cxn modelId="{27642D72-535C-4338-8C14-36491C5B5211}" srcId="{16937F66-8A81-4C04-967E-919A1AC14198}" destId="{9E456F92-1ABC-4A62-8E25-97E9B088E224}" srcOrd="2" destOrd="0" parTransId="{45BDBAF0-4A59-4EC3-8B46-B8C9752E9DF5}" sibTransId="{D12BC888-673E-42B1-861A-FC6F41530047}"/>
    <dgm:cxn modelId="{B653940F-EE02-4349-8261-D80D8F4A9521}" srcId="{16937F66-8A81-4C04-967E-919A1AC14198}" destId="{85F391AA-4BE5-4E52-B9B8-E2733B11872D}" srcOrd="1" destOrd="0" parTransId="{6FB7076A-B279-4D92-8662-229B7A6C2187}" sibTransId="{8F9EF7B3-E135-411A-8F4D-BA80933400BE}"/>
    <dgm:cxn modelId="{EAE96727-41DC-4CFF-9363-8B10AFDD6EBE}" type="presParOf" srcId="{E7BF3D5D-E2A9-48D5-9542-1B7BCB826EE4}" destId="{BEB086F3-6CBB-487B-8028-088A73A45244}" srcOrd="0" destOrd="0" presId="urn:microsoft.com/office/officeart/2005/8/layout/process2"/>
    <dgm:cxn modelId="{D6A7AB6C-0D65-4966-A2A2-A5B10DE66FC2}" type="presParOf" srcId="{E7BF3D5D-E2A9-48D5-9542-1B7BCB826EE4}" destId="{31C55B71-E707-44C4-9082-88BC14CD5775}" srcOrd="1" destOrd="0" presId="urn:microsoft.com/office/officeart/2005/8/layout/process2"/>
    <dgm:cxn modelId="{6298C929-C4EF-45A9-B09E-B0EB61DEFC04}" type="presParOf" srcId="{31C55B71-E707-44C4-9082-88BC14CD5775}" destId="{6C0CB977-B88D-4E90-9398-8784778C0592}" srcOrd="0" destOrd="0" presId="urn:microsoft.com/office/officeart/2005/8/layout/process2"/>
    <dgm:cxn modelId="{D67B3E94-4E3E-43CD-8F3F-F8ACB604A852}" type="presParOf" srcId="{E7BF3D5D-E2A9-48D5-9542-1B7BCB826EE4}" destId="{1174A09F-80F8-4F8B-8371-2CC072796E7A}" srcOrd="2" destOrd="0" presId="urn:microsoft.com/office/officeart/2005/8/layout/process2"/>
    <dgm:cxn modelId="{18FC26D6-5C7F-4BB7-A3CE-68A57EDA7C88}" type="presParOf" srcId="{E7BF3D5D-E2A9-48D5-9542-1B7BCB826EE4}" destId="{C78BFAA8-89EC-441C-B39D-B09B75AE6E43}" srcOrd="3" destOrd="0" presId="urn:microsoft.com/office/officeart/2005/8/layout/process2"/>
    <dgm:cxn modelId="{0BCD6F7C-E7C0-4C80-B044-C6D615DA7740}" type="presParOf" srcId="{C78BFAA8-89EC-441C-B39D-B09B75AE6E43}" destId="{5EAB39CE-2CD9-487A-926F-FD45B38985AC}" srcOrd="0" destOrd="0" presId="urn:microsoft.com/office/officeart/2005/8/layout/process2"/>
    <dgm:cxn modelId="{9FCDEED0-84C8-4C9C-9FFB-C9C59477D2EF}" type="presParOf" srcId="{E7BF3D5D-E2A9-48D5-9542-1B7BCB826EE4}" destId="{405B837A-8154-4945-8B4E-56D8E53D8B3E}" srcOrd="4" destOrd="0" presId="urn:microsoft.com/office/officeart/2005/8/layout/process2"/>
    <dgm:cxn modelId="{D2107FE3-C790-4BDC-BBD1-CC141657D2C9}" type="presParOf" srcId="{E7BF3D5D-E2A9-48D5-9542-1B7BCB826EE4}" destId="{0DD106C3-2600-48E5-944D-B16E24D052B5}" srcOrd="5" destOrd="0" presId="urn:microsoft.com/office/officeart/2005/8/layout/process2"/>
    <dgm:cxn modelId="{04EE0FC5-9345-4ABB-9779-170755841D3A}" type="presParOf" srcId="{0DD106C3-2600-48E5-944D-B16E24D052B5}" destId="{AA445F99-E2A9-414F-B7A2-36CF5F6657AF}" srcOrd="0" destOrd="0" presId="urn:microsoft.com/office/officeart/2005/8/layout/process2"/>
    <dgm:cxn modelId="{911D132C-E504-4057-95CB-A64CDCFD2E33}" type="presParOf" srcId="{E7BF3D5D-E2A9-48D5-9542-1B7BCB826EE4}" destId="{AC63C727-0EB5-437E-8156-A208BA166B0C}" srcOrd="6" destOrd="0" presId="urn:microsoft.com/office/officeart/2005/8/layout/process2"/>
    <dgm:cxn modelId="{814A3923-0482-44DC-B4ED-EADB1BD62DC4}" type="presParOf" srcId="{E7BF3D5D-E2A9-48D5-9542-1B7BCB826EE4}" destId="{2A513BA7-5D4D-49D9-A859-E9D33F6C83F5}" srcOrd="7" destOrd="0" presId="urn:microsoft.com/office/officeart/2005/8/layout/process2"/>
    <dgm:cxn modelId="{C0637B28-44F3-49BE-B194-0269B1C818F6}" type="presParOf" srcId="{2A513BA7-5D4D-49D9-A859-E9D33F6C83F5}" destId="{35B87DB8-0A6B-419A-BFDD-14CDA0D856DE}" srcOrd="0" destOrd="0" presId="urn:microsoft.com/office/officeart/2005/8/layout/process2"/>
    <dgm:cxn modelId="{91617639-1F83-4858-924B-1AA77A57C465}" type="presParOf" srcId="{E7BF3D5D-E2A9-48D5-9542-1B7BCB826EE4}" destId="{34EA4C15-016A-4B89-867D-23F51B4BA8FA}" srcOrd="8" destOrd="0" presId="urn:microsoft.com/office/officeart/2005/8/layout/process2"/>
    <dgm:cxn modelId="{15678D99-14E2-43E0-A51E-F0E42D6B2EA4}" type="presParOf" srcId="{E7BF3D5D-E2A9-48D5-9542-1B7BCB826EE4}" destId="{11D6DD4F-FB29-4958-96C2-CE3ED34299DB}" srcOrd="9" destOrd="0" presId="urn:microsoft.com/office/officeart/2005/8/layout/process2"/>
    <dgm:cxn modelId="{ED3F109C-212B-42AC-94AC-D3201B48F39B}" type="presParOf" srcId="{11D6DD4F-FB29-4958-96C2-CE3ED34299DB}" destId="{7A35B52F-F349-4701-B623-04A1D153D77B}" srcOrd="0" destOrd="0" presId="urn:microsoft.com/office/officeart/2005/8/layout/process2"/>
    <dgm:cxn modelId="{45009817-533C-4130-95B5-5EBFB02C1D5B}" type="presParOf" srcId="{E7BF3D5D-E2A9-48D5-9542-1B7BCB826EE4}" destId="{9AD52AB6-AC2A-4158-9019-3D3D0DFA308B}" srcOrd="10" destOrd="0" presId="urn:microsoft.com/office/officeart/2005/8/layout/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652B1AA-D1C7-44BA-9569-E32961B8C7AC}" type="datetimeFigureOut">
              <a:rPr lang="en-US" smtClean="0"/>
              <a:pPr/>
              <a:t>5/28/2022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7D666E3-FC6A-4BB7-B231-495C4C638DD1}"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2FC725-6E35-4222-883C-B7F4B03DDCF6}" type="datetimeFigureOut">
              <a:rPr lang="en-US" smtClean="0"/>
              <a:pPr/>
              <a:t>5/28/2022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9C48D5-A8F2-4A95-9141-1DDDCE474BD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16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30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54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67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68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C48D5-A8F2-4A95-9141-1DDDCE474BD9}" type="slidenum">
              <a:rPr lang="en-US" smtClean="0"/>
              <a:pPr/>
              <a:t>82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AF3AE90-7735-48DA-90EE-4A4B9E6AEA8B}" type="datetimeFigureOut">
              <a:rPr lang="en-US"/>
              <a:pPr>
                <a:defRPr/>
              </a:pPr>
              <a:t>5/28/2022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B36B64-02DB-417C-B535-D9182904EB0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4918D12-F38F-4AE2-9194-37E81FFBF190}" type="datetimeFigureOut">
              <a:rPr lang="en-US"/>
              <a:pPr>
                <a:defRPr/>
              </a:pPr>
              <a:t>5/28/2022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346E255-3189-4884-BE68-394A5C536A6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BE25397-6627-41FC-A12D-541700511D2E}" type="datetimeFigureOut">
              <a:rPr lang="en-US"/>
              <a:pPr>
                <a:defRPr/>
              </a:pPr>
              <a:t>5/28/2022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4BC990-F696-480C-8EC2-FCB2F99A669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B2CF1BC0-254B-485D-A5E3-12F2BD846E0F}" type="datetimeFigureOut">
              <a:rPr lang="en-US"/>
              <a:pPr>
                <a:defRPr/>
              </a:pPr>
              <a:t>5/28/2022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906096D-76CE-4011-9B68-2E9FA18BBF0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93DFFA4-CEFF-4172-960B-6C042ADAA4AB}" type="datetimeFigureOut">
              <a:rPr lang="en-US"/>
              <a:pPr>
                <a:defRPr/>
              </a:pPr>
              <a:t>5/28/2022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B6647F4-F6E7-404B-8D43-6B5F43A96A6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DAA51A1-6BAD-4C4B-9371-4750B768ADEE}" type="datetimeFigureOut">
              <a:rPr lang="en-US"/>
              <a:pPr>
                <a:defRPr/>
              </a:pPr>
              <a:t>5/28/2022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3E74036-BD1A-4415-8715-4CF18228AC2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76E3425-DFDD-4A71-9F93-D0EC1CF292F0}" type="datetimeFigureOut">
              <a:rPr lang="en-US"/>
              <a:pPr>
                <a:defRPr/>
              </a:pPr>
              <a:t>5/28/2022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965DD60-957B-4E19-A94D-3740CCEE159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68F1904-EA26-416B-9E6D-629E2D4479C6}" type="datetimeFigureOut">
              <a:rPr lang="en-US"/>
              <a:pPr>
                <a:defRPr/>
              </a:pPr>
              <a:t>5/28/2022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41464E4-B03C-4F7A-AD87-7E33295F406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CAB5CF0-95AC-4E4E-B331-B60A50FF43F9}" type="datetimeFigureOut">
              <a:rPr lang="en-US"/>
              <a:pPr>
                <a:defRPr/>
              </a:pPr>
              <a:t>5/28/2022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8362EB6-DE27-4213-805B-32EB9EFC8FC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8D7594B-7563-4DDE-B8CA-D77A7E4796E7}" type="datetimeFigureOut">
              <a:rPr lang="en-US"/>
              <a:pPr>
                <a:defRPr/>
              </a:pPr>
              <a:t>5/28/2022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3126508-1304-43BB-A963-C3688DBB317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986ABA9-E2A3-44E0-8CDC-72002DEAD569}" type="datetimeFigureOut">
              <a:rPr lang="en-US"/>
              <a:pPr>
                <a:defRPr/>
              </a:pPr>
              <a:t>5/28/2022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E959B3F-CEDD-4C7A-97CC-1863851C219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AB8D4F-F8EE-4A53-82B2-062B5915BD18}" type="datetimeFigureOut">
              <a:rPr lang="en-US"/>
              <a:pPr>
                <a:defRPr/>
              </a:pPr>
              <a:t>5/28/2022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40B2D75-F961-44D0-9C39-62ACB6CF7DE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7.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Enterprise Patterns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648199"/>
          </a:xfrm>
        </p:spPr>
        <p:txBody>
          <a:bodyPr/>
          <a:lstStyle/>
          <a:p>
            <a:pPr marL="457200" indent="-457200">
              <a:buFont typeface="Wingdings" pitchFamily="2" charset="2"/>
              <a:buChar char="Ø"/>
            </a:pPr>
            <a:r>
              <a:rPr lang="en-US" sz="1800" dirty="0" smtClean="0"/>
              <a:t>To present </a:t>
            </a:r>
            <a:r>
              <a:rPr lang="en-US" sz="1800" i="1" dirty="0" smtClean="0">
                <a:solidFill>
                  <a:srgbClr val="C00000"/>
                </a:solidFill>
              </a:rPr>
              <a:t>basic concepts</a:t>
            </a:r>
            <a:r>
              <a:rPr lang="en-US" sz="1800" dirty="0" smtClean="0"/>
              <a:t> of an enterprise system.</a:t>
            </a:r>
          </a:p>
          <a:p>
            <a:pPr marL="457200" indent="-457200">
              <a:buFont typeface="Wingdings" pitchFamily="2" charset="2"/>
              <a:buChar char="Ø"/>
            </a:pPr>
            <a:r>
              <a:rPr lang="en-US" sz="1800" dirty="0" smtClean="0"/>
              <a:t>To design </a:t>
            </a:r>
            <a:r>
              <a:rPr lang="en-US" sz="1800" i="1" dirty="0" smtClean="0">
                <a:solidFill>
                  <a:srgbClr val="C00000"/>
                </a:solidFill>
              </a:rPr>
              <a:t>business logic</a:t>
            </a:r>
            <a:r>
              <a:rPr lang="en-US" sz="1800" dirty="0" smtClean="0"/>
              <a:t> of an enterprise system using Transaction Script, Table Module, Transfer Object, </a:t>
            </a:r>
            <a:r>
              <a:rPr lang="en-US" sz="1800" dirty="0" err="1" smtClean="0"/>
              <a:t>RecordSet</a:t>
            </a:r>
            <a:r>
              <a:rPr lang="en-US" sz="1800" dirty="0" smtClean="0"/>
              <a:t>, Business Object, Domain Model and Active Record, Simple Policy and Property Container pattern.</a:t>
            </a:r>
          </a:p>
          <a:p>
            <a:pPr marL="457200" indent="-457200">
              <a:buFont typeface="Wingdings" pitchFamily="2" charset="2"/>
              <a:buChar char="Ø"/>
            </a:pPr>
            <a:r>
              <a:rPr lang="en-US" sz="1800" dirty="0" smtClean="0"/>
              <a:t>To design </a:t>
            </a:r>
            <a:r>
              <a:rPr lang="en-US" sz="1800" i="1" dirty="0" smtClean="0">
                <a:solidFill>
                  <a:srgbClr val="C00000"/>
                </a:solidFill>
              </a:rPr>
              <a:t>data access logic</a:t>
            </a:r>
            <a:r>
              <a:rPr lang="en-US" sz="1800" dirty="0" smtClean="0"/>
              <a:t> of an enterprise system using Data Access Object, Table Data Gateway, Row Data Gateway, Data </a:t>
            </a:r>
            <a:r>
              <a:rPr lang="en-US" sz="1800" dirty="0" err="1" smtClean="0"/>
              <a:t>Mapper</a:t>
            </a:r>
            <a:r>
              <a:rPr lang="en-US" sz="1800" dirty="0" smtClean="0"/>
              <a:t>, Registry and Unit of Work pattern.</a:t>
            </a:r>
          </a:p>
          <a:p>
            <a:pPr marL="457200" indent="-457200">
              <a:buFont typeface="Wingdings" pitchFamily="2" charset="2"/>
              <a:buChar char="Ø"/>
            </a:pPr>
            <a:r>
              <a:rPr lang="en-US" sz="1800" dirty="0" smtClean="0"/>
              <a:t>To design </a:t>
            </a:r>
            <a:r>
              <a:rPr lang="en-US" sz="1800" i="1" dirty="0" smtClean="0">
                <a:solidFill>
                  <a:srgbClr val="C00000"/>
                </a:solidFill>
              </a:rPr>
              <a:t>presentation</a:t>
            </a:r>
            <a:r>
              <a:rPr lang="en-US" sz="1800" dirty="0" smtClean="0"/>
              <a:t> and </a:t>
            </a:r>
            <a:r>
              <a:rPr lang="en-US" sz="1800" i="1" dirty="0" smtClean="0">
                <a:solidFill>
                  <a:srgbClr val="C00000"/>
                </a:solidFill>
              </a:rPr>
              <a:t>controller logic</a:t>
            </a:r>
            <a:r>
              <a:rPr lang="en-US" sz="1800" dirty="0" smtClean="0"/>
              <a:t> of an enterprise system using Model View Controller, Page Controller, Front Controller, Template View, Transform View and Composite View pattern.</a:t>
            </a:r>
            <a:endParaRPr lang="en-US" sz="18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791200" cy="4343400"/>
          </a:xfrm>
        </p:spPr>
        <p:txBody>
          <a:bodyPr>
            <a:noAutofit/>
          </a:bodyPr>
          <a:lstStyle/>
          <a:p>
            <a:pPr marL="457200" indent="-457200">
              <a:buFont typeface="+mj-lt"/>
              <a:buAutoNum type="arabicPeriod"/>
            </a:pPr>
            <a:r>
              <a:rPr lang="en-US" sz="2200" dirty="0" err="1" smtClean="0"/>
              <a:t>Gautam</a:t>
            </a:r>
            <a:r>
              <a:rPr lang="en-US" sz="2200" dirty="0" smtClean="0"/>
              <a:t> </a:t>
            </a:r>
            <a:r>
              <a:rPr lang="en-US" sz="2200" dirty="0" err="1" smtClean="0"/>
              <a:t>Shroff</a:t>
            </a:r>
            <a:r>
              <a:rPr lang="en-US" sz="2200" dirty="0" smtClean="0"/>
              <a:t> (2010). Enterprise Cloud Computing: Technology Architecture Applications. Cambridge University Press.</a:t>
            </a:r>
          </a:p>
          <a:p>
            <a:pPr marL="457200" indent="-457200">
              <a:buFont typeface="+mj-lt"/>
              <a:buAutoNum type="arabicPeriod"/>
            </a:pPr>
            <a:r>
              <a:rPr lang="en-US" sz="2200" dirty="0" smtClean="0"/>
              <a:t>John </a:t>
            </a:r>
            <a:r>
              <a:rPr lang="en-US" sz="2200" dirty="0" err="1" smtClean="0"/>
              <a:t>Kanalakis</a:t>
            </a:r>
            <a:r>
              <a:rPr lang="en-US" sz="2200" dirty="0" smtClean="0"/>
              <a:t> (2003). Developing .NET Enterprise Applications. </a:t>
            </a:r>
            <a:r>
              <a:rPr lang="en-US" sz="2200" dirty="0" err="1" smtClean="0"/>
              <a:t>Apress</a:t>
            </a:r>
            <a:r>
              <a:rPr lang="en-US" sz="2200" dirty="0" smtClean="0"/>
              <a:t>.</a:t>
            </a:r>
          </a:p>
          <a:p>
            <a:pPr marL="457200" indent="-457200">
              <a:buFont typeface="+mj-lt"/>
              <a:buAutoNum type="arabicPeriod"/>
            </a:pPr>
            <a:r>
              <a:rPr lang="en-US" sz="2200" dirty="0" smtClean="0"/>
              <a:t>Martin Fowler et al. (2002). Patterns Of Enterprise Application Architecture.</a:t>
            </a:r>
          </a:p>
          <a:p>
            <a:pPr marL="457200" indent="-457200">
              <a:buFont typeface="+mj-lt"/>
              <a:buAutoNum type="arabicPeriod"/>
            </a:pPr>
            <a:r>
              <a:rPr lang="en-US" sz="2200" dirty="0" smtClean="0"/>
              <a:t>Deepak </a:t>
            </a:r>
            <a:r>
              <a:rPr lang="en-US" sz="2200" dirty="0" err="1" smtClean="0"/>
              <a:t>Alur</a:t>
            </a:r>
            <a:r>
              <a:rPr lang="en-US" sz="2200" dirty="0" smtClean="0"/>
              <a:t> et al. (2003). Core J2EE Patterns Best Practices And Design Strategies.</a:t>
            </a:r>
          </a:p>
          <a:p>
            <a:pPr marL="457200" indent="-457200">
              <a:buFont typeface="+mj-lt"/>
              <a:buAutoNum type="arabicPeriod"/>
            </a:pPr>
            <a:r>
              <a:rPr lang="en-US" sz="2200" dirty="0" smtClean="0"/>
              <a:t>James Carey et al. (2000). </a:t>
            </a:r>
            <a:r>
              <a:rPr lang="en-US" sz="2200" dirty="0" err="1" smtClean="0"/>
              <a:t>SanFrancisco</a:t>
            </a:r>
            <a:r>
              <a:rPr lang="en-US" sz="2200" dirty="0" smtClean="0"/>
              <a:t>(TM) Design Patterns: Blueprints for Business Software. Addison-Wesley Professional.</a:t>
            </a:r>
            <a:endParaRPr lang="en-US" sz="22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Anatomy of an Corporation [1]</a:t>
            </a:r>
            <a:endParaRPr lang="en-US" dirty="0"/>
          </a:p>
        </p:txBody>
      </p:sp>
      <p:sp>
        <p:nvSpPr>
          <p:cNvPr id="3" name="Content Placeholder 2"/>
          <p:cNvSpPr>
            <a:spLocks noGrp="1"/>
          </p:cNvSpPr>
          <p:nvPr>
            <p:ph idx="1"/>
          </p:nvPr>
        </p:nvSpPr>
        <p:spPr>
          <a:xfrm>
            <a:off x="457200" y="1351128"/>
            <a:ext cx="8229600" cy="4821072"/>
          </a:xfrm>
        </p:spPr>
        <p:txBody>
          <a:bodyPr/>
          <a:lstStyle/>
          <a:p>
            <a:r>
              <a:rPr lang="en-US" sz="2400" i="1" dirty="0" smtClean="0">
                <a:solidFill>
                  <a:srgbClr val="C00000"/>
                </a:solidFill>
              </a:rPr>
              <a:t>What</a:t>
            </a:r>
            <a:r>
              <a:rPr lang="en-US" sz="2400" dirty="0" smtClean="0"/>
              <a:t> does a </a:t>
            </a:r>
            <a:r>
              <a:rPr lang="en-US" sz="2400" u="sng" dirty="0" smtClean="0"/>
              <a:t>manufacturing</a:t>
            </a:r>
            <a:r>
              <a:rPr lang="en-US" sz="2400" dirty="0" smtClean="0"/>
              <a:t> corporation do?</a:t>
            </a:r>
          </a:p>
          <a:p>
            <a:pPr lvl="1"/>
            <a:r>
              <a:rPr lang="en-US" sz="2000" dirty="0" smtClean="0"/>
              <a:t>It plans what products to build, when, and in what quantities.</a:t>
            </a:r>
          </a:p>
          <a:p>
            <a:pPr lvl="1"/>
            <a:r>
              <a:rPr lang="en-US" sz="2000" dirty="0" smtClean="0"/>
              <a:t>It then executes sales and marketing of its products</a:t>
            </a:r>
          </a:p>
          <a:p>
            <a:pPr lvl="1"/>
            <a:r>
              <a:rPr lang="en-US" sz="2000" dirty="0" smtClean="0"/>
              <a:t>It coordinates manufacturing across plants and suppliers.</a:t>
            </a:r>
          </a:p>
          <a:p>
            <a:pPr lvl="1"/>
            <a:r>
              <a:rPr lang="en-US" sz="2000" dirty="0" smtClean="0"/>
              <a:t>It distributes the product to customers.</a:t>
            </a:r>
          </a:p>
          <a:p>
            <a:pPr lvl="1"/>
            <a:r>
              <a:rPr lang="en-US" sz="2000" dirty="0" smtClean="0"/>
              <a:t>It supports them after they have bought the product.</a:t>
            </a:r>
          </a:p>
          <a:p>
            <a:pPr lvl="1"/>
            <a:endParaRPr lang="en-US" sz="2000" dirty="0" smtClean="0"/>
          </a:p>
          <a:p>
            <a:r>
              <a:rPr lang="en-US" sz="2400" i="1" dirty="0" smtClean="0">
                <a:solidFill>
                  <a:srgbClr val="C00000"/>
                </a:solidFill>
              </a:rPr>
              <a:t>Enterprise applications</a:t>
            </a:r>
            <a:r>
              <a:rPr lang="en-US" sz="2400" dirty="0" smtClean="0"/>
              <a:t> need to keep track of </a:t>
            </a:r>
            <a:r>
              <a:rPr lang="en-US" sz="2400" u="sng" dirty="0" smtClean="0"/>
              <a:t>information</a:t>
            </a:r>
            <a:r>
              <a:rPr lang="en-US" sz="2400" dirty="0" smtClean="0"/>
              <a:t> related to operations of the enterprise.</a:t>
            </a:r>
          </a:p>
          <a:p>
            <a:endParaRPr lang="en-US" sz="2400" dirty="0" smtClean="0"/>
          </a:p>
          <a:p>
            <a:r>
              <a:rPr lang="en-US" sz="2400" i="1" dirty="0" smtClean="0">
                <a:solidFill>
                  <a:srgbClr val="C00000"/>
                </a:solidFill>
              </a:rPr>
              <a:t>The core processes</a:t>
            </a:r>
            <a:r>
              <a:rPr lang="en-US" sz="2400" dirty="0" smtClean="0"/>
              <a:t> that take place in the enterprise are then managed by </a:t>
            </a:r>
            <a:r>
              <a:rPr lang="en-US" sz="2400" u="sng" dirty="0" smtClean="0"/>
              <a:t>creating</a:t>
            </a:r>
            <a:r>
              <a:rPr lang="en-US" sz="2400" dirty="0" smtClean="0"/>
              <a:t> and </a:t>
            </a:r>
            <a:r>
              <a:rPr lang="en-US" sz="2400" u="sng" dirty="0" smtClean="0"/>
              <a:t>manipulating</a:t>
            </a:r>
            <a:r>
              <a:rPr lang="en-US" sz="2400" dirty="0" smtClean="0"/>
              <a:t> this information.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Application [2]</a:t>
            </a:r>
            <a:endParaRPr lang="en-US" dirty="0"/>
          </a:p>
        </p:txBody>
      </p:sp>
      <p:pic>
        <p:nvPicPr>
          <p:cNvPr id="8" name="Picture 2"/>
          <p:cNvPicPr>
            <a:picLocks noChangeAspect="1" noChangeArrowheads="1"/>
          </p:cNvPicPr>
          <p:nvPr/>
        </p:nvPicPr>
        <p:blipFill>
          <a:blip r:embed="rId2" cstate="print"/>
          <a:srcRect/>
          <a:stretch>
            <a:fillRect/>
          </a:stretch>
        </p:blipFill>
        <p:spPr bwMode="auto">
          <a:xfrm>
            <a:off x="3076575" y="1676400"/>
            <a:ext cx="5915025" cy="4525963"/>
          </a:xfrm>
          <a:prstGeom prst="rect">
            <a:avLst/>
          </a:prstGeom>
          <a:noFill/>
          <a:ln w="9525">
            <a:noFill/>
            <a:miter lim="800000"/>
            <a:headEnd/>
            <a:tailEnd/>
          </a:ln>
        </p:spPr>
      </p:pic>
      <p:sp>
        <p:nvSpPr>
          <p:cNvPr id="3" name="Content Placeholder 2"/>
          <p:cNvSpPr>
            <a:spLocks noGrp="1"/>
          </p:cNvSpPr>
          <p:nvPr>
            <p:ph idx="1"/>
          </p:nvPr>
        </p:nvSpPr>
        <p:spPr>
          <a:xfrm>
            <a:off x="152400" y="1447800"/>
            <a:ext cx="3048000" cy="5029200"/>
          </a:xfrm>
        </p:spPr>
        <p:txBody>
          <a:bodyPr/>
          <a:lstStyle/>
          <a:p>
            <a:r>
              <a:rPr lang="en-US" sz="2000" dirty="0" smtClean="0"/>
              <a:t>An </a:t>
            </a:r>
            <a:r>
              <a:rPr lang="en-US" sz="2000" i="1" dirty="0" smtClean="0">
                <a:solidFill>
                  <a:srgbClr val="C00000"/>
                </a:solidFill>
              </a:rPr>
              <a:t>enterprise</a:t>
            </a:r>
            <a:r>
              <a:rPr lang="en-US" sz="2000" dirty="0" smtClean="0"/>
              <a:t> represents a </a:t>
            </a:r>
            <a:r>
              <a:rPr lang="en-US" sz="2000" u="sng" dirty="0" smtClean="0"/>
              <a:t>corporate entity</a:t>
            </a:r>
            <a:r>
              <a:rPr lang="en-US" sz="2000" dirty="0" smtClean="0"/>
              <a:t> with several interacting departments, each managing different types of </a:t>
            </a:r>
            <a:r>
              <a:rPr lang="en-US" sz="2000" u="sng" dirty="0" smtClean="0"/>
              <a:t>data</a:t>
            </a:r>
            <a:r>
              <a:rPr lang="en-US" sz="2000" dirty="0" smtClean="0"/>
              <a:t> and performing different </a:t>
            </a:r>
            <a:r>
              <a:rPr lang="en-US" sz="2000" u="sng" dirty="0" smtClean="0"/>
              <a:t>functions</a:t>
            </a:r>
            <a:r>
              <a:rPr lang="en-US" sz="2000" dirty="0" smtClean="0"/>
              <a:t>.</a:t>
            </a:r>
          </a:p>
          <a:p>
            <a:r>
              <a:rPr lang="en-US" sz="2000" dirty="0" smtClean="0"/>
              <a:t>For an </a:t>
            </a:r>
            <a:r>
              <a:rPr lang="en-US" sz="2000" i="1" dirty="0" smtClean="0">
                <a:solidFill>
                  <a:srgbClr val="C00000"/>
                </a:solidFill>
              </a:rPr>
              <a:t>enterprise application</a:t>
            </a:r>
            <a:r>
              <a:rPr lang="en-US" sz="2000" dirty="0" smtClean="0"/>
              <a:t> to support different departments, it needs to manage two important company assets: </a:t>
            </a:r>
            <a:r>
              <a:rPr lang="en-US" sz="2000" u="sng" dirty="0" smtClean="0"/>
              <a:t>business data</a:t>
            </a:r>
            <a:r>
              <a:rPr lang="en-US" sz="2000" dirty="0" smtClean="0"/>
              <a:t> and </a:t>
            </a:r>
            <a:r>
              <a:rPr lang="en-US" sz="2000" u="sng" dirty="0" smtClean="0"/>
              <a:t>business processes</a:t>
            </a:r>
            <a:r>
              <a:rPr lang="en-US" sz="2000" dirty="0" smtClean="0"/>
              <a: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Enterprise Data [1]</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781175" y="1257300"/>
            <a:ext cx="5581650" cy="5448300"/>
          </a:xfrm>
          <a:prstGeom prst="rect">
            <a:avLst/>
          </a:prstGeom>
          <a:noFill/>
          <a:ln w="9525">
            <a:noFill/>
            <a:miter lim="800000"/>
            <a:headEnd/>
            <a:tailEnd/>
          </a:ln>
        </p:spPr>
      </p:pic>
      <p:sp>
        <p:nvSpPr>
          <p:cNvPr id="5" name="Rectangle 4"/>
          <p:cNvSpPr/>
          <p:nvPr/>
        </p:nvSpPr>
        <p:spPr>
          <a:xfrm>
            <a:off x="228600" y="4724400"/>
            <a:ext cx="2743200" cy="1785104"/>
          </a:xfrm>
          <a:prstGeom prst="rect">
            <a:avLst/>
          </a:prstGeom>
        </p:spPr>
        <p:txBody>
          <a:bodyPr wrap="square">
            <a:spAutoFit/>
          </a:bodyPr>
          <a:lstStyle/>
          <a:p>
            <a:r>
              <a:rPr lang="en-US" sz="2200" i="1" dirty="0" smtClean="0">
                <a:solidFill>
                  <a:srgbClr val="C00000"/>
                </a:solidFill>
                <a:latin typeface="+mj-lt"/>
              </a:rPr>
              <a:t>ERP</a:t>
            </a:r>
            <a:r>
              <a:rPr lang="en-US" sz="2200" dirty="0" smtClean="0">
                <a:latin typeface="+mj-lt"/>
              </a:rPr>
              <a:t> – enterprise resource planning</a:t>
            </a:r>
          </a:p>
          <a:p>
            <a:endParaRPr lang="en-US" sz="2200" dirty="0" smtClean="0">
              <a:latin typeface="+mj-lt"/>
            </a:endParaRPr>
          </a:p>
          <a:p>
            <a:r>
              <a:rPr lang="en-US" sz="2200" i="1" dirty="0" smtClean="0">
                <a:solidFill>
                  <a:srgbClr val="C00000"/>
                </a:solidFill>
                <a:latin typeface="+mj-lt"/>
              </a:rPr>
              <a:t>MES</a:t>
            </a:r>
            <a:r>
              <a:rPr lang="en-US" sz="2200" dirty="0" smtClean="0">
                <a:latin typeface="+mj-lt"/>
              </a:rPr>
              <a:t> – manufacturing execution systems</a:t>
            </a:r>
          </a:p>
        </p:txBody>
      </p:sp>
      <p:sp>
        <p:nvSpPr>
          <p:cNvPr id="6" name="Rectangle 5"/>
          <p:cNvSpPr/>
          <p:nvPr/>
        </p:nvSpPr>
        <p:spPr>
          <a:xfrm>
            <a:off x="228600" y="1447800"/>
            <a:ext cx="1828800" cy="1107996"/>
          </a:xfrm>
          <a:prstGeom prst="rect">
            <a:avLst/>
          </a:prstGeom>
        </p:spPr>
        <p:txBody>
          <a:bodyPr wrap="square">
            <a:spAutoFit/>
          </a:bodyPr>
          <a:lstStyle/>
          <a:p>
            <a:r>
              <a:rPr lang="en-US" sz="2200" i="1" dirty="0" smtClean="0">
                <a:solidFill>
                  <a:srgbClr val="C00000"/>
                </a:solidFill>
                <a:latin typeface="+mj-lt"/>
              </a:rPr>
              <a:t>SCM</a:t>
            </a:r>
            <a:r>
              <a:rPr lang="en-US" sz="2200" dirty="0" smtClean="0">
                <a:latin typeface="+mj-lt"/>
              </a:rPr>
              <a:t> – supply chain management</a:t>
            </a:r>
          </a:p>
        </p:txBody>
      </p:sp>
      <p:sp>
        <p:nvSpPr>
          <p:cNvPr id="7" name="Rectangle 6"/>
          <p:cNvSpPr/>
          <p:nvPr/>
        </p:nvSpPr>
        <p:spPr>
          <a:xfrm>
            <a:off x="7239000" y="1295400"/>
            <a:ext cx="1752600" cy="1446550"/>
          </a:xfrm>
          <a:prstGeom prst="rect">
            <a:avLst/>
          </a:prstGeom>
        </p:spPr>
        <p:txBody>
          <a:bodyPr wrap="square">
            <a:spAutoFit/>
          </a:bodyPr>
          <a:lstStyle/>
          <a:p>
            <a:r>
              <a:rPr lang="en-US" sz="2200" i="1" dirty="0" smtClean="0">
                <a:solidFill>
                  <a:srgbClr val="C00000"/>
                </a:solidFill>
                <a:latin typeface="+mj-lt"/>
              </a:rPr>
              <a:t>CRM</a:t>
            </a:r>
            <a:r>
              <a:rPr lang="en-US" sz="2200" dirty="0" smtClean="0">
                <a:latin typeface="+mj-lt"/>
              </a:rPr>
              <a:t> – customer relationship management</a:t>
            </a:r>
            <a:endParaRPr lang="en-US" sz="22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Data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Business data</a:t>
            </a:r>
            <a:r>
              <a:rPr lang="en-US" sz="2400" dirty="0" smtClean="0"/>
              <a:t> is any data that helps a business </a:t>
            </a:r>
            <a:r>
              <a:rPr lang="en-US" sz="2400" u="sng" dirty="0" smtClean="0"/>
              <a:t>operate more effectively</a:t>
            </a:r>
            <a:r>
              <a:rPr lang="en-US" sz="2400" dirty="0" smtClean="0"/>
              <a:t>. </a:t>
            </a:r>
          </a:p>
          <a:p>
            <a:r>
              <a:rPr lang="en-US" sz="2400" dirty="0" smtClean="0"/>
              <a:t>Business data needs to be </a:t>
            </a:r>
            <a:r>
              <a:rPr lang="en-US" sz="2400" u="sng" dirty="0" smtClean="0"/>
              <a:t>reliably accessible</a:t>
            </a:r>
            <a:r>
              <a:rPr lang="en-US" sz="2400" dirty="0" smtClean="0"/>
              <a:t>, </a:t>
            </a:r>
            <a:r>
              <a:rPr lang="en-US" sz="2400" u="sng" dirty="0" smtClean="0"/>
              <a:t>scalable</a:t>
            </a:r>
            <a:r>
              <a:rPr lang="en-US" sz="2400" dirty="0" smtClean="0"/>
              <a:t>, and </a:t>
            </a:r>
            <a:r>
              <a:rPr lang="en-US" sz="2400" u="sng" dirty="0" smtClean="0"/>
              <a:t>secure</a:t>
            </a:r>
            <a:r>
              <a:rPr lang="en-US" sz="2400" dirty="0" smtClean="0"/>
              <a:t>.</a:t>
            </a:r>
          </a:p>
          <a:p>
            <a:pPr lvl="1"/>
            <a:r>
              <a:rPr lang="en-US" sz="2200" i="1" dirty="0" smtClean="0">
                <a:solidFill>
                  <a:srgbClr val="C00000"/>
                </a:solidFill>
              </a:rPr>
              <a:t>Accessibility</a:t>
            </a:r>
            <a:r>
              <a:rPr lang="en-US" sz="2200" dirty="0" smtClean="0"/>
              <a:t> – Multiple users operating on a variety of platforms and devices interact with the business data.</a:t>
            </a:r>
          </a:p>
          <a:p>
            <a:pPr lvl="1"/>
            <a:r>
              <a:rPr lang="en-US" sz="2200" i="1" dirty="0" smtClean="0">
                <a:solidFill>
                  <a:srgbClr val="C00000"/>
                </a:solidFill>
              </a:rPr>
              <a:t>Scalability</a:t>
            </a:r>
            <a:r>
              <a:rPr lang="en-US" sz="2200" dirty="0" smtClean="0"/>
              <a:t> –  Increases the number of system resources.</a:t>
            </a:r>
          </a:p>
          <a:p>
            <a:pPr lvl="1"/>
            <a:r>
              <a:rPr lang="en-US" sz="2200" i="1" dirty="0" smtClean="0">
                <a:solidFill>
                  <a:srgbClr val="C00000"/>
                </a:solidFill>
              </a:rPr>
              <a:t>Secure</a:t>
            </a:r>
            <a:r>
              <a:rPr lang="en-US" sz="2200" dirty="0" smtClean="0"/>
              <a:t> - Offers data access to specific users.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Process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business process</a:t>
            </a:r>
            <a:r>
              <a:rPr lang="en-US" sz="2400" dirty="0" smtClean="0"/>
              <a:t>, or workflow, is </a:t>
            </a:r>
            <a:r>
              <a:rPr lang="en-US" sz="2400" u="sng" dirty="0" smtClean="0"/>
              <a:t>a series of steps</a:t>
            </a:r>
            <a:r>
              <a:rPr lang="en-US" sz="2400" dirty="0" smtClean="0"/>
              <a:t> that accomplishes a specific </a:t>
            </a:r>
            <a:r>
              <a:rPr lang="en-US" sz="2400" u="sng" dirty="0" smtClean="0"/>
              <a:t>business goal</a:t>
            </a:r>
            <a:r>
              <a:rPr lang="en-US" sz="2400" dirty="0" smtClean="0"/>
              <a:t>.</a:t>
            </a:r>
          </a:p>
          <a:p>
            <a:r>
              <a:rPr lang="en-US" sz="2400" dirty="0" smtClean="0"/>
              <a:t>Business process </a:t>
            </a:r>
            <a:r>
              <a:rPr lang="en-US" sz="2400" i="1" dirty="0" smtClean="0">
                <a:solidFill>
                  <a:srgbClr val="C00000"/>
                </a:solidFill>
              </a:rPr>
              <a:t>automation solutions</a:t>
            </a:r>
            <a:r>
              <a:rPr lang="en-US" sz="2400" dirty="0" smtClean="0"/>
              <a:t> implement processes that combine </a:t>
            </a:r>
            <a:r>
              <a:rPr lang="en-US" sz="2400" u="sng" dirty="0" smtClean="0"/>
              <a:t>automated</a:t>
            </a:r>
            <a:r>
              <a:rPr lang="en-US" sz="2400" dirty="0" smtClean="0"/>
              <a:t> and </a:t>
            </a:r>
            <a:r>
              <a:rPr lang="en-US" sz="2400" u="sng" dirty="0" smtClean="0"/>
              <a:t>human interaction tasks</a:t>
            </a:r>
            <a:r>
              <a:rPr lang="en-US" sz="2400" dirty="0" smtClean="0"/>
              <a:t> and that provide a user interface for graphical modeling.</a:t>
            </a:r>
          </a:p>
        </p:txBody>
      </p:sp>
      <p:pic>
        <p:nvPicPr>
          <p:cNvPr id="4" name="Picture 6"/>
          <p:cNvPicPr>
            <a:picLocks noChangeAspect="1" noChangeArrowheads="1"/>
          </p:cNvPicPr>
          <p:nvPr/>
        </p:nvPicPr>
        <p:blipFill>
          <a:blip r:embed="rId2" cstate="print"/>
          <a:srcRect/>
          <a:stretch>
            <a:fillRect/>
          </a:stretch>
        </p:blipFill>
        <p:spPr bwMode="auto">
          <a:xfrm>
            <a:off x="4495800" y="3733800"/>
            <a:ext cx="4008120" cy="2682240"/>
          </a:xfrm>
          <a:prstGeom prst="rect">
            <a:avLst/>
          </a:prstGeom>
          <a:noFill/>
          <a:ln w="9525">
            <a:noFill/>
            <a:miter lim="800000"/>
            <a:headEnd/>
            <a:tailEnd/>
          </a:ln>
        </p:spPr>
      </p:pic>
      <p:pic>
        <p:nvPicPr>
          <p:cNvPr id="5" name="Picture 7"/>
          <p:cNvPicPr>
            <a:picLocks noChangeAspect="1" noChangeArrowheads="1"/>
          </p:cNvPicPr>
          <p:nvPr/>
        </p:nvPicPr>
        <p:blipFill>
          <a:blip r:embed="rId3" cstate="print"/>
          <a:srcRect/>
          <a:stretch>
            <a:fillRect/>
          </a:stretch>
        </p:blipFill>
        <p:spPr bwMode="auto">
          <a:xfrm>
            <a:off x="914400" y="4114800"/>
            <a:ext cx="3333750" cy="18097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Enterprise Development Process [2]</a:t>
            </a:r>
            <a:endParaRPr lang="en-US" sz="4000" dirty="0"/>
          </a:p>
        </p:txBody>
      </p:sp>
      <p:graphicFrame>
        <p:nvGraphicFramePr>
          <p:cNvPr id="5" name="Diagram 4"/>
          <p:cNvGraphicFramePr/>
          <p:nvPr/>
        </p:nvGraphicFramePr>
        <p:xfrm>
          <a:off x="762000" y="1397000"/>
          <a:ext cx="7620000" cy="477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ounded Rectangle 6"/>
          <p:cNvSpPr/>
          <p:nvPr/>
        </p:nvSpPr>
        <p:spPr>
          <a:xfrm>
            <a:off x="1600200" y="2895600"/>
            <a:ext cx="5943600" cy="914400"/>
          </a:xfrm>
          <a:prstGeom prst="roundRect">
            <a:avLst/>
          </a:prstGeom>
          <a:noFill/>
          <a:ln w="1016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View of Enterprise Architecture [1]</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266825" y="1685925"/>
            <a:ext cx="6610350" cy="4943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Components</a:t>
            </a:r>
            <a:endParaRPr lang="en-US" dirty="0"/>
          </a:p>
        </p:txBody>
      </p:sp>
      <p:sp>
        <p:nvSpPr>
          <p:cNvPr id="3" name="Content Placeholder 2"/>
          <p:cNvSpPr>
            <a:spLocks noGrp="1"/>
          </p:cNvSpPr>
          <p:nvPr>
            <p:ph idx="1"/>
          </p:nvPr>
        </p:nvSpPr>
        <p:spPr/>
        <p:txBody>
          <a:bodyPr/>
          <a:lstStyle/>
          <a:p>
            <a:r>
              <a:rPr lang="en-US" sz="2000" dirty="0" smtClean="0"/>
              <a:t>The coarsest level of enterprise components are </a:t>
            </a:r>
            <a:r>
              <a:rPr lang="en-US" sz="2000" i="1" dirty="0" smtClean="0">
                <a:solidFill>
                  <a:srgbClr val="C00000"/>
                </a:solidFill>
              </a:rPr>
              <a:t>business components</a:t>
            </a:r>
            <a:r>
              <a:rPr lang="en-US" sz="2000" dirty="0" smtClean="0"/>
              <a:t>, defined as collections of </a:t>
            </a:r>
            <a:r>
              <a:rPr lang="en-US" sz="2000" u="sng" dirty="0" smtClean="0"/>
              <a:t>high-level enterprise processes</a:t>
            </a:r>
            <a:r>
              <a:rPr lang="en-US" sz="2000" dirty="0" smtClean="0"/>
              <a:t>.</a:t>
            </a:r>
          </a:p>
          <a:p>
            <a:r>
              <a:rPr lang="en-US" sz="2000" dirty="0" smtClean="0"/>
              <a:t>At the next level of granularity, high-level enterprise processes are broken down into sequences of </a:t>
            </a:r>
            <a:r>
              <a:rPr lang="en-US" sz="2000" i="1" dirty="0" smtClean="0">
                <a:solidFill>
                  <a:srgbClr val="C00000"/>
                </a:solidFill>
              </a:rPr>
              <a:t>smaller processes</a:t>
            </a:r>
            <a:r>
              <a:rPr lang="en-US" sz="2000" dirty="0" smtClean="0"/>
              <a:t>, and also regrouped so as to be implemented in a set of applications.</a:t>
            </a:r>
          </a:p>
          <a:p>
            <a:r>
              <a:rPr lang="en-US" sz="2000" dirty="0" smtClean="0"/>
              <a:t>This process results in </a:t>
            </a:r>
            <a:r>
              <a:rPr lang="en-US" sz="2000" i="1" dirty="0" smtClean="0">
                <a:solidFill>
                  <a:srgbClr val="C00000"/>
                </a:solidFill>
              </a:rPr>
              <a:t>application components</a:t>
            </a:r>
            <a:r>
              <a:rPr lang="en-US" sz="2000" dirty="0" smtClean="0"/>
              <a:t>: Each application component is a set of smaller processes such that the information needs of this set is largely restricted to a </a:t>
            </a:r>
            <a:r>
              <a:rPr lang="en-US" sz="2000" u="sng" dirty="0" smtClean="0"/>
              <a:t>cohesive</a:t>
            </a:r>
            <a:r>
              <a:rPr lang="en-US" sz="2000" dirty="0" smtClean="0"/>
              <a:t> set of data.</a:t>
            </a:r>
          </a:p>
          <a:p>
            <a:r>
              <a:rPr lang="en-US" sz="2000" dirty="0" smtClean="0"/>
              <a:t>When implemented in software systems, application components are themselves decomposed into </a:t>
            </a:r>
            <a:r>
              <a:rPr lang="en-US" sz="2000" i="1" dirty="0" smtClean="0">
                <a:solidFill>
                  <a:srgbClr val="C00000"/>
                </a:solidFill>
              </a:rPr>
              <a:t>software components</a:t>
            </a:r>
            <a:r>
              <a:rPr lang="en-US" sz="2000" dirty="0" smtClean="0"/>
              <a:t>.</a:t>
            </a:r>
          </a:p>
          <a:p>
            <a:pPr lvl="1"/>
            <a:r>
              <a:rPr lang="en-US" sz="1600" dirty="0" smtClean="0"/>
              <a:t>These software components can be “</a:t>
            </a:r>
            <a:r>
              <a:rPr lang="en-US" sz="1600" i="1" dirty="0" smtClean="0">
                <a:solidFill>
                  <a:srgbClr val="C00000"/>
                </a:solidFill>
              </a:rPr>
              <a:t>entity components</a:t>
            </a:r>
            <a:r>
              <a:rPr lang="en-US" sz="1600" dirty="0" smtClean="0"/>
              <a:t>,” that deal with the manipulation of enterprise data, and</a:t>
            </a:r>
          </a:p>
          <a:p>
            <a:pPr lvl="1"/>
            <a:r>
              <a:rPr lang="en-US" sz="1600" dirty="0" smtClean="0"/>
              <a:t>“</a:t>
            </a:r>
            <a:r>
              <a:rPr lang="en-US" sz="1600" i="1" dirty="0" smtClean="0">
                <a:solidFill>
                  <a:srgbClr val="C00000"/>
                </a:solidFill>
              </a:rPr>
              <a:t>process components</a:t>
            </a:r>
            <a:r>
              <a:rPr lang="en-US" sz="1600" dirty="0" smtClean="0"/>
              <a:t>” that deal with the business logic and workflow needs of the application component.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t>Enterprise Application Components [2]</a:t>
            </a:r>
          </a:p>
        </p:txBody>
      </p:sp>
      <p:pic>
        <p:nvPicPr>
          <p:cNvPr id="7171" name="Picture 2"/>
          <p:cNvPicPr>
            <a:picLocks noGrp="1" noChangeAspect="1" noChangeArrowheads="1"/>
          </p:cNvPicPr>
          <p:nvPr>
            <p:ph idx="1"/>
          </p:nvPr>
        </p:nvPicPr>
        <p:blipFill>
          <a:blip r:embed="rId2" cstate="print"/>
          <a:srcRect/>
          <a:stretch>
            <a:fillRect/>
          </a:stretch>
        </p:blipFill>
        <p:spPr>
          <a:xfrm>
            <a:off x="2119313" y="1798637"/>
            <a:ext cx="4905375" cy="4525963"/>
          </a:xfr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Architecture for Enterprise Components [1]</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062163" y="1600200"/>
            <a:ext cx="5019675" cy="3048000"/>
          </a:xfrm>
          <a:prstGeom prst="rect">
            <a:avLst/>
          </a:prstGeom>
          <a:noFill/>
          <a:ln w="9525">
            <a:noFill/>
            <a:miter lim="800000"/>
            <a:headEnd/>
            <a:tailEnd/>
          </a:ln>
        </p:spPr>
      </p:pic>
      <p:pic>
        <p:nvPicPr>
          <p:cNvPr id="3" name="Picture 2"/>
          <p:cNvPicPr>
            <a:picLocks noChangeAspect="1" noChangeArrowheads="1"/>
          </p:cNvPicPr>
          <p:nvPr/>
        </p:nvPicPr>
        <p:blipFill>
          <a:blip r:embed="rId3" cstate="print"/>
          <a:srcRect/>
          <a:stretch>
            <a:fillRect/>
          </a:stretch>
        </p:blipFill>
        <p:spPr bwMode="auto">
          <a:xfrm>
            <a:off x="1452563" y="4724400"/>
            <a:ext cx="6238875" cy="19907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3"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Hotel Booking</a:t>
            </a:r>
            <a:endParaRPr lang="en-US" dirty="0"/>
          </a:p>
        </p:txBody>
      </p:sp>
      <p:sp>
        <p:nvSpPr>
          <p:cNvPr id="3" name="Content Placeholder 2"/>
          <p:cNvSpPr>
            <a:spLocks noGrp="1"/>
          </p:cNvSpPr>
          <p:nvPr>
            <p:ph idx="1"/>
          </p:nvPr>
        </p:nvSpPr>
        <p:spPr/>
        <p:txBody>
          <a:bodyPr/>
          <a:lstStyle/>
          <a:p>
            <a:r>
              <a:rPr lang="en-US" sz="2400" dirty="0" smtClean="0"/>
              <a:t>Input:</a:t>
            </a:r>
          </a:p>
          <a:p>
            <a:pPr lvl="1"/>
            <a:r>
              <a:rPr lang="en-US" sz="1800" dirty="0" smtClean="0"/>
              <a:t>Passport number, from date, to date</a:t>
            </a:r>
          </a:p>
          <a:p>
            <a:pPr lvl="1"/>
            <a:r>
              <a:rPr lang="en-US" sz="1800" dirty="0" smtClean="0"/>
              <a:t>40 available rooms (in table Rooms)</a:t>
            </a:r>
          </a:p>
          <a:p>
            <a:r>
              <a:rPr lang="en-US" sz="2400" dirty="0" smtClean="0"/>
              <a:t>Output (being saved to </a:t>
            </a:r>
            <a:r>
              <a:rPr lang="en-US" sz="2400" b="1" i="1" dirty="0" smtClean="0">
                <a:latin typeface="Consolas" pitchFamily="49" charset="0"/>
              </a:rPr>
              <a:t>Booking</a:t>
            </a:r>
            <a:r>
              <a:rPr lang="en-US" sz="2400" dirty="0" smtClean="0"/>
              <a:t> table):</a:t>
            </a:r>
          </a:p>
          <a:p>
            <a:pPr lvl="1"/>
            <a:r>
              <a:rPr lang="en-US" sz="1800" dirty="0" smtClean="0"/>
              <a:t>Passport number</a:t>
            </a:r>
          </a:p>
          <a:p>
            <a:pPr lvl="1"/>
            <a:r>
              <a:rPr lang="en-US" sz="1800" dirty="0" smtClean="0"/>
              <a:t>Room number</a:t>
            </a:r>
          </a:p>
          <a:p>
            <a:pPr lvl="1"/>
            <a:r>
              <a:rPr lang="en-US" sz="1800" dirty="0" smtClean="0"/>
              <a:t>From date, to date</a:t>
            </a:r>
          </a:p>
          <a:p>
            <a:pPr lvl="1"/>
            <a:r>
              <a:rPr lang="en-US" sz="1800" dirty="0" smtClean="0"/>
              <a:t>Price</a:t>
            </a:r>
          </a:p>
          <a:p>
            <a:r>
              <a:rPr lang="en-US" sz="2400" dirty="0" smtClean="0"/>
              <a:t>Business Rules:</a:t>
            </a:r>
          </a:p>
          <a:p>
            <a:pPr lvl="1"/>
            <a:r>
              <a:rPr lang="en-US" sz="1800" dirty="0" smtClean="0"/>
              <a:t>Invalid passport number: “12XX” (Iran), “34YY” (North Korean)</a:t>
            </a:r>
          </a:p>
          <a:p>
            <a:pPr lvl="1"/>
            <a:r>
              <a:rPr lang="en-US" sz="1800" dirty="0" smtClean="0"/>
              <a:t>Stay period &lt; 5 days: $100 per day</a:t>
            </a:r>
          </a:p>
          <a:p>
            <a:pPr lvl="1"/>
            <a:r>
              <a:rPr lang="en-US" sz="1800" dirty="0" smtClean="0"/>
              <a:t>Stay period &gt;= 5 days: $70 per day</a:t>
            </a:r>
          </a:p>
          <a:p>
            <a:pPr lvl="1"/>
            <a:r>
              <a:rPr lang="en-US" sz="1800" dirty="0" smtClean="0"/>
              <a:t>Returned customer (based on passport number): discount 50%</a:t>
            </a:r>
            <a:endParaRPr lang="en-US" sz="1800" dirty="0"/>
          </a:p>
        </p:txBody>
      </p:sp>
      <p:pic>
        <p:nvPicPr>
          <p:cNvPr id="4" name="Picture 2"/>
          <p:cNvPicPr>
            <a:picLocks noChangeAspect="1" noChangeArrowheads="1"/>
          </p:cNvPicPr>
          <p:nvPr/>
        </p:nvPicPr>
        <p:blipFill>
          <a:blip r:embed="rId2" cstate="print"/>
          <a:srcRect/>
          <a:stretch>
            <a:fillRect/>
          </a:stretch>
        </p:blipFill>
        <p:spPr bwMode="auto">
          <a:xfrm>
            <a:off x="6629400" y="533400"/>
            <a:ext cx="2085975" cy="18764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Script [3]</a:t>
            </a:r>
            <a:endParaRPr lang="en-US" dirty="0"/>
          </a:p>
        </p:txBody>
      </p:sp>
      <p:sp>
        <p:nvSpPr>
          <p:cNvPr id="3" name="Content Placeholder 2"/>
          <p:cNvSpPr>
            <a:spLocks noGrp="1"/>
          </p:cNvSpPr>
          <p:nvPr>
            <p:ph idx="1"/>
          </p:nvPr>
        </p:nvSpPr>
        <p:spPr>
          <a:xfrm>
            <a:off x="457200" y="1371601"/>
            <a:ext cx="8229600" cy="4267200"/>
          </a:xfrm>
        </p:spPr>
        <p:txBody>
          <a:bodyPr/>
          <a:lstStyle/>
          <a:p>
            <a:r>
              <a:rPr lang="en-US" sz="2400" dirty="0" smtClean="0"/>
              <a:t>Each interaction between a client system and a server system contains a certain amount of logic.</a:t>
            </a:r>
          </a:p>
          <a:p>
            <a:pPr lvl="1"/>
            <a:r>
              <a:rPr lang="en-US" sz="2000" dirty="0" smtClean="0"/>
              <a:t>In some cases this can be as simple as </a:t>
            </a:r>
            <a:r>
              <a:rPr lang="en-US" sz="2000" i="1" dirty="0" smtClean="0">
                <a:solidFill>
                  <a:srgbClr val="C00000"/>
                </a:solidFill>
              </a:rPr>
              <a:t>displaying information</a:t>
            </a:r>
            <a:r>
              <a:rPr lang="en-US" sz="2000" dirty="0" smtClean="0"/>
              <a:t> in the database.</a:t>
            </a:r>
          </a:p>
          <a:p>
            <a:pPr lvl="1"/>
            <a:r>
              <a:rPr lang="en-US" sz="2000" dirty="0" smtClean="0"/>
              <a:t>In others it may involve many steps of </a:t>
            </a:r>
            <a:r>
              <a:rPr lang="en-US" sz="2000" i="1" dirty="0" smtClean="0">
                <a:solidFill>
                  <a:srgbClr val="C00000"/>
                </a:solidFill>
              </a:rPr>
              <a:t>validations</a:t>
            </a:r>
            <a:r>
              <a:rPr lang="en-US" sz="2000" dirty="0" smtClean="0"/>
              <a:t> and </a:t>
            </a:r>
            <a:r>
              <a:rPr lang="en-US" sz="2000" i="1" dirty="0" smtClean="0">
                <a:solidFill>
                  <a:srgbClr val="C00000"/>
                </a:solidFill>
              </a:rPr>
              <a:t>calculations</a:t>
            </a:r>
            <a:r>
              <a:rPr lang="en-US" sz="2000" dirty="0" smtClean="0"/>
              <a:t>.</a:t>
            </a:r>
          </a:p>
          <a:p>
            <a:r>
              <a:rPr lang="en-US" sz="2400" dirty="0" smtClean="0"/>
              <a:t>☠ </a:t>
            </a:r>
            <a:r>
              <a:rPr lang="en-US" sz="2400" i="1" dirty="0" smtClean="0">
                <a:solidFill>
                  <a:srgbClr val="C00000"/>
                </a:solidFill>
              </a:rPr>
              <a:t>Problem</a:t>
            </a:r>
            <a:r>
              <a:rPr lang="en-US" sz="2400" dirty="0" smtClean="0"/>
              <a:t>: How do we design this </a:t>
            </a:r>
            <a:r>
              <a:rPr lang="en-US" sz="2400" i="1" dirty="0" smtClean="0">
                <a:solidFill>
                  <a:srgbClr val="C00000"/>
                </a:solidFill>
              </a:rPr>
              <a:t>domain logic</a:t>
            </a:r>
            <a:r>
              <a:rPr lang="en-US" sz="2400" dirty="0" smtClean="0"/>
              <a:t>?</a:t>
            </a:r>
          </a:p>
          <a:p>
            <a:r>
              <a:rPr lang="en-US" sz="2400" dirty="0" smtClean="0"/>
              <a:t>☞ </a:t>
            </a:r>
            <a:r>
              <a:rPr lang="en-US" sz="2400" i="1" dirty="0" smtClean="0">
                <a:solidFill>
                  <a:srgbClr val="C00000"/>
                </a:solidFill>
              </a:rPr>
              <a:t>Solution</a:t>
            </a:r>
            <a:r>
              <a:rPr lang="en-US" sz="2400" dirty="0" smtClean="0"/>
              <a:t>: A Transaction Script organizes all this logic primarily as a </a:t>
            </a:r>
            <a:r>
              <a:rPr lang="en-US" sz="2400" u="sng" dirty="0" smtClean="0"/>
              <a:t>single procedure</a:t>
            </a:r>
            <a:r>
              <a:rPr lang="en-US" sz="2400" dirty="0" smtClean="0"/>
              <a:t>, making calls directly to the database or through a thin database wrapper.</a:t>
            </a:r>
          </a:p>
          <a:p>
            <a:r>
              <a:rPr lang="en-US" sz="2400" dirty="0" smtClean="0"/>
              <a:t>Each </a:t>
            </a:r>
            <a:r>
              <a:rPr lang="en-US" sz="2400" i="1" dirty="0" smtClean="0">
                <a:solidFill>
                  <a:srgbClr val="C00000"/>
                </a:solidFill>
              </a:rPr>
              <a:t>transaction</a:t>
            </a:r>
            <a:r>
              <a:rPr lang="en-US" sz="2400" dirty="0" smtClean="0"/>
              <a:t> will have its own </a:t>
            </a:r>
            <a:r>
              <a:rPr lang="en-US" sz="2400" u="sng" dirty="0" smtClean="0"/>
              <a:t>Transaction Script</a:t>
            </a:r>
            <a:r>
              <a:rPr lang="en-US" sz="2400" dirty="0" smtClean="0"/>
              <a:t>, although common subtasks can be broken into </a:t>
            </a:r>
            <a:r>
              <a:rPr lang="en-US" sz="2400" u="sng" dirty="0" smtClean="0"/>
              <a:t>sub-procedures</a:t>
            </a:r>
            <a:r>
              <a:rPr lang="en-US" sz="2400" dirty="0" smtClean="0"/>
              <a: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190750" y="5810250"/>
            <a:ext cx="4762500" cy="8953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Script Example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 </a:t>
            </a:r>
            <a:r>
              <a:rPr lang="en-US" sz="2400" b="1" i="1" dirty="0" smtClean="0">
                <a:solidFill>
                  <a:srgbClr val="C00000"/>
                </a:solidFill>
                <a:latin typeface="Consolas" pitchFamily="49" charset="0"/>
              </a:rPr>
              <a:t>Booking</a:t>
            </a:r>
            <a:r>
              <a:rPr lang="en-US" sz="2400" dirty="0" smtClean="0"/>
              <a:t> class</a:t>
            </a:r>
          </a:p>
          <a:p>
            <a:pPr lvl="1"/>
            <a:r>
              <a:rPr lang="en-US" sz="2000" dirty="0" smtClean="0"/>
              <a:t>Create </a:t>
            </a:r>
            <a:r>
              <a:rPr lang="en-US" sz="2000" b="1" dirty="0" smtClean="0">
                <a:latin typeface="Consolas" pitchFamily="49" charset="0"/>
              </a:rPr>
              <a:t>Book(</a:t>
            </a:r>
            <a:r>
              <a:rPr lang="en-US" sz="2000" b="1" dirty="0" err="1" smtClean="0">
                <a:latin typeface="Consolas" pitchFamily="49" charset="0"/>
              </a:rPr>
              <a:t>passportNumber</a:t>
            </a:r>
            <a:r>
              <a:rPr lang="en-US" sz="2000" b="1" dirty="0" smtClean="0">
                <a:latin typeface="Consolas" pitchFamily="49" charset="0"/>
              </a:rPr>
              <a:t>, </a:t>
            </a:r>
            <a:r>
              <a:rPr lang="en-US" sz="2000" b="1" dirty="0" err="1" smtClean="0">
                <a:latin typeface="Consolas" pitchFamily="49" charset="0"/>
              </a:rPr>
              <a:t>fromDate</a:t>
            </a:r>
            <a:r>
              <a:rPr lang="en-US" sz="2000" b="1" dirty="0" smtClean="0">
                <a:latin typeface="Consolas" pitchFamily="49" charset="0"/>
              </a:rPr>
              <a:t>, </a:t>
            </a:r>
            <a:r>
              <a:rPr lang="en-US" sz="2000" b="1" dirty="0" err="1" smtClean="0">
                <a:latin typeface="Consolas" pitchFamily="49" charset="0"/>
              </a:rPr>
              <a:t>toDate</a:t>
            </a:r>
            <a:r>
              <a:rPr lang="en-US" sz="2000" b="1" dirty="0" smtClean="0">
                <a:latin typeface="Consolas" pitchFamily="49" charset="0"/>
              </a:rPr>
              <a:t>)</a:t>
            </a:r>
            <a:r>
              <a:rPr lang="en-US" sz="2000" dirty="0" smtClean="0"/>
              <a:t> method.</a:t>
            </a:r>
          </a:p>
          <a:p>
            <a:pPr lvl="1"/>
            <a:r>
              <a:rPr lang="en-US" sz="2000" dirty="0" smtClean="0"/>
              <a:t>Check </a:t>
            </a:r>
            <a:r>
              <a:rPr lang="en-US" sz="2000" u="sng" dirty="0" smtClean="0"/>
              <a:t>passport number</a:t>
            </a:r>
            <a:r>
              <a:rPr lang="en-US" sz="2000" dirty="0" smtClean="0"/>
              <a:t> rule.</a:t>
            </a:r>
          </a:p>
          <a:p>
            <a:pPr lvl="1"/>
            <a:r>
              <a:rPr lang="en-US" sz="2000" dirty="0" smtClean="0"/>
              <a:t>Get </a:t>
            </a:r>
            <a:r>
              <a:rPr lang="en-US" sz="2000" u="sng" dirty="0" smtClean="0"/>
              <a:t>available room</a:t>
            </a:r>
            <a:r>
              <a:rPr lang="en-US" sz="2000" dirty="0" smtClean="0"/>
              <a:t> from the table Rooms (using </a:t>
            </a:r>
            <a:r>
              <a:rPr lang="en-US" sz="2000" dirty="0" err="1" smtClean="0"/>
              <a:t>ReservedUntil</a:t>
            </a:r>
            <a:r>
              <a:rPr lang="en-US" sz="2000" dirty="0" smtClean="0"/>
              <a:t> field).</a:t>
            </a:r>
          </a:p>
          <a:p>
            <a:pPr lvl="1"/>
            <a:r>
              <a:rPr lang="en-US" sz="2000" dirty="0" smtClean="0"/>
              <a:t>Get </a:t>
            </a:r>
            <a:r>
              <a:rPr lang="en-US" sz="2000" u="sng" dirty="0" smtClean="0"/>
              <a:t>returned customer</a:t>
            </a:r>
            <a:r>
              <a:rPr lang="en-US" sz="2000" dirty="0" smtClean="0"/>
              <a:t> from the table Booking (using </a:t>
            </a:r>
            <a:r>
              <a:rPr lang="en-US" sz="2000" dirty="0" err="1" smtClean="0"/>
              <a:t>PassportNumber</a:t>
            </a:r>
            <a:r>
              <a:rPr lang="en-US" sz="2000" dirty="0" smtClean="0"/>
              <a:t> field).</a:t>
            </a:r>
          </a:p>
          <a:p>
            <a:pPr lvl="1"/>
            <a:r>
              <a:rPr lang="en-US" sz="2000" dirty="0" smtClean="0"/>
              <a:t>Calculate </a:t>
            </a:r>
            <a:r>
              <a:rPr lang="en-US" sz="2000" u="sng" dirty="0" smtClean="0"/>
              <a:t>price</a:t>
            </a:r>
            <a:r>
              <a:rPr lang="en-US" sz="2000" dirty="0" smtClean="0"/>
              <a:t>.</a:t>
            </a:r>
          </a:p>
          <a:p>
            <a:pPr lvl="1"/>
            <a:r>
              <a:rPr lang="en-US" sz="2000" dirty="0" smtClean="0"/>
              <a:t>Insert </a:t>
            </a:r>
            <a:r>
              <a:rPr lang="en-US" sz="2000" dirty="0" smtClean="0">
                <a:latin typeface="+mj-lt"/>
              </a:rPr>
              <a:t>information (passport number, room number, from date, to date, price) into the table Booking.</a:t>
            </a:r>
          </a:p>
          <a:p>
            <a:pPr lvl="1"/>
            <a:r>
              <a:rPr lang="en-US" sz="2000" dirty="0" smtClean="0">
                <a:latin typeface="+mj-lt"/>
              </a:rPr>
              <a:t>Update </a:t>
            </a:r>
            <a:r>
              <a:rPr lang="en-US" sz="2000" dirty="0" err="1" smtClean="0"/>
              <a:t>ReservedUntil</a:t>
            </a:r>
            <a:r>
              <a:rPr lang="en-US" sz="2000" dirty="0" smtClean="0"/>
              <a:t> field of the table Rooms.</a:t>
            </a:r>
            <a:endParaRPr lang="en-US" sz="2000" dirty="0" smtClean="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How to Use Transaction Script?</a:t>
            </a:r>
          </a:p>
        </p:txBody>
      </p:sp>
      <p:sp>
        <p:nvSpPr>
          <p:cNvPr id="14339" name="Content Placeholder 2"/>
          <p:cNvSpPr>
            <a:spLocks noGrp="1"/>
          </p:cNvSpPr>
          <p:nvPr>
            <p:ph idx="1"/>
          </p:nvPr>
        </p:nvSpPr>
        <p:spPr>
          <a:xfrm>
            <a:off x="457200" y="1676400"/>
            <a:ext cx="8229600" cy="3124200"/>
          </a:xfrm>
        </p:spPr>
        <p:txBody>
          <a:bodyPr/>
          <a:lstStyle/>
          <a:p>
            <a:r>
              <a:rPr lang="en-US" sz="2400" dirty="0" smtClean="0"/>
              <a:t>Transaction Script organizes business logic by </a:t>
            </a:r>
            <a:r>
              <a:rPr lang="en-US" sz="2400" i="1" dirty="0" smtClean="0">
                <a:solidFill>
                  <a:srgbClr val="C00000"/>
                </a:solidFill>
              </a:rPr>
              <a:t>procedures</a:t>
            </a:r>
            <a:r>
              <a:rPr lang="en-US" sz="2400" dirty="0" smtClean="0"/>
              <a:t> where </a:t>
            </a:r>
            <a:r>
              <a:rPr lang="en-US" sz="2400" u="sng" dirty="0" smtClean="0"/>
              <a:t>each procedure</a:t>
            </a:r>
            <a:r>
              <a:rPr lang="en-US" sz="2400" dirty="0" smtClean="0"/>
              <a:t> handles a </a:t>
            </a:r>
            <a:r>
              <a:rPr lang="en-US" sz="2400" u="sng" dirty="0" smtClean="0"/>
              <a:t>single request</a:t>
            </a:r>
            <a:r>
              <a:rPr lang="en-US" sz="2400" dirty="0" smtClean="0"/>
              <a:t> from the presentation.</a:t>
            </a:r>
          </a:p>
          <a:p>
            <a:pPr lvl="1"/>
            <a:r>
              <a:rPr lang="en-US" sz="2200" i="1" dirty="0" smtClean="0">
                <a:solidFill>
                  <a:srgbClr val="C00000"/>
                </a:solidFill>
              </a:rPr>
              <a:t>Start</a:t>
            </a:r>
            <a:r>
              <a:rPr lang="en-US" sz="2200" dirty="0" smtClean="0"/>
              <a:t> from a use case and </a:t>
            </a:r>
            <a:r>
              <a:rPr lang="en-US" sz="2200" u="sng" dirty="0" smtClean="0"/>
              <a:t>work back</a:t>
            </a:r>
            <a:r>
              <a:rPr lang="en-US" sz="2200" dirty="0" smtClean="0"/>
              <a:t>.</a:t>
            </a:r>
          </a:p>
          <a:p>
            <a:pPr lvl="1"/>
            <a:r>
              <a:rPr lang="en-US" sz="2200" dirty="0" smtClean="0"/>
              <a:t>The majority of the business logic resides in the </a:t>
            </a:r>
            <a:r>
              <a:rPr lang="en-US" sz="2200" i="1" dirty="0" smtClean="0">
                <a:solidFill>
                  <a:srgbClr val="C00000"/>
                </a:solidFill>
              </a:rPr>
              <a:t>service classes</a:t>
            </a:r>
            <a:r>
              <a:rPr lang="en-US" sz="2200" dirty="0" smtClean="0"/>
              <a:t>.</a:t>
            </a:r>
          </a:p>
          <a:p>
            <a:pPr lvl="1"/>
            <a:r>
              <a:rPr lang="en-US" sz="2200" dirty="0" smtClean="0"/>
              <a:t>The domain objects are lightweight mere </a:t>
            </a:r>
            <a:r>
              <a:rPr lang="en-US" sz="2200" i="1" dirty="0" smtClean="0">
                <a:solidFill>
                  <a:srgbClr val="C00000"/>
                </a:solidFill>
              </a:rPr>
              <a:t>data place holders</a:t>
            </a:r>
            <a:r>
              <a:rPr lang="en-US" sz="2200" dirty="0" smtClean="0"/>
              <a:t>.</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56323" name="Picture 3"/>
          <p:cNvPicPr>
            <a:picLocks noChangeAspect="1" noChangeArrowheads="1"/>
          </p:cNvPicPr>
          <p:nvPr/>
        </p:nvPicPr>
        <p:blipFill>
          <a:blip r:embed="rId2" cstate="print"/>
          <a:srcRect/>
          <a:stretch>
            <a:fillRect/>
          </a:stretch>
        </p:blipFill>
        <p:spPr bwMode="auto">
          <a:xfrm>
            <a:off x="3548063" y="4410075"/>
            <a:ext cx="2047875" cy="214312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Transaction Script Pros and Cons</a:t>
            </a:r>
          </a:p>
        </p:txBody>
      </p:sp>
      <p:sp>
        <p:nvSpPr>
          <p:cNvPr id="14339" name="Content Placeholder 2"/>
          <p:cNvSpPr>
            <a:spLocks noGrp="1"/>
          </p:cNvSpPr>
          <p:nvPr>
            <p:ph idx="1"/>
          </p:nvPr>
        </p:nvSpPr>
        <p:spPr>
          <a:xfrm>
            <a:off x="457200" y="1752600"/>
            <a:ext cx="8229600" cy="1447800"/>
          </a:xfrm>
        </p:spPr>
        <p:txBody>
          <a:bodyPr/>
          <a:lstStyle/>
          <a:p>
            <a:r>
              <a:rPr lang="en-US" sz="2400" dirty="0" smtClean="0"/>
              <a:t>The glory of Transaction Script is its </a:t>
            </a:r>
            <a:r>
              <a:rPr lang="en-US" sz="2400" i="1" dirty="0" smtClean="0">
                <a:solidFill>
                  <a:srgbClr val="C00000"/>
                </a:solidFill>
              </a:rPr>
              <a:t>simplicity</a:t>
            </a:r>
            <a:r>
              <a:rPr lang="en-US" sz="2400" dirty="0" smtClean="0"/>
              <a:t>.</a:t>
            </a:r>
          </a:p>
          <a:p>
            <a:r>
              <a:rPr lang="en-US" sz="2400" dirty="0" smtClean="0"/>
              <a:t>Since the whole point is to handle one transaction, any</a:t>
            </a:r>
            <a:r>
              <a:rPr lang="en-US" sz="2400" i="1" dirty="0" smtClean="0">
                <a:solidFill>
                  <a:srgbClr val="C00000"/>
                </a:solidFill>
              </a:rPr>
              <a:t> common code</a:t>
            </a:r>
            <a:r>
              <a:rPr lang="en-US" sz="2400" dirty="0" smtClean="0"/>
              <a:t> tends to be </a:t>
            </a:r>
            <a:r>
              <a:rPr lang="en-US" sz="2400" i="1" dirty="0" smtClean="0">
                <a:solidFill>
                  <a:srgbClr val="C00000"/>
                </a:solidFill>
              </a:rPr>
              <a:t>duplicated</a:t>
            </a:r>
            <a:r>
              <a:rPr lang="en-US" sz="2400" dirty="0" smtClean="0"/>
              <a:t>.</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6" name="Picture 4"/>
          <p:cNvPicPr>
            <a:picLocks noChangeAspect="1" noChangeArrowheads="1"/>
          </p:cNvPicPr>
          <p:nvPr/>
        </p:nvPicPr>
        <p:blipFill>
          <a:blip r:embed="rId2" cstate="print"/>
          <a:srcRect/>
          <a:stretch>
            <a:fillRect/>
          </a:stretch>
        </p:blipFill>
        <p:spPr bwMode="auto">
          <a:xfrm>
            <a:off x="2776538" y="3962400"/>
            <a:ext cx="3590925" cy="1600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Module</a:t>
            </a:r>
            <a:endParaRPr lang="en-US" dirty="0"/>
          </a:p>
        </p:txBody>
      </p:sp>
      <p:sp>
        <p:nvSpPr>
          <p:cNvPr id="3" name="Content Placeholder 2"/>
          <p:cNvSpPr>
            <a:spLocks noGrp="1"/>
          </p:cNvSpPr>
          <p:nvPr>
            <p:ph idx="1"/>
          </p:nvPr>
        </p:nvSpPr>
        <p:spPr>
          <a:xfrm>
            <a:off x="457200" y="1371601"/>
            <a:ext cx="8229600" cy="914399"/>
          </a:xfrm>
        </p:spPr>
        <p:txBody>
          <a:bodyPr/>
          <a:lstStyle/>
          <a:p>
            <a:r>
              <a:rPr lang="en-US" sz="2400" dirty="0" smtClean="0"/>
              <a:t>☠ </a:t>
            </a:r>
            <a:r>
              <a:rPr lang="en-US" sz="2400" i="1" dirty="0" smtClean="0">
                <a:solidFill>
                  <a:srgbClr val="C00000"/>
                </a:solidFill>
              </a:rPr>
              <a:t>Problem</a:t>
            </a:r>
            <a:r>
              <a:rPr lang="en-US" sz="2400" dirty="0" smtClean="0"/>
              <a:t>: How do we design </a:t>
            </a:r>
            <a:r>
              <a:rPr lang="en-US" sz="2400" i="1" dirty="0" smtClean="0">
                <a:solidFill>
                  <a:srgbClr val="C00000"/>
                </a:solidFill>
              </a:rPr>
              <a:t>domain logic</a:t>
            </a:r>
            <a:r>
              <a:rPr lang="en-US" sz="2400" dirty="0" smtClean="0"/>
              <a:t> working with </a:t>
            </a:r>
            <a:r>
              <a:rPr lang="en-US" sz="2400" u="sng" dirty="0" smtClean="0"/>
              <a:t>relational databases</a:t>
            </a:r>
            <a:r>
              <a:rPr lang="en-US" sz="2400" dirty="0" smtClean="0"/>
              <a:t>?</a:t>
            </a:r>
          </a:p>
        </p:txBody>
      </p:sp>
      <p:pic>
        <p:nvPicPr>
          <p:cNvPr id="2050" name="Picture 2"/>
          <p:cNvPicPr>
            <a:picLocks noChangeAspect="1" noChangeArrowheads="1"/>
          </p:cNvPicPr>
          <p:nvPr/>
        </p:nvPicPr>
        <p:blipFill>
          <a:blip r:embed="rId2" cstate="print"/>
          <a:srcRect/>
          <a:stretch>
            <a:fillRect/>
          </a:stretch>
        </p:blipFill>
        <p:spPr bwMode="auto">
          <a:xfrm>
            <a:off x="4038600" y="2286000"/>
            <a:ext cx="4762500" cy="3467100"/>
          </a:xfrm>
          <a:prstGeom prst="rect">
            <a:avLst/>
          </a:prstGeom>
          <a:noFill/>
          <a:ln w="9525">
            <a:noFill/>
            <a:miter lim="800000"/>
            <a:headEnd/>
            <a:tailEnd/>
          </a:ln>
        </p:spPr>
      </p:pic>
      <p:sp>
        <p:nvSpPr>
          <p:cNvPr id="5" name="Content Placeholder 2"/>
          <p:cNvSpPr txBox="1">
            <a:spLocks/>
          </p:cNvSpPr>
          <p:nvPr/>
        </p:nvSpPr>
        <p:spPr bwMode="auto">
          <a:xfrm>
            <a:off x="457200" y="2362201"/>
            <a:ext cx="3581400" cy="34289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0" hangingPunct="0">
              <a:spcBef>
                <a:spcPct val="20000"/>
              </a:spcBef>
              <a:buFont typeface="Arial" charset="0"/>
              <a:buChar char="•"/>
              <a:defRPr/>
            </a:pPr>
            <a:r>
              <a:rPr lang="en-US" sz="2400" dirty="0" smtClean="0"/>
              <a:t>☞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Solution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Table Module organizes domain logic with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one class per table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in the database, and a single instance of a class contains the various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procedures</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that will act on the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Module Example</a:t>
            </a:r>
            <a:endParaRPr lang="en-US" dirty="0"/>
          </a:p>
        </p:txBody>
      </p:sp>
      <p:sp>
        <p:nvSpPr>
          <p:cNvPr id="3" name="Content Placeholder 2"/>
          <p:cNvSpPr>
            <a:spLocks noGrp="1"/>
          </p:cNvSpPr>
          <p:nvPr>
            <p:ph idx="1"/>
          </p:nvPr>
        </p:nvSpPr>
        <p:spPr>
          <a:xfrm>
            <a:off x="457200" y="14478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a:t>
            </a:r>
            <a:r>
              <a:rPr lang="en-US" sz="2400" dirty="0" smtClean="0">
                <a:latin typeface="Consolas" pitchFamily="49" charset="0"/>
              </a:rPr>
              <a:t> </a:t>
            </a:r>
            <a:r>
              <a:rPr lang="en-US" sz="2400" b="1" i="1" dirty="0" err="1" smtClean="0">
                <a:solidFill>
                  <a:srgbClr val="C00000"/>
                </a:solidFill>
                <a:latin typeface="Consolas" pitchFamily="49" charset="0"/>
              </a:rPr>
              <a:t>BookingModule</a:t>
            </a:r>
            <a:r>
              <a:rPr lang="en-US" sz="2400" dirty="0" smtClean="0"/>
              <a:t> class</a:t>
            </a:r>
          </a:p>
          <a:p>
            <a:pPr lvl="1"/>
            <a:r>
              <a:rPr lang="en-US" sz="2000" dirty="0" smtClean="0"/>
              <a:t>Create </a:t>
            </a:r>
            <a:r>
              <a:rPr lang="en-US" sz="2000" b="1" dirty="0" smtClean="0">
                <a:latin typeface="Consolas" pitchFamily="49" charset="0"/>
              </a:rPr>
              <a:t>Book(</a:t>
            </a:r>
            <a:r>
              <a:rPr lang="en-US" sz="2000" b="1" dirty="0" err="1" smtClean="0">
                <a:latin typeface="Consolas" pitchFamily="49" charset="0"/>
              </a:rPr>
              <a:t>passportNumber</a:t>
            </a:r>
            <a:r>
              <a:rPr lang="en-US" sz="2000" b="1" dirty="0" smtClean="0">
                <a:latin typeface="Consolas" pitchFamily="49" charset="0"/>
              </a:rPr>
              <a:t>, </a:t>
            </a:r>
            <a:r>
              <a:rPr lang="en-US" sz="2000" b="1" dirty="0" err="1" smtClean="0">
                <a:latin typeface="Consolas" pitchFamily="49" charset="0"/>
              </a:rPr>
              <a:t>roomNumber</a:t>
            </a:r>
            <a:r>
              <a:rPr lang="en-US" sz="2000" b="1" dirty="0" smtClean="0">
                <a:latin typeface="Consolas" pitchFamily="49" charset="0"/>
              </a:rPr>
              <a:t>, </a:t>
            </a:r>
            <a:r>
              <a:rPr lang="en-US" sz="2000" b="1" dirty="0" err="1" smtClean="0">
                <a:latin typeface="Consolas" pitchFamily="49" charset="0"/>
              </a:rPr>
              <a:t>fromDate</a:t>
            </a:r>
            <a:r>
              <a:rPr lang="en-US" sz="2000" b="1" dirty="0" smtClean="0">
                <a:latin typeface="Consolas" pitchFamily="49" charset="0"/>
              </a:rPr>
              <a:t>, </a:t>
            </a:r>
            <a:r>
              <a:rPr lang="en-US" sz="2000" b="1" dirty="0" err="1" smtClean="0">
                <a:latin typeface="Consolas" pitchFamily="49" charset="0"/>
              </a:rPr>
              <a:t>toDate</a:t>
            </a:r>
            <a:r>
              <a:rPr lang="en-US" sz="2000" b="1" dirty="0" smtClean="0">
                <a:latin typeface="Consolas" pitchFamily="49" charset="0"/>
              </a:rPr>
              <a:t>, price)</a:t>
            </a:r>
            <a:r>
              <a:rPr lang="en-US" sz="2000" dirty="0" smtClean="0"/>
              <a:t> method.</a:t>
            </a:r>
          </a:p>
          <a:p>
            <a:pPr lvl="1"/>
            <a:r>
              <a:rPr lang="en-US" sz="2000" dirty="0" smtClean="0"/>
              <a:t>Check passport number rule.</a:t>
            </a:r>
          </a:p>
          <a:p>
            <a:pPr lvl="1"/>
            <a:r>
              <a:rPr lang="en-US" sz="2000" dirty="0" smtClean="0"/>
              <a:t>Create </a:t>
            </a:r>
            <a:r>
              <a:rPr lang="en-US" sz="2000" b="1" i="1" dirty="0" err="1" smtClean="0">
                <a:solidFill>
                  <a:srgbClr val="C00000"/>
                </a:solidFill>
                <a:latin typeface="Consolas" pitchFamily="49" charset="0"/>
              </a:rPr>
              <a:t>RoomModule</a:t>
            </a:r>
            <a:r>
              <a:rPr lang="en-US" sz="2000" dirty="0" smtClean="0"/>
              <a:t> class and use it to get available room from the table Rooms (using </a:t>
            </a:r>
            <a:r>
              <a:rPr lang="en-US" sz="2000" dirty="0" err="1" smtClean="0"/>
              <a:t>ReservedUntil</a:t>
            </a:r>
            <a:r>
              <a:rPr lang="en-US" sz="2000" dirty="0" smtClean="0"/>
              <a:t> field).</a:t>
            </a:r>
          </a:p>
          <a:p>
            <a:pPr lvl="1"/>
            <a:r>
              <a:rPr lang="en-US" sz="2000" dirty="0" smtClean="0"/>
              <a:t>Get returned customer from the table Booking (using </a:t>
            </a:r>
            <a:r>
              <a:rPr lang="en-US" sz="2000" dirty="0" err="1" smtClean="0"/>
              <a:t>PassportNumber</a:t>
            </a:r>
            <a:r>
              <a:rPr lang="en-US" sz="2000" dirty="0" smtClean="0"/>
              <a:t> field).</a:t>
            </a:r>
          </a:p>
          <a:p>
            <a:pPr lvl="1"/>
            <a:r>
              <a:rPr lang="en-US" sz="2000" dirty="0" smtClean="0"/>
              <a:t>Calculate price.</a:t>
            </a:r>
          </a:p>
          <a:p>
            <a:pPr lvl="1"/>
            <a:r>
              <a:rPr lang="en-US" sz="2000" dirty="0" smtClean="0"/>
              <a:t>Insert information (passport number, room number, from date, to date, price) into the table Booking.</a:t>
            </a:r>
          </a:p>
          <a:p>
            <a:pPr lvl="1"/>
            <a:r>
              <a:rPr lang="en-US" sz="2000" dirty="0" smtClean="0"/>
              <a:t>Update </a:t>
            </a:r>
            <a:r>
              <a:rPr lang="en-US" sz="2000" dirty="0" err="1" smtClean="0"/>
              <a:t>ReservedUntil</a:t>
            </a:r>
            <a:r>
              <a:rPr lang="en-US" sz="2000" dirty="0" smtClean="0"/>
              <a:t> field of the table Rooms.</a:t>
            </a:r>
          </a:p>
        </p:txBody>
      </p:sp>
      <p:sp>
        <p:nvSpPr>
          <p:cNvPr id="5" name="Rounded Rectangle 4"/>
          <p:cNvSpPr/>
          <p:nvPr/>
        </p:nvSpPr>
        <p:spPr>
          <a:xfrm>
            <a:off x="914400" y="3733800"/>
            <a:ext cx="76962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Table Module Pros and Cons</a:t>
            </a:r>
          </a:p>
        </p:txBody>
      </p:sp>
      <p:sp>
        <p:nvSpPr>
          <p:cNvPr id="14339" name="Content Placeholder 2"/>
          <p:cNvSpPr>
            <a:spLocks noGrp="1"/>
          </p:cNvSpPr>
          <p:nvPr>
            <p:ph idx="1"/>
          </p:nvPr>
        </p:nvSpPr>
        <p:spPr>
          <a:xfrm>
            <a:off x="457200" y="1676400"/>
            <a:ext cx="8229600" cy="2057400"/>
          </a:xfrm>
        </p:spPr>
        <p:txBody>
          <a:bodyPr/>
          <a:lstStyle/>
          <a:p>
            <a:r>
              <a:rPr lang="en-US" sz="2400" dirty="0" smtClean="0"/>
              <a:t>Table Module is very much based on </a:t>
            </a:r>
            <a:r>
              <a:rPr lang="en-US" sz="2400" i="1" dirty="0" smtClean="0">
                <a:solidFill>
                  <a:srgbClr val="C00000"/>
                </a:solidFill>
              </a:rPr>
              <a:t>table-oriented data</a:t>
            </a:r>
            <a:r>
              <a:rPr lang="en-US" sz="2400" dirty="0" smtClean="0"/>
              <a:t>, so obviously using it makes sense when you're accessing tabular data.</a:t>
            </a:r>
          </a:p>
          <a:p>
            <a:r>
              <a:rPr lang="en-US" sz="2400" dirty="0" smtClean="0"/>
              <a:t>You can't have direct </a:t>
            </a:r>
            <a:r>
              <a:rPr lang="en-US" sz="2400" i="1" dirty="0" smtClean="0">
                <a:solidFill>
                  <a:srgbClr val="C00000"/>
                </a:solidFill>
              </a:rPr>
              <a:t>instance-to-instance relationships</a:t>
            </a:r>
            <a:r>
              <a:rPr lang="en-US" sz="2400" dirty="0" smtClean="0"/>
              <a:t>, and </a:t>
            </a:r>
            <a:r>
              <a:rPr lang="en-US" sz="2400" i="1" dirty="0" smtClean="0">
                <a:solidFill>
                  <a:srgbClr val="C00000"/>
                </a:solidFill>
              </a:rPr>
              <a:t>polymorphism </a:t>
            </a:r>
            <a:r>
              <a:rPr lang="en-US" sz="2400" dirty="0" smtClean="0"/>
              <a:t>doesn't work well.</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6" name="Picture 4"/>
          <p:cNvPicPr>
            <a:picLocks noChangeAspect="1" noChangeArrowheads="1"/>
          </p:cNvPicPr>
          <p:nvPr/>
        </p:nvPicPr>
        <p:blipFill>
          <a:blip r:embed="rId2" cstate="print"/>
          <a:srcRect/>
          <a:stretch>
            <a:fillRect/>
          </a:stretch>
        </p:blipFill>
        <p:spPr bwMode="auto">
          <a:xfrm>
            <a:off x="2776538" y="4343400"/>
            <a:ext cx="3590925" cy="16002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Transfer Object: </a:t>
            </a:r>
            <a:r>
              <a:rPr lang="en-US" i="1" dirty="0" smtClean="0">
                <a:solidFill>
                  <a:srgbClr val="C00000"/>
                </a:solidFill>
              </a:rPr>
              <a:t>Problem</a:t>
            </a:r>
            <a:r>
              <a:rPr lang="en-US" dirty="0" smtClean="0"/>
              <a:t> [3, 4]</a:t>
            </a:r>
            <a:endParaRPr lang="en-US" dirty="0"/>
          </a:p>
        </p:txBody>
      </p:sp>
      <p:sp>
        <p:nvSpPr>
          <p:cNvPr id="3" name="Content Placeholder 2"/>
          <p:cNvSpPr>
            <a:spLocks noGrp="1"/>
          </p:cNvSpPr>
          <p:nvPr>
            <p:ph idx="1"/>
          </p:nvPr>
        </p:nvSpPr>
        <p:spPr/>
        <p:txBody>
          <a:bodyPr/>
          <a:lstStyle/>
          <a:p>
            <a:r>
              <a:rPr lang="en-US" sz="2600" dirty="0" smtClean="0"/>
              <a:t>You want to transfer </a:t>
            </a:r>
            <a:r>
              <a:rPr lang="en-US" sz="2600" i="1" dirty="0" smtClean="0">
                <a:solidFill>
                  <a:srgbClr val="C00000"/>
                </a:solidFill>
              </a:rPr>
              <a:t>multiple data elements</a:t>
            </a:r>
            <a:r>
              <a:rPr lang="en-US" sz="2600" dirty="0" smtClean="0"/>
              <a:t> over a tier.</a:t>
            </a:r>
          </a:p>
          <a:p>
            <a:pPr lvl="1"/>
            <a:r>
              <a:rPr lang="en-US" sz="2200" dirty="0" smtClean="0"/>
              <a:t>You want clients to access components in </a:t>
            </a:r>
            <a:r>
              <a:rPr lang="en-US" sz="2200" i="1" dirty="0" smtClean="0">
                <a:solidFill>
                  <a:srgbClr val="C00000"/>
                </a:solidFill>
              </a:rPr>
              <a:t>other tiers</a:t>
            </a:r>
            <a:r>
              <a:rPr lang="en-US" sz="2200" dirty="0" smtClean="0"/>
              <a:t> to retrieve and update data.</a:t>
            </a:r>
          </a:p>
          <a:p>
            <a:pPr lvl="1"/>
            <a:r>
              <a:rPr lang="en-US" sz="2200" dirty="0" smtClean="0"/>
              <a:t>You want to </a:t>
            </a:r>
            <a:r>
              <a:rPr lang="en-US" sz="2200" i="1" dirty="0" smtClean="0">
                <a:solidFill>
                  <a:srgbClr val="C00000"/>
                </a:solidFill>
              </a:rPr>
              <a:t>reduce remote requests</a:t>
            </a:r>
            <a:r>
              <a:rPr lang="en-US" sz="2200" dirty="0" smtClean="0"/>
              <a:t> across the network.</a:t>
            </a:r>
          </a:p>
          <a:p>
            <a:pPr lvl="1"/>
            <a:r>
              <a:rPr lang="en-US" sz="2200" dirty="0" smtClean="0"/>
              <a:t>You want to </a:t>
            </a:r>
            <a:r>
              <a:rPr lang="en-US" sz="2200" i="1" dirty="0" smtClean="0">
                <a:solidFill>
                  <a:srgbClr val="C00000"/>
                </a:solidFill>
              </a:rPr>
              <a:t>avoid network performance degradation</a:t>
            </a:r>
            <a:r>
              <a:rPr lang="en-US" sz="2200" dirty="0" smtClean="0"/>
              <a:t> caused by chattier applications that have high network traffic.</a:t>
            </a:r>
          </a:p>
          <a:p>
            <a:r>
              <a:rPr lang="en-US" sz="2600" dirty="0" smtClean="0"/>
              <a:t>You need to </a:t>
            </a:r>
            <a:r>
              <a:rPr lang="en-US" sz="2600" i="1" dirty="0" smtClean="0">
                <a:solidFill>
                  <a:srgbClr val="C00000"/>
                </a:solidFill>
              </a:rPr>
              <a:t>reduce</a:t>
            </a:r>
            <a:r>
              <a:rPr lang="en-US" sz="2600" dirty="0" smtClean="0"/>
              <a:t> the </a:t>
            </a:r>
            <a:r>
              <a:rPr lang="en-US" sz="2600" u="sng" dirty="0" smtClean="0"/>
              <a:t>number of calls</a:t>
            </a:r>
            <a:r>
              <a:rPr lang="en-US" sz="2600" dirty="0" smtClean="0"/>
              <a:t>, and that means that you need to transfer more data with each call.</a:t>
            </a:r>
          </a:p>
          <a:p>
            <a:pPr lvl="1"/>
            <a:r>
              <a:rPr lang="en-US" sz="2200" dirty="0" smtClean="0"/>
              <a:t>One way to do this is to use </a:t>
            </a:r>
            <a:r>
              <a:rPr lang="en-US" sz="2200" i="1" dirty="0" smtClean="0">
                <a:solidFill>
                  <a:srgbClr val="C00000"/>
                </a:solidFill>
              </a:rPr>
              <a:t>lots of parameters</a:t>
            </a:r>
            <a:r>
              <a:rPr lang="en-US" sz="2200" dirty="0" smtClean="0"/>
              <a:t>.</a:t>
            </a:r>
          </a:p>
          <a:p>
            <a:pPr lvl="1"/>
            <a:r>
              <a:rPr lang="en-US" sz="2200" dirty="0" smtClean="0"/>
              <a:t>However, this is often </a:t>
            </a:r>
            <a:r>
              <a:rPr lang="en-US" sz="2200" i="1" dirty="0" smtClean="0">
                <a:solidFill>
                  <a:srgbClr val="C00000"/>
                </a:solidFill>
              </a:rPr>
              <a:t>awkward to program</a:t>
            </a:r>
            <a:r>
              <a:rPr lang="en-US" sz="2200" dirty="0" smtClean="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Transfer Object: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a:xfrm>
            <a:off x="457200" y="1600201"/>
            <a:ext cx="8229600" cy="2971800"/>
          </a:xfrm>
        </p:spPr>
        <p:txBody>
          <a:bodyPr/>
          <a:lstStyle/>
          <a:p>
            <a:r>
              <a:rPr lang="en-US" sz="2200" dirty="0" smtClean="0"/>
              <a:t>Use a </a:t>
            </a:r>
            <a:r>
              <a:rPr lang="en-US" sz="2200" i="1" dirty="0" smtClean="0">
                <a:solidFill>
                  <a:srgbClr val="C00000"/>
                </a:solidFill>
              </a:rPr>
              <a:t>Transfer Object</a:t>
            </a:r>
            <a:r>
              <a:rPr lang="en-US" sz="2200" dirty="0" smtClean="0"/>
              <a:t> to carry multiple data elements across a tier.</a:t>
            </a:r>
          </a:p>
          <a:p>
            <a:r>
              <a:rPr lang="en-US" sz="2200" dirty="0" smtClean="0"/>
              <a:t>The Transfer Object is </a:t>
            </a:r>
            <a:r>
              <a:rPr lang="en-US" sz="2200" i="1" dirty="0" smtClean="0">
                <a:solidFill>
                  <a:srgbClr val="C00000"/>
                </a:solidFill>
              </a:rPr>
              <a:t>a </a:t>
            </a:r>
            <a:r>
              <a:rPr lang="en-US" sz="2200" i="1" dirty="0" err="1" smtClean="0">
                <a:solidFill>
                  <a:srgbClr val="C00000"/>
                </a:solidFill>
              </a:rPr>
              <a:t>serializable</a:t>
            </a:r>
            <a:r>
              <a:rPr lang="en-US" sz="2200" i="1" dirty="0" smtClean="0">
                <a:solidFill>
                  <a:srgbClr val="C00000"/>
                </a:solidFill>
              </a:rPr>
              <a:t> plain object</a:t>
            </a:r>
            <a:r>
              <a:rPr lang="en-US" sz="2200" dirty="0" smtClean="0"/>
              <a:t> that contains several members to aggregate and carry all the data in a single method call.</a:t>
            </a:r>
          </a:p>
          <a:p>
            <a:r>
              <a:rPr lang="en-US" sz="2200" dirty="0" smtClean="0"/>
              <a:t>Instead of sending or receiving </a:t>
            </a:r>
            <a:r>
              <a:rPr lang="en-US" sz="2200" i="1" dirty="0" smtClean="0">
                <a:solidFill>
                  <a:srgbClr val="C00000"/>
                </a:solidFill>
              </a:rPr>
              <a:t>individual data elements</a:t>
            </a:r>
            <a:r>
              <a:rPr lang="en-US" sz="2200" dirty="0" smtClean="0"/>
              <a:t>, a Transfer Object contains all the data elements in a single structure required by the request or response.</a:t>
            </a:r>
          </a:p>
          <a:p>
            <a:r>
              <a:rPr lang="en-US" sz="2200" dirty="0" smtClean="0"/>
              <a:t>A Transfer Object is designed to </a:t>
            </a:r>
            <a:r>
              <a:rPr lang="en-US" sz="2200" i="1" dirty="0" smtClean="0">
                <a:solidFill>
                  <a:srgbClr val="C00000"/>
                </a:solidFill>
              </a:rPr>
              <a:t>optimize</a:t>
            </a:r>
            <a:r>
              <a:rPr lang="en-US" sz="2200" dirty="0" smtClean="0"/>
              <a:t> data transfer across tiers.</a:t>
            </a:r>
          </a:p>
        </p:txBody>
      </p:sp>
      <p:pic>
        <p:nvPicPr>
          <p:cNvPr id="1026" name="Picture 2"/>
          <p:cNvPicPr>
            <a:picLocks noChangeAspect="1" noChangeArrowheads="1"/>
          </p:cNvPicPr>
          <p:nvPr/>
        </p:nvPicPr>
        <p:blipFill>
          <a:blip r:embed="rId2" cstate="print"/>
          <a:srcRect/>
          <a:stretch>
            <a:fillRect/>
          </a:stretch>
        </p:blipFill>
        <p:spPr bwMode="auto">
          <a:xfrm>
            <a:off x="2190750" y="4743450"/>
            <a:ext cx="4762500" cy="18859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Transfer Object Example</a:t>
            </a:r>
            <a:endParaRPr lang="en-US" dirty="0"/>
          </a:p>
        </p:txBody>
      </p:sp>
      <p:sp>
        <p:nvSpPr>
          <p:cNvPr id="3" name="Content Placeholder 2"/>
          <p:cNvSpPr>
            <a:spLocks noGrp="1"/>
          </p:cNvSpPr>
          <p:nvPr>
            <p:ph idx="1"/>
          </p:nvPr>
        </p:nvSpPr>
        <p:spPr>
          <a:xfrm>
            <a:off x="457200" y="14478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a:t>
            </a:r>
            <a:r>
              <a:rPr lang="en-US" sz="2400" dirty="0" smtClean="0">
                <a:latin typeface="Consolas" pitchFamily="49" charset="0"/>
              </a:rPr>
              <a:t> </a:t>
            </a:r>
            <a:r>
              <a:rPr lang="en-US" sz="2400" b="1" i="1" dirty="0" err="1" smtClean="0">
                <a:solidFill>
                  <a:srgbClr val="C00000"/>
                </a:solidFill>
                <a:latin typeface="Consolas" pitchFamily="49" charset="0"/>
              </a:rPr>
              <a:t>BookingModule</a:t>
            </a:r>
            <a:r>
              <a:rPr lang="en-US" sz="2400" dirty="0" smtClean="0"/>
              <a:t> class</a:t>
            </a:r>
          </a:p>
          <a:p>
            <a:pPr lvl="1"/>
            <a:r>
              <a:rPr lang="en-US" sz="1800" dirty="0" smtClean="0"/>
              <a:t>Create </a:t>
            </a:r>
            <a:r>
              <a:rPr lang="en-US" sz="1800" b="1" i="1" dirty="0" err="1" smtClean="0">
                <a:solidFill>
                  <a:srgbClr val="C00000"/>
                </a:solidFill>
                <a:latin typeface="Consolas" pitchFamily="49" charset="0"/>
              </a:rPr>
              <a:t>BookingDTO</a:t>
            </a:r>
            <a:r>
              <a:rPr lang="en-US" sz="1800" dirty="0" smtClean="0"/>
              <a:t> class with the following properties: </a:t>
            </a:r>
            <a:r>
              <a:rPr lang="en-US" sz="1800" dirty="0" err="1" smtClean="0"/>
              <a:t>PassportNumber</a:t>
            </a:r>
            <a:r>
              <a:rPr lang="en-US" sz="1800" dirty="0" smtClean="0"/>
              <a:t>, </a:t>
            </a:r>
            <a:r>
              <a:rPr lang="en-US" sz="1800" dirty="0" err="1" smtClean="0"/>
              <a:t>FromDate</a:t>
            </a:r>
            <a:r>
              <a:rPr lang="en-US" sz="1800" dirty="0" smtClean="0"/>
              <a:t>, </a:t>
            </a:r>
            <a:r>
              <a:rPr lang="en-US" sz="1800" dirty="0" err="1" smtClean="0"/>
              <a:t>ToDate</a:t>
            </a:r>
            <a:r>
              <a:rPr lang="en-US" sz="1800" dirty="0" smtClean="0"/>
              <a:t>, </a:t>
            </a:r>
            <a:r>
              <a:rPr lang="en-US" sz="1800" dirty="0" err="1" smtClean="0"/>
              <a:t>RoomNumber</a:t>
            </a:r>
            <a:r>
              <a:rPr lang="en-US" sz="1800" dirty="0" smtClean="0"/>
              <a:t>, Price.</a:t>
            </a:r>
          </a:p>
          <a:p>
            <a:pPr lvl="1"/>
            <a:r>
              <a:rPr lang="en-US" sz="1800" dirty="0" smtClean="0"/>
              <a:t>Create </a:t>
            </a:r>
            <a:r>
              <a:rPr lang="en-US" sz="1800" b="1" dirty="0" err="1" smtClean="0">
                <a:latin typeface="Consolas" pitchFamily="49" charset="0"/>
              </a:rPr>
              <a:t>BookingDTO</a:t>
            </a:r>
            <a:r>
              <a:rPr lang="en-US" sz="1800" b="1" dirty="0" smtClean="0">
                <a:latin typeface="Consolas" pitchFamily="49" charset="0"/>
              </a:rPr>
              <a:t> Book(</a:t>
            </a:r>
            <a:r>
              <a:rPr lang="en-US" sz="1800" b="1" dirty="0" err="1" smtClean="0">
                <a:latin typeface="Consolas" pitchFamily="49" charset="0"/>
              </a:rPr>
              <a:t>BookingDTO</a:t>
            </a:r>
            <a:r>
              <a:rPr lang="en-US" sz="1800" b="1" dirty="0" smtClean="0">
                <a:latin typeface="Consolas" pitchFamily="49" charset="0"/>
              </a:rPr>
              <a:t> input)</a:t>
            </a:r>
            <a:r>
              <a:rPr lang="en-US" sz="1800" dirty="0" smtClean="0"/>
              <a:t> method.</a:t>
            </a:r>
          </a:p>
          <a:p>
            <a:pPr lvl="1"/>
            <a:r>
              <a:rPr lang="en-US" sz="1800" dirty="0" smtClean="0"/>
              <a:t>Check passport number rule.</a:t>
            </a:r>
          </a:p>
          <a:p>
            <a:pPr lvl="1"/>
            <a:r>
              <a:rPr lang="en-US" sz="1800" dirty="0" smtClean="0"/>
              <a:t>Create </a:t>
            </a:r>
            <a:r>
              <a:rPr lang="en-US" sz="1800" b="1" i="1" dirty="0" err="1" smtClean="0">
                <a:solidFill>
                  <a:srgbClr val="C00000"/>
                </a:solidFill>
                <a:latin typeface="Consolas" pitchFamily="49" charset="0"/>
              </a:rPr>
              <a:t>RoomModule</a:t>
            </a:r>
            <a:r>
              <a:rPr lang="en-US" sz="1800" dirty="0" smtClean="0"/>
              <a:t> class and use it to get available room from the table Rooms (using </a:t>
            </a:r>
            <a:r>
              <a:rPr lang="en-US" sz="1800" dirty="0" err="1" smtClean="0"/>
              <a:t>ReservedUntil</a:t>
            </a:r>
            <a:r>
              <a:rPr lang="en-US" sz="1800" dirty="0" smtClean="0"/>
              <a:t> field).</a:t>
            </a:r>
          </a:p>
          <a:p>
            <a:pPr lvl="1"/>
            <a:r>
              <a:rPr lang="en-US" sz="1800" dirty="0" smtClean="0"/>
              <a:t>Get returned customer from the table Booking (using </a:t>
            </a:r>
            <a:r>
              <a:rPr lang="en-US" sz="1800" dirty="0" err="1" smtClean="0"/>
              <a:t>PassportNumber</a:t>
            </a:r>
            <a:r>
              <a:rPr lang="en-US" sz="1800" dirty="0" smtClean="0"/>
              <a:t> field).</a:t>
            </a:r>
          </a:p>
          <a:p>
            <a:pPr lvl="1"/>
            <a:r>
              <a:rPr lang="en-US" sz="1800" dirty="0" smtClean="0"/>
              <a:t>Calculate price.</a:t>
            </a:r>
          </a:p>
          <a:p>
            <a:pPr lvl="1"/>
            <a:r>
              <a:rPr lang="en-US" sz="1800" dirty="0" smtClean="0"/>
              <a:t>Insert information (passport number, room number, from date, to date, price) into the table Booking.</a:t>
            </a:r>
          </a:p>
          <a:p>
            <a:pPr lvl="1"/>
            <a:r>
              <a:rPr lang="en-US" sz="1800" dirty="0" smtClean="0"/>
              <a:t>Update </a:t>
            </a:r>
            <a:r>
              <a:rPr lang="en-US" sz="1800" dirty="0" err="1" smtClean="0"/>
              <a:t>ReservedUntil</a:t>
            </a:r>
            <a:r>
              <a:rPr lang="en-US" sz="1800" dirty="0" smtClean="0"/>
              <a:t> field of the table Rooms.</a:t>
            </a:r>
          </a:p>
          <a:p>
            <a:pPr lvl="1"/>
            <a:r>
              <a:rPr lang="en-US" sz="1800" dirty="0" smtClean="0"/>
              <a:t>Return a </a:t>
            </a:r>
            <a:r>
              <a:rPr lang="en-US" sz="1800" dirty="0" err="1" smtClean="0"/>
              <a:t>BookingDTO</a:t>
            </a:r>
            <a:r>
              <a:rPr lang="en-US" sz="1800" dirty="0" smtClean="0"/>
              <a:t> instance containing reserved room number and price.</a:t>
            </a:r>
          </a:p>
        </p:txBody>
      </p:sp>
      <p:sp>
        <p:nvSpPr>
          <p:cNvPr id="5" name="Rounded Rectangle 4"/>
          <p:cNvSpPr/>
          <p:nvPr/>
        </p:nvSpPr>
        <p:spPr>
          <a:xfrm>
            <a:off x="914400" y="2667000"/>
            <a:ext cx="7696200" cy="6096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Transfer Object: </a:t>
            </a:r>
            <a:r>
              <a:rPr lang="en-US" i="1" dirty="0" smtClean="0">
                <a:solidFill>
                  <a:srgbClr val="C00000"/>
                </a:solidFill>
              </a:rPr>
              <a:t>Structure</a:t>
            </a:r>
            <a:endParaRPr lang="en-US" i="1" dirty="0">
              <a:solidFill>
                <a:srgbClr val="C00000"/>
              </a:solidFill>
            </a:endParaRPr>
          </a:p>
        </p:txBody>
      </p:sp>
      <p:pic>
        <p:nvPicPr>
          <p:cNvPr id="1028" name="Picture 4"/>
          <p:cNvPicPr>
            <a:picLocks noChangeAspect="1" noChangeArrowheads="1"/>
          </p:cNvPicPr>
          <p:nvPr/>
        </p:nvPicPr>
        <p:blipFill>
          <a:blip r:embed="rId2" cstate="print"/>
          <a:srcRect/>
          <a:stretch>
            <a:fillRect/>
          </a:stretch>
        </p:blipFill>
        <p:spPr bwMode="auto">
          <a:xfrm>
            <a:off x="4572000" y="1438275"/>
            <a:ext cx="4410075" cy="49625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14300" y="2743200"/>
            <a:ext cx="4533900" cy="21431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Set [3]</a:t>
            </a:r>
            <a:endParaRPr lang="en-US" dirty="0"/>
          </a:p>
        </p:txBody>
      </p:sp>
      <p:sp>
        <p:nvSpPr>
          <p:cNvPr id="3" name="Content Placeholder 2"/>
          <p:cNvSpPr>
            <a:spLocks noGrp="1"/>
          </p:cNvSpPr>
          <p:nvPr>
            <p:ph idx="1"/>
          </p:nvPr>
        </p:nvSpPr>
        <p:spPr>
          <a:xfrm>
            <a:off x="457200" y="1600200"/>
            <a:ext cx="8229600" cy="3657599"/>
          </a:xfrm>
        </p:spPr>
        <p:txBody>
          <a:bodyPr/>
          <a:lstStyle/>
          <a:p>
            <a:r>
              <a:rPr lang="en-US" sz="2400" dirty="0" smtClean="0"/>
              <a:t>☠ </a:t>
            </a:r>
            <a:r>
              <a:rPr lang="en-US" sz="2400" i="1" dirty="0" smtClean="0">
                <a:solidFill>
                  <a:srgbClr val="C00000"/>
                </a:solidFill>
              </a:rPr>
              <a:t>Problem</a:t>
            </a:r>
            <a:r>
              <a:rPr lang="en-US" sz="2400" dirty="0" smtClean="0"/>
              <a:t>: How a </a:t>
            </a:r>
            <a:r>
              <a:rPr lang="en-US" sz="2400" i="1" dirty="0" smtClean="0">
                <a:solidFill>
                  <a:srgbClr val="C00000"/>
                </a:solidFill>
              </a:rPr>
              <a:t>relational database</a:t>
            </a:r>
            <a:r>
              <a:rPr lang="en-US" sz="2400" dirty="0" smtClean="0"/>
              <a:t> returns a result to your application?</a:t>
            </a:r>
          </a:p>
          <a:p>
            <a:r>
              <a:rPr lang="en-US" sz="2400" dirty="0" smtClean="0"/>
              <a:t>☞ </a:t>
            </a:r>
            <a:r>
              <a:rPr lang="en-US" sz="2400" i="1" dirty="0" smtClean="0">
                <a:solidFill>
                  <a:srgbClr val="C00000"/>
                </a:solidFill>
              </a:rPr>
              <a:t>Solution</a:t>
            </a:r>
            <a:r>
              <a:rPr lang="en-US" sz="2400" dirty="0" smtClean="0"/>
              <a:t>: A </a:t>
            </a:r>
            <a:r>
              <a:rPr lang="en-US" sz="2400" i="1" dirty="0" smtClean="0">
                <a:solidFill>
                  <a:srgbClr val="C00000"/>
                </a:solidFill>
              </a:rPr>
              <a:t>Record Set</a:t>
            </a:r>
            <a:r>
              <a:rPr lang="en-US" sz="2400" dirty="0" smtClean="0"/>
              <a:t> is an in-memory representation of tabular data.</a:t>
            </a:r>
          </a:p>
          <a:p>
            <a:r>
              <a:rPr lang="en-US" sz="2400" dirty="0" smtClean="0"/>
              <a:t>A Record Set is usually something that you </a:t>
            </a:r>
            <a:r>
              <a:rPr lang="en-US" sz="2400" i="1" dirty="0" smtClean="0">
                <a:solidFill>
                  <a:srgbClr val="C00000"/>
                </a:solidFill>
              </a:rPr>
              <a:t>won't build</a:t>
            </a:r>
            <a:r>
              <a:rPr lang="en-US" sz="2400" dirty="0" smtClean="0"/>
              <a:t> yourself, provided by the vendor of the software platform you're working with. Examples include the data set of ADO.NET and the row set of JDBC 2.0.</a:t>
            </a:r>
          </a:p>
          <a:p>
            <a:r>
              <a:rPr lang="en-US" sz="2400" dirty="0" smtClean="0"/>
              <a:t>A Record Set is just a specific Data Transfer Object.</a:t>
            </a:r>
          </a:p>
          <a:p>
            <a:endParaRPr lang="en-US" sz="2400" dirty="0"/>
          </a:p>
        </p:txBody>
      </p:sp>
      <p:pic>
        <p:nvPicPr>
          <p:cNvPr id="2051" name="Picture 3"/>
          <p:cNvPicPr>
            <a:picLocks noChangeAspect="1" noChangeArrowheads="1"/>
          </p:cNvPicPr>
          <p:nvPr/>
        </p:nvPicPr>
        <p:blipFill>
          <a:blip r:embed="rId2" cstate="print"/>
          <a:srcRect/>
          <a:stretch>
            <a:fillRect/>
          </a:stretch>
        </p:blipFill>
        <p:spPr bwMode="auto">
          <a:xfrm>
            <a:off x="2984500" y="5410200"/>
            <a:ext cx="3175000" cy="10668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3"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Complicated Domain Logic Example</a:t>
            </a:r>
            <a:endParaRPr lang="en-US" sz="4000" dirty="0"/>
          </a:p>
        </p:txBody>
      </p:sp>
      <p:sp>
        <p:nvSpPr>
          <p:cNvPr id="3" name="Content Placeholder 2"/>
          <p:cNvSpPr>
            <a:spLocks noGrp="1"/>
          </p:cNvSpPr>
          <p:nvPr>
            <p:ph idx="1"/>
          </p:nvPr>
        </p:nvSpPr>
        <p:spPr/>
        <p:txBody>
          <a:bodyPr/>
          <a:lstStyle/>
          <a:p>
            <a:r>
              <a:rPr lang="en-US" sz="2400" dirty="0" smtClean="0"/>
              <a:t>Transferring money from one checking account to another</a:t>
            </a:r>
          </a:p>
          <a:p>
            <a:pPr lvl="1"/>
            <a:r>
              <a:rPr lang="en-US" sz="2200" dirty="0" smtClean="0"/>
              <a:t>Inputs:</a:t>
            </a:r>
          </a:p>
          <a:p>
            <a:pPr lvl="2"/>
            <a:r>
              <a:rPr lang="en-US" sz="1600" dirty="0" smtClean="0"/>
              <a:t>The identity of the person making the transfer</a:t>
            </a:r>
          </a:p>
          <a:p>
            <a:pPr lvl="2"/>
            <a:r>
              <a:rPr lang="en-US" sz="1600" dirty="0" smtClean="0"/>
              <a:t>The amount of money to be transferred</a:t>
            </a:r>
          </a:p>
          <a:p>
            <a:pPr lvl="2"/>
            <a:r>
              <a:rPr lang="en-US" sz="1600" dirty="0" smtClean="0"/>
              <a:t>The source checking account number</a:t>
            </a:r>
          </a:p>
          <a:p>
            <a:pPr lvl="2"/>
            <a:r>
              <a:rPr lang="en-US" sz="1600" dirty="0" smtClean="0"/>
              <a:t>The target checking account number</a:t>
            </a:r>
          </a:p>
          <a:p>
            <a:pPr lvl="1"/>
            <a:r>
              <a:rPr lang="en-US" sz="2200" dirty="0" smtClean="0"/>
              <a:t>Business rules</a:t>
            </a:r>
          </a:p>
          <a:p>
            <a:pPr lvl="2"/>
            <a:r>
              <a:rPr lang="en-US" sz="1600" dirty="0" smtClean="0"/>
              <a:t>The person making the request must have the authority to do so.</a:t>
            </a:r>
          </a:p>
          <a:p>
            <a:pPr lvl="2"/>
            <a:r>
              <a:rPr lang="en-US" sz="1600" dirty="0" smtClean="0"/>
              <a:t>The source checking account must have enough money.</a:t>
            </a:r>
          </a:p>
          <a:p>
            <a:pPr lvl="2"/>
            <a:r>
              <a:rPr lang="en-US" sz="1600" dirty="0" smtClean="0"/>
              <a:t>The target checking account must be in a status of being able to receive money.</a:t>
            </a:r>
          </a:p>
          <a:p>
            <a:pPr lvl="2"/>
            <a:r>
              <a:rPr lang="en-US" sz="1600" dirty="0" smtClean="0"/>
              <a:t>The transaction must be atomic.</a:t>
            </a:r>
          </a:p>
          <a:p>
            <a:pPr lvl="2"/>
            <a:r>
              <a:rPr lang="en-US" sz="1600" dirty="0" smtClean="0"/>
              <a:t>The transaction may have reporting requirements to the government, if it is over a certain amount.</a:t>
            </a:r>
          </a:p>
          <a:p>
            <a:pPr lvl="2"/>
            <a:r>
              <a:rPr lang="en-US" sz="1600" dirty="0" smtClean="0"/>
              <a:t>Notifications should be sent to all related people.</a:t>
            </a:r>
          </a:p>
          <a:p>
            <a:pPr lvl="2"/>
            <a:r>
              <a:rPr lang="en-US" sz="1600" dirty="0" smtClean="0"/>
              <a:t>The transaction must be available for audit.</a:t>
            </a:r>
            <a:endParaRPr lang="en-US" sz="1600" dirty="0"/>
          </a:p>
        </p:txBody>
      </p:sp>
      <p:pic>
        <p:nvPicPr>
          <p:cNvPr id="3075" name="Picture 3"/>
          <p:cNvPicPr>
            <a:picLocks noChangeAspect="1" noChangeArrowheads="1"/>
          </p:cNvPicPr>
          <p:nvPr/>
        </p:nvPicPr>
        <p:blipFill>
          <a:blip r:embed="rId2" cstate="print"/>
          <a:srcRect/>
          <a:stretch>
            <a:fillRect/>
          </a:stretch>
        </p:blipFill>
        <p:spPr bwMode="auto">
          <a:xfrm>
            <a:off x="5410200" y="2743200"/>
            <a:ext cx="3390900" cy="990600"/>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bwMode="auto">
          <a:xfrm>
            <a:off x="6172200" y="5562600"/>
            <a:ext cx="2257425" cy="11144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Order Example</a:t>
            </a:r>
            <a:endParaRPr lang="en-US" dirty="0"/>
          </a:p>
        </p:txBody>
      </p:sp>
      <p:pic>
        <p:nvPicPr>
          <p:cNvPr id="94214" name="Picture 6" descr="http://www.liabelle.me/wp-content/uploads/2013/03/Kindle-Paperwhite-International-Shipment-Netherlands.png"/>
          <p:cNvPicPr>
            <a:picLocks noChangeAspect="1" noChangeArrowheads="1"/>
          </p:cNvPicPr>
          <p:nvPr/>
        </p:nvPicPr>
        <p:blipFill>
          <a:blip r:embed="rId2" cstate="print"/>
          <a:srcRect/>
          <a:stretch>
            <a:fillRect/>
          </a:stretch>
        </p:blipFill>
        <p:spPr bwMode="auto">
          <a:xfrm>
            <a:off x="838200" y="1447800"/>
            <a:ext cx="7439025" cy="5124451"/>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Business Object: </a:t>
            </a:r>
            <a:r>
              <a:rPr lang="en-US" i="1" dirty="0" smtClean="0">
                <a:solidFill>
                  <a:srgbClr val="C00000"/>
                </a:solidFill>
              </a:rPr>
              <a:t>Problem</a:t>
            </a:r>
            <a:r>
              <a:rPr lang="en-US" dirty="0" smtClean="0"/>
              <a:t> [3, 4]</a:t>
            </a:r>
            <a:endParaRPr lang="en-US" dirty="0"/>
          </a:p>
        </p:txBody>
      </p:sp>
      <p:sp>
        <p:nvSpPr>
          <p:cNvPr id="3" name="Content Placeholder 2"/>
          <p:cNvSpPr>
            <a:spLocks noGrp="1"/>
          </p:cNvSpPr>
          <p:nvPr>
            <p:ph idx="1"/>
          </p:nvPr>
        </p:nvSpPr>
        <p:spPr/>
        <p:txBody>
          <a:bodyPr/>
          <a:lstStyle/>
          <a:p>
            <a:r>
              <a:rPr lang="en-US" sz="2800" dirty="0" smtClean="0"/>
              <a:t>How do we design </a:t>
            </a:r>
            <a:r>
              <a:rPr lang="en-US" sz="2800" i="1" dirty="0" smtClean="0">
                <a:solidFill>
                  <a:srgbClr val="C00000"/>
                </a:solidFill>
              </a:rPr>
              <a:t>complicated</a:t>
            </a:r>
            <a:r>
              <a:rPr lang="en-US" sz="2800" dirty="0" smtClean="0"/>
              <a:t> domain logic?</a:t>
            </a:r>
            <a:endParaRPr lang="en-US" sz="2600" dirty="0" smtClean="0"/>
          </a:p>
          <a:p>
            <a:r>
              <a:rPr lang="en-US" sz="2600" dirty="0" smtClean="0"/>
              <a:t>You have a conceptual model with </a:t>
            </a:r>
            <a:r>
              <a:rPr lang="en-US" sz="2600" i="1" dirty="0" smtClean="0">
                <a:solidFill>
                  <a:srgbClr val="C00000"/>
                </a:solidFill>
              </a:rPr>
              <a:t>sophisticated</a:t>
            </a:r>
            <a:r>
              <a:rPr lang="en-US" sz="2600" dirty="0" smtClean="0"/>
              <a:t>  </a:t>
            </a:r>
            <a:r>
              <a:rPr lang="en-US" sz="2600" u="sng" dirty="0" smtClean="0"/>
              <a:t>validation,</a:t>
            </a:r>
            <a:r>
              <a:rPr lang="en-US" sz="2600" dirty="0" smtClean="0"/>
              <a:t> business </a:t>
            </a:r>
            <a:r>
              <a:rPr lang="en-US" sz="2600" u="sng" dirty="0" smtClean="0"/>
              <a:t>logic</a:t>
            </a:r>
            <a:r>
              <a:rPr lang="en-US" sz="2600" dirty="0" smtClean="0"/>
              <a:t> (</a:t>
            </a:r>
            <a:r>
              <a:rPr lang="en-US" sz="2600" u="sng" dirty="0" smtClean="0"/>
              <a:t>calculations</a:t>
            </a:r>
            <a:r>
              <a:rPr lang="en-US" sz="2600" dirty="0" smtClean="0"/>
              <a:t>, </a:t>
            </a:r>
            <a:r>
              <a:rPr lang="en-US" sz="2600" u="sng" dirty="0" smtClean="0"/>
              <a:t>processes</a:t>
            </a:r>
            <a:r>
              <a:rPr lang="en-US" sz="2600" dirty="0" smtClean="0"/>
              <a:t>), and business </a:t>
            </a:r>
            <a:r>
              <a:rPr lang="en-US" sz="2600" u="sng" dirty="0" smtClean="0"/>
              <a:t>rules</a:t>
            </a:r>
            <a:r>
              <a:rPr lang="en-US" sz="2600" dirty="0" smtClean="0"/>
              <a:t> (</a:t>
            </a:r>
            <a:r>
              <a:rPr lang="en-US" sz="2600" u="sng" dirty="0" smtClean="0"/>
              <a:t>constraints</a:t>
            </a:r>
            <a:r>
              <a:rPr lang="en-US" sz="2600" dirty="0" smtClean="0"/>
              <a:t>).</a:t>
            </a:r>
          </a:p>
          <a:p>
            <a:pPr lvl="1"/>
            <a:r>
              <a:rPr lang="en-US" sz="2200" dirty="0" smtClean="0"/>
              <a:t>You want to </a:t>
            </a:r>
            <a:r>
              <a:rPr lang="en-US" sz="2200" i="1" dirty="0" smtClean="0">
                <a:solidFill>
                  <a:srgbClr val="C00000"/>
                </a:solidFill>
              </a:rPr>
              <a:t>group</a:t>
            </a:r>
            <a:r>
              <a:rPr lang="en-US" sz="2200" dirty="0" smtClean="0"/>
              <a:t> a set of business-related objects to avoid dealing with </a:t>
            </a:r>
            <a:r>
              <a:rPr lang="en-US" sz="2200" u="sng" dirty="0" smtClean="0"/>
              <a:t>internal</a:t>
            </a:r>
            <a:r>
              <a:rPr lang="en-US" sz="2200" dirty="0" smtClean="0"/>
              <a:t> complex structure.</a:t>
            </a:r>
          </a:p>
          <a:p>
            <a:pPr lvl="1"/>
            <a:r>
              <a:rPr lang="en-US" sz="2200" dirty="0" smtClean="0"/>
              <a:t>You want to </a:t>
            </a:r>
            <a:r>
              <a:rPr lang="en-US" sz="2200" i="1" dirty="0" smtClean="0">
                <a:solidFill>
                  <a:srgbClr val="C00000"/>
                </a:solidFill>
              </a:rPr>
              <a:t>separate</a:t>
            </a:r>
            <a:r>
              <a:rPr lang="en-US" sz="2200" dirty="0" smtClean="0"/>
              <a:t> the business state and related behavior from the rest of the application, improving cohesion and reusability.</a:t>
            </a:r>
          </a:p>
          <a:p>
            <a:pPr lvl="1"/>
            <a:r>
              <a:rPr lang="en-US" sz="2200" dirty="0" smtClean="0"/>
              <a:t>You want to </a:t>
            </a:r>
            <a:r>
              <a:rPr lang="en-US" sz="2200" i="1" dirty="0" smtClean="0">
                <a:solidFill>
                  <a:srgbClr val="C00000"/>
                </a:solidFill>
              </a:rPr>
              <a:t>centralize</a:t>
            </a:r>
            <a:r>
              <a:rPr lang="en-US" sz="2200" dirty="0" smtClean="0"/>
              <a:t> business logic and state in an application.</a:t>
            </a:r>
          </a:p>
          <a:p>
            <a:pPr lvl="1"/>
            <a:r>
              <a:rPr lang="en-US" sz="2200" dirty="0" smtClean="0"/>
              <a:t>You want to increase </a:t>
            </a:r>
            <a:r>
              <a:rPr lang="en-US" sz="2200" i="1" dirty="0" smtClean="0">
                <a:solidFill>
                  <a:srgbClr val="C00000"/>
                </a:solidFill>
              </a:rPr>
              <a:t>reusability</a:t>
            </a:r>
            <a:r>
              <a:rPr lang="en-US" sz="2200" dirty="0" smtClean="0"/>
              <a:t> of business logic and avoid </a:t>
            </a:r>
            <a:r>
              <a:rPr lang="en-US" sz="2200" i="1" dirty="0" smtClean="0">
                <a:solidFill>
                  <a:srgbClr val="C00000"/>
                </a:solidFill>
              </a:rPr>
              <a:t>duplication</a:t>
            </a:r>
            <a:r>
              <a:rPr lang="en-US" sz="2200" dirty="0" smtClean="0"/>
              <a:t> of code.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Business Object: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a:xfrm>
            <a:off x="457200" y="1600201"/>
            <a:ext cx="8229600" cy="1219200"/>
          </a:xfrm>
        </p:spPr>
        <p:txBody>
          <a:bodyPr/>
          <a:lstStyle/>
          <a:p>
            <a:r>
              <a:rPr lang="en-US" sz="2400" dirty="0" smtClean="0"/>
              <a:t>A Business Object is an object that implements a </a:t>
            </a:r>
            <a:r>
              <a:rPr lang="en-US" sz="2400" u="sng" dirty="0" smtClean="0"/>
              <a:t>well-defined</a:t>
            </a:r>
            <a:r>
              <a:rPr lang="en-US" sz="2400" dirty="0" smtClean="0"/>
              <a:t> </a:t>
            </a:r>
            <a:r>
              <a:rPr lang="en-US" sz="2400" i="1" dirty="0" smtClean="0">
                <a:solidFill>
                  <a:srgbClr val="C00000"/>
                </a:solidFill>
              </a:rPr>
              <a:t>business domain concept</a:t>
            </a:r>
            <a:r>
              <a:rPr lang="en-US" sz="2400" dirty="0" smtClean="0"/>
              <a:t> and includes intrinsic </a:t>
            </a:r>
            <a:r>
              <a:rPr lang="en-US" sz="2400" u="sng" dirty="0" smtClean="0"/>
              <a:t>business logic</a:t>
            </a:r>
            <a:r>
              <a:rPr lang="en-US" sz="2400" dirty="0" smtClean="0"/>
              <a:t> and </a:t>
            </a:r>
            <a:r>
              <a:rPr lang="en-US" sz="2400" u="sng" dirty="0" smtClean="0"/>
              <a:t>business rules</a:t>
            </a:r>
            <a:r>
              <a:rPr lang="en-US" sz="2400" dirty="0" smtClean="0"/>
              <a:t> that apply to that domain concept.</a:t>
            </a:r>
          </a:p>
        </p:txBody>
      </p:sp>
      <p:pic>
        <p:nvPicPr>
          <p:cNvPr id="4" name="Picture 2"/>
          <p:cNvPicPr>
            <a:picLocks noChangeAspect="1" noChangeArrowheads="1"/>
          </p:cNvPicPr>
          <p:nvPr/>
        </p:nvPicPr>
        <p:blipFill>
          <a:blip r:embed="rId2" cstate="print"/>
          <a:srcRect/>
          <a:stretch>
            <a:fillRect/>
          </a:stretch>
        </p:blipFill>
        <p:spPr bwMode="auto">
          <a:xfrm>
            <a:off x="4114800" y="2933700"/>
            <a:ext cx="4762500" cy="3543300"/>
          </a:xfrm>
          <a:prstGeom prst="rect">
            <a:avLst/>
          </a:prstGeom>
          <a:noFill/>
          <a:ln w="9525">
            <a:noFill/>
            <a:miter lim="800000"/>
            <a:headEnd/>
            <a:tailEnd/>
          </a:ln>
        </p:spPr>
      </p:pic>
      <p:sp>
        <p:nvSpPr>
          <p:cNvPr id="5" name="Content Placeholder 2"/>
          <p:cNvSpPr txBox="1">
            <a:spLocks/>
          </p:cNvSpPr>
          <p:nvPr/>
        </p:nvSpPr>
        <p:spPr bwMode="auto">
          <a:xfrm>
            <a:off x="457200" y="2789237"/>
            <a:ext cx="3657600" cy="1554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 Business Object encapsulate and manage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business data</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behavior</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persistence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Object Example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1800" dirty="0" smtClean="0"/>
              <a:t>Create table </a:t>
            </a:r>
            <a:r>
              <a:rPr lang="en-US" sz="1800" b="1" i="1" dirty="0" smtClean="0">
                <a:solidFill>
                  <a:srgbClr val="00B050"/>
                </a:solidFill>
                <a:latin typeface="Consolas" pitchFamily="49" charset="0"/>
              </a:rPr>
              <a:t>Booking</a:t>
            </a:r>
            <a:r>
              <a:rPr lang="en-US" sz="1800" dirty="0" smtClean="0"/>
              <a:t> (passport number, room number, from date, to date, price)</a:t>
            </a:r>
          </a:p>
          <a:p>
            <a:r>
              <a:rPr lang="en-US" sz="1800" dirty="0" smtClean="0"/>
              <a:t>Create </a:t>
            </a:r>
            <a:r>
              <a:rPr lang="en-US" sz="1800" b="1" i="1" dirty="0" smtClean="0">
                <a:solidFill>
                  <a:srgbClr val="C00000"/>
                </a:solidFill>
                <a:latin typeface="Consolas" pitchFamily="49" charset="0"/>
              </a:rPr>
              <a:t>Customer</a:t>
            </a:r>
            <a:r>
              <a:rPr lang="en-US" sz="1800" dirty="0" smtClean="0"/>
              <a:t> class with </a:t>
            </a:r>
            <a:r>
              <a:rPr lang="en-US" sz="1800" b="1" dirty="0" err="1" smtClean="0">
                <a:latin typeface="Consolas" pitchFamily="49" charset="0"/>
              </a:rPr>
              <a:t>PassportNumber</a:t>
            </a:r>
            <a:r>
              <a:rPr lang="en-US" sz="1800" dirty="0" smtClean="0"/>
              <a:t> property and use it to check passport number rule and get returned customer.</a:t>
            </a:r>
          </a:p>
          <a:p>
            <a:r>
              <a:rPr lang="en-US" sz="1800" dirty="0" smtClean="0"/>
              <a:t>Create </a:t>
            </a:r>
            <a:r>
              <a:rPr lang="en-US" sz="1800" b="1" i="1" dirty="0" smtClean="0">
                <a:solidFill>
                  <a:srgbClr val="C00000"/>
                </a:solidFill>
                <a:latin typeface="Consolas" pitchFamily="49" charset="0"/>
              </a:rPr>
              <a:t>Room</a:t>
            </a:r>
            <a:r>
              <a:rPr lang="en-US" sz="1800" dirty="0" smtClean="0"/>
              <a:t> class with </a:t>
            </a:r>
            <a:r>
              <a:rPr lang="en-US" sz="1800" b="1" dirty="0" err="1" smtClean="0">
                <a:latin typeface="Consolas" pitchFamily="49" charset="0"/>
              </a:rPr>
              <a:t>RoomNumber</a:t>
            </a:r>
            <a:r>
              <a:rPr lang="en-US" sz="1800" dirty="0" smtClean="0"/>
              <a:t> and </a:t>
            </a:r>
            <a:r>
              <a:rPr lang="en-US" sz="1800" b="1" dirty="0" err="1" smtClean="0">
                <a:latin typeface="Consolas" pitchFamily="49" charset="0"/>
              </a:rPr>
              <a:t>ReservedUntil</a:t>
            </a:r>
            <a:r>
              <a:rPr lang="en-US" sz="1800" dirty="0" smtClean="0"/>
              <a:t> property and use it to get available room</a:t>
            </a:r>
            <a:r>
              <a:rPr lang="en-US" sz="1800" i="1" dirty="0" smtClean="0"/>
              <a:t>.</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BookingPrice</a:t>
            </a:r>
            <a:r>
              <a:rPr lang="en-US" sz="1800" dirty="0" smtClean="0"/>
              <a:t> class with </a:t>
            </a:r>
            <a:r>
              <a:rPr lang="en-US" sz="1800" b="1" dirty="0" err="1" smtClean="0">
                <a:latin typeface="Consolas" pitchFamily="49" charset="0"/>
              </a:rPr>
              <a:t>StartDate</a:t>
            </a:r>
            <a:r>
              <a:rPr lang="en-US" sz="1800" dirty="0" smtClean="0"/>
              <a:t>, </a:t>
            </a:r>
            <a:r>
              <a:rPr lang="en-US" sz="1800" b="1" dirty="0" err="1" smtClean="0">
                <a:latin typeface="Consolas" pitchFamily="49" charset="0"/>
              </a:rPr>
              <a:t>EndDate</a:t>
            </a:r>
            <a:r>
              <a:rPr lang="en-US" sz="1800" dirty="0" smtClean="0"/>
              <a:t> and </a:t>
            </a:r>
            <a:r>
              <a:rPr lang="en-US" sz="1800" b="1" dirty="0" smtClean="0">
                <a:latin typeface="Consolas" pitchFamily="49" charset="0"/>
              </a:rPr>
              <a:t>Customer</a:t>
            </a:r>
            <a:r>
              <a:rPr lang="en-US" sz="1800" dirty="0" smtClean="0"/>
              <a:t> properties and </a:t>
            </a:r>
            <a:r>
              <a:rPr lang="en-US" sz="1800" dirty="0" err="1" smtClean="0"/>
              <a:t>GetPrice</a:t>
            </a:r>
            <a:r>
              <a:rPr lang="en-US" sz="1800" dirty="0" smtClean="0"/>
              <a:t> method</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BookingDTO</a:t>
            </a:r>
            <a:r>
              <a:rPr lang="en-US" sz="1800" dirty="0" smtClean="0"/>
              <a:t> class with the following properties: </a:t>
            </a:r>
            <a:r>
              <a:rPr lang="en-US" sz="1800" dirty="0" err="1" smtClean="0"/>
              <a:t>PassportNumber</a:t>
            </a:r>
            <a:r>
              <a:rPr lang="en-US" sz="1800" dirty="0" smtClean="0"/>
              <a:t>, </a:t>
            </a:r>
            <a:r>
              <a:rPr lang="en-US" sz="1800" dirty="0" err="1" smtClean="0"/>
              <a:t>FromDate</a:t>
            </a:r>
            <a:r>
              <a:rPr lang="en-US" sz="1800" dirty="0" smtClean="0"/>
              <a:t>, </a:t>
            </a:r>
            <a:r>
              <a:rPr lang="en-US" sz="1800" dirty="0" err="1" smtClean="0"/>
              <a:t>ToDate</a:t>
            </a:r>
            <a:r>
              <a:rPr lang="en-US" sz="1800" dirty="0" smtClean="0"/>
              <a:t>, </a:t>
            </a:r>
            <a:r>
              <a:rPr lang="en-US" sz="1800" dirty="0" err="1" smtClean="0"/>
              <a:t>RoomNumber</a:t>
            </a:r>
            <a:r>
              <a:rPr lang="en-US" sz="1800" dirty="0" smtClean="0"/>
              <a:t>, Price.</a:t>
            </a:r>
          </a:p>
          <a:p>
            <a:r>
              <a:rPr lang="en-US" sz="1800" dirty="0" smtClean="0"/>
              <a:t>Create </a:t>
            </a:r>
            <a:r>
              <a:rPr lang="en-US" sz="1800" b="1" i="1" dirty="0" smtClean="0">
                <a:solidFill>
                  <a:srgbClr val="C00000"/>
                </a:solidFill>
                <a:latin typeface="Consolas" pitchFamily="49" charset="0"/>
              </a:rPr>
              <a:t>Booking</a:t>
            </a:r>
            <a:r>
              <a:rPr lang="en-US" sz="1800" dirty="0" smtClean="0"/>
              <a:t> class with </a:t>
            </a:r>
            <a:r>
              <a:rPr lang="en-US" sz="1800" b="1" i="1" dirty="0" smtClean="0">
                <a:solidFill>
                  <a:srgbClr val="C00000"/>
                </a:solidFill>
                <a:latin typeface="Consolas" pitchFamily="49" charset="0"/>
              </a:rPr>
              <a:t>Customer</a:t>
            </a:r>
            <a:r>
              <a:rPr lang="en-US" sz="1800" dirty="0" smtClean="0"/>
              <a:t>, </a:t>
            </a:r>
            <a:r>
              <a:rPr lang="en-US" sz="1800" b="1" i="1" dirty="0" smtClean="0">
                <a:solidFill>
                  <a:srgbClr val="C00000"/>
                </a:solidFill>
                <a:latin typeface="Consolas" pitchFamily="49" charset="0"/>
              </a:rPr>
              <a:t>Room</a:t>
            </a:r>
            <a:r>
              <a:rPr lang="en-US" sz="1800" dirty="0" smtClean="0"/>
              <a:t> and </a:t>
            </a:r>
            <a:r>
              <a:rPr lang="en-US" sz="1800" b="1" i="1" dirty="0" err="1" smtClean="0">
                <a:solidFill>
                  <a:srgbClr val="C00000"/>
                </a:solidFill>
                <a:latin typeface="Consolas" pitchFamily="49" charset="0"/>
              </a:rPr>
              <a:t>BookingPrice</a:t>
            </a:r>
            <a:r>
              <a:rPr lang="en-US" sz="1800" i="1" dirty="0" smtClean="0"/>
              <a:t> </a:t>
            </a:r>
            <a:r>
              <a:rPr lang="en-US" sz="1800" dirty="0" smtClean="0"/>
              <a:t>properties.</a:t>
            </a:r>
          </a:p>
          <a:p>
            <a:pPr lvl="1"/>
            <a:r>
              <a:rPr lang="en-US" sz="1700" dirty="0" smtClean="0"/>
              <a:t>Create </a:t>
            </a:r>
            <a:r>
              <a:rPr lang="en-US" sz="1700" b="1" dirty="0" err="1" smtClean="0">
                <a:latin typeface="Consolas" pitchFamily="49" charset="0"/>
              </a:rPr>
              <a:t>BookingDTO</a:t>
            </a:r>
            <a:r>
              <a:rPr lang="en-US" sz="1700" b="1" dirty="0" smtClean="0">
                <a:latin typeface="Consolas" pitchFamily="49" charset="0"/>
              </a:rPr>
              <a:t> Book(</a:t>
            </a:r>
            <a:r>
              <a:rPr lang="en-US" sz="1700" b="1" dirty="0" err="1" smtClean="0">
                <a:latin typeface="Consolas" pitchFamily="49" charset="0"/>
              </a:rPr>
              <a:t>BookingDTO</a:t>
            </a:r>
            <a:r>
              <a:rPr lang="en-US" sz="1700" b="1" dirty="0" smtClean="0">
                <a:latin typeface="Consolas" pitchFamily="49" charset="0"/>
              </a:rPr>
              <a:t> input)</a:t>
            </a:r>
            <a:r>
              <a:rPr lang="en-US" sz="1700" dirty="0" smtClean="0"/>
              <a:t> method.</a:t>
            </a:r>
          </a:p>
          <a:p>
            <a:pPr lvl="1"/>
            <a:r>
              <a:rPr lang="en-US" sz="1700" dirty="0" smtClean="0"/>
              <a:t>Create Customer, Room and </a:t>
            </a:r>
            <a:r>
              <a:rPr lang="en-US" sz="1700" dirty="0" err="1" smtClean="0"/>
              <a:t>BookingPrice</a:t>
            </a:r>
            <a:r>
              <a:rPr lang="en-US" sz="1700" dirty="0" smtClean="0"/>
              <a:t> instance and call appropriate methods.</a:t>
            </a:r>
          </a:p>
          <a:p>
            <a:pPr lvl="1"/>
            <a:r>
              <a:rPr lang="en-US" sz="1700" dirty="0" smtClean="0"/>
              <a:t>Insert information (passport number, room number, from date, to date, price) into the table Booking (Booking’s responsibility).</a:t>
            </a:r>
          </a:p>
          <a:p>
            <a:pPr lvl="1"/>
            <a:r>
              <a:rPr lang="en-US" sz="1700" dirty="0" smtClean="0"/>
              <a:t>Update </a:t>
            </a:r>
            <a:r>
              <a:rPr lang="en-US" sz="1700" dirty="0" err="1" smtClean="0"/>
              <a:t>ReservedUntil</a:t>
            </a:r>
            <a:r>
              <a:rPr lang="en-US" sz="1700" dirty="0" smtClean="0"/>
              <a:t> field of the table Rooms (Room’s responsibility).</a:t>
            </a:r>
          </a:p>
        </p:txBody>
      </p:sp>
      <p:cxnSp>
        <p:nvCxnSpPr>
          <p:cNvPr id="5" name="Straight Arrow Connector 4"/>
          <p:cNvCxnSpPr/>
          <p:nvPr/>
        </p:nvCxnSpPr>
        <p:spPr>
          <a:xfrm flipH="1">
            <a:off x="2057400" y="1905000"/>
            <a:ext cx="228600" cy="76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057400" y="1981200"/>
            <a:ext cx="457200" cy="1143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2209800" y="1981200"/>
            <a:ext cx="457200" cy="2362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or Price Rule Change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1800" dirty="0" smtClean="0"/>
              <a:t>Create table </a:t>
            </a:r>
            <a:r>
              <a:rPr lang="en-US" sz="1800" b="1" i="1" dirty="0" smtClean="0">
                <a:solidFill>
                  <a:srgbClr val="00B050"/>
                </a:solidFill>
                <a:latin typeface="Consolas" pitchFamily="49" charset="0"/>
              </a:rPr>
              <a:t>Booking</a:t>
            </a:r>
            <a:r>
              <a:rPr lang="en-US" sz="1800" dirty="0" smtClean="0"/>
              <a:t> (passport number, room number, from date, to date, price)</a:t>
            </a:r>
          </a:p>
          <a:p>
            <a:r>
              <a:rPr lang="en-US" sz="1800" dirty="0" smtClean="0"/>
              <a:t>Create </a:t>
            </a:r>
            <a:r>
              <a:rPr lang="en-US" sz="1800" b="1" i="1" dirty="0" smtClean="0">
                <a:solidFill>
                  <a:srgbClr val="C00000"/>
                </a:solidFill>
                <a:latin typeface="Consolas" pitchFamily="49" charset="0"/>
              </a:rPr>
              <a:t>Customer</a:t>
            </a:r>
            <a:r>
              <a:rPr lang="en-US" sz="1800" dirty="0" smtClean="0"/>
              <a:t> class with </a:t>
            </a:r>
            <a:r>
              <a:rPr lang="en-US" sz="1800" b="1" dirty="0" err="1" smtClean="0">
                <a:latin typeface="Consolas" pitchFamily="49" charset="0"/>
              </a:rPr>
              <a:t>PassportNumber</a:t>
            </a:r>
            <a:r>
              <a:rPr lang="en-US" sz="1800" dirty="0" smtClean="0"/>
              <a:t> property and use it to check passport number rule and get returned customer.</a:t>
            </a:r>
          </a:p>
          <a:p>
            <a:r>
              <a:rPr lang="en-US" sz="1800" dirty="0" smtClean="0"/>
              <a:t>Create </a:t>
            </a:r>
            <a:r>
              <a:rPr lang="en-US" sz="1800" b="1" i="1" dirty="0" smtClean="0">
                <a:solidFill>
                  <a:srgbClr val="C00000"/>
                </a:solidFill>
                <a:latin typeface="Consolas" pitchFamily="49" charset="0"/>
              </a:rPr>
              <a:t>Room</a:t>
            </a:r>
            <a:r>
              <a:rPr lang="en-US" sz="1800" dirty="0" smtClean="0"/>
              <a:t> class with </a:t>
            </a:r>
            <a:r>
              <a:rPr lang="en-US" sz="1800" b="1" dirty="0" err="1" smtClean="0">
                <a:latin typeface="Consolas" pitchFamily="49" charset="0"/>
              </a:rPr>
              <a:t>RoomNumber</a:t>
            </a:r>
            <a:r>
              <a:rPr lang="en-US" sz="1800" dirty="0" smtClean="0"/>
              <a:t> and </a:t>
            </a:r>
            <a:r>
              <a:rPr lang="en-US" sz="1800" b="1" dirty="0" err="1" smtClean="0">
                <a:latin typeface="Consolas" pitchFamily="49" charset="0"/>
              </a:rPr>
              <a:t>ReservedUntil</a:t>
            </a:r>
            <a:r>
              <a:rPr lang="en-US" sz="1800" dirty="0" smtClean="0"/>
              <a:t> property and use it to get available room</a:t>
            </a:r>
            <a:r>
              <a:rPr lang="en-US" sz="1800" i="1" dirty="0" smtClean="0"/>
              <a:t>.</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BookingPrice</a:t>
            </a:r>
            <a:r>
              <a:rPr lang="en-US" sz="1800" dirty="0" smtClean="0"/>
              <a:t> class with </a:t>
            </a:r>
            <a:r>
              <a:rPr lang="en-US" sz="1800" b="1" dirty="0" err="1" smtClean="0">
                <a:latin typeface="Consolas" pitchFamily="49" charset="0"/>
              </a:rPr>
              <a:t>StartDate</a:t>
            </a:r>
            <a:r>
              <a:rPr lang="en-US" sz="1800" dirty="0" smtClean="0"/>
              <a:t>, </a:t>
            </a:r>
            <a:r>
              <a:rPr lang="en-US" sz="1800" b="1" dirty="0" err="1" smtClean="0">
                <a:latin typeface="Consolas" pitchFamily="49" charset="0"/>
              </a:rPr>
              <a:t>EndDate</a:t>
            </a:r>
            <a:r>
              <a:rPr lang="en-US" sz="1800" dirty="0" smtClean="0"/>
              <a:t> and </a:t>
            </a:r>
            <a:r>
              <a:rPr lang="en-US" sz="1800" b="1" dirty="0" smtClean="0">
                <a:latin typeface="Consolas" pitchFamily="49" charset="0"/>
              </a:rPr>
              <a:t>Customer</a:t>
            </a:r>
            <a:r>
              <a:rPr lang="en-US" sz="1800" dirty="0" smtClean="0"/>
              <a:t> properties and </a:t>
            </a:r>
            <a:r>
              <a:rPr lang="en-US" sz="1800" dirty="0" err="1" smtClean="0"/>
              <a:t>GetPrice</a:t>
            </a:r>
            <a:r>
              <a:rPr lang="en-US" sz="1800" dirty="0" smtClean="0"/>
              <a:t> method</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BookingDTO</a:t>
            </a:r>
            <a:r>
              <a:rPr lang="en-US" sz="1800" dirty="0" smtClean="0"/>
              <a:t> class with the following properties: </a:t>
            </a:r>
            <a:r>
              <a:rPr lang="en-US" sz="1800" dirty="0" err="1" smtClean="0"/>
              <a:t>PassportNumber</a:t>
            </a:r>
            <a:r>
              <a:rPr lang="en-US" sz="1800" dirty="0" smtClean="0"/>
              <a:t>, </a:t>
            </a:r>
            <a:r>
              <a:rPr lang="en-US" sz="1800" dirty="0" err="1" smtClean="0"/>
              <a:t>FromDate</a:t>
            </a:r>
            <a:r>
              <a:rPr lang="en-US" sz="1800" dirty="0" smtClean="0"/>
              <a:t>, </a:t>
            </a:r>
            <a:r>
              <a:rPr lang="en-US" sz="1800" dirty="0" err="1" smtClean="0"/>
              <a:t>ToDate</a:t>
            </a:r>
            <a:r>
              <a:rPr lang="en-US" sz="1800" dirty="0" smtClean="0"/>
              <a:t>, </a:t>
            </a:r>
            <a:r>
              <a:rPr lang="en-US" sz="1800" dirty="0" err="1" smtClean="0"/>
              <a:t>RoomNumber</a:t>
            </a:r>
            <a:r>
              <a:rPr lang="en-US" sz="1800" dirty="0" smtClean="0"/>
              <a:t>, Price.</a:t>
            </a:r>
          </a:p>
          <a:p>
            <a:r>
              <a:rPr lang="en-US" sz="1800" dirty="0" smtClean="0"/>
              <a:t>Create </a:t>
            </a:r>
            <a:r>
              <a:rPr lang="en-US" sz="1800" b="1" i="1" dirty="0" smtClean="0">
                <a:solidFill>
                  <a:srgbClr val="C00000"/>
                </a:solidFill>
                <a:latin typeface="Consolas" pitchFamily="49" charset="0"/>
              </a:rPr>
              <a:t>Booking</a:t>
            </a:r>
            <a:r>
              <a:rPr lang="en-US" sz="1800" dirty="0" smtClean="0"/>
              <a:t> class with </a:t>
            </a:r>
            <a:r>
              <a:rPr lang="en-US" sz="1800" b="1" i="1" dirty="0" smtClean="0">
                <a:solidFill>
                  <a:srgbClr val="C00000"/>
                </a:solidFill>
                <a:latin typeface="Consolas" pitchFamily="49" charset="0"/>
              </a:rPr>
              <a:t>Customer</a:t>
            </a:r>
            <a:r>
              <a:rPr lang="en-US" sz="1800" dirty="0" smtClean="0"/>
              <a:t>, </a:t>
            </a:r>
            <a:r>
              <a:rPr lang="en-US" sz="1800" b="1" i="1" dirty="0" smtClean="0">
                <a:solidFill>
                  <a:srgbClr val="C00000"/>
                </a:solidFill>
                <a:latin typeface="Consolas" pitchFamily="49" charset="0"/>
              </a:rPr>
              <a:t>Room</a:t>
            </a:r>
            <a:r>
              <a:rPr lang="en-US" sz="1800" dirty="0" smtClean="0"/>
              <a:t> and </a:t>
            </a:r>
            <a:r>
              <a:rPr lang="en-US" sz="1800" b="1" i="1" dirty="0" err="1" smtClean="0">
                <a:solidFill>
                  <a:srgbClr val="C00000"/>
                </a:solidFill>
                <a:latin typeface="Consolas" pitchFamily="49" charset="0"/>
              </a:rPr>
              <a:t>BookingPrice</a:t>
            </a:r>
            <a:r>
              <a:rPr lang="en-US" sz="1800" i="1" dirty="0" smtClean="0"/>
              <a:t> </a:t>
            </a:r>
            <a:r>
              <a:rPr lang="en-US" sz="1800" dirty="0" smtClean="0"/>
              <a:t>properties.</a:t>
            </a:r>
          </a:p>
          <a:p>
            <a:pPr lvl="1"/>
            <a:r>
              <a:rPr lang="en-US" sz="1700" dirty="0" smtClean="0"/>
              <a:t>Create </a:t>
            </a:r>
            <a:r>
              <a:rPr lang="en-US" sz="1700" b="1" dirty="0" err="1" smtClean="0">
                <a:latin typeface="Consolas" pitchFamily="49" charset="0"/>
              </a:rPr>
              <a:t>BookingDTO</a:t>
            </a:r>
            <a:r>
              <a:rPr lang="en-US" sz="1700" b="1" dirty="0" smtClean="0">
                <a:latin typeface="Consolas" pitchFamily="49" charset="0"/>
              </a:rPr>
              <a:t> Book(</a:t>
            </a:r>
            <a:r>
              <a:rPr lang="en-US" sz="1700" b="1" dirty="0" err="1" smtClean="0">
                <a:latin typeface="Consolas" pitchFamily="49" charset="0"/>
              </a:rPr>
              <a:t>BookingDTO</a:t>
            </a:r>
            <a:r>
              <a:rPr lang="en-US" sz="1700" b="1" dirty="0" smtClean="0">
                <a:latin typeface="Consolas" pitchFamily="49" charset="0"/>
              </a:rPr>
              <a:t> input)</a:t>
            </a:r>
            <a:r>
              <a:rPr lang="en-US" sz="1700" dirty="0" smtClean="0"/>
              <a:t> method.</a:t>
            </a:r>
          </a:p>
          <a:p>
            <a:pPr lvl="1"/>
            <a:r>
              <a:rPr lang="en-US" sz="1700" dirty="0" smtClean="0"/>
              <a:t>Create Customer, Room and </a:t>
            </a:r>
            <a:r>
              <a:rPr lang="en-US" sz="1700" dirty="0" err="1" smtClean="0"/>
              <a:t>BookingPrice</a:t>
            </a:r>
            <a:r>
              <a:rPr lang="en-US" sz="1700" dirty="0" smtClean="0"/>
              <a:t> instance and call appropriate methods.</a:t>
            </a:r>
          </a:p>
          <a:p>
            <a:pPr lvl="1"/>
            <a:r>
              <a:rPr lang="en-US" sz="1700" dirty="0" smtClean="0"/>
              <a:t>Insert information (passport number, room number, from date, to date, price) into the table Booking (Booking’s responsibility).</a:t>
            </a:r>
          </a:p>
          <a:p>
            <a:pPr lvl="1"/>
            <a:r>
              <a:rPr lang="en-US" sz="1700" dirty="0" smtClean="0"/>
              <a:t>Update </a:t>
            </a:r>
            <a:r>
              <a:rPr lang="en-US" sz="1700" dirty="0" err="1" smtClean="0"/>
              <a:t>ReservedUntil</a:t>
            </a:r>
            <a:r>
              <a:rPr lang="en-US" sz="1700" dirty="0" smtClean="0"/>
              <a:t> field of the table Rooms (Room’s responsibility).</a:t>
            </a:r>
          </a:p>
        </p:txBody>
      </p:sp>
      <p:cxnSp>
        <p:nvCxnSpPr>
          <p:cNvPr id="5" name="Straight Arrow Connector 4"/>
          <p:cNvCxnSpPr/>
          <p:nvPr/>
        </p:nvCxnSpPr>
        <p:spPr>
          <a:xfrm flipH="1">
            <a:off x="2057400" y="1143000"/>
            <a:ext cx="304800" cy="838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057400" y="1143000"/>
            <a:ext cx="2895600" cy="1981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Object: </a:t>
            </a:r>
            <a:r>
              <a:rPr lang="en-US" i="1" dirty="0" smtClean="0">
                <a:solidFill>
                  <a:srgbClr val="C00000"/>
                </a:solidFill>
              </a:rPr>
              <a:t>Structure</a:t>
            </a:r>
            <a:endParaRPr lang="en-US" i="1" dirty="0">
              <a:solidFill>
                <a:srgbClr val="C0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2171700" y="4867275"/>
            <a:ext cx="4762500" cy="1304925"/>
          </a:xfrm>
          <a:prstGeom prst="rect">
            <a:avLst/>
          </a:prstGeom>
          <a:noFill/>
          <a:ln w="9525">
            <a:noFill/>
            <a:miter lim="800000"/>
            <a:headEnd/>
            <a:tailEnd/>
          </a:ln>
        </p:spPr>
      </p:pic>
      <p:pic>
        <p:nvPicPr>
          <p:cNvPr id="53250" name="Picture 2" descr="http://media.tumblr.com/bc14008b6ca228be8499399ffdb9cc82/tumblr_inline_mgyj3iDVle1qersu1.jpg"/>
          <p:cNvPicPr>
            <a:picLocks noChangeAspect="1" noChangeArrowheads="1"/>
          </p:cNvPicPr>
          <p:nvPr/>
        </p:nvPicPr>
        <p:blipFill>
          <a:blip r:embed="rId3" cstate="print"/>
          <a:srcRect/>
          <a:stretch>
            <a:fillRect/>
          </a:stretch>
        </p:blipFill>
        <p:spPr bwMode="auto">
          <a:xfrm>
            <a:off x="3200400" y="1333500"/>
            <a:ext cx="2857500" cy="2857500"/>
          </a:xfrm>
          <a:prstGeom prst="rect">
            <a:avLst/>
          </a:prstGeom>
          <a:noFill/>
        </p:spPr>
      </p:pic>
      <p:cxnSp>
        <p:nvCxnSpPr>
          <p:cNvPr id="5" name="Straight Arrow Connector 4"/>
          <p:cNvCxnSpPr/>
          <p:nvPr/>
        </p:nvCxnSpPr>
        <p:spPr>
          <a:xfrm flipH="1">
            <a:off x="3352800" y="3352800"/>
            <a:ext cx="685800" cy="137160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5562600" y="3124200"/>
            <a:ext cx="609600" cy="167640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Object: </a:t>
            </a:r>
            <a:r>
              <a:rPr lang="en-US" i="1" dirty="0" smtClean="0">
                <a:solidFill>
                  <a:srgbClr val="C00000"/>
                </a:solidFill>
              </a:rPr>
              <a:t>Dynamic</a:t>
            </a:r>
            <a:endParaRPr lang="en-US" i="1" dirty="0">
              <a:solidFill>
                <a:srgbClr val="C00000"/>
              </a:solidFill>
            </a:endParaRPr>
          </a:p>
        </p:txBody>
      </p:sp>
      <p:pic>
        <p:nvPicPr>
          <p:cNvPr id="2054" name="Picture 6"/>
          <p:cNvPicPr>
            <a:picLocks noChangeAspect="1" noChangeArrowheads="1"/>
          </p:cNvPicPr>
          <p:nvPr/>
        </p:nvPicPr>
        <p:blipFill>
          <a:blip r:embed="rId2" cstate="print"/>
          <a:srcRect/>
          <a:stretch>
            <a:fillRect/>
          </a:stretch>
        </p:blipFill>
        <p:spPr bwMode="auto">
          <a:xfrm>
            <a:off x="2705100" y="1400175"/>
            <a:ext cx="4305300" cy="515302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Model</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Domain Model</a:t>
            </a:r>
            <a:r>
              <a:rPr lang="en-US" sz="2400" dirty="0" smtClean="0"/>
              <a:t> creates </a:t>
            </a:r>
            <a:r>
              <a:rPr lang="en-US" sz="2400" u="sng" dirty="0" smtClean="0"/>
              <a:t>a web of interconnected objects</a:t>
            </a:r>
            <a:r>
              <a:rPr lang="en-US" sz="2400" dirty="0" smtClean="0"/>
              <a:t>, where each object represents some meaningful individual, whether as large as a corporation or as small as a single line on an order form.</a:t>
            </a:r>
          </a:p>
          <a:p>
            <a:r>
              <a:rPr lang="en-US" sz="2400" dirty="0" smtClean="0"/>
              <a:t>A </a:t>
            </a:r>
            <a:r>
              <a:rPr lang="en-US" sz="2400" i="1" dirty="0" smtClean="0">
                <a:solidFill>
                  <a:srgbClr val="C00000"/>
                </a:solidFill>
              </a:rPr>
              <a:t>simple Domain Model</a:t>
            </a:r>
            <a:r>
              <a:rPr lang="en-US" sz="2400" dirty="0" smtClean="0"/>
              <a:t> looks very much </a:t>
            </a:r>
            <a:r>
              <a:rPr lang="en-US" sz="2400" u="sng" dirty="0" smtClean="0"/>
              <a:t>like the database</a:t>
            </a:r>
            <a:r>
              <a:rPr lang="en-US" sz="2400" dirty="0" smtClean="0"/>
              <a:t> design with mostly one domain object for each database table.</a:t>
            </a:r>
          </a:p>
          <a:p>
            <a:r>
              <a:rPr lang="en-US" sz="2400" dirty="0" smtClean="0"/>
              <a:t>A </a:t>
            </a:r>
            <a:r>
              <a:rPr lang="en-US" sz="2400" i="1" dirty="0" smtClean="0">
                <a:solidFill>
                  <a:srgbClr val="C00000"/>
                </a:solidFill>
              </a:rPr>
              <a:t>rich Domain Model</a:t>
            </a:r>
            <a:r>
              <a:rPr lang="en-US" sz="2400" dirty="0" smtClean="0"/>
              <a:t> can look </a:t>
            </a:r>
            <a:r>
              <a:rPr lang="en-US" sz="2400" u="sng" dirty="0" smtClean="0"/>
              <a:t>different from the database</a:t>
            </a:r>
            <a:r>
              <a:rPr lang="en-US" sz="2400" dirty="0" smtClean="0"/>
              <a:t> design, with inheritance, strategies, and other patterns, and complex webs of small interconnected objects.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Domain Model Example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000500" y="1828800"/>
            <a:ext cx="4762500" cy="4191000"/>
          </a:xfrm>
          <a:prstGeom prst="rect">
            <a:avLst/>
          </a:prstGeom>
          <a:noFill/>
          <a:ln w="9525">
            <a:noFill/>
            <a:miter lim="800000"/>
            <a:headEnd/>
            <a:tailEnd/>
          </a:ln>
        </p:spPr>
      </p:pic>
      <p:sp>
        <p:nvSpPr>
          <p:cNvPr id="4" name="Rectangle 3"/>
          <p:cNvSpPr/>
          <p:nvPr/>
        </p:nvSpPr>
        <p:spPr>
          <a:xfrm>
            <a:off x="381000" y="1828800"/>
            <a:ext cx="3276600" cy="3816429"/>
          </a:xfrm>
          <a:prstGeom prst="rect">
            <a:avLst/>
          </a:prstGeom>
        </p:spPr>
        <p:txBody>
          <a:bodyPr wrap="square">
            <a:spAutoFit/>
          </a:bodyPr>
          <a:lstStyle/>
          <a:p>
            <a:r>
              <a:rPr lang="en-US" sz="2200" dirty="0" smtClean="0">
                <a:latin typeface="+mj-lt"/>
              </a:rPr>
              <a:t>One of the biggest frustrations of describing a Domain Model is the fact that any example I show is necessarily simple so you can understand it; yet that simplicity </a:t>
            </a:r>
            <a:r>
              <a:rPr lang="en-US" sz="2200" i="1" dirty="0" smtClean="0">
                <a:solidFill>
                  <a:srgbClr val="C00000"/>
                </a:solidFill>
                <a:latin typeface="+mj-lt"/>
              </a:rPr>
              <a:t>hides</a:t>
            </a:r>
            <a:r>
              <a:rPr lang="en-US" sz="2200" dirty="0" smtClean="0">
                <a:latin typeface="+mj-lt"/>
              </a:rPr>
              <a:t> the Domain Model's </a:t>
            </a:r>
            <a:r>
              <a:rPr lang="en-US" sz="2200" u="sng" dirty="0" smtClean="0">
                <a:latin typeface="+mj-lt"/>
              </a:rPr>
              <a:t>strength</a:t>
            </a:r>
            <a:r>
              <a:rPr lang="en-US" sz="2200" dirty="0" smtClean="0">
                <a:latin typeface="+mj-lt"/>
              </a:rPr>
              <a:t>. You only appreciate these strengths when you have a </a:t>
            </a:r>
            <a:r>
              <a:rPr lang="en-US" sz="2200" i="1" dirty="0" smtClean="0">
                <a:solidFill>
                  <a:srgbClr val="C00000"/>
                </a:solidFill>
                <a:latin typeface="+mj-lt"/>
              </a:rPr>
              <a:t>really</a:t>
            </a:r>
            <a:r>
              <a:rPr lang="en-US" sz="2200" dirty="0" smtClean="0">
                <a:latin typeface="+mj-lt"/>
              </a:rPr>
              <a:t> complicated domain.</a:t>
            </a:r>
            <a:endParaRPr lang="en-US" sz="2200" dirty="0">
              <a:latin typeface="+mj-lt"/>
            </a:endParaRPr>
          </a:p>
        </p:txBody>
      </p:sp>
      <p:sp>
        <p:nvSpPr>
          <p:cNvPr id="6" name="Rectangle 5"/>
          <p:cNvSpPr/>
          <p:nvPr/>
        </p:nvSpPr>
        <p:spPr>
          <a:xfrm>
            <a:off x="457200" y="5943600"/>
            <a:ext cx="6096000" cy="707886"/>
          </a:xfrm>
          <a:prstGeom prst="rect">
            <a:avLst/>
          </a:prstGeom>
        </p:spPr>
        <p:txBody>
          <a:bodyPr wrap="square">
            <a:spAutoFit/>
          </a:bodyPr>
          <a:lstStyle/>
          <a:p>
            <a:r>
              <a:rPr lang="en-US" sz="2000" u="sng" dirty="0" smtClean="0">
                <a:latin typeface="Consolas" pitchFamily="49" charset="0"/>
              </a:rPr>
              <a:t>Requirement</a:t>
            </a:r>
            <a:r>
              <a:rPr lang="en-US" sz="2000" dirty="0" smtClean="0">
                <a:latin typeface="Consolas" pitchFamily="49" charset="0"/>
              </a:rPr>
              <a:t>: Calculating how much revenue is recognized on a </a:t>
            </a:r>
            <a:r>
              <a:rPr lang="en-US" sz="2000" u="sng" dirty="0" smtClean="0">
                <a:latin typeface="Consolas" pitchFamily="49" charset="0"/>
              </a:rPr>
              <a:t>particular date</a:t>
            </a:r>
            <a:r>
              <a:rPr lang="en-US" sz="2000" dirty="0" smtClean="0">
                <a:latin typeface="Consolas" pitchFamily="49" charset="0"/>
              </a:rPr>
              <a:t>.</a:t>
            </a:r>
            <a:endParaRPr lang="en-US" sz="2000" dirty="0">
              <a:latin typeface="Consolas" pitchFamily="49" charset="0"/>
            </a:endParaRPr>
          </a:p>
        </p:txBody>
      </p:sp>
      <p:sp>
        <p:nvSpPr>
          <p:cNvPr id="7" name="Oval 6"/>
          <p:cNvSpPr/>
          <p:nvPr/>
        </p:nvSpPr>
        <p:spPr>
          <a:xfrm>
            <a:off x="3733800" y="1447800"/>
            <a:ext cx="2133600" cy="342900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8" name="Straight Arrow Connector 7"/>
          <p:cNvCxnSpPr/>
          <p:nvPr/>
        </p:nvCxnSpPr>
        <p:spPr>
          <a:xfrm flipH="1">
            <a:off x="3352800" y="2590800"/>
            <a:ext cx="685800" cy="33528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486400" y="1295400"/>
            <a:ext cx="358140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smtClean="0">
                <a:solidFill>
                  <a:srgbClr val="C00000"/>
                </a:solidFill>
                <a:latin typeface="Consolas" pitchFamily="49" charset="0"/>
                <a:cs typeface="Consolas" pitchFamily="49" charset="0"/>
              </a:rPr>
              <a:t>List </a:t>
            </a:r>
            <a:r>
              <a:rPr lang="en-US" sz="2000" b="1" dirty="0" err="1" smtClean="0">
                <a:solidFill>
                  <a:srgbClr val="C00000"/>
                </a:solidFill>
                <a:latin typeface="Consolas" pitchFamily="49" charset="0"/>
                <a:cs typeface="Consolas" pitchFamily="49" charset="0"/>
              </a:rPr>
              <a:t>revenueRecognitions</a:t>
            </a:r>
            <a:endParaRPr lang="en-US" sz="2000" b="1" dirty="0"/>
          </a:p>
        </p:txBody>
      </p:sp>
      <p:cxnSp>
        <p:nvCxnSpPr>
          <p:cNvPr id="10" name="Straight Arrow Connector 9"/>
          <p:cNvCxnSpPr/>
          <p:nvPr/>
        </p:nvCxnSpPr>
        <p:spPr>
          <a:xfrm flipV="1">
            <a:off x="5181600" y="1752600"/>
            <a:ext cx="457200" cy="2286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495800" y="2667000"/>
            <a:ext cx="609600" cy="36576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Revenue Recognition</a:t>
            </a:r>
            <a:endParaRPr lang="en-US" dirty="0"/>
          </a:p>
        </p:txBody>
      </p:sp>
      <p:sp>
        <p:nvSpPr>
          <p:cNvPr id="4" name="Rectangle 3"/>
          <p:cNvSpPr/>
          <p:nvPr/>
        </p:nvSpPr>
        <p:spPr>
          <a:xfrm>
            <a:off x="457200" y="1600200"/>
            <a:ext cx="8305800" cy="5016758"/>
          </a:xfrm>
          <a:prstGeom prst="rect">
            <a:avLst/>
          </a:prstGeom>
          <a:solidFill>
            <a:schemeClr val="bg2"/>
          </a:solidFill>
          <a:ln>
            <a:solidFill>
              <a:schemeClr val="bg2">
                <a:lumMod val="10000"/>
              </a:schemeClr>
            </a:solidFill>
          </a:ln>
        </p:spPr>
        <p:txBody>
          <a:bodyPr wrap="square">
            <a:spAutoFit/>
          </a:bodyPr>
          <a:lstStyle/>
          <a:p>
            <a:r>
              <a:rPr lang="en-US" sz="2000" b="1" dirty="0" smtClean="0">
                <a:solidFill>
                  <a:srgbClr val="C00000"/>
                </a:solidFill>
                <a:latin typeface="Consolas" pitchFamily="49" charset="0"/>
                <a:cs typeface="Consolas" pitchFamily="49" charset="0"/>
              </a:rPr>
              <a:t>class </a:t>
            </a:r>
            <a:r>
              <a:rPr lang="en-US" sz="2000" b="1" dirty="0" err="1" smtClean="0">
                <a:solidFill>
                  <a:srgbClr val="C00000"/>
                </a:solidFill>
                <a:latin typeface="Consolas" pitchFamily="49" charset="0"/>
                <a:cs typeface="Consolas" pitchFamily="49" charset="0"/>
              </a:rPr>
              <a:t>RevenueRecognition</a:t>
            </a:r>
            <a:r>
              <a:rPr lang="en-US" sz="2000" b="1" dirty="0" smtClean="0">
                <a:solidFill>
                  <a:srgbClr val="C00000"/>
                </a:solidFill>
                <a:latin typeface="Consolas" pitchFamily="49" charset="0"/>
                <a:cs typeface="Consolas" pitchFamily="49" charset="0"/>
              </a:rPr>
              <a:t>... </a:t>
            </a:r>
          </a:p>
          <a:p>
            <a:endParaRPr lang="en-US" sz="2000" dirty="0" smtClean="0">
              <a:solidFill>
                <a:srgbClr val="C00000"/>
              </a:solidFill>
              <a:latin typeface="Consolas" pitchFamily="49" charset="0"/>
              <a:cs typeface="Consolas" pitchFamily="49" charset="0"/>
            </a:endParaRPr>
          </a:p>
          <a:p>
            <a:r>
              <a:rPr lang="en-US" sz="2000" dirty="0" smtClean="0">
                <a:solidFill>
                  <a:srgbClr val="C00000"/>
                </a:solidFill>
                <a:latin typeface="Consolas" pitchFamily="49" charset="0"/>
                <a:cs typeface="Consolas" pitchFamily="49" charset="0"/>
              </a:rPr>
              <a:t>   private Money amount;</a:t>
            </a:r>
          </a:p>
          <a:p>
            <a:r>
              <a:rPr lang="en-US" sz="2000" dirty="0" smtClean="0">
                <a:solidFill>
                  <a:srgbClr val="C00000"/>
                </a:solidFill>
                <a:latin typeface="Consolas" pitchFamily="49" charset="0"/>
                <a:cs typeface="Consolas" pitchFamily="49" charset="0"/>
              </a:rPr>
              <a:t>   private </a:t>
            </a:r>
            <a:r>
              <a:rPr lang="en-US" sz="2000" dirty="0" err="1" smtClean="0">
                <a:solidFill>
                  <a:srgbClr val="C00000"/>
                </a:solidFill>
                <a:latin typeface="Consolas" pitchFamily="49" charset="0"/>
                <a:cs typeface="Consolas" pitchFamily="49" charset="0"/>
              </a:rPr>
              <a:t>MfDate</a:t>
            </a:r>
            <a:r>
              <a:rPr lang="en-US" sz="2000" dirty="0" smtClean="0">
                <a:solidFill>
                  <a:srgbClr val="C00000"/>
                </a:solidFill>
                <a:latin typeface="Consolas" pitchFamily="49" charset="0"/>
                <a:cs typeface="Consolas" pitchFamily="49" charset="0"/>
              </a:rPr>
              <a:t> date;</a:t>
            </a:r>
          </a:p>
          <a:p>
            <a:r>
              <a:rPr lang="en-US" sz="2000" b="1" dirty="0" smtClean="0">
                <a:solidFill>
                  <a:srgbClr val="C00000"/>
                </a:solidFill>
                <a:latin typeface="Consolas" pitchFamily="49" charset="0"/>
                <a:cs typeface="Consolas" pitchFamily="49" charset="0"/>
              </a:rPr>
              <a:t>   </a:t>
            </a:r>
            <a:r>
              <a:rPr lang="en-US" sz="2000" dirty="0" smtClean="0">
                <a:solidFill>
                  <a:srgbClr val="C00000"/>
                </a:solidFill>
                <a:latin typeface="Consolas" pitchFamily="49" charset="0"/>
                <a:cs typeface="Consolas" pitchFamily="49" charset="0"/>
              </a:rPr>
              <a:t>public </a:t>
            </a:r>
            <a:r>
              <a:rPr lang="en-US" sz="2000" b="1" dirty="0" err="1" smtClean="0">
                <a:solidFill>
                  <a:srgbClr val="C00000"/>
                </a:solidFill>
                <a:latin typeface="Consolas" pitchFamily="49" charset="0"/>
                <a:cs typeface="Consolas" pitchFamily="49" charset="0"/>
              </a:rPr>
              <a:t>RevenueRecognition</a:t>
            </a:r>
            <a:r>
              <a:rPr lang="en-US" sz="2000" b="1" dirty="0" smtClean="0">
                <a:solidFill>
                  <a:srgbClr val="C00000"/>
                </a:solidFill>
                <a:latin typeface="Consolas" pitchFamily="49" charset="0"/>
                <a:cs typeface="Consolas" pitchFamily="49" charset="0"/>
              </a:rPr>
              <a:t>(Money amount, </a:t>
            </a:r>
            <a:r>
              <a:rPr lang="en-US" sz="2000" b="1" dirty="0" err="1" smtClean="0">
                <a:solidFill>
                  <a:srgbClr val="C00000"/>
                </a:solidFill>
                <a:latin typeface="Consolas" pitchFamily="49" charset="0"/>
                <a:cs typeface="Consolas" pitchFamily="49" charset="0"/>
              </a:rPr>
              <a:t>MfDate</a:t>
            </a:r>
            <a:r>
              <a:rPr lang="en-US" sz="2000" b="1" dirty="0" smtClean="0">
                <a:solidFill>
                  <a:srgbClr val="C00000"/>
                </a:solidFill>
                <a:latin typeface="Consolas" pitchFamily="49" charset="0"/>
                <a:cs typeface="Consolas" pitchFamily="49" charset="0"/>
              </a:rPr>
              <a:t> date)</a:t>
            </a:r>
            <a:r>
              <a:rPr lang="en-US" sz="2000" dirty="0" smtClean="0">
                <a:solidFill>
                  <a:srgbClr val="C00000"/>
                </a:solidFill>
                <a:latin typeface="Consolas" pitchFamily="49" charset="0"/>
                <a:cs typeface="Consolas" pitchFamily="49" charset="0"/>
              </a:rPr>
              <a:t> {</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this.amount</a:t>
            </a:r>
            <a:r>
              <a:rPr lang="en-US" sz="2000" dirty="0" smtClean="0">
                <a:solidFill>
                  <a:srgbClr val="C00000"/>
                </a:solidFill>
                <a:latin typeface="Consolas" pitchFamily="49" charset="0"/>
                <a:cs typeface="Consolas" pitchFamily="49" charset="0"/>
              </a:rPr>
              <a:t> = amount;</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this.date</a:t>
            </a:r>
            <a:r>
              <a:rPr lang="en-US" sz="2000" dirty="0" smtClean="0">
                <a:solidFill>
                  <a:srgbClr val="C00000"/>
                </a:solidFill>
                <a:latin typeface="Consolas" pitchFamily="49" charset="0"/>
                <a:cs typeface="Consolas" pitchFamily="49" charset="0"/>
              </a:rPr>
              <a:t> = date;</a:t>
            </a:r>
          </a:p>
          <a:p>
            <a:r>
              <a:rPr lang="en-US" sz="2000" dirty="0" smtClean="0">
                <a:solidFill>
                  <a:srgbClr val="C00000"/>
                </a:solidFill>
                <a:latin typeface="Consolas" pitchFamily="49" charset="0"/>
                <a:cs typeface="Consolas" pitchFamily="49" charset="0"/>
              </a:rPr>
              <a:t>   }</a:t>
            </a:r>
          </a:p>
          <a:p>
            <a:endParaRPr lang="en-US" sz="2000" dirty="0" smtClean="0">
              <a:solidFill>
                <a:srgbClr val="C00000"/>
              </a:solidFill>
              <a:latin typeface="Consolas" pitchFamily="49" charset="0"/>
              <a:cs typeface="Consolas" pitchFamily="49" charset="0"/>
            </a:endParaRPr>
          </a:p>
          <a:p>
            <a:r>
              <a:rPr lang="en-US" sz="2000" dirty="0" smtClean="0">
                <a:solidFill>
                  <a:srgbClr val="C00000"/>
                </a:solidFill>
                <a:latin typeface="Consolas" pitchFamily="49" charset="0"/>
                <a:cs typeface="Consolas" pitchFamily="49" charset="0"/>
              </a:rPr>
              <a:t>   public Money </a:t>
            </a:r>
            <a:r>
              <a:rPr lang="en-US" sz="2000" dirty="0" err="1" smtClean="0">
                <a:solidFill>
                  <a:srgbClr val="C00000"/>
                </a:solidFill>
                <a:latin typeface="Consolas" pitchFamily="49" charset="0"/>
                <a:cs typeface="Consolas" pitchFamily="49" charset="0"/>
              </a:rPr>
              <a:t>getAmount</a:t>
            </a:r>
            <a:r>
              <a:rPr lang="en-US" sz="2000" dirty="0" smtClean="0">
                <a:solidFill>
                  <a:srgbClr val="C00000"/>
                </a:solidFill>
                <a:latin typeface="Consolas" pitchFamily="49" charset="0"/>
                <a:cs typeface="Consolas" pitchFamily="49" charset="0"/>
              </a:rPr>
              <a:t>() {</a:t>
            </a:r>
          </a:p>
          <a:p>
            <a:r>
              <a:rPr lang="en-US" sz="2000" dirty="0" smtClean="0">
                <a:solidFill>
                  <a:srgbClr val="C00000"/>
                </a:solidFill>
                <a:latin typeface="Consolas" pitchFamily="49" charset="0"/>
                <a:cs typeface="Consolas" pitchFamily="49" charset="0"/>
              </a:rPr>
              <a:t>      return amount;</a:t>
            </a:r>
          </a:p>
          <a:p>
            <a:r>
              <a:rPr lang="en-US" sz="2000" dirty="0" smtClean="0">
                <a:solidFill>
                  <a:srgbClr val="C00000"/>
                </a:solidFill>
                <a:latin typeface="Consolas" pitchFamily="49" charset="0"/>
                <a:cs typeface="Consolas" pitchFamily="49" charset="0"/>
              </a:rPr>
              <a:t>   }</a:t>
            </a:r>
          </a:p>
          <a:p>
            <a:endParaRPr lang="en-US" sz="2000" dirty="0" smtClean="0">
              <a:solidFill>
                <a:srgbClr val="C00000"/>
              </a:solidFill>
              <a:latin typeface="Consolas" pitchFamily="49" charset="0"/>
              <a:cs typeface="Consolas" pitchFamily="49" charset="0"/>
            </a:endParaRPr>
          </a:p>
          <a:p>
            <a:r>
              <a:rPr lang="en-US" sz="2000" b="1"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boolean</a:t>
            </a:r>
            <a:r>
              <a:rPr lang="en-US" sz="2000" dirty="0" smtClean="0">
                <a:solidFill>
                  <a:srgbClr val="C00000"/>
                </a:solidFill>
                <a:latin typeface="Consolas" pitchFamily="49" charset="0"/>
                <a:cs typeface="Consolas" pitchFamily="49" charset="0"/>
              </a:rPr>
              <a:t> </a:t>
            </a:r>
            <a:r>
              <a:rPr lang="en-US" sz="2000" b="1" dirty="0" err="1" smtClean="0">
                <a:solidFill>
                  <a:srgbClr val="C00000"/>
                </a:solidFill>
                <a:latin typeface="Consolas" pitchFamily="49" charset="0"/>
                <a:cs typeface="Consolas" pitchFamily="49" charset="0"/>
              </a:rPr>
              <a:t>isRecognizableBy</a:t>
            </a:r>
            <a:r>
              <a:rPr lang="en-US" sz="2000" b="1" dirty="0" smtClean="0">
                <a:solidFill>
                  <a:srgbClr val="C00000"/>
                </a:solidFill>
                <a:latin typeface="Consolas" pitchFamily="49" charset="0"/>
                <a:cs typeface="Consolas" pitchFamily="49" charset="0"/>
              </a:rPr>
              <a:t>(</a:t>
            </a:r>
            <a:r>
              <a:rPr lang="en-US" sz="2000" b="1" dirty="0" err="1" smtClean="0">
                <a:solidFill>
                  <a:srgbClr val="C00000"/>
                </a:solidFill>
                <a:latin typeface="Consolas" pitchFamily="49" charset="0"/>
                <a:cs typeface="Consolas" pitchFamily="49" charset="0"/>
              </a:rPr>
              <a:t>MfDate</a:t>
            </a:r>
            <a:r>
              <a:rPr lang="en-US" sz="2000" b="1" dirty="0" smtClean="0">
                <a:solidFill>
                  <a:srgbClr val="C00000"/>
                </a:solidFill>
                <a:latin typeface="Consolas" pitchFamily="49" charset="0"/>
                <a:cs typeface="Consolas" pitchFamily="49" charset="0"/>
              </a:rPr>
              <a:t> </a:t>
            </a:r>
            <a:r>
              <a:rPr lang="en-US" sz="2000" b="1" dirty="0" err="1" smtClean="0">
                <a:solidFill>
                  <a:srgbClr val="C00000"/>
                </a:solidFill>
                <a:latin typeface="Consolas" pitchFamily="49" charset="0"/>
                <a:cs typeface="Consolas" pitchFamily="49" charset="0"/>
              </a:rPr>
              <a:t>asOf</a:t>
            </a:r>
            <a:r>
              <a:rPr lang="en-US" sz="2000" b="1" dirty="0" smtClean="0">
                <a:solidFill>
                  <a:srgbClr val="C00000"/>
                </a:solidFill>
                <a:latin typeface="Consolas" pitchFamily="49" charset="0"/>
                <a:cs typeface="Consolas" pitchFamily="49" charset="0"/>
              </a:rPr>
              <a:t>)</a:t>
            </a:r>
            <a:r>
              <a:rPr lang="en-US" sz="2000" dirty="0" smtClean="0">
                <a:solidFill>
                  <a:srgbClr val="C00000"/>
                </a:solidFill>
                <a:latin typeface="Consolas" pitchFamily="49" charset="0"/>
                <a:cs typeface="Consolas" pitchFamily="49" charset="0"/>
              </a:rPr>
              <a:t> {</a:t>
            </a:r>
          </a:p>
          <a:p>
            <a:r>
              <a:rPr lang="en-US" sz="2000" dirty="0" smtClean="0">
                <a:solidFill>
                  <a:srgbClr val="C00000"/>
                </a:solidFill>
                <a:latin typeface="Consolas" pitchFamily="49" charset="0"/>
                <a:cs typeface="Consolas" pitchFamily="49" charset="0"/>
              </a:rPr>
              <a:t>      return </a:t>
            </a:r>
            <a:r>
              <a:rPr lang="en-US" sz="2000" dirty="0" err="1" smtClean="0">
                <a:solidFill>
                  <a:srgbClr val="C00000"/>
                </a:solidFill>
                <a:latin typeface="Consolas" pitchFamily="49" charset="0"/>
                <a:cs typeface="Consolas" pitchFamily="49" charset="0"/>
              </a:rPr>
              <a:t>asOf.after</a:t>
            </a:r>
            <a:r>
              <a:rPr lang="en-US" sz="2000" dirty="0" smtClean="0">
                <a:solidFill>
                  <a:srgbClr val="C00000"/>
                </a:solidFill>
                <a:latin typeface="Consolas" pitchFamily="49" charset="0"/>
                <a:cs typeface="Consolas" pitchFamily="49" charset="0"/>
              </a:rPr>
              <a:t>(date) || </a:t>
            </a:r>
            <a:r>
              <a:rPr lang="en-US" sz="2000" dirty="0" err="1" smtClean="0">
                <a:solidFill>
                  <a:srgbClr val="C00000"/>
                </a:solidFill>
                <a:latin typeface="Consolas" pitchFamily="49" charset="0"/>
                <a:cs typeface="Consolas" pitchFamily="49" charset="0"/>
              </a:rPr>
              <a:t>asOf.equals</a:t>
            </a:r>
            <a:r>
              <a:rPr lang="en-US" sz="2000" dirty="0" smtClean="0">
                <a:solidFill>
                  <a:srgbClr val="C00000"/>
                </a:solidFill>
                <a:latin typeface="Consolas" pitchFamily="49" charset="0"/>
                <a:cs typeface="Consolas" pitchFamily="49" charset="0"/>
              </a:rPr>
              <a:t>(date);</a:t>
            </a:r>
          </a:p>
          <a:p>
            <a:r>
              <a:rPr lang="en-US" sz="2000" dirty="0" smtClean="0">
                <a:solidFill>
                  <a:srgbClr val="C00000"/>
                </a:solidFill>
                <a:latin typeface="Consolas" pitchFamily="49" charset="0"/>
                <a:cs typeface="Consolas" pitchFamily="49" charset="0"/>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Consolas" pitchFamily="49" charset="0"/>
              </a:rPr>
              <a:t>Contract: </a:t>
            </a:r>
            <a:r>
              <a:rPr lang="en-US" sz="4000" b="1" dirty="0" err="1" smtClean="0">
                <a:solidFill>
                  <a:srgbClr val="C00000"/>
                </a:solidFill>
                <a:latin typeface="Consolas" pitchFamily="49" charset="0"/>
                <a:cs typeface="Consolas" pitchFamily="49" charset="0"/>
              </a:rPr>
              <a:t>recognizedRevenue</a:t>
            </a:r>
            <a:endParaRPr lang="en-US" sz="4000" dirty="0">
              <a:latin typeface="Consolas" pitchFamily="49" charset="0"/>
            </a:endParaRPr>
          </a:p>
        </p:txBody>
      </p:sp>
      <p:sp>
        <p:nvSpPr>
          <p:cNvPr id="4" name="Rectangle 3"/>
          <p:cNvSpPr/>
          <p:nvPr/>
        </p:nvSpPr>
        <p:spPr>
          <a:xfrm>
            <a:off x="457200" y="1600200"/>
            <a:ext cx="8305800" cy="4708981"/>
          </a:xfrm>
          <a:prstGeom prst="rect">
            <a:avLst/>
          </a:prstGeom>
          <a:solidFill>
            <a:schemeClr val="bg2"/>
          </a:solidFill>
          <a:ln>
            <a:solidFill>
              <a:schemeClr val="bg2">
                <a:lumMod val="10000"/>
              </a:schemeClr>
            </a:solidFill>
          </a:ln>
        </p:spPr>
        <p:txBody>
          <a:bodyPr wrap="square">
            <a:spAutoFit/>
          </a:bodyPr>
          <a:lstStyle/>
          <a:p>
            <a:r>
              <a:rPr lang="en-US" sz="2000" b="1" dirty="0" smtClean="0">
                <a:solidFill>
                  <a:srgbClr val="C00000"/>
                </a:solidFill>
                <a:latin typeface="Consolas" pitchFamily="49" charset="0"/>
                <a:cs typeface="Consolas" pitchFamily="49" charset="0"/>
              </a:rPr>
              <a:t>class Contract... </a:t>
            </a:r>
          </a:p>
          <a:p>
            <a:endParaRPr lang="en-US" sz="2000" dirty="0" smtClean="0">
              <a:solidFill>
                <a:srgbClr val="C00000"/>
              </a:solidFill>
              <a:latin typeface="Consolas" pitchFamily="49" charset="0"/>
              <a:cs typeface="Consolas" pitchFamily="49" charset="0"/>
            </a:endParaRPr>
          </a:p>
          <a:p>
            <a:r>
              <a:rPr lang="en-US" sz="2000" b="1" dirty="0" smtClean="0">
                <a:solidFill>
                  <a:srgbClr val="C00000"/>
                </a:solidFill>
                <a:latin typeface="Consolas" pitchFamily="49" charset="0"/>
                <a:cs typeface="Consolas" pitchFamily="49" charset="0"/>
              </a:rPr>
              <a:t>   </a:t>
            </a:r>
            <a:r>
              <a:rPr lang="en-US" sz="2000" dirty="0" smtClean="0">
                <a:solidFill>
                  <a:srgbClr val="C00000"/>
                </a:solidFill>
                <a:latin typeface="Consolas" pitchFamily="49" charset="0"/>
                <a:cs typeface="Consolas" pitchFamily="49" charset="0"/>
              </a:rPr>
              <a:t>private </a:t>
            </a:r>
            <a:r>
              <a:rPr lang="en-US" sz="2000" b="1" dirty="0" smtClean="0">
                <a:solidFill>
                  <a:srgbClr val="C00000"/>
                </a:solidFill>
                <a:latin typeface="Consolas" pitchFamily="49" charset="0"/>
                <a:cs typeface="Consolas" pitchFamily="49" charset="0"/>
              </a:rPr>
              <a:t>List </a:t>
            </a:r>
            <a:r>
              <a:rPr lang="en-US" sz="2000" b="1" dirty="0" err="1" smtClean="0">
                <a:solidFill>
                  <a:srgbClr val="C00000"/>
                </a:solidFill>
                <a:latin typeface="Consolas" pitchFamily="49" charset="0"/>
                <a:cs typeface="Consolas" pitchFamily="49" charset="0"/>
              </a:rPr>
              <a:t>revenueRecognitions</a:t>
            </a:r>
            <a:r>
              <a:rPr lang="en-US" sz="2000" b="1" dirty="0" smtClean="0">
                <a:solidFill>
                  <a:srgbClr val="C00000"/>
                </a:solidFill>
                <a:latin typeface="Consolas" pitchFamily="49" charset="0"/>
                <a:cs typeface="Consolas" pitchFamily="49" charset="0"/>
              </a:rPr>
              <a:t> = new </a:t>
            </a:r>
            <a:r>
              <a:rPr lang="en-US" sz="2000" b="1" dirty="0" err="1" smtClean="0">
                <a:solidFill>
                  <a:srgbClr val="C00000"/>
                </a:solidFill>
                <a:latin typeface="Consolas" pitchFamily="49" charset="0"/>
                <a:cs typeface="Consolas" pitchFamily="49" charset="0"/>
              </a:rPr>
              <a:t>ArrayList</a:t>
            </a:r>
            <a:r>
              <a:rPr lang="en-US" sz="2000" b="1" dirty="0" smtClean="0">
                <a:solidFill>
                  <a:srgbClr val="C00000"/>
                </a:solidFill>
                <a:latin typeface="Consolas" pitchFamily="49" charset="0"/>
                <a:cs typeface="Consolas" pitchFamily="49" charset="0"/>
              </a:rPr>
              <a:t>();</a:t>
            </a:r>
          </a:p>
          <a:p>
            <a:r>
              <a:rPr lang="en-US" sz="2000" b="1" dirty="0" smtClean="0">
                <a:solidFill>
                  <a:srgbClr val="C00000"/>
                </a:solidFill>
                <a:latin typeface="Consolas" pitchFamily="49" charset="0"/>
                <a:cs typeface="Consolas" pitchFamily="49" charset="0"/>
              </a:rPr>
              <a:t>   </a:t>
            </a:r>
            <a:r>
              <a:rPr lang="en-US" sz="2000" dirty="0" smtClean="0">
                <a:solidFill>
                  <a:srgbClr val="C00000"/>
                </a:solidFill>
                <a:latin typeface="Consolas" pitchFamily="49" charset="0"/>
                <a:cs typeface="Consolas" pitchFamily="49" charset="0"/>
              </a:rPr>
              <a:t>public </a:t>
            </a:r>
            <a:r>
              <a:rPr lang="en-US" sz="2000" b="1" dirty="0" smtClean="0">
                <a:solidFill>
                  <a:srgbClr val="C00000"/>
                </a:solidFill>
                <a:latin typeface="Consolas" pitchFamily="49" charset="0"/>
                <a:cs typeface="Consolas" pitchFamily="49" charset="0"/>
              </a:rPr>
              <a:t>Money </a:t>
            </a:r>
            <a:r>
              <a:rPr lang="en-US" sz="2000" b="1" dirty="0" err="1" smtClean="0">
                <a:solidFill>
                  <a:srgbClr val="C00000"/>
                </a:solidFill>
                <a:latin typeface="Consolas" pitchFamily="49" charset="0"/>
                <a:cs typeface="Consolas" pitchFamily="49" charset="0"/>
              </a:rPr>
              <a:t>recognizedRevenue</a:t>
            </a:r>
            <a:r>
              <a:rPr lang="en-US" sz="2000" b="1" dirty="0" smtClean="0">
                <a:solidFill>
                  <a:srgbClr val="C00000"/>
                </a:solidFill>
                <a:latin typeface="Consolas" pitchFamily="49" charset="0"/>
                <a:cs typeface="Consolas" pitchFamily="49" charset="0"/>
              </a:rPr>
              <a:t>(</a:t>
            </a:r>
            <a:r>
              <a:rPr lang="en-US" sz="2000" b="1" dirty="0" err="1" smtClean="0">
                <a:solidFill>
                  <a:srgbClr val="C00000"/>
                </a:solidFill>
                <a:latin typeface="Consolas" pitchFamily="49" charset="0"/>
                <a:cs typeface="Consolas" pitchFamily="49" charset="0"/>
              </a:rPr>
              <a:t>MfDate</a:t>
            </a:r>
            <a:r>
              <a:rPr lang="en-US" sz="2000" b="1" dirty="0" smtClean="0">
                <a:solidFill>
                  <a:srgbClr val="C00000"/>
                </a:solidFill>
                <a:latin typeface="Consolas" pitchFamily="49" charset="0"/>
                <a:cs typeface="Consolas" pitchFamily="49" charset="0"/>
              </a:rPr>
              <a:t> </a:t>
            </a:r>
            <a:r>
              <a:rPr lang="en-US" sz="2000" b="1" dirty="0" err="1" smtClean="0">
                <a:solidFill>
                  <a:srgbClr val="C00000"/>
                </a:solidFill>
                <a:latin typeface="Consolas" pitchFamily="49" charset="0"/>
                <a:cs typeface="Consolas" pitchFamily="49" charset="0"/>
              </a:rPr>
              <a:t>asOf</a:t>
            </a:r>
            <a:r>
              <a:rPr lang="en-US" sz="2000" b="1" dirty="0" smtClean="0">
                <a:solidFill>
                  <a:srgbClr val="C00000"/>
                </a:solidFill>
                <a:latin typeface="Consolas" pitchFamily="49" charset="0"/>
                <a:cs typeface="Consolas" pitchFamily="49" charset="0"/>
              </a:rPr>
              <a:t>)</a:t>
            </a:r>
            <a:r>
              <a:rPr lang="en-US" sz="2000" dirty="0" smtClean="0">
                <a:solidFill>
                  <a:srgbClr val="C00000"/>
                </a:solidFill>
                <a:latin typeface="Consolas" pitchFamily="49" charset="0"/>
                <a:cs typeface="Consolas" pitchFamily="49" charset="0"/>
              </a:rPr>
              <a:t> {</a:t>
            </a:r>
          </a:p>
          <a:p>
            <a:r>
              <a:rPr lang="en-US" sz="2000" dirty="0" smtClean="0">
                <a:solidFill>
                  <a:srgbClr val="C00000"/>
                </a:solidFill>
                <a:latin typeface="Consolas" pitchFamily="49" charset="0"/>
                <a:cs typeface="Consolas" pitchFamily="49" charset="0"/>
              </a:rPr>
              <a:t>      Money result = </a:t>
            </a:r>
            <a:r>
              <a:rPr lang="en-US" sz="2000" dirty="0" err="1" smtClean="0">
                <a:solidFill>
                  <a:srgbClr val="C00000"/>
                </a:solidFill>
                <a:latin typeface="Consolas" pitchFamily="49" charset="0"/>
                <a:cs typeface="Consolas" pitchFamily="49" charset="0"/>
              </a:rPr>
              <a:t>Money.dollars</a:t>
            </a:r>
            <a:r>
              <a:rPr lang="en-US" sz="2000" dirty="0" smtClean="0">
                <a:solidFill>
                  <a:srgbClr val="C00000"/>
                </a:solidFill>
                <a:latin typeface="Consolas" pitchFamily="49" charset="0"/>
                <a:cs typeface="Consolas" pitchFamily="49" charset="0"/>
              </a:rPr>
              <a:t>(0);</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Iterator</a:t>
            </a:r>
            <a:r>
              <a:rPr lang="en-US" sz="2000" dirty="0" smtClean="0">
                <a:solidFill>
                  <a:srgbClr val="C00000"/>
                </a:solidFill>
                <a:latin typeface="Consolas" pitchFamily="49" charset="0"/>
                <a:cs typeface="Consolas" pitchFamily="49" charset="0"/>
              </a:rPr>
              <a:t> it = </a:t>
            </a:r>
            <a:r>
              <a:rPr lang="en-US" sz="2000" dirty="0" err="1" smtClean="0">
                <a:solidFill>
                  <a:srgbClr val="C00000"/>
                </a:solidFill>
                <a:latin typeface="Consolas" pitchFamily="49" charset="0"/>
                <a:cs typeface="Consolas" pitchFamily="49" charset="0"/>
              </a:rPr>
              <a:t>revenueRecognitions.iterator</a:t>
            </a:r>
            <a:r>
              <a:rPr lang="en-US" sz="2000" dirty="0" smtClean="0">
                <a:solidFill>
                  <a:srgbClr val="C00000"/>
                </a:solidFill>
                <a:latin typeface="Consolas" pitchFamily="49" charset="0"/>
                <a:cs typeface="Consolas" pitchFamily="49" charset="0"/>
              </a:rPr>
              <a:t>();</a:t>
            </a:r>
          </a:p>
          <a:p>
            <a:r>
              <a:rPr lang="en-US" sz="2000" dirty="0" smtClean="0">
                <a:solidFill>
                  <a:srgbClr val="C00000"/>
                </a:solidFill>
                <a:latin typeface="Consolas" pitchFamily="49" charset="0"/>
                <a:cs typeface="Consolas" pitchFamily="49" charset="0"/>
              </a:rPr>
              <a:t>      while (</a:t>
            </a:r>
            <a:r>
              <a:rPr lang="en-US" sz="2000" dirty="0" err="1" smtClean="0">
                <a:solidFill>
                  <a:srgbClr val="C00000"/>
                </a:solidFill>
                <a:latin typeface="Consolas" pitchFamily="49" charset="0"/>
                <a:cs typeface="Consolas" pitchFamily="49" charset="0"/>
              </a:rPr>
              <a:t>it.hasNext</a:t>
            </a:r>
            <a:r>
              <a:rPr lang="en-US" sz="2000" dirty="0" smtClean="0">
                <a:solidFill>
                  <a:srgbClr val="C00000"/>
                </a:solidFill>
                <a:latin typeface="Consolas" pitchFamily="49" charset="0"/>
                <a:cs typeface="Consolas" pitchFamily="49" charset="0"/>
              </a:rPr>
              <a:t>()) {</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RevenueRecognition</a:t>
            </a:r>
            <a:r>
              <a:rPr lang="en-US" sz="2000" dirty="0" smtClean="0">
                <a:solidFill>
                  <a:srgbClr val="C00000"/>
                </a:solidFill>
                <a:latin typeface="Consolas" pitchFamily="49" charset="0"/>
                <a:cs typeface="Consolas" pitchFamily="49" charset="0"/>
              </a:rPr>
              <a:t> r = </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RevenueRecognition</a:t>
            </a:r>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it.next</a:t>
            </a:r>
            <a:r>
              <a:rPr lang="en-US" sz="2000" dirty="0" smtClean="0">
                <a:solidFill>
                  <a:srgbClr val="C00000"/>
                </a:solidFill>
                <a:latin typeface="Consolas" pitchFamily="49" charset="0"/>
                <a:cs typeface="Consolas" pitchFamily="49" charset="0"/>
              </a:rPr>
              <a:t>();</a:t>
            </a:r>
          </a:p>
          <a:p>
            <a:r>
              <a:rPr lang="en-US" sz="2000" dirty="0" smtClean="0">
                <a:solidFill>
                  <a:srgbClr val="C00000"/>
                </a:solidFill>
                <a:latin typeface="Consolas" pitchFamily="49" charset="0"/>
                <a:cs typeface="Consolas" pitchFamily="49" charset="0"/>
              </a:rPr>
              <a:t>         if (</a:t>
            </a:r>
            <a:r>
              <a:rPr lang="en-US" sz="2000" dirty="0" err="1" smtClean="0">
                <a:solidFill>
                  <a:srgbClr val="C00000"/>
                </a:solidFill>
                <a:latin typeface="Consolas" pitchFamily="49" charset="0"/>
                <a:cs typeface="Consolas" pitchFamily="49" charset="0"/>
              </a:rPr>
              <a:t>r.isRecognizableBy</a:t>
            </a:r>
            <a:r>
              <a:rPr lang="en-US" sz="2000" dirty="0" smtClean="0">
                <a:solidFill>
                  <a:srgbClr val="C00000"/>
                </a:solidFill>
                <a:latin typeface="Consolas" pitchFamily="49" charset="0"/>
                <a:cs typeface="Consolas" pitchFamily="49" charset="0"/>
              </a:rPr>
              <a:t>(</a:t>
            </a:r>
            <a:r>
              <a:rPr lang="en-US" sz="2000" dirty="0" err="1" smtClean="0">
                <a:solidFill>
                  <a:srgbClr val="C00000"/>
                </a:solidFill>
                <a:latin typeface="Consolas" pitchFamily="49" charset="0"/>
                <a:cs typeface="Consolas" pitchFamily="49" charset="0"/>
              </a:rPr>
              <a:t>asOf</a:t>
            </a:r>
            <a:r>
              <a:rPr lang="en-US" sz="2000" dirty="0" smtClean="0">
                <a:solidFill>
                  <a:srgbClr val="C00000"/>
                </a:solidFill>
                <a:latin typeface="Consolas" pitchFamily="49" charset="0"/>
                <a:cs typeface="Consolas" pitchFamily="49" charset="0"/>
              </a:rPr>
              <a:t>))</a:t>
            </a:r>
          </a:p>
          <a:p>
            <a:r>
              <a:rPr lang="en-US" sz="2000" dirty="0" smtClean="0">
                <a:solidFill>
                  <a:srgbClr val="C00000"/>
                </a:solidFill>
                <a:latin typeface="Consolas" pitchFamily="49" charset="0"/>
                <a:cs typeface="Consolas" pitchFamily="49" charset="0"/>
              </a:rPr>
              <a:t>            result = </a:t>
            </a:r>
            <a:r>
              <a:rPr lang="en-US" sz="2000" dirty="0" err="1" smtClean="0">
                <a:solidFill>
                  <a:srgbClr val="C00000"/>
                </a:solidFill>
                <a:latin typeface="Consolas" pitchFamily="49" charset="0"/>
                <a:cs typeface="Consolas" pitchFamily="49" charset="0"/>
              </a:rPr>
              <a:t>result.add</a:t>
            </a:r>
            <a:r>
              <a:rPr lang="en-US" sz="2000" dirty="0" smtClean="0">
                <a:solidFill>
                  <a:srgbClr val="C00000"/>
                </a:solidFill>
                <a:latin typeface="Consolas" pitchFamily="49" charset="0"/>
                <a:cs typeface="Consolas" pitchFamily="49" charset="0"/>
              </a:rPr>
              <a:t>(</a:t>
            </a:r>
            <a:r>
              <a:rPr lang="en-US" sz="2000" dirty="0" err="1" smtClean="0">
                <a:solidFill>
                  <a:srgbClr val="C00000"/>
                </a:solidFill>
                <a:latin typeface="Consolas" pitchFamily="49" charset="0"/>
                <a:cs typeface="Consolas" pitchFamily="49" charset="0"/>
              </a:rPr>
              <a:t>r.getAmount</a:t>
            </a:r>
            <a:r>
              <a:rPr lang="en-US" sz="2000" dirty="0" smtClean="0">
                <a:solidFill>
                  <a:srgbClr val="C00000"/>
                </a:solidFill>
                <a:latin typeface="Consolas" pitchFamily="49" charset="0"/>
                <a:cs typeface="Consolas" pitchFamily="49" charset="0"/>
              </a:rPr>
              <a:t>());</a:t>
            </a:r>
          </a:p>
          <a:p>
            <a:r>
              <a:rPr lang="en-US" sz="2000" dirty="0" smtClean="0">
                <a:solidFill>
                  <a:srgbClr val="C00000"/>
                </a:solidFill>
                <a:latin typeface="Consolas" pitchFamily="49" charset="0"/>
                <a:cs typeface="Consolas" pitchFamily="49" charset="0"/>
              </a:rPr>
              <a:t>      }</a:t>
            </a:r>
          </a:p>
          <a:p>
            <a:endParaRPr lang="en-US" sz="2000" dirty="0" smtClean="0">
              <a:solidFill>
                <a:srgbClr val="C00000"/>
              </a:solidFill>
              <a:latin typeface="Consolas" pitchFamily="49" charset="0"/>
              <a:cs typeface="Consolas" pitchFamily="49" charset="0"/>
            </a:endParaRPr>
          </a:p>
          <a:p>
            <a:r>
              <a:rPr lang="en-US" sz="2000" dirty="0" smtClean="0">
                <a:solidFill>
                  <a:srgbClr val="C00000"/>
                </a:solidFill>
                <a:latin typeface="Consolas" pitchFamily="49" charset="0"/>
                <a:cs typeface="Consolas" pitchFamily="49" charset="0"/>
              </a:rPr>
              <a:t>      return result;</a:t>
            </a:r>
          </a:p>
          <a:p>
            <a:r>
              <a:rPr lang="en-US" sz="2000" dirty="0" smtClean="0">
                <a:solidFill>
                  <a:srgbClr val="C00000"/>
                </a:solidFill>
                <a:latin typeface="Consolas" pitchFamily="49" charset="0"/>
                <a:cs typeface="Consolas" pitchFamily="49"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Revenue Recognitions Source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619500" y="2286000"/>
            <a:ext cx="4762500" cy="4191000"/>
          </a:xfrm>
          <a:prstGeom prst="rect">
            <a:avLst/>
          </a:prstGeom>
          <a:noFill/>
          <a:ln w="9525">
            <a:noFill/>
            <a:miter lim="800000"/>
            <a:headEnd/>
            <a:tailEnd/>
          </a:ln>
        </p:spPr>
      </p:pic>
      <p:sp>
        <p:nvSpPr>
          <p:cNvPr id="6" name="Rectangle 5"/>
          <p:cNvSpPr/>
          <p:nvPr/>
        </p:nvSpPr>
        <p:spPr>
          <a:xfrm>
            <a:off x="457200" y="3429000"/>
            <a:ext cx="3048000" cy="1938992"/>
          </a:xfrm>
          <a:prstGeom prst="rect">
            <a:avLst/>
          </a:prstGeom>
        </p:spPr>
        <p:txBody>
          <a:bodyPr wrap="square">
            <a:spAutoFit/>
          </a:bodyPr>
          <a:lstStyle/>
          <a:p>
            <a:r>
              <a:rPr lang="en-US" sz="2000" dirty="0" smtClean="0">
                <a:latin typeface="Consolas" pitchFamily="49" charset="0"/>
              </a:rPr>
              <a:t>The calculation and creation begin with the </a:t>
            </a:r>
            <a:r>
              <a:rPr lang="en-US" sz="2000" u="sng" dirty="0" smtClean="0">
                <a:latin typeface="Consolas" pitchFamily="49" charset="0"/>
              </a:rPr>
              <a:t>customer</a:t>
            </a:r>
            <a:r>
              <a:rPr lang="en-US" sz="2000" dirty="0" smtClean="0">
                <a:latin typeface="Consolas" pitchFamily="49" charset="0"/>
              </a:rPr>
              <a:t> and are handed off via the product to a strategy hierarchy.</a:t>
            </a:r>
            <a:endParaRPr lang="en-US" sz="2000" dirty="0">
              <a:latin typeface="Consolas" pitchFamily="49" charset="0"/>
            </a:endParaRPr>
          </a:p>
        </p:txBody>
      </p:sp>
      <p:cxnSp>
        <p:nvCxnSpPr>
          <p:cNvPr id="8" name="Straight Arrow Connector 7"/>
          <p:cNvCxnSpPr/>
          <p:nvPr/>
        </p:nvCxnSpPr>
        <p:spPr>
          <a:xfrm flipH="1" flipV="1">
            <a:off x="1524000" y="2057400"/>
            <a:ext cx="2667000" cy="381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019800" y="2743200"/>
            <a:ext cx="1143000" cy="18288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7620000" y="2743200"/>
            <a:ext cx="76200" cy="2743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04800" y="1524000"/>
            <a:ext cx="853440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smtClean="0">
                <a:solidFill>
                  <a:srgbClr val="C00000"/>
                </a:solidFill>
                <a:latin typeface="Consolas" pitchFamily="49" charset="0"/>
                <a:cs typeface="Consolas" pitchFamily="49" charset="0"/>
              </a:rPr>
              <a:t>Contract(Product </a:t>
            </a:r>
            <a:r>
              <a:rPr lang="en-US" sz="2000" b="1" dirty="0" err="1" smtClean="0">
                <a:solidFill>
                  <a:srgbClr val="C00000"/>
                </a:solidFill>
                <a:latin typeface="Consolas" pitchFamily="49" charset="0"/>
                <a:cs typeface="Consolas" pitchFamily="49" charset="0"/>
              </a:rPr>
              <a:t>product</a:t>
            </a:r>
            <a:r>
              <a:rPr lang="en-US" sz="2000" b="1" dirty="0" smtClean="0">
                <a:solidFill>
                  <a:srgbClr val="C00000"/>
                </a:solidFill>
                <a:latin typeface="Consolas" pitchFamily="49" charset="0"/>
                <a:cs typeface="Consolas" pitchFamily="49" charset="0"/>
              </a:rPr>
              <a:t>, Money revenue, </a:t>
            </a:r>
            <a:r>
              <a:rPr lang="en-US" sz="2000" b="1" dirty="0" err="1" smtClean="0">
                <a:solidFill>
                  <a:srgbClr val="C00000"/>
                </a:solidFill>
                <a:latin typeface="Consolas" pitchFamily="49" charset="0"/>
                <a:cs typeface="Consolas" pitchFamily="49" charset="0"/>
              </a:rPr>
              <a:t>MfDate</a:t>
            </a:r>
            <a:r>
              <a:rPr lang="en-US" sz="2000" b="1" dirty="0" smtClean="0">
                <a:solidFill>
                  <a:srgbClr val="C00000"/>
                </a:solidFill>
                <a:latin typeface="Consolas" pitchFamily="49" charset="0"/>
                <a:cs typeface="Consolas" pitchFamily="49" charset="0"/>
              </a:rPr>
              <a:t> </a:t>
            </a:r>
            <a:r>
              <a:rPr lang="en-US" sz="2000" b="1" dirty="0" err="1" smtClean="0">
                <a:solidFill>
                  <a:srgbClr val="C00000"/>
                </a:solidFill>
                <a:latin typeface="Consolas" pitchFamily="49" charset="0"/>
                <a:cs typeface="Consolas" pitchFamily="49" charset="0"/>
              </a:rPr>
              <a:t>whenSigned</a:t>
            </a:r>
            <a:r>
              <a:rPr lang="en-US" sz="2000" b="1" dirty="0" smtClean="0">
                <a:solidFill>
                  <a:srgbClr val="C00000"/>
                </a:solidFill>
                <a:latin typeface="Consolas" pitchFamily="49" charset="0"/>
                <a:cs typeface="Consolas" pitchFamily="49" charset="0"/>
              </a:rPr>
              <a:t>)</a:t>
            </a:r>
            <a:endParaRPr lang="en-US" sz="2000" b="1" dirty="0"/>
          </a:p>
        </p:txBody>
      </p:sp>
      <p:cxnSp>
        <p:nvCxnSpPr>
          <p:cNvPr id="16" name="Straight Arrow Connector 15"/>
          <p:cNvCxnSpPr/>
          <p:nvPr/>
        </p:nvCxnSpPr>
        <p:spPr>
          <a:xfrm flipH="1" flipV="1">
            <a:off x="3733800" y="1981200"/>
            <a:ext cx="3276600" cy="6096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1219200" y="2057400"/>
            <a:ext cx="609600" cy="20574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447800"/>
            <a:ext cx="8305800" cy="5262979"/>
          </a:xfrm>
          <a:prstGeom prst="rect">
            <a:avLst/>
          </a:prstGeom>
          <a:solidFill>
            <a:schemeClr val="bg2"/>
          </a:solidFill>
          <a:ln>
            <a:solidFill>
              <a:schemeClr val="bg2">
                <a:lumMod val="10000"/>
              </a:schemeClr>
            </a:solidFill>
          </a:ln>
        </p:spPr>
        <p:txBody>
          <a:bodyPr wrap="square">
            <a:spAutoFit/>
          </a:bodyPr>
          <a:lstStyle/>
          <a:p>
            <a:r>
              <a:rPr lang="en-US" sz="1400" b="1" dirty="0" smtClean="0">
                <a:solidFill>
                  <a:srgbClr val="C00000"/>
                </a:solidFill>
                <a:latin typeface="Consolas" pitchFamily="49" charset="0"/>
                <a:cs typeface="Consolas" pitchFamily="49" charset="0"/>
              </a:rPr>
              <a:t>class Contract...</a:t>
            </a:r>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private Product </a:t>
            </a:r>
            <a:r>
              <a:rPr lang="en-US" sz="1400" dirty="0" err="1" smtClean="0">
                <a:solidFill>
                  <a:srgbClr val="C00000"/>
                </a:solidFill>
                <a:latin typeface="Consolas" pitchFamily="49" charset="0"/>
                <a:cs typeface="Consolas" pitchFamily="49" charset="0"/>
              </a:rPr>
              <a:t>product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private Money revenue;</a:t>
            </a:r>
          </a:p>
          <a:p>
            <a:r>
              <a:rPr lang="en-US" sz="1400" dirty="0" smtClean="0">
                <a:solidFill>
                  <a:srgbClr val="C00000"/>
                </a:solidFill>
                <a:latin typeface="Consolas" pitchFamily="49" charset="0"/>
                <a:cs typeface="Consolas" pitchFamily="49" charset="0"/>
              </a:rPr>
              <a:t>   private </a:t>
            </a:r>
            <a:r>
              <a:rPr lang="en-US" sz="1400" dirty="0" err="1" smtClean="0">
                <a:solidFill>
                  <a:srgbClr val="C00000"/>
                </a:solidFill>
                <a:latin typeface="Consolas" pitchFamily="49" charset="0"/>
                <a:cs typeface="Consolas" pitchFamily="49" charset="0"/>
              </a:rPr>
              <a:t>MfDate</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whenSigned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private Long id;</a:t>
            </a:r>
          </a:p>
          <a:p>
            <a:r>
              <a:rPr lang="en-US" sz="1400" b="1" dirty="0" smtClean="0">
                <a:solidFill>
                  <a:srgbClr val="C00000"/>
                </a:solidFill>
                <a:latin typeface="Consolas" pitchFamily="49" charset="0"/>
                <a:cs typeface="Consolas" pitchFamily="49" charset="0"/>
              </a:rPr>
              <a:t>   </a:t>
            </a:r>
            <a:r>
              <a:rPr lang="en-US" sz="1400" dirty="0" smtClean="0">
                <a:solidFill>
                  <a:srgbClr val="C00000"/>
                </a:solidFill>
                <a:latin typeface="Consolas" pitchFamily="49" charset="0"/>
                <a:cs typeface="Consolas" pitchFamily="49" charset="0"/>
              </a:rPr>
              <a:t>public </a:t>
            </a:r>
            <a:r>
              <a:rPr lang="en-US" sz="1400" b="1" dirty="0" smtClean="0">
                <a:solidFill>
                  <a:srgbClr val="C00000"/>
                </a:solidFill>
                <a:latin typeface="Consolas" pitchFamily="49" charset="0"/>
                <a:cs typeface="Consolas" pitchFamily="49" charset="0"/>
              </a:rPr>
              <a:t>Contract(Product </a:t>
            </a:r>
            <a:r>
              <a:rPr lang="en-US" sz="1400" b="1" dirty="0" err="1" smtClean="0">
                <a:solidFill>
                  <a:srgbClr val="C00000"/>
                </a:solidFill>
                <a:latin typeface="Consolas" pitchFamily="49" charset="0"/>
                <a:cs typeface="Consolas" pitchFamily="49" charset="0"/>
              </a:rPr>
              <a:t>product</a:t>
            </a:r>
            <a:r>
              <a:rPr lang="en-US" sz="1400" b="1" dirty="0" smtClean="0">
                <a:solidFill>
                  <a:srgbClr val="C00000"/>
                </a:solidFill>
                <a:latin typeface="Consolas" pitchFamily="49" charset="0"/>
                <a:cs typeface="Consolas" pitchFamily="49" charset="0"/>
              </a:rPr>
              <a:t>, Money revenue, </a:t>
            </a:r>
            <a:r>
              <a:rPr lang="en-US" sz="1400" b="1" dirty="0" err="1" smtClean="0">
                <a:solidFill>
                  <a:srgbClr val="C00000"/>
                </a:solidFill>
                <a:latin typeface="Consolas" pitchFamily="49" charset="0"/>
                <a:cs typeface="Consolas" pitchFamily="49" charset="0"/>
              </a:rPr>
              <a:t>MfDate</a:t>
            </a:r>
            <a:r>
              <a:rPr lang="en-US" sz="1400" b="1" dirty="0" smtClean="0">
                <a:solidFill>
                  <a:srgbClr val="C00000"/>
                </a:solidFill>
                <a:latin typeface="Consolas" pitchFamily="49" charset="0"/>
                <a:cs typeface="Consolas" pitchFamily="49" charset="0"/>
              </a:rPr>
              <a:t> </a:t>
            </a:r>
            <a:r>
              <a:rPr lang="en-US" sz="1400" b="1" dirty="0" err="1" smtClean="0">
                <a:solidFill>
                  <a:srgbClr val="C00000"/>
                </a:solidFill>
                <a:latin typeface="Consolas" pitchFamily="49" charset="0"/>
                <a:cs typeface="Consolas" pitchFamily="49" charset="0"/>
              </a:rPr>
              <a:t>whenSigned</a:t>
            </a:r>
            <a:r>
              <a:rPr lang="en-US" sz="1400" b="1" dirty="0" smtClean="0">
                <a:solidFill>
                  <a:srgbClr val="C00000"/>
                </a:solidFill>
                <a:latin typeface="Consolas" pitchFamily="49" charset="0"/>
                <a:cs typeface="Consolas" pitchFamily="49" charset="0"/>
              </a:rPr>
              <a:t>)</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this.product</a:t>
            </a:r>
            <a:r>
              <a:rPr lang="en-US" sz="1400" dirty="0" smtClean="0">
                <a:solidFill>
                  <a:srgbClr val="C00000"/>
                </a:solidFill>
                <a:latin typeface="Consolas" pitchFamily="49" charset="0"/>
                <a:cs typeface="Consolas" pitchFamily="49" charset="0"/>
              </a:rPr>
              <a:t> = product;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this.revenue</a:t>
            </a:r>
            <a:r>
              <a:rPr lang="en-US" sz="1400" dirty="0" smtClean="0">
                <a:solidFill>
                  <a:srgbClr val="C00000"/>
                </a:solidFill>
                <a:latin typeface="Consolas" pitchFamily="49" charset="0"/>
                <a:cs typeface="Consolas" pitchFamily="49" charset="0"/>
              </a:rPr>
              <a:t> = revenue;</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this.whenSigned</a:t>
            </a:r>
            <a:r>
              <a:rPr lang="en-US" sz="1400" dirty="0" smtClean="0">
                <a:solidFill>
                  <a:srgbClr val="C00000"/>
                </a:solidFill>
                <a:latin typeface="Consolas" pitchFamily="49" charset="0"/>
                <a:cs typeface="Consolas" pitchFamily="49" charset="0"/>
              </a:rPr>
              <a:t> = </a:t>
            </a:r>
            <a:r>
              <a:rPr lang="en-US" sz="1400" dirty="0" err="1" smtClean="0">
                <a:solidFill>
                  <a:srgbClr val="C00000"/>
                </a:solidFill>
                <a:latin typeface="Consolas" pitchFamily="49" charset="0"/>
                <a:cs typeface="Consolas" pitchFamily="49" charset="0"/>
              </a:rPr>
              <a:t>whenSigned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b="1" dirty="0" smtClean="0">
                <a:solidFill>
                  <a:srgbClr val="C00000"/>
                </a:solidFill>
                <a:latin typeface="Consolas" pitchFamily="49" charset="0"/>
                <a:cs typeface="Consolas" pitchFamily="49" charset="0"/>
              </a:rPr>
              <a:t>class Product...</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private String name;</a:t>
            </a:r>
          </a:p>
          <a:p>
            <a:r>
              <a:rPr lang="en-US" sz="1400" dirty="0" smtClean="0">
                <a:solidFill>
                  <a:srgbClr val="C00000"/>
                </a:solidFill>
                <a:latin typeface="Consolas" pitchFamily="49" charset="0"/>
                <a:cs typeface="Consolas" pitchFamily="49" charset="0"/>
              </a:rPr>
              <a:t>   private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a:t>
            </a:r>
          </a:p>
          <a:p>
            <a:r>
              <a:rPr lang="en-US" sz="1400" b="1" dirty="0" smtClean="0">
                <a:solidFill>
                  <a:srgbClr val="C00000"/>
                </a:solidFill>
                <a:latin typeface="Consolas" pitchFamily="49" charset="0"/>
                <a:cs typeface="Consolas" pitchFamily="49" charset="0"/>
              </a:rPr>
              <a:t>   </a:t>
            </a:r>
            <a:r>
              <a:rPr lang="en-US" sz="1400" dirty="0" smtClean="0">
                <a:solidFill>
                  <a:srgbClr val="C00000"/>
                </a:solidFill>
                <a:latin typeface="Consolas" pitchFamily="49" charset="0"/>
                <a:cs typeface="Consolas" pitchFamily="49" charset="0"/>
              </a:rPr>
              <a:t>public </a:t>
            </a:r>
            <a:r>
              <a:rPr lang="en-US" sz="1400" b="1" dirty="0" smtClean="0">
                <a:solidFill>
                  <a:srgbClr val="C00000"/>
                </a:solidFill>
                <a:latin typeface="Consolas" pitchFamily="49" charset="0"/>
                <a:cs typeface="Consolas" pitchFamily="49" charset="0"/>
              </a:rPr>
              <a:t>Product(String name, </a:t>
            </a:r>
            <a:r>
              <a:rPr lang="en-US" sz="1400" b="1" dirty="0" err="1" smtClean="0">
                <a:solidFill>
                  <a:srgbClr val="C00000"/>
                </a:solidFill>
                <a:latin typeface="Consolas" pitchFamily="49" charset="0"/>
                <a:cs typeface="Consolas" pitchFamily="49" charset="0"/>
              </a:rPr>
              <a:t>RecognitionStrategy</a:t>
            </a:r>
            <a:r>
              <a:rPr lang="en-US" sz="1400" b="1" dirty="0" smtClean="0">
                <a:solidFill>
                  <a:srgbClr val="C00000"/>
                </a:solidFill>
                <a:latin typeface="Consolas" pitchFamily="49" charset="0"/>
                <a:cs typeface="Consolas" pitchFamily="49" charset="0"/>
              </a:rPr>
              <a:t> </a:t>
            </a:r>
            <a:r>
              <a:rPr lang="en-US" sz="1400" b="1" dirty="0" err="1" smtClean="0">
                <a:solidFill>
                  <a:srgbClr val="C00000"/>
                </a:solidFill>
                <a:latin typeface="Consolas" pitchFamily="49" charset="0"/>
                <a:cs typeface="Consolas" pitchFamily="49" charset="0"/>
              </a:rPr>
              <a:t>recognitionStrategy</a:t>
            </a:r>
            <a:r>
              <a:rPr lang="en-US" sz="1400" b="1" dirty="0" smtClean="0">
                <a:solidFill>
                  <a:srgbClr val="C00000"/>
                </a:solidFill>
                <a:latin typeface="Consolas" pitchFamily="49" charset="0"/>
                <a:cs typeface="Consolas" pitchFamily="49" charset="0"/>
              </a:rPr>
              <a:t>)</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this.name = name;</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this.recognitionStrategy</a:t>
            </a:r>
            <a:r>
              <a:rPr lang="en-US" sz="1400" dirty="0" smtClean="0">
                <a:solidFill>
                  <a:srgbClr val="C00000"/>
                </a:solidFill>
                <a:latin typeface="Consolas" pitchFamily="49" charset="0"/>
                <a:cs typeface="Consolas" pitchFamily="49" charset="0"/>
              </a:rPr>
              <a:t> =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b="1" dirty="0" smtClean="0">
                <a:solidFill>
                  <a:srgbClr val="C00000"/>
                </a:solidFill>
                <a:latin typeface="Consolas" pitchFamily="49" charset="0"/>
                <a:cs typeface="Consolas" pitchFamily="49" charset="0"/>
              </a:rPr>
              <a:t>class </a:t>
            </a:r>
            <a:r>
              <a:rPr lang="en-US" sz="1400" b="1" dirty="0" err="1" smtClean="0">
                <a:solidFill>
                  <a:srgbClr val="C00000"/>
                </a:solidFill>
                <a:latin typeface="Consolas" pitchFamily="49" charset="0"/>
                <a:cs typeface="Consolas" pitchFamily="49" charset="0"/>
              </a:rPr>
              <a:t>RecognitionStrategy</a:t>
            </a:r>
            <a:r>
              <a:rPr lang="en-US" sz="1400" b="1" dirty="0" smtClean="0">
                <a:solidFill>
                  <a:srgbClr val="C00000"/>
                </a:solidFill>
                <a:latin typeface="Consolas" pitchFamily="49" charset="0"/>
                <a:cs typeface="Consolas" pitchFamily="49" charset="0"/>
              </a:rPr>
              <a:t>...</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abstract void </a:t>
            </a:r>
            <a:r>
              <a:rPr lang="en-US" sz="1400" dirty="0" err="1" smtClean="0">
                <a:solidFill>
                  <a:srgbClr val="C00000"/>
                </a:solidFill>
                <a:latin typeface="Consolas" pitchFamily="49" charset="0"/>
                <a:cs typeface="Consolas" pitchFamily="49" charset="0"/>
              </a:rPr>
              <a:t>calculateRevenueRecognitions</a:t>
            </a:r>
            <a:r>
              <a:rPr lang="en-US" sz="1400" dirty="0" smtClean="0">
                <a:solidFill>
                  <a:srgbClr val="C00000"/>
                </a:solidFill>
                <a:latin typeface="Consolas" pitchFamily="49" charset="0"/>
                <a:cs typeface="Consolas" pitchFamily="49" charset="0"/>
              </a:rPr>
              <a:t>(Contract </a:t>
            </a:r>
            <a:r>
              <a:rPr lang="en-US" sz="1400" dirty="0" err="1" smtClean="0">
                <a:solidFill>
                  <a:srgbClr val="C00000"/>
                </a:solidFill>
                <a:latin typeface="Consolas" pitchFamily="49" charset="0"/>
                <a:cs typeface="Consolas" pitchFamily="49" charset="0"/>
              </a:rPr>
              <a:t>contract</a:t>
            </a:r>
            <a:r>
              <a:rPr lang="en-US" sz="1400" dirty="0" smtClean="0">
                <a:solidFill>
                  <a:srgbClr val="C00000"/>
                </a:solidFill>
                <a:latin typeface="Consolas" pitchFamily="49" charset="0"/>
                <a:cs typeface="Consolas" pitchFamily="49" charset="0"/>
              </a:rPr>
              <a:t>);</a:t>
            </a:r>
          </a:p>
        </p:txBody>
      </p:sp>
      <p:sp>
        <p:nvSpPr>
          <p:cNvPr id="5" name="Title 1"/>
          <p:cNvSpPr txBox="1">
            <a:spLocks/>
          </p:cNvSpPr>
          <p:nvPr/>
        </p:nvSpPr>
        <p:spPr bwMode="auto">
          <a:xfrm>
            <a:off x="609600" y="4270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mj-lt"/>
                <a:ea typeface="+mj-ea"/>
                <a:cs typeface="+mj-cs"/>
              </a:rPr>
              <a:t>Each Contract Has A Product</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Rectangle 5"/>
          <p:cNvSpPr/>
          <p:nvPr/>
        </p:nvSpPr>
        <p:spPr>
          <a:xfrm>
            <a:off x="2209800" y="3886200"/>
            <a:ext cx="6400800"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800" dirty="0" smtClean="0">
                <a:latin typeface="+mj-lt"/>
              </a:rPr>
              <a:t>Each Product Has Its Own Recognition Way</a:t>
            </a:r>
            <a:endParaRPr lang="en-US" sz="2800" dirty="0">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Recognition Strategies</a:t>
            </a:r>
            <a:endParaRPr lang="en-US" dirty="0"/>
          </a:p>
        </p:txBody>
      </p:sp>
      <p:sp>
        <p:nvSpPr>
          <p:cNvPr id="4" name="Rectangle 3"/>
          <p:cNvSpPr/>
          <p:nvPr/>
        </p:nvSpPr>
        <p:spPr>
          <a:xfrm>
            <a:off x="457200" y="1447800"/>
            <a:ext cx="8305800" cy="5093702"/>
          </a:xfrm>
          <a:prstGeom prst="rect">
            <a:avLst/>
          </a:prstGeom>
          <a:solidFill>
            <a:schemeClr val="bg2"/>
          </a:solidFill>
          <a:ln>
            <a:solidFill>
              <a:schemeClr val="bg2">
                <a:lumMod val="10000"/>
              </a:schemeClr>
            </a:solidFill>
          </a:ln>
        </p:spPr>
        <p:txBody>
          <a:bodyPr wrap="square">
            <a:spAutoFit/>
          </a:bodyPr>
          <a:lstStyle/>
          <a:p>
            <a:r>
              <a:rPr lang="en-US" sz="1300" b="1" dirty="0" smtClean="0">
                <a:solidFill>
                  <a:srgbClr val="C00000"/>
                </a:solidFill>
                <a:latin typeface="Consolas" pitchFamily="49" charset="0"/>
                <a:cs typeface="Consolas" pitchFamily="49" charset="0"/>
              </a:rPr>
              <a:t>class </a:t>
            </a:r>
            <a:r>
              <a:rPr lang="en-US" sz="1300" b="1" dirty="0" err="1" smtClean="0">
                <a:solidFill>
                  <a:srgbClr val="C00000"/>
                </a:solidFill>
                <a:latin typeface="Consolas" pitchFamily="49" charset="0"/>
                <a:cs typeface="Consolas" pitchFamily="49" charset="0"/>
              </a:rPr>
              <a:t>CompleteRecognitionStrategy</a:t>
            </a:r>
            <a:r>
              <a:rPr lang="en-US" sz="1300" b="1"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void </a:t>
            </a:r>
            <a:r>
              <a:rPr lang="en-US" sz="1300" dirty="0" err="1" smtClean="0">
                <a:solidFill>
                  <a:srgbClr val="C00000"/>
                </a:solidFill>
                <a:latin typeface="Consolas" pitchFamily="49" charset="0"/>
                <a:cs typeface="Consolas" pitchFamily="49" charset="0"/>
              </a:rPr>
              <a:t>calculateRevenueRecognitions</a:t>
            </a:r>
            <a:r>
              <a:rPr lang="en-US" sz="1300" dirty="0" smtClean="0">
                <a:solidFill>
                  <a:srgbClr val="C00000"/>
                </a:solidFill>
                <a:latin typeface="Consolas" pitchFamily="49" charset="0"/>
                <a:cs typeface="Consolas" pitchFamily="49" charset="0"/>
              </a:rPr>
              <a:t>(Contract </a:t>
            </a:r>
            <a:r>
              <a:rPr lang="en-US" sz="1300" dirty="0" err="1" smtClean="0">
                <a:solidFill>
                  <a:srgbClr val="C00000"/>
                </a:solidFill>
                <a:latin typeface="Consolas" pitchFamily="49" charset="0"/>
                <a:cs typeface="Consolas" pitchFamily="49" charset="0"/>
              </a:rPr>
              <a:t>contract</a:t>
            </a:r>
            <a:r>
              <a:rPr lang="en-US" sz="1300" dirty="0" smtClean="0">
                <a:solidFill>
                  <a:srgbClr val="C00000"/>
                </a:solidFill>
                <a:latin typeface="Consolas" pitchFamily="49" charset="0"/>
                <a:cs typeface="Consolas" pitchFamily="49" charset="0"/>
              </a:rPr>
              <a:t>) {</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contract.</a:t>
            </a:r>
            <a:r>
              <a:rPr lang="en-US" sz="1300" b="1" dirty="0" err="1" smtClean="0">
                <a:solidFill>
                  <a:srgbClr val="C00000"/>
                </a:solidFill>
                <a:latin typeface="Consolas" pitchFamily="49" charset="0"/>
                <a:cs typeface="Consolas" pitchFamily="49" charset="0"/>
              </a:rPr>
              <a:t>addRevenueRecognition</a:t>
            </a:r>
            <a:r>
              <a:rPr lang="en-US" sz="1300" dirty="0" smtClean="0">
                <a:solidFill>
                  <a:srgbClr val="C00000"/>
                </a:solidFill>
                <a:latin typeface="Consolas" pitchFamily="49" charset="0"/>
                <a:cs typeface="Consolas" pitchFamily="49" charset="0"/>
              </a:rPr>
              <a:t>(new </a:t>
            </a:r>
            <a:r>
              <a:rPr lang="en-US" sz="1300" dirty="0" err="1" smtClean="0">
                <a:solidFill>
                  <a:srgbClr val="C00000"/>
                </a:solidFill>
                <a:latin typeface="Consolas" pitchFamily="49" charset="0"/>
                <a:cs typeface="Consolas" pitchFamily="49" charset="0"/>
              </a:rPr>
              <a:t>RevenueRecognition</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contract.getRevenue</a:t>
            </a:r>
            <a:r>
              <a:rPr lang="en-US" sz="1300" dirty="0" smtClean="0">
                <a:solidFill>
                  <a:srgbClr val="C00000"/>
                </a:solidFill>
                <a:latin typeface="Consolas" pitchFamily="49" charset="0"/>
                <a:cs typeface="Consolas" pitchFamily="49" charset="0"/>
              </a:rPr>
              <a:t>(), </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contract.getWhenSigned</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p>
          <a:p>
            <a:endParaRPr lang="en-US" sz="1300" dirty="0" smtClean="0">
              <a:solidFill>
                <a:srgbClr val="C00000"/>
              </a:solidFill>
              <a:latin typeface="Consolas" pitchFamily="49" charset="0"/>
              <a:cs typeface="Consolas" pitchFamily="49" charset="0"/>
            </a:endParaRPr>
          </a:p>
          <a:p>
            <a:r>
              <a:rPr lang="en-US" sz="1300" b="1" dirty="0" smtClean="0">
                <a:solidFill>
                  <a:srgbClr val="C00000"/>
                </a:solidFill>
                <a:latin typeface="Consolas" pitchFamily="49" charset="0"/>
                <a:cs typeface="Consolas" pitchFamily="49" charset="0"/>
              </a:rPr>
              <a:t>class </a:t>
            </a:r>
            <a:r>
              <a:rPr lang="en-US" sz="1300" b="1" dirty="0" err="1" smtClean="0">
                <a:solidFill>
                  <a:srgbClr val="C00000"/>
                </a:solidFill>
                <a:latin typeface="Consolas" pitchFamily="49" charset="0"/>
                <a:cs typeface="Consolas" pitchFamily="49" charset="0"/>
              </a:rPr>
              <a:t>ThreeWayRecognitionStrategy</a:t>
            </a:r>
            <a:r>
              <a:rPr lang="en-US" sz="1300" b="1" dirty="0" smtClean="0">
                <a:solidFill>
                  <a:srgbClr val="C00000"/>
                </a:solidFill>
                <a:latin typeface="Consolas" pitchFamily="49" charset="0"/>
                <a:cs typeface="Consolas" pitchFamily="49" charset="0"/>
              </a:rPr>
              <a:t>...</a:t>
            </a:r>
          </a:p>
          <a:p>
            <a:endParaRPr lang="en-US" sz="1300" dirty="0" smtClean="0">
              <a:solidFill>
                <a:srgbClr val="C00000"/>
              </a:solidFill>
              <a:latin typeface="Consolas" pitchFamily="49" charset="0"/>
              <a:cs typeface="Consolas" pitchFamily="49" charset="0"/>
            </a:endParaRPr>
          </a:p>
          <a:p>
            <a:r>
              <a:rPr lang="en-US" sz="1300" dirty="0" smtClean="0">
                <a:solidFill>
                  <a:srgbClr val="C00000"/>
                </a:solidFill>
                <a:latin typeface="Consolas" pitchFamily="49" charset="0"/>
                <a:cs typeface="Consolas" pitchFamily="49" charset="0"/>
              </a:rPr>
              <a:t>   private </a:t>
            </a:r>
            <a:r>
              <a:rPr lang="en-US" sz="1300" dirty="0" err="1" smtClean="0">
                <a:solidFill>
                  <a:srgbClr val="C00000"/>
                </a:solidFill>
                <a:latin typeface="Consolas" pitchFamily="49" charset="0"/>
                <a:cs typeface="Consolas" pitchFamily="49" charset="0"/>
              </a:rPr>
              <a:t>int</a:t>
            </a:r>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firstRecognitionOffset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private </a:t>
            </a:r>
            <a:r>
              <a:rPr lang="en-US" sz="1300" dirty="0" err="1" smtClean="0">
                <a:solidFill>
                  <a:srgbClr val="C00000"/>
                </a:solidFill>
                <a:latin typeface="Consolas" pitchFamily="49" charset="0"/>
                <a:cs typeface="Consolas" pitchFamily="49" charset="0"/>
              </a:rPr>
              <a:t>int</a:t>
            </a:r>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secondRecognitionOffset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public </a:t>
            </a:r>
            <a:r>
              <a:rPr lang="en-US" sz="1300" dirty="0" err="1" smtClean="0">
                <a:solidFill>
                  <a:srgbClr val="C00000"/>
                </a:solidFill>
                <a:latin typeface="Consolas" pitchFamily="49" charset="0"/>
                <a:cs typeface="Consolas" pitchFamily="49" charset="0"/>
              </a:rPr>
              <a:t>ThreeWayRecognitionStrategy</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int</a:t>
            </a:r>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firstRecognitionOffset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int</a:t>
            </a:r>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secondRecognitionOffset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this.firstRecognitionOffset</a:t>
            </a:r>
            <a:r>
              <a:rPr lang="en-US" sz="1300" dirty="0" smtClean="0">
                <a:solidFill>
                  <a:srgbClr val="C00000"/>
                </a:solidFill>
                <a:latin typeface="Consolas" pitchFamily="49" charset="0"/>
                <a:cs typeface="Consolas" pitchFamily="49" charset="0"/>
              </a:rPr>
              <a:t> = </a:t>
            </a:r>
            <a:r>
              <a:rPr lang="en-US" sz="1300" dirty="0" err="1" smtClean="0">
                <a:solidFill>
                  <a:srgbClr val="C00000"/>
                </a:solidFill>
                <a:latin typeface="Consolas" pitchFamily="49" charset="0"/>
                <a:cs typeface="Consolas" pitchFamily="49" charset="0"/>
              </a:rPr>
              <a:t>firstRecognitionOffset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this.secondRecognitionOffset</a:t>
            </a:r>
            <a:r>
              <a:rPr lang="en-US" sz="1300" dirty="0" smtClean="0">
                <a:solidFill>
                  <a:srgbClr val="C00000"/>
                </a:solidFill>
                <a:latin typeface="Consolas" pitchFamily="49" charset="0"/>
                <a:cs typeface="Consolas" pitchFamily="49" charset="0"/>
              </a:rPr>
              <a:t> = </a:t>
            </a:r>
            <a:r>
              <a:rPr lang="en-US" sz="1300" dirty="0" err="1" smtClean="0">
                <a:solidFill>
                  <a:srgbClr val="C00000"/>
                </a:solidFill>
                <a:latin typeface="Consolas" pitchFamily="49" charset="0"/>
                <a:cs typeface="Consolas" pitchFamily="49" charset="0"/>
              </a:rPr>
              <a:t>secondRecognitionOffset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p>
          <a:p>
            <a:r>
              <a:rPr lang="en-US" sz="1300" dirty="0" smtClean="0">
                <a:solidFill>
                  <a:srgbClr val="C00000"/>
                </a:solidFill>
                <a:latin typeface="Consolas" pitchFamily="49" charset="0"/>
                <a:cs typeface="Consolas" pitchFamily="49" charset="0"/>
              </a:rPr>
              <a:t>   void </a:t>
            </a:r>
            <a:r>
              <a:rPr lang="en-US" sz="1300" dirty="0" err="1" smtClean="0">
                <a:solidFill>
                  <a:srgbClr val="C00000"/>
                </a:solidFill>
                <a:latin typeface="Consolas" pitchFamily="49" charset="0"/>
                <a:cs typeface="Consolas" pitchFamily="49" charset="0"/>
              </a:rPr>
              <a:t>calculateRevenueRecognitions</a:t>
            </a:r>
            <a:r>
              <a:rPr lang="en-US" sz="1300" dirty="0" smtClean="0">
                <a:solidFill>
                  <a:srgbClr val="C00000"/>
                </a:solidFill>
                <a:latin typeface="Consolas" pitchFamily="49" charset="0"/>
                <a:cs typeface="Consolas" pitchFamily="49" charset="0"/>
              </a:rPr>
              <a:t>(Contract </a:t>
            </a:r>
            <a:r>
              <a:rPr lang="en-US" sz="1300" dirty="0" err="1" smtClean="0">
                <a:solidFill>
                  <a:srgbClr val="C00000"/>
                </a:solidFill>
                <a:latin typeface="Consolas" pitchFamily="49" charset="0"/>
                <a:cs typeface="Consolas" pitchFamily="49" charset="0"/>
              </a:rPr>
              <a:t>contract</a:t>
            </a:r>
            <a:r>
              <a:rPr lang="en-US" sz="1300" dirty="0" smtClean="0">
                <a:solidFill>
                  <a:srgbClr val="C00000"/>
                </a:solidFill>
                <a:latin typeface="Consolas" pitchFamily="49" charset="0"/>
                <a:cs typeface="Consolas" pitchFamily="49" charset="0"/>
              </a:rPr>
              <a:t>) {</a:t>
            </a:r>
          </a:p>
          <a:p>
            <a:r>
              <a:rPr lang="en-US" sz="1300" dirty="0" smtClean="0">
                <a:solidFill>
                  <a:srgbClr val="C00000"/>
                </a:solidFill>
                <a:latin typeface="Consolas" pitchFamily="49" charset="0"/>
                <a:cs typeface="Consolas" pitchFamily="49" charset="0"/>
              </a:rPr>
              <a:t>      Money[] allocation = </a:t>
            </a:r>
            <a:r>
              <a:rPr lang="en-US" sz="1300" dirty="0" err="1" smtClean="0">
                <a:solidFill>
                  <a:srgbClr val="C00000"/>
                </a:solidFill>
                <a:latin typeface="Consolas" pitchFamily="49" charset="0"/>
                <a:cs typeface="Consolas" pitchFamily="49" charset="0"/>
              </a:rPr>
              <a:t>contract.getRevenue</a:t>
            </a:r>
            <a:r>
              <a:rPr lang="en-US" sz="1300" dirty="0" smtClean="0">
                <a:solidFill>
                  <a:srgbClr val="C00000"/>
                </a:solidFill>
                <a:latin typeface="Consolas" pitchFamily="49" charset="0"/>
                <a:cs typeface="Consolas" pitchFamily="49" charset="0"/>
              </a:rPr>
              <a:t>().allocate(3);</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contract.</a:t>
            </a:r>
            <a:r>
              <a:rPr lang="en-US" sz="1300" b="1" dirty="0" err="1" smtClean="0">
                <a:solidFill>
                  <a:srgbClr val="C00000"/>
                </a:solidFill>
                <a:latin typeface="Consolas" pitchFamily="49" charset="0"/>
                <a:cs typeface="Consolas" pitchFamily="49" charset="0"/>
              </a:rPr>
              <a:t>addRevenueRecognition</a:t>
            </a:r>
            <a:r>
              <a:rPr lang="en-US" sz="1300" dirty="0" smtClean="0">
                <a:solidFill>
                  <a:srgbClr val="C00000"/>
                </a:solidFill>
                <a:latin typeface="Consolas" pitchFamily="49" charset="0"/>
                <a:cs typeface="Consolas" pitchFamily="49" charset="0"/>
              </a:rPr>
              <a:t>(new </a:t>
            </a:r>
            <a:r>
              <a:rPr lang="en-US" sz="1300" dirty="0" err="1" smtClean="0">
                <a:solidFill>
                  <a:srgbClr val="C00000"/>
                </a:solidFill>
                <a:latin typeface="Consolas" pitchFamily="49" charset="0"/>
                <a:cs typeface="Consolas" pitchFamily="49" charset="0"/>
              </a:rPr>
              <a:t>RevenueRecognition</a:t>
            </a:r>
            <a:endParaRPr lang="en-US" sz="1300" dirty="0" smtClean="0">
              <a:solidFill>
                <a:srgbClr val="C00000"/>
              </a:solidFill>
              <a:latin typeface="Consolas" pitchFamily="49" charset="0"/>
              <a:cs typeface="Consolas" pitchFamily="49" charset="0"/>
            </a:endParaRPr>
          </a:p>
          <a:p>
            <a:r>
              <a:rPr lang="en-US" sz="1300" dirty="0" smtClean="0">
                <a:solidFill>
                  <a:srgbClr val="C00000"/>
                </a:solidFill>
                <a:latin typeface="Consolas" pitchFamily="49" charset="0"/>
                <a:cs typeface="Consolas" pitchFamily="49" charset="0"/>
              </a:rPr>
              <a:t>            (allocation[0], </a:t>
            </a:r>
            <a:r>
              <a:rPr lang="en-US" sz="1300" dirty="0" err="1" smtClean="0">
                <a:solidFill>
                  <a:srgbClr val="C00000"/>
                </a:solidFill>
                <a:latin typeface="Consolas" pitchFamily="49" charset="0"/>
                <a:cs typeface="Consolas" pitchFamily="49" charset="0"/>
              </a:rPr>
              <a:t>contract.getWhenSigned</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contract.</a:t>
            </a:r>
            <a:r>
              <a:rPr lang="en-US" sz="1300" b="1" dirty="0" err="1" smtClean="0">
                <a:solidFill>
                  <a:srgbClr val="C00000"/>
                </a:solidFill>
                <a:latin typeface="Consolas" pitchFamily="49" charset="0"/>
                <a:cs typeface="Consolas" pitchFamily="49" charset="0"/>
              </a:rPr>
              <a:t>addRevenueRecognition</a:t>
            </a:r>
            <a:r>
              <a:rPr lang="en-US" sz="1300" dirty="0" smtClean="0">
                <a:solidFill>
                  <a:srgbClr val="C00000"/>
                </a:solidFill>
                <a:latin typeface="Consolas" pitchFamily="49" charset="0"/>
                <a:cs typeface="Consolas" pitchFamily="49" charset="0"/>
              </a:rPr>
              <a:t>(new </a:t>
            </a:r>
            <a:r>
              <a:rPr lang="en-US" sz="1300" dirty="0" err="1" smtClean="0">
                <a:solidFill>
                  <a:srgbClr val="C00000"/>
                </a:solidFill>
                <a:latin typeface="Consolas" pitchFamily="49" charset="0"/>
                <a:cs typeface="Consolas" pitchFamily="49" charset="0"/>
              </a:rPr>
              <a:t>RevenueRecognition</a:t>
            </a:r>
            <a:endParaRPr lang="en-US" sz="1300" dirty="0" smtClean="0">
              <a:solidFill>
                <a:srgbClr val="C00000"/>
              </a:solidFill>
              <a:latin typeface="Consolas" pitchFamily="49" charset="0"/>
              <a:cs typeface="Consolas" pitchFamily="49" charset="0"/>
            </a:endParaRPr>
          </a:p>
          <a:p>
            <a:r>
              <a:rPr lang="en-US" sz="1300" dirty="0" smtClean="0">
                <a:solidFill>
                  <a:srgbClr val="C00000"/>
                </a:solidFill>
                <a:latin typeface="Consolas" pitchFamily="49" charset="0"/>
                <a:cs typeface="Consolas" pitchFamily="49" charset="0"/>
              </a:rPr>
              <a:t>            (allocation[1], </a:t>
            </a:r>
            <a:r>
              <a:rPr lang="en-US" sz="1300" dirty="0" err="1" smtClean="0">
                <a:solidFill>
                  <a:srgbClr val="C00000"/>
                </a:solidFill>
                <a:latin typeface="Consolas" pitchFamily="49" charset="0"/>
                <a:cs typeface="Consolas" pitchFamily="49" charset="0"/>
              </a:rPr>
              <a:t>contract.getWhenSigned</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addDays</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firstRecognitionOffset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r>
              <a:rPr lang="en-US" sz="1300" dirty="0" err="1" smtClean="0">
                <a:solidFill>
                  <a:srgbClr val="C00000"/>
                </a:solidFill>
                <a:latin typeface="Consolas" pitchFamily="49" charset="0"/>
                <a:cs typeface="Consolas" pitchFamily="49" charset="0"/>
              </a:rPr>
              <a:t>contract.</a:t>
            </a:r>
            <a:r>
              <a:rPr lang="en-US" sz="1300" b="1" dirty="0" err="1" smtClean="0">
                <a:solidFill>
                  <a:srgbClr val="C00000"/>
                </a:solidFill>
                <a:latin typeface="Consolas" pitchFamily="49" charset="0"/>
                <a:cs typeface="Consolas" pitchFamily="49" charset="0"/>
              </a:rPr>
              <a:t>addRevenueRecognition</a:t>
            </a:r>
            <a:r>
              <a:rPr lang="en-US" sz="1300" dirty="0" smtClean="0">
                <a:solidFill>
                  <a:srgbClr val="C00000"/>
                </a:solidFill>
                <a:latin typeface="Consolas" pitchFamily="49" charset="0"/>
                <a:cs typeface="Consolas" pitchFamily="49" charset="0"/>
              </a:rPr>
              <a:t>(new </a:t>
            </a:r>
            <a:r>
              <a:rPr lang="en-US" sz="1300" dirty="0" err="1" smtClean="0">
                <a:solidFill>
                  <a:srgbClr val="C00000"/>
                </a:solidFill>
                <a:latin typeface="Consolas" pitchFamily="49" charset="0"/>
                <a:cs typeface="Consolas" pitchFamily="49" charset="0"/>
              </a:rPr>
              <a:t>RevenueRecognition</a:t>
            </a:r>
            <a:endParaRPr lang="en-US" sz="1300" dirty="0" smtClean="0">
              <a:solidFill>
                <a:srgbClr val="C00000"/>
              </a:solidFill>
              <a:latin typeface="Consolas" pitchFamily="49" charset="0"/>
              <a:cs typeface="Consolas" pitchFamily="49" charset="0"/>
            </a:endParaRPr>
          </a:p>
          <a:p>
            <a:r>
              <a:rPr lang="en-US" sz="1300" dirty="0" smtClean="0">
                <a:solidFill>
                  <a:srgbClr val="C00000"/>
                </a:solidFill>
                <a:latin typeface="Consolas" pitchFamily="49" charset="0"/>
                <a:cs typeface="Consolas" pitchFamily="49" charset="0"/>
              </a:rPr>
              <a:t>            (allocation[2], </a:t>
            </a:r>
            <a:r>
              <a:rPr lang="en-US" sz="1300" dirty="0" err="1" smtClean="0">
                <a:solidFill>
                  <a:srgbClr val="C00000"/>
                </a:solidFill>
                <a:latin typeface="Consolas" pitchFamily="49" charset="0"/>
                <a:cs typeface="Consolas" pitchFamily="49" charset="0"/>
              </a:rPr>
              <a:t>contract.getWhenSigned</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addDays</a:t>
            </a:r>
            <a:r>
              <a:rPr lang="en-US" sz="1300" dirty="0" smtClean="0">
                <a:solidFill>
                  <a:srgbClr val="C00000"/>
                </a:solidFill>
                <a:latin typeface="Consolas" pitchFamily="49" charset="0"/>
                <a:cs typeface="Consolas" pitchFamily="49" charset="0"/>
              </a:rPr>
              <a:t>(</a:t>
            </a:r>
            <a:r>
              <a:rPr lang="en-US" sz="1300" dirty="0" err="1" smtClean="0">
                <a:solidFill>
                  <a:srgbClr val="C00000"/>
                </a:solidFill>
                <a:latin typeface="Consolas" pitchFamily="49" charset="0"/>
                <a:cs typeface="Consolas" pitchFamily="49" charset="0"/>
              </a:rPr>
              <a:t>secondRecognitionOffset</a:t>
            </a:r>
            <a:r>
              <a:rPr lang="en-US" sz="1300" dirty="0" smtClean="0">
                <a:solidFill>
                  <a:srgbClr val="C00000"/>
                </a:solidFill>
                <a:latin typeface="Consolas" pitchFamily="49" charset="0"/>
                <a:cs typeface="Consolas" pitchFamily="49" charset="0"/>
              </a:rPr>
              <a:t>)));</a:t>
            </a:r>
          </a:p>
          <a:p>
            <a:r>
              <a:rPr lang="en-US" sz="1300" dirty="0" smtClean="0">
                <a:solidFill>
                  <a:srgbClr val="C00000"/>
                </a:solidFill>
                <a:latin typeface="Consolas" pitchFamily="49" charset="0"/>
                <a:cs typeface="Consolas" pitchFamily="49" charset="0"/>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the Recognitions</a:t>
            </a:r>
            <a:endParaRPr lang="en-US" dirty="0"/>
          </a:p>
        </p:txBody>
      </p:sp>
      <p:sp>
        <p:nvSpPr>
          <p:cNvPr id="4" name="Rectangle 3"/>
          <p:cNvSpPr/>
          <p:nvPr/>
        </p:nvSpPr>
        <p:spPr>
          <a:xfrm>
            <a:off x="457200" y="1447800"/>
            <a:ext cx="8305800" cy="5047536"/>
          </a:xfrm>
          <a:prstGeom prst="rect">
            <a:avLst/>
          </a:prstGeom>
          <a:solidFill>
            <a:schemeClr val="bg2"/>
          </a:solidFill>
          <a:ln>
            <a:solidFill>
              <a:schemeClr val="bg2">
                <a:lumMod val="10000"/>
              </a:schemeClr>
            </a:solidFill>
          </a:ln>
        </p:spPr>
        <p:txBody>
          <a:bodyPr wrap="square">
            <a:spAutoFit/>
          </a:bodyPr>
          <a:lstStyle/>
          <a:p>
            <a:r>
              <a:rPr lang="en-US" sz="1400" b="1" dirty="0" smtClean="0">
                <a:solidFill>
                  <a:srgbClr val="C00000"/>
                </a:solidFill>
                <a:latin typeface="Consolas" pitchFamily="49" charset="0"/>
                <a:cs typeface="Consolas" pitchFamily="49" charset="0"/>
              </a:rPr>
              <a:t>class Contract... </a:t>
            </a:r>
          </a:p>
          <a:p>
            <a:r>
              <a:rPr lang="en-US" sz="1400" dirty="0" smtClean="0">
                <a:solidFill>
                  <a:srgbClr val="C00000"/>
                </a:solidFill>
                <a:latin typeface="Consolas" pitchFamily="49" charset="0"/>
                <a:cs typeface="Consolas" pitchFamily="49" charset="0"/>
              </a:rPr>
              <a:t>   private Product </a:t>
            </a:r>
            <a:r>
              <a:rPr lang="en-US" sz="1400" dirty="0" err="1" smtClean="0">
                <a:solidFill>
                  <a:srgbClr val="C00000"/>
                </a:solidFill>
                <a:latin typeface="Consolas" pitchFamily="49" charset="0"/>
                <a:cs typeface="Consolas" pitchFamily="49" charset="0"/>
              </a:rPr>
              <a:t>product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private Money revenue;</a:t>
            </a:r>
          </a:p>
          <a:p>
            <a:r>
              <a:rPr lang="en-US" sz="1400" dirty="0" smtClean="0">
                <a:solidFill>
                  <a:srgbClr val="C00000"/>
                </a:solidFill>
                <a:latin typeface="Consolas" pitchFamily="49" charset="0"/>
                <a:cs typeface="Consolas" pitchFamily="49" charset="0"/>
              </a:rPr>
              <a:t>   private </a:t>
            </a:r>
            <a:r>
              <a:rPr lang="en-US" sz="1400" dirty="0" err="1" smtClean="0">
                <a:solidFill>
                  <a:srgbClr val="C00000"/>
                </a:solidFill>
                <a:latin typeface="Consolas" pitchFamily="49" charset="0"/>
                <a:cs typeface="Consolas" pitchFamily="49" charset="0"/>
              </a:rPr>
              <a:t>MfDate</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whenSigned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public Contract(Product </a:t>
            </a:r>
            <a:r>
              <a:rPr lang="en-US" sz="1400" dirty="0" err="1" smtClean="0">
                <a:solidFill>
                  <a:srgbClr val="C00000"/>
                </a:solidFill>
                <a:latin typeface="Consolas" pitchFamily="49" charset="0"/>
                <a:cs typeface="Consolas" pitchFamily="49" charset="0"/>
              </a:rPr>
              <a:t>product</a:t>
            </a:r>
            <a:r>
              <a:rPr lang="en-US" sz="1400" dirty="0" smtClean="0">
                <a:solidFill>
                  <a:srgbClr val="C00000"/>
                </a:solidFill>
                <a:latin typeface="Consolas" pitchFamily="49" charset="0"/>
                <a:cs typeface="Consolas" pitchFamily="49" charset="0"/>
              </a:rPr>
              <a:t>, Money revenue, </a:t>
            </a:r>
            <a:r>
              <a:rPr lang="en-US" sz="1400" dirty="0" err="1" smtClean="0">
                <a:solidFill>
                  <a:srgbClr val="C00000"/>
                </a:solidFill>
                <a:latin typeface="Consolas" pitchFamily="49" charset="0"/>
                <a:cs typeface="Consolas" pitchFamily="49" charset="0"/>
              </a:rPr>
              <a:t>MfDate</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whenSigned</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this.product</a:t>
            </a:r>
            <a:r>
              <a:rPr lang="en-US" sz="1400" dirty="0" smtClean="0">
                <a:solidFill>
                  <a:srgbClr val="C00000"/>
                </a:solidFill>
                <a:latin typeface="Consolas" pitchFamily="49" charset="0"/>
                <a:cs typeface="Consolas" pitchFamily="49" charset="0"/>
              </a:rPr>
              <a:t> = product;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this.revenue</a:t>
            </a:r>
            <a:r>
              <a:rPr lang="en-US" sz="1400" dirty="0" smtClean="0">
                <a:solidFill>
                  <a:srgbClr val="C00000"/>
                </a:solidFill>
                <a:latin typeface="Consolas" pitchFamily="49" charset="0"/>
                <a:cs typeface="Consolas" pitchFamily="49" charset="0"/>
              </a:rPr>
              <a:t> = revenue;</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this.whenSigned</a:t>
            </a:r>
            <a:r>
              <a:rPr lang="en-US" sz="1400" dirty="0" smtClean="0">
                <a:solidFill>
                  <a:srgbClr val="C00000"/>
                </a:solidFill>
                <a:latin typeface="Consolas" pitchFamily="49" charset="0"/>
                <a:cs typeface="Consolas" pitchFamily="49" charset="0"/>
              </a:rPr>
              <a:t> = </a:t>
            </a:r>
            <a:r>
              <a:rPr lang="en-US" sz="1400" dirty="0" err="1" smtClean="0">
                <a:solidFill>
                  <a:srgbClr val="C00000"/>
                </a:solidFill>
                <a:latin typeface="Consolas" pitchFamily="49" charset="0"/>
                <a:cs typeface="Consolas" pitchFamily="49" charset="0"/>
              </a:rPr>
              <a:t>whenSigned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public void </a:t>
            </a:r>
            <a:r>
              <a:rPr lang="en-US" sz="1400" dirty="0" err="1" smtClean="0">
                <a:solidFill>
                  <a:srgbClr val="C00000"/>
                </a:solidFill>
                <a:latin typeface="Consolas" pitchFamily="49" charset="0"/>
                <a:cs typeface="Consolas" pitchFamily="49" charset="0"/>
              </a:rPr>
              <a:t>calculateRecognitions</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product.</a:t>
            </a:r>
            <a:r>
              <a:rPr lang="en-US" sz="1400" b="1" dirty="0" err="1" smtClean="0">
                <a:solidFill>
                  <a:srgbClr val="C00000"/>
                </a:solidFill>
                <a:latin typeface="Consolas" pitchFamily="49" charset="0"/>
                <a:cs typeface="Consolas" pitchFamily="49" charset="0"/>
              </a:rPr>
              <a:t>calculateRevenueRecognitions</a:t>
            </a:r>
            <a:r>
              <a:rPr lang="en-US" sz="1400" dirty="0" smtClean="0">
                <a:solidFill>
                  <a:srgbClr val="C00000"/>
                </a:solidFill>
                <a:latin typeface="Consolas" pitchFamily="49" charset="0"/>
                <a:cs typeface="Consolas" pitchFamily="49" charset="0"/>
              </a:rPr>
              <a:t>(this);</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b="1" dirty="0" smtClean="0">
                <a:solidFill>
                  <a:srgbClr val="C00000"/>
                </a:solidFill>
                <a:latin typeface="Consolas" pitchFamily="49" charset="0"/>
                <a:cs typeface="Consolas" pitchFamily="49" charset="0"/>
              </a:rPr>
              <a:t>class Product...</a:t>
            </a:r>
          </a:p>
          <a:p>
            <a:r>
              <a:rPr lang="en-US" sz="1400" dirty="0" smtClean="0">
                <a:solidFill>
                  <a:srgbClr val="C00000"/>
                </a:solidFill>
                <a:latin typeface="Consolas" pitchFamily="49" charset="0"/>
                <a:cs typeface="Consolas" pitchFamily="49" charset="0"/>
              </a:rPr>
              <a:t>   private String name;</a:t>
            </a:r>
          </a:p>
          <a:p>
            <a:r>
              <a:rPr lang="en-US" sz="1400" dirty="0" smtClean="0">
                <a:solidFill>
                  <a:srgbClr val="C00000"/>
                </a:solidFill>
                <a:latin typeface="Consolas" pitchFamily="49" charset="0"/>
                <a:cs typeface="Consolas" pitchFamily="49" charset="0"/>
              </a:rPr>
              <a:t>   private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public Product(String name,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this.name = name;</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this.recognitionStrategy</a:t>
            </a:r>
            <a:r>
              <a:rPr lang="en-US" sz="1400" dirty="0" smtClean="0">
                <a:solidFill>
                  <a:srgbClr val="C00000"/>
                </a:solidFill>
                <a:latin typeface="Consolas" pitchFamily="49" charset="0"/>
                <a:cs typeface="Consolas" pitchFamily="49" charset="0"/>
              </a:rPr>
              <a:t> = </a:t>
            </a:r>
            <a:r>
              <a:rPr lang="en-US" sz="1400" dirty="0" err="1" smtClean="0">
                <a:solidFill>
                  <a:srgbClr val="C00000"/>
                </a:solidFill>
                <a:latin typeface="Consolas" pitchFamily="49" charset="0"/>
                <a:cs typeface="Consolas" pitchFamily="49" charset="0"/>
              </a:rPr>
              <a:t>recognitionStrategy</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public void </a:t>
            </a:r>
            <a:r>
              <a:rPr lang="en-US" sz="1400" b="1" dirty="0" err="1" smtClean="0">
                <a:solidFill>
                  <a:srgbClr val="C00000"/>
                </a:solidFill>
                <a:latin typeface="Consolas" pitchFamily="49" charset="0"/>
                <a:cs typeface="Consolas" pitchFamily="49" charset="0"/>
              </a:rPr>
              <a:t>calculateRevenueRecognitions</a:t>
            </a:r>
            <a:r>
              <a:rPr lang="en-US" sz="1400" dirty="0" smtClean="0">
                <a:solidFill>
                  <a:srgbClr val="C00000"/>
                </a:solidFill>
                <a:latin typeface="Consolas" pitchFamily="49" charset="0"/>
                <a:cs typeface="Consolas" pitchFamily="49" charset="0"/>
              </a:rPr>
              <a:t>(Contract </a:t>
            </a:r>
            <a:r>
              <a:rPr lang="en-US" sz="1400" dirty="0" err="1" smtClean="0">
                <a:solidFill>
                  <a:srgbClr val="C00000"/>
                </a:solidFill>
                <a:latin typeface="Consolas" pitchFamily="49" charset="0"/>
                <a:cs typeface="Consolas" pitchFamily="49" charset="0"/>
              </a:rPr>
              <a:t>contract</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recognitionStrategy.</a:t>
            </a:r>
            <a:r>
              <a:rPr lang="en-US" sz="1400" b="1" dirty="0" err="1" smtClean="0">
                <a:solidFill>
                  <a:srgbClr val="C00000"/>
                </a:solidFill>
                <a:latin typeface="Consolas" pitchFamily="49" charset="0"/>
                <a:cs typeface="Consolas" pitchFamily="49" charset="0"/>
              </a:rPr>
              <a:t>calculateRevenueRecognitions</a:t>
            </a:r>
            <a:r>
              <a:rPr lang="en-US" sz="1400" dirty="0" smtClean="0">
                <a:solidFill>
                  <a:srgbClr val="C00000"/>
                </a:solidFill>
                <a:latin typeface="Consolas" pitchFamily="49" charset="0"/>
                <a:cs typeface="Consolas" pitchFamily="49" charset="0"/>
              </a:rPr>
              <a:t>(contract);</a:t>
            </a:r>
          </a:p>
          <a:p>
            <a:r>
              <a:rPr lang="en-US" sz="1400" dirty="0" smtClean="0">
                <a:solidFill>
                  <a:srgbClr val="C00000"/>
                </a:solidFill>
                <a:latin typeface="Consolas" pitchFamily="49" charset="0"/>
                <a:cs typeface="Consolas" pitchFamily="49" charset="0"/>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Domain Model Pros and Cons</a:t>
            </a:r>
          </a:p>
        </p:txBody>
      </p:sp>
      <p:sp>
        <p:nvSpPr>
          <p:cNvPr id="14339" name="Content Placeholder 2"/>
          <p:cNvSpPr>
            <a:spLocks noGrp="1"/>
          </p:cNvSpPr>
          <p:nvPr>
            <p:ph idx="1"/>
          </p:nvPr>
        </p:nvSpPr>
        <p:spPr>
          <a:xfrm>
            <a:off x="457200" y="1524000"/>
            <a:ext cx="8229600" cy="2362200"/>
          </a:xfrm>
        </p:spPr>
        <p:txBody>
          <a:bodyPr/>
          <a:lstStyle/>
          <a:p>
            <a:r>
              <a:rPr lang="en-US" sz="2400" dirty="0" smtClean="0"/>
              <a:t>If you have </a:t>
            </a:r>
            <a:r>
              <a:rPr lang="en-US" sz="2400" u="sng" dirty="0" smtClean="0"/>
              <a:t>complicated</a:t>
            </a:r>
            <a:r>
              <a:rPr lang="en-US" sz="2400" dirty="0" smtClean="0"/>
              <a:t> and </a:t>
            </a:r>
            <a:r>
              <a:rPr lang="en-US" sz="2400" u="sng" dirty="0" smtClean="0"/>
              <a:t>ever-changing</a:t>
            </a:r>
            <a:r>
              <a:rPr lang="en-US" sz="2400" dirty="0" smtClean="0"/>
              <a:t> business rules involving validation, calculations, and derivations, chances are that you'll want an object model to </a:t>
            </a:r>
            <a:r>
              <a:rPr lang="en-US" sz="2400" i="1" dirty="0" smtClean="0">
                <a:solidFill>
                  <a:srgbClr val="C00000"/>
                </a:solidFill>
              </a:rPr>
              <a:t>handle</a:t>
            </a:r>
            <a:r>
              <a:rPr lang="en-US" sz="2400" dirty="0" smtClean="0"/>
              <a:t> them (Why? – Separation of concerns).</a:t>
            </a:r>
          </a:p>
          <a:p>
            <a:r>
              <a:rPr lang="en-US" sz="2400" dirty="0" smtClean="0"/>
              <a:t>A rich Domain Model is </a:t>
            </a:r>
            <a:r>
              <a:rPr lang="en-US" sz="2400" u="sng" dirty="0" smtClean="0"/>
              <a:t>better</a:t>
            </a:r>
            <a:r>
              <a:rPr lang="en-US" sz="2400" dirty="0" smtClean="0"/>
              <a:t> for more </a:t>
            </a:r>
            <a:r>
              <a:rPr lang="en-US" sz="2400" i="1" dirty="0" smtClean="0">
                <a:solidFill>
                  <a:srgbClr val="C00000"/>
                </a:solidFill>
              </a:rPr>
              <a:t>complex logic</a:t>
            </a:r>
            <a:r>
              <a:rPr lang="en-US" sz="2400" dirty="0" smtClean="0"/>
              <a:t>, but is </a:t>
            </a:r>
            <a:r>
              <a:rPr lang="en-US" sz="2400" u="sng" dirty="0" smtClean="0"/>
              <a:t>harder</a:t>
            </a:r>
            <a:r>
              <a:rPr lang="en-US" sz="2400" dirty="0" smtClean="0"/>
              <a:t> to map to the database.</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8" name="Picture 4"/>
          <p:cNvPicPr>
            <a:picLocks noChangeAspect="1" noChangeArrowheads="1"/>
          </p:cNvPicPr>
          <p:nvPr/>
        </p:nvPicPr>
        <p:blipFill>
          <a:blip r:embed="rId2" cstate="print"/>
          <a:srcRect/>
          <a:stretch>
            <a:fillRect/>
          </a:stretch>
        </p:blipFill>
        <p:spPr bwMode="auto">
          <a:xfrm>
            <a:off x="2776538" y="4495800"/>
            <a:ext cx="3590925" cy="16002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Record [3]</a:t>
            </a:r>
            <a:endParaRPr lang="en-US" dirty="0"/>
          </a:p>
        </p:txBody>
      </p:sp>
      <p:sp>
        <p:nvSpPr>
          <p:cNvPr id="3" name="Content Placeholder 2"/>
          <p:cNvSpPr>
            <a:spLocks noGrp="1"/>
          </p:cNvSpPr>
          <p:nvPr>
            <p:ph idx="1"/>
          </p:nvPr>
        </p:nvSpPr>
        <p:spPr>
          <a:xfrm>
            <a:off x="457200" y="1371601"/>
            <a:ext cx="8229600" cy="1523999"/>
          </a:xfrm>
        </p:spPr>
        <p:txBody>
          <a:bodyPr/>
          <a:lstStyle/>
          <a:p>
            <a:r>
              <a:rPr lang="en-US" sz="2200" dirty="0" smtClean="0"/>
              <a:t>☠ </a:t>
            </a:r>
            <a:r>
              <a:rPr lang="en-US" sz="2200" i="1" dirty="0" smtClean="0">
                <a:solidFill>
                  <a:srgbClr val="C00000"/>
                </a:solidFill>
              </a:rPr>
              <a:t>Problem</a:t>
            </a:r>
            <a:r>
              <a:rPr lang="en-US" sz="2200" dirty="0" smtClean="0"/>
              <a:t>: How do we design </a:t>
            </a:r>
            <a:r>
              <a:rPr lang="en-US" sz="2200" i="1" dirty="0" smtClean="0">
                <a:solidFill>
                  <a:srgbClr val="C00000"/>
                </a:solidFill>
              </a:rPr>
              <a:t>business objects</a:t>
            </a:r>
            <a:r>
              <a:rPr lang="en-US" sz="2200" dirty="0" smtClean="0"/>
              <a:t> (domain model)?</a:t>
            </a:r>
          </a:p>
          <a:p>
            <a:r>
              <a:rPr lang="en-US" sz="2000" dirty="0" smtClean="0"/>
              <a:t>☞ </a:t>
            </a:r>
            <a:r>
              <a:rPr lang="en-US" sz="2200" i="1" dirty="0" smtClean="0">
                <a:solidFill>
                  <a:srgbClr val="C00000"/>
                </a:solidFill>
              </a:rPr>
              <a:t>Solution</a:t>
            </a:r>
            <a:r>
              <a:rPr lang="en-US" sz="2200" dirty="0" smtClean="0"/>
              <a:t>: Active Record is an object that </a:t>
            </a:r>
            <a:r>
              <a:rPr lang="en-US" sz="2200" i="1" dirty="0" smtClean="0">
                <a:solidFill>
                  <a:srgbClr val="C00000"/>
                </a:solidFill>
              </a:rPr>
              <a:t>wraps</a:t>
            </a:r>
            <a:r>
              <a:rPr lang="en-US" sz="2200" dirty="0" smtClean="0"/>
              <a:t> </a:t>
            </a:r>
            <a:r>
              <a:rPr lang="en-US" sz="2200" u="sng" dirty="0" smtClean="0"/>
              <a:t>a row</a:t>
            </a:r>
            <a:r>
              <a:rPr lang="en-US" sz="2200" dirty="0" smtClean="0"/>
              <a:t> in a database </a:t>
            </a:r>
            <a:r>
              <a:rPr lang="en-US" sz="2200" u="sng" dirty="0" smtClean="0"/>
              <a:t>table</a:t>
            </a:r>
            <a:r>
              <a:rPr lang="en-US" sz="2200" dirty="0" smtClean="0"/>
              <a:t> or </a:t>
            </a:r>
            <a:r>
              <a:rPr lang="en-US" sz="2200" u="sng" dirty="0" smtClean="0"/>
              <a:t>view</a:t>
            </a:r>
            <a:r>
              <a:rPr lang="en-US" sz="2200" dirty="0" smtClean="0"/>
              <a:t>, encapsulates the </a:t>
            </a:r>
            <a:r>
              <a:rPr lang="en-US" sz="2200" u="sng" dirty="0" smtClean="0"/>
              <a:t>database access</a:t>
            </a:r>
            <a:r>
              <a:rPr lang="en-US" sz="2200" dirty="0" smtClean="0"/>
              <a:t>, and adds </a:t>
            </a:r>
            <a:r>
              <a:rPr lang="en-US" sz="2200" u="sng" dirty="0" smtClean="0"/>
              <a:t>domain logic</a:t>
            </a:r>
            <a:r>
              <a:rPr lang="en-US" sz="2200" i="1" dirty="0" smtClean="0">
                <a:solidFill>
                  <a:srgbClr val="C00000"/>
                </a:solidFill>
              </a:rPr>
              <a:t> </a:t>
            </a:r>
            <a:r>
              <a:rPr lang="en-US" sz="2200" dirty="0" smtClean="0"/>
              <a:t>on that data.</a:t>
            </a:r>
          </a:p>
        </p:txBody>
      </p:sp>
      <p:pic>
        <p:nvPicPr>
          <p:cNvPr id="1028" name="Picture 4"/>
          <p:cNvPicPr>
            <a:picLocks noChangeAspect="1" noChangeArrowheads="1"/>
          </p:cNvPicPr>
          <p:nvPr/>
        </p:nvPicPr>
        <p:blipFill>
          <a:blip r:embed="rId2" cstate="print"/>
          <a:srcRect/>
          <a:stretch>
            <a:fillRect/>
          </a:stretch>
        </p:blipFill>
        <p:spPr bwMode="auto">
          <a:xfrm>
            <a:off x="5181600" y="3200400"/>
            <a:ext cx="3810000" cy="2867025"/>
          </a:xfrm>
          <a:prstGeom prst="rect">
            <a:avLst/>
          </a:prstGeom>
          <a:noFill/>
          <a:ln w="9525">
            <a:noFill/>
            <a:miter lim="800000"/>
            <a:headEnd/>
            <a:tailEnd/>
          </a:ln>
        </p:spPr>
      </p:pic>
      <p:sp>
        <p:nvSpPr>
          <p:cNvPr id="10" name="Content Placeholder 2"/>
          <p:cNvSpPr txBox="1">
            <a:spLocks/>
          </p:cNvSpPr>
          <p:nvPr/>
        </p:nvSpPr>
        <p:spPr bwMode="auto">
          <a:xfrm>
            <a:off x="457200" y="2895600"/>
            <a:ext cx="4724400" cy="3733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The Active Record class typically has methods that do the following:</a:t>
            </a:r>
          </a:p>
          <a:p>
            <a:pPr marL="800100" lvl="1" indent="-342900" eaLnBrk="0" hangingPunct="0">
              <a:spcBef>
                <a:spcPct val="20000"/>
              </a:spcBef>
              <a:buFont typeface="Arial" pitchFamily="34" charset="0"/>
              <a:buChar char="•"/>
            </a:pPr>
            <a:r>
              <a:rPr kumimoji="0" lang="en-US" sz="1600" b="0" i="1" u="none" strike="noStrike" kern="1200" cap="none" spc="0" normalizeH="0" baseline="0" noProof="0" dirty="0" smtClean="0">
                <a:ln>
                  <a:noFill/>
                </a:ln>
                <a:solidFill>
                  <a:srgbClr val="C00000"/>
                </a:solidFill>
                <a:effectLst/>
                <a:uLnTx/>
                <a:uFillTx/>
                <a:latin typeface="+mn-lt"/>
                <a:ea typeface="+mn-ea"/>
                <a:cs typeface="+mn-cs"/>
              </a:rPr>
              <a:t>Construct</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 an instance of the Active Record </a:t>
            </a:r>
            <a:r>
              <a:rPr kumimoji="0" lang="en-US" sz="1600" b="0" u="none" strike="noStrike" kern="1200" cap="none" spc="0" normalizeH="0" baseline="0" noProof="0" dirty="0" smtClean="0">
                <a:ln>
                  <a:noFill/>
                </a:ln>
                <a:effectLst/>
                <a:uLnTx/>
                <a:uFillTx/>
                <a:latin typeface="+mn-lt"/>
                <a:ea typeface="+mn-ea"/>
                <a:cs typeface="+mn-cs"/>
              </a:rPr>
              <a:t>from a </a:t>
            </a:r>
            <a:r>
              <a:rPr kumimoji="0" lang="en-US" sz="1600" b="0" i="1" u="none" strike="noStrike" kern="1200" cap="none" spc="0" normalizeH="0" baseline="0" noProof="0" dirty="0" smtClean="0">
                <a:ln>
                  <a:noFill/>
                </a:ln>
                <a:solidFill>
                  <a:srgbClr val="C00000"/>
                </a:solidFill>
                <a:effectLst/>
                <a:uLnTx/>
                <a:uFillTx/>
                <a:latin typeface="+mn-lt"/>
                <a:ea typeface="+mn-ea"/>
                <a:cs typeface="+mn-cs"/>
              </a:rPr>
              <a:t>SQL</a:t>
            </a:r>
            <a:r>
              <a:rPr kumimoji="0" lang="en-US" sz="1600" b="0" u="none" strike="noStrike" kern="1200" cap="none" spc="0" normalizeH="0" baseline="0" noProof="0" dirty="0" smtClean="0">
                <a:ln>
                  <a:noFill/>
                </a:ln>
                <a:effectLst/>
                <a:uLnTx/>
                <a:uFillTx/>
                <a:latin typeface="+mn-lt"/>
                <a:ea typeface="+mn-ea"/>
                <a:cs typeface="+mn-cs"/>
              </a:rPr>
              <a:t> result set row</a:t>
            </a:r>
          </a:p>
          <a:p>
            <a:pPr marL="800100" lvl="1" indent="-342900" eaLnBrk="0" hangingPunct="0">
              <a:spcBef>
                <a:spcPct val="20000"/>
              </a:spcBef>
              <a:buFont typeface="Arial" pitchFamily="34" charset="0"/>
              <a:buChar char="•"/>
            </a:pPr>
            <a:r>
              <a:rPr kumimoji="0" lang="en-US" sz="1600" b="0" u="none" strike="noStrike" kern="1200" cap="none" spc="0" normalizeH="0" baseline="0" noProof="0" dirty="0" smtClean="0">
                <a:ln>
                  <a:noFill/>
                </a:ln>
                <a:effectLst/>
                <a:uLnTx/>
                <a:uFillTx/>
                <a:latin typeface="+mn-lt"/>
                <a:ea typeface="+mn-ea"/>
                <a:cs typeface="+mn-cs"/>
              </a:rPr>
              <a:t>Construct a </a:t>
            </a:r>
            <a:r>
              <a:rPr kumimoji="0" lang="en-US" sz="1600" b="0" i="1" u="none" strike="noStrike" kern="1200" cap="none" spc="0" normalizeH="0" baseline="0" noProof="0" dirty="0" smtClean="0">
                <a:ln>
                  <a:noFill/>
                </a:ln>
                <a:solidFill>
                  <a:srgbClr val="C00000"/>
                </a:solidFill>
                <a:effectLst/>
                <a:uLnTx/>
                <a:uFillTx/>
                <a:latin typeface="+mn-lt"/>
                <a:ea typeface="+mn-ea"/>
                <a:cs typeface="+mn-cs"/>
              </a:rPr>
              <a:t>new instance</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 for later insertion into the table</a:t>
            </a:r>
          </a:p>
          <a:p>
            <a:pPr marL="800100" lvl="1" indent="-342900" eaLnBrk="0" hangingPunct="0">
              <a:spcBef>
                <a:spcPct val="20000"/>
              </a:spcBef>
              <a:buFont typeface="Arial" pitchFamily="34" charset="0"/>
              <a:buChar char="•"/>
            </a:pPr>
            <a:r>
              <a:rPr kumimoji="0" lang="en-US" sz="1600" b="0" i="1" u="none" strike="noStrike" kern="1200" cap="none" spc="0" normalizeH="0" baseline="0" noProof="0" dirty="0" smtClean="0">
                <a:ln>
                  <a:noFill/>
                </a:ln>
                <a:solidFill>
                  <a:srgbClr val="C00000"/>
                </a:solidFill>
                <a:effectLst/>
                <a:uLnTx/>
                <a:uFillTx/>
                <a:latin typeface="+mn-lt"/>
                <a:ea typeface="+mn-ea"/>
                <a:cs typeface="+mn-cs"/>
              </a:rPr>
              <a:t>Static finder methods</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 to wrap commonly used SQL queries and return Active Record objects</a:t>
            </a:r>
          </a:p>
          <a:p>
            <a:pPr marL="800100" lvl="1" indent="-342900" eaLnBrk="0" hangingPunct="0">
              <a:spcBef>
                <a:spcPct val="20000"/>
              </a:spcBef>
              <a:buFont typeface="Arial" pitchFamily="34" charset="0"/>
              <a:buChar char="•"/>
            </a:pPr>
            <a:r>
              <a:rPr kumimoji="0" lang="en-US" sz="1600" b="0" i="1" u="none" strike="noStrike" kern="1200" cap="none" spc="0" normalizeH="0" baseline="0" noProof="0" dirty="0" smtClean="0">
                <a:ln>
                  <a:noFill/>
                </a:ln>
                <a:solidFill>
                  <a:srgbClr val="C00000"/>
                </a:solidFill>
                <a:effectLst/>
                <a:uLnTx/>
                <a:uFillTx/>
                <a:latin typeface="+mn-lt"/>
                <a:ea typeface="+mn-ea"/>
                <a:cs typeface="+mn-cs"/>
              </a:rPr>
              <a:t>Update</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 the database and </a:t>
            </a:r>
            <a:r>
              <a:rPr kumimoji="0" lang="en-US" sz="1600" b="0" i="1" u="none" strike="noStrike" kern="1200" cap="none" spc="0" normalizeH="0" baseline="0" noProof="0" dirty="0" smtClean="0">
                <a:ln>
                  <a:noFill/>
                </a:ln>
                <a:solidFill>
                  <a:srgbClr val="C00000"/>
                </a:solidFill>
                <a:effectLst/>
                <a:uLnTx/>
                <a:uFillTx/>
                <a:latin typeface="+mn-lt"/>
                <a:ea typeface="+mn-ea"/>
                <a:cs typeface="+mn-cs"/>
              </a:rPr>
              <a:t>insert</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 into it the data in the Active Record</a:t>
            </a:r>
          </a:p>
          <a:p>
            <a:pPr marL="800100" lvl="1" indent="-342900" eaLnBrk="0" hangingPunct="0">
              <a:spcBef>
                <a:spcPct val="20000"/>
              </a:spcBef>
              <a:buFont typeface="Arial" pitchFamily="34" charset="0"/>
              <a:buChar char="•"/>
            </a:pPr>
            <a:r>
              <a:rPr kumimoji="0" lang="en-US" sz="1600" b="0" u="none" strike="noStrike" kern="1200" cap="none" spc="0" normalizeH="0" baseline="0" noProof="0" dirty="0" smtClean="0">
                <a:ln>
                  <a:noFill/>
                </a:ln>
                <a:effectLst/>
                <a:uLnTx/>
                <a:uFillTx/>
                <a:latin typeface="+mn-lt"/>
                <a:ea typeface="+mn-ea"/>
                <a:cs typeface="+mn-cs"/>
              </a:rPr>
              <a:t>Get and set the fields</a:t>
            </a:r>
          </a:p>
          <a:p>
            <a:pPr marL="800100" lvl="1" indent="-342900" eaLnBrk="0" hangingPunct="0">
              <a:spcBef>
                <a:spcPct val="20000"/>
              </a:spcBef>
              <a:buFont typeface="Arial" pitchFamily="34" charset="0"/>
              <a:buChar char="•"/>
            </a:pPr>
            <a:r>
              <a:rPr kumimoji="0" lang="en-US" sz="1600" b="0" i="0" u="none" strike="noStrike" kern="1200" cap="none" spc="0" normalizeH="0" baseline="0" noProof="0" dirty="0" smtClean="0">
                <a:ln>
                  <a:noFill/>
                </a:ln>
                <a:solidFill>
                  <a:schemeClr val="tx1"/>
                </a:solidFill>
                <a:effectLst/>
                <a:uLnTx/>
                <a:uFillTx/>
                <a:latin typeface="+mn-lt"/>
                <a:ea typeface="+mn-ea"/>
                <a:cs typeface="+mn-cs"/>
              </a:rPr>
              <a:t>Implement some pieces of </a:t>
            </a:r>
            <a:r>
              <a:rPr kumimoji="0" lang="en-US" sz="1600" b="0" i="1" u="none" strike="noStrike" kern="1200" cap="none" spc="0" normalizeH="0" baseline="0" noProof="0" dirty="0" smtClean="0">
                <a:ln>
                  <a:noFill/>
                </a:ln>
                <a:solidFill>
                  <a:srgbClr val="C00000"/>
                </a:solidFill>
                <a:effectLst/>
                <a:uLnTx/>
                <a:uFillTx/>
                <a:latin typeface="+mn-lt"/>
                <a:ea typeface="+mn-ea"/>
                <a:cs typeface="+mn-cs"/>
              </a:rPr>
              <a:t>business logic</a:t>
            </a:r>
          </a:p>
        </p:txBody>
      </p:sp>
      <p:sp>
        <p:nvSpPr>
          <p:cNvPr id="6" name="Oval 5"/>
          <p:cNvSpPr/>
          <p:nvPr/>
        </p:nvSpPr>
        <p:spPr>
          <a:xfrm>
            <a:off x="4876800" y="3124200"/>
            <a:ext cx="2362200" cy="1371600"/>
          </a:xfrm>
          <a:prstGeom prst="ellipse">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953000" y="4343400"/>
            <a:ext cx="1066800" cy="838200"/>
          </a:xfrm>
          <a:prstGeom prst="ellipse">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Record Example</a:t>
            </a:r>
            <a:endParaRPr lang="en-US" dirty="0"/>
          </a:p>
        </p:txBody>
      </p:sp>
      <p:sp>
        <p:nvSpPr>
          <p:cNvPr id="3" name="Content Placeholder 2"/>
          <p:cNvSpPr>
            <a:spLocks noGrp="1"/>
          </p:cNvSpPr>
          <p:nvPr>
            <p:ph idx="1"/>
          </p:nvPr>
        </p:nvSpPr>
        <p:spPr>
          <a:xfrm>
            <a:off x="457200" y="13716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 </a:t>
            </a:r>
            <a:r>
              <a:rPr lang="en-US" sz="2400" b="1" i="1" dirty="0" err="1" smtClean="0">
                <a:solidFill>
                  <a:srgbClr val="C00000"/>
                </a:solidFill>
                <a:latin typeface="Consolas" pitchFamily="49" charset="0"/>
              </a:rPr>
              <a:t>BookingRecord</a:t>
            </a:r>
            <a:r>
              <a:rPr lang="en-US" sz="2400" dirty="0" smtClean="0"/>
              <a:t> class</a:t>
            </a:r>
          </a:p>
          <a:p>
            <a:pPr lvl="1"/>
            <a:r>
              <a:rPr lang="en-US" sz="1900" dirty="0" smtClean="0"/>
              <a:t>Create properties: </a:t>
            </a:r>
            <a:r>
              <a:rPr lang="en-US" sz="1900" dirty="0" err="1" smtClean="0"/>
              <a:t>PassportNumber</a:t>
            </a:r>
            <a:r>
              <a:rPr lang="en-US" sz="1900" dirty="0" smtClean="0"/>
              <a:t>, </a:t>
            </a:r>
            <a:r>
              <a:rPr lang="en-US" sz="1900" dirty="0" err="1" smtClean="0"/>
              <a:t>FromDate</a:t>
            </a:r>
            <a:r>
              <a:rPr lang="en-US" sz="1900" dirty="0" smtClean="0"/>
              <a:t>, </a:t>
            </a:r>
            <a:r>
              <a:rPr lang="en-US" sz="1900" dirty="0" err="1" smtClean="0"/>
              <a:t>ToDate</a:t>
            </a:r>
            <a:r>
              <a:rPr lang="en-US" sz="1900" dirty="0" smtClean="0"/>
              <a:t>, </a:t>
            </a:r>
            <a:r>
              <a:rPr lang="en-US" sz="1900" dirty="0" err="1" smtClean="0"/>
              <a:t>RoomNumber</a:t>
            </a:r>
            <a:r>
              <a:rPr lang="en-US" sz="1900" dirty="0" smtClean="0"/>
              <a:t>, Price.</a:t>
            </a:r>
          </a:p>
          <a:p>
            <a:pPr lvl="1"/>
            <a:r>
              <a:rPr lang="en-US" sz="1900" dirty="0" smtClean="0"/>
              <a:t>Create Book () method.</a:t>
            </a:r>
          </a:p>
          <a:p>
            <a:pPr lvl="1"/>
            <a:r>
              <a:rPr lang="en-US" sz="1900" dirty="0" smtClean="0"/>
              <a:t>Check passport number rule.</a:t>
            </a:r>
          </a:p>
          <a:p>
            <a:pPr lvl="1"/>
            <a:r>
              <a:rPr lang="en-US" sz="1900" dirty="0" smtClean="0"/>
              <a:t>Get returned customer from the table Booking (using </a:t>
            </a:r>
            <a:r>
              <a:rPr lang="en-US" sz="1900" dirty="0" err="1" smtClean="0"/>
              <a:t>PassportNumber</a:t>
            </a:r>
            <a:r>
              <a:rPr lang="en-US" sz="1900" dirty="0" smtClean="0"/>
              <a:t> field).</a:t>
            </a:r>
          </a:p>
          <a:p>
            <a:pPr lvl="1"/>
            <a:r>
              <a:rPr lang="en-US" sz="1900" dirty="0" smtClean="0"/>
              <a:t>Calculate price.</a:t>
            </a:r>
          </a:p>
          <a:p>
            <a:pPr lvl="1"/>
            <a:r>
              <a:rPr lang="en-US" sz="1900" dirty="0" smtClean="0"/>
              <a:t>Create </a:t>
            </a:r>
            <a:r>
              <a:rPr lang="en-US" sz="1900" b="1" i="1" dirty="0" err="1" smtClean="0">
                <a:solidFill>
                  <a:srgbClr val="C00000"/>
                </a:solidFill>
                <a:latin typeface="Consolas" pitchFamily="49" charset="0"/>
              </a:rPr>
              <a:t>RoomRecord</a:t>
            </a:r>
            <a:r>
              <a:rPr lang="en-US" sz="1900" dirty="0" smtClean="0"/>
              <a:t> class with </a:t>
            </a:r>
            <a:r>
              <a:rPr lang="en-US" sz="1900" dirty="0" err="1" smtClean="0"/>
              <a:t>RoomNumber</a:t>
            </a:r>
            <a:r>
              <a:rPr lang="en-US" sz="1900" dirty="0" smtClean="0"/>
              <a:t>, </a:t>
            </a:r>
            <a:r>
              <a:rPr lang="en-US" sz="1900" dirty="0" err="1" smtClean="0"/>
              <a:t>ReservedUntil</a:t>
            </a:r>
            <a:r>
              <a:rPr lang="en-US" sz="1900" dirty="0" smtClean="0"/>
              <a:t> properties and use it to get available room from table Rooms.</a:t>
            </a:r>
          </a:p>
          <a:p>
            <a:pPr lvl="1"/>
            <a:r>
              <a:rPr lang="en-US" sz="1900" dirty="0" smtClean="0"/>
              <a:t>Insert information (passport number, room number, from date, to date, price) into the table Booking.</a:t>
            </a:r>
          </a:p>
          <a:p>
            <a:pPr lvl="1"/>
            <a:r>
              <a:rPr lang="en-US" sz="1900" dirty="0" smtClean="0"/>
              <a:t>Update </a:t>
            </a:r>
            <a:r>
              <a:rPr lang="en-US" sz="1900" dirty="0" err="1" smtClean="0"/>
              <a:t>ReservedUntil</a:t>
            </a:r>
            <a:r>
              <a:rPr lang="en-US" sz="1900" dirty="0" smtClean="0"/>
              <a:t> field of the table Rooms.</a:t>
            </a:r>
          </a:p>
        </p:txBody>
      </p:sp>
      <p:sp>
        <p:nvSpPr>
          <p:cNvPr id="4" name="Rounded Rectangle 3"/>
          <p:cNvSpPr/>
          <p:nvPr/>
        </p:nvSpPr>
        <p:spPr>
          <a:xfrm>
            <a:off x="838200" y="2590800"/>
            <a:ext cx="78486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38200" y="4953000"/>
            <a:ext cx="7848600" cy="60960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or Price Rule Change</a:t>
            </a:r>
            <a:endParaRPr lang="en-US" dirty="0"/>
          </a:p>
        </p:txBody>
      </p:sp>
      <p:sp>
        <p:nvSpPr>
          <p:cNvPr id="3" name="Content Placeholder 2"/>
          <p:cNvSpPr>
            <a:spLocks noGrp="1"/>
          </p:cNvSpPr>
          <p:nvPr>
            <p:ph idx="1"/>
          </p:nvPr>
        </p:nvSpPr>
        <p:spPr>
          <a:xfrm>
            <a:off x="457200" y="13716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 </a:t>
            </a:r>
            <a:r>
              <a:rPr lang="en-US" sz="2400" b="1" i="1" dirty="0" err="1" smtClean="0">
                <a:solidFill>
                  <a:srgbClr val="C00000"/>
                </a:solidFill>
                <a:latin typeface="Consolas" pitchFamily="49" charset="0"/>
              </a:rPr>
              <a:t>BookingRecord</a:t>
            </a:r>
            <a:r>
              <a:rPr lang="en-US" sz="2400" dirty="0" smtClean="0"/>
              <a:t> class</a:t>
            </a:r>
          </a:p>
          <a:p>
            <a:pPr lvl="1"/>
            <a:r>
              <a:rPr lang="en-US" sz="1900" dirty="0" smtClean="0"/>
              <a:t>Create properties: </a:t>
            </a:r>
            <a:r>
              <a:rPr lang="en-US" sz="1900" dirty="0" err="1" smtClean="0"/>
              <a:t>PassportNumber</a:t>
            </a:r>
            <a:r>
              <a:rPr lang="en-US" sz="1900" dirty="0" smtClean="0"/>
              <a:t>, </a:t>
            </a:r>
            <a:r>
              <a:rPr lang="en-US" sz="1900" dirty="0" err="1" smtClean="0"/>
              <a:t>FromDate</a:t>
            </a:r>
            <a:r>
              <a:rPr lang="en-US" sz="1900" dirty="0" smtClean="0"/>
              <a:t>, </a:t>
            </a:r>
            <a:r>
              <a:rPr lang="en-US" sz="1900" dirty="0" err="1" smtClean="0"/>
              <a:t>ToDate</a:t>
            </a:r>
            <a:r>
              <a:rPr lang="en-US" sz="1900" dirty="0" smtClean="0"/>
              <a:t>, </a:t>
            </a:r>
            <a:r>
              <a:rPr lang="en-US" sz="1900" dirty="0" err="1" smtClean="0"/>
              <a:t>RoomNumber</a:t>
            </a:r>
            <a:r>
              <a:rPr lang="en-US" sz="1900" dirty="0" smtClean="0"/>
              <a:t>, Price.</a:t>
            </a:r>
          </a:p>
          <a:p>
            <a:pPr lvl="1"/>
            <a:r>
              <a:rPr lang="en-US" sz="1900" dirty="0" smtClean="0"/>
              <a:t>Create Book () method.</a:t>
            </a:r>
          </a:p>
          <a:p>
            <a:pPr lvl="1"/>
            <a:r>
              <a:rPr lang="en-US" sz="1900" dirty="0" smtClean="0"/>
              <a:t>Check passport number rule.</a:t>
            </a:r>
          </a:p>
          <a:p>
            <a:pPr lvl="1"/>
            <a:r>
              <a:rPr lang="en-US" sz="1900" dirty="0" smtClean="0"/>
              <a:t>Get returned customer from the table Booking (using </a:t>
            </a:r>
            <a:r>
              <a:rPr lang="en-US" sz="1900" dirty="0" err="1" smtClean="0"/>
              <a:t>PassportNumber</a:t>
            </a:r>
            <a:r>
              <a:rPr lang="en-US" sz="1900" dirty="0" smtClean="0"/>
              <a:t> field).</a:t>
            </a:r>
          </a:p>
          <a:p>
            <a:pPr lvl="1"/>
            <a:r>
              <a:rPr lang="en-US" sz="1900" dirty="0" smtClean="0"/>
              <a:t>Calculate price.</a:t>
            </a:r>
          </a:p>
          <a:p>
            <a:pPr lvl="1"/>
            <a:r>
              <a:rPr lang="en-US" sz="1900" dirty="0" smtClean="0"/>
              <a:t>Create </a:t>
            </a:r>
            <a:r>
              <a:rPr lang="en-US" sz="1900" b="1" i="1" dirty="0" err="1" smtClean="0">
                <a:solidFill>
                  <a:srgbClr val="C00000"/>
                </a:solidFill>
                <a:latin typeface="Consolas" pitchFamily="49" charset="0"/>
              </a:rPr>
              <a:t>RoomRecord</a:t>
            </a:r>
            <a:r>
              <a:rPr lang="en-US" sz="1900" dirty="0" smtClean="0"/>
              <a:t> class with </a:t>
            </a:r>
            <a:r>
              <a:rPr lang="en-US" sz="1900" dirty="0" err="1" smtClean="0"/>
              <a:t>RoomNumber</a:t>
            </a:r>
            <a:r>
              <a:rPr lang="en-US" sz="1900" dirty="0" smtClean="0"/>
              <a:t>, </a:t>
            </a:r>
            <a:r>
              <a:rPr lang="en-US" sz="1900" dirty="0" err="1" smtClean="0"/>
              <a:t>ReservedUntil</a:t>
            </a:r>
            <a:r>
              <a:rPr lang="en-US" sz="1900" dirty="0" smtClean="0"/>
              <a:t> properties and use it to get available room from table Rooms.</a:t>
            </a:r>
          </a:p>
          <a:p>
            <a:pPr lvl="1"/>
            <a:r>
              <a:rPr lang="en-US" sz="1900" dirty="0" smtClean="0"/>
              <a:t>Insert information (passport number, room number, from date, to date, price) into the table Booking.</a:t>
            </a:r>
          </a:p>
          <a:p>
            <a:pPr lvl="1"/>
            <a:r>
              <a:rPr lang="en-US" sz="1900" dirty="0" smtClean="0"/>
              <a:t>Update </a:t>
            </a:r>
            <a:r>
              <a:rPr lang="en-US" sz="1900" dirty="0" err="1" smtClean="0"/>
              <a:t>ReservedUntil</a:t>
            </a:r>
            <a:r>
              <a:rPr lang="en-US" sz="1900" dirty="0" smtClean="0"/>
              <a:t> field of the table Rooms.</a:t>
            </a:r>
          </a:p>
        </p:txBody>
      </p:sp>
      <p:sp>
        <p:nvSpPr>
          <p:cNvPr id="4" name="Rounded Rectangle 3"/>
          <p:cNvSpPr/>
          <p:nvPr/>
        </p:nvSpPr>
        <p:spPr>
          <a:xfrm>
            <a:off x="838200" y="2590800"/>
            <a:ext cx="78486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38200" y="4953000"/>
            <a:ext cx="7848600" cy="60960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a:off x="2286000" y="1143000"/>
            <a:ext cx="304800" cy="1143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2895600" y="1143000"/>
            <a:ext cx="2057400" cy="10668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Active Record Pros and Cons</a:t>
            </a:r>
          </a:p>
        </p:txBody>
      </p:sp>
      <p:sp>
        <p:nvSpPr>
          <p:cNvPr id="14339" name="Content Placeholder 2"/>
          <p:cNvSpPr>
            <a:spLocks noGrp="1"/>
          </p:cNvSpPr>
          <p:nvPr>
            <p:ph idx="1"/>
          </p:nvPr>
        </p:nvSpPr>
        <p:spPr>
          <a:xfrm>
            <a:off x="457200" y="1600200"/>
            <a:ext cx="8229600" cy="4419600"/>
          </a:xfrm>
        </p:spPr>
        <p:txBody>
          <a:bodyPr/>
          <a:lstStyle/>
          <a:p>
            <a:r>
              <a:rPr lang="en-US" sz="2400" dirty="0" smtClean="0"/>
              <a:t>Active Record is a good choice for domain logic that </a:t>
            </a:r>
            <a:r>
              <a:rPr lang="en-US" sz="2400" i="1" dirty="0" smtClean="0">
                <a:solidFill>
                  <a:srgbClr val="C00000"/>
                </a:solidFill>
              </a:rPr>
              <a:t>isn't too complex</a:t>
            </a:r>
            <a:r>
              <a:rPr lang="en-US" sz="2400" dirty="0" smtClean="0"/>
              <a:t>, such as creates, reads, updates, and deletes.</a:t>
            </a:r>
          </a:p>
          <a:p>
            <a:r>
              <a:rPr lang="en-US" sz="2400" dirty="0" smtClean="0"/>
              <a:t>If your business logic is complex, you'll soon want to use your object's direct </a:t>
            </a:r>
            <a:r>
              <a:rPr lang="en-US" sz="2400" i="1" dirty="0" smtClean="0">
                <a:solidFill>
                  <a:srgbClr val="C00000"/>
                </a:solidFill>
              </a:rPr>
              <a:t>relationships</a:t>
            </a:r>
            <a:r>
              <a:rPr lang="en-US" sz="2400" dirty="0" smtClean="0"/>
              <a:t>, collections, inheritance, and so forth.</a:t>
            </a:r>
          </a:p>
          <a:p>
            <a:pPr>
              <a:buNone/>
            </a:pPr>
            <a:r>
              <a:rPr lang="en-US" sz="2400" dirty="0" smtClean="0"/>
              <a:t>➾ These </a:t>
            </a:r>
            <a:r>
              <a:rPr lang="en-US" sz="2400" i="1" dirty="0" smtClean="0">
                <a:solidFill>
                  <a:srgbClr val="C00000"/>
                </a:solidFill>
              </a:rPr>
              <a:t>don't map easily</a:t>
            </a:r>
            <a:r>
              <a:rPr lang="en-US" sz="2400" dirty="0" smtClean="0"/>
              <a:t> onto Active Record, and adding them piecemeal gets very </a:t>
            </a:r>
            <a:r>
              <a:rPr lang="en-US" sz="2400" u="sng" dirty="0" smtClean="0"/>
              <a:t>messy</a:t>
            </a:r>
            <a:r>
              <a:rPr lang="en-US" sz="2400" dirty="0" smtClean="0"/>
              <a:t>.</a:t>
            </a:r>
          </a:p>
          <a:p>
            <a:r>
              <a:rPr lang="en-US" sz="2400" dirty="0" smtClean="0"/>
              <a:t>Another argument against Active Record is the fact that it </a:t>
            </a:r>
            <a:r>
              <a:rPr lang="en-US" sz="2400" i="1" dirty="0" smtClean="0">
                <a:solidFill>
                  <a:srgbClr val="C00000"/>
                </a:solidFill>
              </a:rPr>
              <a:t>couples</a:t>
            </a:r>
            <a:r>
              <a:rPr lang="en-US" sz="2400" dirty="0" smtClean="0"/>
              <a:t> the </a:t>
            </a:r>
            <a:r>
              <a:rPr lang="en-US" sz="2400" u="sng" dirty="0" smtClean="0"/>
              <a:t>object</a:t>
            </a:r>
            <a:r>
              <a:rPr lang="en-US" sz="2400" dirty="0" smtClean="0"/>
              <a:t> design to the </a:t>
            </a:r>
            <a:r>
              <a:rPr lang="en-US" sz="2400" u="sng" dirty="0" smtClean="0"/>
              <a:t>database</a:t>
            </a:r>
            <a:r>
              <a:rPr lang="en-US" sz="2400" dirty="0" smtClean="0"/>
              <a:t> design.</a:t>
            </a:r>
          </a:p>
          <a:p>
            <a:pPr>
              <a:buNone/>
            </a:pPr>
            <a:r>
              <a:rPr lang="en-US" sz="2400" dirty="0" smtClean="0"/>
              <a:t>➾ This makes it more </a:t>
            </a:r>
            <a:r>
              <a:rPr lang="en-US" sz="2400" i="1" dirty="0" smtClean="0">
                <a:solidFill>
                  <a:srgbClr val="C00000"/>
                </a:solidFill>
              </a:rPr>
              <a:t>difficult to </a:t>
            </a:r>
            <a:r>
              <a:rPr lang="en-US" sz="2400" i="1" dirty="0" err="1" smtClean="0">
                <a:solidFill>
                  <a:srgbClr val="C00000"/>
                </a:solidFill>
              </a:rPr>
              <a:t>refactor</a:t>
            </a:r>
            <a:r>
              <a:rPr lang="en-US" sz="2400" dirty="0" smtClean="0"/>
              <a:t> either design as a project goes forward.</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Record Notes</a:t>
            </a:r>
            <a:endParaRPr lang="en-US" dirty="0"/>
          </a:p>
        </p:txBody>
      </p:sp>
      <p:sp>
        <p:nvSpPr>
          <p:cNvPr id="3" name="Content Placeholder 2"/>
          <p:cNvSpPr>
            <a:spLocks noGrp="1"/>
          </p:cNvSpPr>
          <p:nvPr>
            <p:ph idx="1"/>
          </p:nvPr>
        </p:nvSpPr>
        <p:spPr/>
        <p:txBody>
          <a:bodyPr/>
          <a:lstStyle/>
          <a:p>
            <a:pPr algn="ctr">
              <a:buNone/>
            </a:pPr>
            <a:r>
              <a:rPr lang="en-US" sz="2400" dirty="0" smtClean="0">
                <a:latin typeface="Consolas" pitchFamily="49" charset="0"/>
              </a:rPr>
              <a:t>	</a:t>
            </a:r>
            <a:r>
              <a:rPr lang="en-US" sz="2400" dirty="0" err="1" smtClean="0">
                <a:latin typeface="Consolas" pitchFamily="49" charset="0"/>
              </a:rPr>
              <a:t>RoomRecord</a:t>
            </a:r>
            <a:r>
              <a:rPr lang="en-US" sz="2400" dirty="0" smtClean="0">
                <a:latin typeface="Consolas" pitchFamily="49" charset="0"/>
              </a:rPr>
              <a:t> </a:t>
            </a:r>
            <a:r>
              <a:rPr lang="en-US" sz="2400" dirty="0" err="1" smtClean="0">
                <a:latin typeface="Consolas" pitchFamily="49" charset="0"/>
              </a:rPr>
              <a:t>availableRoom</a:t>
            </a:r>
            <a:r>
              <a:rPr lang="en-US" sz="2400" dirty="0" smtClean="0">
                <a:latin typeface="Consolas" pitchFamily="49" charset="0"/>
              </a:rPr>
              <a:t> = </a:t>
            </a:r>
            <a:r>
              <a:rPr lang="en-US" sz="2400" dirty="0" err="1" smtClean="0">
                <a:latin typeface="Consolas" pitchFamily="49" charset="0"/>
              </a:rPr>
              <a:t>RoomRecord.GetOneAvailableRoom</a:t>
            </a:r>
            <a:r>
              <a:rPr lang="en-US" sz="2400" dirty="0" smtClean="0">
                <a:latin typeface="Consolas" pitchFamily="49" charset="0"/>
              </a:rPr>
              <a:t>();</a:t>
            </a:r>
          </a:p>
          <a:p>
            <a:endParaRPr lang="en-US" sz="2400" dirty="0" smtClean="0"/>
          </a:p>
          <a:p>
            <a:r>
              <a:rPr lang="en-US" sz="2400" dirty="0" smtClean="0"/>
              <a:t>Avoid using </a:t>
            </a:r>
            <a:r>
              <a:rPr lang="en-US" sz="2400" i="1" dirty="0" smtClean="0">
                <a:solidFill>
                  <a:srgbClr val="C00000"/>
                </a:solidFill>
              </a:rPr>
              <a:t>static classes</a:t>
            </a:r>
            <a:r>
              <a:rPr lang="en-US" sz="2400" dirty="0" smtClean="0"/>
              <a:t> to implement your domain objects. Why?</a:t>
            </a:r>
          </a:p>
          <a:p>
            <a:r>
              <a:rPr lang="en-US" sz="2400" dirty="0" smtClean="0"/>
              <a:t>Avoid using </a:t>
            </a:r>
            <a:r>
              <a:rPr lang="en-US" sz="2400" i="1" dirty="0" smtClean="0">
                <a:solidFill>
                  <a:srgbClr val="C00000"/>
                </a:solidFill>
              </a:rPr>
              <a:t>static methods</a:t>
            </a:r>
            <a:r>
              <a:rPr lang="en-US" sz="2400" dirty="0" smtClean="0"/>
              <a:t> to implement your transaction methods. Why?</a:t>
            </a:r>
          </a:p>
          <a:p>
            <a:r>
              <a:rPr lang="en-US" sz="2400" dirty="0" smtClean="0"/>
              <a:t>If you use procedural code  then have your procedural code avoid </a:t>
            </a:r>
            <a:r>
              <a:rPr lang="en-US" sz="2400" i="1" dirty="0" smtClean="0">
                <a:solidFill>
                  <a:srgbClr val="C00000"/>
                </a:solidFill>
              </a:rPr>
              <a:t>global state</a:t>
            </a:r>
            <a:r>
              <a:rPr lang="en-US" sz="2400" dirty="0" smtClean="0"/>
              <a:t>. Why?</a:t>
            </a:r>
          </a:p>
          <a:p>
            <a:r>
              <a:rPr lang="en-US" sz="2400" dirty="0" smtClean="0"/>
              <a:t>We can </a:t>
            </a:r>
            <a:r>
              <a:rPr lang="en-US" sz="2400" i="1" dirty="0" smtClean="0">
                <a:solidFill>
                  <a:srgbClr val="C00000"/>
                </a:solidFill>
              </a:rPr>
              <a:t>easily</a:t>
            </a:r>
            <a:r>
              <a:rPr lang="en-US" sz="2400" dirty="0" smtClean="0"/>
              <a:t> </a:t>
            </a:r>
            <a:r>
              <a:rPr lang="en-US" sz="2400" dirty="0" err="1" smtClean="0"/>
              <a:t>refactor</a:t>
            </a:r>
            <a:r>
              <a:rPr lang="en-US" sz="2400" dirty="0" smtClean="0"/>
              <a:t> Active Records to a Domain Model.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 Super-Type</a:t>
            </a:r>
            <a:endParaRPr lang="en-US" dirty="0"/>
          </a:p>
        </p:txBody>
      </p:sp>
      <p:sp>
        <p:nvSpPr>
          <p:cNvPr id="3" name="Content Placeholder 2"/>
          <p:cNvSpPr>
            <a:spLocks noGrp="1"/>
          </p:cNvSpPr>
          <p:nvPr>
            <p:ph idx="1"/>
          </p:nvPr>
        </p:nvSpPr>
        <p:spPr>
          <a:xfrm>
            <a:off x="457200" y="1600201"/>
            <a:ext cx="8229600" cy="2819400"/>
          </a:xfrm>
        </p:spPr>
        <p:txBody>
          <a:bodyPr/>
          <a:lstStyle/>
          <a:p>
            <a:r>
              <a:rPr lang="en-US" sz="2400" dirty="0" smtClean="0"/>
              <a:t>☠ </a:t>
            </a:r>
            <a:r>
              <a:rPr lang="en-US" sz="2400" i="1" dirty="0" smtClean="0">
                <a:solidFill>
                  <a:srgbClr val="C00000"/>
                </a:solidFill>
              </a:rPr>
              <a:t>Problem</a:t>
            </a:r>
            <a:r>
              <a:rPr lang="en-US" sz="2400" dirty="0" smtClean="0"/>
              <a:t>: You have methods or attributes that are </a:t>
            </a:r>
            <a:r>
              <a:rPr lang="en-US" sz="2400" i="1" dirty="0" smtClean="0">
                <a:solidFill>
                  <a:srgbClr val="C00000"/>
                </a:solidFill>
              </a:rPr>
              <a:t>duplicated</a:t>
            </a:r>
            <a:r>
              <a:rPr lang="en-US" sz="2400" dirty="0" smtClean="0"/>
              <a:t> throughout a layer.</a:t>
            </a:r>
          </a:p>
          <a:p>
            <a:r>
              <a:rPr lang="en-US" sz="2400" dirty="0" smtClean="0"/>
              <a:t>☞ </a:t>
            </a:r>
            <a:r>
              <a:rPr lang="en-US" sz="2400" i="1" dirty="0" smtClean="0">
                <a:solidFill>
                  <a:srgbClr val="C00000"/>
                </a:solidFill>
              </a:rPr>
              <a:t>Solution</a:t>
            </a:r>
            <a:r>
              <a:rPr lang="en-US" sz="2400" dirty="0" smtClean="0"/>
              <a:t>: Move all of this behavior into a common Layer Super-type.</a:t>
            </a:r>
          </a:p>
          <a:p>
            <a:r>
              <a:rPr lang="en-US" sz="2400" dirty="0" smtClean="0"/>
              <a:t>All you need is a </a:t>
            </a:r>
            <a:r>
              <a:rPr lang="en-US" sz="2400" i="1" dirty="0" smtClean="0">
                <a:solidFill>
                  <a:srgbClr val="C00000"/>
                </a:solidFill>
              </a:rPr>
              <a:t>super-class</a:t>
            </a:r>
            <a:r>
              <a:rPr lang="en-US" sz="2400" dirty="0" smtClean="0"/>
              <a:t> for </a:t>
            </a:r>
            <a:r>
              <a:rPr lang="en-US" sz="2400" u="sng" dirty="0" smtClean="0"/>
              <a:t>all</a:t>
            </a:r>
            <a:r>
              <a:rPr lang="en-US" sz="2400" dirty="0" smtClean="0"/>
              <a:t> the objects in a layer—for example, a Domain Object super-class for all the domain objects in a Domain Model.</a:t>
            </a:r>
          </a:p>
        </p:txBody>
      </p:sp>
      <p:sp>
        <p:nvSpPr>
          <p:cNvPr id="4" name="Rectangle 3"/>
          <p:cNvSpPr/>
          <p:nvPr/>
        </p:nvSpPr>
        <p:spPr>
          <a:xfrm>
            <a:off x="457200" y="4521875"/>
            <a:ext cx="8305800" cy="2031325"/>
          </a:xfrm>
          <a:prstGeom prst="rect">
            <a:avLst/>
          </a:prstGeom>
          <a:solidFill>
            <a:schemeClr val="bg2"/>
          </a:solidFill>
          <a:ln>
            <a:solidFill>
              <a:schemeClr val="bg2">
                <a:lumMod val="10000"/>
              </a:schemeClr>
            </a:solidFill>
          </a:ln>
        </p:spPr>
        <p:txBody>
          <a:bodyPr wrap="square">
            <a:spAutoFit/>
          </a:bodyPr>
          <a:lstStyle/>
          <a:p>
            <a:r>
              <a:rPr lang="en-US" sz="1400" dirty="0" smtClean="0">
                <a:solidFill>
                  <a:srgbClr val="C00000"/>
                </a:solidFill>
                <a:latin typeface="Consolas" pitchFamily="49" charset="0"/>
                <a:cs typeface="Consolas" pitchFamily="49" charset="0"/>
              </a:rPr>
              <a:t>class </a:t>
            </a:r>
            <a:r>
              <a:rPr lang="en-US" sz="1400" dirty="0" err="1" smtClean="0">
                <a:solidFill>
                  <a:srgbClr val="C00000"/>
                </a:solidFill>
                <a:latin typeface="Consolas" pitchFamily="49" charset="0"/>
                <a:cs typeface="Consolas" pitchFamily="49" charset="0"/>
              </a:rPr>
              <a:t>DomainObject</a:t>
            </a:r>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private Long ID;</a:t>
            </a:r>
          </a:p>
          <a:p>
            <a:r>
              <a:rPr lang="en-US" sz="1400" dirty="0" smtClean="0">
                <a:solidFill>
                  <a:srgbClr val="C00000"/>
                </a:solidFill>
                <a:latin typeface="Consolas" pitchFamily="49" charset="0"/>
                <a:cs typeface="Consolas" pitchFamily="49" charset="0"/>
              </a:rPr>
              <a:t>   public Long </a:t>
            </a:r>
            <a:r>
              <a:rPr lang="en-US" sz="1400" dirty="0" err="1" smtClean="0">
                <a:solidFill>
                  <a:srgbClr val="C00000"/>
                </a:solidFill>
                <a:latin typeface="Consolas" pitchFamily="49" charset="0"/>
                <a:cs typeface="Consolas" pitchFamily="49" charset="0"/>
              </a:rPr>
              <a:t>getID</a:t>
            </a:r>
            <a:r>
              <a:rPr lang="en-US" sz="1400" dirty="0" smtClean="0">
                <a:solidFill>
                  <a:srgbClr val="C00000"/>
                </a:solidFill>
                <a:latin typeface="Consolas" pitchFamily="49" charset="0"/>
                <a:cs typeface="Consolas" pitchFamily="49" charset="0"/>
              </a:rPr>
              <a:t>() { return ID; }</a:t>
            </a:r>
          </a:p>
          <a:p>
            <a:r>
              <a:rPr lang="en-US" sz="1400" dirty="0" smtClean="0">
                <a:solidFill>
                  <a:srgbClr val="C00000"/>
                </a:solidFill>
                <a:latin typeface="Consolas" pitchFamily="49" charset="0"/>
                <a:cs typeface="Consolas" pitchFamily="49" charset="0"/>
              </a:rPr>
              <a:t>   public void </a:t>
            </a:r>
            <a:r>
              <a:rPr lang="en-US" sz="1400" dirty="0" err="1" smtClean="0">
                <a:solidFill>
                  <a:srgbClr val="C00000"/>
                </a:solidFill>
                <a:latin typeface="Consolas" pitchFamily="49" charset="0"/>
                <a:cs typeface="Consolas" pitchFamily="49" charset="0"/>
              </a:rPr>
              <a:t>setID</a:t>
            </a:r>
            <a:r>
              <a:rPr lang="en-US" sz="1400" dirty="0" smtClean="0">
                <a:solidFill>
                  <a:srgbClr val="C00000"/>
                </a:solidFill>
                <a:latin typeface="Consolas" pitchFamily="49" charset="0"/>
                <a:cs typeface="Consolas" pitchFamily="49" charset="0"/>
              </a:rPr>
              <a:t>(Long ID)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Assert.notNull</a:t>
            </a:r>
            <a:r>
              <a:rPr lang="en-US" sz="1400" dirty="0" smtClean="0">
                <a:solidFill>
                  <a:srgbClr val="C00000"/>
                </a:solidFill>
                <a:latin typeface="Consolas" pitchFamily="49" charset="0"/>
                <a:cs typeface="Consolas" pitchFamily="49" charset="0"/>
              </a:rPr>
              <a:t>("Cannot set a null ID", ID);</a:t>
            </a:r>
          </a:p>
          <a:p>
            <a:r>
              <a:rPr lang="en-US" sz="1400" dirty="0" smtClean="0">
                <a:solidFill>
                  <a:srgbClr val="C00000"/>
                </a:solidFill>
                <a:latin typeface="Consolas" pitchFamily="49" charset="0"/>
                <a:cs typeface="Consolas" pitchFamily="49" charset="0"/>
              </a:rPr>
              <a:t>      this.ID = ID;</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public </a:t>
            </a:r>
            <a:r>
              <a:rPr lang="en-US" sz="1400" dirty="0" err="1" smtClean="0">
                <a:solidFill>
                  <a:srgbClr val="C00000"/>
                </a:solidFill>
                <a:latin typeface="Consolas" pitchFamily="49" charset="0"/>
                <a:cs typeface="Consolas" pitchFamily="49" charset="0"/>
              </a:rPr>
              <a:t>DomainObject</a:t>
            </a:r>
            <a:r>
              <a:rPr lang="en-US" sz="1400" dirty="0" smtClean="0">
                <a:solidFill>
                  <a:srgbClr val="C00000"/>
                </a:solidFill>
                <a:latin typeface="Consolas" pitchFamily="49" charset="0"/>
                <a:cs typeface="Consolas" pitchFamily="49" charset="0"/>
              </a:rPr>
              <a:t>(Long ID) { this.ID = ID; }</a:t>
            </a:r>
          </a:p>
          <a:p>
            <a:r>
              <a:rPr lang="en-US" sz="1400" dirty="0" smtClean="0">
                <a:solidFill>
                  <a:srgbClr val="C00000"/>
                </a:solidFill>
                <a:latin typeface="Consolas" pitchFamily="49" charset="0"/>
                <a:cs typeface="Consolas" pitchFamily="49" charset="0"/>
              </a:rPr>
              <a:t>   public </a:t>
            </a:r>
            <a:r>
              <a:rPr lang="en-US" sz="1400" dirty="0" err="1" smtClean="0">
                <a:solidFill>
                  <a:srgbClr val="C00000"/>
                </a:solidFill>
                <a:latin typeface="Consolas" pitchFamily="49" charset="0"/>
                <a:cs typeface="Consolas" pitchFamily="49" charset="0"/>
              </a:rPr>
              <a:t>DomainObject</a:t>
            </a:r>
            <a:r>
              <a:rPr lang="en-US" sz="1400" dirty="0" smtClean="0">
                <a:solidFill>
                  <a:srgbClr val="C00000"/>
                </a:solidFill>
                <a:latin typeface="Consolas" pitchFamily="49" charset="0"/>
                <a:cs typeface="Consolas" pitchFamily="49" charset="0"/>
              </a:rPr>
              <a:t>() {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3"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 Data Access Object: </a:t>
            </a:r>
            <a:r>
              <a:rPr lang="en-US" sz="4000" i="1" dirty="0" smtClean="0">
                <a:solidFill>
                  <a:srgbClr val="C00000"/>
                </a:solidFill>
              </a:rPr>
              <a:t>Problem</a:t>
            </a:r>
            <a:r>
              <a:rPr lang="en-US" sz="4000" dirty="0" smtClean="0"/>
              <a:t> [3, 4]</a:t>
            </a:r>
            <a:endParaRPr lang="en-US" sz="4000" i="1" dirty="0">
              <a:solidFill>
                <a:srgbClr val="C00000"/>
              </a:solidFill>
            </a:endParaRPr>
          </a:p>
        </p:txBody>
      </p:sp>
      <p:sp>
        <p:nvSpPr>
          <p:cNvPr id="3" name="Content Placeholder 2"/>
          <p:cNvSpPr>
            <a:spLocks noGrp="1"/>
          </p:cNvSpPr>
          <p:nvPr>
            <p:ph idx="1"/>
          </p:nvPr>
        </p:nvSpPr>
        <p:spPr/>
        <p:txBody>
          <a:bodyPr/>
          <a:lstStyle/>
          <a:p>
            <a:r>
              <a:rPr lang="en-US" sz="2200" dirty="0" smtClean="0"/>
              <a:t>You want to </a:t>
            </a:r>
            <a:r>
              <a:rPr lang="en-US" sz="2200" i="1" dirty="0" smtClean="0">
                <a:solidFill>
                  <a:srgbClr val="C00000"/>
                </a:solidFill>
              </a:rPr>
              <a:t>decouple</a:t>
            </a:r>
            <a:r>
              <a:rPr lang="en-US" sz="2200" dirty="0" smtClean="0"/>
              <a:t> the persistent storage implementation from the rest of your application. Why? – Maintenance.</a:t>
            </a:r>
          </a:p>
          <a:p>
            <a:r>
              <a:rPr lang="en-US" sz="2200" dirty="0" smtClean="0"/>
              <a:t>You want to organize data access logic and encapsulate proprietary features to facilitate </a:t>
            </a:r>
            <a:r>
              <a:rPr lang="en-US" sz="2200" i="1" dirty="0" smtClean="0">
                <a:solidFill>
                  <a:srgbClr val="C00000"/>
                </a:solidFill>
              </a:rPr>
              <a:t>maintainability</a:t>
            </a:r>
            <a:r>
              <a:rPr lang="en-US" sz="2200" dirty="0" smtClean="0"/>
              <a:t> and </a:t>
            </a:r>
            <a:r>
              <a:rPr lang="en-US" sz="2200" i="1" dirty="0" smtClean="0">
                <a:solidFill>
                  <a:srgbClr val="C00000"/>
                </a:solidFill>
              </a:rPr>
              <a:t>portability</a:t>
            </a:r>
            <a:r>
              <a:rPr lang="en-US" sz="2200" dirty="0" smtClean="0"/>
              <a:t>.</a:t>
            </a:r>
          </a:p>
          <a:p>
            <a:r>
              <a:rPr lang="en-US" sz="2200" dirty="0" smtClean="0"/>
              <a:t>You want to provide a uniform data access API for a persistent mechanism to </a:t>
            </a:r>
            <a:r>
              <a:rPr lang="en-US" sz="2200" i="1" dirty="0" smtClean="0">
                <a:solidFill>
                  <a:srgbClr val="C00000"/>
                </a:solidFill>
              </a:rPr>
              <a:t>various types</a:t>
            </a:r>
            <a:r>
              <a:rPr lang="en-US" sz="2200" dirty="0" smtClean="0"/>
              <a:t> of data sources, such as RDBMS, LDAP, OODB, XML repositories, flat files, and so on.</a:t>
            </a:r>
          </a:p>
          <a:p>
            <a:r>
              <a:rPr lang="en-US" sz="2200" dirty="0" smtClean="0"/>
              <a:t>Mixing </a:t>
            </a:r>
            <a:r>
              <a:rPr lang="en-US" sz="2200" i="1" dirty="0" smtClean="0">
                <a:solidFill>
                  <a:srgbClr val="C00000"/>
                </a:solidFill>
              </a:rPr>
              <a:t>SQL</a:t>
            </a:r>
            <a:r>
              <a:rPr lang="en-US" sz="2200" dirty="0" smtClean="0"/>
              <a:t> in application logic can cause several problems.</a:t>
            </a:r>
          </a:p>
          <a:p>
            <a:pPr lvl="1"/>
            <a:r>
              <a:rPr lang="en-US" sz="2000" dirty="0" smtClean="0"/>
              <a:t>Many developers </a:t>
            </a:r>
            <a:r>
              <a:rPr lang="en-US" sz="2000" i="1" dirty="0" smtClean="0">
                <a:solidFill>
                  <a:srgbClr val="C00000"/>
                </a:solidFill>
              </a:rPr>
              <a:t>aren't comfortable</a:t>
            </a:r>
            <a:r>
              <a:rPr lang="en-US" sz="2000" dirty="0" smtClean="0"/>
              <a:t> with SQL, and many who are comfortable may </a:t>
            </a:r>
            <a:r>
              <a:rPr lang="en-US" sz="2000" i="1" dirty="0" smtClean="0">
                <a:solidFill>
                  <a:srgbClr val="C00000"/>
                </a:solidFill>
              </a:rPr>
              <a:t>not write</a:t>
            </a:r>
            <a:r>
              <a:rPr lang="en-US" sz="2000" dirty="0" smtClean="0"/>
              <a:t> it well.</a:t>
            </a:r>
          </a:p>
          <a:p>
            <a:pPr lvl="1"/>
            <a:r>
              <a:rPr lang="en-US" sz="2000" dirty="0" smtClean="0"/>
              <a:t>Database administrators need to be able to find SQL easily so they can figure out how to </a:t>
            </a:r>
            <a:r>
              <a:rPr lang="en-US" sz="2000" i="1" dirty="0" smtClean="0">
                <a:solidFill>
                  <a:srgbClr val="C00000"/>
                </a:solidFill>
              </a:rPr>
              <a:t>tune</a:t>
            </a:r>
            <a:r>
              <a:rPr lang="en-US" sz="2000" dirty="0" smtClean="0"/>
              <a:t> and </a:t>
            </a:r>
            <a:r>
              <a:rPr lang="en-US" sz="2000" i="1" dirty="0" smtClean="0">
                <a:solidFill>
                  <a:srgbClr val="C00000"/>
                </a:solidFill>
              </a:rPr>
              <a:t>evolve</a:t>
            </a:r>
            <a:r>
              <a:rPr lang="en-US" sz="2000" dirty="0" smtClean="0"/>
              <a:t> the database.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Data Access Object: </a:t>
            </a:r>
            <a:r>
              <a:rPr lang="en-US" i="1" dirty="0" smtClean="0">
                <a:solidFill>
                  <a:srgbClr val="C00000"/>
                </a:solidFill>
              </a:rPr>
              <a:t>Solution</a:t>
            </a:r>
            <a:endParaRPr lang="en-US" dirty="0"/>
          </a:p>
        </p:txBody>
      </p:sp>
      <p:sp>
        <p:nvSpPr>
          <p:cNvPr id="3" name="Content Placeholder 2"/>
          <p:cNvSpPr>
            <a:spLocks noGrp="1"/>
          </p:cNvSpPr>
          <p:nvPr>
            <p:ph idx="1"/>
          </p:nvPr>
        </p:nvSpPr>
        <p:spPr>
          <a:xfrm>
            <a:off x="457200" y="1600201"/>
            <a:ext cx="8229600" cy="2971800"/>
          </a:xfrm>
        </p:spPr>
        <p:txBody>
          <a:bodyPr/>
          <a:lstStyle/>
          <a:p>
            <a:r>
              <a:rPr lang="en-US" sz="2400" dirty="0" smtClean="0"/>
              <a:t>The Data Access Object (DAO) is </a:t>
            </a:r>
            <a:r>
              <a:rPr lang="en-US" sz="2400" i="1" dirty="0" smtClean="0">
                <a:solidFill>
                  <a:srgbClr val="C00000"/>
                </a:solidFill>
              </a:rPr>
              <a:t>an object</a:t>
            </a:r>
            <a:r>
              <a:rPr lang="en-US" sz="2400" dirty="0" smtClean="0"/>
              <a:t> that implements the access mechanism required to work with the data source.</a:t>
            </a:r>
          </a:p>
          <a:p>
            <a:r>
              <a:rPr lang="en-US" sz="2400" dirty="0" smtClean="0"/>
              <a:t>The DAO </a:t>
            </a:r>
            <a:r>
              <a:rPr lang="en-US" sz="2400" i="1" dirty="0" smtClean="0">
                <a:solidFill>
                  <a:srgbClr val="C00000"/>
                </a:solidFill>
              </a:rPr>
              <a:t>manages the connection</a:t>
            </a:r>
            <a:r>
              <a:rPr lang="en-US" sz="2400" dirty="0" smtClean="0"/>
              <a:t> with the data source to obtain and store data.</a:t>
            </a:r>
          </a:p>
          <a:p>
            <a:r>
              <a:rPr lang="en-US" sz="2400" dirty="0" smtClean="0"/>
              <a:t>The DAO always provides a </a:t>
            </a:r>
            <a:r>
              <a:rPr lang="en-US" sz="2400" i="1" dirty="0" smtClean="0">
                <a:solidFill>
                  <a:srgbClr val="C00000"/>
                </a:solidFill>
              </a:rPr>
              <a:t>uniform API</a:t>
            </a:r>
            <a:r>
              <a:rPr lang="en-US" sz="2400" dirty="0" smtClean="0"/>
              <a:t> to its clients.</a:t>
            </a:r>
          </a:p>
          <a:p>
            <a:r>
              <a:rPr lang="en-US" sz="2400" dirty="0" smtClean="0"/>
              <a:t>The DAO abstracts the underlying data access implementation for the Client to enable </a:t>
            </a:r>
            <a:r>
              <a:rPr lang="en-US" sz="2400" i="1" dirty="0" smtClean="0">
                <a:solidFill>
                  <a:srgbClr val="C00000"/>
                </a:solidFill>
              </a:rPr>
              <a:t>transparent access</a:t>
            </a:r>
            <a:r>
              <a:rPr lang="en-US" sz="2400" dirty="0" smtClean="0"/>
              <a:t> to the data source.</a:t>
            </a:r>
          </a:p>
        </p:txBody>
      </p:sp>
      <p:pic>
        <p:nvPicPr>
          <p:cNvPr id="4" name="Picture 2"/>
          <p:cNvPicPr>
            <a:picLocks noChangeAspect="1" noChangeArrowheads="1"/>
          </p:cNvPicPr>
          <p:nvPr/>
        </p:nvPicPr>
        <p:blipFill>
          <a:blip r:embed="rId2" cstate="print"/>
          <a:srcRect/>
          <a:stretch>
            <a:fillRect/>
          </a:stretch>
        </p:blipFill>
        <p:spPr bwMode="auto">
          <a:xfrm>
            <a:off x="2971800" y="4724400"/>
            <a:ext cx="3048000" cy="1477963"/>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Access Object: </a:t>
            </a:r>
            <a:r>
              <a:rPr lang="en-US" i="1" dirty="0" smtClean="0">
                <a:solidFill>
                  <a:srgbClr val="C00000"/>
                </a:solidFill>
              </a:rPr>
              <a:t>Structure</a:t>
            </a:r>
            <a:endParaRPr lang="en-US" i="1" dirty="0">
              <a:solidFill>
                <a:srgbClr val="C00000"/>
              </a:solidFill>
            </a:endParaRPr>
          </a:p>
        </p:txBody>
      </p:sp>
      <p:sp>
        <p:nvSpPr>
          <p:cNvPr id="3076" name="AutoShape 4" descr="graphics/08fig02.jpg"/>
          <p:cNvSpPr>
            <a:spLocks noChangeAspect="1" noChangeArrowheads="1"/>
          </p:cNvSpPr>
          <p:nvPr/>
        </p:nvSpPr>
        <p:spPr bwMode="auto">
          <a:xfrm>
            <a:off x="155575" y="-2103438"/>
            <a:ext cx="4762500" cy="43815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8" name="Picture 6"/>
          <p:cNvPicPr>
            <a:picLocks noChangeAspect="1" noChangeArrowheads="1"/>
          </p:cNvPicPr>
          <p:nvPr/>
        </p:nvPicPr>
        <p:blipFill>
          <a:blip r:embed="rId2" cstate="print"/>
          <a:srcRect/>
          <a:stretch>
            <a:fillRect/>
          </a:stretch>
        </p:blipFill>
        <p:spPr bwMode="auto">
          <a:xfrm>
            <a:off x="4705350" y="1771650"/>
            <a:ext cx="4286250" cy="3943350"/>
          </a:xfrm>
          <a:prstGeom prst="rect">
            <a:avLst/>
          </a:prstGeom>
          <a:noFill/>
          <a:ln w="9525">
            <a:noFill/>
            <a:miter lim="800000"/>
            <a:headEnd/>
            <a:tailEnd/>
          </a:ln>
        </p:spPr>
      </p:pic>
      <p:pic>
        <p:nvPicPr>
          <p:cNvPr id="3074" name="Picture 2"/>
          <p:cNvPicPr>
            <a:picLocks noChangeAspect="1" noChangeArrowheads="1"/>
          </p:cNvPicPr>
          <p:nvPr/>
        </p:nvPicPr>
        <p:blipFill>
          <a:blip r:embed="rId3" cstate="print"/>
          <a:srcRect/>
          <a:stretch>
            <a:fillRect/>
          </a:stretch>
        </p:blipFill>
        <p:spPr bwMode="auto">
          <a:xfrm>
            <a:off x="76200" y="2314575"/>
            <a:ext cx="4676775" cy="2228850"/>
          </a:xfrm>
          <a:prstGeom prst="rect">
            <a:avLst/>
          </a:prstGeom>
          <a:noFill/>
          <a:ln w="9525">
            <a:noFill/>
            <a:miter lim="800000"/>
            <a:headEnd/>
            <a:tailEnd/>
          </a:ln>
        </p:spPr>
      </p:pic>
      <p:pic>
        <p:nvPicPr>
          <p:cNvPr id="7" name="Picture 2" descr="http://vignette2.wikia.nocookie.net/villains/images/0/04/QuestionMark.png/revision/latest?cb=20080722190045"/>
          <p:cNvPicPr>
            <a:picLocks noChangeAspect="1" noChangeArrowheads="1"/>
          </p:cNvPicPr>
          <p:nvPr/>
        </p:nvPicPr>
        <p:blipFill>
          <a:blip r:embed="rId4" cstate="print"/>
          <a:srcRect/>
          <a:stretch>
            <a:fillRect/>
          </a:stretch>
        </p:blipFill>
        <p:spPr bwMode="auto">
          <a:xfrm>
            <a:off x="152400" y="4648200"/>
            <a:ext cx="1905000" cy="1905000"/>
          </a:xfrm>
          <a:prstGeom prst="rect">
            <a:avLst/>
          </a:prstGeom>
          <a:noFill/>
        </p:spPr>
      </p:pic>
      <p:cxnSp>
        <p:nvCxnSpPr>
          <p:cNvPr id="9" name="Straight Arrow Connector 8"/>
          <p:cNvCxnSpPr/>
          <p:nvPr/>
        </p:nvCxnSpPr>
        <p:spPr>
          <a:xfrm>
            <a:off x="381000" y="2971800"/>
            <a:ext cx="381000" cy="175260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a:t>
            </a:r>
            <a:r>
              <a:rPr lang="en-US" smtClean="0"/>
              <a:t>Data Gateway [3]</a:t>
            </a:r>
            <a:endParaRPr lang="en-US" dirty="0"/>
          </a:p>
        </p:txBody>
      </p:sp>
      <p:sp>
        <p:nvSpPr>
          <p:cNvPr id="3" name="Content Placeholder 2"/>
          <p:cNvSpPr>
            <a:spLocks noGrp="1"/>
          </p:cNvSpPr>
          <p:nvPr>
            <p:ph idx="1"/>
          </p:nvPr>
        </p:nvSpPr>
        <p:spPr>
          <a:xfrm>
            <a:off x="457200" y="1676401"/>
            <a:ext cx="8229600" cy="2057399"/>
          </a:xfrm>
        </p:spPr>
        <p:txBody>
          <a:bodyPr/>
          <a:lstStyle/>
          <a:p>
            <a:r>
              <a:rPr lang="en-US" sz="2200" dirty="0" smtClean="0"/>
              <a:t>☠ </a:t>
            </a:r>
            <a:r>
              <a:rPr lang="en-US" sz="2200" i="1" dirty="0" smtClean="0">
                <a:solidFill>
                  <a:srgbClr val="C00000"/>
                </a:solidFill>
              </a:rPr>
              <a:t>Problem</a:t>
            </a:r>
            <a:r>
              <a:rPr lang="en-US" sz="2200" dirty="0" smtClean="0"/>
              <a:t>: How do we design </a:t>
            </a:r>
            <a:r>
              <a:rPr lang="en-US" sz="2200" i="1" dirty="0" smtClean="0">
                <a:solidFill>
                  <a:srgbClr val="C00000"/>
                </a:solidFill>
              </a:rPr>
              <a:t>data access objects</a:t>
            </a:r>
            <a:r>
              <a:rPr lang="en-US" sz="2200" dirty="0" smtClean="0"/>
              <a:t> working with relational databases.</a:t>
            </a:r>
          </a:p>
          <a:p>
            <a:r>
              <a:rPr lang="en-US" sz="2200" dirty="0" smtClean="0"/>
              <a:t>☞ </a:t>
            </a:r>
            <a:r>
              <a:rPr lang="en-US" sz="2200" i="1" dirty="0" smtClean="0">
                <a:solidFill>
                  <a:srgbClr val="C00000"/>
                </a:solidFill>
              </a:rPr>
              <a:t>Solution</a:t>
            </a:r>
            <a:r>
              <a:rPr lang="en-US" sz="2200" dirty="0" smtClean="0"/>
              <a:t>: A </a:t>
            </a:r>
            <a:r>
              <a:rPr lang="en-US" sz="2200" i="1" dirty="0" smtClean="0">
                <a:solidFill>
                  <a:srgbClr val="C00000"/>
                </a:solidFill>
              </a:rPr>
              <a:t>Table Data Gateway</a:t>
            </a:r>
            <a:r>
              <a:rPr lang="en-US" sz="2200" dirty="0" smtClean="0"/>
              <a:t> holds all the SQL for accessing a </a:t>
            </a:r>
            <a:r>
              <a:rPr lang="en-US" sz="2200" u="sng" dirty="0" smtClean="0"/>
              <a:t>single table</a:t>
            </a:r>
            <a:r>
              <a:rPr lang="en-US" sz="2200" dirty="0" smtClean="0"/>
              <a:t> or </a:t>
            </a:r>
            <a:r>
              <a:rPr lang="en-US" sz="2200" u="sng" dirty="0" smtClean="0"/>
              <a:t>view</a:t>
            </a:r>
            <a:r>
              <a:rPr lang="en-US" sz="2200" dirty="0" smtClean="0"/>
              <a:t>: selects, inserts, updates, and deletes.</a:t>
            </a:r>
          </a:p>
          <a:p>
            <a:r>
              <a:rPr lang="en-US" sz="2200" dirty="0" smtClean="0"/>
              <a:t>Other code calls its methods for all interaction with the </a:t>
            </a:r>
            <a:r>
              <a:rPr lang="en-US" sz="2200" i="1" dirty="0" smtClean="0">
                <a:solidFill>
                  <a:srgbClr val="C00000"/>
                </a:solidFill>
              </a:rPr>
              <a:t>database</a:t>
            </a:r>
            <a:r>
              <a:rPr lang="en-US" sz="2200" dirty="0" smtClean="0"/>
              <a:t>.</a:t>
            </a:r>
          </a:p>
        </p:txBody>
      </p:sp>
      <p:pic>
        <p:nvPicPr>
          <p:cNvPr id="1026" name="Picture 2"/>
          <p:cNvPicPr>
            <a:picLocks noChangeAspect="1" noChangeArrowheads="1"/>
          </p:cNvPicPr>
          <p:nvPr/>
        </p:nvPicPr>
        <p:blipFill>
          <a:blip r:embed="rId2" cstate="print"/>
          <a:srcRect/>
          <a:stretch>
            <a:fillRect/>
          </a:stretch>
        </p:blipFill>
        <p:spPr bwMode="auto">
          <a:xfrm>
            <a:off x="914400" y="3962400"/>
            <a:ext cx="5334000" cy="2373630"/>
          </a:xfrm>
          <a:prstGeom prst="rect">
            <a:avLst/>
          </a:prstGeom>
          <a:noFill/>
          <a:ln w="9525">
            <a:noFill/>
            <a:miter lim="800000"/>
            <a:headEnd/>
            <a:tailEnd/>
          </a:ln>
        </p:spPr>
      </p:pic>
      <p:sp>
        <p:nvSpPr>
          <p:cNvPr id="5" name="Rectangle 4"/>
          <p:cNvSpPr/>
          <p:nvPr/>
        </p:nvSpPr>
        <p:spPr>
          <a:xfrm>
            <a:off x="4648200" y="3810000"/>
            <a:ext cx="1015406" cy="430887"/>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200" dirty="0" smtClean="0"/>
              <a:t>A Table</a:t>
            </a:r>
            <a:endParaRPr lang="en-US" sz="2200" dirty="0"/>
          </a:p>
        </p:txBody>
      </p:sp>
      <p:sp>
        <p:nvSpPr>
          <p:cNvPr id="6" name="Rectangle 5"/>
          <p:cNvSpPr/>
          <p:nvPr/>
        </p:nvSpPr>
        <p:spPr>
          <a:xfrm>
            <a:off x="6400800" y="4800600"/>
            <a:ext cx="1981200" cy="1200329"/>
          </a:xfrm>
          <a:prstGeom prst="rect">
            <a:avLst/>
          </a:prstGeom>
        </p:spPr>
        <p:txBody>
          <a:bodyPr wrap="square">
            <a:spAutoFit/>
          </a:bodyPr>
          <a:lstStyle/>
          <a:p>
            <a:pPr algn="ctr"/>
            <a:r>
              <a:rPr lang="en-US" sz="2400" dirty="0" smtClean="0">
                <a:solidFill>
                  <a:srgbClr val="C00000"/>
                </a:solidFill>
                <a:latin typeface="+mj-lt"/>
              </a:rPr>
              <a:t>No object representing a row</a:t>
            </a:r>
            <a:endParaRPr lang="en-US" sz="2400" dirty="0">
              <a:solidFill>
                <a:srgbClr val="C00000"/>
              </a:solidFill>
              <a:latin typeface="+mj-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Module + TDG Example</a:t>
            </a:r>
            <a:endParaRPr lang="en-US" dirty="0"/>
          </a:p>
        </p:txBody>
      </p:sp>
      <p:sp>
        <p:nvSpPr>
          <p:cNvPr id="3" name="Content Placeholder 2"/>
          <p:cNvSpPr>
            <a:spLocks noGrp="1"/>
          </p:cNvSpPr>
          <p:nvPr>
            <p:ph idx="1"/>
          </p:nvPr>
        </p:nvSpPr>
        <p:spPr>
          <a:xfrm>
            <a:off x="457200" y="14478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a:t>
            </a:r>
            <a:r>
              <a:rPr lang="en-US" sz="2400" dirty="0" smtClean="0">
                <a:latin typeface="Consolas" pitchFamily="49" charset="0"/>
              </a:rPr>
              <a:t> </a:t>
            </a:r>
            <a:r>
              <a:rPr lang="en-US" sz="2400" b="1" i="1" dirty="0" err="1" smtClean="0">
                <a:solidFill>
                  <a:srgbClr val="C00000"/>
                </a:solidFill>
                <a:latin typeface="Consolas" pitchFamily="49" charset="0"/>
              </a:rPr>
              <a:t>BookingModule</a:t>
            </a:r>
            <a:r>
              <a:rPr lang="en-US" sz="2400" dirty="0" smtClean="0"/>
              <a:t> class</a:t>
            </a:r>
          </a:p>
          <a:p>
            <a:pPr lvl="1"/>
            <a:r>
              <a:rPr lang="en-US" sz="2000" dirty="0" smtClean="0"/>
              <a:t>Create </a:t>
            </a:r>
            <a:r>
              <a:rPr lang="en-US" sz="2000" b="1" dirty="0" smtClean="0">
                <a:latin typeface="Consolas" pitchFamily="49" charset="0"/>
              </a:rPr>
              <a:t>Book(</a:t>
            </a:r>
            <a:r>
              <a:rPr lang="en-US" sz="2000" b="1" dirty="0" err="1" smtClean="0">
                <a:latin typeface="Consolas" pitchFamily="49" charset="0"/>
              </a:rPr>
              <a:t>passportNumber</a:t>
            </a:r>
            <a:r>
              <a:rPr lang="en-US" sz="2000" b="1" dirty="0" smtClean="0">
                <a:latin typeface="Consolas" pitchFamily="49" charset="0"/>
              </a:rPr>
              <a:t>, </a:t>
            </a:r>
            <a:r>
              <a:rPr lang="en-US" sz="2000" b="1" dirty="0" err="1" smtClean="0">
                <a:latin typeface="Consolas" pitchFamily="49" charset="0"/>
              </a:rPr>
              <a:t>roomNumber</a:t>
            </a:r>
            <a:r>
              <a:rPr lang="en-US" sz="2000" b="1" dirty="0" smtClean="0">
                <a:latin typeface="Consolas" pitchFamily="49" charset="0"/>
              </a:rPr>
              <a:t>, </a:t>
            </a:r>
            <a:r>
              <a:rPr lang="en-US" sz="2000" b="1" dirty="0" err="1" smtClean="0">
                <a:latin typeface="Consolas" pitchFamily="49" charset="0"/>
              </a:rPr>
              <a:t>fromDate</a:t>
            </a:r>
            <a:r>
              <a:rPr lang="en-US" sz="2000" b="1" dirty="0" smtClean="0">
                <a:latin typeface="Consolas" pitchFamily="49" charset="0"/>
              </a:rPr>
              <a:t>, </a:t>
            </a:r>
            <a:r>
              <a:rPr lang="en-US" sz="2000" b="1" dirty="0" err="1" smtClean="0">
                <a:latin typeface="Consolas" pitchFamily="49" charset="0"/>
              </a:rPr>
              <a:t>toDate</a:t>
            </a:r>
            <a:r>
              <a:rPr lang="en-US" sz="2000" b="1" dirty="0" smtClean="0">
                <a:latin typeface="Consolas" pitchFamily="49" charset="0"/>
              </a:rPr>
              <a:t>, price)</a:t>
            </a:r>
            <a:r>
              <a:rPr lang="en-US" sz="2000" dirty="0" smtClean="0"/>
              <a:t> method.</a:t>
            </a:r>
          </a:p>
          <a:p>
            <a:pPr lvl="1"/>
            <a:r>
              <a:rPr lang="en-US" sz="2000" dirty="0" smtClean="0"/>
              <a:t>Check passport number rule.</a:t>
            </a:r>
          </a:p>
          <a:p>
            <a:pPr lvl="1"/>
            <a:r>
              <a:rPr lang="en-US" sz="2000" dirty="0" smtClean="0"/>
              <a:t>Create </a:t>
            </a:r>
            <a:r>
              <a:rPr lang="en-US" sz="2000" b="1" i="1" dirty="0" err="1" smtClean="0">
                <a:solidFill>
                  <a:srgbClr val="C00000"/>
                </a:solidFill>
                <a:latin typeface="Consolas" pitchFamily="49" charset="0"/>
              </a:rPr>
              <a:t>RoomModule</a:t>
            </a:r>
            <a:r>
              <a:rPr lang="en-US" sz="2000" dirty="0" smtClean="0"/>
              <a:t> class and use it to get available room from the table Rooms (using </a:t>
            </a:r>
            <a:r>
              <a:rPr lang="en-US" sz="2000" dirty="0" err="1" smtClean="0"/>
              <a:t>ReservedUntil</a:t>
            </a:r>
            <a:r>
              <a:rPr lang="en-US" sz="2000" dirty="0" smtClean="0"/>
              <a:t> field).</a:t>
            </a:r>
          </a:p>
          <a:p>
            <a:pPr lvl="1"/>
            <a:r>
              <a:rPr lang="en-US" sz="2000" dirty="0" smtClean="0"/>
              <a:t>Get returned customer from the table Booking (using </a:t>
            </a:r>
            <a:r>
              <a:rPr lang="en-US" sz="2000" dirty="0" err="1" smtClean="0"/>
              <a:t>PassportNumber</a:t>
            </a:r>
            <a:r>
              <a:rPr lang="en-US" sz="2000" dirty="0" smtClean="0"/>
              <a:t> field).</a:t>
            </a:r>
          </a:p>
          <a:p>
            <a:pPr lvl="1"/>
            <a:r>
              <a:rPr lang="en-US" sz="2000" dirty="0" smtClean="0"/>
              <a:t>Calculate price.</a:t>
            </a:r>
          </a:p>
          <a:p>
            <a:pPr lvl="1"/>
            <a:r>
              <a:rPr lang="en-US" sz="2000" dirty="0" smtClean="0"/>
              <a:t>Insert information (passport number, room number, from date, to date, price) into the table Booking.</a:t>
            </a:r>
          </a:p>
          <a:p>
            <a:pPr lvl="1"/>
            <a:r>
              <a:rPr lang="en-US" sz="2000" dirty="0" smtClean="0"/>
              <a:t>Update </a:t>
            </a:r>
            <a:r>
              <a:rPr lang="en-US" sz="2000" dirty="0" err="1" smtClean="0"/>
              <a:t>ReservedUntil</a:t>
            </a:r>
            <a:r>
              <a:rPr lang="en-US" sz="2000" dirty="0" smtClean="0"/>
              <a:t> field of the table Rooms.</a:t>
            </a:r>
          </a:p>
        </p:txBody>
      </p:sp>
      <p:sp>
        <p:nvSpPr>
          <p:cNvPr id="5" name="Rounded Rectangle 4"/>
          <p:cNvSpPr/>
          <p:nvPr/>
        </p:nvSpPr>
        <p:spPr>
          <a:xfrm>
            <a:off x="914400" y="3733800"/>
            <a:ext cx="76962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715000" y="3025914"/>
            <a:ext cx="2971800" cy="70788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2000" b="1" i="1" dirty="0" err="1" smtClean="0">
                <a:solidFill>
                  <a:schemeClr val="bg1"/>
                </a:solidFill>
                <a:latin typeface="Consolas" pitchFamily="49" charset="0"/>
              </a:rPr>
              <a:t>RoomTableGateway</a:t>
            </a:r>
            <a:endParaRPr lang="en-US" sz="2000" b="1" i="1" dirty="0" smtClean="0">
              <a:solidFill>
                <a:schemeClr val="bg1"/>
              </a:solidFill>
              <a:latin typeface="Consolas" pitchFamily="49" charset="0"/>
            </a:endParaRPr>
          </a:p>
          <a:p>
            <a:r>
              <a:rPr lang="en-US" sz="2000" b="1" i="1" dirty="0" smtClean="0">
                <a:solidFill>
                  <a:schemeClr val="bg1"/>
                </a:solidFill>
                <a:latin typeface="Consolas" pitchFamily="49" charset="0"/>
              </a:rPr>
              <a:t>(no fields)</a:t>
            </a:r>
            <a:endParaRPr lang="en-US" sz="2000" dirty="0">
              <a:solidFill>
                <a:schemeClr val="bg1"/>
              </a:solidFill>
            </a:endParaRPr>
          </a:p>
        </p:txBody>
      </p:sp>
      <p:sp>
        <p:nvSpPr>
          <p:cNvPr id="7" name="Rectangle 6"/>
          <p:cNvSpPr/>
          <p:nvPr/>
        </p:nvSpPr>
        <p:spPr>
          <a:xfrm>
            <a:off x="5334000" y="1981200"/>
            <a:ext cx="2864887" cy="707886"/>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000" b="1" i="1" dirty="0" err="1" smtClean="0">
                <a:solidFill>
                  <a:schemeClr val="bg1"/>
                </a:solidFill>
                <a:latin typeface="Consolas" pitchFamily="49" charset="0"/>
              </a:rPr>
              <a:t>BookingTableGateway</a:t>
            </a:r>
            <a:endParaRPr lang="en-US" sz="2000" b="1" i="1" dirty="0" smtClean="0">
              <a:solidFill>
                <a:schemeClr val="bg1"/>
              </a:solidFill>
              <a:latin typeface="Consolas" pitchFamily="49" charset="0"/>
            </a:endParaRPr>
          </a:p>
          <a:p>
            <a:r>
              <a:rPr lang="en-US" sz="2000" b="1" i="1" dirty="0" smtClean="0">
                <a:solidFill>
                  <a:schemeClr val="bg1"/>
                </a:solidFill>
                <a:latin typeface="Consolas" pitchFamily="49" charset="0"/>
              </a:rPr>
              <a:t>(no fields)</a:t>
            </a:r>
            <a:endParaRPr lang="en-US" sz="2000" dirty="0">
              <a:solidFill>
                <a:schemeClr val="bg1"/>
              </a:solidFill>
            </a:endParaRPr>
          </a:p>
        </p:txBody>
      </p:sp>
      <p:cxnSp>
        <p:nvCxnSpPr>
          <p:cNvPr id="9" name="Straight Arrow Connector 8"/>
          <p:cNvCxnSpPr/>
          <p:nvPr/>
        </p:nvCxnSpPr>
        <p:spPr>
          <a:xfrm flipV="1">
            <a:off x="3581400" y="2209800"/>
            <a:ext cx="1600200" cy="76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276600" y="3429000"/>
            <a:ext cx="23622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Object + TDG Example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1800" dirty="0" smtClean="0"/>
              <a:t>Create table </a:t>
            </a:r>
            <a:r>
              <a:rPr lang="en-US" sz="1800" b="1" i="1" dirty="0" smtClean="0">
                <a:solidFill>
                  <a:srgbClr val="00B050"/>
                </a:solidFill>
                <a:latin typeface="Consolas" pitchFamily="49" charset="0"/>
              </a:rPr>
              <a:t>Booking</a:t>
            </a:r>
            <a:r>
              <a:rPr lang="en-US" sz="1800" dirty="0" smtClean="0"/>
              <a:t> (passport number, room number, from date, to date, price)</a:t>
            </a:r>
          </a:p>
          <a:p>
            <a:r>
              <a:rPr lang="en-US" sz="1800" dirty="0" smtClean="0"/>
              <a:t>Create </a:t>
            </a:r>
            <a:r>
              <a:rPr lang="en-US" sz="1800" b="1" i="1" dirty="0" smtClean="0">
                <a:solidFill>
                  <a:srgbClr val="C00000"/>
                </a:solidFill>
                <a:latin typeface="Consolas" pitchFamily="49" charset="0"/>
              </a:rPr>
              <a:t>Customer</a:t>
            </a:r>
            <a:r>
              <a:rPr lang="en-US" sz="1800" dirty="0" smtClean="0"/>
              <a:t> class with </a:t>
            </a:r>
            <a:r>
              <a:rPr lang="en-US" sz="1800" b="1" dirty="0" err="1" smtClean="0">
                <a:latin typeface="Consolas" pitchFamily="49" charset="0"/>
              </a:rPr>
              <a:t>PassportNumber</a:t>
            </a:r>
            <a:r>
              <a:rPr lang="en-US" sz="1800" dirty="0" smtClean="0"/>
              <a:t> property and use it to check passport number rule and get returned customer.</a:t>
            </a:r>
          </a:p>
          <a:p>
            <a:r>
              <a:rPr lang="en-US" sz="1800" dirty="0" smtClean="0"/>
              <a:t>Create </a:t>
            </a:r>
            <a:r>
              <a:rPr lang="en-US" sz="1800" b="1" i="1" dirty="0" smtClean="0">
                <a:solidFill>
                  <a:srgbClr val="C00000"/>
                </a:solidFill>
                <a:latin typeface="Consolas" pitchFamily="49" charset="0"/>
              </a:rPr>
              <a:t>Room</a:t>
            </a:r>
            <a:r>
              <a:rPr lang="en-US" sz="1800" dirty="0" smtClean="0"/>
              <a:t> class with </a:t>
            </a:r>
            <a:r>
              <a:rPr lang="en-US" sz="1800" b="1" dirty="0" err="1" smtClean="0">
                <a:latin typeface="Consolas" pitchFamily="49" charset="0"/>
              </a:rPr>
              <a:t>RoomNumber</a:t>
            </a:r>
            <a:r>
              <a:rPr lang="en-US" sz="1800" dirty="0" smtClean="0"/>
              <a:t> and </a:t>
            </a:r>
            <a:r>
              <a:rPr lang="en-US" sz="1800" b="1" dirty="0" err="1" smtClean="0">
                <a:latin typeface="Consolas" pitchFamily="49" charset="0"/>
              </a:rPr>
              <a:t>ReservedUntil</a:t>
            </a:r>
            <a:r>
              <a:rPr lang="en-US" sz="1800" dirty="0" smtClean="0"/>
              <a:t> property and use it to get available room</a:t>
            </a:r>
            <a:r>
              <a:rPr lang="en-US" sz="1800" i="1" dirty="0" smtClean="0"/>
              <a:t>.</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BookingPrice</a:t>
            </a:r>
            <a:r>
              <a:rPr lang="en-US" sz="1800" dirty="0" smtClean="0"/>
              <a:t> class with </a:t>
            </a:r>
            <a:r>
              <a:rPr lang="en-US" sz="1800" b="1" dirty="0" err="1" smtClean="0">
                <a:latin typeface="Consolas" pitchFamily="49" charset="0"/>
              </a:rPr>
              <a:t>StartDate</a:t>
            </a:r>
            <a:r>
              <a:rPr lang="en-US" sz="1800" dirty="0" smtClean="0"/>
              <a:t>, </a:t>
            </a:r>
            <a:r>
              <a:rPr lang="en-US" sz="1800" b="1" dirty="0" err="1" smtClean="0">
                <a:latin typeface="Consolas" pitchFamily="49" charset="0"/>
              </a:rPr>
              <a:t>EndDate</a:t>
            </a:r>
            <a:r>
              <a:rPr lang="en-US" sz="1800" dirty="0" smtClean="0"/>
              <a:t> and </a:t>
            </a:r>
            <a:r>
              <a:rPr lang="en-US" sz="1800" b="1" dirty="0" smtClean="0">
                <a:latin typeface="Consolas" pitchFamily="49" charset="0"/>
              </a:rPr>
              <a:t>Customer</a:t>
            </a:r>
            <a:r>
              <a:rPr lang="en-US" sz="1800" dirty="0" smtClean="0"/>
              <a:t> properties and </a:t>
            </a:r>
            <a:r>
              <a:rPr lang="en-US" sz="1800" dirty="0" err="1" smtClean="0"/>
              <a:t>GetPrice</a:t>
            </a:r>
            <a:r>
              <a:rPr lang="en-US" sz="1800" dirty="0" smtClean="0"/>
              <a:t> method</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BookingDTO</a:t>
            </a:r>
            <a:r>
              <a:rPr lang="en-US" sz="1800" dirty="0" smtClean="0"/>
              <a:t> class with the following properties: </a:t>
            </a:r>
            <a:r>
              <a:rPr lang="en-US" sz="1800" dirty="0" err="1" smtClean="0"/>
              <a:t>PassportNumber</a:t>
            </a:r>
            <a:r>
              <a:rPr lang="en-US" sz="1800" dirty="0" smtClean="0"/>
              <a:t>, </a:t>
            </a:r>
            <a:r>
              <a:rPr lang="en-US" sz="1800" dirty="0" err="1" smtClean="0"/>
              <a:t>FromDate</a:t>
            </a:r>
            <a:r>
              <a:rPr lang="en-US" sz="1800" dirty="0" smtClean="0"/>
              <a:t>, </a:t>
            </a:r>
            <a:r>
              <a:rPr lang="en-US" sz="1800" dirty="0" err="1" smtClean="0"/>
              <a:t>ToDate</a:t>
            </a:r>
            <a:r>
              <a:rPr lang="en-US" sz="1800" dirty="0" smtClean="0"/>
              <a:t>, </a:t>
            </a:r>
            <a:r>
              <a:rPr lang="en-US" sz="1800" dirty="0" err="1" smtClean="0"/>
              <a:t>RoomNumber</a:t>
            </a:r>
            <a:r>
              <a:rPr lang="en-US" sz="1800" dirty="0" smtClean="0"/>
              <a:t>, Price.</a:t>
            </a:r>
          </a:p>
          <a:p>
            <a:r>
              <a:rPr lang="en-US" sz="1800" dirty="0" smtClean="0"/>
              <a:t>Create </a:t>
            </a:r>
            <a:r>
              <a:rPr lang="en-US" sz="1800" b="1" i="1" dirty="0" smtClean="0">
                <a:solidFill>
                  <a:srgbClr val="C00000"/>
                </a:solidFill>
                <a:latin typeface="Consolas" pitchFamily="49" charset="0"/>
              </a:rPr>
              <a:t>Booking</a:t>
            </a:r>
            <a:r>
              <a:rPr lang="en-US" sz="1800" dirty="0" smtClean="0"/>
              <a:t> class with </a:t>
            </a:r>
            <a:r>
              <a:rPr lang="en-US" sz="1800" b="1" i="1" dirty="0" smtClean="0">
                <a:solidFill>
                  <a:srgbClr val="C00000"/>
                </a:solidFill>
                <a:latin typeface="Consolas" pitchFamily="49" charset="0"/>
              </a:rPr>
              <a:t>Customer</a:t>
            </a:r>
            <a:r>
              <a:rPr lang="en-US" sz="1800" dirty="0" smtClean="0"/>
              <a:t>, </a:t>
            </a:r>
            <a:r>
              <a:rPr lang="en-US" sz="1800" b="1" i="1" dirty="0" smtClean="0">
                <a:solidFill>
                  <a:srgbClr val="C00000"/>
                </a:solidFill>
                <a:latin typeface="Consolas" pitchFamily="49" charset="0"/>
              </a:rPr>
              <a:t>Room</a:t>
            </a:r>
            <a:r>
              <a:rPr lang="en-US" sz="1800" dirty="0" smtClean="0"/>
              <a:t> and </a:t>
            </a:r>
            <a:r>
              <a:rPr lang="en-US" sz="1800" b="1" i="1" dirty="0" err="1" smtClean="0">
                <a:solidFill>
                  <a:srgbClr val="C00000"/>
                </a:solidFill>
                <a:latin typeface="Consolas" pitchFamily="49" charset="0"/>
              </a:rPr>
              <a:t>BookingPrice</a:t>
            </a:r>
            <a:r>
              <a:rPr lang="en-US" sz="1800" i="1" dirty="0" smtClean="0"/>
              <a:t> </a:t>
            </a:r>
            <a:r>
              <a:rPr lang="en-US" sz="1800" dirty="0" smtClean="0"/>
              <a:t>properties.</a:t>
            </a:r>
          </a:p>
          <a:p>
            <a:pPr lvl="1"/>
            <a:r>
              <a:rPr lang="en-US" sz="1700" dirty="0" smtClean="0"/>
              <a:t>Create </a:t>
            </a:r>
            <a:r>
              <a:rPr lang="en-US" sz="1700" b="1" dirty="0" err="1" smtClean="0">
                <a:latin typeface="Consolas" pitchFamily="49" charset="0"/>
              </a:rPr>
              <a:t>BookingDTO</a:t>
            </a:r>
            <a:r>
              <a:rPr lang="en-US" sz="1700" b="1" dirty="0" smtClean="0">
                <a:latin typeface="Consolas" pitchFamily="49" charset="0"/>
              </a:rPr>
              <a:t> Book(</a:t>
            </a:r>
            <a:r>
              <a:rPr lang="en-US" sz="1700" b="1" dirty="0" err="1" smtClean="0">
                <a:latin typeface="Consolas" pitchFamily="49" charset="0"/>
              </a:rPr>
              <a:t>BookingDTO</a:t>
            </a:r>
            <a:r>
              <a:rPr lang="en-US" sz="1700" b="1" dirty="0" smtClean="0">
                <a:latin typeface="Consolas" pitchFamily="49" charset="0"/>
              </a:rPr>
              <a:t> input)</a:t>
            </a:r>
            <a:r>
              <a:rPr lang="en-US" sz="1700" dirty="0" smtClean="0"/>
              <a:t> method.</a:t>
            </a:r>
          </a:p>
          <a:p>
            <a:pPr lvl="1"/>
            <a:r>
              <a:rPr lang="en-US" sz="1700" dirty="0" smtClean="0"/>
              <a:t>Create Customer, Room and </a:t>
            </a:r>
            <a:r>
              <a:rPr lang="en-US" sz="1700" dirty="0" err="1" smtClean="0"/>
              <a:t>BookingPrice</a:t>
            </a:r>
            <a:r>
              <a:rPr lang="en-US" sz="1700" dirty="0" smtClean="0"/>
              <a:t> instance and call appropriate methods.</a:t>
            </a:r>
          </a:p>
          <a:p>
            <a:pPr lvl="1"/>
            <a:r>
              <a:rPr lang="en-US" sz="1700" dirty="0" smtClean="0"/>
              <a:t>Insert information (passport number, room number, from date, to date, price) into the table Booking (the Booking’s responsibility).</a:t>
            </a:r>
          </a:p>
          <a:p>
            <a:pPr lvl="1"/>
            <a:r>
              <a:rPr lang="en-US" sz="1700" dirty="0" smtClean="0"/>
              <a:t>Update </a:t>
            </a:r>
            <a:r>
              <a:rPr lang="en-US" sz="1700" dirty="0" err="1" smtClean="0"/>
              <a:t>ReservedUntil</a:t>
            </a:r>
            <a:r>
              <a:rPr lang="en-US" sz="1700" dirty="0" smtClean="0"/>
              <a:t> field of the table Rooms (the Room’s responsibility).</a:t>
            </a:r>
          </a:p>
        </p:txBody>
      </p:sp>
      <p:cxnSp>
        <p:nvCxnSpPr>
          <p:cNvPr id="5" name="Straight Arrow Connector 4"/>
          <p:cNvCxnSpPr/>
          <p:nvPr/>
        </p:nvCxnSpPr>
        <p:spPr>
          <a:xfrm flipH="1">
            <a:off x="2057400" y="1905000"/>
            <a:ext cx="228600" cy="76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334000" y="6248400"/>
            <a:ext cx="3139001"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err="1" smtClean="0">
                <a:solidFill>
                  <a:schemeClr val="bg1"/>
                </a:solidFill>
                <a:latin typeface="Consolas" pitchFamily="49" charset="0"/>
              </a:rPr>
              <a:t>BookingTableGateway</a:t>
            </a:r>
            <a:endParaRPr lang="en-US" sz="2200" dirty="0">
              <a:solidFill>
                <a:schemeClr val="bg1"/>
              </a:solidFill>
            </a:endParaRPr>
          </a:p>
        </p:txBody>
      </p:sp>
      <p:cxnSp>
        <p:nvCxnSpPr>
          <p:cNvPr id="8" name="Straight Arrow Connector 7"/>
          <p:cNvCxnSpPr/>
          <p:nvPr/>
        </p:nvCxnSpPr>
        <p:spPr>
          <a:xfrm>
            <a:off x="2438400" y="4648200"/>
            <a:ext cx="2743200" cy="17526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715000" y="1143000"/>
            <a:ext cx="2667000" cy="43088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2200" b="1" i="1" dirty="0" err="1" smtClean="0">
                <a:solidFill>
                  <a:schemeClr val="bg1"/>
                </a:solidFill>
                <a:latin typeface="Consolas" pitchFamily="49" charset="0"/>
              </a:rPr>
              <a:t>RoomTableGateway</a:t>
            </a:r>
            <a:endParaRPr lang="en-US" sz="2200" dirty="0">
              <a:solidFill>
                <a:schemeClr val="bg1"/>
              </a:solidFill>
            </a:endParaRPr>
          </a:p>
        </p:txBody>
      </p:sp>
      <p:cxnSp>
        <p:nvCxnSpPr>
          <p:cNvPr id="12" name="Straight Arrow Connector 11"/>
          <p:cNvCxnSpPr/>
          <p:nvPr/>
        </p:nvCxnSpPr>
        <p:spPr>
          <a:xfrm flipV="1">
            <a:off x="1981200" y="1371600"/>
            <a:ext cx="3505200" cy="1219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a:xfrm>
            <a:off x="457200" y="1600201"/>
            <a:ext cx="8229600" cy="1142999"/>
          </a:xfrm>
        </p:spPr>
        <p:txBody>
          <a:bodyPr/>
          <a:lstStyle/>
          <a:p>
            <a:r>
              <a:rPr lang="en-US" sz="2800" dirty="0" smtClean="0"/>
              <a:t>Can a Table Module act as a Table Data Gateway?</a:t>
            </a:r>
          </a:p>
          <a:p>
            <a:r>
              <a:rPr lang="en-US" sz="2800" dirty="0" smtClean="0"/>
              <a:t>Can a Business Object act as a Table Data Gateway?</a:t>
            </a:r>
          </a:p>
        </p:txBody>
      </p:sp>
      <p:pic>
        <p:nvPicPr>
          <p:cNvPr id="46082" name="Picture 2" descr="http://www.taroticallyspeaking.com/wp-content/uploads/2015/04/questions.jpg"/>
          <p:cNvPicPr>
            <a:picLocks noChangeAspect="1" noChangeArrowheads="1"/>
          </p:cNvPicPr>
          <p:nvPr/>
        </p:nvPicPr>
        <p:blipFill>
          <a:blip r:embed="rId2" cstate="print"/>
          <a:srcRect/>
          <a:stretch>
            <a:fillRect/>
          </a:stretch>
        </p:blipFill>
        <p:spPr bwMode="auto">
          <a:xfrm>
            <a:off x="2895600" y="3429000"/>
            <a:ext cx="4076700" cy="2676525"/>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Row Data Gateway</a:t>
            </a:r>
            <a:endParaRPr lang="en-US" dirty="0"/>
          </a:p>
        </p:txBody>
      </p:sp>
      <p:sp>
        <p:nvSpPr>
          <p:cNvPr id="3" name="Content Placeholder 2"/>
          <p:cNvSpPr>
            <a:spLocks noGrp="1"/>
          </p:cNvSpPr>
          <p:nvPr>
            <p:ph idx="1"/>
          </p:nvPr>
        </p:nvSpPr>
        <p:spPr>
          <a:xfrm>
            <a:off x="457200" y="1371600"/>
            <a:ext cx="8229600" cy="1981200"/>
          </a:xfrm>
        </p:spPr>
        <p:txBody>
          <a:bodyPr/>
          <a:lstStyle/>
          <a:p>
            <a:r>
              <a:rPr lang="en-US" sz="2000" dirty="0" smtClean="0"/>
              <a:t>☠ </a:t>
            </a:r>
            <a:r>
              <a:rPr lang="en-US" sz="2000" i="1" dirty="0" smtClean="0">
                <a:solidFill>
                  <a:srgbClr val="C00000"/>
                </a:solidFill>
              </a:rPr>
              <a:t>Problem</a:t>
            </a:r>
            <a:r>
              <a:rPr lang="en-US" sz="2000" dirty="0" smtClean="0"/>
              <a:t>: How do we design </a:t>
            </a:r>
            <a:r>
              <a:rPr lang="en-US" sz="2000" i="1" dirty="0" smtClean="0">
                <a:solidFill>
                  <a:srgbClr val="C00000"/>
                </a:solidFill>
              </a:rPr>
              <a:t>data access objects </a:t>
            </a:r>
            <a:r>
              <a:rPr lang="en-US" sz="2000" dirty="0" smtClean="0"/>
              <a:t>working with relational databases.</a:t>
            </a:r>
          </a:p>
          <a:p>
            <a:r>
              <a:rPr lang="en-US" sz="2000" dirty="0" smtClean="0"/>
              <a:t>☞ </a:t>
            </a:r>
            <a:r>
              <a:rPr lang="en-US" sz="2000" i="1" dirty="0" smtClean="0">
                <a:solidFill>
                  <a:srgbClr val="C00000"/>
                </a:solidFill>
              </a:rPr>
              <a:t>Solution</a:t>
            </a:r>
            <a:r>
              <a:rPr lang="en-US" sz="2000" dirty="0" smtClean="0"/>
              <a:t>: A </a:t>
            </a:r>
            <a:r>
              <a:rPr lang="en-US" sz="2000" i="1" dirty="0" smtClean="0">
                <a:solidFill>
                  <a:srgbClr val="C00000"/>
                </a:solidFill>
              </a:rPr>
              <a:t>Row Data Gateway</a:t>
            </a:r>
            <a:r>
              <a:rPr lang="en-US" sz="2000" dirty="0" smtClean="0"/>
              <a:t> gives you </a:t>
            </a:r>
            <a:r>
              <a:rPr lang="en-US" sz="2000" u="sng" dirty="0" smtClean="0"/>
              <a:t>objects</a:t>
            </a:r>
            <a:r>
              <a:rPr lang="en-US" sz="2000" dirty="0" smtClean="0"/>
              <a:t> that look </a:t>
            </a:r>
            <a:r>
              <a:rPr lang="en-US" sz="2000" i="1" dirty="0" smtClean="0">
                <a:solidFill>
                  <a:srgbClr val="C00000"/>
                </a:solidFill>
              </a:rPr>
              <a:t>exactly</a:t>
            </a:r>
            <a:r>
              <a:rPr lang="en-US" sz="2000" dirty="0" smtClean="0"/>
              <a:t> like the </a:t>
            </a:r>
            <a:r>
              <a:rPr lang="en-US" sz="2000" u="sng" dirty="0" smtClean="0"/>
              <a:t>record in your record structure</a:t>
            </a:r>
            <a:r>
              <a:rPr lang="en-US" sz="2000" dirty="0" smtClean="0"/>
              <a:t> but can be accessed with the regular mechanisms of your </a:t>
            </a:r>
            <a:r>
              <a:rPr lang="en-US" sz="2000" u="sng" dirty="0" smtClean="0"/>
              <a:t>programming language</a:t>
            </a:r>
            <a:r>
              <a:rPr lang="en-US" sz="2000" dirty="0" smtClean="0"/>
              <a:t>.</a:t>
            </a:r>
          </a:p>
          <a:p>
            <a:r>
              <a:rPr lang="en-US" sz="2000" dirty="0" smtClean="0"/>
              <a:t>All details of data source access are </a:t>
            </a:r>
            <a:r>
              <a:rPr lang="en-US" sz="2000" i="1" dirty="0" smtClean="0">
                <a:solidFill>
                  <a:srgbClr val="C00000"/>
                </a:solidFill>
              </a:rPr>
              <a:t>hidden</a:t>
            </a:r>
            <a:r>
              <a:rPr lang="en-US" sz="2000" dirty="0" smtClean="0"/>
              <a:t> behind this interface.</a:t>
            </a:r>
          </a:p>
        </p:txBody>
      </p:sp>
      <p:pic>
        <p:nvPicPr>
          <p:cNvPr id="2050" name="Picture 2"/>
          <p:cNvPicPr>
            <a:picLocks noChangeAspect="1" noChangeArrowheads="1"/>
          </p:cNvPicPr>
          <p:nvPr/>
        </p:nvPicPr>
        <p:blipFill>
          <a:blip r:embed="rId2" cstate="print"/>
          <a:srcRect/>
          <a:stretch>
            <a:fillRect/>
          </a:stretch>
        </p:blipFill>
        <p:spPr bwMode="auto">
          <a:xfrm>
            <a:off x="914400" y="3514725"/>
            <a:ext cx="1905000" cy="3114675"/>
          </a:xfrm>
          <a:prstGeom prst="rect">
            <a:avLst/>
          </a:prstGeom>
          <a:noFill/>
          <a:ln w="9525">
            <a:noFill/>
            <a:miter lim="800000"/>
            <a:headEnd/>
            <a:tailEnd/>
          </a:ln>
        </p:spPr>
      </p:pic>
      <p:sp>
        <p:nvSpPr>
          <p:cNvPr id="6" name="Oval 5"/>
          <p:cNvSpPr/>
          <p:nvPr/>
        </p:nvSpPr>
        <p:spPr>
          <a:xfrm>
            <a:off x="990600" y="5943600"/>
            <a:ext cx="762000" cy="685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62000" y="3886200"/>
            <a:ext cx="1905000" cy="6858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p:cNvPicPr>
            <a:picLocks noChangeAspect="1" noChangeArrowheads="1"/>
          </p:cNvPicPr>
          <p:nvPr/>
        </p:nvPicPr>
        <p:blipFill>
          <a:blip r:embed="rId3" cstate="print"/>
          <a:srcRect/>
          <a:stretch>
            <a:fillRect/>
          </a:stretch>
        </p:blipFill>
        <p:spPr bwMode="auto">
          <a:xfrm>
            <a:off x="3429000" y="3886200"/>
            <a:ext cx="4762500" cy="2362200"/>
          </a:xfrm>
          <a:prstGeom prst="rect">
            <a:avLst/>
          </a:prstGeom>
          <a:noFill/>
          <a:ln w="9525">
            <a:noFill/>
            <a:miter lim="800000"/>
            <a:headEnd/>
            <a:tailEnd/>
          </a:ln>
        </p:spPr>
      </p:pic>
      <p:sp>
        <p:nvSpPr>
          <p:cNvPr id="12" name="Oval 11"/>
          <p:cNvSpPr/>
          <p:nvPr/>
        </p:nvSpPr>
        <p:spPr>
          <a:xfrm>
            <a:off x="3962400" y="4495800"/>
            <a:ext cx="609600" cy="381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1524000" y="4114800"/>
            <a:ext cx="2590800" cy="3810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 name="Rectangle 10"/>
          <p:cNvSpPr/>
          <p:nvPr/>
        </p:nvSpPr>
        <p:spPr>
          <a:xfrm>
            <a:off x="457200" y="4876800"/>
            <a:ext cx="776944" cy="369332"/>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dirty="0" smtClean="0"/>
              <a:t>A Row</a:t>
            </a:r>
            <a:endParaRPr lang="en-US" dirty="0"/>
          </a:p>
        </p:txBody>
      </p:sp>
      <p:pic>
        <p:nvPicPr>
          <p:cNvPr id="15" name="Picture 2" descr="http://vignette2.wikia.nocookie.net/villains/images/0/04/QuestionMark.png/revision/latest?cb=20080722190045"/>
          <p:cNvPicPr>
            <a:picLocks noChangeAspect="1" noChangeArrowheads="1"/>
          </p:cNvPicPr>
          <p:nvPr/>
        </p:nvPicPr>
        <p:blipFill>
          <a:blip r:embed="rId4" cstate="print"/>
          <a:srcRect/>
          <a:stretch>
            <a:fillRect/>
          </a:stretch>
        </p:blipFill>
        <p:spPr bwMode="auto">
          <a:xfrm>
            <a:off x="5486400" y="3505200"/>
            <a:ext cx="762000" cy="762000"/>
          </a:xfrm>
          <a:prstGeom prst="rect">
            <a:avLst/>
          </a:prstGeom>
          <a:noFill/>
        </p:spPr>
      </p:pic>
      <p:cxnSp>
        <p:nvCxnSpPr>
          <p:cNvPr id="16" name="Straight Arrow Connector 15"/>
          <p:cNvCxnSpPr/>
          <p:nvPr/>
        </p:nvCxnSpPr>
        <p:spPr>
          <a:xfrm flipV="1">
            <a:off x="4191000" y="3886200"/>
            <a:ext cx="1447800" cy="7620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838200" y="5334000"/>
            <a:ext cx="1905000" cy="6858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67000" y="5257800"/>
            <a:ext cx="1447799" cy="923330"/>
          </a:xfrm>
          <a:prstGeom prst="rect">
            <a:avLst/>
          </a:prstGeom>
        </p:spPr>
        <p:txBody>
          <a:bodyPr wrap="square">
            <a:spAutoFit/>
          </a:bodyPr>
          <a:lstStyle/>
          <a:p>
            <a:pPr algn="ctr"/>
            <a:r>
              <a:rPr lang="en-US" dirty="0" smtClean="0">
                <a:solidFill>
                  <a:srgbClr val="C00000"/>
                </a:solidFill>
                <a:latin typeface="+mj-lt"/>
              </a:rPr>
              <a:t>Object representing a row</a:t>
            </a:r>
            <a:endParaRPr lang="en-US" dirty="0">
              <a:solidFill>
                <a:srgbClr val="C00000"/>
              </a:solidFill>
              <a:latin typeface="+mj-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Row Data Gateway Example</a:t>
            </a:r>
            <a:endParaRPr lang="en-US" dirty="0"/>
          </a:p>
        </p:txBody>
      </p:sp>
      <p:sp>
        <p:nvSpPr>
          <p:cNvPr id="3" name="Content Placeholder 2"/>
          <p:cNvSpPr>
            <a:spLocks noGrp="1"/>
          </p:cNvSpPr>
          <p:nvPr>
            <p:ph idx="1"/>
          </p:nvPr>
        </p:nvSpPr>
        <p:spPr>
          <a:xfrm>
            <a:off x="457200" y="14478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a:t>
            </a:r>
            <a:r>
              <a:rPr lang="en-US" sz="2400" dirty="0" smtClean="0">
                <a:latin typeface="Consolas" pitchFamily="49" charset="0"/>
              </a:rPr>
              <a:t> </a:t>
            </a:r>
            <a:r>
              <a:rPr lang="en-US" sz="2400" b="1" i="1" dirty="0" err="1" smtClean="0">
                <a:solidFill>
                  <a:srgbClr val="C00000"/>
                </a:solidFill>
                <a:latin typeface="Consolas" pitchFamily="49" charset="0"/>
              </a:rPr>
              <a:t>BookingModule</a:t>
            </a:r>
            <a:r>
              <a:rPr lang="en-US" sz="2400" dirty="0" smtClean="0"/>
              <a:t> class</a:t>
            </a:r>
          </a:p>
          <a:p>
            <a:pPr lvl="1"/>
            <a:r>
              <a:rPr lang="en-US" sz="2000" dirty="0" smtClean="0"/>
              <a:t>Create </a:t>
            </a:r>
            <a:r>
              <a:rPr lang="en-US" sz="2000" b="1" dirty="0" smtClean="0">
                <a:latin typeface="Consolas" pitchFamily="49" charset="0"/>
              </a:rPr>
              <a:t>Book(</a:t>
            </a:r>
            <a:r>
              <a:rPr lang="en-US" sz="2000" b="1" dirty="0" err="1" smtClean="0">
                <a:latin typeface="Consolas" pitchFamily="49" charset="0"/>
              </a:rPr>
              <a:t>passportNumber</a:t>
            </a:r>
            <a:r>
              <a:rPr lang="en-US" sz="2000" b="1" dirty="0" smtClean="0">
                <a:latin typeface="Consolas" pitchFamily="49" charset="0"/>
              </a:rPr>
              <a:t>, </a:t>
            </a:r>
            <a:r>
              <a:rPr lang="en-US" sz="2000" b="1" dirty="0" err="1" smtClean="0">
                <a:latin typeface="Consolas" pitchFamily="49" charset="0"/>
              </a:rPr>
              <a:t>roomNumber</a:t>
            </a:r>
            <a:r>
              <a:rPr lang="en-US" sz="2000" b="1" dirty="0" smtClean="0">
                <a:latin typeface="Consolas" pitchFamily="49" charset="0"/>
              </a:rPr>
              <a:t>, </a:t>
            </a:r>
            <a:r>
              <a:rPr lang="en-US" sz="2000" b="1" dirty="0" err="1" smtClean="0">
                <a:latin typeface="Consolas" pitchFamily="49" charset="0"/>
              </a:rPr>
              <a:t>fromDate</a:t>
            </a:r>
            <a:r>
              <a:rPr lang="en-US" sz="2000" b="1" dirty="0" smtClean="0">
                <a:latin typeface="Consolas" pitchFamily="49" charset="0"/>
              </a:rPr>
              <a:t>, </a:t>
            </a:r>
            <a:r>
              <a:rPr lang="en-US" sz="2000" b="1" dirty="0" err="1" smtClean="0">
                <a:latin typeface="Consolas" pitchFamily="49" charset="0"/>
              </a:rPr>
              <a:t>toDate</a:t>
            </a:r>
            <a:r>
              <a:rPr lang="en-US" sz="2000" b="1" dirty="0" smtClean="0">
                <a:latin typeface="Consolas" pitchFamily="49" charset="0"/>
              </a:rPr>
              <a:t>, price)</a:t>
            </a:r>
            <a:r>
              <a:rPr lang="en-US" sz="2000" dirty="0" smtClean="0"/>
              <a:t> method.</a:t>
            </a:r>
          </a:p>
          <a:p>
            <a:pPr lvl="1"/>
            <a:r>
              <a:rPr lang="en-US" sz="2000" dirty="0" smtClean="0"/>
              <a:t>Check passport number rule.</a:t>
            </a:r>
          </a:p>
          <a:p>
            <a:pPr lvl="1"/>
            <a:r>
              <a:rPr lang="en-US" sz="2000" dirty="0" smtClean="0"/>
              <a:t>Create </a:t>
            </a:r>
            <a:r>
              <a:rPr lang="en-US" sz="2000" b="1" i="1" dirty="0" err="1" smtClean="0">
                <a:solidFill>
                  <a:srgbClr val="C00000"/>
                </a:solidFill>
                <a:latin typeface="Consolas" pitchFamily="49" charset="0"/>
              </a:rPr>
              <a:t>RoomModule</a:t>
            </a:r>
            <a:r>
              <a:rPr lang="en-US" sz="2000" dirty="0" smtClean="0"/>
              <a:t> class and use it to get available room from the table Rooms (using </a:t>
            </a:r>
            <a:r>
              <a:rPr lang="en-US" sz="2000" dirty="0" err="1" smtClean="0"/>
              <a:t>ReservedUntil</a:t>
            </a:r>
            <a:r>
              <a:rPr lang="en-US" sz="2000" dirty="0" smtClean="0"/>
              <a:t> field).</a:t>
            </a:r>
          </a:p>
          <a:p>
            <a:pPr lvl="1"/>
            <a:r>
              <a:rPr lang="en-US" sz="2000" dirty="0" smtClean="0"/>
              <a:t>Get returned customer from the table Booking (using </a:t>
            </a:r>
            <a:r>
              <a:rPr lang="en-US" sz="2000" dirty="0" err="1" smtClean="0"/>
              <a:t>PassportNumber</a:t>
            </a:r>
            <a:r>
              <a:rPr lang="en-US" sz="2000" dirty="0" smtClean="0"/>
              <a:t> field).</a:t>
            </a:r>
          </a:p>
          <a:p>
            <a:pPr lvl="1"/>
            <a:r>
              <a:rPr lang="en-US" sz="2000" dirty="0" smtClean="0"/>
              <a:t>Calculate price.</a:t>
            </a:r>
          </a:p>
          <a:p>
            <a:pPr lvl="1"/>
            <a:r>
              <a:rPr lang="en-US" sz="2000" dirty="0" smtClean="0"/>
              <a:t>Insert information (passport number, room number, from date, to date, price) into the table Booking.</a:t>
            </a:r>
          </a:p>
          <a:p>
            <a:pPr lvl="1"/>
            <a:r>
              <a:rPr lang="en-US" sz="2000" dirty="0" smtClean="0"/>
              <a:t>Update </a:t>
            </a:r>
            <a:r>
              <a:rPr lang="en-US" sz="2000" dirty="0" err="1" smtClean="0"/>
              <a:t>ReservedUntil</a:t>
            </a:r>
            <a:r>
              <a:rPr lang="en-US" sz="2000" dirty="0" smtClean="0"/>
              <a:t> field of the table Rooms.</a:t>
            </a:r>
          </a:p>
        </p:txBody>
      </p:sp>
      <p:sp>
        <p:nvSpPr>
          <p:cNvPr id="5" name="Rounded Rectangle 4"/>
          <p:cNvSpPr/>
          <p:nvPr/>
        </p:nvSpPr>
        <p:spPr>
          <a:xfrm>
            <a:off x="914400" y="3733800"/>
            <a:ext cx="76962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715000" y="3072825"/>
            <a:ext cx="3214341" cy="584775"/>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1600" b="1" i="1" dirty="0" err="1" smtClean="0">
                <a:solidFill>
                  <a:schemeClr val="bg1"/>
                </a:solidFill>
                <a:latin typeface="Consolas" pitchFamily="49" charset="0"/>
              </a:rPr>
              <a:t>RoomRowGateway</a:t>
            </a:r>
            <a:r>
              <a:rPr lang="en-US" sz="1600" b="1" i="1" dirty="0" smtClean="0">
                <a:solidFill>
                  <a:schemeClr val="bg1"/>
                </a:solidFill>
                <a:latin typeface="Consolas" pitchFamily="49" charset="0"/>
              </a:rPr>
              <a:t> with fields</a:t>
            </a:r>
          </a:p>
          <a:p>
            <a:r>
              <a:rPr lang="en-US" sz="1600" b="1" i="1" dirty="0" smtClean="0">
                <a:solidFill>
                  <a:schemeClr val="bg1"/>
                </a:solidFill>
                <a:latin typeface="Consolas" pitchFamily="49" charset="0"/>
              </a:rPr>
              <a:t>{</a:t>
            </a:r>
            <a:r>
              <a:rPr lang="en-US" sz="1600" b="1" i="1" dirty="0" err="1" smtClean="0">
                <a:solidFill>
                  <a:schemeClr val="bg1"/>
                </a:solidFill>
                <a:latin typeface="Consolas" pitchFamily="49" charset="0"/>
              </a:rPr>
              <a:t>RoomNumber</a:t>
            </a:r>
            <a:r>
              <a:rPr lang="en-US" sz="1600" b="1" i="1" dirty="0" smtClean="0">
                <a:solidFill>
                  <a:schemeClr val="bg1"/>
                </a:solidFill>
                <a:latin typeface="Consolas" pitchFamily="49" charset="0"/>
              </a:rPr>
              <a:t>, </a:t>
            </a:r>
            <a:r>
              <a:rPr lang="en-US" sz="1600" b="1" i="1" dirty="0" err="1" smtClean="0">
                <a:solidFill>
                  <a:schemeClr val="bg1"/>
                </a:solidFill>
                <a:latin typeface="Consolas" pitchFamily="49" charset="0"/>
              </a:rPr>
              <a:t>ReservedUntil</a:t>
            </a:r>
            <a:r>
              <a:rPr lang="en-US" sz="1600" b="1" i="1" dirty="0" smtClean="0">
                <a:solidFill>
                  <a:schemeClr val="bg1"/>
                </a:solidFill>
                <a:latin typeface="Consolas" pitchFamily="49" charset="0"/>
              </a:rPr>
              <a:t>}</a:t>
            </a:r>
            <a:endParaRPr lang="en-US" sz="1600" dirty="0">
              <a:solidFill>
                <a:schemeClr val="bg1"/>
              </a:solidFill>
            </a:endParaRPr>
          </a:p>
        </p:txBody>
      </p:sp>
      <p:sp>
        <p:nvSpPr>
          <p:cNvPr id="7" name="Rectangle 6"/>
          <p:cNvSpPr/>
          <p:nvPr/>
        </p:nvSpPr>
        <p:spPr>
          <a:xfrm>
            <a:off x="5334000" y="1981200"/>
            <a:ext cx="3775393" cy="584775"/>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1600" b="1" i="1" dirty="0" err="1" smtClean="0">
                <a:solidFill>
                  <a:schemeClr val="bg1"/>
                </a:solidFill>
                <a:latin typeface="Consolas" pitchFamily="49" charset="0"/>
              </a:rPr>
              <a:t>BookingRowGateway</a:t>
            </a:r>
            <a:r>
              <a:rPr lang="en-US" sz="1600" b="1" i="1" dirty="0" smtClean="0">
                <a:solidFill>
                  <a:schemeClr val="bg1"/>
                </a:solidFill>
                <a:latin typeface="Consolas" pitchFamily="49" charset="0"/>
              </a:rPr>
              <a:t> (with fields)</a:t>
            </a:r>
          </a:p>
          <a:p>
            <a:r>
              <a:rPr lang="en-US" sz="1600" b="1" i="1" dirty="0" smtClean="0">
                <a:solidFill>
                  <a:schemeClr val="bg1"/>
                </a:solidFill>
                <a:latin typeface="Consolas" pitchFamily="49" charset="0"/>
              </a:rPr>
              <a:t>{</a:t>
            </a:r>
            <a:r>
              <a:rPr lang="en-US" sz="1600" b="1" i="1" dirty="0" err="1" smtClean="0">
                <a:solidFill>
                  <a:schemeClr val="bg1"/>
                </a:solidFill>
                <a:latin typeface="Consolas" pitchFamily="49" charset="0"/>
              </a:rPr>
              <a:t>PassportNumber</a:t>
            </a:r>
            <a:r>
              <a:rPr lang="en-US" sz="1600" b="1" i="1" dirty="0" smtClean="0">
                <a:solidFill>
                  <a:schemeClr val="bg1"/>
                </a:solidFill>
                <a:latin typeface="Consolas" pitchFamily="49" charset="0"/>
              </a:rPr>
              <a:t>, </a:t>
            </a:r>
            <a:r>
              <a:rPr lang="en-US" sz="1600" b="1" i="1" dirty="0" err="1" smtClean="0">
                <a:solidFill>
                  <a:schemeClr val="bg1"/>
                </a:solidFill>
                <a:latin typeface="Consolas" pitchFamily="49" charset="0"/>
              </a:rPr>
              <a:t>RoomNumber</a:t>
            </a:r>
            <a:r>
              <a:rPr lang="en-US" sz="1600" b="1" i="1" dirty="0" smtClean="0">
                <a:solidFill>
                  <a:schemeClr val="bg1"/>
                </a:solidFill>
                <a:latin typeface="Consolas" pitchFamily="49" charset="0"/>
              </a:rPr>
              <a:t>, …}</a:t>
            </a:r>
            <a:endParaRPr lang="en-US" sz="1600" b="1" dirty="0">
              <a:solidFill>
                <a:schemeClr val="bg1"/>
              </a:solidFill>
              <a:latin typeface="Consolas" pitchFamily="49" charset="0"/>
            </a:endParaRPr>
          </a:p>
        </p:txBody>
      </p:sp>
      <p:cxnSp>
        <p:nvCxnSpPr>
          <p:cNvPr id="9" name="Straight Arrow Connector 8"/>
          <p:cNvCxnSpPr/>
          <p:nvPr/>
        </p:nvCxnSpPr>
        <p:spPr>
          <a:xfrm flipV="1">
            <a:off x="3581400" y="2209800"/>
            <a:ext cx="1600200" cy="76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276600" y="3429000"/>
            <a:ext cx="23622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err="1" smtClean="0"/>
              <a:t>Mapper</a:t>
            </a:r>
            <a:endParaRPr lang="en-US" i="1" dirty="0">
              <a:solidFill>
                <a:srgbClr val="C00000"/>
              </a:solidFill>
            </a:endParaRPr>
          </a:p>
        </p:txBody>
      </p:sp>
      <p:sp>
        <p:nvSpPr>
          <p:cNvPr id="3" name="Content Placeholder 2"/>
          <p:cNvSpPr>
            <a:spLocks noGrp="1"/>
          </p:cNvSpPr>
          <p:nvPr>
            <p:ph idx="1"/>
          </p:nvPr>
        </p:nvSpPr>
        <p:spPr>
          <a:xfrm>
            <a:off x="457200" y="1600201"/>
            <a:ext cx="8229600" cy="3810000"/>
          </a:xfrm>
        </p:spPr>
        <p:txBody>
          <a:bodyPr/>
          <a:lstStyle/>
          <a:p>
            <a:r>
              <a:rPr lang="en-US" sz="2200" dirty="0" smtClean="0"/>
              <a:t>☠ </a:t>
            </a:r>
            <a:r>
              <a:rPr lang="en-US" sz="2200" i="1" dirty="0" smtClean="0">
                <a:solidFill>
                  <a:srgbClr val="C00000"/>
                </a:solidFill>
              </a:rPr>
              <a:t>Problem</a:t>
            </a:r>
            <a:r>
              <a:rPr lang="en-US" sz="2200" dirty="0" smtClean="0"/>
              <a:t>: You want the </a:t>
            </a:r>
            <a:r>
              <a:rPr lang="en-US" sz="2200" i="1" dirty="0" smtClean="0">
                <a:solidFill>
                  <a:srgbClr val="C00000"/>
                </a:solidFill>
              </a:rPr>
              <a:t>database schema</a:t>
            </a:r>
            <a:r>
              <a:rPr lang="en-US" sz="2200" dirty="0" smtClean="0"/>
              <a:t> and the </a:t>
            </a:r>
            <a:r>
              <a:rPr lang="en-US" sz="2200" i="1" dirty="0" smtClean="0">
                <a:solidFill>
                  <a:srgbClr val="C00000"/>
                </a:solidFill>
              </a:rPr>
              <a:t>object model</a:t>
            </a:r>
            <a:r>
              <a:rPr lang="en-US" sz="2200" dirty="0" smtClean="0"/>
              <a:t> to evolve </a:t>
            </a:r>
            <a:r>
              <a:rPr lang="en-US" sz="2200" u="sng" dirty="0" smtClean="0"/>
              <a:t>independently</a:t>
            </a:r>
            <a:r>
              <a:rPr lang="en-US" sz="2200" dirty="0" smtClean="0"/>
              <a:t>. Why? – Separation of concerns.</a:t>
            </a:r>
          </a:p>
          <a:p>
            <a:r>
              <a:rPr lang="en-US" sz="2200" dirty="0" smtClean="0"/>
              <a:t>But why separation of concerns – Maintenance.</a:t>
            </a:r>
          </a:p>
          <a:p>
            <a:r>
              <a:rPr lang="en-US" sz="2200" dirty="0" smtClean="0"/>
              <a:t>☞ </a:t>
            </a:r>
            <a:r>
              <a:rPr lang="en-US" sz="2200" i="1" dirty="0" smtClean="0">
                <a:solidFill>
                  <a:srgbClr val="C00000"/>
                </a:solidFill>
              </a:rPr>
              <a:t>Solution</a:t>
            </a:r>
            <a:r>
              <a:rPr lang="en-US" sz="2200" dirty="0" smtClean="0"/>
              <a:t>: The Data </a:t>
            </a:r>
            <a:r>
              <a:rPr lang="en-US" sz="2200" dirty="0" err="1" smtClean="0"/>
              <a:t>Mapper</a:t>
            </a:r>
            <a:r>
              <a:rPr lang="en-US" sz="2200" dirty="0" smtClean="0"/>
              <a:t> is a </a:t>
            </a:r>
            <a:r>
              <a:rPr lang="en-US" sz="2200" i="1" dirty="0" smtClean="0">
                <a:solidFill>
                  <a:srgbClr val="C00000"/>
                </a:solidFill>
              </a:rPr>
              <a:t>layer</a:t>
            </a:r>
            <a:r>
              <a:rPr lang="en-US" sz="2200" dirty="0" smtClean="0"/>
              <a:t> of software that separates the in-memory objects from the database.</a:t>
            </a:r>
          </a:p>
          <a:p>
            <a:r>
              <a:rPr lang="en-US" sz="2200" dirty="0" smtClean="0"/>
              <a:t>Its responsibility is to </a:t>
            </a:r>
            <a:r>
              <a:rPr lang="en-US" sz="2200" i="1" dirty="0" smtClean="0">
                <a:solidFill>
                  <a:srgbClr val="C00000"/>
                </a:solidFill>
              </a:rPr>
              <a:t>transfer data</a:t>
            </a:r>
            <a:r>
              <a:rPr lang="en-US" sz="2200" dirty="0" smtClean="0"/>
              <a:t> </a:t>
            </a:r>
            <a:r>
              <a:rPr lang="en-US" sz="2200" u="sng" dirty="0" smtClean="0"/>
              <a:t>between the two</a:t>
            </a:r>
            <a:r>
              <a:rPr lang="en-US" sz="2200" dirty="0" smtClean="0"/>
              <a:t> and also to </a:t>
            </a:r>
            <a:r>
              <a:rPr lang="en-US" sz="2200" i="1" dirty="0" smtClean="0">
                <a:solidFill>
                  <a:srgbClr val="C00000"/>
                </a:solidFill>
              </a:rPr>
              <a:t>isolate</a:t>
            </a:r>
            <a:r>
              <a:rPr lang="en-US" sz="2200" dirty="0" smtClean="0"/>
              <a:t> them from each other.</a:t>
            </a:r>
          </a:p>
          <a:p>
            <a:r>
              <a:rPr lang="en-US" sz="2200" dirty="0" smtClean="0"/>
              <a:t>With Data </a:t>
            </a:r>
            <a:r>
              <a:rPr lang="en-US" sz="2200" dirty="0" err="1" smtClean="0"/>
              <a:t>Mapper</a:t>
            </a:r>
            <a:r>
              <a:rPr lang="en-US" sz="2200" dirty="0" smtClean="0"/>
              <a:t> the in-memory objects needn't know even that there's a database present; they need </a:t>
            </a:r>
            <a:r>
              <a:rPr lang="en-US" sz="2200" i="1" dirty="0" smtClean="0">
                <a:solidFill>
                  <a:srgbClr val="C00000"/>
                </a:solidFill>
              </a:rPr>
              <a:t>no SQL</a:t>
            </a:r>
            <a:r>
              <a:rPr lang="en-US" sz="2200" dirty="0" smtClean="0"/>
              <a:t> </a:t>
            </a:r>
            <a:r>
              <a:rPr lang="en-US" sz="2200" u="sng" dirty="0" smtClean="0"/>
              <a:t>interface code</a:t>
            </a:r>
            <a:r>
              <a:rPr lang="en-US" sz="2200" dirty="0" smtClean="0"/>
              <a:t>, and certainly no knowledge of the database schema.</a:t>
            </a:r>
          </a:p>
        </p:txBody>
      </p:sp>
      <p:pic>
        <p:nvPicPr>
          <p:cNvPr id="1027" name="Picture 3"/>
          <p:cNvPicPr>
            <a:picLocks noChangeAspect="1" noChangeArrowheads="1"/>
          </p:cNvPicPr>
          <p:nvPr/>
        </p:nvPicPr>
        <p:blipFill>
          <a:blip r:embed="rId2" cstate="print"/>
          <a:srcRect/>
          <a:stretch>
            <a:fillRect/>
          </a:stretch>
        </p:blipFill>
        <p:spPr bwMode="auto">
          <a:xfrm>
            <a:off x="2819400" y="5638800"/>
            <a:ext cx="3175000" cy="990600"/>
          </a:xfrm>
          <a:prstGeom prst="rect">
            <a:avLst/>
          </a:prstGeom>
          <a:noFill/>
          <a:ln w="9525">
            <a:noFill/>
            <a:miter lim="800000"/>
            <a:headEnd/>
            <a:tailEnd/>
          </a:ln>
        </p:spPr>
      </p:pic>
      <p:sp>
        <p:nvSpPr>
          <p:cNvPr id="5" name="Rectangle 4"/>
          <p:cNvSpPr/>
          <p:nvPr/>
        </p:nvSpPr>
        <p:spPr>
          <a:xfrm>
            <a:off x="1225772" y="5802868"/>
            <a:ext cx="1441228" cy="369332"/>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dirty="0" smtClean="0"/>
              <a:t>An Aggregate</a:t>
            </a:r>
            <a:endParaRPr lang="en-US" dirty="0"/>
          </a:p>
        </p:txBody>
      </p:sp>
      <p:sp>
        <p:nvSpPr>
          <p:cNvPr id="6" name="Rectangle 5"/>
          <p:cNvSpPr/>
          <p:nvPr/>
        </p:nvSpPr>
        <p:spPr>
          <a:xfrm>
            <a:off x="3810000" y="5257800"/>
            <a:ext cx="725968" cy="369332"/>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dirty="0" smtClean="0"/>
              <a:t>Client</a:t>
            </a:r>
            <a:endParaRPr lang="en-US" dirty="0"/>
          </a:p>
        </p:txBody>
      </p:sp>
      <p:cxnSp>
        <p:nvCxnSpPr>
          <p:cNvPr id="8" name="Straight Arrow Connector 7"/>
          <p:cNvCxnSpPr/>
          <p:nvPr/>
        </p:nvCxnSpPr>
        <p:spPr>
          <a:xfrm>
            <a:off x="4648200" y="5486400"/>
            <a:ext cx="76200" cy="304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err="1" smtClean="0"/>
              <a:t>Mapper</a:t>
            </a:r>
            <a:r>
              <a:rPr lang="en-US" dirty="0" smtClean="0"/>
              <a:t> Example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1800" dirty="0" smtClean="0"/>
              <a:t>Create table </a:t>
            </a:r>
            <a:r>
              <a:rPr lang="en-US" sz="1800" b="1" i="1" dirty="0" smtClean="0">
                <a:solidFill>
                  <a:srgbClr val="00B050"/>
                </a:solidFill>
                <a:latin typeface="Consolas" pitchFamily="49" charset="0"/>
              </a:rPr>
              <a:t>Booking</a:t>
            </a:r>
            <a:r>
              <a:rPr lang="en-US" sz="1800" dirty="0" smtClean="0"/>
              <a:t> (passport number, room number, from date, to date, price)</a:t>
            </a:r>
          </a:p>
          <a:p>
            <a:r>
              <a:rPr lang="en-US" sz="1800" dirty="0" smtClean="0"/>
              <a:t>Create </a:t>
            </a:r>
            <a:r>
              <a:rPr lang="en-US" sz="1800" b="1" i="1" dirty="0" smtClean="0">
                <a:solidFill>
                  <a:srgbClr val="C00000"/>
                </a:solidFill>
                <a:latin typeface="Consolas" pitchFamily="49" charset="0"/>
              </a:rPr>
              <a:t>Customer</a:t>
            </a:r>
            <a:r>
              <a:rPr lang="en-US" sz="1800" dirty="0" smtClean="0"/>
              <a:t> class with </a:t>
            </a:r>
            <a:r>
              <a:rPr lang="en-US" sz="1800" b="1" dirty="0" err="1" smtClean="0">
                <a:latin typeface="Consolas" pitchFamily="49" charset="0"/>
              </a:rPr>
              <a:t>PassportNumber</a:t>
            </a:r>
            <a:r>
              <a:rPr lang="en-US" sz="1800" dirty="0" smtClean="0">
                <a:latin typeface="+mj-lt"/>
              </a:rPr>
              <a:t> and </a:t>
            </a:r>
            <a:r>
              <a:rPr lang="en-US" sz="1800" b="1" dirty="0" err="1" smtClean="0">
                <a:latin typeface="Consolas" pitchFamily="49" charset="0"/>
              </a:rPr>
              <a:t>IsOldCustomer</a:t>
            </a:r>
            <a:r>
              <a:rPr lang="en-US" sz="1800" dirty="0" smtClean="0"/>
              <a:t> property and use it to check passport number rule.</a:t>
            </a:r>
          </a:p>
          <a:p>
            <a:r>
              <a:rPr lang="en-US" sz="1800" dirty="0" smtClean="0"/>
              <a:t>Create </a:t>
            </a:r>
            <a:r>
              <a:rPr lang="en-US" sz="1800" b="1" i="1" dirty="0" smtClean="0">
                <a:solidFill>
                  <a:srgbClr val="C00000"/>
                </a:solidFill>
                <a:latin typeface="Consolas" pitchFamily="49" charset="0"/>
              </a:rPr>
              <a:t>Room</a:t>
            </a:r>
            <a:r>
              <a:rPr lang="en-US" sz="1800" dirty="0" smtClean="0"/>
              <a:t> class with </a:t>
            </a:r>
            <a:r>
              <a:rPr lang="en-US" sz="1800" b="1" dirty="0" err="1" smtClean="0">
                <a:latin typeface="Consolas" pitchFamily="49" charset="0"/>
              </a:rPr>
              <a:t>RoomNumber</a:t>
            </a:r>
            <a:r>
              <a:rPr lang="en-US" sz="1800" dirty="0" smtClean="0"/>
              <a:t> and </a:t>
            </a:r>
            <a:r>
              <a:rPr lang="en-US" sz="1800" b="1" dirty="0" err="1" smtClean="0">
                <a:latin typeface="Consolas" pitchFamily="49" charset="0"/>
              </a:rPr>
              <a:t>ReservedUntil</a:t>
            </a:r>
            <a:r>
              <a:rPr lang="en-US" sz="1800" dirty="0" smtClean="0"/>
              <a:t> property</a:t>
            </a:r>
            <a:r>
              <a:rPr lang="en-US" sz="1800" i="1" dirty="0" smtClean="0"/>
              <a:t>.</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BookingPrice</a:t>
            </a:r>
            <a:r>
              <a:rPr lang="en-US" sz="1800" dirty="0" smtClean="0"/>
              <a:t> class with </a:t>
            </a:r>
            <a:r>
              <a:rPr lang="en-US" sz="1800" b="1" dirty="0" err="1" smtClean="0">
                <a:latin typeface="Consolas" pitchFamily="49" charset="0"/>
              </a:rPr>
              <a:t>StartDate</a:t>
            </a:r>
            <a:r>
              <a:rPr lang="en-US" sz="1800" dirty="0" smtClean="0"/>
              <a:t>, </a:t>
            </a:r>
            <a:r>
              <a:rPr lang="en-US" sz="1800" b="1" dirty="0" err="1" smtClean="0">
                <a:latin typeface="Consolas" pitchFamily="49" charset="0"/>
              </a:rPr>
              <a:t>EndDate</a:t>
            </a:r>
            <a:r>
              <a:rPr lang="en-US" sz="1800" dirty="0" smtClean="0"/>
              <a:t> and </a:t>
            </a:r>
            <a:r>
              <a:rPr lang="en-US" sz="1800" b="1" dirty="0" smtClean="0">
                <a:latin typeface="Consolas" pitchFamily="49" charset="0"/>
              </a:rPr>
              <a:t>Customer</a:t>
            </a:r>
            <a:r>
              <a:rPr lang="en-US" sz="1800" dirty="0" smtClean="0"/>
              <a:t> properties and </a:t>
            </a:r>
            <a:r>
              <a:rPr lang="en-US" sz="1800" dirty="0" err="1" smtClean="0"/>
              <a:t>GetPrice</a:t>
            </a:r>
            <a:r>
              <a:rPr lang="en-US" sz="1800" dirty="0" smtClean="0"/>
              <a:t> method.</a:t>
            </a:r>
          </a:p>
          <a:p>
            <a:r>
              <a:rPr lang="en-US" sz="1800" dirty="0" smtClean="0"/>
              <a:t>Create </a:t>
            </a:r>
            <a:r>
              <a:rPr lang="en-US" sz="1800" b="1" i="1" dirty="0" smtClean="0">
                <a:solidFill>
                  <a:srgbClr val="C00000"/>
                </a:solidFill>
                <a:latin typeface="Consolas" pitchFamily="49" charset="0"/>
              </a:rPr>
              <a:t>Booking</a:t>
            </a:r>
            <a:r>
              <a:rPr lang="en-US" sz="1800" dirty="0" smtClean="0"/>
              <a:t> class with </a:t>
            </a:r>
            <a:r>
              <a:rPr lang="en-US" sz="1800" b="1" i="1" dirty="0" smtClean="0">
                <a:solidFill>
                  <a:srgbClr val="C00000"/>
                </a:solidFill>
                <a:latin typeface="Consolas" pitchFamily="49" charset="0"/>
              </a:rPr>
              <a:t>Customer</a:t>
            </a:r>
            <a:r>
              <a:rPr lang="en-US" sz="1800" dirty="0" smtClean="0"/>
              <a:t>, </a:t>
            </a:r>
            <a:r>
              <a:rPr lang="en-US" sz="1800" b="1" i="1" dirty="0" smtClean="0">
                <a:solidFill>
                  <a:srgbClr val="C00000"/>
                </a:solidFill>
                <a:latin typeface="Consolas" pitchFamily="49" charset="0"/>
              </a:rPr>
              <a:t>Room</a:t>
            </a:r>
            <a:r>
              <a:rPr lang="en-US" sz="1800" dirty="0" smtClean="0"/>
              <a:t> and </a:t>
            </a:r>
            <a:r>
              <a:rPr lang="en-US" sz="1800" b="1" i="1" dirty="0" err="1" smtClean="0">
                <a:solidFill>
                  <a:srgbClr val="C00000"/>
                </a:solidFill>
                <a:latin typeface="Consolas" pitchFamily="49" charset="0"/>
              </a:rPr>
              <a:t>BookingPrice</a:t>
            </a:r>
            <a:r>
              <a:rPr lang="en-US" sz="1800" i="1" dirty="0" smtClean="0"/>
              <a:t> </a:t>
            </a:r>
            <a:r>
              <a:rPr lang="en-US" sz="1800" dirty="0" smtClean="0"/>
              <a:t>properties.</a:t>
            </a:r>
          </a:p>
          <a:p>
            <a:r>
              <a:rPr lang="en-US" sz="1800" dirty="0" smtClean="0"/>
              <a:t>Create </a:t>
            </a:r>
            <a:r>
              <a:rPr lang="en-US" sz="1800" b="1" i="1" dirty="0" err="1" smtClean="0">
                <a:solidFill>
                  <a:srgbClr val="C00000"/>
                </a:solidFill>
                <a:latin typeface="Consolas" pitchFamily="49" charset="0"/>
              </a:rPr>
              <a:t>BookingMapper</a:t>
            </a:r>
            <a:r>
              <a:rPr lang="en-US" sz="1800" b="1" i="1" dirty="0" smtClean="0">
                <a:solidFill>
                  <a:srgbClr val="C00000"/>
                </a:solidFill>
              </a:rPr>
              <a:t> </a:t>
            </a:r>
            <a:r>
              <a:rPr lang="en-US" sz="1800" dirty="0" smtClean="0"/>
              <a:t>class with </a:t>
            </a:r>
            <a:r>
              <a:rPr lang="en-US" sz="1800" b="1" dirty="0" smtClean="0">
                <a:latin typeface="Consolas" pitchFamily="49" charset="0"/>
              </a:rPr>
              <a:t>Booking Book(Booking input)</a:t>
            </a:r>
            <a:r>
              <a:rPr lang="en-US" sz="1800" dirty="0" smtClean="0"/>
              <a:t> method.</a:t>
            </a:r>
          </a:p>
          <a:p>
            <a:pPr lvl="2"/>
            <a:r>
              <a:rPr lang="en-US" sz="1700" dirty="0" smtClean="0"/>
              <a:t>Set </a:t>
            </a:r>
            <a:r>
              <a:rPr lang="en-US" sz="1700" b="1" dirty="0" err="1" smtClean="0">
                <a:latin typeface="Consolas" pitchFamily="49" charset="0"/>
              </a:rPr>
              <a:t>IsOldCustomer</a:t>
            </a:r>
            <a:r>
              <a:rPr lang="en-US" sz="1700" dirty="0" smtClean="0"/>
              <a:t> property for the Customer instance of the Booking instance.</a:t>
            </a:r>
          </a:p>
          <a:p>
            <a:pPr lvl="2"/>
            <a:r>
              <a:rPr lang="en-US" sz="1700" dirty="0" smtClean="0"/>
              <a:t>Set </a:t>
            </a:r>
            <a:r>
              <a:rPr lang="en-US" sz="1700" b="1" dirty="0" err="1" smtClean="0">
                <a:latin typeface="Consolas" pitchFamily="49" charset="0"/>
              </a:rPr>
              <a:t>RoomNumber</a:t>
            </a:r>
            <a:r>
              <a:rPr lang="en-US" sz="1700" dirty="0" smtClean="0"/>
              <a:t> property for the Room instance of the Booking instance.</a:t>
            </a:r>
          </a:p>
          <a:p>
            <a:pPr lvl="2"/>
            <a:r>
              <a:rPr lang="en-US" sz="1700" dirty="0" smtClean="0"/>
              <a:t>Call </a:t>
            </a:r>
            <a:r>
              <a:rPr lang="en-US" sz="1700" b="1" dirty="0" err="1" smtClean="0"/>
              <a:t>GetPrice</a:t>
            </a:r>
            <a:r>
              <a:rPr lang="en-US" sz="1700" dirty="0" smtClean="0"/>
              <a:t> method of </a:t>
            </a:r>
            <a:r>
              <a:rPr lang="en-US" sz="1700" dirty="0" err="1" smtClean="0"/>
              <a:t>BookingPrice</a:t>
            </a:r>
            <a:r>
              <a:rPr lang="en-US" sz="1700" dirty="0" smtClean="0"/>
              <a:t> instance of the Booking instance.</a:t>
            </a:r>
          </a:p>
          <a:p>
            <a:pPr lvl="2"/>
            <a:r>
              <a:rPr lang="en-US" sz="1700" dirty="0" smtClean="0"/>
              <a:t>Insert information (passport number, room number, from date, to date, price) into the table Booking (the </a:t>
            </a:r>
            <a:r>
              <a:rPr lang="en-US" sz="1700" dirty="0" err="1" smtClean="0"/>
              <a:t>BookingMapper’s</a:t>
            </a:r>
            <a:r>
              <a:rPr lang="en-US" sz="1700" dirty="0" smtClean="0"/>
              <a:t> responsibility).</a:t>
            </a:r>
          </a:p>
          <a:p>
            <a:pPr lvl="2"/>
            <a:r>
              <a:rPr lang="en-US" sz="1700" dirty="0" smtClean="0"/>
              <a:t>Update </a:t>
            </a:r>
            <a:r>
              <a:rPr lang="en-US" sz="1700" b="1" dirty="0" err="1" smtClean="0">
                <a:latin typeface="Consolas" pitchFamily="49" charset="0"/>
              </a:rPr>
              <a:t>ReservedUntil</a:t>
            </a:r>
            <a:r>
              <a:rPr lang="en-US" sz="1700" dirty="0" smtClean="0"/>
              <a:t> field of the table Rooms (the </a:t>
            </a:r>
            <a:r>
              <a:rPr lang="en-US" sz="1700" dirty="0" err="1" smtClean="0"/>
              <a:t>BookingMapper’s</a:t>
            </a:r>
            <a:r>
              <a:rPr lang="en-US" sz="1700" dirty="0" smtClean="0"/>
              <a:t> responsibility).</a:t>
            </a:r>
          </a:p>
        </p:txBody>
      </p:sp>
      <p:sp>
        <p:nvSpPr>
          <p:cNvPr id="7" name="Rectangle 6"/>
          <p:cNvSpPr/>
          <p:nvPr/>
        </p:nvSpPr>
        <p:spPr>
          <a:xfrm>
            <a:off x="1143000" y="1143000"/>
            <a:ext cx="3139001"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err="1" smtClean="0">
                <a:solidFill>
                  <a:schemeClr val="bg1"/>
                </a:solidFill>
                <a:latin typeface="Consolas" pitchFamily="49" charset="0"/>
              </a:rPr>
              <a:t>BookingTableGateway</a:t>
            </a:r>
            <a:endParaRPr lang="en-US" sz="2200" dirty="0">
              <a:solidFill>
                <a:schemeClr val="bg1"/>
              </a:solidFill>
            </a:endParaRPr>
          </a:p>
        </p:txBody>
      </p:sp>
      <p:sp>
        <p:nvSpPr>
          <p:cNvPr id="11" name="Rectangle 10"/>
          <p:cNvSpPr/>
          <p:nvPr/>
        </p:nvSpPr>
        <p:spPr>
          <a:xfrm>
            <a:off x="5791200" y="1143000"/>
            <a:ext cx="2733271" cy="43088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2200" b="1" i="1" dirty="0" err="1" smtClean="0">
                <a:solidFill>
                  <a:schemeClr val="bg1"/>
                </a:solidFill>
                <a:latin typeface="Consolas" pitchFamily="49" charset="0"/>
              </a:rPr>
              <a:t>RoomTableGateway</a:t>
            </a:r>
            <a:endParaRPr lang="en-US" sz="2200" dirty="0">
              <a:solidFill>
                <a:schemeClr val="bg1"/>
              </a:solidFill>
            </a:endParaRPr>
          </a:p>
        </p:txBody>
      </p:sp>
      <p:cxnSp>
        <p:nvCxnSpPr>
          <p:cNvPr id="12" name="Straight Arrow Connector 11"/>
          <p:cNvCxnSpPr/>
          <p:nvPr/>
        </p:nvCxnSpPr>
        <p:spPr>
          <a:xfrm flipV="1">
            <a:off x="2133600" y="1524000"/>
            <a:ext cx="381000" cy="229235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2667000" y="1600200"/>
            <a:ext cx="4114800" cy="2209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25132" y="4419600"/>
            <a:ext cx="1146468" cy="52322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400" b="1" i="1" dirty="0" smtClean="0">
                <a:solidFill>
                  <a:schemeClr val="bg1"/>
                </a:solidFill>
                <a:latin typeface="Consolas" pitchFamily="49" charset="0"/>
              </a:rPr>
              <a:t>Getting Data</a:t>
            </a:r>
            <a:endParaRPr lang="en-US" sz="1400" dirty="0">
              <a:solidFill>
                <a:schemeClr val="bg1"/>
              </a:solidFill>
            </a:endParaRPr>
          </a:p>
        </p:txBody>
      </p:sp>
      <p:sp>
        <p:nvSpPr>
          <p:cNvPr id="9" name="Rectangle 8"/>
          <p:cNvSpPr/>
          <p:nvPr/>
        </p:nvSpPr>
        <p:spPr>
          <a:xfrm>
            <a:off x="225132" y="4980057"/>
            <a:ext cx="1146468" cy="52322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400" b="1" i="1" dirty="0" smtClean="0">
                <a:solidFill>
                  <a:schemeClr val="bg1"/>
                </a:solidFill>
                <a:latin typeface="Consolas" pitchFamily="49" charset="0"/>
              </a:rPr>
              <a:t>Business Rules</a:t>
            </a:r>
            <a:endParaRPr lang="en-US" sz="1400" dirty="0">
              <a:solidFill>
                <a:schemeClr val="bg1"/>
              </a:solidFill>
            </a:endParaRPr>
          </a:p>
        </p:txBody>
      </p:sp>
      <p:sp>
        <p:nvSpPr>
          <p:cNvPr id="10" name="Rectangle 9"/>
          <p:cNvSpPr/>
          <p:nvPr/>
        </p:nvSpPr>
        <p:spPr>
          <a:xfrm>
            <a:off x="228600" y="5562600"/>
            <a:ext cx="1143000" cy="52322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400" b="1" i="1" dirty="0" smtClean="0">
                <a:solidFill>
                  <a:schemeClr val="bg1"/>
                </a:solidFill>
                <a:latin typeface="Consolas" pitchFamily="49" charset="0"/>
              </a:rPr>
              <a:t>Saving Data</a:t>
            </a:r>
            <a:endParaRPr lang="en-US" sz="1400" dirty="0">
              <a:solidFill>
                <a:schemeClr val="bg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err="1" smtClean="0"/>
              <a:t>Mapper</a:t>
            </a:r>
            <a:r>
              <a:rPr lang="en-US" dirty="0" smtClean="0"/>
              <a:t> and TDG</a:t>
            </a:r>
            <a:endParaRPr lang="en-US" dirty="0"/>
          </a:p>
        </p:txBody>
      </p:sp>
      <p:sp>
        <p:nvSpPr>
          <p:cNvPr id="3" name="Content Placeholder 2"/>
          <p:cNvSpPr>
            <a:spLocks noGrp="1"/>
          </p:cNvSpPr>
          <p:nvPr>
            <p:ph idx="1"/>
          </p:nvPr>
        </p:nvSpPr>
        <p:spPr/>
        <p:txBody>
          <a:bodyPr/>
          <a:lstStyle/>
          <a:p>
            <a:r>
              <a:rPr lang="en-US" sz="2400" dirty="0" smtClean="0"/>
              <a:t>A </a:t>
            </a:r>
            <a:r>
              <a:rPr lang="en-US" sz="2400" u="sng" dirty="0" smtClean="0"/>
              <a:t>simple</a:t>
            </a:r>
            <a:r>
              <a:rPr lang="en-US" sz="2400" dirty="0" smtClean="0"/>
              <a:t> Data </a:t>
            </a:r>
            <a:r>
              <a:rPr lang="en-US" sz="2400" dirty="0" err="1" smtClean="0"/>
              <a:t>Mapper</a:t>
            </a:r>
            <a:r>
              <a:rPr lang="en-US" sz="2400" dirty="0" smtClean="0"/>
              <a:t> would just map a database </a:t>
            </a:r>
            <a:r>
              <a:rPr lang="en-US" sz="2400" i="1" dirty="0" smtClean="0">
                <a:solidFill>
                  <a:srgbClr val="C00000"/>
                </a:solidFill>
              </a:rPr>
              <a:t>table</a:t>
            </a:r>
            <a:r>
              <a:rPr lang="en-US" sz="2400" dirty="0" smtClean="0"/>
              <a:t> to an equivalent in-memory </a:t>
            </a:r>
            <a:r>
              <a:rPr lang="en-US" sz="2400" i="1" dirty="0" smtClean="0">
                <a:solidFill>
                  <a:srgbClr val="C00000"/>
                </a:solidFill>
              </a:rPr>
              <a:t>class</a:t>
            </a:r>
            <a:r>
              <a:rPr lang="en-US" sz="2400" dirty="0" smtClean="0"/>
              <a:t> on a field-to-field basis.</a:t>
            </a:r>
          </a:p>
          <a:p>
            <a:pPr>
              <a:buNone/>
            </a:pPr>
            <a:r>
              <a:rPr lang="en-US" sz="2400" dirty="0" smtClean="0"/>
              <a:t>➾	</a:t>
            </a:r>
            <a:r>
              <a:rPr lang="en-US" sz="2400" b="1" dirty="0" smtClean="0"/>
              <a:t>Data </a:t>
            </a:r>
            <a:r>
              <a:rPr lang="en-US" sz="2400" b="1" dirty="0" err="1" smtClean="0"/>
              <a:t>Mapper</a:t>
            </a:r>
            <a:r>
              <a:rPr lang="en-US" sz="2400" b="1" dirty="0" smtClean="0"/>
              <a:t> is the same as Table Data Gateway.</a:t>
            </a:r>
          </a:p>
          <a:p>
            <a:r>
              <a:rPr lang="en-US" sz="2400" dirty="0" err="1" smtClean="0"/>
              <a:t>Mappers</a:t>
            </a:r>
            <a:r>
              <a:rPr lang="en-US" sz="2400" dirty="0" smtClean="0"/>
              <a:t> need a variety of strategies to </a:t>
            </a:r>
            <a:r>
              <a:rPr lang="en-US" sz="2400" i="1" dirty="0" smtClean="0">
                <a:solidFill>
                  <a:srgbClr val="C00000"/>
                </a:solidFill>
              </a:rPr>
              <a:t>handle classes</a:t>
            </a:r>
            <a:r>
              <a:rPr lang="en-US" sz="2400" dirty="0" smtClean="0"/>
              <a:t> that turn into </a:t>
            </a:r>
            <a:r>
              <a:rPr lang="en-US" sz="2400" u="sng" dirty="0" smtClean="0"/>
              <a:t>multiple fields</a:t>
            </a:r>
            <a:r>
              <a:rPr lang="en-US" sz="2400" dirty="0" smtClean="0"/>
              <a:t>, classes that have </a:t>
            </a:r>
            <a:r>
              <a:rPr lang="en-US" sz="2400" u="sng" dirty="0" smtClean="0"/>
              <a:t>multiple tables</a:t>
            </a:r>
            <a:r>
              <a:rPr lang="en-US" sz="2400" dirty="0" smtClean="0"/>
              <a:t>, classes with </a:t>
            </a:r>
            <a:r>
              <a:rPr lang="en-US" sz="2400" u="sng" dirty="0" smtClean="0"/>
              <a:t>inheritance</a:t>
            </a:r>
            <a:r>
              <a:rPr lang="en-US" sz="2400" dirty="0" smtClean="0"/>
              <a:t>, and the joys of </a:t>
            </a:r>
            <a:r>
              <a:rPr lang="en-US" sz="2400" u="sng" dirty="0" smtClean="0"/>
              <a:t>connecting together objects</a:t>
            </a:r>
            <a:r>
              <a:rPr lang="en-US" sz="2400" dirty="0" smtClean="0"/>
              <a:t> once they've been sorted out.</a:t>
            </a:r>
          </a:p>
          <a:p>
            <a:pPr>
              <a:buNone/>
            </a:pPr>
            <a:r>
              <a:rPr lang="en-US" sz="2400" dirty="0" smtClean="0"/>
              <a:t>➾	</a:t>
            </a:r>
            <a:r>
              <a:rPr lang="en-US" sz="2400" b="1" dirty="0" smtClean="0"/>
              <a:t>One Data </a:t>
            </a:r>
            <a:r>
              <a:rPr lang="en-US" sz="2400" b="1" dirty="0" err="1" smtClean="0"/>
              <a:t>Mapper</a:t>
            </a:r>
            <a:r>
              <a:rPr lang="en-US" sz="2400" b="1" dirty="0" smtClean="0"/>
              <a:t> may be built on top of several Table Data Gateways.</a:t>
            </a:r>
          </a:p>
          <a:p>
            <a:r>
              <a:rPr lang="en-US" sz="2400" dirty="0" smtClean="0"/>
              <a:t>A Table Module often works with a Table Data Gateway.</a:t>
            </a:r>
          </a:p>
          <a:p>
            <a:r>
              <a:rPr lang="en-US" sz="2400" dirty="0" smtClean="0"/>
              <a:t>A Domain Model often works with Data </a:t>
            </a:r>
            <a:r>
              <a:rPr lang="en-US" sz="2400" dirty="0" err="1" smtClean="0"/>
              <a:t>Mappers</a:t>
            </a:r>
            <a:r>
              <a:rPr lang="en-US" sz="2400" dirty="0" smtClean="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err="1" smtClean="0"/>
              <a:t>Mapper</a:t>
            </a:r>
            <a:r>
              <a:rPr lang="en-US" dirty="0" smtClean="0"/>
              <a:t> Pros and Cons</a:t>
            </a:r>
            <a:endParaRPr lang="en-US" dirty="0"/>
          </a:p>
        </p:txBody>
      </p:sp>
      <p:sp>
        <p:nvSpPr>
          <p:cNvPr id="3" name="Content Placeholder 2"/>
          <p:cNvSpPr>
            <a:spLocks noGrp="1"/>
          </p:cNvSpPr>
          <p:nvPr>
            <p:ph idx="1"/>
          </p:nvPr>
        </p:nvSpPr>
        <p:spPr>
          <a:xfrm>
            <a:off x="457200" y="1600200"/>
            <a:ext cx="8229600" cy="2438399"/>
          </a:xfrm>
        </p:spPr>
        <p:txBody>
          <a:bodyPr/>
          <a:lstStyle/>
          <a:p>
            <a:r>
              <a:rPr lang="en-US" sz="2400" dirty="0" smtClean="0"/>
              <a:t>Separation of concerns ➾ better maintenance</a:t>
            </a:r>
          </a:p>
          <a:p>
            <a:r>
              <a:rPr lang="en-US" sz="2400" dirty="0" smtClean="0"/>
              <a:t>The </a:t>
            </a:r>
            <a:r>
              <a:rPr lang="en-US" sz="2400" u="sng" dirty="0" smtClean="0"/>
              <a:t>whole layer</a:t>
            </a:r>
            <a:r>
              <a:rPr lang="en-US" sz="2400" dirty="0" smtClean="0"/>
              <a:t> of Data </a:t>
            </a:r>
            <a:r>
              <a:rPr lang="en-US" sz="2400" dirty="0" err="1" smtClean="0"/>
              <a:t>Mapper</a:t>
            </a:r>
            <a:r>
              <a:rPr lang="en-US" sz="2400" dirty="0" smtClean="0"/>
              <a:t> can be substituted, either for testing purposes or to allow a </a:t>
            </a:r>
            <a:r>
              <a:rPr lang="en-US" sz="2400" u="sng" dirty="0" smtClean="0"/>
              <a:t>single domain layer</a:t>
            </a:r>
            <a:r>
              <a:rPr lang="en-US" sz="2400" dirty="0" smtClean="0"/>
              <a:t> to work with </a:t>
            </a:r>
            <a:r>
              <a:rPr lang="en-US" sz="2400" i="1" dirty="0" smtClean="0">
                <a:solidFill>
                  <a:srgbClr val="C00000"/>
                </a:solidFill>
              </a:rPr>
              <a:t>different</a:t>
            </a:r>
            <a:r>
              <a:rPr lang="en-US" sz="2400" dirty="0" smtClean="0"/>
              <a:t> databases.</a:t>
            </a:r>
          </a:p>
          <a:p>
            <a:r>
              <a:rPr lang="en-US" sz="2400" dirty="0" smtClean="0"/>
              <a:t>It's a </a:t>
            </a:r>
            <a:r>
              <a:rPr lang="en-US" sz="2400" i="1" dirty="0" smtClean="0">
                <a:solidFill>
                  <a:srgbClr val="C00000"/>
                </a:solidFill>
              </a:rPr>
              <a:t>complicated</a:t>
            </a:r>
            <a:r>
              <a:rPr lang="en-US" sz="2400" dirty="0" smtClean="0"/>
              <a:t> beast to build, and there are </a:t>
            </a:r>
            <a:r>
              <a:rPr lang="en-US" sz="2400" u="sng" dirty="0" smtClean="0"/>
              <a:t>products available</a:t>
            </a:r>
            <a:r>
              <a:rPr lang="en-US" sz="2400" dirty="0" smtClean="0"/>
              <a:t> that do this for you.</a:t>
            </a:r>
            <a:endParaRPr lang="en-US" sz="2400" dirty="0"/>
          </a:p>
        </p:txBody>
      </p:sp>
      <p:pic>
        <p:nvPicPr>
          <p:cNvPr id="3076" name="Picture 4"/>
          <p:cNvPicPr>
            <a:picLocks noChangeAspect="1" noChangeArrowheads="1"/>
          </p:cNvPicPr>
          <p:nvPr/>
        </p:nvPicPr>
        <p:blipFill>
          <a:blip r:embed="rId3" cstate="print"/>
          <a:srcRect/>
          <a:stretch>
            <a:fillRect/>
          </a:stretch>
        </p:blipFill>
        <p:spPr bwMode="auto">
          <a:xfrm>
            <a:off x="2776538" y="4495800"/>
            <a:ext cx="3590925" cy="160020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3"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Registry (Service </a:t>
            </a:r>
            <a:r>
              <a:rPr lang="en-US" dirty="0" smtClean="0"/>
              <a:t>Locator)</a:t>
            </a:r>
            <a:endParaRPr lang="en-US" dirty="0"/>
          </a:p>
        </p:txBody>
      </p:sp>
      <p:sp>
        <p:nvSpPr>
          <p:cNvPr id="3" name="Content Placeholder 2"/>
          <p:cNvSpPr>
            <a:spLocks noGrp="1"/>
          </p:cNvSpPr>
          <p:nvPr>
            <p:ph idx="1"/>
          </p:nvPr>
        </p:nvSpPr>
        <p:spPr>
          <a:xfrm>
            <a:off x="457200" y="1447800"/>
            <a:ext cx="8229600" cy="4876800"/>
          </a:xfrm>
        </p:spPr>
        <p:txBody>
          <a:bodyPr/>
          <a:lstStyle/>
          <a:p>
            <a:r>
              <a:rPr lang="en-US" sz="2400" dirty="0" smtClean="0"/>
              <a:t>☠ </a:t>
            </a:r>
            <a:r>
              <a:rPr lang="en-US" sz="2400" i="1" dirty="0" smtClean="0">
                <a:solidFill>
                  <a:srgbClr val="C00000"/>
                </a:solidFill>
              </a:rPr>
              <a:t>Problem</a:t>
            </a:r>
            <a:r>
              <a:rPr lang="en-US" sz="2400" dirty="0" smtClean="0"/>
              <a:t>: You may know the customer's ID number but not have a reference. In this case you need some kind of lookup method—a finder—but the question remains: How do you get to the finder?</a:t>
            </a:r>
          </a:p>
          <a:p>
            <a:r>
              <a:rPr lang="en-US" sz="2400" dirty="0" smtClean="0"/>
              <a:t>☞ </a:t>
            </a:r>
            <a:r>
              <a:rPr lang="en-US" sz="2400" i="1" dirty="0" smtClean="0">
                <a:solidFill>
                  <a:srgbClr val="C00000"/>
                </a:solidFill>
              </a:rPr>
              <a:t>Solution</a:t>
            </a:r>
            <a:r>
              <a:rPr lang="en-US" sz="2400" dirty="0" smtClean="0"/>
              <a:t>: A </a:t>
            </a:r>
            <a:r>
              <a:rPr lang="en-US" sz="2400" i="1" dirty="0" smtClean="0">
                <a:solidFill>
                  <a:srgbClr val="C00000"/>
                </a:solidFill>
              </a:rPr>
              <a:t>Registry</a:t>
            </a:r>
            <a:r>
              <a:rPr lang="en-US" sz="2400" dirty="0" smtClean="0"/>
              <a:t> is a well-known object that other objects can use to </a:t>
            </a:r>
            <a:r>
              <a:rPr lang="en-US" sz="2400" u="sng" dirty="0" smtClean="0"/>
              <a:t>find common objects</a:t>
            </a:r>
            <a:r>
              <a:rPr lang="en-US" sz="2400" dirty="0" smtClean="0"/>
              <a:t> and </a:t>
            </a:r>
            <a:r>
              <a:rPr lang="en-US" sz="2400" u="sng" dirty="0" smtClean="0"/>
              <a:t>services</a:t>
            </a:r>
            <a:r>
              <a:rPr lang="en-US" sz="2400" dirty="0" smtClean="0"/>
              <a:t>.</a:t>
            </a:r>
          </a:p>
          <a:p>
            <a:r>
              <a:rPr lang="en-US" sz="2400" dirty="0" smtClean="0"/>
              <a:t>Implementation </a:t>
            </a:r>
            <a:r>
              <a:rPr lang="en-US" sz="2400" dirty="0" smtClean="0"/>
              <a:t>notes:</a:t>
            </a:r>
          </a:p>
          <a:p>
            <a:pPr lvl="1"/>
            <a:r>
              <a:rPr lang="en-US" sz="2000" dirty="0" smtClean="0"/>
              <a:t>Singleton pattern</a:t>
            </a:r>
          </a:p>
          <a:p>
            <a:pPr lvl="1"/>
            <a:r>
              <a:rPr lang="en-US" sz="2000" dirty="0" smtClean="0"/>
              <a:t>Thread safety</a:t>
            </a:r>
          </a:p>
          <a:p>
            <a:pPr lvl="1"/>
            <a:r>
              <a:rPr lang="en-US" sz="2000" dirty="0" smtClean="0"/>
              <a:t>Static </a:t>
            </a:r>
            <a:r>
              <a:rPr lang="en-US" sz="2000" dirty="0" smtClean="0"/>
              <a:t>methods</a:t>
            </a:r>
          </a:p>
          <a:p>
            <a:pPr lvl="1"/>
            <a:r>
              <a:rPr lang="en-US" sz="2000" dirty="0" smtClean="0"/>
              <a:t>Supporting unit tests</a:t>
            </a:r>
          </a:p>
          <a:p>
            <a:pPr lvl="1"/>
            <a:r>
              <a:rPr lang="en-US" sz="2000" dirty="0" smtClean="0"/>
              <a:t>Key/value </a:t>
            </a:r>
            <a:r>
              <a:rPr lang="en-US" sz="2000" dirty="0" smtClean="0"/>
              <a:t>search and caching</a:t>
            </a:r>
          </a:p>
        </p:txBody>
      </p:sp>
      <p:pic>
        <p:nvPicPr>
          <p:cNvPr id="35842" name="Picture 2" descr="https://i-msdn.sec.s-msft.com/dynimg/IC340135.png"/>
          <p:cNvPicPr>
            <a:picLocks noChangeAspect="1" noChangeArrowheads="1"/>
          </p:cNvPicPr>
          <p:nvPr/>
        </p:nvPicPr>
        <p:blipFill>
          <a:blip r:embed="rId2" cstate="print"/>
          <a:srcRect/>
          <a:stretch>
            <a:fillRect/>
          </a:stretch>
        </p:blipFill>
        <p:spPr bwMode="auto">
          <a:xfrm>
            <a:off x="4829175" y="4038600"/>
            <a:ext cx="3705225" cy="1981201"/>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Example (I)</a:t>
            </a:r>
            <a:endParaRPr lang="en-US" dirty="0"/>
          </a:p>
        </p:txBody>
      </p:sp>
      <p:sp>
        <p:nvSpPr>
          <p:cNvPr id="6" name="Rectangle 5"/>
          <p:cNvSpPr/>
          <p:nvPr/>
        </p:nvSpPr>
        <p:spPr>
          <a:xfrm>
            <a:off x="457200" y="1828800"/>
            <a:ext cx="8229600" cy="418576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dirty="0" smtClean="0">
                <a:solidFill>
                  <a:srgbClr val="000000"/>
                </a:solidFill>
                <a:latin typeface="Cascadia Mono"/>
              </a:rPr>
              <a:t> </a:t>
            </a:r>
            <a:r>
              <a:rPr lang="en-US" sz="1400" dirty="0" smtClean="0">
                <a:solidFill>
                  <a:srgbClr val="0000FF"/>
                </a:solidFill>
                <a:latin typeface="Cascadia Mono"/>
              </a:rPr>
              <a:t>public</a:t>
            </a:r>
            <a:r>
              <a:rPr lang="en-US" sz="1400" dirty="0" smtClean="0">
                <a:solidFill>
                  <a:srgbClr val="000000"/>
                </a:solidFill>
                <a:latin typeface="Cascadia Mono"/>
              </a:rPr>
              <a:t> </a:t>
            </a:r>
            <a:r>
              <a:rPr lang="en-US" sz="1400" dirty="0" smtClean="0">
                <a:solidFill>
                  <a:srgbClr val="0000FF"/>
                </a:solidFill>
                <a:latin typeface="Cascadia Mono"/>
              </a:rPr>
              <a:t>class</a:t>
            </a:r>
            <a:r>
              <a:rPr lang="en-US" sz="1400" dirty="0" smtClean="0">
                <a:solidFill>
                  <a:srgbClr val="000000"/>
                </a:solidFill>
                <a:latin typeface="Cascadia Mono"/>
              </a:rPr>
              <a:t> </a:t>
            </a:r>
            <a:r>
              <a:rPr lang="en-US" sz="1400" dirty="0" err="1" smtClean="0">
                <a:solidFill>
                  <a:srgbClr val="2B91AF"/>
                </a:solidFill>
                <a:latin typeface="Cascadia Mono"/>
              </a:rPr>
              <a:t>ServiceRegistry</a:t>
            </a:r>
            <a:endParaRPr lang="en-US" sz="1400" dirty="0" smtClean="0">
              <a:solidFill>
                <a:srgbClr val="000000"/>
              </a:solidFill>
              <a:latin typeface="Cascadia Mono"/>
            </a:endParaRP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public</a:t>
            </a:r>
            <a:r>
              <a:rPr lang="en-US" sz="1400" dirty="0" smtClean="0">
                <a:solidFill>
                  <a:srgbClr val="000000"/>
                </a:solidFill>
                <a:latin typeface="Cascadia Mono"/>
              </a:rPr>
              <a:t> </a:t>
            </a:r>
            <a:r>
              <a:rPr lang="en-US" sz="1400" dirty="0" smtClean="0">
                <a:solidFill>
                  <a:srgbClr val="0000FF"/>
                </a:solidFill>
                <a:latin typeface="Cascadia Mono"/>
              </a:rPr>
              <a:t>static</a:t>
            </a:r>
            <a:r>
              <a:rPr lang="en-US" sz="1400" dirty="0" smtClean="0">
                <a:solidFill>
                  <a:srgbClr val="000000"/>
                </a:solidFill>
                <a:latin typeface="Cascadia Mono"/>
              </a:rPr>
              <a:t> </a:t>
            </a:r>
            <a:r>
              <a:rPr lang="en-US" sz="1400" dirty="0" err="1" smtClean="0">
                <a:solidFill>
                  <a:srgbClr val="000000"/>
                </a:solidFill>
                <a:latin typeface="Cascadia Mono"/>
              </a:rPr>
              <a:t>ServiceRegistry</a:t>
            </a:r>
            <a:r>
              <a:rPr lang="en-US" sz="1400" dirty="0" smtClean="0">
                <a:solidFill>
                  <a:srgbClr val="000000"/>
                </a:solidFill>
                <a:latin typeface="Cascadia Mono"/>
              </a:rPr>
              <a:t> </a:t>
            </a:r>
            <a:r>
              <a:rPr lang="en-US" sz="1400" dirty="0" err="1" smtClean="0">
                <a:solidFill>
                  <a:srgbClr val="000000"/>
                </a:solidFill>
                <a:latin typeface="Cascadia Mono"/>
              </a:rPr>
              <a:t>GetInstance</a:t>
            </a:r>
            <a:r>
              <a:rPr lang="en-US" sz="1400" dirty="0" smtClean="0">
                <a:solidFill>
                  <a:srgbClr val="000000"/>
                </a:solidFill>
                <a:latin typeface="Cascadia Mono"/>
              </a:rPr>
              <a: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return</a:t>
            </a:r>
            <a:r>
              <a:rPr lang="en-US" sz="1400" dirty="0" smtClean="0">
                <a:solidFill>
                  <a:srgbClr val="000000"/>
                </a:solidFill>
                <a:latin typeface="Cascadia Mono"/>
              </a:rPr>
              <a:t> </a:t>
            </a:r>
            <a:r>
              <a:rPr lang="en-US" sz="1400" dirty="0" err="1" smtClean="0">
                <a:solidFill>
                  <a:srgbClr val="000000"/>
                </a:solidFill>
                <a:latin typeface="Cascadia Mono"/>
              </a:rPr>
              <a:t>Nested.SoleInstance</a:t>
            </a:r>
            <a:r>
              <a:rPr lang="en-US" sz="1400" dirty="0" smtClean="0">
                <a:solidFill>
                  <a:srgbClr val="000000"/>
                </a:solidFill>
                <a:latin typeface="Cascadia Mono"/>
              </a:rPr>
              <a:t>;</a:t>
            </a:r>
          </a:p>
          <a:p>
            <a:r>
              <a:rPr lang="en-US" sz="1400" dirty="0" smtClean="0">
                <a:solidFill>
                  <a:srgbClr val="000000"/>
                </a:solidFill>
                <a:latin typeface="Cascadia Mono"/>
              </a:rPr>
              <a:t>        }</a:t>
            </a: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Lazy initialization with nested class.</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Not being </a:t>
            </a:r>
            <a:r>
              <a:rPr lang="en-US" sz="1400" dirty="0" err="1" smtClean="0">
                <a:solidFill>
                  <a:srgbClr val="008000"/>
                </a:solidFill>
                <a:latin typeface="Cascadia Mono"/>
              </a:rPr>
              <a:t>initialzed</a:t>
            </a:r>
            <a:r>
              <a:rPr lang="en-US" sz="1400" dirty="0" smtClean="0">
                <a:solidFill>
                  <a:srgbClr val="008000"/>
                </a:solidFill>
                <a:latin typeface="Cascadia Mono"/>
              </a:rPr>
              <a:t> during class loading.</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https://en.wikipedia.org/wiki/Initialization-on-demand_holder_idiom</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private</a:t>
            </a:r>
            <a:r>
              <a:rPr lang="en-US" sz="1400" dirty="0" smtClean="0">
                <a:solidFill>
                  <a:srgbClr val="000000"/>
                </a:solidFill>
                <a:latin typeface="Cascadia Mono"/>
              </a:rPr>
              <a:t> </a:t>
            </a:r>
            <a:r>
              <a:rPr lang="en-US" sz="1400" dirty="0" smtClean="0">
                <a:solidFill>
                  <a:srgbClr val="0000FF"/>
                </a:solidFill>
                <a:latin typeface="Cascadia Mono"/>
              </a:rPr>
              <a:t>class</a:t>
            </a:r>
            <a:r>
              <a:rPr lang="en-US" sz="1400" dirty="0" smtClean="0">
                <a:solidFill>
                  <a:srgbClr val="000000"/>
                </a:solidFill>
                <a:latin typeface="Cascadia Mono"/>
              </a:rPr>
              <a:t> </a:t>
            </a:r>
            <a:r>
              <a:rPr lang="en-US" sz="1400" dirty="0" smtClean="0">
                <a:solidFill>
                  <a:srgbClr val="2B91AF"/>
                </a:solidFill>
                <a:latin typeface="Cascadia Mono"/>
              </a:rPr>
              <a:t>Nested</a:t>
            </a:r>
            <a:endParaRPr lang="en-US" sz="1400" dirty="0" smtClean="0">
              <a:solidFill>
                <a:srgbClr val="000000"/>
              </a:solidFill>
              <a:latin typeface="Cascadia Mono"/>
            </a:endParaRP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8000"/>
                </a:solidFill>
                <a:latin typeface="Cascadia Mono"/>
              </a:rPr>
              <a:t>// Explicit static constructor to tell C# compiler</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not to mark type as </a:t>
            </a:r>
            <a:r>
              <a:rPr lang="en-US" sz="1400" dirty="0" err="1" smtClean="0">
                <a:solidFill>
                  <a:srgbClr val="008000"/>
                </a:solidFill>
                <a:latin typeface="Cascadia Mono"/>
              </a:rPr>
              <a:t>beforefieldinit</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static</a:t>
            </a:r>
            <a:r>
              <a:rPr lang="en-US" sz="1400" dirty="0" smtClean="0">
                <a:solidFill>
                  <a:srgbClr val="000000"/>
                </a:solidFill>
                <a:latin typeface="Cascadia Mono"/>
              </a:rPr>
              <a:t> </a:t>
            </a:r>
            <a:r>
              <a:rPr lang="en-US" sz="1400" dirty="0" smtClean="0">
                <a:solidFill>
                  <a:srgbClr val="2B91AF"/>
                </a:solidFill>
                <a:latin typeface="Cascadia Mono"/>
              </a:rPr>
              <a:t>Nested</a:t>
            </a:r>
            <a:r>
              <a:rPr lang="en-US" sz="1400" dirty="0" smtClean="0">
                <a:solidFill>
                  <a:srgbClr val="000000"/>
                </a:solidFill>
                <a:latin typeface="Cascadia Mono"/>
              </a:rPr>
              <a:t>() { }</a:t>
            </a:r>
          </a:p>
          <a:p>
            <a:r>
              <a:rPr lang="en-US" sz="1400" dirty="0" smtClean="0">
                <a:solidFill>
                  <a:srgbClr val="000000"/>
                </a:solidFill>
                <a:latin typeface="Cascadia Mono"/>
              </a:rPr>
              <a:t>            </a:t>
            </a:r>
            <a:r>
              <a:rPr lang="en-US" sz="1400" dirty="0" smtClean="0">
                <a:solidFill>
                  <a:srgbClr val="0000FF"/>
                </a:solidFill>
                <a:latin typeface="Cascadia Mono"/>
              </a:rPr>
              <a:t>internal</a:t>
            </a:r>
            <a:r>
              <a:rPr lang="en-US" sz="1400" dirty="0" smtClean="0">
                <a:solidFill>
                  <a:srgbClr val="000000"/>
                </a:solidFill>
                <a:latin typeface="Cascadia Mono"/>
              </a:rPr>
              <a:t> </a:t>
            </a:r>
            <a:r>
              <a:rPr lang="en-US" sz="1400" dirty="0" smtClean="0">
                <a:solidFill>
                  <a:srgbClr val="0000FF"/>
                </a:solidFill>
                <a:latin typeface="Cascadia Mono"/>
              </a:rPr>
              <a:t>static</a:t>
            </a:r>
            <a:r>
              <a:rPr lang="en-US" sz="1400" dirty="0" smtClean="0">
                <a:solidFill>
                  <a:srgbClr val="000000"/>
                </a:solidFill>
                <a:latin typeface="Cascadia Mono"/>
              </a:rPr>
              <a:t> </a:t>
            </a:r>
            <a:r>
              <a:rPr lang="en-US" sz="1400" dirty="0" err="1" smtClean="0">
                <a:solidFill>
                  <a:srgbClr val="0000FF"/>
                </a:solidFill>
                <a:latin typeface="Cascadia Mono"/>
              </a:rPr>
              <a:t>readonly</a:t>
            </a:r>
            <a:r>
              <a:rPr lang="en-US" sz="1400" dirty="0" smtClean="0">
                <a:solidFill>
                  <a:srgbClr val="000000"/>
                </a:solidFill>
                <a:latin typeface="Cascadia Mono"/>
              </a:rPr>
              <a:t> </a:t>
            </a:r>
            <a:r>
              <a:rPr lang="en-US" sz="1400" dirty="0" err="1" smtClean="0">
                <a:solidFill>
                  <a:srgbClr val="000000"/>
                </a:solidFill>
                <a:latin typeface="Cascadia Mono"/>
              </a:rPr>
              <a:t>ServiceRegistry</a:t>
            </a:r>
            <a:r>
              <a:rPr lang="en-US" sz="1400" dirty="0" smtClean="0">
                <a:solidFill>
                  <a:srgbClr val="000000"/>
                </a:solidFill>
                <a:latin typeface="Cascadia Mono"/>
              </a:rPr>
              <a:t> </a:t>
            </a:r>
            <a:r>
              <a:rPr lang="en-US" sz="1400" dirty="0" err="1" smtClean="0">
                <a:solidFill>
                  <a:srgbClr val="000000"/>
                </a:solidFill>
                <a:latin typeface="Cascadia Mono"/>
              </a:rPr>
              <a:t>SoleInstance</a:t>
            </a:r>
            <a:r>
              <a:rPr lang="en-US" sz="1400" dirty="0" smtClean="0">
                <a:solidFill>
                  <a:srgbClr val="000000"/>
                </a:solidFill>
                <a:latin typeface="Cascadia Mono"/>
              </a:rPr>
              <a:t> = </a:t>
            </a:r>
            <a:r>
              <a:rPr lang="en-US" sz="1400" dirty="0" smtClean="0">
                <a:solidFill>
                  <a:srgbClr val="0000FF"/>
                </a:solidFill>
                <a:latin typeface="Cascadia Mono"/>
              </a:rPr>
              <a:t>new</a:t>
            </a:r>
            <a:r>
              <a:rPr lang="en-US" sz="1400" dirty="0" smtClean="0">
                <a:solidFill>
                  <a:srgbClr val="000000"/>
                </a:solidFill>
                <a:latin typeface="Cascadia Mono"/>
              </a:rPr>
              <a:t> </a:t>
            </a:r>
            <a:r>
              <a:rPr lang="en-US" sz="1400" dirty="0" err="1" smtClean="0">
                <a:solidFill>
                  <a:srgbClr val="000000"/>
                </a:solidFill>
                <a:latin typeface="Cascadia Mono"/>
              </a:rPr>
              <a:t>ServiceRegistry</a:t>
            </a:r>
            <a:r>
              <a:rPr lang="en-US" sz="1400" dirty="0" smtClean="0">
                <a:solidFill>
                  <a:srgbClr val="000000"/>
                </a:solidFill>
                <a:latin typeface="Cascadia Mono"/>
              </a:rPr>
              <a:t>();</a:t>
            </a:r>
          </a:p>
          <a:p>
            <a:r>
              <a:rPr lang="en-US" sz="1400" dirty="0" smtClean="0">
                <a:solidFill>
                  <a:srgbClr val="000000"/>
                </a:solidFill>
                <a:latin typeface="Cascadia Mono"/>
              </a:rPr>
              <a:t>        }</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Example (II)</a:t>
            </a:r>
            <a:endParaRPr lang="en-US" dirty="0"/>
          </a:p>
        </p:txBody>
      </p:sp>
      <p:sp>
        <p:nvSpPr>
          <p:cNvPr id="6" name="Rectangle 5"/>
          <p:cNvSpPr/>
          <p:nvPr/>
        </p:nvSpPr>
        <p:spPr>
          <a:xfrm>
            <a:off x="457200" y="2086213"/>
            <a:ext cx="8229600" cy="33239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dirty="0" smtClean="0">
                <a:solidFill>
                  <a:srgbClr val="000000"/>
                </a:solidFill>
                <a:latin typeface="Cascadia Mono"/>
              </a:rPr>
              <a:t>  </a:t>
            </a:r>
            <a:r>
              <a:rPr lang="en-US" sz="1400" dirty="0" smtClean="0">
                <a:solidFill>
                  <a:srgbClr val="000000"/>
                </a:solidFill>
                <a:latin typeface="Cascadia Mono"/>
              </a:rPr>
              <a:t>      </a:t>
            </a:r>
            <a:r>
              <a:rPr lang="en-US" sz="1400" dirty="0" smtClean="0">
                <a:solidFill>
                  <a:srgbClr val="0000FF"/>
                </a:solidFill>
                <a:latin typeface="Cascadia Mono"/>
              </a:rPr>
              <a:t>private</a:t>
            </a:r>
            <a:r>
              <a:rPr lang="en-US" sz="1400" dirty="0" smtClean="0">
                <a:solidFill>
                  <a:srgbClr val="000000"/>
                </a:solidFill>
                <a:latin typeface="Cascadia Mono"/>
              </a:rPr>
              <a:t> </a:t>
            </a:r>
            <a:r>
              <a:rPr lang="en-US" sz="1400" dirty="0" err="1" smtClean="0">
                <a:solidFill>
                  <a:srgbClr val="0000FF"/>
                </a:solidFill>
                <a:latin typeface="Cascadia Mono"/>
              </a:rPr>
              <a:t>readonly</a:t>
            </a:r>
            <a:r>
              <a:rPr lang="en-US" sz="1400" dirty="0" smtClean="0">
                <a:solidFill>
                  <a:srgbClr val="000000"/>
                </a:solidFill>
                <a:latin typeface="Cascadia Mono"/>
              </a:rPr>
              <a:t> </a:t>
            </a:r>
            <a:r>
              <a:rPr lang="en-US" sz="1400" dirty="0" err="1" smtClean="0">
                <a:solidFill>
                  <a:srgbClr val="000000"/>
                </a:solidFill>
                <a:latin typeface="Cascadia Mono"/>
              </a:rPr>
              <a:t>IDictionary</a:t>
            </a:r>
            <a:r>
              <a:rPr lang="en-US" sz="1400" dirty="0" smtClean="0">
                <a:solidFill>
                  <a:srgbClr val="000000"/>
                </a:solidFill>
                <a:latin typeface="Cascadia Mono"/>
              </a:rPr>
              <a:t>&lt;Type, Type&gt; </a:t>
            </a:r>
            <a:r>
              <a:rPr lang="en-US" sz="1400" dirty="0" err="1" smtClean="0">
                <a:solidFill>
                  <a:srgbClr val="000000"/>
                </a:solidFill>
                <a:latin typeface="Cascadia Mono"/>
              </a:rPr>
              <a:t>serviceTypes</a:t>
            </a:r>
            <a:r>
              <a:rPr lang="en-US" sz="1400" dirty="0" smtClean="0">
                <a:solidFill>
                  <a:srgbClr val="000000"/>
                </a:solidFill>
                <a:latin typeface="Cascadia Mono"/>
              </a:rPr>
              <a:t>;</a:t>
            </a:r>
          </a:p>
          <a:p>
            <a:r>
              <a:rPr lang="en-US" sz="1400" dirty="0" smtClean="0">
                <a:solidFill>
                  <a:srgbClr val="000000"/>
                </a:solidFill>
                <a:latin typeface="Cascadia Mono"/>
              </a:rPr>
              <a:t>        </a:t>
            </a:r>
            <a:r>
              <a:rPr lang="en-US" sz="1400" dirty="0" smtClean="0">
                <a:solidFill>
                  <a:srgbClr val="0000FF"/>
                </a:solidFill>
                <a:latin typeface="Cascadia Mono"/>
              </a:rPr>
              <a:t>private</a:t>
            </a:r>
            <a:r>
              <a:rPr lang="en-US" sz="1400" dirty="0" smtClean="0">
                <a:solidFill>
                  <a:srgbClr val="000000"/>
                </a:solidFill>
                <a:latin typeface="Cascadia Mono"/>
              </a:rPr>
              <a:t> </a:t>
            </a:r>
            <a:r>
              <a:rPr lang="en-US" sz="1400" dirty="0" err="1" smtClean="0">
                <a:solidFill>
                  <a:srgbClr val="0000FF"/>
                </a:solidFill>
                <a:latin typeface="Cascadia Mono"/>
              </a:rPr>
              <a:t>readonly</a:t>
            </a:r>
            <a:r>
              <a:rPr lang="en-US" sz="1400" dirty="0" smtClean="0">
                <a:solidFill>
                  <a:srgbClr val="000000"/>
                </a:solidFill>
                <a:latin typeface="Cascadia Mono"/>
              </a:rPr>
              <a:t> </a:t>
            </a:r>
            <a:r>
              <a:rPr lang="en-US" sz="1400" dirty="0" err="1" smtClean="0">
                <a:solidFill>
                  <a:srgbClr val="000000"/>
                </a:solidFill>
                <a:latin typeface="Cascadia Mono"/>
              </a:rPr>
              <a:t>IDictionary</a:t>
            </a:r>
            <a:r>
              <a:rPr lang="en-US" sz="1400" dirty="0" smtClean="0">
                <a:solidFill>
                  <a:srgbClr val="000000"/>
                </a:solidFill>
                <a:latin typeface="Cascadia Mono"/>
              </a:rPr>
              <a:t>&lt;Type, Object&gt; </a:t>
            </a:r>
            <a:r>
              <a:rPr lang="en-US" sz="1400" dirty="0" err="1" smtClean="0">
                <a:solidFill>
                  <a:srgbClr val="000000"/>
                </a:solidFill>
                <a:latin typeface="Cascadia Mono"/>
              </a:rPr>
              <a:t>instantiatedServices</a:t>
            </a:r>
            <a:r>
              <a:rPr lang="en-US" sz="1400" dirty="0" smtClean="0">
                <a:solidFill>
                  <a:srgbClr val="000000"/>
                </a:solidFill>
                <a:latin typeface="Cascadia Mono"/>
              </a:rPr>
              <a:t>;</a:t>
            </a: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private</a:t>
            </a:r>
            <a:r>
              <a:rPr lang="en-US" sz="1400" dirty="0" smtClean="0">
                <a:solidFill>
                  <a:srgbClr val="000000"/>
                </a:solidFill>
                <a:latin typeface="Cascadia Mono"/>
              </a:rPr>
              <a:t> </a:t>
            </a:r>
            <a:r>
              <a:rPr lang="en-US" sz="1400" dirty="0" err="1" smtClean="0">
                <a:solidFill>
                  <a:srgbClr val="2B91AF"/>
                </a:solidFill>
                <a:latin typeface="Cascadia Mono"/>
              </a:rPr>
              <a:t>ServiceRegistry</a:t>
            </a:r>
            <a:r>
              <a:rPr lang="en-US" sz="1400" dirty="0" smtClean="0">
                <a:solidFill>
                  <a:srgbClr val="000000"/>
                </a:solidFill>
                <a:latin typeface="Cascadia Mono"/>
              </a:rPr>
              <a: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.serviceTypes</a:t>
            </a:r>
            <a:r>
              <a:rPr lang="en-US" sz="1400" dirty="0" smtClean="0">
                <a:solidFill>
                  <a:srgbClr val="000000"/>
                </a:solidFill>
                <a:latin typeface="Cascadia Mono"/>
              </a:rPr>
              <a:t> = </a:t>
            </a:r>
            <a:r>
              <a:rPr lang="en-US" sz="1400" dirty="0" smtClean="0">
                <a:solidFill>
                  <a:srgbClr val="0000FF"/>
                </a:solidFill>
                <a:latin typeface="Cascadia Mono"/>
              </a:rPr>
              <a:t>new</a:t>
            </a:r>
            <a:r>
              <a:rPr lang="en-US" sz="1400" dirty="0" smtClean="0">
                <a:solidFill>
                  <a:srgbClr val="000000"/>
                </a:solidFill>
                <a:latin typeface="Cascadia Mono"/>
              </a:rPr>
              <a:t> Dictionary&lt;Type, Type&gt;();</a:t>
            </a:r>
          </a:p>
          <a:p>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.instantiatedServices</a:t>
            </a:r>
            <a:r>
              <a:rPr lang="en-US" sz="1400" dirty="0" smtClean="0">
                <a:solidFill>
                  <a:srgbClr val="000000"/>
                </a:solidFill>
                <a:latin typeface="Cascadia Mono"/>
              </a:rPr>
              <a:t> = </a:t>
            </a:r>
            <a:r>
              <a:rPr lang="en-US" sz="1400" dirty="0" smtClean="0">
                <a:solidFill>
                  <a:srgbClr val="0000FF"/>
                </a:solidFill>
                <a:latin typeface="Cascadia Mono"/>
              </a:rPr>
              <a:t>new</a:t>
            </a:r>
            <a:r>
              <a:rPr lang="en-US" sz="1400" dirty="0" smtClean="0">
                <a:solidFill>
                  <a:srgbClr val="000000"/>
                </a:solidFill>
                <a:latin typeface="Cascadia Mono"/>
              </a:rPr>
              <a:t> Dictionary&lt;Type, Object&gt;();</a:t>
            </a:r>
          </a:p>
          <a:p>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.Register</a:t>
            </a:r>
            <a:r>
              <a:rPr lang="en-US" sz="1400" dirty="0" smtClean="0">
                <a:solidFill>
                  <a:srgbClr val="000000"/>
                </a:solidFill>
                <a:latin typeface="Cascadia Mono"/>
              </a:rPr>
              <a:t>&lt;</a:t>
            </a:r>
            <a:r>
              <a:rPr lang="en-US" sz="1400" dirty="0" err="1" smtClean="0">
                <a:solidFill>
                  <a:srgbClr val="000000"/>
                </a:solidFill>
                <a:latin typeface="Cascadia Mono"/>
              </a:rPr>
              <a:t>IRoleService</a:t>
            </a:r>
            <a:r>
              <a:rPr lang="en-US" sz="1400" dirty="0" smtClean="0">
                <a:solidFill>
                  <a:srgbClr val="000000"/>
                </a:solidFill>
                <a:latin typeface="Cascadia Mono"/>
              </a:rPr>
              <a:t>&gt;(</a:t>
            </a:r>
            <a:r>
              <a:rPr lang="en-US" sz="1400" dirty="0" err="1" smtClean="0">
                <a:solidFill>
                  <a:srgbClr val="0000FF"/>
                </a:solidFill>
                <a:latin typeface="Cascadia Mono"/>
              </a:rPr>
              <a:t>typeof</a:t>
            </a:r>
            <a:r>
              <a:rPr lang="en-US" sz="1400" dirty="0" smtClean="0">
                <a:solidFill>
                  <a:srgbClr val="000000"/>
                </a:solidFill>
                <a:latin typeface="Cascadia Mono"/>
              </a:rPr>
              <a:t>(</a:t>
            </a:r>
            <a:r>
              <a:rPr lang="en-US" sz="1400" dirty="0" err="1" smtClean="0">
                <a:solidFill>
                  <a:srgbClr val="000000"/>
                </a:solidFill>
                <a:latin typeface="Cascadia Mono"/>
              </a:rPr>
              <a:t>RoleService</a:t>
            </a:r>
            <a:r>
              <a:rPr lang="en-US" sz="1400" dirty="0" smtClean="0">
                <a:solidFill>
                  <a:srgbClr val="000000"/>
                </a:solidFill>
                <a:latin typeface="Cascadia Mono"/>
              </a:rPr>
              <a:t>));</a:t>
            </a:r>
          </a:p>
          <a:p>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.Register</a:t>
            </a:r>
            <a:r>
              <a:rPr lang="en-US" sz="1400" dirty="0" smtClean="0">
                <a:solidFill>
                  <a:srgbClr val="000000"/>
                </a:solidFill>
                <a:latin typeface="Cascadia Mono"/>
              </a:rPr>
              <a:t>&lt;</a:t>
            </a:r>
            <a:r>
              <a:rPr lang="en-US" sz="1400" dirty="0" err="1" smtClean="0">
                <a:solidFill>
                  <a:srgbClr val="000000"/>
                </a:solidFill>
                <a:latin typeface="Cascadia Mono"/>
              </a:rPr>
              <a:t>IAgentService</a:t>
            </a:r>
            <a:r>
              <a:rPr lang="en-US" sz="1400" dirty="0" smtClean="0">
                <a:solidFill>
                  <a:srgbClr val="000000"/>
                </a:solidFill>
                <a:latin typeface="Cascadia Mono"/>
              </a:rPr>
              <a:t>&gt;(</a:t>
            </a:r>
            <a:r>
              <a:rPr lang="en-US" sz="1400" dirty="0" err="1" smtClean="0">
                <a:solidFill>
                  <a:srgbClr val="0000FF"/>
                </a:solidFill>
                <a:latin typeface="Cascadia Mono"/>
              </a:rPr>
              <a:t>typeof</a:t>
            </a:r>
            <a:r>
              <a:rPr lang="en-US" sz="1400" dirty="0" smtClean="0">
                <a:solidFill>
                  <a:srgbClr val="000000"/>
                </a:solidFill>
                <a:latin typeface="Cascadia Mono"/>
              </a:rPr>
              <a:t>(</a:t>
            </a:r>
            <a:r>
              <a:rPr lang="en-US" sz="1400" dirty="0" err="1" smtClean="0">
                <a:solidFill>
                  <a:srgbClr val="000000"/>
                </a:solidFill>
                <a:latin typeface="Cascadia Mono"/>
              </a:rPr>
              <a:t>AgentService</a:t>
            </a:r>
            <a:r>
              <a:rPr lang="en-US" sz="1400" dirty="0" smtClean="0">
                <a:solidFill>
                  <a:srgbClr val="000000"/>
                </a:solidFill>
                <a:latin typeface="Cascadia Mono"/>
              </a:rPr>
              <a:t>));</a:t>
            </a:r>
          </a:p>
          <a:p>
            <a:r>
              <a:rPr lang="en-US" sz="1400" dirty="0" smtClean="0">
                <a:solidFill>
                  <a:srgbClr val="000000"/>
                </a:solidFill>
                <a:latin typeface="Cascadia Mono"/>
              </a:rPr>
              <a:t>        }</a:t>
            </a: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public</a:t>
            </a:r>
            <a:r>
              <a:rPr lang="en-US" sz="1400" dirty="0" smtClean="0">
                <a:solidFill>
                  <a:srgbClr val="000000"/>
                </a:solidFill>
                <a:latin typeface="Cascadia Mono"/>
              </a:rPr>
              <a:t> </a:t>
            </a:r>
            <a:r>
              <a:rPr lang="en-US" sz="1400" dirty="0" smtClean="0">
                <a:solidFill>
                  <a:srgbClr val="0000FF"/>
                </a:solidFill>
                <a:latin typeface="Cascadia Mono"/>
              </a:rPr>
              <a:t>void</a:t>
            </a:r>
            <a:r>
              <a:rPr lang="en-US" sz="1400" dirty="0" smtClean="0">
                <a:solidFill>
                  <a:srgbClr val="000000"/>
                </a:solidFill>
                <a:latin typeface="Cascadia Mono"/>
              </a:rPr>
              <a:t> Register&lt;</a:t>
            </a:r>
            <a:r>
              <a:rPr lang="en-US" sz="1400" dirty="0" smtClean="0">
                <a:solidFill>
                  <a:srgbClr val="2B91AF"/>
                </a:solidFill>
                <a:latin typeface="Cascadia Mono"/>
              </a:rPr>
              <a:t>T</a:t>
            </a:r>
            <a:r>
              <a:rPr lang="en-US" sz="1400" dirty="0" smtClean="0">
                <a:solidFill>
                  <a:srgbClr val="000000"/>
                </a:solidFill>
                <a:latin typeface="Cascadia Mono"/>
              </a:rPr>
              <a:t>&gt;(Type resolver)</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.serviceTypes</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 = resolver;</a:t>
            </a:r>
          </a:p>
          <a:p>
            <a:r>
              <a:rPr lang="en-US" sz="1400" dirty="0" smtClean="0">
                <a:solidFill>
                  <a:srgbClr val="000000"/>
                </a:solidFill>
                <a:latin typeface="Cascadia Mono"/>
              </a:rPr>
              <a:t>        }</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Example (III)</a:t>
            </a:r>
            <a:endParaRPr lang="en-US" dirty="0"/>
          </a:p>
        </p:txBody>
      </p:sp>
      <p:sp>
        <p:nvSpPr>
          <p:cNvPr id="6" name="Rectangle 5"/>
          <p:cNvSpPr/>
          <p:nvPr/>
        </p:nvSpPr>
        <p:spPr>
          <a:xfrm>
            <a:off x="457200" y="2288500"/>
            <a:ext cx="8229600" cy="289310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dirty="0" smtClean="0">
                <a:solidFill>
                  <a:srgbClr val="000000"/>
                </a:solidFill>
                <a:latin typeface="Cascadia Mono"/>
              </a:rPr>
              <a:t> </a:t>
            </a:r>
            <a:r>
              <a:rPr lang="en-US" sz="1400" dirty="0" smtClean="0">
                <a:solidFill>
                  <a:srgbClr val="0000FF"/>
                </a:solidFill>
                <a:latin typeface="Cascadia Mono"/>
              </a:rPr>
              <a:t>public</a:t>
            </a:r>
            <a:r>
              <a:rPr lang="en-US" sz="1400" dirty="0" smtClean="0">
                <a:solidFill>
                  <a:srgbClr val="000000"/>
                </a:solidFill>
                <a:latin typeface="Cascadia Mono"/>
              </a:rPr>
              <a:t> T Resolve&lt;</a:t>
            </a:r>
            <a:r>
              <a:rPr lang="en-US" sz="1400" dirty="0" smtClean="0">
                <a:solidFill>
                  <a:srgbClr val="2B91AF"/>
                </a:solidFill>
                <a:latin typeface="Cascadia Mono"/>
              </a:rPr>
              <a:t>T</a:t>
            </a:r>
            <a:r>
              <a:rPr lang="en-US" sz="1400" dirty="0" smtClean="0">
                <a:solidFill>
                  <a:srgbClr val="000000"/>
                </a:solidFill>
                <a:latin typeface="Cascadia Mono"/>
              </a:rPr>
              <a:t>&gt;()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8000"/>
                </a:solidFill>
                <a:latin typeface="Cascadia Mono"/>
              </a:rPr>
              <a:t>// Lazy initialization improves the performance of object creation,</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deferring long running initializations until they are really needed.</a:t>
            </a:r>
            <a:endParaRPr lang="en-US" sz="1400" dirty="0" smtClean="0">
              <a:solidFill>
                <a:srgbClr val="000000"/>
              </a:solidFill>
              <a:latin typeface="Cascadia Mono"/>
            </a:endParaRP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if</a:t>
            </a:r>
            <a:r>
              <a:rPr lang="en-US" sz="1400" dirty="0" smtClean="0">
                <a:solidFill>
                  <a:srgbClr val="000000"/>
                </a:solidFill>
                <a:latin typeface="Cascadia Mono"/>
              </a:rPr>
              <a:t> (</a:t>
            </a:r>
            <a:r>
              <a:rPr lang="en-US" sz="1400" dirty="0" err="1" smtClean="0">
                <a:solidFill>
                  <a:srgbClr val="0000FF"/>
                </a:solidFill>
                <a:latin typeface="Cascadia Mono"/>
              </a:rPr>
              <a:t>this</a:t>
            </a:r>
            <a:r>
              <a:rPr lang="en-US" sz="1400" dirty="0" err="1" smtClean="0">
                <a:solidFill>
                  <a:srgbClr val="000000"/>
                </a:solidFill>
                <a:latin typeface="Cascadia Mono"/>
              </a:rPr>
              <a:t>.instantiatedServices.ContainsKey</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return</a:t>
            </a:r>
            <a:r>
              <a:rPr lang="en-US" sz="1400" dirty="0" smtClean="0">
                <a:solidFill>
                  <a:srgbClr val="000000"/>
                </a:solidFill>
                <a:latin typeface="Cascadia Mono"/>
              </a:rPr>
              <a:t> (T)</a:t>
            </a:r>
            <a:r>
              <a:rPr lang="en-US" sz="1400" dirty="0" err="1" smtClean="0">
                <a:solidFill>
                  <a:srgbClr val="0000FF"/>
                </a:solidFill>
                <a:latin typeface="Cascadia Mono"/>
              </a:rPr>
              <a:t>this</a:t>
            </a:r>
            <a:r>
              <a:rPr lang="en-US" sz="1400" dirty="0" err="1" smtClean="0">
                <a:solidFill>
                  <a:srgbClr val="000000"/>
                </a:solidFill>
                <a:latin typeface="Cascadia Mono"/>
              </a:rPr>
              <a:t>.instantiatedServices</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else</a:t>
            </a:r>
            <a:endParaRPr lang="en-US" sz="1400" dirty="0" smtClean="0">
              <a:solidFill>
                <a:srgbClr val="000000"/>
              </a:solidFill>
              <a:latin typeface="Cascadia Mono"/>
            </a:endParaRPr>
          </a:p>
          <a:p>
            <a:r>
              <a:rPr lang="en-US" sz="1400" dirty="0" smtClean="0">
                <a:solidFill>
                  <a:srgbClr val="000000"/>
                </a:solidFill>
                <a:latin typeface="Cascadia Mono"/>
              </a:rPr>
              <a:t>            {</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Example (IV)</a:t>
            </a:r>
            <a:endParaRPr lang="en-US" dirty="0"/>
          </a:p>
        </p:txBody>
      </p:sp>
      <p:sp>
        <p:nvSpPr>
          <p:cNvPr id="6" name="Rectangle 5"/>
          <p:cNvSpPr/>
          <p:nvPr/>
        </p:nvSpPr>
        <p:spPr>
          <a:xfrm>
            <a:off x="457200" y="1371600"/>
            <a:ext cx="8229600"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dirty="0" smtClean="0">
                <a:solidFill>
                  <a:srgbClr val="000000"/>
                </a:solidFill>
                <a:latin typeface="Cascadia Mono"/>
              </a:rPr>
              <a:t> </a:t>
            </a:r>
            <a:r>
              <a:rPr lang="en-US" sz="1400" dirty="0" smtClean="0">
                <a:solidFill>
                  <a:srgbClr val="0000FF"/>
                </a:solidFill>
                <a:latin typeface="Cascadia Mono"/>
              </a:rPr>
              <a:t>try</a:t>
            </a:r>
            <a:endParaRPr lang="en-US" sz="1400" dirty="0" smtClean="0">
              <a:solidFill>
                <a:srgbClr val="000000"/>
              </a:solidFill>
              <a:latin typeface="Cascadia Mono"/>
            </a:endParaRPr>
          </a:p>
          <a:p>
            <a:r>
              <a:rPr lang="en-US" sz="1400" dirty="0" smtClean="0">
                <a:solidFill>
                  <a:srgbClr val="000000"/>
                </a:solidFill>
                <a:latin typeface="Cascadia Mono"/>
              </a:rPr>
              <a:t>                {</a:t>
            </a:r>
          </a:p>
          <a:p>
            <a:r>
              <a:rPr lang="en-US" sz="1400" dirty="0" smtClean="0">
                <a:solidFill>
                  <a:srgbClr val="000000"/>
                </a:solidFill>
                <a:latin typeface="Cascadia Mono"/>
              </a:rPr>
              <a:t>                    T service = (T)</a:t>
            </a:r>
            <a:r>
              <a:rPr lang="en-US" sz="1400" dirty="0" err="1" smtClean="0">
                <a:solidFill>
                  <a:srgbClr val="000000"/>
                </a:solidFill>
                <a:latin typeface="Cascadia Mono"/>
              </a:rPr>
              <a:t>Activator.CreateInstance</a:t>
            </a:r>
            <a:r>
              <a:rPr lang="en-US" sz="1400" dirty="0" smtClean="0">
                <a:solidFill>
                  <a:srgbClr val="000000"/>
                </a:solidFill>
                <a:latin typeface="Cascadia Mono"/>
              </a:rPr>
              <a:t>(</a:t>
            </a:r>
            <a:r>
              <a:rPr lang="en-US" sz="1400" dirty="0" err="1" smtClean="0">
                <a:solidFill>
                  <a:srgbClr val="000000"/>
                </a:solidFill>
                <a:latin typeface="Cascadia Mono"/>
              </a:rPr>
              <a:t>serviceTypes</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a:t>
            </a: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00FF"/>
                </a:solidFill>
                <a:latin typeface="Cascadia Mono"/>
              </a:rPr>
              <a:t>if</a:t>
            </a:r>
            <a:r>
              <a:rPr lang="en-US" sz="1400" dirty="0" smtClean="0">
                <a:solidFill>
                  <a:srgbClr val="000000"/>
                </a:solidFill>
                <a:latin typeface="Cascadia Mono"/>
              </a:rPr>
              <a:t> (</a:t>
            </a:r>
            <a:r>
              <a:rPr lang="en-US" sz="1400" dirty="0" smtClean="0">
                <a:solidFill>
                  <a:srgbClr val="0000FF"/>
                </a:solidFill>
                <a:latin typeface="Cascadia Mono"/>
              </a:rPr>
              <a:t>null</a:t>
            </a:r>
            <a:r>
              <a:rPr lang="en-US" sz="1400" dirty="0" smtClean="0">
                <a:solidFill>
                  <a:srgbClr val="000000"/>
                </a:solidFill>
                <a:latin typeface="Cascadia Mono"/>
              </a:rPr>
              <a:t> == service)</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throw</a:t>
            </a:r>
            <a:r>
              <a:rPr lang="en-US" sz="1400" dirty="0" smtClean="0">
                <a:solidFill>
                  <a:srgbClr val="000000"/>
                </a:solidFill>
                <a:latin typeface="Cascadia Mono"/>
              </a:rPr>
              <a:t> </a:t>
            </a:r>
            <a:r>
              <a:rPr lang="en-US" sz="1400" dirty="0" smtClean="0">
                <a:solidFill>
                  <a:srgbClr val="0000FF"/>
                </a:solidFill>
                <a:latin typeface="Cascadia Mono"/>
              </a:rPr>
              <a:t>new</a:t>
            </a:r>
            <a:r>
              <a:rPr lang="en-US" sz="1400" dirty="0" smtClean="0">
                <a:solidFill>
                  <a:srgbClr val="000000"/>
                </a:solidFill>
                <a:latin typeface="Cascadia Mono"/>
              </a:rPr>
              <a:t> </a:t>
            </a:r>
            <a:r>
              <a:rPr lang="en-US" sz="1400" dirty="0" err="1" smtClean="0">
                <a:solidFill>
                  <a:srgbClr val="000000"/>
                </a:solidFill>
                <a:latin typeface="Cascadia Mono"/>
              </a:rPr>
              <a:t>ApplicationException</a:t>
            </a:r>
            <a:r>
              <a:rPr lang="en-US" sz="1400" dirty="0" smtClean="0">
                <a:solidFill>
                  <a:srgbClr val="000000"/>
                </a:solidFill>
                <a:latin typeface="Cascadia Mono"/>
              </a:rPr>
              <a:t>(</a:t>
            </a:r>
            <a:r>
              <a:rPr lang="en-US" sz="1400" dirty="0" err="1" smtClean="0">
                <a:solidFill>
                  <a:srgbClr val="000000"/>
                </a:solidFill>
                <a:latin typeface="Cascadia Mono"/>
              </a:rPr>
              <a:t>String.Format</a:t>
            </a:r>
            <a:r>
              <a:rPr lang="en-US" sz="1400" dirty="0" smtClean="0">
                <a:solidFill>
                  <a:srgbClr val="000000"/>
                </a:solidFill>
                <a:latin typeface="Cascadia Mono"/>
              </a:rPr>
              <a:t>(</a:t>
            </a:r>
            <a:r>
              <a:rPr lang="en-US" sz="1400" dirty="0" smtClean="0">
                <a:solidFill>
                  <a:srgbClr val="A31515"/>
                </a:solidFill>
                <a:latin typeface="Cascadia Mono"/>
              </a:rPr>
              <a:t>"Cannot create an instance for {0} from {1}"</a:t>
            </a:r>
            <a:r>
              <a:rPr lang="en-US" sz="1400" dirty="0" smtClean="0">
                <a:solidFill>
                  <a:srgbClr val="000000"/>
                </a:solidFill>
                <a:latin typeface="Cascadia Mono"/>
              </a:rPr>
              <a:t>, </a:t>
            </a:r>
            <a:r>
              <a:rPr lang="en-US" sz="1400" dirty="0" err="1" smtClean="0">
                <a:solidFill>
                  <a:srgbClr val="0000FF"/>
                </a:solidFill>
                <a:latin typeface="Cascadia Mono"/>
              </a:rPr>
              <a:t>typeof</a:t>
            </a:r>
            <a:r>
              <a:rPr lang="en-US" sz="1400" dirty="0" smtClean="0">
                <a:solidFill>
                  <a:srgbClr val="000000"/>
                </a:solidFill>
                <a:latin typeface="Cascadia Mono"/>
              </a:rPr>
              <a:t>(T), </a:t>
            </a:r>
            <a:r>
              <a:rPr lang="en-US" sz="1400" dirty="0" err="1" smtClean="0">
                <a:solidFill>
                  <a:srgbClr val="000000"/>
                </a:solidFill>
                <a:latin typeface="Cascadia Mono"/>
              </a:rPr>
              <a:t>serviceTypes</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a:t>
            </a:r>
          </a:p>
          <a:p>
            <a:r>
              <a:rPr lang="en-US" sz="1400" dirty="0" smtClean="0">
                <a:solidFill>
                  <a:srgbClr val="000000"/>
                </a:solidFill>
                <a:latin typeface="Cascadia Mono"/>
              </a:rPr>
              <a:t>                    }</a:t>
            </a:r>
          </a:p>
          <a:p>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smtClean="0">
                <a:solidFill>
                  <a:srgbClr val="008000"/>
                </a:solidFill>
                <a:latin typeface="Cascadia Mono"/>
              </a:rPr>
              <a:t>// Add the service to the ones that we have already instantiated</a:t>
            </a:r>
            <a:endParaRPr lang="en-US" sz="1400" dirty="0" smtClean="0">
              <a:solidFill>
                <a:srgbClr val="000000"/>
              </a:solidFill>
              <a:latin typeface="Cascadia Mono"/>
            </a:endParaRPr>
          </a:p>
          <a:p>
            <a:r>
              <a:rPr lang="en-US" sz="1400" dirty="0" smtClean="0">
                <a:solidFill>
                  <a:srgbClr val="000000"/>
                </a:solidFill>
                <a:latin typeface="Cascadia Mono"/>
              </a:rPr>
              <a:t>                    </a:t>
            </a:r>
            <a:r>
              <a:rPr lang="en-US" sz="1400" dirty="0" err="1" smtClean="0">
                <a:solidFill>
                  <a:srgbClr val="000000"/>
                </a:solidFill>
                <a:latin typeface="Cascadia Mono"/>
              </a:rPr>
              <a:t>instantiatedServices.Add</a:t>
            </a:r>
            <a:r>
              <a:rPr lang="en-US" sz="1400" dirty="0" smtClean="0">
                <a:solidFill>
                  <a:srgbClr val="000000"/>
                </a:solidFill>
                <a:latin typeface="Cascadia Mono"/>
              </a:rPr>
              <a:t>(</a:t>
            </a:r>
            <a:r>
              <a:rPr lang="en-US" sz="1400" dirty="0" err="1" smtClean="0">
                <a:solidFill>
                  <a:srgbClr val="0000FF"/>
                </a:solidFill>
                <a:latin typeface="Cascadia Mono"/>
              </a:rPr>
              <a:t>typeof</a:t>
            </a:r>
            <a:r>
              <a:rPr lang="en-US" sz="1400" dirty="0" smtClean="0">
                <a:solidFill>
                  <a:srgbClr val="000000"/>
                </a:solidFill>
                <a:latin typeface="Cascadia Mono"/>
              </a:rPr>
              <a:t>(T), service);</a:t>
            </a:r>
          </a:p>
          <a:p>
            <a:r>
              <a:rPr lang="en-US" sz="1400" dirty="0" smtClean="0">
                <a:solidFill>
                  <a:srgbClr val="000000"/>
                </a:solidFill>
                <a:latin typeface="Cascadia Mono"/>
              </a:rPr>
              <a:t>                    </a:t>
            </a:r>
            <a:r>
              <a:rPr lang="en-US" sz="1400" dirty="0" smtClean="0">
                <a:solidFill>
                  <a:srgbClr val="0000FF"/>
                </a:solidFill>
                <a:latin typeface="Cascadia Mono"/>
              </a:rPr>
              <a:t>return</a:t>
            </a:r>
            <a:r>
              <a:rPr lang="en-US" sz="1400" dirty="0" smtClean="0">
                <a:solidFill>
                  <a:srgbClr val="000000"/>
                </a:solidFill>
                <a:latin typeface="Cascadia Mono"/>
              </a:rPr>
              <a:t> service;</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catch</a:t>
            </a:r>
            <a:r>
              <a:rPr lang="en-US" sz="1400" dirty="0" smtClean="0">
                <a:solidFill>
                  <a:srgbClr val="000000"/>
                </a:solidFill>
                <a:latin typeface="Cascadia Mono"/>
              </a:rPr>
              <a:t> (</a:t>
            </a:r>
            <a:r>
              <a:rPr lang="en-US" sz="1400" dirty="0" err="1" smtClean="0">
                <a:solidFill>
                  <a:srgbClr val="000000"/>
                </a:solidFill>
                <a:latin typeface="Cascadia Mono"/>
              </a:rPr>
              <a:t>KeyNotFoundException</a:t>
            </a:r>
            <a:r>
              <a:rPr lang="en-US" sz="1400" dirty="0" smtClean="0">
                <a:solidFill>
                  <a:srgbClr val="000000"/>
                </a:solidFill>
                <a:latin typeface="Cascadia Mono"/>
              </a:rPr>
              <a:t>)</a:t>
            </a:r>
          </a:p>
          <a:p>
            <a:r>
              <a:rPr lang="en-US" sz="1400" dirty="0" smtClean="0">
                <a:solidFill>
                  <a:srgbClr val="000000"/>
                </a:solidFill>
                <a:latin typeface="Cascadia Mono"/>
              </a:rPr>
              <a:t>                {</a:t>
            </a:r>
          </a:p>
          <a:p>
            <a:r>
              <a:rPr lang="en-US" sz="1400" dirty="0" smtClean="0">
                <a:solidFill>
                  <a:srgbClr val="000000"/>
                </a:solidFill>
                <a:latin typeface="Cascadia Mono"/>
              </a:rPr>
              <a:t>                    </a:t>
            </a:r>
            <a:r>
              <a:rPr lang="en-US" sz="1400" dirty="0" smtClean="0">
                <a:solidFill>
                  <a:srgbClr val="0000FF"/>
                </a:solidFill>
                <a:latin typeface="Cascadia Mono"/>
              </a:rPr>
              <a:t>throw</a:t>
            </a:r>
            <a:r>
              <a:rPr lang="en-US" sz="1400" dirty="0" smtClean="0">
                <a:solidFill>
                  <a:srgbClr val="000000"/>
                </a:solidFill>
                <a:latin typeface="Cascadia Mono"/>
              </a:rPr>
              <a:t> </a:t>
            </a:r>
            <a:r>
              <a:rPr lang="en-US" sz="1400" dirty="0" smtClean="0">
                <a:solidFill>
                  <a:srgbClr val="0000FF"/>
                </a:solidFill>
                <a:latin typeface="Cascadia Mono"/>
              </a:rPr>
              <a:t>new</a:t>
            </a:r>
            <a:r>
              <a:rPr lang="en-US" sz="1400" dirty="0" smtClean="0">
                <a:solidFill>
                  <a:srgbClr val="000000"/>
                </a:solidFill>
                <a:latin typeface="Cascadia Mono"/>
              </a:rPr>
              <a:t> </a:t>
            </a:r>
            <a:r>
              <a:rPr lang="en-US" sz="1400" dirty="0" err="1" smtClean="0">
                <a:solidFill>
                  <a:srgbClr val="000000"/>
                </a:solidFill>
                <a:latin typeface="Cascadia Mono"/>
              </a:rPr>
              <a:t>ApplicationException</a:t>
            </a:r>
            <a:r>
              <a:rPr lang="en-US" sz="1400" dirty="0" smtClean="0">
                <a:solidFill>
                  <a:srgbClr val="000000"/>
                </a:solidFill>
                <a:latin typeface="Cascadia Mono"/>
              </a:rPr>
              <a:t>(</a:t>
            </a:r>
            <a:r>
              <a:rPr lang="en-US" sz="1400" dirty="0" smtClean="0">
                <a:solidFill>
                  <a:srgbClr val="A31515"/>
                </a:solidFill>
                <a:latin typeface="Cascadia Mono"/>
              </a:rPr>
              <a:t>"The requested service is not registered."</a:t>
            </a:r>
            <a:r>
              <a:rPr lang="en-US" sz="1400" dirty="0" smtClean="0">
                <a:solidFill>
                  <a:srgbClr val="000000"/>
                </a:solidFill>
                <a:latin typeface="Cascadia Mono"/>
              </a:rPr>
              <a:t>);</a:t>
            </a:r>
          </a:p>
          <a:p>
            <a:r>
              <a:rPr lang="en-US" sz="1400" dirty="0" smtClean="0">
                <a:solidFill>
                  <a:srgbClr val="000000"/>
                </a:solidFill>
                <a:latin typeface="Cascadia Mono"/>
              </a:rPr>
              <a:t>                }</a:t>
            </a:r>
          </a:p>
          <a:p>
            <a:r>
              <a:rPr lang="en-US" sz="1400" dirty="0" smtClean="0">
                <a:solidFill>
                  <a:srgbClr val="000000"/>
                </a:solidFill>
                <a:latin typeface="Cascadia Mono"/>
              </a:rPr>
              <a:t>            }</a:t>
            </a:r>
          </a:p>
          <a:p>
            <a:r>
              <a:rPr lang="en-US" sz="1400" dirty="0" smtClean="0">
                <a:solidFill>
                  <a:srgbClr val="000000"/>
                </a:solidFill>
                <a:latin typeface="Cascadia Mono"/>
              </a:rPr>
              <a:t>        }</a:t>
            </a:r>
          </a:p>
          <a:p>
            <a:r>
              <a:rPr lang="en-US" sz="1400" dirty="0" smtClean="0">
                <a:solidFill>
                  <a:srgbClr val="000000"/>
                </a:solidFill>
                <a:latin typeface="Cascadia Mono"/>
              </a:rPr>
              <a:t>    }</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Unit of Work: </a:t>
            </a:r>
            <a:r>
              <a:rPr lang="en-US" i="1" dirty="0" smtClean="0">
                <a:solidFill>
                  <a:srgbClr val="C00000"/>
                </a:solidFill>
              </a:rPr>
              <a:t>Problem</a:t>
            </a:r>
            <a:endParaRPr lang="en-US" dirty="0"/>
          </a:p>
        </p:txBody>
      </p:sp>
      <p:sp>
        <p:nvSpPr>
          <p:cNvPr id="3" name="Content Placeholder 2"/>
          <p:cNvSpPr>
            <a:spLocks noGrp="1"/>
          </p:cNvSpPr>
          <p:nvPr>
            <p:ph idx="1"/>
          </p:nvPr>
        </p:nvSpPr>
        <p:spPr>
          <a:xfrm>
            <a:off x="304800" y="1676400"/>
            <a:ext cx="4267200" cy="4572000"/>
          </a:xfrm>
        </p:spPr>
        <p:txBody>
          <a:bodyPr/>
          <a:lstStyle/>
          <a:p>
            <a:r>
              <a:rPr lang="en-US" sz="2000" dirty="0" smtClean="0"/>
              <a:t>You can change the database with each change to your object model, but this can lead to lots of </a:t>
            </a:r>
            <a:r>
              <a:rPr lang="en-US" sz="2000" i="1" dirty="0" smtClean="0">
                <a:solidFill>
                  <a:srgbClr val="C00000"/>
                </a:solidFill>
              </a:rPr>
              <a:t>very small database calls</a:t>
            </a:r>
            <a:r>
              <a:rPr lang="en-US" sz="2000" dirty="0" smtClean="0"/>
              <a:t>, which ends up being very slow.</a:t>
            </a:r>
          </a:p>
          <a:p>
            <a:r>
              <a:rPr lang="en-US" sz="2000" dirty="0" smtClean="0"/>
              <a:t>Furthermore it requires you to have a </a:t>
            </a:r>
            <a:r>
              <a:rPr lang="en-US" sz="2000" i="1" dirty="0" smtClean="0">
                <a:solidFill>
                  <a:srgbClr val="C00000"/>
                </a:solidFill>
              </a:rPr>
              <a:t>transaction</a:t>
            </a:r>
            <a:r>
              <a:rPr lang="en-US" sz="2000" dirty="0" smtClean="0"/>
              <a:t> open for the whole interaction, which is impractical if you have a business transaction that spans </a:t>
            </a:r>
            <a:r>
              <a:rPr lang="en-US" sz="2000" i="1" dirty="0" smtClean="0">
                <a:solidFill>
                  <a:srgbClr val="C00000"/>
                </a:solidFill>
              </a:rPr>
              <a:t>multiple requests</a:t>
            </a:r>
            <a:r>
              <a:rPr lang="en-US" sz="2000" dirty="0" smtClean="0"/>
              <a:t>.</a:t>
            </a:r>
          </a:p>
          <a:p>
            <a:r>
              <a:rPr lang="en-US" sz="2000" dirty="0" smtClean="0"/>
              <a:t>The situation is even worse if you need to keep track of the objects you've read so you can </a:t>
            </a:r>
            <a:r>
              <a:rPr lang="en-US" sz="2000" i="1" dirty="0" smtClean="0">
                <a:solidFill>
                  <a:srgbClr val="C00000"/>
                </a:solidFill>
              </a:rPr>
              <a:t>avoid inconsistent reads</a:t>
            </a:r>
            <a:r>
              <a:rPr lang="en-US" sz="2000" dirty="0" smtClean="0"/>
              <a:t>.</a:t>
            </a:r>
          </a:p>
        </p:txBody>
      </p:sp>
      <p:pic>
        <p:nvPicPr>
          <p:cNvPr id="34825" name="Picture 9"/>
          <p:cNvPicPr>
            <a:picLocks noChangeAspect="1" noChangeArrowheads="1"/>
          </p:cNvPicPr>
          <p:nvPr/>
        </p:nvPicPr>
        <p:blipFill>
          <a:blip r:embed="rId2" cstate="print"/>
          <a:srcRect/>
          <a:stretch>
            <a:fillRect/>
          </a:stretch>
        </p:blipFill>
        <p:spPr bwMode="auto">
          <a:xfrm>
            <a:off x="4724400" y="2438400"/>
            <a:ext cx="4324350" cy="262890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Unit of Work: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a:xfrm>
            <a:off x="457200" y="1600200"/>
            <a:ext cx="5181600" cy="4267200"/>
          </a:xfrm>
        </p:spPr>
        <p:txBody>
          <a:bodyPr/>
          <a:lstStyle/>
          <a:p>
            <a:r>
              <a:rPr lang="en-US" sz="2400" dirty="0" smtClean="0"/>
              <a:t>Unit of Work is an object that </a:t>
            </a:r>
            <a:r>
              <a:rPr lang="en-US" sz="2400" i="1" dirty="0" smtClean="0">
                <a:solidFill>
                  <a:srgbClr val="C00000"/>
                </a:solidFill>
              </a:rPr>
              <a:t>keeps track</a:t>
            </a:r>
            <a:r>
              <a:rPr lang="en-US" sz="2400" dirty="0" smtClean="0"/>
              <a:t> of </a:t>
            </a:r>
            <a:r>
              <a:rPr lang="en-US" sz="2400" u="sng" dirty="0" smtClean="0"/>
              <a:t>new</a:t>
            </a:r>
            <a:r>
              <a:rPr lang="en-US" sz="2400" dirty="0" smtClean="0"/>
              <a:t> object created and existing ones </a:t>
            </a:r>
            <a:r>
              <a:rPr lang="en-US" sz="2400" u="sng" dirty="0" smtClean="0"/>
              <a:t>updated</a:t>
            </a:r>
            <a:r>
              <a:rPr lang="en-US" sz="2400" dirty="0" smtClean="0"/>
              <a:t> or </a:t>
            </a:r>
            <a:r>
              <a:rPr lang="en-US" sz="2400" u="sng" dirty="0" smtClean="0"/>
              <a:t>deleted</a:t>
            </a:r>
            <a:r>
              <a:rPr lang="en-US" sz="2400" dirty="0" smtClean="0"/>
              <a:t>.</a:t>
            </a:r>
          </a:p>
          <a:p>
            <a:r>
              <a:rPr lang="en-US" sz="2400" dirty="0" smtClean="0"/>
              <a:t>A Unit of Work keeps track of everything you do during a </a:t>
            </a:r>
            <a:r>
              <a:rPr lang="en-US" sz="2400" i="1" dirty="0" smtClean="0">
                <a:solidFill>
                  <a:srgbClr val="C00000"/>
                </a:solidFill>
              </a:rPr>
              <a:t>business transaction</a:t>
            </a:r>
            <a:r>
              <a:rPr lang="en-US" sz="2400" dirty="0" smtClean="0"/>
              <a:t> that can affect the database.</a:t>
            </a:r>
          </a:p>
          <a:p>
            <a:r>
              <a:rPr lang="en-US" sz="2400" dirty="0" smtClean="0"/>
              <a:t>When you're done, it </a:t>
            </a:r>
            <a:r>
              <a:rPr lang="en-US" sz="2400" i="1" dirty="0" smtClean="0">
                <a:solidFill>
                  <a:srgbClr val="C00000"/>
                </a:solidFill>
              </a:rPr>
              <a:t>figures out</a:t>
            </a:r>
            <a:r>
              <a:rPr lang="en-US" sz="2400" dirty="0" smtClean="0"/>
              <a:t> </a:t>
            </a:r>
            <a:r>
              <a:rPr lang="en-US" sz="2400" u="sng" dirty="0" smtClean="0"/>
              <a:t>everything</a:t>
            </a:r>
            <a:r>
              <a:rPr lang="en-US" sz="2400" dirty="0" smtClean="0"/>
              <a:t> that needs to be done to alter the database as a result of your work.</a:t>
            </a:r>
          </a:p>
        </p:txBody>
      </p:sp>
      <p:pic>
        <p:nvPicPr>
          <p:cNvPr id="4" name="Picture 2"/>
          <p:cNvPicPr>
            <a:picLocks noChangeAspect="1" noChangeArrowheads="1"/>
          </p:cNvPicPr>
          <p:nvPr/>
        </p:nvPicPr>
        <p:blipFill>
          <a:blip r:embed="rId2" cstate="print"/>
          <a:srcRect/>
          <a:stretch>
            <a:fillRect/>
          </a:stretch>
        </p:blipFill>
        <p:spPr bwMode="auto">
          <a:xfrm>
            <a:off x="6096000" y="2514600"/>
            <a:ext cx="2381250" cy="2143125"/>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of Work: How It Works?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38200" y="2590800"/>
            <a:ext cx="2381250" cy="2143125"/>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3810000" y="1790700"/>
            <a:ext cx="4762500" cy="438150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of Work: Sample Code</a:t>
            </a:r>
            <a:endParaRPr lang="en-US" dirty="0"/>
          </a:p>
        </p:txBody>
      </p:sp>
      <p:sp>
        <p:nvSpPr>
          <p:cNvPr id="5" name="Rectangle 4"/>
          <p:cNvSpPr/>
          <p:nvPr/>
        </p:nvSpPr>
        <p:spPr>
          <a:xfrm>
            <a:off x="457200" y="1219200"/>
            <a:ext cx="8305800" cy="5478423"/>
          </a:xfrm>
          <a:prstGeom prst="rect">
            <a:avLst/>
          </a:prstGeom>
          <a:solidFill>
            <a:schemeClr val="bg2"/>
          </a:solidFill>
          <a:ln>
            <a:solidFill>
              <a:schemeClr val="bg2">
                <a:lumMod val="10000"/>
              </a:schemeClr>
            </a:solidFill>
          </a:ln>
        </p:spPr>
        <p:txBody>
          <a:bodyPr wrap="square">
            <a:spAutoFit/>
          </a:bodyPr>
          <a:lstStyle/>
          <a:p>
            <a:r>
              <a:rPr lang="en-US" sz="1400" b="1" dirty="0" smtClean="0">
                <a:solidFill>
                  <a:srgbClr val="C00000"/>
                </a:solidFill>
                <a:latin typeface="Consolas" pitchFamily="49" charset="0"/>
                <a:cs typeface="Consolas" pitchFamily="49" charset="0"/>
              </a:rPr>
              <a:t>class </a:t>
            </a:r>
            <a:r>
              <a:rPr lang="en-US" sz="1400" b="1" dirty="0" err="1" smtClean="0">
                <a:solidFill>
                  <a:srgbClr val="C00000"/>
                </a:solidFill>
                <a:latin typeface="Consolas" pitchFamily="49" charset="0"/>
                <a:cs typeface="Consolas" pitchFamily="49" charset="0"/>
              </a:rPr>
              <a:t>UnitOfWork</a:t>
            </a:r>
            <a:r>
              <a:rPr lang="en-US" sz="1400" b="1"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private List </a:t>
            </a:r>
            <a:r>
              <a:rPr lang="en-US" sz="1400" dirty="0" err="1" smtClean="0">
                <a:solidFill>
                  <a:srgbClr val="C00000"/>
                </a:solidFill>
                <a:latin typeface="Consolas" pitchFamily="49" charset="0"/>
                <a:cs typeface="Consolas" pitchFamily="49" charset="0"/>
              </a:rPr>
              <a:t>newObjects</a:t>
            </a:r>
            <a:r>
              <a:rPr lang="en-US" sz="1400" dirty="0" smtClean="0">
                <a:solidFill>
                  <a:srgbClr val="C00000"/>
                </a:solidFill>
                <a:latin typeface="Consolas" pitchFamily="49" charset="0"/>
                <a:cs typeface="Consolas" pitchFamily="49" charset="0"/>
              </a:rPr>
              <a:t> = new </a:t>
            </a:r>
            <a:r>
              <a:rPr lang="en-US" sz="1400" dirty="0" err="1" smtClean="0">
                <a:solidFill>
                  <a:srgbClr val="C00000"/>
                </a:solidFill>
                <a:latin typeface="Consolas" pitchFamily="49" charset="0"/>
                <a:cs typeface="Consolas" pitchFamily="49" charset="0"/>
              </a:rPr>
              <a:t>ArrayList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private List </a:t>
            </a:r>
            <a:r>
              <a:rPr lang="en-US" sz="1400" dirty="0" err="1" smtClean="0">
                <a:solidFill>
                  <a:srgbClr val="C00000"/>
                </a:solidFill>
                <a:latin typeface="Consolas" pitchFamily="49" charset="0"/>
                <a:cs typeface="Consolas" pitchFamily="49" charset="0"/>
              </a:rPr>
              <a:t>dirtyObjects</a:t>
            </a:r>
            <a:r>
              <a:rPr lang="en-US" sz="1400" dirty="0" smtClean="0">
                <a:solidFill>
                  <a:srgbClr val="C00000"/>
                </a:solidFill>
                <a:latin typeface="Consolas" pitchFamily="49" charset="0"/>
                <a:cs typeface="Consolas" pitchFamily="49" charset="0"/>
              </a:rPr>
              <a:t> = new </a:t>
            </a:r>
            <a:r>
              <a:rPr lang="en-US" sz="1400" dirty="0" err="1" smtClean="0">
                <a:solidFill>
                  <a:srgbClr val="C00000"/>
                </a:solidFill>
                <a:latin typeface="Consolas" pitchFamily="49" charset="0"/>
                <a:cs typeface="Consolas" pitchFamily="49" charset="0"/>
              </a:rPr>
              <a:t>ArrayList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private List </a:t>
            </a:r>
            <a:r>
              <a:rPr lang="en-US" sz="1400" dirty="0" err="1" smtClean="0">
                <a:solidFill>
                  <a:srgbClr val="C00000"/>
                </a:solidFill>
                <a:latin typeface="Consolas" pitchFamily="49" charset="0"/>
                <a:cs typeface="Consolas" pitchFamily="49" charset="0"/>
              </a:rPr>
              <a:t>removedObjects</a:t>
            </a:r>
            <a:r>
              <a:rPr lang="en-US" sz="1400" dirty="0" smtClean="0">
                <a:solidFill>
                  <a:srgbClr val="C00000"/>
                </a:solidFill>
                <a:latin typeface="Consolas" pitchFamily="49" charset="0"/>
                <a:cs typeface="Consolas" pitchFamily="49" charset="0"/>
              </a:rPr>
              <a:t> = new </a:t>
            </a:r>
            <a:r>
              <a:rPr lang="en-US" sz="1400" dirty="0" err="1" smtClean="0">
                <a:solidFill>
                  <a:srgbClr val="C00000"/>
                </a:solidFill>
                <a:latin typeface="Consolas" pitchFamily="49" charset="0"/>
                <a:cs typeface="Consolas" pitchFamily="49" charset="0"/>
              </a:rPr>
              <a:t>ArrayList</a:t>
            </a:r>
            <a:r>
              <a:rPr lang="en-US" sz="1400" dirty="0" smtClean="0">
                <a:solidFill>
                  <a:srgbClr val="C00000"/>
                </a:solidFill>
                <a:latin typeface="Consolas" pitchFamily="49" charset="0"/>
                <a:cs typeface="Consolas" pitchFamily="49" charset="0"/>
              </a:rPr>
              <a:t>();</a:t>
            </a:r>
          </a:p>
          <a:p>
            <a:r>
              <a:rPr lang="en-US" sz="1400" b="1" dirty="0" smtClean="0">
                <a:solidFill>
                  <a:srgbClr val="C00000"/>
                </a:solidFill>
                <a:latin typeface="Consolas" pitchFamily="49" charset="0"/>
                <a:cs typeface="Consolas" pitchFamily="49" charset="0"/>
              </a:rPr>
              <a:t>   public void </a:t>
            </a:r>
            <a:r>
              <a:rPr lang="en-US" sz="1400" b="1" dirty="0" err="1" smtClean="0">
                <a:solidFill>
                  <a:srgbClr val="C00000"/>
                </a:solidFill>
                <a:latin typeface="Consolas" pitchFamily="49" charset="0"/>
                <a:cs typeface="Consolas" pitchFamily="49" charset="0"/>
              </a:rPr>
              <a:t>registerNew</a:t>
            </a:r>
            <a:r>
              <a:rPr lang="en-US" sz="1400" b="1" dirty="0" smtClean="0">
                <a:solidFill>
                  <a:srgbClr val="C00000"/>
                </a:solidFill>
                <a:latin typeface="Consolas" pitchFamily="49" charset="0"/>
                <a:cs typeface="Consolas" pitchFamily="49" charset="0"/>
              </a:rPr>
              <a:t>(Object </a:t>
            </a:r>
            <a:r>
              <a:rPr lang="en-US" sz="1400" b="1" dirty="0" err="1" smtClean="0">
                <a:solidFill>
                  <a:srgbClr val="C00000"/>
                </a:solidFill>
                <a:latin typeface="Consolas" pitchFamily="49" charset="0"/>
                <a:cs typeface="Consolas" pitchFamily="49" charset="0"/>
              </a:rPr>
              <a:t>obj</a:t>
            </a:r>
            <a:r>
              <a:rPr lang="en-US" sz="1400" b="1"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Assert.notNull</a:t>
            </a:r>
            <a:r>
              <a:rPr lang="en-US" sz="1400" dirty="0" smtClean="0">
                <a:solidFill>
                  <a:srgbClr val="C00000"/>
                </a:solidFill>
                <a:latin typeface="Consolas" pitchFamily="49" charset="0"/>
                <a:cs typeface="Consolas" pitchFamily="49" charset="0"/>
              </a:rPr>
              <a:t>("id not null", </a:t>
            </a:r>
            <a:r>
              <a:rPr lang="en-US" sz="1400" dirty="0" err="1" smtClean="0">
                <a:solidFill>
                  <a:srgbClr val="C00000"/>
                </a:solidFill>
                <a:latin typeface="Consolas" pitchFamily="49" charset="0"/>
                <a:cs typeface="Consolas" pitchFamily="49" charset="0"/>
              </a:rPr>
              <a:t>obj.getId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Assert.isTrue</a:t>
            </a:r>
            <a:r>
              <a:rPr lang="en-US" sz="1400" dirty="0" smtClean="0">
                <a:solidFill>
                  <a:srgbClr val="C00000"/>
                </a:solidFill>
                <a:latin typeface="Consolas" pitchFamily="49" charset="0"/>
                <a:cs typeface="Consolas" pitchFamily="49" charset="0"/>
              </a:rPr>
              <a:t>("object not dirty", !</a:t>
            </a:r>
            <a:r>
              <a:rPr lang="en-US" sz="1400" dirty="0" err="1" smtClean="0">
                <a:solidFill>
                  <a:srgbClr val="C00000"/>
                </a:solidFill>
                <a:latin typeface="Consolas" pitchFamily="49" charset="0"/>
                <a:cs typeface="Consolas" pitchFamily="49" charset="0"/>
              </a:rPr>
              <a:t>dirtyObjects.contains</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obj</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Assert.isTrue</a:t>
            </a:r>
            <a:r>
              <a:rPr lang="en-US" sz="1400" dirty="0" smtClean="0">
                <a:solidFill>
                  <a:srgbClr val="C00000"/>
                </a:solidFill>
                <a:latin typeface="Consolas" pitchFamily="49" charset="0"/>
                <a:cs typeface="Consolas" pitchFamily="49" charset="0"/>
              </a:rPr>
              <a:t>("object not removed", !</a:t>
            </a:r>
            <a:r>
              <a:rPr lang="en-US" sz="1400" dirty="0" err="1" smtClean="0">
                <a:solidFill>
                  <a:srgbClr val="C00000"/>
                </a:solidFill>
                <a:latin typeface="Consolas" pitchFamily="49" charset="0"/>
                <a:cs typeface="Consolas" pitchFamily="49" charset="0"/>
              </a:rPr>
              <a:t>removedObjects.contains</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obj</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Assert.isTrue</a:t>
            </a:r>
            <a:r>
              <a:rPr lang="en-US" sz="1400" dirty="0" smtClean="0">
                <a:solidFill>
                  <a:srgbClr val="C00000"/>
                </a:solidFill>
                <a:latin typeface="Consolas" pitchFamily="49" charset="0"/>
                <a:cs typeface="Consolas" pitchFamily="49" charset="0"/>
              </a:rPr>
              <a:t>("object not already registered new", !</a:t>
            </a:r>
            <a:r>
              <a:rPr lang="en-US" sz="1400" dirty="0" err="1" smtClean="0">
                <a:solidFill>
                  <a:srgbClr val="C00000"/>
                </a:solidFill>
                <a:latin typeface="Consolas" pitchFamily="49" charset="0"/>
                <a:cs typeface="Consolas" pitchFamily="49" charset="0"/>
              </a:rPr>
              <a:t>newObjects.contains</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obj</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newObjects.add</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obj</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b="1" dirty="0" smtClean="0">
                <a:solidFill>
                  <a:srgbClr val="C00000"/>
                </a:solidFill>
                <a:latin typeface="Consolas" pitchFamily="49" charset="0"/>
                <a:cs typeface="Consolas" pitchFamily="49" charset="0"/>
              </a:rPr>
              <a:t>   public void commit() {</a:t>
            </a:r>
          </a:p>
          <a:p>
            <a:r>
              <a:rPr lang="en-US" sz="1400" dirty="0" smtClean="0">
                <a:solidFill>
                  <a:srgbClr val="C00000"/>
                </a:solidFill>
                <a:latin typeface="Consolas" pitchFamily="49" charset="0"/>
                <a:cs typeface="Consolas" pitchFamily="49" charset="0"/>
              </a:rPr>
              <a:t>      </a:t>
            </a:r>
            <a:r>
              <a:rPr lang="en-US" sz="1400" b="1" dirty="0" err="1" smtClean="0">
                <a:solidFill>
                  <a:srgbClr val="C00000"/>
                </a:solidFill>
                <a:latin typeface="Consolas" pitchFamily="49" charset="0"/>
                <a:cs typeface="Consolas" pitchFamily="49" charset="0"/>
              </a:rPr>
              <a:t>insertNew</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updateDirty</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deleteRemoved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b="1" dirty="0" smtClean="0">
                <a:solidFill>
                  <a:srgbClr val="C00000"/>
                </a:solidFill>
                <a:latin typeface="Consolas" pitchFamily="49" charset="0"/>
                <a:cs typeface="Consolas" pitchFamily="49" charset="0"/>
              </a:rPr>
              <a:t>   private void </a:t>
            </a:r>
            <a:r>
              <a:rPr lang="en-US" sz="1400" b="1" dirty="0" err="1" smtClean="0">
                <a:solidFill>
                  <a:srgbClr val="C00000"/>
                </a:solidFill>
                <a:latin typeface="Consolas" pitchFamily="49" charset="0"/>
                <a:cs typeface="Consolas" pitchFamily="49" charset="0"/>
              </a:rPr>
              <a:t>insertNew</a:t>
            </a:r>
            <a:r>
              <a:rPr lang="en-US" sz="1400" b="1"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for (</a:t>
            </a:r>
            <a:r>
              <a:rPr lang="en-US" sz="1400" dirty="0" err="1" smtClean="0">
                <a:solidFill>
                  <a:srgbClr val="C00000"/>
                </a:solidFill>
                <a:latin typeface="Consolas" pitchFamily="49" charset="0"/>
                <a:cs typeface="Consolas" pitchFamily="49" charset="0"/>
              </a:rPr>
              <a:t>Iterator</a:t>
            </a:r>
            <a:r>
              <a:rPr lang="en-US" sz="1400" dirty="0" smtClean="0">
                <a:solidFill>
                  <a:srgbClr val="C00000"/>
                </a:solidFill>
                <a:latin typeface="Consolas" pitchFamily="49" charset="0"/>
                <a:cs typeface="Consolas" pitchFamily="49" charset="0"/>
              </a:rPr>
              <a:t> objects = </a:t>
            </a:r>
            <a:r>
              <a:rPr lang="en-US" sz="1400" dirty="0" err="1" smtClean="0">
                <a:solidFill>
                  <a:srgbClr val="C00000"/>
                </a:solidFill>
                <a:latin typeface="Consolas" pitchFamily="49" charset="0"/>
                <a:cs typeface="Consolas" pitchFamily="49" charset="0"/>
              </a:rPr>
              <a:t>newObjects.iterator</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objects.hasNext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DomainObject</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obj</a:t>
            </a:r>
            <a:r>
              <a:rPr lang="en-US" sz="1400" dirty="0" smtClean="0">
                <a:solidFill>
                  <a:srgbClr val="C00000"/>
                </a:solidFill>
                <a:latin typeface="Consolas" pitchFamily="49" charset="0"/>
                <a:cs typeface="Consolas" pitchFamily="49" charset="0"/>
              </a:rPr>
              <a:t> = (</a:t>
            </a:r>
            <a:r>
              <a:rPr lang="en-US" sz="1400" dirty="0" err="1" smtClean="0">
                <a:solidFill>
                  <a:srgbClr val="C00000"/>
                </a:solidFill>
                <a:latin typeface="Consolas" pitchFamily="49" charset="0"/>
                <a:cs typeface="Consolas" pitchFamily="49" charset="0"/>
              </a:rPr>
              <a:t>DomainObject</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objects.next</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r>
              <a:rPr lang="en-US" sz="1400" b="1" dirty="0" err="1" smtClean="0">
                <a:solidFill>
                  <a:srgbClr val="C00000"/>
                </a:solidFill>
                <a:latin typeface="Consolas" pitchFamily="49" charset="0"/>
                <a:cs typeface="Consolas" pitchFamily="49" charset="0"/>
              </a:rPr>
              <a:t>RepositoryRegistry.getRepository</a:t>
            </a:r>
            <a:r>
              <a:rPr lang="en-US" sz="1400" b="1" dirty="0" smtClean="0">
                <a:solidFill>
                  <a:srgbClr val="C00000"/>
                </a:solidFill>
                <a:latin typeface="Consolas" pitchFamily="49" charset="0"/>
                <a:cs typeface="Consolas" pitchFamily="49" charset="0"/>
              </a:rPr>
              <a:t>(</a:t>
            </a:r>
            <a:r>
              <a:rPr lang="en-US" sz="1400" b="1" dirty="0" err="1" smtClean="0">
                <a:solidFill>
                  <a:srgbClr val="C00000"/>
                </a:solidFill>
                <a:latin typeface="Consolas" pitchFamily="49" charset="0"/>
                <a:cs typeface="Consolas" pitchFamily="49" charset="0"/>
              </a:rPr>
              <a:t>obj.getClass</a:t>
            </a:r>
            <a:r>
              <a:rPr lang="en-US" sz="1400" b="1" dirty="0" smtClean="0">
                <a:solidFill>
                  <a:srgbClr val="C00000"/>
                </a:solidFill>
                <a:latin typeface="Consolas" pitchFamily="49" charset="0"/>
                <a:cs typeface="Consolas" pitchFamily="49" charset="0"/>
              </a:rPr>
              <a:t>()).insert(</a:t>
            </a:r>
            <a:r>
              <a:rPr lang="en-US" sz="1400" b="1" dirty="0" err="1" smtClean="0">
                <a:solidFill>
                  <a:srgbClr val="C00000"/>
                </a:solidFill>
                <a:latin typeface="Consolas" pitchFamily="49" charset="0"/>
                <a:cs typeface="Consolas" pitchFamily="49" charset="0"/>
              </a:rPr>
              <a:t>obj</a:t>
            </a:r>
            <a:r>
              <a:rPr lang="en-US" sz="1400" b="1"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a:t>
            </a:r>
            <a:endParaRPr lang="en-US" sz="1400" dirty="0">
              <a:solidFill>
                <a:srgbClr val="C00000"/>
              </a:solidFill>
              <a:latin typeface="Consolas" pitchFamily="49" charset="0"/>
              <a:cs typeface="Consolas"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Unit of Work Pros and Cons</a:t>
            </a:r>
          </a:p>
        </p:txBody>
      </p:sp>
      <p:sp>
        <p:nvSpPr>
          <p:cNvPr id="14339" name="Content Placeholder 2"/>
          <p:cNvSpPr>
            <a:spLocks noGrp="1"/>
          </p:cNvSpPr>
          <p:nvPr>
            <p:ph idx="1"/>
          </p:nvPr>
        </p:nvSpPr>
        <p:spPr>
          <a:xfrm>
            <a:off x="457200" y="1600200"/>
            <a:ext cx="8229600" cy="4572000"/>
          </a:xfrm>
        </p:spPr>
        <p:txBody>
          <a:bodyPr/>
          <a:lstStyle/>
          <a:p>
            <a:r>
              <a:rPr lang="en-US" sz="2100" dirty="0" smtClean="0"/>
              <a:t>Perhaps the simplest alternative is to </a:t>
            </a:r>
            <a:r>
              <a:rPr lang="en-US" sz="2100" i="1" dirty="0" smtClean="0">
                <a:solidFill>
                  <a:srgbClr val="C00000"/>
                </a:solidFill>
              </a:rPr>
              <a:t>explicitly save</a:t>
            </a:r>
            <a:r>
              <a:rPr lang="en-US" sz="2100" dirty="0" smtClean="0"/>
              <a:t> any object whenever you alter it.</a:t>
            </a:r>
          </a:p>
          <a:p>
            <a:r>
              <a:rPr lang="en-US" sz="2100" dirty="0" smtClean="0"/>
              <a:t>The problem here is that you may get </a:t>
            </a:r>
            <a:r>
              <a:rPr lang="en-US" sz="2100" u="sng" dirty="0" smtClean="0"/>
              <a:t>many</a:t>
            </a:r>
            <a:r>
              <a:rPr lang="en-US" sz="2100" dirty="0" smtClean="0"/>
              <a:t> more </a:t>
            </a:r>
            <a:r>
              <a:rPr lang="en-US" sz="2100" i="1" dirty="0" smtClean="0">
                <a:solidFill>
                  <a:srgbClr val="C00000"/>
                </a:solidFill>
              </a:rPr>
              <a:t>database calls</a:t>
            </a:r>
            <a:r>
              <a:rPr lang="en-US" sz="2100" dirty="0" smtClean="0"/>
              <a:t> than you want since, if you alter one object at three different points in your work, you get three calls rather than one call in its final state.</a:t>
            </a:r>
          </a:p>
          <a:p>
            <a:r>
              <a:rPr lang="en-US" sz="2100" dirty="0" smtClean="0"/>
              <a:t>To </a:t>
            </a:r>
            <a:r>
              <a:rPr lang="en-US" sz="2100" i="1" dirty="0" smtClean="0">
                <a:solidFill>
                  <a:srgbClr val="C00000"/>
                </a:solidFill>
              </a:rPr>
              <a:t>avoid</a:t>
            </a:r>
            <a:r>
              <a:rPr lang="en-US" sz="2100" dirty="0" smtClean="0"/>
              <a:t> multiple database calls, you can leave all your updates to the end.</a:t>
            </a:r>
          </a:p>
          <a:p>
            <a:pPr>
              <a:buNone/>
            </a:pPr>
            <a:r>
              <a:rPr lang="en-US" sz="2100" dirty="0" smtClean="0"/>
              <a:t>➾	To do this you need to </a:t>
            </a:r>
            <a:r>
              <a:rPr lang="en-US" sz="2100" i="1" dirty="0" smtClean="0">
                <a:solidFill>
                  <a:srgbClr val="C00000"/>
                </a:solidFill>
              </a:rPr>
              <a:t>keep track</a:t>
            </a:r>
            <a:r>
              <a:rPr lang="en-US" sz="2100" dirty="0" smtClean="0"/>
              <a:t> of all the objects that have changed.</a:t>
            </a:r>
          </a:p>
          <a:p>
            <a:pPr>
              <a:buNone/>
            </a:pPr>
            <a:r>
              <a:rPr lang="en-US" sz="2100" dirty="0" smtClean="0"/>
              <a:t>➾	You </a:t>
            </a:r>
            <a:r>
              <a:rPr lang="en-US" sz="2100" u="sng" dirty="0" smtClean="0"/>
              <a:t>can</a:t>
            </a:r>
            <a:r>
              <a:rPr lang="en-US" sz="2100" dirty="0" smtClean="0"/>
              <a:t> use </a:t>
            </a:r>
            <a:r>
              <a:rPr lang="en-US" sz="2100" u="sng" dirty="0" smtClean="0"/>
              <a:t>variables</a:t>
            </a:r>
            <a:r>
              <a:rPr lang="en-US" sz="2100" dirty="0" smtClean="0"/>
              <a:t> in your code for this, but they soon become </a:t>
            </a:r>
            <a:r>
              <a:rPr lang="en-US" sz="2100" i="1" dirty="0" smtClean="0">
                <a:solidFill>
                  <a:srgbClr val="C00000"/>
                </a:solidFill>
              </a:rPr>
              <a:t>unmanageable</a:t>
            </a:r>
            <a:r>
              <a:rPr lang="en-US" sz="2100" dirty="0" smtClean="0"/>
              <a:t> once you have more than a few.</a:t>
            </a:r>
          </a:p>
          <a:p>
            <a:r>
              <a:rPr lang="en-US" sz="2100" dirty="0" smtClean="0"/>
              <a:t>Unit of Work is a firm platform for more complicated situations, such as handling business transactions that </a:t>
            </a:r>
            <a:r>
              <a:rPr lang="en-US" sz="2100" i="1" dirty="0" smtClean="0">
                <a:solidFill>
                  <a:srgbClr val="C00000"/>
                </a:solidFill>
              </a:rPr>
              <a:t>span several system transactions</a:t>
            </a:r>
            <a:r>
              <a:rPr lang="en-US" sz="2100" dirty="0" smtClean="0"/>
              <a:t>.</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of Work Notes</a:t>
            </a:r>
            <a:endParaRPr lang="en-US" dirty="0"/>
          </a:p>
        </p:txBody>
      </p:sp>
      <p:sp>
        <p:nvSpPr>
          <p:cNvPr id="3" name="Content Placeholder 2"/>
          <p:cNvSpPr>
            <a:spLocks noGrp="1"/>
          </p:cNvSpPr>
          <p:nvPr>
            <p:ph idx="1"/>
          </p:nvPr>
        </p:nvSpPr>
        <p:spPr>
          <a:xfrm>
            <a:off x="457200" y="1600200"/>
            <a:ext cx="5334000" cy="4876799"/>
          </a:xfrm>
        </p:spPr>
        <p:txBody>
          <a:bodyPr/>
          <a:lstStyle/>
          <a:p>
            <a:r>
              <a:rPr lang="en-US" sz="2400" dirty="0" smtClean="0"/>
              <a:t>Use Unit of Work to </a:t>
            </a:r>
            <a:r>
              <a:rPr lang="en-US" sz="2400" i="1" dirty="0" smtClean="0">
                <a:solidFill>
                  <a:srgbClr val="C00000"/>
                </a:solidFill>
              </a:rPr>
              <a:t>avoid</a:t>
            </a:r>
            <a:r>
              <a:rPr lang="en-US" sz="2400" dirty="0" smtClean="0"/>
              <a:t> </a:t>
            </a:r>
            <a:r>
              <a:rPr lang="en-US" sz="2400" u="sng" dirty="0" smtClean="0"/>
              <a:t>multiple</a:t>
            </a:r>
            <a:r>
              <a:rPr lang="en-US" sz="2400" dirty="0" smtClean="0"/>
              <a:t> database calls.</a:t>
            </a:r>
          </a:p>
          <a:p>
            <a:r>
              <a:rPr lang="en-US" sz="2400" dirty="0" smtClean="0"/>
              <a:t>Unit of Work is </a:t>
            </a:r>
            <a:r>
              <a:rPr lang="en-US" sz="2400" i="1" dirty="0" smtClean="0">
                <a:solidFill>
                  <a:srgbClr val="C00000"/>
                </a:solidFill>
              </a:rPr>
              <a:t>coupled</a:t>
            </a:r>
            <a:r>
              <a:rPr lang="en-US" sz="2400" dirty="0" smtClean="0"/>
              <a:t> to data access objects (not business objects).</a:t>
            </a:r>
          </a:p>
          <a:p>
            <a:pPr>
              <a:buNone/>
            </a:pPr>
            <a:r>
              <a:rPr lang="en-US" sz="2400" dirty="0" smtClean="0"/>
              <a:t>➾	Keep Unit of Work </a:t>
            </a:r>
            <a:r>
              <a:rPr lang="en-US" sz="2400" i="1" dirty="0" smtClean="0">
                <a:solidFill>
                  <a:srgbClr val="C00000"/>
                </a:solidFill>
              </a:rPr>
              <a:t>out of</a:t>
            </a:r>
            <a:r>
              <a:rPr lang="en-US" sz="2400" dirty="0" smtClean="0"/>
              <a:t> business objects.</a:t>
            </a:r>
          </a:p>
          <a:p>
            <a:r>
              <a:rPr lang="en-US" sz="2400" dirty="0" smtClean="0"/>
              <a:t>Unit of Work often uses </a:t>
            </a:r>
            <a:r>
              <a:rPr lang="en-US" sz="2400" i="1" dirty="0" smtClean="0">
                <a:solidFill>
                  <a:srgbClr val="C00000"/>
                </a:solidFill>
              </a:rPr>
              <a:t>transaction</a:t>
            </a:r>
            <a:r>
              <a:rPr lang="en-US" sz="2400" dirty="0" smtClean="0"/>
              <a:t> features of the selected technology.</a:t>
            </a:r>
          </a:p>
          <a:p>
            <a:pPr>
              <a:buNone/>
            </a:pPr>
            <a:r>
              <a:rPr lang="en-US" sz="2400" dirty="0" smtClean="0"/>
              <a:t>➾	In most applications, we </a:t>
            </a:r>
            <a:r>
              <a:rPr lang="en-US" sz="2400" i="1" dirty="0" smtClean="0">
                <a:solidFill>
                  <a:srgbClr val="C00000"/>
                </a:solidFill>
              </a:rPr>
              <a:t>just</a:t>
            </a:r>
            <a:r>
              <a:rPr lang="en-US" sz="2400" dirty="0" smtClean="0"/>
              <a:t> need to use transaction features of the selected technology (see the next examples).</a:t>
            </a:r>
          </a:p>
        </p:txBody>
      </p:sp>
      <p:pic>
        <p:nvPicPr>
          <p:cNvPr id="29698" name="Picture 2"/>
          <p:cNvPicPr>
            <a:picLocks noChangeAspect="1" noChangeArrowheads="1"/>
          </p:cNvPicPr>
          <p:nvPr/>
        </p:nvPicPr>
        <p:blipFill>
          <a:blip r:embed="rId2" cstate="print"/>
          <a:srcRect/>
          <a:stretch>
            <a:fillRect/>
          </a:stretch>
        </p:blipFill>
        <p:spPr bwMode="auto">
          <a:xfrm>
            <a:off x="5943600" y="2667000"/>
            <a:ext cx="2857500" cy="202882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Module Transaction Example</a:t>
            </a:r>
            <a:endParaRPr lang="en-US" dirty="0"/>
          </a:p>
        </p:txBody>
      </p:sp>
      <p:sp>
        <p:nvSpPr>
          <p:cNvPr id="3" name="Content Placeholder 2"/>
          <p:cNvSpPr>
            <a:spLocks noGrp="1"/>
          </p:cNvSpPr>
          <p:nvPr>
            <p:ph idx="1"/>
          </p:nvPr>
        </p:nvSpPr>
        <p:spPr>
          <a:xfrm>
            <a:off x="457200" y="1447800"/>
            <a:ext cx="8229600" cy="5029200"/>
          </a:xfrm>
        </p:spPr>
        <p:txBody>
          <a:bodyPr/>
          <a:lstStyle/>
          <a:p>
            <a:pPr marL="342900" lvl="1" indent="-342900">
              <a:buFont typeface="Arial" charset="0"/>
              <a:buChar char="•"/>
            </a:pPr>
            <a:r>
              <a:rPr lang="en-US" sz="2400" dirty="0" smtClean="0"/>
              <a:t>Create table </a:t>
            </a:r>
            <a:r>
              <a:rPr lang="en-US" sz="2400" b="1" i="1" dirty="0" smtClean="0">
                <a:solidFill>
                  <a:srgbClr val="00B050"/>
                </a:solidFill>
                <a:latin typeface="Consolas" pitchFamily="49" charset="0"/>
              </a:rPr>
              <a:t>Booking</a:t>
            </a:r>
            <a:r>
              <a:rPr lang="en-US" sz="2400" dirty="0" smtClean="0"/>
              <a:t> (passport number, room number, from date, to date, price)</a:t>
            </a:r>
          </a:p>
          <a:p>
            <a:r>
              <a:rPr lang="en-US" sz="2400" dirty="0" smtClean="0"/>
              <a:t>Create</a:t>
            </a:r>
            <a:r>
              <a:rPr lang="en-US" sz="2400" dirty="0" smtClean="0">
                <a:latin typeface="Consolas" pitchFamily="49" charset="0"/>
              </a:rPr>
              <a:t> </a:t>
            </a:r>
            <a:r>
              <a:rPr lang="en-US" sz="2400" b="1" i="1" dirty="0" err="1" smtClean="0">
                <a:solidFill>
                  <a:srgbClr val="C00000"/>
                </a:solidFill>
                <a:latin typeface="Consolas" pitchFamily="49" charset="0"/>
              </a:rPr>
              <a:t>BookingModule</a:t>
            </a:r>
            <a:r>
              <a:rPr lang="en-US" sz="2400" dirty="0" smtClean="0"/>
              <a:t> class</a:t>
            </a:r>
          </a:p>
          <a:p>
            <a:pPr lvl="1"/>
            <a:r>
              <a:rPr lang="en-US" sz="2000" dirty="0" smtClean="0"/>
              <a:t>Create </a:t>
            </a:r>
            <a:r>
              <a:rPr lang="en-US" sz="2000" b="1" dirty="0" smtClean="0">
                <a:latin typeface="Consolas" pitchFamily="49" charset="0"/>
              </a:rPr>
              <a:t>Book(</a:t>
            </a:r>
            <a:r>
              <a:rPr lang="en-US" sz="2000" b="1" dirty="0" err="1" smtClean="0">
                <a:latin typeface="Consolas" pitchFamily="49" charset="0"/>
              </a:rPr>
              <a:t>passportNumber</a:t>
            </a:r>
            <a:r>
              <a:rPr lang="en-US" sz="2000" b="1" dirty="0" smtClean="0">
                <a:latin typeface="Consolas" pitchFamily="49" charset="0"/>
              </a:rPr>
              <a:t>, </a:t>
            </a:r>
            <a:r>
              <a:rPr lang="en-US" sz="2000" b="1" dirty="0" err="1" smtClean="0">
                <a:latin typeface="Consolas" pitchFamily="49" charset="0"/>
              </a:rPr>
              <a:t>roomNumber</a:t>
            </a:r>
            <a:r>
              <a:rPr lang="en-US" sz="2000" b="1" dirty="0" smtClean="0">
                <a:latin typeface="Consolas" pitchFamily="49" charset="0"/>
              </a:rPr>
              <a:t>, </a:t>
            </a:r>
            <a:r>
              <a:rPr lang="en-US" sz="2000" b="1" dirty="0" err="1" smtClean="0">
                <a:latin typeface="Consolas" pitchFamily="49" charset="0"/>
              </a:rPr>
              <a:t>fromDate</a:t>
            </a:r>
            <a:r>
              <a:rPr lang="en-US" sz="2000" b="1" dirty="0" smtClean="0">
                <a:latin typeface="Consolas" pitchFamily="49" charset="0"/>
              </a:rPr>
              <a:t>, </a:t>
            </a:r>
            <a:r>
              <a:rPr lang="en-US" sz="2000" b="1" dirty="0" err="1" smtClean="0">
                <a:latin typeface="Consolas" pitchFamily="49" charset="0"/>
              </a:rPr>
              <a:t>toDate</a:t>
            </a:r>
            <a:r>
              <a:rPr lang="en-US" sz="2000" b="1" dirty="0" smtClean="0">
                <a:latin typeface="Consolas" pitchFamily="49" charset="0"/>
              </a:rPr>
              <a:t>, price)</a:t>
            </a:r>
            <a:r>
              <a:rPr lang="en-US" sz="2000" dirty="0" smtClean="0"/>
              <a:t> method.</a:t>
            </a:r>
          </a:p>
          <a:p>
            <a:pPr lvl="1"/>
            <a:r>
              <a:rPr lang="en-US" sz="2000" dirty="0" smtClean="0"/>
              <a:t>Check passport number rule.</a:t>
            </a:r>
          </a:p>
          <a:p>
            <a:pPr lvl="1"/>
            <a:r>
              <a:rPr lang="en-US" sz="2000" dirty="0" smtClean="0"/>
              <a:t>Create </a:t>
            </a:r>
            <a:r>
              <a:rPr lang="en-US" sz="2000" b="1" i="1" dirty="0" err="1" smtClean="0">
                <a:solidFill>
                  <a:srgbClr val="C00000"/>
                </a:solidFill>
                <a:latin typeface="Consolas" pitchFamily="49" charset="0"/>
              </a:rPr>
              <a:t>RoomModule</a:t>
            </a:r>
            <a:r>
              <a:rPr lang="en-US" sz="2000" dirty="0" smtClean="0"/>
              <a:t> class and use it to get available room from the table Rooms (using </a:t>
            </a:r>
            <a:r>
              <a:rPr lang="en-US" sz="2000" dirty="0" err="1" smtClean="0"/>
              <a:t>ReservedUntil</a:t>
            </a:r>
            <a:r>
              <a:rPr lang="en-US" sz="2000" dirty="0" smtClean="0"/>
              <a:t> field).</a:t>
            </a:r>
          </a:p>
          <a:p>
            <a:pPr lvl="1"/>
            <a:r>
              <a:rPr lang="en-US" sz="2000" dirty="0" smtClean="0"/>
              <a:t>Get returned customer from the table Booking (using </a:t>
            </a:r>
            <a:r>
              <a:rPr lang="en-US" sz="2000" dirty="0" err="1" smtClean="0"/>
              <a:t>PassportNumber</a:t>
            </a:r>
            <a:r>
              <a:rPr lang="en-US" sz="2000" dirty="0" smtClean="0"/>
              <a:t> field).</a:t>
            </a:r>
          </a:p>
          <a:p>
            <a:pPr lvl="1"/>
            <a:r>
              <a:rPr lang="en-US" sz="2000" dirty="0" smtClean="0"/>
              <a:t>Calculate price.</a:t>
            </a:r>
          </a:p>
          <a:p>
            <a:pPr lvl="1"/>
            <a:r>
              <a:rPr lang="en-US" sz="2000" b="1" dirty="0" smtClean="0">
                <a:solidFill>
                  <a:srgbClr val="C00000"/>
                </a:solidFill>
                <a:latin typeface="Consolas" pitchFamily="49" charset="0"/>
              </a:rPr>
              <a:t>Insert</a:t>
            </a:r>
            <a:r>
              <a:rPr lang="en-US" sz="2000" dirty="0" smtClean="0"/>
              <a:t> information (passport number, room number, from date, to date, price) into the table Booking and </a:t>
            </a:r>
            <a:r>
              <a:rPr lang="en-US" sz="2000" b="1" i="1" dirty="0" smtClean="0">
                <a:solidFill>
                  <a:srgbClr val="C00000"/>
                </a:solidFill>
                <a:latin typeface="Consolas" pitchFamily="49" charset="0"/>
              </a:rPr>
              <a:t>log</a:t>
            </a:r>
            <a:r>
              <a:rPr lang="en-US" sz="2000" dirty="0" smtClean="0"/>
              <a:t> the action to a flat file.</a:t>
            </a:r>
          </a:p>
          <a:p>
            <a:pPr lvl="1"/>
            <a:r>
              <a:rPr lang="en-US" sz="2000" b="1" i="1" dirty="0" smtClean="0">
                <a:solidFill>
                  <a:srgbClr val="C00000"/>
                </a:solidFill>
                <a:latin typeface="Consolas" pitchFamily="49" charset="0"/>
              </a:rPr>
              <a:t>Update</a:t>
            </a:r>
            <a:r>
              <a:rPr lang="en-US" sz="2000" dirty="0" smtClean="0"/>
              <a:t> </a:t>
            </a:r>
            <a:r>
              <a:rPr lang="en-US" sz="2000" dirty="0" err="1" smtClean="0"/>
              <a:t>ReservedUntil</a:t>
            </a:r>
            <a:r>
              <a:rPr lang="en-US" sz="2000" dirty="0" smtClean="0"/>
              <a:t> field of the table Rooms and  </a:t>
            </a:r>
            <a:r>
              <a:rPr lang="en-US" sz="2000" b="1" i="1" dirty="0" smtClean="0">
                <a:solidFill>
                  <a:srgbClr val="C00000"/>
                </a:solidFill>
                <a:latin typeface="Consolas" pitchFamily="49" charset="0"/>
              </a:rPr>
              <a:t>log</a:t>
            </a:r>
            <a:r>
              <a:rPr lang="en-US" sz="2000" dirty="0" smtClean="0"/>
              <a:t> the action to a flat file.</a:t>
            </a:r>
          </a:p>
        </p:txBody>
      </p:sp>
      <p:sp>
        <p:nvSpPr>
          <p:cNvPr id="5" name="Rounded Rectangle 4"/>
          <p:cNvSpPr/>
          <p:nvPr/>
        </p:nvSpPr>
        <p:spPr>
          <a:xfrm>
            <a:off x="914400" y="3733800"/>
            <a:ext cx="7696200" cy="685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67400" y="3200400"/>
            <a:ext cx="1895071"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err="1" smtClean="0">
                <a:solidFill>
                  <a:schemeClr val="bg1"/>
                </a:solidFill>
                <a:latin typeface="Consolas" pitchFamily="49" charset="0"/>
              </a:rPr>
              <a:t>RoomGateway</a:t>
            </a:r>
            <a:endParaRPr lang="en-US" sz="2200" dirty="0">
              <a:solidFill>
                <a:schemeClr val="bg1"/>
              </a:solidFill>
            </a:endParaRPr>
          </a:p>
        </p:txBody>
      </p:sp>
      <p:sp>
        <p:nvSpPr>
          <p:cNvPr id="7" name="Rectangle 6"/>
          <p:cNvSpPr/>
          <p:nvPr/>
        </p:nvSpPr>
        <p:spPr>
          <a:xfrm>
            <a:off x="5334000" y="1981200"/>
            <a:ext cx="2361544"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err="1" smtClean="0">
                <a:solidFill>
                  <a:schemeClr val="bg1"/>
                </a:solidFill>
                <a:latin typeface="Consolas" pitchFamily="49" charset="0"/>
              </a:rPr>
              <a:t>BookingGateway</a:t>
            </a:r>
            <a:endParaRPr lang="en-US" sz="2200" dirty="0">
              <a:solidFill>
                <a:schemeClr val="bg1"/>
              </a:solidFill>
            </a:endParaRPr>
          </a:p>
        </p:txBody>
      </p:sp>
      <p:cxnSp>
        <p:nvCxnSpPr>
          <p:cNvPr id="9" name="Straight Arrow Connector 8"/>
          <p:cNvCxnSpPr/>
          <p:nvPr/>
        </p:nvCxnSpPr>
        <p:spPr>
          <a:xfrm flipV="1">
            <a:off x="3581400" y="2209800"/>
            <a:ext cx="1600200" cy="76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276600" y="3429000"/>
            <a:ext cx="23622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981200" y="3657600"/>
            <a:ext cx="3810000" cy="25146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133600" y="2514600"/>
            <a:ext cx="3352800" cy="3048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3017743" y="5055513"/>
            <a:ext cx="4071949"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smtClean="0">
                <a:solidFill>
                  <a:schemeClr val="bg1"/>
                </a:solidFill>
                <a:latin typeface="Consolas" pitchFamily="49" charset="0"/>
              </a:rPr>
              <a:t>Start a transaction here.</a:t>
            </a:r>
            <a:endParaRPr lang="en-US" sz="2200" dirty="0">
              <a:solidFill>
                <a:schemeClr val="bg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 Transaction Example</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sz="1800" dirty="0" smtClean="0"/>
              <a:t>Create table </a:t>
            </a:r>
            <a:r>
              <a:rPr lang="en-US" sz="1800" b="1" i="1" dirty="0" smtClean="0">
                <a:solidFill>
                  <a:srgbClr val="00B050"/>
                </a:solidFill>
                <a:latin typeface="Consolas" pitchFamily="49" charset="0"/>
              </a:rPr>
              <a:t>Booking</a:t>
            </a:r>
            <a:r>
              <a:rPr lang="en-US" sz="1800" dirty="0" smtClean="0"/>
              <a:t> (passport number, room number, from date, to date, price)</a:t>
            </a:r>
          </a:p>
          <a:p>
            <a:r>
              <a:rPr lang="en-US" sz="1800" dirty="0" smtClean="0"/>
              <a:t>Create </a:t>
            </a:r>
            <a:r>
              <a:rPr lang="en-US" sz="1800" b="1" i="1" dirty="0" smtClean="0">
                <a:solidFill>
                  <a:srgbClr val="C00000"/>
                </a:solidFill>
                <a:latin typeface="Consolas" pitchFamily="49" charset="0"/>
              </a:rPr>
              <a:t>Customer</a:t>
            </a:r>
            <a:r>
              <a:rPr lang="en-US" sz="1800" dirty="0" smtClean="0"/>
              <a:t> class with </a:t>
            </a:r>
            <a:r>
              <a:rPr lang="en-US" sz="1800" b="1" dirty="0" err="1" smtClean="0">
                <a:latin typeface="Consolas" pitchFamily="49" charset="0"/>
              </a:rPr>
              <a:t>PassportNumber</a:t>
            </a:r>
            <a:r>
              <a:rPr lang="en-US" sz="1800" dirty="0" smtClean="0"/>
              <a:t> property and use it to check passport number rule and get returned customer.</a:t>
            </a:r>
          </a:p>
          <a:p>
            <a:r>
              <a:rPr lang="en-US" sz="1800" dirty="0" smtClean="0"/>
              <a:t>Create </a:t>
            </a:r>
            <a:r>
              <a:rPr lang="en-US" sz="1800" b="1" i="1" dirty="0" smtClean="0">
                <a:solidFill>
                  <a:srgbClr val="C00000"/>
                </a:solidFill>
                <a:latin typeface="Consolas" pitchFamily="49" charset="0"/>
              </a:rPr>
              <a:t>Room</a:t>
            </a:r>
            <a:r>
              <a:rPr lang="en-US" sz="1800" dirty="0" smtClean="0"/>
              <a:t> class with </a:t>
            </a:r>
            <a:r>
              <a:rPr lang="en-US" sz="1800" b="1" dirty="0" err="1" smtClean="0">
                <a:latin typeface="Consolas" pitchFamily="49" charset="0"/>
              </a:rPr>
              <a:t>RoomNumber</a:t>
            </a:r>
            <a:r>
              <a:rPr lang="en-US" sz="1800" dirty="0" smtClean="0"/>
              <a:t> and </a:t>
            </a:r>
            <a:r>
              <a:rPr lang="en-US" sz="1800" b="1" dirty="0" err="1" smtClean="0">
                <a:latin typeface="Consolas" pitchFamily="49" charset="0"/>
              </a:rPr>
              <a:t>ReservedUntil</a:t>
            </a:r>
            <a:r>
              <a:rPr lang="en-US" sz="1800" dirty="0" smtClean="0"/>
              <a:t> property and use it to get available room</a:t>
            </a:r>
            <a:r>
              <a:rPr lang="en-US" sz="1800" i="1" dirty="0" smtClean="0"/>
              <a:t>.</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BookingPrice</a:t>
            </a:r>
            <a:r>
              <a:rPr lang="en-US" sz="1800" dirty="0" smtClean="0"/>
              <a:t> class with </a:t>
            </a:r>
            <a:r>
              <a:rPr lang="en-US" sz="1800" b="1" dirty="0" err="1" smtClean="0">
                <a:latin typeface="Consolas" pitchFamily="49" charset="0"/>
              </a:rPr>
              <a:t>StartDate</a:t>
            </a:r>
            <a:r>
              <a:rPr lang="en-US" sz="1800" dirty="0" smtClean="0"/>
              <a:t>, </a:t>
            </a:r>
            <a:r>
              <a:rPr lang="en-US" sz="1800" b="1" dirty="0" err="1" smtClean="0">
                <a:latin typeface="Consolas" pitchFamily="49" charset="0"/>
              </a:rPr>
              <a:t>EndDate</a:t>
            </a:r>
            <a:r>
              <a:rPr lang="en-US" sz="1800" dirty="0" smtClean="0"/>
              <a:t> and </a:t>
            </a:r>
            <a:r>
              <a:rPr lang="en-US" sz="1800" b="1" dirty="0" smtClean="0">
                <a:latin typeface="Consolas" pitchFamily="49" charset="0"/>
              </a:rPr>
              <a:t>Customer</a:t>
            </a:r>
            <a:r>
              <a:rPr lang="en-US" sz="1800" dirty="0" smtClean="0"/>
              <a:t> properties and </a:t>
            </a:r>
            <a:r>
              <a:rPr lang="en-US" sz="1800" dirty="0" err="1" smtClean="0"/>
              <a:t>GetPrice</a:t>
            </a:r>
            <a:r>
              <a:rPr lang="en-US" sz="1800" dirty="0" smtClean="0"/>
              <a:t> method</a:t>
            </a:r>
          </a:p>
          <a:p>
            <a:pPr marL="342900" lvl="1" indent="-342900">
              <a:buFont typeface="Arial" charset="0"/>
              <a:buChar char="•"/>
            </a:pPr>
            <a:r>
              <a:rPr lang="en-US" sz="1800" dirty="0" smtClean="0"/>
              <a:t>Create </a:t>
            </a:r>
            <a:r>
              <a:rPr lang="en-US" sz="1800" b="1" i="1" dirty="0" err="1" smtClean="0">
                <a:solidFill>
                  <a:srgbClr val="C00000"/>
                </a:solidFill>
                <a:latin typeface="Consolas" pitchFamily="49" charset="0"/>
              </a:rPr>
              <a:t>BookingDTO</a:t>
            </a:r>
            <a:r>
              <a:rPr lang="en-US" sz="1800" dirty="0" smtClean="0"/>
              <a:t> class with the following properties: </a:t>
            </a:r>
            <a:r>
              <a:rPr lang="en-US" sz="1800" dirty="0" err="1" smtClean="0"/>
              <a:t>PassportNumber</a:t>
            </a:r>
            <a:r>
              <a:rPr lang="en-US" sz="1800" dirty="0" smtClean="0"/>
              <a:t>, </a:t>
            </a:r>
            <a:r>
              <a:rPr lang="en-US" sz="1800" dirty="0" err="1" smtClean="0"/>
              <a:t>FromDate</a:t>
            </a:r>
            <a:r>
              <a:rPr lang="en-US" sz="1800" dirty="0" smtClean="0"/>
              <a:t>, </a:t>
            </a:r>
            <a:r>
              <a:rPr lang="en-US" sz="1800" dirty="0" err="1" smtClean="0"/>
              <a:t>ToDate</a:t>
            </a:r>
            <a:r>
              <a:rPr lang="en-US" sz="1800" dirty="0" smtClean="0"/>
              <a:t>, </a:t>
            </a:r>
            <a:r>
              <a:rPr lang="en-US" sz="1800" dirty="0" err="1" smtClean="0"/>
              <a:t>RoomNumber</a:t>
            </a:r>
            <a:r>
              <a:rPr lang="en-US" sz="1800" dirty="0" smtClean="0"/>
              <a:t>, Price.</a:t>
            </a:r>
          </a:p>
          <a:p>
            <a:r>
              <a:rPr lang="en-US" sz="1800" dirty="0" smtClean="0"/>
              <a:t>Create </a:t>
            </a:r>
            <a:r>
              <a:rPr lang="en-US" sz="1800" b="1" i="1" dirty="0" smtClean="0">
                <a:solidFill>
                  <a:srgbClr val="C00000"/>
                </a:solidFill>
                <a:latin typeface="Consolas" pitchFamily="49" charset="0"/>
              </a:rPr>
              <a:t>Booking</a:t>
            </a:r>
            <a:r>
              <a:rPr lang="en-US" sz="1800" dirty="0" smtClean="0"/>
              <a:t> class with </a:t>
            </a:r>
            <a:r>
              <a:rPr lang="en-US" sz="1800" b="1" i="1" dirty="0" smtClean="0">
                <a:solidFill>
                  <a:srgbClr val="C00000"/>
                </a:solidFill>
                <a:latin typeface="Consolas" pitchFamily="49" charset="0"/>
              </a:rPr>
              <a:t>Customer</a:t>
            </a:r>
            <a:r>
              <a:rPr lang="en-US" sz="1800" dirty="0" smtClean="0"/>
              <a:t>, </a:t>
            </a:r>
            <a:r>
              <a:rPr lang="en-US" sz="1800" b="1" i="1" dirty="0" smtClean="0">
                <a:solidFill>
                  <a:srgbClr val="C00000"/>
                </a:solidFill>
                <a:latin typeface="Consolas" pitchFamily="49" charset="0"/>
              </a:rPr>
              <a:t>Room</a:t>
            </a:r>
            <a:r>
              <a:rPr lang="en-US" sz="1800" dirty="0" smtClean="0"/>
              <a:t> and </a:t>
            </a:r>
            <a:r>
              <a:rPr lang="en-US" sz="1800" b="1" i="1" dirty="0" err="1" smtClean="0">
                <a:solidFill>
                  <a:srgbClr val="C00000"/>
                </a:solidFill>
                <a:latin typeface="Consolas" pitchFamily="49" charset="0"/>
              </a:rPr>
              <a:t>BookingPrice</a:t>
            </a:r>
            <a:r>
              <a:rPr lang="en-US" sz="1800" i="1" dirty="0" smtClean="0"/>
              <a:t> </a:t>
            </a:r>
            <a:r>
              <a:rPr lang="en-US" sz="1800" dirty="0" smtClean="0"/>
              <a:t>properties.</a:t>
            </a:r>
          </a:p>
          <a:p>
            <a:pPr lvl="1"/>
            <a:r>
              <a:rPr lang="en-US" sz="1700" dirty="0" smtClean="0"/>
              <a:t>Create </a:t>
            </a:r>
            <a:r>
              <a:rPr lang="en-US" sz="1700" b="1" dirty="0" err="1" smtClean="0">
                <a:latin typeface="Consolas" pitchFamily="49" charset="0"/>
              </a:rPr>
              <a:t>BookingDTO</a:t>
            </a:r>
            <a:r>
              <a:rPr lang="en-US" sz="1700" b="1" dirty="0" smtClean="0">
                <a:latin typeface="Consolas" pitchFamily="49" charset="0"/>
              </a:rPr>
              <a:t> Book(</a:t>
            </a:r>
            <a:r>
              <a:rPr lang="en-US" sz="1700" b="1" dirty="0" err="1" smtClean="0">
                <a:latin typeface="Consolas" pitchFamily="49" charset="0"/>
              </a:rPr>
              <a:t>BookingDTO</a:t>
            </a:r>
            <a:r>
              <a:rPr lang="en-US" sz="1700" b="1" dirty="0" smtClean="0">
                <a:latin typeface="Consolas" pitchFamily="49" charset="0"/>
              </a:rPr>
              <a:t> input)</a:t>
            </a:r>
            <a:r>
              <a:rPr lang="en-US" sz="1700" dirty="0" smtClean="0"/>
              <a:t> method.</a:t>
            </a:r>
          </a:p>
          <a:p>
            <a:pPr lvl="1"/>
            <a:r>
              <a:rPr lang="en-US" sz="1700" dirty="0" smtClean="0"/>
              <a:t>Create Customer, Room and </a:t>
            </a:r>
            <a:r>
              <a:rPr lang="en-US" sz="1700" dirty="0" err="1" smtClean="0"/>
              <a:t>BookingPrice</a:t>
            </a:r>
            <a:r>
              <a:rPr lang="en-US" sz="1700" dirty="0" smtClean="0"/>
              <a:t> instance and call appropriate methods.</a:t>
            </a:r>
          </a:p>
          <a:p>
            <a:pPr lvl="1"/>
            <a:r>
              <a:rPr lang="en-US" sz="1700" b="1" i="1" dirty="0" smtClean="0">
                <a:solidFill>
                  <a:srgbClr val="C00000"/>
                </a:solidFill>
                <a:latin typeface="Consolas" pitchFamily="49" charset="0"/>
              </a:rPr>
              <a:t>Insert</a:t>
            </a:r>
            <a:r>
              <a:rPr lang="en-US" sz="1700" dirty="0" smtClean="0"/>
              <a:t> information (passport number, room number, from date, to date, price) into the table Booking and </a:t>
            </a:r>
            <a:r>
              <a:rPr lang="en-US" sz="1800" b="1" i="1" dirty="0" smtClean="0">
                <a:solidFill>
                  <a:srgbClr val="C00000"/>
                </a:solidFill>
                <a:latin typeface="Consolas" pitchFamily="49" charset="0"/>
              </a:rPr>
              <a:t>log</a:t>
            </a:r>
            <a:r>
              <a:rPr lang="en-US" sz="1800" dirty="0" smtClean="0"/>
              <a:t> the action to a flat file (Booking’s responsibility).</a:t>
            </a:r>
            <a:endParaRPr lang="en-US" sz="1700" dirty="0" smtClean="0"/>
          </a:p>
          <a:p>
            <a:pPr lvl="1"/>
            <a:r>
              <a:rPr lang="en-US" sz="1700" b="1" i="1" dirty="0" smtClean="0">
                <a:solidFill>
                  <a:srgbClr val="C00000"/>
                </a:solidFill>
                <a:latin typeface="Consolas" pitchFamily="49" charset="0"/>
              </a:rPr>
              <a:t>Update</a:t>
            </a:r>
            <a:r>
              <a:rPr lang="en-US" sz="1700" dirty="0" smtClean="0"/>
              <a:t> </a:t>
            </a:r>
            <a:r>
              <a:rPr lang="en-US" sz="1700" dirty="0" err="1" smtClean="0"/>
              <a:t>ReservedUntil</a:t>
            </a:r>
            <a:r>
              <a:rPr lang="en-US" sz="1700" dirty="0" smtClean="0"/>
              <a:t> field of the table Rooms and</a:t>
            </a:r>
            <a:r>
              <a:rPr lang="en-US" sz="1800" dirty="0" smtClean="0"/>
              <a:t> </a:t>
            </a:r>
            <a:r>
              <a:rPr lang="en-US" sz="1800" b="1" i="1" dirty="0" smtClean="0">
                <a:solidFill>
                  <a:srgbClr val="C00000"/>
                </a:solidFill>
                <a:latin typeface="Consolas" pitchFamily="49" charset="0"/>
              </a:rPr>
              <a:t>log</a:t>
            </a:r>
            <a:r>
              <a:rPr lang="en-US" sz="1800" dirty="0" smtClean="0"/>
              <a:t> the action to a flat file (Room’s responsibility).</a:t>
            </a:r>
          </a:p>
        </p:txBody>
      </p:sp>
      <p:cxnSp>
        <p:nvCxnSpPr>
          <p:cNvPr id="5" name="Straight Arrow Connector 4"/>
          <p:cNvCxnSpPr/>
          <p:nvPr/>
        </p:nvCxnSpPr>
        <p:spPr>
          <a:xfrm flipH="1">
            <a:off x="2057400" y="1905000"/>
            <a:ext cx="228600" cy="76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057400" y="1981200"/>
            <a:ext cx="457200" cy="1143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2209800" y="1981200"/>
            <a:ext cx="457200" cy="23622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791200" y="1143000"/>
            <a:ext cx="2361544" cy="430887"/>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sz="2200" b="1" i="1" dirty="0" err="1" smtClean="0">
                <a:solidFill>
                  <a:schemeClr val="bg1"/>
                </a:solidFill>
                <a:latin typeface="Consolas" pitchFamily="49" charset="0"/>
              </a:rPr>
              <a:t>BookingGateway</a:t>
            </a:r>
            <a:endParaRPr lang="en-US" sz="2200" dirty="0">
              <a:solidFill>
                <a:schemeClr val="bg1"/>
              </a:solidFill>
            </a:endParaRPr>
          </a:p>
        </p:txBody>
      </p:sp>
      <p:cxnSp>
        <p:nvCxnSpPr>
          <p:cNvPr id="8" name="Straight Arrow Connector 7"/>
          <p:cNvCxnSpPr/>
          <p:nvPr/>
        </p:nvCxnSpPr>
        <p:spPr>
          <a:xfrm>
            <a:off x="1981200" y="6172200"/>
            <a:ext cx="3200400" cy="2286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257800" y="6248400"/>
            <a:ext cx="1895071" cy="43088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2200" b="1" i="1" dirty="0" err="1" smtClean="0">
                <a:solidFill>
                  <a:schemeClr val="bg1"/>
                </a:solidFill>
                <a:latin typeface="Consolas" pitchFamily="49" charset="0"/>
              </a:rPr>
              <a:t>RoomGateway</a:t>
            </a:r>
            <a:endParaRPr lang="en-US" sz="2200" dirty="0">
              <a:solidFill>
                <a:schemeClr val="bg1"/>
              </a:solidFill>
            </a:endParaRPr>
          </a:p>
        </p:txBody>
      </p:sp>
      <p:cxnSp>
        <p:nvCxnSpPr>
          <p:cNvPr id="12" name="Straight Arrow Connector 11"/>
          <p:cNvCxnSpPr/>
          <p:nvPr/>
        </p:nvCxnSpPr>
        <p:spPr>
          <a:xfrm flipV="1">
            <a:off x="1981200" y="1371600"/>
            <a:ext cx="3505200" cy="39624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3"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Process a Request? [4]</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Protocol handling</a:t>
            </a:r>
            <a:r>
              <a:rPr lang="en-US" sz="2400" dirty="0" smtClean="0"/>
              <a:t> and </a:t>
            </a:r>
            <a:r>
              <a:rPr lang="en-US" sz="2400" i="1" dirty="0" smtClean="0">
                <a:solidFill>
                  <a:srgbClr val="C00000"/>
                </a:solidFill>
              </a:rPr>
              <a:t>context transformation</a:t>
            </a:r>
          </a:p>
          <a:p>
            <a:pPr lvl="1"/>
            <a:r>
              <a:rPr lang="en-US" sz="2000" dirty="0" smtClean="0"/>
              <a:t>Handling a protocol-specific request, transfer of protocol-specific state into a more general form.</a:t>
            </a:r>
          </a:p>
          <a:p>
            <a:r>
              <a:rPr lang="en-US" sz="2400" i="1" dirty="0" smtClean="0">
                <a:solidFill>
                  <a:srgbClr val="C00000"/>
                </a:solidFill>
              </a:rPr>
              <a:t>Navigation</a:t>
            </a:r>
            <a:r>
              <a:rPr lang="en-US" sz="2400" dirty="0" smtClean="0"/>
              <a:t> and </a:t>
            </a:r>
            <a:r>
              <a:rPr lang="en-US" sz="2400" i="1" dirty="0" smtClean="0">
                <a:solidFill>
                  <a:srgbClr val="C00000"/>
                </a:solidFill>
              </a:rPr>
              <a:t>routing</a:t>
            </a:r>
          </a:p>
          <a:p>
            <a:pPr lvl="1"/>
            <a:r>
              <a:rPr lang="en-US" sz="2000" dirty="0" smtClean="0"/>
              <a:t>Choosing the routing for handling a particular request, such as what objects will perform the core processing for this request, and what view will be used to display the results.</a:t>
            </a:r>
          </a:p>
          <a:p>
            <a:r>
              <a:rPr lang="en-US" sz="2400" i="1" dirty="0" smtClean="0">
                <a:solidFill>
                  <a:srgbClr val="C00000"/>
                </a:solidFill>
              </a:rPr>
              <a:t>Core processing</a:t>
            </a:r>
          </a:p>
          <a:p>
            <a:pPr lvl="1"/>
            <a:r>
              <a:rPr lang="en-US" sz="2000" dirty="0" smtClean="0"/>
              <a:t>The actual servicing of the request.</a:t>
            </a:r>
          </a:p>
          <a:p>
            <a:r>
              <a:rPr lang="en-US" sz="2400" i="1" dirty="0" smtClean="0">
                <a:solidFill>
                  <a:srgbClr val="C00000"/>
                </a:solidFill>
              </a:rPr>
              <a:t>Dispatch</a:t>
            </a:r>
          </a:p>
          <a:p>
            <a:pPr lvl="1"/>
            <a:r>
              <a:rPr lang="en-US" sz="2000" dirty="0" smtClean="0"/>
              <a:t>Transferring control from one part of the application to another, such as from the request-handling mechanism to the view-processing components.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Intercepting Filter: </a:t>
            </a:r>
            <a:r>
              <a:rPr lang="en-US" i="1" dirty="0" smtClean="0">
                <a:solidFill>
                  <a:srgbClr val="C00000"/>
                </a:solidFill>
              </a:rPr>
              <a:t>Problem</a:t>
            </a:r>
            <a:endParaRPr lang="en-US" dirty="0"/>
          </a:p>
        </p:txBody>
      </p:sp>
      <p:sp>
        <p:nvSpPr>
          <p:cNvPr id="3" name="Content Placeholder 2"/>
          <p:cNvSpPr>
            <a:spLocks noGrp="1"/>
          </p:cNvSpPr>
          <p:nvPr>
            <p:ph idx="1"/>
          </p:nvPr>
        </p:nvSpPr>
        <p:spPr/>
        <p:txBody>
          <a:bodyPr/>
          <a:lstStyle/>
          <a:p>
            <a:r>
              <a:rPr lang="en-US" sz="2600" dirty="0" smtClean="0"/>
              <a:t>You want to </a:t>
            </a:r>
            <a:r>
              <a:rPr lang="en-US" sz="2600" i="1" dirty="0" smtClean="0">
                <a:solidFill>
                  <a:srgbClr val="C00000"/>
                </a:solidFill>
              </a:rPr>
              <a:t>intercept</a:t>
            </a:r>
            <a:r>
              <a:rPr lang="en-US" sz="2600" dirty="0" smtClean="0"/>
              <a:t> and </a:t>
            </a:r>
            <a:r>
              <a:rPr lang="en-US" sz="2600" i="1" dirty="0" smtClean="0">
                <a:solidFill>
                  <a:srgbClr val="C00000"/>
                </a:solidFill>
              </a:rPr>
              <a:t>manipulate</a:t>
            </a:r>
            <a:r>
              <a:rPr lang="en-US" sz="2600" dirty="0" smtClean="0"/>
              <a:t> a request and a response before and after the request is processed.</a:t>
            </a:r>
          </a:p>
          <a:p>
            <a:r>
              <a:rPr lang="en-US" sz="2600" i="1" dirty="0" smtClean="0">
                <a:solidFill>
                  <a:srgbClr val="C00000"/>
                </a:solidFill>
              </a:rPr>
              <a:t>Preprocessing</a:t>
            </a:r>
            <a:r>
              <a:rPr lang="en-US" sz="2600" dirty="0" smtClean="0"/>
              <a:t> and </a:t>
            </a:r>
            <a:r>
              <a:rPr lang="en-US" sz="2600" i="1" dirty="0" smtClean="0">
                <a:solidFill>
                  <a:srgbClr val="C00000"/>
                </a:solidFill>
              </a:rPr>
              <a:t>post-processing</a:t>
            </a:r>
            <a:r>
              <a:rPr lang="en-US" sz="2600" dirty="0" smtClean="0"/>
              <a:t> of a request refer to actions taken before and after the core processing of that request.</a:t>
            </a:r>
          </a:p>
          <a:p>
            <a:pPr lvl="1"/>
            <a:r>
              <a:rPr lang="en-US" sz="2200" dirty="0" smtClean="0"/>
              <a:t>Does the client have a valid session?</a:t>
            </a:r>
          </a:p>
          <a:p>
            <a:pPr lvl="1"/>
            <a:r>
              <a:rPr lang="en-US" sz="2200" dirty="0" smtClean="0"/>
              <a:t>Does the request path violate any constraints?</a:t>
            </a:r>
          </a:p>
          <a:p>
            <a:pPr lvl="1"/>
            <a:r>
              <a:rPr lang="en-US" sz="2200" dirty="0" smtClean="0"/>
              <a:t>Do you support the browser type of the client?</a:t>
            </a:r>
          </a:p>
          <a:p>
            <a:pPr lvl="1"/>
            <a:r>
              <a:rPr lang="en-US" sz="2200" dirty="0" smtClean="0"/>
              <a:t>What encoding does the client use to send the data?</a:t>
            </a:r>
          </a:p>
          <a:p>
            <a:pPr lvl="1"/>
            <a:r>
              <a:rPr lang="en-US" sz="2200" dirty="0" smtClean="0"/>
              <a:t>Is the request stream encrypted or compressed?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Intercepting Filter: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a:xfrm>
            <a:off x="457200" y="1600201"/>
            <a:ext cx="8229600" cy="2590800"/>
          </a:xfrm>
        </p:spPr>
        <p:txBody>
          <a:bodyPr/>
          <a:lstStyle/>
          <a:p>
            <a:r>
              <a:rPr lang="en-US" sz="2400" dirty="0" smtClean="0"/>
              <a:t>Use an </a:t>
            </a:r>
            <a:r>
              <a:rPr lang="en-US" sz="2400" i="1" dirty="0" smtClean="0">
                <a:solidFill>
                  <a:srgbClr val="C00000"/>
                </a:solidFill>
              </a:rPr>
              <a:t>Intercepting Filter</a:t>
            </a:r>
            <a:r>
              <a:rPr lang="en-US" sz="2400" dirty="0" smtClean="0"/>
              <a:t> as a pluggable filter to pre and post-process requests and responses.</a:t>
            </a:r>
          </a:p>
          <a:p>
            <a:r>
              <a:rPr lang="en-US" sz="2400" dirty="0" smtClean="0"/>
              <a:t>A </a:t>
            </a:r>
            <a:r>
              <a:rPr lang="en-US" sz="2400" i="1" dirty="0" smtClean="0">
                <a:solidFill>
                  <a:srgbClr val="C00000"/>
                </a:solidFill>
              </a:rPr>
              <a:t>filter manager</a:t>
            </a:r>
            <a:r>
              <a:rPr lang="en-US" sz="2400" dirty="0" smtClean="0"/>
              <a:t> combines loosely coupled filters in a chain, delegating control to the appropriate filter.</a:t>
            </a:r>
          </a:p>
          <a:p>
            <a:r>
              <a:rPr lang="en-US" sz="2400" dirty="0" smtClean="0"/>
              <a:t>In this way, you can </a:t>
            </a:r>
            <a:r>
              <a:rPr lang="en-US" sz="2400" i="1" dirty="0" smtClean="0">
                <a:solidFill>
                  <a:srgbClr val="C00000"/>
                </a:solidFill>
              </a:rPr>
              <a:t>add, remove,</a:t>
            </a:r>
            <a:r>
              <a:rPr lang="en-US" sz="2400" dirty="0" smtClean="0"/>
              <a:t> and </a:t>
            </a:r>
            <a:r>
              <a:rPr lang="en-US" sz="2400" i="1" dirty="0" smtClean="0">
                <a:solidFill>
                  <a:srgbClr val="C00000"/>
                </a:solidFill>
              </a:rPr>
              <a:t>combine</a:t>
            </a:r>
            <a:r>
              <a:rPr lang="en-US" sz="2400" dirty="0" smtClean="0"/>
              <a:t> these filters in various ways without changing existing code.</a:t>
            </a:r>
          </a:p>
        </p:txBody>
      </p:sp>
      <p:pic>
        <p:nvPicPr>
          <p:cNvPr id="1027" name="Picture 3"/>
          <p:cNvPicPr>
            <a:picLocks noChangeAspect="1" noChangeArrowheads="1"/>
          </p:cNvPicPr>
          <p:nvPr/>
        </p:nvPicPr>
        <p:blipFill>
          <a:blip r:embed="rId2" cstate="print"/>
          <a:srcRect/>
          <a:stretch>
            <a:fillRect/>
          </a:stretch>
        </p:blipFill>
        <p:spPr bwMode="auto">
          <a:xfrm>
            <a:off x="2190750" y="4676775"/>
            <a:ext cx="4762500" cy="1800225"/>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Intercepting Filter: </a:t>
            </a:r>
            <a:r>
              <a:rPr lang="en-US" i="1" dirty="0" smtClean="0">
                <a:solidFill>
                  <a:srgbClr val="C00000"/>
                </a:solidFill>
              </a:rPr>
              <a:t>Dynamic Structure</a:t>
            </a:r>
            <a:endParaRPr lang="en-US" i="1" dirty="0">
              <a:solidFill>
                <a:srgbClr val="C00000"/>
              </a:solidFill>
            </a:endParaRPr>
          </a:p>
        </p:txBody>
      </p:sp>
      <p:pic>
        <p:nvPicPr>
          <p:cNvPr id="2052" name="Picture 4"/>
          <p:cNvPicPr>
            <a:picLocks noChangeAspect="1" noChangeArrowheads="1"/>
          </p:cNvPicPr>
          <p:nvPr/>
        </p:nvPicPr>
        <p:blipFill>
          <a:blip r:embed="rId2" cstate="print"/>
          <a:srcRect/>
          <a:stretch>
            <a:fillRect/>
          </a:stretch>
        </p:blipFill>
        <p:spPr bwMode="auto">
          <a:xfrm>
            <a:off x="2190750" y="2066925"/>
            <a:ext cx="4762500" cy="3876675"/>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View Controller [3]</a:t>
            </a:r>
            <a:endParaRPr lang="en-US" dirty="0"/>
          </a:p>
        </p:txBody>
      </p:sp>
      <p:sp>
        <p:nvSpPr>
          <p:cNvPr id="3" name="Content Placeholder 2"/>
          <p:cNvSpPr>
            <a:spLocks noGrp="1"/>
          </p:cNvSpPr>
          <p:nvPr>
            <p:ph idx="1"/>
          </p:nvPr>
        </p:nvSpPr>
        <p:spPr>
          <a:xfrm>
            <a:off x="457200" y="1295400"/>
            <a:ext cx="8229600" cy="3505200"/>
          </a:xfrm>
        </p:spPr>
        <p:txBody>
          <a:bodyPr/>
          <a:lstStyle/>
          <a:p>
            <a:r>
              <a:rPr lang="en-US" sz="2400" dirty="0" smtClean="0"/>
              <a:t>☠ </a:t>
            </a:r>
            <a:r>
              <a:rPr lang="en-US" sz="2200" i="1" dirty="0" smtClean="0">
                <a:solidFill>
                  <a:srgbClr val="C00000"/>
                </a:solidFill>
              </a:rPr>
              <a:t>Problem</a:t>
            </a:r>
            <a:r>
              <a:rPr lang="en-US" sz="2200" dirty="0" smtClean="0"/>
              <a:t>:</a:t>
            </a:r>
          </a:p>
          <a:p>
            <a:pPr lvl="1"/>
            <a:r>
              <a:rPr lang="en-US" sz="1800" dirty="0" smtClean="0"/>
              <a:t>Presentation modification affects the whole application?</a:t>
            </a:r>
          </a:p>
          <a:p>
            <a:pPr lvl="1"/>
            <a:r>
              <a:rPr lang="en-US" sz="1800" dirty="0" smtClean="0"/>
              <a:t>Adding additional presentations affects the whole application?</a:t>
            </a:r>
          </a:p>
          <a:p>
            <a:r>
              <a:rPr lang="en-US" sz="2400" dirty="0" smtClean="0"/>
              <a:t>☞ </a:t>
            </a:r>
            <a:r>
              <a:rPr lang="en-US" sz="2200" i="1" dirty="0" smtClean="0">
                <a:solidFill>
                  <a:srgbClr val="C00000"/>
                </a:solidFill>
              </a:rPr>
              <a:t>Solution</a:t>
            </a:r>
            <a:r>
              <a:rPr lang="en-US" sz="2200" dirty="0" smtClean="0"/>
              <a:t>: Model-View-Controller (MVC) considers three roles.</a:t>
            </a:r>
          </a:p>
          <a:p>
            <a:pPr lvl="1"/>
            <a:r>
              <a:rPr lang="en-US" sz="1800" i="1" dirty="0" smtClean="0">
                <a:solidFill>
                  <a:srgbClr val="C00000"/>
                </a:solidFill>
              </a:rPr>
              <a:t>The model</a:t>
            </a:r>
            <a:r>
              <a:rPr lang="en-US" sz="1800" dirty="0" smtClean="0"/>
              <a:t> is an object that represents some information about the domain.</a:t>
            </a:r>
          </a:p>
          <a:p>
            <a:pPr lvl="1"/>
            <a:r>
              <a:rPr lang="en-US" sz="1800" i="1" dirty="0" smtClean="0">
                <a:solidFill>
                  <a:srgbClr val="C00000"/>
                </a:solidFill>
              </a:rPr>
              <a:t>The view</a:t>
            </a:r>
            <a:r>
              <a:rPr lang="en-US" sz="1800" dirty="0" smtClean="0"/>
              <a:t> represents the display of the model in the UI.</a:t>
            </a:r>
          </a:p>
          <a:p>
            <a:pPr lvl="1"/>
            <a:r>
              <a:rPr lang="en-US" sz="1800" i="1" dirty="0" smtClean="0">
                <a:solidFill>
                  <a:srgbClr val="C00000"/>
                </a:solidFill>
              </a:rPr>
              <a:t>The controller</a:t>
            </a:r>
            <a:r>
              <a:rPr lang="en-US" sz="1800" dirty="0" smtClean="0"/>
              <a:t> takes user input, manipulates the model, and causes the view to update appropriately.</a:t>
            </a:r>
          </a:p>
          <a:p>
            <a:pPr lvl="1"/>
            <a:r>
              <a:rPr lang="en-US" sz="1800" dirty="0" smtClean="0"/>
              <a:t>In this way </a:t>
            </a:r>
            <a:r>
              <a:rPr lang="en-US" sz="1800" i="1" dirty="0" smtClean="0">
                <a:solidFill>
                  <a:srgbClr val="C00000"/>
                </a:solidFill>
              </a:rPr>
              <a:t>UI</a:t>
            </a:r>
            <a:r>
              <a:rPr lang="en-US" sz="1800" dirty="0" smtClean="0"/>
              <a:t> is a </a:t>
            </a:r>
            <a:r>
              <a:rPr lang="en-US" sz="1800" i="1" dirty="0" smtClean="0">
                <a:solidFill>
                  <a:srgbClr val="C00000"/>
                </a:solidFill>
              </a:rPr>
              <a:t>combination</a:t>
            </a:r>
            <a:r>
              <a:rPr lang="en-US" sz="1800" dirty="0" smtClean="0"/>
              <a:t> of the view and the controller.</a:t>
            </a:r>
          </a:p>
          <a:p>
            <a:r>
              <a:rPr lang="en-US" sz="2200" dirty="0" smtClean="0"/>
              <a:t>The </a:t>
            </a:r>
            <a:r>
              <a:rPr lang="en-US" sz="2200" i="1" dirty="0" smtClean="0">
                <a:solidFill>
                  <a:srgbClr val="C00000"/>
                </a:solidFill>
              </a:rPr>
              <a:t>value of MVC</a:t>
            </a:r>
            <a:r>
              <a:rPr lang="en-US" sz="2200" dirty="0" smtClean="0"/>
              <a:t> lies in its two separations.</a:t>
            </a:r>
          </a:p>
          <a:p>
            <a:pPr lvl="1"/>
            <a:r>
              <a:rPr lang="en-US" sz="1800" dirty="0" smtClean="0"/>
              <a:t>Separation of presentation from model</a:t>
            </a:r>
          </a:p>
          <a:p>
            <a:pPr lvl="1"/>
            <a:r>
              <a:rPr lang="en-US" sz="1800" dirty="0" smtClean="0"/>
              <a:t>Separation of view and controller</a:t>
            </a:r>
          </a:p>
        </p:txBody>
      </p:sp>
      <p:pic>
        <p:nvPicPr>
          <p:cNvPr id="4" name="Picture 2"/>
          <p:cNvPicPr>
            <a:picLocks noChangeAspect="1" noChangeArrowheads="1"/>
          </p:cNvPicPr>
          <p:nvPr/>
        </p:nvPicPr>
        <p:blipFill>
          <a:blip r:embed="rId2" cstate="print"/>
          <a:srcRect/>
          <a:stretch>
            <a:fillRect/>
          </a:stretch>
        </p:blipFill>
        <p:spPr bwMode="auto">
          <a:xfrm>
            <a:off x="6248400" y="4876800"/>
            <a:ext cx="2286000" cy="1525905"/>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 Controller</a:t>
            </a:r>
            <a:endParaRPr lang="en-US" dirty="0"/>
          </a:p>
        </p:txBody>
      </p:sp>
      <p:sp>
        <p:nvSpPr>
          <p:cNvPr id="3" name="Content Placeholder 2"/>
          <p:cNvSpPr>
            <a:spLocks noGrp="1"/>
          </p:cNvSpPr>
          <p:nvPr>
            <p:ph idx="1"/>
          </p:nvPr>
        </p:nvSpPr>
        <p:spPr>
          <a:xfrm>
            <a:off x="457200" y="1371601"/>
            <a:ext cx="8229600" cy="3124199"/>
          </a:xfrm>
        </p:spPr>
        <p:txBody>
          <a:bodyPr/>
          <a:lstStyle/>
          <a:p>
            <a:r>
              <a:rPr lang="en-US" sz="2000" dirty="0" smtClean="0"/>
              <a:t>☠ </a:t>
            </a:r>
            <a:r>
              <a:rPr lang="en-US" sz="2200" i="1" dirty="0" smtClean="0">
                <a:solidFill>
                  <a:srgbClr val="C00000"/>
                </a:solidFill>
              </a:rPr>
              <a:t>Problem</a:t>
            </a:r>
            <a:r>
              <a:rPr lang="en-US" sz="2200" dirty="0" smtClean="0"/>
              <a:t>: How do we design each page on the Web site?</a:t>
            </a:r>
          </a:p>
          <a:p>
            <a:r>
              <a:rPr lang="en-US" sz="2000" dirty="0" smtClean="0"/>
              <a:t>☞ </a:t>
            </a:r>
            <a:r>
              <a:rPr lang="en-US" sz="2200" i="1" dirty="0" smtClean="0">
                <a:solidFill>
                  <a:srgbClr val="C00000"/>
                </a:solidFill>
              </a:rPr>
              <a:t>Solution</a:t>
            </a:r>
            <a:r>
              <a:rPr lang="en-US" sz="2200" dirty="0" smtClean="0"/>
              <a:t>: Page Controller is an object that handles a request for a </a:t>
            </a:r>
            <a:r>
              <a:rPr lang="en-US" sz="2200" i="1" dirty="0" smtClean="0">
                <a:solidFill>
                  <a:srgbClr val="C00000"/>
                </a:solidFill>
              </a:rPr>
              <a:t>specific page</a:t>
            </a:r>
            <a:r>
              <a:rPr lang="en-US" sz="2200" dirty="0" smtClean="0"/>
              <a:t> or </a:t>
            </a:r>
            <a:r>
              <a:rPr lang="en-US" sz="2200" i="1" dirty="0" smtClean="0">
                <a:solidFill>
                  <a:srgbClr val="C00000"/>
                </a:solidFill>
              </a:rPr>
              <a:t>action</a:t>
            </a:r>
            <a:r>
              <a:rPr lang="en-US" sz="2200" dirty="0" smtClean="0"/>
              <a:t> on a Web site.</a:t>
            </a:r>
          </a:p>
          <a:p>
            <a:pPr lvl="0">
              <a:defRPr/>
            </a:pPr>
            <a:r>
              <a:rPr lang="en-US" sz="2200" dirty="0" smtClean="0"/>
              <a:t>The basic </a:t>
            </a:r>
            <a:r>
              <a:rPr lang="en-US" sz="2200" i="1" dirty="0" smtClean="0">
                <a:solidFill>
                  <a:srgbClr val="C00000"/>
                </a:solidFill>
              </a:rPr>
              <a:t>responsibilities</a:t>
            </a:r>
            <a:r>
              <a:rPr lang="en-US" sz="2200" dirty="0" smtClean="0"/>
              <a:t> of a Page Controller are:</a:t>
            </a:r>
          </a:p>
          <a:p>
            <a:pPr marL="800100" lvl="1" indent="-342900">
              <a:buFont typeface="Arial" charset="0"/>
              <a:buChar char="•"/>
              <a:defRPr/>
            </a:pPr>
            <a:r>
              <a:rPr lang="en-US" sz="1600" dirty="0" smtClean="0"/>
              <a:t>Decode the URL and extract any form data to figure out all the data for the action.</a:t>
            </a:r>
          </a:p>
          <a:p>
            <a:pPr marL="800100" lvl="1" indent="-342900">
              <a:buFont typeface="Arial" charset="0"/>
              <a:buChar char="•"/>
              <a:defRPr/>
            </a:pPr>
            <a:r>
              <a:rPr lang="en-US" sz="1600" dirty="0" smtClean="0"/>
              <a:t>Create and invoke any model objects to process the data. All relevant data from the HTML request should be passed to the model so that the model objects don't need any connection to the HTML request.</a:t>
            </a:r>
          </a:p>
          <a:p>
            <a:pPr marL="800100" lvl="1" indent="-342900">
              <a:buFont typeface="Arial" charset="0"/>
              <a:buChar char="•"/>
              <a:defRPr/>
            </a:pPr>
            <a:r>
              <a:rPr lang="en-US" sz="1600" dirty="0" smtClean="0"/>
              <a:t>Determine which view should display the result page and forward the model information to it.</a:t>
            </a:r>
          </a:p>
        </p:txBody>
      </p:sp>
      <p:pic>
        <p:nvPicPr>
          <p:cNvPr id="1026" name="Picture 2"/>
          <p:cNvPicPr>
            <a:picLocks noChangeAspect="1" noChangeArrowheads="1"/>
          </p:cNvPicPr>
          <p:nvPr/>
        </p:nvPicPr>
        <p:blipFill>
          <a:blip r:embed="rId2" cstate="print"/>
          <a:srcRect/>
          <a:stretch>
            <a:fillRect/>
          </a:stretch>
        </p:blipFill>
        <p:spPr bwMode="auto">
          <a:xfrm>
            <a:off x="2209800" y="4476750"/>
            <a:ext cx="4762500" cy="2228850"/>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When to Use Page Controller?</a:t>
            </a:r>
          </a:p>
        </p:txBody>
      </p:sp>
      <p:sp>
        <p:nvSpPr>
          <p:cNvPr id="14339" name="Content Placeholder 2"/>
          <p:cNvSpPr>
            <a:spLocks noGrp="1"/>
          </p:cNvSpPr>
          <p:nvPr>
            <p:ph idx="1"/>
          </p:nvPr>
        </p:nvSpPr>
        <p:spPr>
          <a:xfrm>
            <a:off x="457200" y="1600200"/>
            <a:ext cx="8229600" cy="1676400"/>
          </a:xfrm>
        </p:spPr>
        <p:txBody>
          <a:bodyPr/>
          <a:lstStyle/>
          <a:p>
            <a:r>
              <a:rPr lang="en-US" sz="2400" dirty="0" smtClean="0"/>
              <a:t>Page Controller works particularly well in a site where most of the </a:t>
            </a:r>
            <a:r>
              <a:rPr lang="en-US" sz="2400" i="1" dirty="0" smtClean="0">
                <a:solidFill>
                  <a:srgbClr val="C00000"/>
                </a:solidFill>
              </a:rPr>
              <a:t>controller logic</a:t>
            </a:r>
            <a:r>
              <a:rPr lang="en-US" sz="2400" dirty="0" smtClean="0"/>
              <a:t> is pretty </a:t>
            </a:r>
            <a:r>
              <a:rPr lang="en-US" sz="2400" u="sng" dirty="0" smtClean="0"/>
              <a:t>simple</a:t>
            </a:r>
            <a:r>
              <a:rPr lang="en-US" sz="2400" dirty="0" smtClean="0"/>
              <a:t>.</a:t>
            </a:r>
          </a:p>
          <a:p>
            <a:r>
              <a:rPr lang="en-US" sz="2400" dirty="0" smtClean="0"/>
              <a:t>In this case most URLs can be handled with </a:t>
            </a:r>
            <a:r>
              <a:rPr lang="en-US" sz="2400" i="1" dirty="0" smtClean="0">
                <a:solidFill>
                  <a:srgbClr val="C00000"/>
                </a:solidFill>
              </a:rPr>
              <a:t>a server page</a:t>
            </a:r>
            <a:r>
              <a:rPr lang="en-US" sz="2400" dirty="0" smtClean="0"/>
              <a:t> and the more complicated cases with </a:t>
            </a:r>
            <a:r>
              <a:rPr lang="en-US" sz="2400" i="1" dirty="0" smtClean="0">
                <a:solidFill>
                  <a:srgbClr val="C00000"/>
                </a:solidFill>
              </a:rPr>
              <a:t>helpers</a:t>
            </a:r>
            <a:r>
              <a:rPr lang="en-US" sz="2400" dirty="0" smtClean="0"/>
              <a:t>.</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2050" name="Picture 2"/>
          <p:cNvPicPr>
            <a:picLocks noChangeAspect="1" noChangeArrowheads="1"/>
          </p:cNvPicPr>
          <p:nvPr/>
        </p:nvPicPr>
        <p:blipFill>
          <a:blip r:embed="rId2" cstate="print"/>
          <a:srcRect/>
          <a:stretch>
            <a:fillRect/>
          </a:stretch>
        </p:blipFill>
        <p:spPr bwMode="auto">
          <a:xfrm>
            <a:off x="2190750" y="3352800"/>
            <a:ext cx="4762500" cy="3209925"/>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Front Controller: </a:t>
            </a:r>
            <a:r>
              <a:rPr lang="en-US" i="1" dirty="0" smtClean="0">
                <a:solidFill>
                  <a:srgbClr val="C00000"/>
                </a:solidFill>
              </a:rPr>
              <a:t>Problem</a:t>
            </a:r>
            <a:r>
              <a:rPr lang="en-US" dirty="0" smtClean="0"/>
              <a:t> [3, 4]</a:t>
            </a:r>
            <a:endParaRPr lang="en-US" dirty="0"/>
          </a:p>
        </p:txBody>
      </p:sp>
      <p:sp>
        <p:nvSpPr>
          <p:cNvPr id="3" name="Content Placeholder 2"/>
          <p:cNvSpPr>
            <a:spLocks noGrp="1"/>
          </p:cNvSpPr>
          <p:nvPr>
            <p:ph idx="1"/>
          </p:nvPr>
        </p:nvSpPr>
        <p:spPr/>
        <p:txBody>
          <a:bodyPr/>
          <a:lstStyle/>
          <a:p>
            <a:r>
              <a:rPr lang="en-US" sz="2600" dirty="0" smtClean="0"/>
              <a:t>You want a </a:t>
            </a:r>
            <a:r>
              <a:rPr lang="en-US" sz="2600" i="1" dirty="0" smtClean="0">
                <a:solidFill>
                  <a:srgbClr val="C00000"/>
                </a:solidFill>
              </a:rPr>
              <a:t>centralized access point</a:t>
            </a:r>
            <a:r>
              <a:rPr lang="en-US" sz="2600" dirty="0" smtClean="0"/>
              <a:t> for </a:t>
            </a:r>
            <a:r>
              <a:rPr lang="en-US" sz="2600" u="sng" dirty="0" smtClean="0"/>
              <a:t>presentation-tier</a:t>
            </a:r>
            <a:r>
              <a:rPr lang="en-US" sz="2600" dirty="0" smtClean="0"/>
              <a:t> request handling.</a:t>
            </a:r>
          </a:p>
          <a:p>
            <a:pPr lvl="1"/>
            <a:r>
              <a:rPr lang="en-US" sz="2200" dirty="0" smtClean="0"/>
              <a:t>You want to avoid </a:t>
            </a:r>
            <a:r>
              <a:rPr lang="en-US" sz="2200" i="1" dirty="0" smtClean="0">
                <a:solidFill>
                  <a:srgbClr val="C00000"/>
                </a:solidFill>
              </a:rPr>
              <a:t>duplicate</a:t>
            </a:r>
            <a:r>
              <a:rPr lang="en-US" sz="2200" dirty="0" smtClean="0"/>
              <a:t> control logic.</a:t>
            </a:r>
          </a:p>
          <a:p>
            <a:pPr lvl="1"/>
            <a:r>
              <a:rPr lang="en-US" sz="2200" dirty="0" smtClean="0"/>
              <a:t>You want to apply </a:t>
            </a:r>
            <a:r>
              <a:rPr lang="en-US" sz="2200" i="1" dirty="0" smtClean="0">
                <a:solidFill>
                  <a:srgbClr val="C00000"/>
                </a:solidFill>
              </a:rPr>
              <a:t>common logic</a:t>
            </a:r>
            <a:r>
              <a:rPr lang="en-US" sz="2200" dirty="0" smtClean="0"/>
              <a:t> to multiple requests.</a:t>
            </a:r>
          </a:p>
          <a:p>
            <a:pPr lvl="1"/>
            <a:r>
              <a:rPr lang="en-US" sz="2200" dirty="0" smtClean="0"/>
              <a:t>You want to </a:t>
            </a:r>
            <a:r>
              <a:rPr lang="en-US" sz="2200" i="1" dirty="0" smtClean="0">
                <a:solidFill>
                  <a:srgbClr val="C00000"/>
                </a:solidFill>
              </a:rPr>
              <a:t>separate</a:t>
            </a:r>
            <a:r>
              <a:rPr lang="en-US" sz="2200" dirty="0" smtClean="0"/>
              <a:t> system processing logic from the view.</a:t>
            </a:r>
          </a:p>
          <a:p>
            <a:pPr lvl="1"/>
            <a:r>
              <a:rPr lang="en-US" sz="2200" dirty="0" smtClean="0"/>
              <a:t>You want to </a:t>
            </a:r>
            <a:r>
              <a:rPr lang="en-US" sz="2200" i="1" dirty="0" smtClean="0">
                <a:solidFill>
                  <a:srgbClr val="C00000"/>
                </a:solidFill>
              </a:rPr>
              <a:t>centralize controlled access</a:t>
            </a:r>
            <a:r>
              <a:rPr lang="en-US" sz="2200" dirty="0" smtClean="0"/>
              <a:t> points into your system.</a:t>
            </a:r>
            <a:endParaRPr lang="en-US" sz="2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Front Controller: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a:xfrm>
            <a:off x="457200" y="1600201"/>
            <a:ext cx="8229600" cy="2057400"/>
          </a:xfrm>
        </p:spPr>
        <p:txBody>
          <a:bodyPr/>
          <a:lstStyle/>
          <a:p>
            <a:r>
              <a:rPr lang="en-US" sz="2400" dirty="0" smtClean="0"/>
              <a:t>Use a </a:t>
            </a:r>
            <a:r>
              <a:rPr lang="en-US" sz="2400" i="1" dirty="0" smtClean="0">
                <a:solidFill>
                  <a:srgbClr val="C00000"/>
                </a:solidFill>
              </a:rPr>
              <a:t>Front Controller</a:t>
            </a:r>
            <a:r>
              <a:rPr lang="en-US" sz="2400" dirty="0" smtClean="0"/>
              <a:t> as the initial point of contact for handling all </a:t>
            </a:r>
            <a:r>
              <a:rPr lang="en-US" sz="2400" i="1" dirty="0" smtClean="0">
                <a:solidFill>
                  <a:srgbClr val="C00000"/>
                </a:solidFill>
              </a:rPr>
              <a:t>related</a:t>
            </a:r>
            <a:r>
              <a:rPr lang="en-US" sz="2400" dirty="0" smtClean="0"/>
              <a:t> requests.</a:t>
            </a:r>
          </a:p>
          <a:p>
            <a:r>
              <a:rPr lang="en-US" sz="2400" dirty="0" smtClean="0"/>
              <a:t>The Front Controller </a:t>
            </a:r>
            <a:r>
              <a:rPr lang="en-US" sz="2400" i="1" dirty="0" smtClean="0">
                <a:solidFill>
                  <a:srgbClr val="C00000"/>
                </a:solidFill>
              </a:rPr>
              <a:t>centralizes control logic</a:t>
            </a:r>
            <a:r>
              <a:rPr lang="en-US" sz="2400" dirty="0" smtClean="0"/>
              <a:t> that might otherwise be duplicated, and manages the key request handling activities.</a:t>
            </a:r>
          </a:p>
        </p:txBody>
      </p:sp>
      <p:pic>
        <p:nvPicPr>
          <p:cNvPr id="28675" name="Picture 3"/>
          <p:cNvPicPr>
            <a:picLocks noChangeAspect="1" noChangeArrowheads="1"/>
          </p:cNvPicPr>
          <p:nvPr/>
        </p:nvPicPr>
        <p:blipFill>
          <a:blip r:embed="rId2" cstate="print"/>
          <a:srcRect/>
          <a:stretch>
            <a:fillRect/>
          </a:stretch>
        </p:blipFill>
        <p:spPr bwMode="auto">
          <a:xfrm>
            <a:off x="2190750" y="4343400"/>
            <a:ext cx="4762500" cy="1600200"/>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Front Controller: </a:t>
            </a:r>
            <a:r>
              <a:rPr lang="en-US" i="1" dirty="0" smtClean="0">
                <a:solidFill>
                  <a:srgbClr val="C00000"/>
                </a:solidFill>
              </a:rPr>
              <a:t>Dynamic Structure</a:t>
            </a:r>
            <a:endParaRPr lang="en-US" i="1" dirty="0">
              <a:solidFill>
                <a:srgbClr val="C00000"/>
              </a:solidFill>
            </a:endParaRPr>
          </a:p>
        </p:txBody>
      </p:sp>
      <p:pic>
        <p:nvPicPr>
          <p:cNvPr id="33794" name="Picture 2"/>
          <p:cNvPicPr>
            <a:picLocks noChangeAspect="1" noChangeArrowheads="1"/>
          </p:cNvPicPr>
          <p:nvPr/>
        </p:nvPicPr>
        <p:blipFill>
          <a:blip r:embed="rId2" cstate="print"/>
          <a:srcRect/>
          <a:stretch>
            <a:fillRect/>
          </a:stretch>
        </p:blipFill>
        <p:spPr bwMode="auto">
          <a:xfrm>
            <a:off x="2190750" y="2571750"/>
            <a:ext cx="4762500" cy="3371850"/>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How to Use Front Controller?</a:t>
            </a:r>
          </a:p>
        </p:txBody>
      </p:sp>
      <p:sp>
        <p:nvSpPr>
          <p:cNvPr id="14339" name="Content Placeholder 2"/>
          <p:cNvSpPr>
            <a:spLocks noGrp="1"/>
          </p:cNvSpPr>
          <p:nvPr>
            <p:ph idx="1"/>
          </p:nvPr>
        </p:nvSpPr>
        <p:spPr>
          <a:xfrm>
            <a:off x="457200" y="1600200"/>
            <a:ext cx="8229600" cy="2819400"/>
          </a:xfrm>
        </p:spPr>
        <p:txBody>
          <a:bodyPr/>
          <a:lstStyle/>
          <a:p>
            <a:r>
              <a:rPr lang="en-US" sz="2400" i="1" dirty="0" smtClean="0">
                <a:solidFill>
                  <a:srgbClr val="C00000"/>
                </a:solidFill>
              </a:rPr>
              <a:t>Only one</a:t>
            </a:r>
            <a:r>
              <a:rPr lang="en-US" sz="2400" dirty="0" smtClean="0"/>
              <a:t> Front Controller has to be configured into the Web server; the Web handler does the rest of the dispatching.</a:t>
            </a:r>
          </a:p>
          <a:p>
            <a:r>
              <a:rPr lang="en-US" sz="2400" dirty="0" smtClean="0"/>
              <a:t>There's just one controller, so you can </a:t>
            </a:r>
            <a:r>
              <a:rPr lang="en-US" sz="2400" i="1" dirty="0" smtClean="0">
                <a:solidFill>
                  <a:srgbClr val="C00000"/>
                </a:solidFill>
              </a:rPr>
              <a:t>easily enhance</a:t>
            </a:r>
            <a:r>
              <a:rPr lang="en-US" sz="2400" dirty="0" smtClean="0"/>
              <a:t> its behavior </a:t>
            </a:r>
            <a:r>
              <a:rPr lang="en-US" sz="2400" i="1" dirty="0" smtClean="0">
                <a:solidFill>
                  <a:srgbClr val="C00000"/>
                </a:solidFill>
              </a:rPr>
              <a:t>at runtime</a:t>
            </a:r>
            <a:r>
              <a:rPr lang="en-US" sz="2400" dirty="0" smtClean="0"/>
              <a:t> with decorators.</a:t>
            </a:r>
          </a:p>
          <a:p>
            <a:r>
              <a:rPr lang="en-US" sz="2400" dirty="0" smtClean="0"/>
              <a:t>You can have decorators for </a:t>
            </a:r>
            <a:r>
              <a:rPr lang="en-US" sz="2400" u="sng" dirty="0" smtClean="0"/>
              <a:t>authentication</a:t>
            </a:r>
            <a:r>
              <a:rPr lang="en-US" sz="2400" dirty="0" smtClean="0"/>
              <a:t>, </a:t>
            </a:r>
            <a:r>
              <a:rPr lang="en-US" sz="2400" u="sng" dirty="0" smtClean="0"/>
              <a:t>character encoding</a:t>
            </a:r>
            <a:r>
              <a:rPr lang="en-US" sz="2400" dirty="0" smtClean="0"/>
              <a:t>, </a:t>
            </a:r>
            <a:r>
              <a:rPr lang="en-US" sz="2400" u="sng" dirty="0" smtClean="0"/>
              <a:t>internationalization</a:t>
            </a:r>
            <a:r>
              <a:rPr lang="en-US" sz="2400" dirty="0" smtClean="0"/>
              <a:t>, and so forth, and add them using a </a:t>
            </a:r>
            <a:r>
              <a:rPr lang="en-US" sz="2400" i="1" dirty="0" smtClean="0">
                <a:solidFill>
                  <a:srgbClr val="C00000"/>
                </a:solidFill>
              </a:rPr>
              <a:t>configuration file</a:t>
            </a:r>
            <a:r>
              <a:rPr lang="en-US" sz="2400" dirty="0" smtClean="0"/>
              <a:t> or even while the server is running.</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pic>
        <p:nvPicPr>
          <p:cNvPr id="5" name="Picture 3"/>
          <p:cNvPicPr>
            <a:picLocks noChangeAspect="1" noChangeArrowheads="1"/>
          </p:cNvPicPr>
          <p:nvPr/>
        </p:nvPicPr>
        <p:blipFill>
          <a:blip r:embed="rId2" cstate="print"/>
          <a:srcRect/>
          <a:stretch>
            <a:fillRect/>
          </a:stretch>
        </p:blipFill>
        <p:spPr bwMode="auto">
          <a:xfrm>
            <a:off x="3548063" y="4610100"/>
            <a:ext cx="1638300" cy="1714500"/>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 View [3]</a:t>
            </a:r>
            <a:endParaRPr lang="en-US" dirty="0"/>
          </a:p>
        </p:txBody>
      </p:sp>
      <p:sp>
        <p:nvSpPr>
          <p:cNvPr id="3" name="Content Placeholder 2"/>
          <p:cNvSpPr>
            <a:spLocks noGrp="1"/>
          </p:cNvSpPr>
          <p:nvPr>
            <p:ph idx="1"/>
          </p:nvPr>
        </p:nvSpPr>
        <p:spPr>
          <a:xfrm>
            <a:off x="457200" y="1371601"/>
            <a:ext cx="8229600" cy="2362199"/>
          </a:xfrm>
        </p:spPr>
        <p:txBody>
          <a:bodyPr/>
          <a:lstStyle/>
          <a:p>
            <a:r>
              <a:rPr lang="en-US" sz="2400" dirty="0" smtClean="0"/>
              <a:t>☠ </a:t>
            </a:r>
            <a:r>
              <a:rPr lang="en-US" sz="2400" i="1" dirty="0" smtClean="0">
                <a:solidFill>
                  <a:srgbClr val="C00000"/>
                </a:solidFill>
              </a:rPr>
              <a:t>Problem</a:t>
            </a:r>
            <a:r>
              <a:rPr lang="en-US" sz="2400" dirty="0" smtClean="0"/>
              <a:t>: Creating and concatenating string constructs is still painful.</a:t>
            </a:r>
          </a:p>
          <a:p>
            <a:r>
              <a:rPr lang="en-US" sz="2400" dirty="0" smtClean="0"/>
              <a:t>☞ </a:t>
            </a:r>
            <a:r>
              <a:rPr lang="en-US" sz="2400" i="1" dirty="0" smtClean="0">
                <a:solidFill>
                  <a:srgbClr val="C00000"/>
                </a:solidFill>
              </a:rPr>
              <a:t>Solution</a:t>
            </a:r>
            <a:r>
              <a:rPr lang="en-US" sz="2400" dirty="0" smtClean="0"/>
              <a:t>: Use </a:t>
            </a:r>
            <a:r>
              <a:rPr lang="en-US" sz="2400" i="1" dirty="0" smtClean="0">
                <a:solidFill>
                  <a:srgbClr val="C00000"/>
                </a:solidFill>
              </a:rPr>
              <a:t>template view</a:t>
            </a:r>
            <a:r>
              <a:rPr lang="en-US" sz="2400" dirty="0" smtClean="0"/>
              <a:t> to compose the dynamic Web page as you do a static page but put in </a:t>
            </a:r>
            <a:r>
              <a:rPr lang="en-US" sz="2400" i="1" dirty="0" smtClean="0">
                <a:solidFill>
                  <a:srgbClr val="C00000"/>
                </a:solidFill>
              </a:rPr>
              <a:t>markers</a:t>
            </a:r>
            <a:r>
              <a:rPr lang="en-US" sz="2400" dirty="0" smtClean="0"/>
              <a:t> that can be resolved into calls to gather dynamic information.</a:t>
            </a:r>
          </a:p>
          <a:p>
            <a:r>
              <a:rPr lang="en-US" sz="2400" dirty="0" smtClean="0"/>
              <a:t>Template view is </a:t>
            </a:r>
            <a:r>
              <a:rPr lang="en-US" sz="2400" i="1" dirty="0" smtClean="0">
                <a:solidFill>
                  <a:srgbClr val="C00000"/>
                </a:solidFill>
              </a:rPr>
              <a:t>view helper</a:t>
            </a:r>
            <a:r>
              <a:rPr lang="en-US" sz="2400" dirty="0" smtClean="0"/>
              <a:t> in [4]. </a:t>
            </a:r>
          </a:p>
        </p:txBody>
      </p:sp>
      <p:pic>
        <p:nvPicPr>
          <p:cNvPr id="3074" name="Picture 2"/>
          <p:cNvPicPr>
            <a:picLocks noChangeAspect="1" noChangeArrowheads="1"/>
          </p:cNvPicPr>
          <p:nvPr/>
        </p:nvPicPr>
        <p:blipFill>
          <a:blip r:embed="rId2" cstate="print"/>
          <a:srcRect/>
          <a:stretch>
            <a:fillRect/>
          </a:stretch>
        </p:blipFill>
        <p:spPr bwMode="auto">
          <a:xfrm>
            <a:off x="2190750" y="4057650"/>
            <a:ext cx="4762500" cy="2419350"/>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When to Use Template View?</a:t>
            </a:r>
          </a:p>
        </p:txBody>
      </p:sp>
      <p:sp>
        <p:nvSpPr>
          <p:cNvPr id="14339" name="Content Placeholder 2"/>
          <p:cNvSpPr>
            <a:spLocks noGrp="1"/>
          </p:cNvSpPr>
          <p:nvPr>
            <p:ph idx="1"/>
          </p:nvPr>
        </p:nvSpPr>
        <p:spPr>
          <a:xfrm>
            <a:off x="457200" y="1600200"/>
            <a:ext cx="8229600" cy="3429000"/>
          </a:xfrm>
        </p:spPr>
        <p:txBody>
          <a:bodyPr/>
          <a:lstStyle/>
          <a:p>
            <a:r>
              <a:rPr lang="en-US" sz="2400" i="1" dirty="0" smtClean="0">
                <a:solidFill>
                  <a:srgbClr val="C00000"/>
                </a:solidFill>
              </a:rPr>
              <a:t>The strength</a:t>
            </a:r>
            <a:r>
              <a:rPr lang="en-US" sz="2400" dirty="0" smtClean="0"/>
              <a:t> of Template View is that it allows you to compose the content of the page by </a:t>
            </a:r>
            <a:r>
              <a:rPr lang="en-US" sz="2400" i="1" dirty="0" smtClean="0">
                <a:solidFill>
                  <a:srgbClr val="C00000"/>
                </a:solidFill>
              </a:rPr>
              <a:t>looking</a:t>
            </a:r>
            <a:r>
              <a:rPr lang="en-US" sz="2400" dirty="0" smtClean="0"/>
              <a:t> at the page structure.</a:t>
            </a:r>
          </a:p>
          <a:p>
            <a:endParaRPr lang="en-US" sz="2400" dirty="0" smtClean="0"/>
          </a:p>
          <a:p>
            <a:r>
              <a:rPr lang="en-US" sz="2400" dirty="0" smtClean="0"/>
              <a:t>Template View has two significant </a:t>
            </a:r>
            <a:r>
              <a:rPr lang="en-US" sz="2400" i="1" dirty="0" smtClean="0">
                <a:solidFill>
                  <a:srgbClr val="C00000"/>
                </a:solidFill>
              </a:rPr>
              <a:t>weaknesses.</a:t>
            </a:r>
          </a:p>
          <a:p>
            <a:pPr lvl="1"/>
            <a:r>
              <a:rPr lang="en-US" sz="2000" dirty="0" smtClean="0"/>
              <a:t>The common implementations make it too easy to put complicated logic in the page, thus making it </a:t>
            </a:r>
            <a:r>
              <a:rPr lang="en-US" sz="2000" i="1" dirty="0" smtClean="0">
                <a:solidFill>
                  <a:srgbClr val="C00000"/>
                </a:solidFill>
              </a:rPr>
              <a:t>hard to maintain</a:t>
            </a:r>
            <a:r>
              <a:rPr lang="en-US" sz="2000" dirty="0" smtClean="0"/>
              <a:t>, particularly by nonprogrammers.</a:t>
            </a:r>
          </a:p>
          <a:p>
            <a:pPr lvl="1"/>
            <a:r>
              <a:rPr lang="en-US" sz="2000" dirty="0" smtClean="0"/>
              <a:t>Template View is harder to </a:t>
            </a:r>
            <a:r>
              <a:rPr lang="en-US" sz="2000" i="1" dirty="0" smtClean="0">
                <a:solidFill>
                  <a:srgbClr val="C00000"/>
                </a:solidFill>
              </a:rPr>
              <a:t>test</a:t>
            </a:r>
            <a:r>
              <a:rPr lang="en-US" sz="2000" dirty="0" smtClean="0"/>
              <a:t>.</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 View</a:t>
            </a:r>
            <a:endParaRPr lang="en-US" dirty="0"/>
          </a:p>
        </p:txBody>
      </p:sp>
      <p:sp>
        <p:nvSpPr>
          <p:cNvPr id="3" name="Content Placeholder 2"/>
          <p:cNvSpPr>
            <a:spLocks noGrp="1"/>
          </p:cNvSpPr>
          <p:nvPr>
            <p:ph idx="1"/>
          </p:nvPr>
        </p:nvSpPr>
        <p:spPr>
          <a:xfrm>
            <a:off x="457200" y="1371601"/>
            <a:ext cx="8229600" cy="3047999"/>
          </a:xfrm>
        </p:spPr>
        <p:txBody>
          <a:bodyPr/>
          <a:lstStyle/>
          <a:p>
            <a:r>
              <a:rPr lang="en-US" sz="2000" dirty="0" smtClean="0"/>
              <a:t>☠ </a:t>
            </a:r>
            <a:r>
              <a:rPr lang="en-US" sz="2200" i="1" dirty="0" smtClean="0">
                <a:solidFill>
                  <a:srgbClr val="C00000"/>
                </a:solidFill>
              </a:rPr>
              <a:t>Problem</a:t>
            </a:r>
            <a:r>
              <a:rPr lang="en-US" sz="2200" dirty="0" smtClean="0"/>
              <a:t>: Creating and concatenating string constructs is still painful.</a:t>
            </a:r>
          </a:p>
          <a:p>
            <a:r>
              <a:rPr lang="en-US" sz="2400" dirty="0" smtClean="0"/>
              <a:t>☞ </a:t>
            </a:r>
            <a:r>
              <a:rPr lang="en-US" sz="2200" i="1" dirty="0" smtClean="0">
                <a:solidFill>
                  <a:srgbClr val="C00000"/>
                </a:solidFill>
              </a:rPr>
              <a:t>Solution</a:t>
            </a:r>
            <a:r>
              <a:rPr lang="en-US" sz="2200" dirty="0" smtClean="0"/>
              <a:t>: The basic notion of Transform View is writing a program that looks at </a:t>
            </a:r>
            <a:r>
              <a:rPr lang="en-US" sz="2200" i="1" dirty="0" smtClean="0">
                <a:solidFill>
                  <a:srgbClr val="C00000"/>
                </a:solidFill>
              </a:rPr>
              <a:t>domain-oriented data</a:t>
            </a:r>
            <a:r>
              <a:rPr lang="en-US" sz="2200" dirty="0" smtClean="0"/>
              <a:t> and </a:t>
            </a:r>
            <a:r>
              <a:rPr lang="en-US" sz="2200" i="1" dirty="0" smtClean="0">
                <a:solidFill>
                  <a:srgbClr val="C00000"/>
                </a:solidFill>
              </a:rPr>
              <a:t>converts</a:t>
            </a:r>
            <a:r>
              <a:rPr lang="en-US" sz="2200" dirty="0" smtClean="0"/>
              <a:t> it to HTML.</a:t>
            </a:r>
          </a:p>
          <a:p>
            <a:r>
              <a:rPr lang="en-US" sz="2200" dirty="0" smtClean="0"/>
              <a:t>The program walks the structure of the domain data and, as it recognizes each form of domain data, it writes out the particular piece of HTML for it. </a:t>
            </a:r>
          </a:p>
        </p:txBody>
      </p:sp>
      <p:pic>
        <p:nvPicPr>
          <p:cNvPr id="4098" name="Picture 2"/>
          <p:cNvPicPr>
            <a:picLocks noChangeAspect="1" noChangeArrowheads="1"/>
          </p:cNvPicPr>
          <p:nvPr/>
        </p:nvPicPr>
        <p:blipFill>
          <a:blip r:embed="rId2" cstate="print"/>
          <a:srcRect/>
          <a:stretch>
            <a:fillRect/>
          </a:stretch>
        </p:blipFill>
        <p:spPr bwMode="auto">
          <a:xfrm>
            <a:off x="2190750" y="4886325"/>
            <a:ext cx="4762500" cy="1057275"/>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When to Use Transform View?</a:t>
            </a:r>
          </a:p>
        </p:txBody>
      </p:sp>
      <p:sp>
        <p:nvSpPr>
          <p:cNvPr id="14339" name="Content Placeholder 2"/>
          <p:cNvSpPr>
            <a:spLocks noGrp="1"/>
          </p:cNvSpPr>
          <p:nvPr>
            <p:ph idx="1"/>
          </p:nvPr>
        </p:nvSpPr>
        <p:spPr>
          <a:xfrm>
            <a:off x="457200" y="1600200"/>
            <a:ext cx="8229600" cy="3733800"/>
          </a:xfrm>
        </p:spPr>
        <p:txBody>
          <a:bodyPr/>
          <a:lstStyle/>
          <a:p>
            <a:r>
              <a:rPr lang="en-US" sz="2400" dirty="0" smtClean="0"/>
              <a:t>It's easier to keep the transform focused only on rendering HTML, thus </a:t>
            </a:r>
            <a:r>
              <a:rPr lang="en-US" sz="2400" i="1" dirty="0" smtClean="0">
                <a:solidFill>
                  <a:srgbClr val="C00000"/>
                </a:solidFill>
              </a:rPr>
              <a:t>avoiding having too much other logic</a:t>
            </a:r>
            <a:r>
              <a:rPr lang="en-US" sz="2400" dirty="0" smtClean="0"/>
              <a:t> in the view.</a:t>
            </a:r>
          </a:p>
          <a:p>
            <a:r>
              <a:rPr lang="en-US" sz="2400" dirty="0" smtClean="0"/>
              <a:t>It's also easy to run the Transform View and capture the output for </a:t>
            </a:r>
            <a:r>
              <a:rPr lang="en-US" sz="2400" i="1" dirty="0" smtClean="0">
                <a:solidFill>
                  <a:srgbClr val="C00000"/>
                </a:solidFill>
              </a:rPr>
              <a:t>testing</a:t>
            </a:r>
            <a:r>
              <a:rPr lang="en-US" sz="2400" dirty="0" smtClean="0"/>
              <a:t>.</a:t>
            </a:r>
          </a:p>
          <a:p>
            <a:endParaRPr lang="en-US" sz="2400" dirty="0" smtClean="0"/>
          </a:p>
          <a:p>
            <a:r>
              <a:rPr lang="en-US" sz="2400" i="1" dirty="0" smtClean="0">
                <a:solidFill>
                  <a:srgbClr val="C00000"/>
                </a:solidFill>
              </a:rPr>
              <a:t>Tools</a:t>
            </a:r>
            <a:r>
              <a:rPr lang="en-US" sz="2400" dirty="0" smtClean="0"/>
              <a:t> for XSLT are, at least so far, much </a:t>
            </a:r>
            <a:r>
              <a:rPr lang="en-US" sz="2400" i="1" dirty="0" smtClean="0">
                <a:solidFill>
                  <a:srgbClr val="C00000"/>
                </a:solidFill>
              </a:rPr>
              <a:t>less sophisticated</a:t>
            </a:r>
            <a:r>
              <a:rPr lang="en-US" sz="2400" dirty="0" smtClean="0"/>
              <a:t>.</a:t>
            </a:r>
          </a:p>
          <a:p>
            <a:r>
              <a:rPr lang="en-US" sz="2400" dirty="0" smtClean="0"/>
              <a:t>Also, XSLT can be an </a:t>
            </a:r>
            <a:r>
              <a:rPr lang="en-US" sz="2400" i="1" dirty="0" smtClean="0">
                <a:solidFill>
                  <a:srgbClr val="C00000"/>
                </a:solidFill>
              </a:rPr>
              <a:t>awkward language</a:t>
            </a:r>
            <a:r>
              <a:rPr lang="en-US" sz="2400" dirty="0" smtClean="0"/>
              <a:t> to master because of its functional programming style coupled with its awkward XML syntax.</a:t>
            </a:r>
          </a:p>
        </p:txBody>
      </p:sp>
      <p:sp>
        <p:nvSpPr>
          <p:cNvPr id="7" name="Rectangle 6"/>
          <p:cNvSpPr/>
          <p:nvPr/>
        </p:nvSpPr>
        <p:spPr>
          <a:xfrm>
            <a:off x="6553200" y="3581400"/>
            <a:ext cx="2286000" cy="430887"/>
          </a:xfrm>
          <a:prstGeom prst="rect">
            <a:avLst/>
          </a:prstGeom>
        </p:spPr>
        <p:txBody>
          <a:bodyPr wrap="square">
            <a:spAutoFit/>
          </a:bodyPr>
          <a:lstStyle/>
          <a:p>
            <a:endParaRPr lang="en-US" sz="2200" dirty="0">
              <a:latin typeface="+mj-lt"/>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View [4]</a:t>
            </a:r>
            <a:endParaRPr lang="en-US" dirty="0"/>
          </a:p>
        </p:txBody>
      </p:sp>
      <p:sp>
        <p:nvSpPr>
          <p:cNvPr id="3" name="Content Placeholder 2"/>
          <p:cNvSpPr>
            <a:spLocks noGrp="1"/>
          </p:cNvSpPr>
          <p:nvPr>
            <p:ph idx="1"/>
          </p:nvPr>
        </p:nvSpPr>
        <p:spPr/>
        <p:txBody>
          <a:bodyPr/>
          <a:lstStyle/>
          <a:p>
            <a:r>
              <a:rPr lang="en-US" sz="2400" dirty="0" smtClean="0"/>
              <a:t>Developing and maintaining dynamic views is challenging, since there are often aspects of both the view </a:t>
            </a:r>
            <a:r>
              <a:rPr lang="en-US" sz="2400" i="1" dirty="0" smtClean="0">
                <a:solidFill>
                  <a:srgbClr val="C00000"/>
                </a:solidFill>
              </a:rPr>
              <a:t>content</a:t>
            </a:r>
            <a:r>
              <a:rPr lang="en-US" sz="2400" dirty="0" smtClean="0"/>
              <a:t> and the view </a:t>
            </a:r>
            <a:r>
              <a:rPr lang="en-US" sz="2400" i="1" dirty="0" smtClean="0">
                <a:solidFill>
                  <a:srgbClr val="C00000"/>
                </a:solidFill>
              </a:rPr>
              <a:t>layout</a:t>
            </a:r>
            <a:r>
              <a:rPr lang="en-US" sz="2400" dirty="0" smtClean="0"/>
              <a:t> that are </a:t>
            </a:r>
            <a:r>
              <a:rPr lang="en-US" sz="2400" u="sng" dirty="0" smtClean="0"/>
              <a:t>common across</a:t>
            </a:r>
            <a:r>
              <a:rPr lang="en-US" sz="2400" dirty="0" smtClean="0"/>
              <a:t> multiple views.</a:t>
            </a:r>
          </a:p>
          <a:p>
            <a:r>
              <a:rPr lang="en-US" sz="2400" dirty="0" smtClean="0"/>
              <a:t>When content and layout are intertwined, it is harder to </a:t>
            </a:r>
            <a:r>
              <a:rPr lang="en-US" sz="2400" i="1" dirty="0" smtClean="0">
                <a:solidFill>
                  <a:srgbClr val="C00000"/>
                </a:solidFill>
              </a:rPr>
              <a:t>maintain</a:t>
            </a:r>
            <a:r>
              <a:rPr lang="en-US" sz="2400" dirty="0" smtClean="0"/>
              <a:t> and </a:t>
            </a:r>
            <a:r>
              <a:rPr lang="en-US" sz="2400" i="1" dirty="0" smtClean="0">
                <a:solidFill>
                  <a:srgbClr val="C00000"/>
                </a:solidFill>
              </a:rPr>
              <a:t>extend</a:t>
            </a:r>
            <a:r>
              <a:rPr lang="en-US" sz="2400" dirty="0" smtClean="0"/>
              <a:t> the views.</a:t>
            </a:r>
          </a:p>
          <a:p>
            <a:r>
              <a:rPr lang="en-US" sz="2400" i="1" dirty="0" smtClean="0">
                <a:solidFill>
                  <a:srgbClr val="C00000"/>
                </a:solidFill>
              </a:rPr>
              <a:t>Reuse</a:t>
            </a:r>
            <a:r>
              <a:rPr lang="en-US" sz="2400" dirty="0" smtClean="0"/>
              <a:t> and </a:t>
            </a:r>
            <a:r>
              <a:rPr lang="en-US" sz="2400" i="1" dirty="0" smtClean="0">
                <a:solidFill>
                  <a:srgbClr val="C00000"/>
                </a:solidFill>
              </a:rPr>
              <a:t>modularity</a:t>
            </a:r>
            <a:r>
              <a:rPr lang="en-US" sz="2400" dirty="0" smtClean="0"/>
              <a:t> also suffer when common code is </a:t>
            </a:r>
            <a:r>
              <a:rPr lang="en-US" sz="2400" i="1" dirty="0" smtClean="0">
                <a:solidFill>
                  <a:srgbClr val="C00000"/>
                </a:solidFill>
              </a:rPr>
              <a:t>duplicated</a:t>
            </a:r>
            <a:r>
              <a:rPr lang="en-US" sz="2400" dirty="0" smtClean="0"/>
              <a:t> across views.</a:t>
            </a:r>
          </a:p>
          <a:p>
            <a:r>
              <a:rPr lang="en-US" sz="2400" dirty="0" smtClean="0"/>
              <a:t>☠ </a:t>
            </a:r>
            <a:r>
              <a:rPr lang="en-US" sz="2400" i="1" dirty="0" smtClean="0">
                <a:solidFill>
                  <a:srgbClr val="C00000"/>
                </a:solidFill>
              </a:rPr>
              <a:t>Problem</a:t>
            </a:r>
            <a:r>
              <a:rPr lang="en-US" sz="2400" dirty="0" smtClean="0"/>
              <a:t>: You want to build a view from </a:t>
            </a:r>
            <a:r>
              <a:rPr lang="en-US" sz="2400" i="1" dirty="0" smtClean="0">
                <a:solidFill>
                  <a:srgbClr val="C00000"/>
                </a:solidFill>
              </a:rPr>
              <a:t>modular, atomic component parts</a:t>
            </a:r>
            <a:r>
              <a:rPr lang="en-US" sz="2400" dirty="0" smtClean="0"/>
              <a:t> that are combined to create a composite whole, while managing the content and the layout </a:t>
            </a:r>
            <a:r>
              <a:rPr lang="en-US" sz="2400" i="1" dirty="0" smtClean="0">
                <a:solidFill>
                  <a:srgbClr val="C00000"/>
                </a:solidFill>
              </a:rPr>
              <a:t>independently</a:t>
            </a:r>
            <a:r>
              <a:rPr lang="en-US" sz="2400" dirty="0" smtClean="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View: </a:t>
            </a:r>
            <a:r>
              <a:rPr lang="en-US" i="1" dirty="0" smtClean="0">
                <a:solidFill>
                  <a:srgbClr val="C00000"/>
                </a:solidFill>
              </a:rPr>
              <a:t>Forces</a:t>
            </a:r>
            <a:endParaRPr lang="en-US" i="1" dirty="0">
              <a:solidFill>
                <a:srgbClr val="C00000"/>
              </a:solidFill>
            </a:endParaRPr>
          </a:p>
        </p:txBody>
      </p:sp>
      <p:sp>
        <p:nvSpPr>
          <p:cNvPr id="3" name="Content Placeholder 2"/>
          <p:cNvSpPr>
            <a:spLocks noGrp="1"/>
          </p:cNvSpPr>
          <p:nvPr>
            <p:ph idx="1"/>
          </p:nvPr>
        </p:nvSpPr>
        <p:spPr/>
        <p:txBody>
          <a:bodyPr/>
          <a:lstStyle/>
          <a:p>
            <a:r>
              <a:rPr lang="en-US" sz="2400" dirty="0" smtClean="0"/>
              <a:t>You want common sub-views, such as headers, footers and tables </a:t>
            </a:r>
            <a:r>
              <a:rPr lang="en-US" sz="2400" i="1" dirty="0" smtClean="0">
                <a:solidFill>
                  <a:srgbClr val="C00000"/>
                </a:solidFill>
              </a:rPr>
              <a:t>reused</a:t>
            </a:r>
            <a:r>
              <a:rPr lang="en-US" sz="2400" dirty="0" smtClean="0"/>
              <a:t> in multiple views, which may appear in different locations within each page layout.</a:t>
            </a:r>
          </a:p>
          <a:p>
            <a:endParaRPr lang="en-US" sz="2400" dirty="0" smtClean="0"/>
          </a:p>
          <a:p>
            <a:r>
              <a:rPr lang="en-US" sz="2400" dirty="0" smtClean="0"/>
              <a:t>You have </a:t>
            </a:r>
            <a:r>
              <a:rPr lang="en-US" sz="2400" i="1" dirty="0" smtClean="0">
                <a:solidFill>
                  <a:srgbClr val="C00000"/>
                </a:solidFill>
              </a:rPr>
              <a:t>content</a:t>
            </a:r>
            <a:r>
              <a:rPr lang="en-US" sz="2400" dirty="0" smtClean="0"/>
              <a:t> in sub-views which might which </a:t>
            </a:r>
            <a:r>
              <a:rPr lang="en-US" sz="2400" i="1" dirty="0" smtClean="0">
                <a:solidFill>
                  <a:srgbClr val="C00000"/>
                </a:solidFill>
              </a:rPr>
              <a:t>frequently change</a:t>
            </a:r>
            <a:r>
              <a:rPr lang="en-US" sz="2400" dirty="0" smtClean="0"/>
              <a:t> or might be subject to certain </a:t>
            </a:r>
            <a:r>
              <a:rPr lang="en-US" sz="2400" i="1" dirty="0" smtClean="0">
                <a:solidFill>
                  <a:srgbClr val="C00000"/>
                </a:solidFill>
              </a:rPr>
              <a:t>access controls</a:t>
            </a:r>
            <a:r>
              <a:rPr lang="en-US" sz="2400" dirty="0" smtClean="0"/>
              <a:t>, such as limiting access to users in certain roles.</a:t>
            </a:r>
          </a:p>
          <a:p>
            <a:endParaRPr lang="en-US" sz="2400" dirty="0" smtClean="0"/>
          </a:p>
          <a:p>
            <a:r>
              <a:rPr lang="en-US" sz="2400" dirty="0" smtClean="0"/>
              <a:t>You want to avoid </a:t>
            </a:r>
            <a:r>
              <a:rPr lang="en-US" sz="2400" i="1" dirty="0" smtClean="0">
                <a:solidFill>
                  <a:srgbClr val="C00000"/>
                </a:solidFill>
              </a:rPr>
              <a:t>directly</a:t>
            </a:r>
            <a:r>
              <a:rPr lang="en-US" sz="2400" dirty="0" smtClean="0"/>
              <a:t> embedding and duplicating sub-views in multiple views which makes layout changes difficult to manage and maintain.</a:t>
            </a:r>
          </a:p>
          <a:p>
            <a:endParaRPr 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Composite View: </a:t>
            </a:r>
            <a:r>
              <a:rPr lang="en-US" i="1" dirty="0" smtClean="0">
                <a:solidFill>
                  <a:srgbClr val="C00000"/>
                </a:solidFill>
              </a:rPr>
              <a:t>Solution</a:t>
            </a:r>
            <a:endParaRPr lang="en-US" i="1" dirty="0">
              <a:solidFill>
                <a:srgbClr val="C00000"/>
              </a:solidFill>
            </a:endParaRPr>
          </a:p>
        </p:txBody>
      </p:sp>
      <p:sp>
        <p:nvSpPr>
          <p:cNvPr id="3" name="Content Placeholder 2"/>
          <p:cNvSpPr>
            <a:spLocks noGrp="1"/>
          </p:cNvSpPr>
          <p:nvPr>
            <p:ph idx="1"/>
          </p:nvPr>
        </p:nvSpPr>
        <p:spPr/>
        <p:txBody>
          <a:bodyPr/>
          <a:lstStyle/>
          <a:p>
            <a:r>
              <a:rPr lang="en-US" sz="2400" dirty="0" smtClean="0"/>
              <a:t>Use </a:t>
            </a:r>
            <a:r>
              <a:rPr lang="en-US" sz="2400" i="1" dirty="0" smtClean="0">
                <a:solidFill>
                  <a:srgbClr val="C00000"/>
                </a:solidFill>
              </a:rPr>
              <a:t>Composite Views</a:t>
            </a:r>
            <a:r>
              <a:rPr lang="en-US" sz="2400" dirty="0" smtClean="0"/>
              <a:t> that are </a:t>
            </a:r>
            <a:r>
              <a:rPr lang="en-US" sz="2400" i="1" dirty="0" smtClean="0">
                <a:solidFill>
                  <a:srgbClr val="C00000"/>
                </a:solidFill>
              </a:rPr>
              <a:t>composed of</a:t>
            </a:r>
            <a:r>
              <a:rPr lang="en-US" sz="2400" dirty="0" smtClean="0"/>
              <a:t> multiple atomic sub-views.</a:t>
            </a:r>
          </a:p>
          <a:p>
            <a:r>
              <a:rPr lang="en-US" sz="2400" dirty="0" smtClean="0"/>
              <a:t>Each sub-view of the overall template can be </a:t>
            </a:r>
            <a:r>
              <a:rPr lang="en-US" sz="2400" i="1" dirty="0" smtClean="0">
                <a:solidFill>
                  <a:srgbClr val="C00000"/>
                </a:solidFill>
              </a:rPr>
              <a:t>included dynamically</a:t>
            </a:r>
            <a:r>
              <a:rPr lang="en-US" sz="2400" dirty="0" smtClean="0"/>
              <a:t> in the whole, and the </a:t>
            </a:r>
            <a:r>
              <a:rPr lang="en-US" sz="2400" i="1" dirty="0" smtClean="0">
                <a:solidFill>
                  <a:srgbClr val="C00000"/>
                </a:solidFill>
              </a:rPr>
              <a:t>layout</a:t>
            </a:r>
            <a:r>
              <a:rPr lang="en-US" sz="2400" dirty="0" smtClean="0"/>
              <a:t> of the page can be managed independently of the content.</a:t>
            </a:r>
          </a:p>
          <a:p>
            <a:endParaRPr lang="en-US" sz="2400" dirty="0" smtClean="0"/>
          </a:p>
          <a:p>
            <a:endParaRPr lang="en-US" sz="2400" dirty="0" smtClean="0"/>
          </a:p>
          <a:p>
            <a:r>
              <a:rPr lang="en-US" sz="2400" dirty="0" smtClean="0"/>
              <a:t>Composite Views are based on the </a:t>
            </a:r>
            <a:r>
              <a:rPr lang="en-US" sz="2400" i="1" dirty="0" smtClean="0">
                <a:solidFill>
                  <a:srgbClr val="C00000"/>
                </a:solidFill>
              </a:rPr>
              <a:t>inclusion</a:t>
            </a:r>
            <a:r>
              <a:rPr lang="en-US" sz="2400" dirty="0" smtClean="0"/>
              <a:t> and </a:t>
            </a:r>
            <a:r>
              <a:rPr lang="en-US" sz="2400" i="1" dirty="0" smtClean="0">
                <a:solidFill>
                  <a:srgbClr val="C00000"/>
                </a:solidFill>
              </a:rPr>
              <a:t>substitution</a:t>
            </a:r>
            <a:r>
              <a:rPr lang="en-US" sz="2400" dirty="0" smtClean="0"/>
              <a:t> of modular dynamic and static </a:t>
            </a:r>
            <a:r>
              <a:rPr lang="en-US" sz="2400" i="1" dirty="0" smtClean="0">
                <a:solidFill>
                  <a:srgbClr val="C00000"/>
                </a:solidFill>
              </a:rPr>
              <a:t>template fragments</a:t>
            </a:r>
            <a:r>
              <a:rPr lang="en-US" sz="2400" dirty="0" smtClean="0"/>
              <a:t>.</a:t>
            </a:r>
          </a:p>
          <a:p>
            <a:r>
              <a:rPr lang="en-US" sz="2400" dirty="0" smtClean="0"/>
              <a:t>Composite Views promote the reuse of </a:t>
            </a:r>
            <a:r>
              <a:rPr lang="en-US" sz="2400" i="1" dirty="0" smtClean="0">
                <a:solidFill>
                  <a:srgbClr val="C00000"/>
                </a:solidFill>
              </a:rPr>
              <a:t>atomic portions</a:t>
            </a:r>
            <a:r>
              <a:rPr lang="en-US" sz="2400" dirty="0" smtClean="0"/>
              <a:t> of the view by encouraging modular design.</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View: </a:t>
            </a:r>
            <a:r>
              <a:rPr lang="en-US" i="1" dirty="0" smtClean="0">
                <a:solidFill>
                  <a:srgbClr val="C00000"/>
                </a:solidFill>
              </a:rPr>
              <a:t>Structure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0750" y="1600200"/>
            <a:ext cx="4762500" cy="188595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190750" y="4038600"/>
            <a:ext cx="4762500" cy="2371725"/>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Policy [5]</a:t>
            </a:r>
            <a:endParaRPr lang="en-US" dirty="0"/>
          </a:p>
        </p:txBody>
      </p:sp>
      <p:sp>
        <p:nvSpPr>
          <p:cNvPr id="3" name="Content Placeholder 2"/>
          <p:cNvSpPr>
            <a:spLocks noGrp="1"/>
          </p:cNvSpPr>
          <p:nvPr>
            <p:ph idx="1"/>
          </p:nvPr>
        </p:nvSpPr>
        <p:spPr>
          <a:xfrm>
            <a:off x="457200" y="1371601"/>
            <a:ext cx="8229600" cy="3429000"/>
          </a:xfrm>
        </p:spPr>
        <p:txBody>
          <a:bodyPr/>
          <a:lstStyle/>
          <a:p>
            <a:r>
              <a:rPr lang="en-US" dirty="0" smtClean="0"/>
              <a:t>☠ Problem:</a:t>
            </a:r>
          </a:p>
          <a:p>
            <a:pPr lvl="1"/>
            <a:r>
              <a:rPr lang="en-US" sz="2200" dirty="0" smtClean="0"/>
              <a:t>How to </a:t>
            </a:r>
            <a:r>
              <a:rPr lang="en-US" sz="2200" i="1" dirty="0" smtClean="0">
                <a:solidFill>
                  <a:srgbClr val="C00000"/>
                </a:solidFill>
              </a:rPr>
              <a:t>dynamically set</a:t>
            </a:r>
            <a:r>
              <a:rPr lang="en-US" sz="2200" dirty="0" smtClean="0"/>
              <a:t> and </a:t>
            </a:r>
            <a:r>
              <a:rPr lang="en-US" sz="2200" i="1" dirty="0" smtClean="0">
                <a:solidFill>
                  <a:srgbClr val="C00000"/>
                </a:solidFill>
              </a:rPr>
              <a:t>enforce access policies</a:t>
            </a:r>
            <a:r>
              <a:rPr lang="en-US" sz="2200" dirty="0" smtClean="0"/>
              <a:t> for our application?</a:t>
            </a:r>
          </a:p>
          <a:p>
            <a:r>
              <a:rPr lang="en-US" dirty="0" smtClean="0"/>
              <a:t>☞ Solution:</a:t>
            </a:r>
          </a:p>
          <a:p>
            <a:pPr lvl="1"/>
            <a:r>
              <a:rPr lang="en-US" sz="2200" dirty="0" smtClean="0"/>
              <a:t>The Simple Policy pattern is similar to the </a:t>
            </a:r>
            <a:r>
              <a:rPr lang="en-US" sz="2200" i="1" dirty="0" smtClean="0">
                <a:solidFill>
                  <a:srgbClr val="C00000"/>
                </a:solidFill>
              </a:rPr>
              <a:t>GOF's Strategy</a:t>
            </a:r>
            <a:r>
              <a:rPr lang="en-US" sz="2200" dirty="0" smtClean="0"/>
              <a:t> design pattern, but specialized to deal with the realities of business.</a:t>
            </a:r>
          </a:p>
          <a:p>
            <a:pPr lvl="1"/>
            <a:r>
              <a:rPr lang="en-US" sz="2200" dirty="0" smtClean="0"/>
              <a:t>The Simple Policy pattern allows us to </a:t>
            </a:r>
            <a:r>
              <a:rPr lang="en-US" sz="2200" i="1" dirty="0" smtClean="0">
                <a:solidFill>
                  <a:srgbClr val="C00000"/>
                </a:solidFill>
              </a:rPr>
              <a:t>dynamically set and enforce access policies</a:t>
            </a:r>
            <a:r>
              <a:rPr lang="en-US" sz="2200" dirty="0" smtClean="0"/>
              <a:t> for our application.</a:t>
            </a:r>
          </a:p>
        </p:txBody>
      </p:sp>
      <p:pic>
        <p:nvPicPr>
          <p:cNvPr id="1026" name="Picture 2"/>
          <p:cNvPicPr>
            <a:picLocks noChangeAspect="1" noChangeArrowheads="1"/>
          </p:cNvPicPr>
          <p:nvPr/>
        </p:nvPicPr>
        <p:blipFill>
          <a:blip r:embed="rId2" cstate="print"/>
          <a:srcRect/>
          <a:stretch>
            <a:fillRect/>
          </a:stretch>
        </p:blipFill>
        <p:spPr bwMode="auto">
          <a:xfrm>
            <a:off x="2667000" y="4953000"/>
            <a:ext cx="3562350" cy="1733550"/>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Property Container</a:t>
            </a:r>
            <a:endParaRPr lang="en-US" dirty="0"/>
          </a:p>
        </p:txBody>
      </p:sp>
      <p:sp>
        <p:nvSpPr>
          <p:cNvPr id="3" name="Content Placeholder 2"/>
          <p:cNvSpPr>
            <a:spLocks noGrp="1"/>
          </p:cNvSpPr>
          <p:nvPr>
            <p:ph idx="1"/>
          </p:nvPr>
        </p:nvSpPr>
        <p:spPr>
          <a:xfrm>
            <a:off x="457200" y="1600201"/>
            <a:ext cx="5334000" cy="4495800"/>
          </a:xfrm>
        </p:spPr>
        <p:txBody>
          <a:bodyPr/>
          <a:lstStyle/>
          <a:p>
            <a:r>
              <a:rPr lang="en-US" dirty="0" smtClean="0"/>
              <a:t>☠ Problem:</a:t>
            </a:r>
          </a:p>
          <a:p>
            <a:pPr lvl="1"/>
            <a:r>
              <a:rPr lang="en-US" sz="2200" dirty="0" smtClean="0"/>
              <a:t>How to </a:t>
            </a:r>
            <a:r>
              <a:rPr lang="en-US" sz="2400" dirty="0" smtClean="0"/>
              <a:t>customize class properties at </a:t>
            </a:r>
            <a:r>
              <a:rPr lang="en-US" sz="2400" i="1" dirty="0" smtClean="0">
                <a:solidFill>
                  <a:srgbClr val="C00000"/>
                </a:solidFill>
              </a:rPr>
              <a:t>runtime</a:t>
            </a:r>
            <a:r>
              <a:rPr lang="en-US" sz="2200" dirty="0" smtClean="0"/>
              <a:t>?</a:t>
            </a:r>
          </a:p>
          <a:p>
            <a:r>
              <a:rPr lang="en-US" dirty="0" smtClean="0"/>
              <a:t>☞ Solution:</a:t>
            </a:r>
          </a:p>
          <a:p>
            <a:pPr lvl="1"/>
            <a:r>
              <a:rPr lang="en-US" sz="2200" dirty="0" smtClean="0"/>
              <a:t>A Property Container is a class whose </a:t>
            </a:r>
            <a:r>
              <a:rPr lang="en-US" sz="2200" i="1" dirty="0" smtClean="0">
                <a:solidFill>
                  <a:srgbClr val="C00000"/>
                </a:solidFill>
              </a:rPr>
              <a:t>properties</a:t>
            </a:r>
            <a:r>
              <a:rPr lang="en-US" sz="2200" dirty="0" smtClean="0"/>
              <a:t> can be </a:t>
            </a:r>
            <a:r>
              <a:rPr lang="en-US" sz="2200" i="1" dirty="0" smtClean="0">
                <a:solidFill>
                  <a:srgbClr val="C00000"/>
                </a:solidFill>
              </a:rPr>
              <a:t>customized</a:t>
            </a:r>
            <a:r>
              <a:rPr lang="en-US" sz="2200" dirty="0" smtClean="0"/>
              <a:t> at runtime without having to edit your class definition.</a:t>
            </a:r>
          </a:p>
          <a:p>
            <a:pPr lvl="1"/>
            <a:r>
              <a:rPr lang="en-US" sz="2200" dirty="0" smtClean="0"/>
              <a:t>Its function is to ensure that an application, once built and deployed, can be </a:t>
            </a:r>
            <a:r>
              <a:rPr lang="en-US" sz="2200" i="1" dirty="0" smtClean="0">
                <a:solidFill>
                  <a:srgbClr val="C00000"/>
                </a:solidFill>
              </a:rPr>
              <a:t>dynamically extended</a:t>
            </a:r>
            <a:r>
              <a:rPr lang="en-US" sz="2200" dirty="0" smtClean="0"/>
              <a:t>.</a:t>
            </a:r>
          </a:p>
        </p:txBody>
      </p:sp>
      <p:pic>
        <p:nvPicPr>
          <p:cNvPr id="3074" name="Picture 2" descr="http://khpi-iip.mipk.kharkiv.edu/library/extent/prog/jdp201/img/p3_1.gif"/>
          <p:cNvPicPr>
            <a:picLocks noChangeAspect="1" noChangeArrowheads="1"/>
          </p:cNvPicPr>
          <p:nvPr/>
        </p:nvPicPr>
        <p:blipFill>
          <a:blip r:embed="rId2" cstate="print"/>
          <a:srcRect/>
          <a:stretch>
            <a:fillRect/>
          </a:stretch>
        </p:blipFill>
        <p:spPr bwMode="auto">
          <a:xfrm>
            <a:off x="5791200" y="1752600"/>
            <a:ext cx="2914650" cy="2990850"/>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12508</TotalTime>
  <Words>7047</Words>
  <Application>Microsoft Office PowerPoint</Application>
  <PresentationFormat>On-screen Show (4:3)</PresentationFormat>
  <Paragraphs>752</Paragraphs>
  <Slides>106</Slides>
  <Notes>6</Notes>
  <HiddenSlides>0</HiddenSlides>
  <MMClips>0</MMClips>
  <ScaleCrop>false</ScaleCrop>
  <HeadingPairs>
    <vt:vector size="4" baseType="variant">
      <vt:variant>
        <vt:lpstr>Theme</vt:lpstr>
      </vt:variant>
      <vt:variant>
        <vt:i4>1</vt:i4>
      </vt:variant>
      <vt:variant>
        <vt:lpstr>Slide Titles</vt:lpstr>
      </vt:variant>
      <vt:variant>
        <vt:i4>106</vt:i4>
      </vt:variant>
    </vt:vector>
  </HeadingPairs>
  <TitlesOfParts>
    <vt:vector size="107" baseType="lpstr">
      <vt:lpstr>Office Theme</vt:lpstr>
      <vt:lpstr>Enterprise Patterns</vt:lpstr>
      <vt:lpstr>Objectives</vt:lpstr>
      <vt:lpstr>Contents</vt:lpstr>
      <vt:lpstr>References</vt:lpstr>
      <vt:lpstr>Anatomy of an Corporation [1]</vt:lpstr>
      <vt:lpstr>Enterprise Application [2]</vt:lpstr>
      <vt:lpstr>Core Enterprise Data [1]</vt:lpstr>
      <vt:lpstr>Business Data</vt:lpstr>
      <vt:lpstr>Business Process</vt:lpstr>
      <vt:lpstr>Enterprise Development Process [2]</vt:lpstr>
      <vt:lpstr>Slide 11</vt:lpstr>
      <vt:lpstr>Component View of Enterprise Architecture [1]</vt:lpstr>
      <vt:lpstr>Enterprise Components</vt:lpstr>
      <vt:lpstr>Enterprise Application Components [2]</vt:lpstr>
      <vt:lpstr>Software Architecture for Enterprise Components [1]</vt:lpstr>
      <vt:lpstr>Slide 16</vt:lpstr>
      <vt:lpstr>Hotel Booking</vt:lpstr>
      <vt:lpstr>Transaction Script [3]</vt:lpstr>
      <vt:lpstr>Transaction Script Example</vt:lpstr>
      <vt:lpstr>How to Use Transaction Script?</vt:lpstr>
      <vt:lpstr>Transaction Script Pros and Cons</vt:lpstr>
      <vt:lpstr>Table Module</vt:lpstr>
      <vt:lpstr>Table Module Example</vt:lpstr>
      <vt:lpstr>Table Module Pros and Cons</vt:lpstr>
      <vt:lpstr>☠ Transfer Object: Problem [3, 4]</vt:lpstr>
      <vt:lpstr>☞ Transfer Object: Solution</vt:lpstr>
      <vt:lpstr>Transfer Object Example</vt:lpstr>
      <vt:lpstr>Transfer Object: Structure</vt:lpstr>
      <vt:lpstr>Record Set [3]</vt:lpstr>
      <vt:lpstr>Slide 30</vt:lpstr>
      <vt:lpstr>Complicated Domain Logic Example</vt:lpstr>
      <vt:lpstr>Amazon Order Example</vt:lpstr>
      <vt:lpstr>☠ Business Object: Problem [3, 4]</vt:lpstr>
      <vt:lpstr>☞ Business Object: Solution</vt:lpstr>
      <vt:lpstr>Business Object Example</vt:lpstr>
      <vt:lpstr>Customer or Price Rule Change</vt:lpstr>
      <vt:lpstr>Business Object: Structure</vt:lpstr>
      <vt:lpstr>Business Object: Dynamic</vt:lpstr>
      <vt:lpstr>Domain Model</vt:lpstr>
      <vt:lpstr>Another Domain Model Example</vt:lpstr>
      <vt:lpstr>Revenue Recognition</vt:lpstr>
      <vt:lpstr>Contract: recognizedRevenue</vt:lpstr>
      <vt:lpstr>Revenue Recognitions Source</vt:lpstr>
      <vt:lpstr>Slide 44</vt:lpstr>
      <vt:lpstr>Recognition Strategies</vt:lpstr>
      <vt:lpstr>Calculating the Recognitions</vt:lpstr>
      <vt:lpstr>Domain Model Pros and Cons</vt:lpstr>
      <vt:lpstr>Active Record [3]</vt:lpstr>
      <vt:lpstr>Active Record Example</vt:lpstr>
      <vt:lpstr>Customer or Price Rule Change</vt:lpstr>
      <vt:lpstr>Active Record Pros and Cons</vt:lpstr>
      <vt:lpstr>Active Record Notes</vt:lpstr>
      <vt:lpstr>Layer Super-Type</vt:lpstr>
      <vt:lpstr>Slide 54</vt:lpstr>
      <vt:lpstr>☠ Data Access Object: Problem [3, 4]</vt:lpstr>
      <vt:lpstr>☞ Data Access Object: Solution</vt:lpstr>
      <vt:lpstr>Data Access Object: Structure</vt:lpstr>
      <vt:lpstr>Table Data Gateway [3]</vt:lpstr>
      <vt:lpstr>Table Module + TDG Example</vt:lpstr>
      <vt:lpstr>Business Object + TDG Example</vt:lpstr>
      <vt:lpstr>Questions</vt:lpstr>
      <vt:lpstr>Row Data Gateway</vt:lpstr>
      <vt:lpstr>Row Data Gateway Example</vt:lpstr>
      <vt:lpstr>Data Mapper</vt:lpstr>
      <vt:lpstr>Data Mapper Example</vt:lpstr>
      <vt:lpstr>Data Mapper and TDG</vt:lpstr>
      <vt:lpstr>Data Mapper Pros and Cons</vt:lpstr>
      <vt:lpstr>Slide 68</vt:lpstr>
      <vt:lpstr>Registry (Service Locator)</vt:lpstr>
      <vt:lpstr>C# Example (I)</vt:lpstr>
      <vt:lpstr>C# Example (II)</vt:lpstr>
      <vt:lpstr>C# Example (III)</vt:lpstr>
      <vt:lpstr>C# Example (IV)</vt:lpstr>
      <vt:lpstr>☠ Unit of Work: Problem</vt:lpstr>
      <vt:lpstr>☞ Unit of Work: Solution</vt:lpstr>
      <vt:lpstr>Unit of Work: How It Works?</vt:lpstr>
      <vt:lpstr>Unit of Work: Sample Code</vt:lpstr>
      <vt:lpstr>Unit of Work Pros and Cons</vt:lpstr>
      <vt:lpstr>Unit of Work Notes</vt:lpstr>
      <vt:lpstr>Table Module Transaction Example</vt:lpstr>
      <vt:lpstr>BO Transaction Example</vt:lpstr>
      <vt:lpstr>Slide 82</vt:lpstr>
      <vt:lpstr>How to Process a Request? [4]</vt:lpstr>
      <vt:lpstr>☠ Intercepting Filter: Problem</vt:lpstr>
      <vt:lpstr>☞ Intercepting Filter: Solution</vt:lpstr>
      <vt:lpstr>Intercepting Filter: Dynamic Structure</vt:lpstr>
      <vt:lpstr>Model View Controller [3]</vt:lpstr>
      <vt:lpstr>Page Controller</vt:lpstr>
      <vt:lpstr>When to Use Page Controller?</vt:lpstr>
      <vt:lpstr>☠ Front Controller: Problem [3, 4]</vt:lpstr>
      <vt:lpstr>☞ Front Controller: Solution</vt:lpstr>
      <vt:lpstr>Front Controller: Dynamic Structure</vt:lpstr>
      <vt:lpstr>How to Use Front Controller?</vt:lpstr>
      <vt:lpstr>Slide 94</vt:lpstr>
      <vt:lpstr>Template View [3]</vt:lpstr>
      <vt:lpstr>When to Use Template View?</vt:lpstr>
      <vt:lpstr>Transform View</vt:lpstr>
      <vt:lpstr>When to Use Transform View?</vt:lpstr>
      <vt:lpstr>Composite View [4]</vt:lpstr>
      <vt:lpstr>Composite View: Forces</vt:lpstr>
      <vt:lpstr>☞ Composite View: Solution</vt:lpstr>
      <vt:lpstr>Composite View: Structure</vt:lpstr>
      <vt:lpstr>Slide 103</vt:lpstr>
      <vt:lpstr>Simple Policy [5]</vt:lpstr>
      <vt:lpstr>Property Container</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4532</cp:revision>
  <dcterms:created xsi:type="dcterms:W3CDTF">2007-10-06T08:25:13Z</dcterms:created>
  <dcterms:modified xsi:type="dcterms:W3CDTF">2022-05-28T20:02:44Z</dcterms:modified>
</cp:coreProperties>
</file>