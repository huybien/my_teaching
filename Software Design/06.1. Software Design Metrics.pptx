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sldIdLst>
    <p:sldId id="256" r:id="rId2"/>
    <p:sldId id="480" r:id="rId3"/>
    <p:sldId id="498" r:id="rId4"/>
    <p:sldId id="496" r:id="rId5"/>
    <p:sldId id="462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472" r:id="rId15"/>
    <p:sldId id="497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359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85" autoAdjust="0"/>
    <p:restoredTop sz="94667" autoAdjust="0"/>
  </p:normalViewPr>
  <p:slideViewPr>
    <p:cSldViewPr>
      <p:cViewPr>
        <p:scale>
          <a:sx n="50" d="100"/>
          <a:sy n="50" d="100"/>
        </p:scale>
        <p:origin x="-1592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6/28/2021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Software Design Evaluation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410200" cy="30480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evaluate a design using </a:t>
            </a:r>
            <a:r>
              <a:rPr lang="en-US" sz="2400" i="1" dirty="0" smtClean="0">
                <a:solidFill>
                  <a:srgbClr val="C00000"/>
                </a:solidFill>
              </a:rPr>
              <a:t>cohesion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coupling metric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Systems and Modules </a:t>
            </a:r>
            <a:r>
              <a:rPr lang="en-US" sz="2400" dirty="0" smtClean="0"/>
              <a:t>Representation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Size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Length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Complexity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Cohesion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Coupling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Lionel Briand et al. (1996). Property-Based Software Engineering Measurement.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Shyam</a:t>
            </a:r>
            <a:r>
              <a:rPr lang="en-US" sz="2400" dirty="0" smtClean="0"/>
              <a:t> R. </a:t>
            </a:r>
            <a:r>
              <a:rPr lang="en-US" sz="2400" dirty="0" err="1" smtClean="0"/>
              <a:t>Chidamber</a:t>
            </a:r>
            <a:r>
              <a:rPr lang="en-US" sz="2400" dirty="0" smtClean="0"/>
              <a:t> and Chris F. </a:t>
            </a:r>
            <a:r>
              <a:rPr lang="en-US" sz="2400" dirty="0" err="1" smtClean="0"/>
              <a:t>Kemerer</a:t>
            </a:r>
            <a:r>
              <a:rPr lang="en-US" sz="2400" dirty="0" smtClean="0"/>
              <a:t> (1994). A Metrics Suite for Object Oriented Design.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 Based Evaluation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" y="1504950"/>
            <a:ext cx="817245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Systems and Modules Representation </a:t>
            </a:r>
            <a:r>
              <a:rPr lang="en-US" sz="3800" dirty="0" smtClean="0"/>
              <a:t>[1]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system S</a:t>
            </a:r>
            <a:r>
              <a:rPr lang="en-US" sz="2200" dirty="0" smtClean="0"/>
              <a:t> will be represented as a pair &lt;E,R&gt;, where E represents the set of elements of S, and R is a binary relation on E (R ⊆ E × E) representing the relationships between S's elements.</a:t>
            </a:r>
          </a:p>
          <a:p>
            <a:r>
              <a:rPr lang="en-US" sz="2200" dirty="0" smtClean="0"/>
              <a:t>Given a system S = &lt;E,R&gt;, a system m = &lt;</a:t>
            </a:r>
            <a:r>
              <a:rPr lang="en-US" sz="2200" dirty="0" err="1" smtClean="0"/>
              <a:t>E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, </a:t>
            </a:r>
            <a:r>
              <a:rPr lang="en-US" sz="2200" dirty="0" err="1" smtClean="0"/>
              <a:t>R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&gt; is </a:t>
            </a:r>
            <a:r>
              <a:rPr lang="en-US" sz="2200" i="1" dirty="0" smtClean="0">
                <a:solidFill>
                  <a:srgbClr val="C00000"/>
                </a:solidFill>
              </a:rPr>
              <a:t>a module</a:t>
            </a:r>
            <a:r>
              <a:rPr lang="en-US" sz="2200" dirty="0" smtClean="0"/>
              <a:t> of S if and only if </a:t>
            </a:r>
            <a:r>
              <a:rPr lang="en-US" sz="2200" dirty="0" err="1" smtClean="0"/>
              <a:t>E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 ⊆ E, </a:t>
            </a:r>
            <a:r>
              <a:rPr lang="en-US" sz="2200" dirty="0" err="1" smtClean="0"/>
              <a:t>R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 ⊆ E×E, and </a:t>
            </a:r>
            <a:r>
              <a:rPr lang="en-US" sz="2200" dirty="0" err="1" smtClean="0"/>
              <a:t>R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 ⊆ R.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set </a:t>
            </a:r>
            <a:r>
              <a:rPr lang="en-US" sz="2200" i="1" dirty="0" err="1" smtClean="0">
                <a:solidFill>
                  <a:srgbClr val="C00000"/>
                </a:solidFill>
              </a:rPr>
              <a:t>InputR</a:t>
            </a:r>
            <a:r>
              <a:rPr lang="en-US" sz="2200" i="1" dirty="0" smtClean="0">
                <a:solidFill>
                  <a:srgbClr val="C00000"/>
                </a:solidFill>
              </a:rPr>
              <a:t>(m) of relationships</a:t>
            </a:r>
            <a:r>
              <a:rPr lang="en-US" sz="2200" dirty="0" smtClean="0"/>
              <a:t> from elements outside module m = &lt;</a:t>
            </a:r>
            <a:r>
              <a:rPr lang="en-US" sz="2200" dirty="0" err="1" smtClean="0"/>
              <a:t>E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, </a:t>
            </a:r>
            <a:r>
              <a:rPr lang="en-US" sz="2200" dirty="0" err="1" smtClean="0"/>
              <a:t>R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&gt; to those of module m is defined as</a:t>
            </a:r>
          </a:p>
          <a:p>
            <a:pPr lvl="1"/>
            <a:r>
              <a:rPr lang="en-US" sz="2000" dirty="0" err="1" smtClean="0"/>
              <a:t>InputR</a:t>
            </a:r>
            <a:r>
              <a:rPr lang="en-US" sz="2000" dirty="0" smtClean="0"/>
              <a:t>(m) = {&lt;e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,e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&gt; ∈ R| e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∈ </a:t>
            </a:r>
            <a:r>
              <a:rPr lang="en-US" sz="2000" dirty="0" err="1" smtClean="0"/>
              <a:t>E</a:t>
            </a:r>
            <a:r>
              <a:rPr lang="en-US" sz="2000" baseline="-25000" dirty="0" err="1" smtClean="0"/>
              <a:t>m</a:t>
            </a:r>
            <a:r>
              <a:rPr lang="en-US" sz="2000" dirty="0" smtClean="0"/>
              <a:t> and e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∈ E - </a:t>
            </a:r>
            <a:r>
              <a:rPr lang="en-US" sz="2000" dirty="0" err="1" smtClean="0"/>
              <a:t>E</a:t>
            </a:r>
            <a:r>
              <a:rPr lang="en-US" sz="2000" baseline="-25000" dirty="0" err="1" smtClean="0"/>
              <a:t>m</a:t>
            </a:r>
            <a:r>
              <a:rPr lang="en-US" sz="2000" dirty="0" smtClean="0"/>
              <a:t>}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set </a:t>
            </a:r>
            <a:r>
              <a:rPr lang="en-US" sz="2200" i="1" dirty="0" err="1" smtClean="0">
                <a:solidFill>
                  <a:srgbClr val="C00000"/>
                </a:solidFill>
              </a:rPr>
              <a:t>OutputR</a:t>
            </a:r>
            <a:r>
              <a:rPr lang="en-US" sz="2200" i="1" dirty="0" smtClean="0">
                <a:solidFill>
                  <a:srgbClr val="C00000"/>
                </a:solidFill>
              </a:rPr>
              <a:t>(m) of relationships</a:t>
            </a:r>
            <a:r>
              <a:rPr lang="en-US" sz="2200" dirty="0" smtClean="0"/>
              <a:t> from the elements of a module m = &lt;</a:t>
            </a:r>
            <a:r>
              <a:rPr lang="en-US" sz="2200" dirty="0" err="1" smtClean="0"/>
              <a:t>E</a:t>
            </a:r>
            <a:r>
              <a:rPr lang="en-US" sz="2200" baseline="-25000" dirty="0" err="1" smtClean="0"/>
              <a:t>m</a:t>
            </a:r>
            <a:r>
              <a:rPr lang="en-US" sz="2200" dirty="0" err="1" smtClean="0"/>
              <a:t>,R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&gt; to those of the rest of the system is defined as</a:t>
            </a:r>
          </a:p>
          <a:p>
            <a:pPr lvl="1"/>
            <a:r>
              <a:rPr lang="pt-BR" sz="2000" dirty="0" smtClean="0"/>
              <a:t>OutputR(m) = {&lt;e</a:t>
            </a:r>
            <a:r>
              <a:rPr lang="pt-BR" sz="2000" baseline="-25000" dirty="0" smtClean="0"/>
              <a:t>1</a:t>
            </a:r>
            <a:r>
              <a:rPr lang="pt-BR" sz="2000" dirty="0" smtClean="0"/>
              <a:t>,e</a:t>
            </a:r>
            <a:r>
              <a:rPr lang="pt-BR" sz="2000" baseline="-25000" dirty="0" smtClean="0"/>
              <a:t>2</a:t>
            </a:r>
            <a:r>
              <a:rPr lang="pt-BR" sz="2000" dirty="0" smtClean="0"/>
              <a:t>&gt; </a:t>
            </a:r>
            <a:r>
              <a:rPr lang="en-US" sz="2000" dirty="0" smtClean="0"/>
              <a:t>∈</a:t>
            </a:r>
            <a:r>
              <a:rPr lang="pt-BR" sz="2000" dirty="0" smtClean="0"/>
              <a:t> R| e</a:t>
            </a:r>
            <a:r>
              <a:rPr lang="pt-BR" sz="2000" baseline="-25000" dirty="0" smtClean="0"/>
              <a:t>1</a:t>
            </a:r>
            <a:r>
              <a:rPr lang="pt-BR" sz="2000" dirty="0" smtClean="0"/>
              <a:t> </a:t>
            </a:r>
            <a:r>
              <a:rPr lang="en-US" sz="2000" dirty="0" smtClean="0"/>
              <a:t>∈</a:t>
            </a:r>
            <a:r>
              <a:rPr lang="pt-BR" sz="2000" dirty="0" smtClean="0"/>
              <a:t> E</a:t>
            </a:r>
            <a:r>
              <a:rPr lang="pt-BR" sz="2000" baseline="-25000" dirty="0" smtClean="0"/>
              <a:t>m</a:t>
            </a:r>
            <a:r>
              <a:rPr lang="pt-BR" sz="2000" dirty="0" smtClean="0"/>
              <a:t> and e</a:t>
            </a:r>
            <a:r>
              <a:rPr lang="pt-BR" sz="2000" baseline="-25000" dirty="0" smtClean="0"/>
              <a:t>2</a:t>
            </a:r>
            <a:r>
              <a:rPr lang="pt-BR" sz="2000" dirty="0" smtClean="0"/>
              <a:t> </a:t>
            </a:r>
            <a:r>
              <a:rPr lang="en-US" sz="2000" dirty="0" smtClean="0"/>
              <a:t>∈</a:t>
            </a:r>
            <a:r>
              <a:rPr lang="pt-BR" sz="2000" dirty="0" smtClean="0"/>
              <a:t> E - E</a:t>
            </a:r>
            <a:r>
              <a:rPr lang="pt-BR" sz="2000" baseline="-25000" dirty="0" smtClean="0"/>
              <a:t>m</a:t>
            </a:r>
            <a:r>
              <a:rPr lang="pt-BR" sz="2000" dirty="0" smtClean="0"/>
              <a:t>}</a:t>
            </a:r>
            <a:endParaRPr lang="en-US" sz="2000" dirty="0"/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14300" cy="219075"/>
          </a:xfrm>
          <a:prstGeom prst="rect">
            <a:avLst/>
          </a:prstGeom>
          <a:noFill/>
        </p:spPr>
      </p:pic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14300" cy="219075"/>
          </a:xfrm>
          <a:prstGeom prst="rect">
            <a:avLst/>
          </a:prstGeom>
          <a:noFill/>
        </p:spPr>
      </p:pic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14300" cy="219075"/>
          </a:xfrm>
          <a:prstGeom prst="rect">
            <a:avLst/>
          </a:prstGeom>
          <a:noFill/>
        </p:spPr>
      </p:pic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79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114300" cy="219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on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525963"/>
          </a:xfrm>
        </p:spPr>
        <p:txBody>
          <a:bodyPr/>
          <a:lstStyle/>
          <a:p>
            <a:r>
              <a:rPr lang="en-US" sz="2400" dirty="0" smtClean="0"/>
              <a:t>Inclusion</a:t>
            </a:r>
          </a:p>
          <a:p>
            <a:r>
              <a:rPr lang="en-US" sz="2400" dirty="0" smtClean="0"/>
              <a:t>Union</a:t>
            </a:r>
          </a:p>
          <a:p>
            <a:r>
              <a:rPr lang="en-US" sz="2400" dirty="0" smtClean="0"/>
              <a:t>Intersection</a:t>
            </a:r>
          </a:p>
          <a:p>
            <a:r>
              <a:rPr lang="en-US" sz="2400" dirty="0" smtClean="0"/>
              <a:t>Empty module</a:t>
            </a:r>
          </a:p>
          <a:p>
            <a:r>
              <a:rPr lang="en-US" sz="2400" dirty="0" smtClean="0"/>
              <a:t>Disjoint modules</a:t>
            </a:r>
            <a:endParaRPr lang="en-US" sz="2400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1905000"/>
            <a:ext cx="50006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 Systems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/>
          <a:lstStyle/>
          <a:p>
            <a:r>
              <a:rPr lang="en-US" sz="2400" dirty="0" smtClean="0"/>
              <a:t>The 3-tuple MS = &lt;E,R,M&gt; represents </a:t>
            </a:r>
            <a:r>
              <a:rPr lang="en-US" sz="2400" i="1" dirty="0" smtClean="0">
                <a:solidFill>
                  <a:srgbClr val="C00000"/>
                </a:solidFill>
              </a:rPr>
              <a:t>a modular system</a:t>
            </a:r>
            <a:r>
              <a:rPr lang="en-US" sz="2400" dirty="0" smtClean="0"/>
              <a:t> if S = &lt;E,R&gt; is a system, and M is a collection of modules of S such that</a:t>
            </a:r>
          </a:p>
          <a:p>
            <a:pPr lvl="1"/>
            <a:r>
              <a:rPr lang="en-US" sz="2000" dirty="0" smtClean="0"/>
              <a:t>∀e ∈ E (∃m ∈ M (m = &lt;</a:t>
            </a:r>
            <a:r>
              <a:rPr lang="en-US" sz="2000" dirty="0" err="1" smtClean="0"/>
              <a:t>E</a:t>
            </a:r>
            <a:r>
              <a:rPr lang="en-US" sz="2000" baseline="-25000" dirty="0" err="1" smtClean="0"/>
              <a:t>m</a:t>
            </a:r>
            <a:r>
              <a:rPr lang="en-US" sz="2000" dirty="0" err="1" smtClean="0"/>
              <a:t>,R</a:t>
            </a:r>
            <a:r>
              <a:rPr lang="en-US" sz="2000" baseline="-25000" dirty="0" err="1" smtClean="0"/>
              <a:t>m</a:t>
            </a:r>
            <a:r>
              <a:rPr lang="en-US" sz="2000" dirty="0" smtClean="0"/>
              <a:t>&gt; and e ∈ </a:t>
            </a:r>
            <a:r>
              <a:rPr lang="en-US" sz="2000" dirty="0" err="1" smtClean="0"/>
              <a:t>E</a:t>
            </a:r>
            <a:r>
              <a:rPr lang="en-US" sz="2000" baseline="-25000" dirty="0" err="1" smtClean="0"/>
              <a:t>m</a:t>
            </a:r>
            <a:r>
              <a:rPr lang="en-US" sz="2000" dirty="0" smtClean="0"/>
              <a:t>) ) and</a:t>
            </a:r>
          </a:p>
          <a:p>
            <a:pPr lvl="1"/>
            <a:r>
              <a:rPr lang="en-US" sz="2000" dirty="0" smtClean="0"/>
              <a:t>∀ m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,m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∈ M (m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= &lt;E</a:t>
            </a:r>
            <a:r>
              <a:rPr lang="en-US" sz="2000" baseline="-25000" dirty="0" smtClean="0"/>
              <a:t>m1</a:t>
            </a:r>
            <a:r>
              <a:rPr lang="en-US" sz="2000" dirty="0" smtClean="0"/>
              <a:t>,R</a:t>
            </a:r>
            <a:r>
              <a:rPr lang="en-US" sz="2000" baseline="-25000" dirty="0" smtClean="0"/>
              <a:t>m1</a:t>
            </a:r>
            <a:r>
              <a:rPr lang="en-US" sz="2000" dirty="0" smtClean="0"/>
              <a:t>&gt; and m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= &lt;E</a:t>
            </a:r>
            <a:r>
              <a:rPr lang="en-US" sz="2000" baseline="-25000" dirty="0" smtClean="0"/>
              <a:t>m2</a:t>
            </a:r>
            <a:r>
              <a:rPr lang="en-US" sz="2000" dirty="0" smtClean="0"/>
              <a:t>,R</a:t>
            </a:r>
            <a:r>
              <a:rPr lang="en-US" sz="2000" baseline="-25000" dirty="0" smtClean="0"/>
              <a:t>m2</a:t>
            </a:r>
            <a:r>
              <a:rPr lang="en-US" sz="2000" dirty="0" smtClean="0"/>
              <a:t>&gt; and E</a:t>
            </a:r>
            <a:r>
              <a:rPr lang="en-US" sz="2000" baseline="-25000" dirty="0" smtClean="0"/>
              <a:t>m1</a:t>
            </a:r>
            <a:r>
              <a:rPr lang="en-US" sz="2000" dirty="0" smtClean="0"/>
              <a:t> ∩ E</a:t>
            </a:r>
            <a:r>
              <a:rPr lang="en-US" sz="2000" baseline="-25000" dirty="0" smtClean="0"/>
              <a:t>m2</a:t>
            </a:r>
            <a:r>
              <a:rPr lang="en-US" sz="2000" dirty="0" smtClean="0"/>
              <a:t> = ∅)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i.e</a:t>
            </a:r>
            <a:r>
              <a:rPr lang="en-US" sz="2400" dirty="0" smtClean="0"/>
              <a:t>, the set of elements E of MS is partitioned into the sets of elements of the modules.</a:t>
            </a:r>
            <a:endParaRPr lang="en-US" sz="2400" dirty="0"/>
          </a:p>
        </p:txBody>
      </p:sp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419600"/>
            <a:ext cx="441007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4648200" y="4419600"/>
            <a:ext cx="4343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We denote the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union of all the </a:t>
            </a:r>
            <a:r>
              <a:rPr lang="en-US" i="1" dirty="0" err="1" smtClean="0">
                <a:solidFill>
                  <a:srgbClr val="C00000"/>
                </a:solidFill>
                <a:latin typeface="+mj-lt"/>
              </a:rPr>
              <a:t>R</a:t>
            </a:r>
            <a:r>
              <a:rPr lang="en-US" i="1" baseline="-25000" dirty="0" err="1" smtClean="0">
                <a:solidFill>
                  <a:srgbClr val="C00000"/>
                </a:solidFill>
                <a:latin typeface="+mj-lt"/>
              </a:rPr>
              <a:t>m</a:t>
            </a:r>
            <a:r>
              <a:rPr lang="en-US" i="1" dirty="0" err="1" smtClean="0">
                <a:solidFill>
                  <a:srgbClr val="C00000"/>
                </a:solidFill>
                <a:latin typeface="+mj-lt"/>
              </a:rPr>
              <a:t>'s</a:t>
            </a:r>
            <a:r>
              <a:rPr lang="en-US" dirty="0" smtClean="0">
                <a:latin typeface="+mj-lt"/>
              </a:rPr>
              <a:t> as IR. It is the set of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intra-module relationships</a:t>
            </a:r>
            <a:r>
              <a:rPr lang="en-US" dirty="0" smtClean="0">
                <a:latin typeface="+mj-lt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Since the modules are disjoint, the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union of all </a:t>
            </a:r>
            <a:r>
              <a:rPr lang="en-US" i="1" dirty="0" err="1" smtClean="0">
                <a:solidFill>
                  <a:srgbClr val="C00000"/>
                </a:solidFill>
                <a:latin typeface="+mj-lt"/>
              </a:rPr>
              <a:t>OutputR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(m)'s</a:t>
            </a:r>
            <a:r>
              <a:rPr lang="en-US" dirty="0" smtClean="0">
                <a:latin typeface="+mj-lt"/>
              </a:rPr>
              <a:t> is equal to the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union of all </a:t>
            </a:r>
            <a:r>
              <a:rPr lang="en-US" i="1" dirty="0" err="1" smtClean="0">
                <a:solidFill>
                  <a:srgbClr val="C00000"/>
                </a:solidFill>
                <a:latin typeface="+mj-lt"/>
              </a:rPr>
              <a:t>InputR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(m)'s</a:t>
            </a:r>
            <a:r>
              <a:rPr lang="en-US" dirty="0" smtClean="0">
                <a:latin typeface="+mj-lt"/>
              </a:rPr>
              <a:t>, which is equal to R-IR. It is the set of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inter-module relationships</a:t>
            </a:r>
            <a:r>
              <a:rPr lang="en-US" dirty="0" smtClean="0"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size of a system S</a:t>
            </a:r>
            <a:r>
              <a:rPr lang="en-US" sz="2400" dirty="0" smtClean="0"/>
              <a:t> is a function Size(S) that is characterized by the following properties</a:t>
            </a:r>
          </a:p>
          <a:p>
            <a:pPr lvl="1"/>
            <a:r>
              <a:rPr lang="en-US" sz="2000" dirty="0" smtClean="0"/>
              <a:t>Non-negativity</a:t>
            </a:r>
          </a:p>
          <a:p>
            <a:pPr lvl="1"/>
            <a:r>
              <a:rPr lang="en-US" sz="2000" dirty="0" smtClean="0"/>
              <a:t>Null Value</a:t>
            </a:r>
          </a:p>
          <a:p>
            <a:pPr lvl="1"/>
            <a:r>
              <a:rPr lang="en-US" sz="2000" dirty="0" smtClean="0"/>
              <a:t>Module </a:t>
            </a:r>
            <a:r>
              <a:rPr lang="en-US" sz="2000" dirty="0" err="1" smtClean="0"/>
              <a:t>Additivity</a:t>
            </a:r>
            <a:endParaRPr lang="en-US" sz="2000" dirty="0" smtClean="0"/>
          </a:p>
          <a:p>
            <a:r>
              <a:rPr lang="en-US" sz="2400" dirty="0" smtClean="0"/>
              <a:t>With reference to </a:t>
            </a:r>
            <a:r>
              <a:rPr lang="en-US" sz="2400" i="1" dirty="0" smtClean="0">
                <a:solidFill>
                  <a:srgbClr val="C00000"/>
                </a:solidFill>
              </a:rPr>
              <a:t>code measures</a:t>
            </a:r>
            <a:r>
              <a:rPr lang="en-US" sz="2400" dirty="0" smtClean="0"/>
              <a:t>, we have: LOC, #Statements, #Modules, #Procedures, Halstead's Length, #Occurrences of Operators, #Occurrences of Operands, #Unique Operators, #Unique Operands.</a:t>
            </a:r>
          </a:p>
          <a:p>
            <a:r>
              <a:rPr lang="en-US" sz="2400" dirty="0" smtClean="0"/>
              <a:t>In each of the above cases, each </a:t>
            </a:r>
            <a:r>
              <a:rPr lang="en-US" sz="2400" i="1" dirty="0" smtClean="0">
                <a:solidFill>
                  <a:srgbClr val="C00000"/>
                </a:solidFill>
              </a:rPr>
              <a:t>counted entity</a:t>
            </a:r>
            <a:r>
              <a:rPr lang="en-US" sz="2400" dirty="0" smtClean="0"/>
              <a:t> is an element, and the </a:t>
            </a:r>
            <a:r>
              <a:rPr lang="en-US" sz="2400" i="1" dirty="0" smtClean="0">
                <a:solidFill>
                  <a:srgbClr val="C00000"/>
                </a:solidFill>
              </a:rPr>
              <a:t>relationship</a:t>
            </a:r>
            <a:r>
              <a:rPr lang="en-US" sz="2400" dirty="0" smtClean="0"/>
              <a:t> between elements is just the sequential relationship.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length of a system S</a:t>
            </a:r>
            <a:r>
              <a:rPr lang="en-US" sz="2400" dirty="0" smtClean="0"/>
              <a:t> is a function Length(S) characterized by the following properties:</a:t>
            </a:r>
          </a:p>
          <a:p>
            <a:pPr lvl="1"/>
            <a:r>
              <a:rPr lang="en-US" sz="1800" dirty="0" smtClean="0"/>
              <a:t>Non-negativity</a:t>
            </a:r>
          </a:p>
          <a:p>
            <a:pPr lvl="1"/>
            <a:r>
              <a:rPr lang="en-US" sz="1800" dirty="0" smtClean="0"/>
              <a:t>Null Value</a:t>
            </a:r>
          </a:p>
          <a:p>
            <a:pPr lvl="1"/>
            <a:r>
              <a:rPr lang="en-US" sz="1800" dirty="0" smtClean="0"/>
              <a:t>Non-increasing </a:t>
            </a:r>
            <a:r>
              <a:rPr lang="en-US" sz="1800" dirty="0" err="1" smtClean="0"/>
              <a:t>Monotonicity</a:t>
            </a:r>
            <a:r>
              <a:rPr lang="en-US" sz="1800" dirty="0" smtClean="0"/>
              <a:t> for Connected Components: Let S be a system and m be a module of S such that m is represented by a connected component of the graph representing S. Adding relationships between elements of m does not increase the length of S.</a:t>
            </a:r>
          </a:p>
          <a:p>
            <a:pPr lvl="1"/>
            <a:r>
              <a:rPr lang="en-US" sz="1800" dirty="0" smtClean="0"/>
              <a:t>Non-decreasing </a:t>
            </a:r>
            <a:r>
              <a:rPr lang="en-US" sz="1800" dirty="0" err="1" smtClean="0"/>
              <a:t>Monotonicity</a:t>
            </a:r>
            <a:r>
              <a:rPr lang="en-US" sz="1800" dirty="0" smtClean="0"/>
              <a:t> for Non-connected Components: Let S be a system and m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and m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be two modules of S such that m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and m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are represented by two separate connected components of the graph representing S. Adding relationships from elements of m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to elements of m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does not decrease the length of S.</a:t>
            </a:r>
          </a:p>
          <a:p>
            <a:pPr lvl="1"/>
            <a:r>
              <a:rPr lang="en-US" sz="1800" dirty="0" smtClean="0"/>
              <a:t>Disjoint Modules: The length of a system S = &lt;E,R&gt; made of two disjoint modules m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, m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is equal to the maximum of the lengths of m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and m</a:t>
            </a:r>
            <a:r>
              <a:rPr lang="en-US" sz="1800" baseline="-25000" dirty="0" smtClean="0"/>
              <a:t>2</a:t>
            </a:r>
            <a:endParaRPr lang="en-US" sz="1800" baseline="-25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complexity of a system S</a:t>
            </a:r>
            <a:r>
              <a:rPr lang="en-US" sz="2400" dirty="0" smtClean="0"/>
              <a:t> is a function Complexity(S) that is characterized by the following properties:</a:t>
            </a:r>
          </a:p>
          <a:p>
            <a:pPr lvl="1"/>
            <a:r>
              <a:rPr lang="en-US" sz="2000" dirty="0" smtClean="0"/>
              <a:t>Non-negativity</a:t>
            </a:r>
          </a:p>
          <a:p>
            <a:pPr lvl="1"/>
            <a:r>
              <a:rPr lang="en-US" sz="2000" dirty="0" smtClean="0"/>
              <a:t>Null Value</a:t>
            </a:r>
          </a:p>
          <a:p>
            <a:pPr lvl="1"/>
            <a:r>
              <a:rPr lang="en-US" sz="2000" dirty="0" smtClean="0"/>
              <a:t>Symmetry: The complexity of a system S = &lt;E,R&gt; does not depend on the convention chosen to represent the relationships between its elements.</a:t>
            </a:r>
          </a:p>
          <a:p>
            <a:pPr lvl="1"/>
            <a:r>
              <a:rPr lang="en-US" sz="2000" dirty="0" smtClean="0"/>
              <a:t>Module </a:t>
            </a:r>
            <a:r>
              <a:rPr lang="en-US" sz="2000" dirty="0" err="1" smtClean="0"/>
              <a:t>Monotonicity</a:t>
            </a:r>
            <a:r>
              <a:rPr lang="en-US" sz="2000" dirty="0" smtClean="0"/>
              <a:t>: The complexity of a system S = &lt;E,R&gt; is no less than the sum of the complexities of any two of its modules with no relationships in common.</a:t>
            </a:r>
          </a:p>
          <a:p>
            <a:pPr lvl="1"/>
            <a:r>
              <a:rPr lang="en-US" sz="2000" dirty="0" smtClean="0"/>
              <a:t>Disjoint Module </a:t>
            </a:r>
            <a:r>
              <a:rPr lang="en-US" sz="2000" dirty="0" err="1" smtClean="0"/>
              <a:t>Additivity</a:t>
            </a:r>
            <a:r>
              <a:rPr lang="en-US" sz="2000" dirty="0" smtClean="0"/>
              <a:t>: The complexity of a system S = &lt;E,R&gt; composed of two disjoint modules m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, m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is equal to the sum of the complexities of the two modules.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cohesion of a [module m = &lt;</a:t>
            </a:r>
            <a:r>
              <a:rPr lang="en-US" sz="2400" i="1" dirty="0" err="1" smtClean="0">
                <a:solidFill>
                  <a:srgbClr val="C00000"/>
                </a:solidFill>
              </a:rPr>
              <a:t>E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m</a:t>
            </a:r>
            <a:r>
              <a:rPr lang="en-US" sz="2400" i="1" dirty="0" err="1" smtClean="0">
                <a:solidFill>
                  <a:srgbClr val="C00000"/>
                </a:solidFill>
              </a:rPr>
              <a:t>,R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m</a:t>
            </a:r>
            <a:r>
              <a:rPr lang="en-US" sz="2400" i="1" dirty="0" smtClean="0">
                <a:solidFill>
                  <a:srgbClr val="C00000"/>
                </a:solidFill>
              </a:rPr>
              <a:t>&gt; of a modular system MS | modular system MS]</a:t>
            </a:r>
            <a:r>
              <a:rPr lang="en-US" sz="2400" dirty="0" smtClean="0"/>
              <a:t> is a function [Cohesion(m)|Cohesion(MS)] characterized by the following properties:</a:t>
            </a:r>
          </a:p>
          <a:p>
            <a:pPr lvl="1"/>
            <a:r>
              <a:rPr lang="en-US" sz="2000" dirty="0" smtClean="0"/>
              <a:t>Non-negativity and Normalization</a:t>
            </a:r>
          </a:p>
          <a:p>
            <a:pPr lvl="1"/>
            <a:r>
              <a:rPr lang="en-US" sz="2000" dirty="0" smtClean="0"/>
              <a:t>Null Value</a:t>
            </a:r>
          </a:p>
          <a:p>
            <a:pPr lvl="1"/>
            <a:r>
              <a:rPr lang="en-US" sz="2000" dirty="0" err="1" smtClean="0"/>
              <a:t>Monotonicity</a:t>
            </a:r>
            <a:r>
              <a:rPr lang="en-US" sz="2000" dirty="0" smtClean="0"/>
              <a:t>: Adding intra-module relationships does not decrease [</a:t>
            </a:r>
            <a:r>
              <a:rPr lang="en-US" sz="2000" dirty="0" err="1" smtClean="0"/>
              <a:t>module|modular</a:t>
            </a:r>
            <a:r>
              <a:rPr lang="en-US" sz="2000" dirty="0" smtClean="0"/>
              <a:t> system] cohesion.</a:t>
            </a:r>
          </a:p>
          <a:p>
            <a:pPr lvl="1"/>
            <a:r>
              <a:rPr lang="en-US" sz="2000" dirty="0" smtClean="0"/>
              <a:t>Cohesive Modules: The cohesion of a [</a:t>
            </a:r>
            <a:r>
              <a:rPr lang="en-US" sz="2000" dirty="0" err="1" smtClean="0"/>
              <a:t>module|modular</a:t>
            </a:r>
            <a:r>
              <a:rPr lang="en-US" sz="2000" dirty="0" smtClean="0"/>
              <a:t> system] obtained by putting together two unrelated modules is not greater than the [maximum cohesion of the two original </a:t>
            </a:r>
            <a:r>
              <a:rPr lang="en-US" sz="2000" dirty="0" err="1" smtClean="0"/>
              <a:t>modules|the</a:t>
            </a:r>
            <a:r>
              <a:rPr lang="en-US" sz="2000" dirty="0" smtClean="0"/>
              <a:t> cohesion of the original modular system].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coupling of a [module m = &lt;</a:t>
            </a:r>
            <a:r>
              <a:rPr lang="en-US" sz="2200" i="1" dirty="0" err="1" smtClean="0">
                <a:solidFill>
                  <a:srgbClr val="C00000"/>
                </a:solidFill>
              </a:rPr>
              <a:t>Em,Rm</a:t>
            </a:r>
            <a:r>
              <a:rPr lang="en-US" sz="2200" i="1" dirty="0" smtClean="0">
                <a:solidFill>
                  <a:srgbClr val="C00000"/>
                </a:solidFill>
              </a:rPr>
              <a:t>&gt; of a modular system </a:t>
            </a:r>
            <a:r>
              <a:rPr lang="en-US" sz="2200" i="1" dirty="0" err="1" smtClean="0">
                <a:solidFill>
                  <a:srgbClr val="C00000"/>
                </a:solidFill>
              </a:rPr>
              <a:t>MS|modular</a:t>
            </a:r>
            <a:r>
              <a:rPr lang="en-US" sz="2200" i="1" dirty="0" smtClean="0">
                <a:solidFill>
                  <a:srgbClr val="C00000"/>
                </a:solidFill>
              </a:rPr>
              <a:t> system MS]</a:t>
            </a:r>
            <a:r>
              <a:rPr lang="en-US" sz="2200" dirty="0" smtClean="0"/>
              <a:t> is a function [Coupling(m)|Coupling(MS)] characterized by the following properties:</a:t>
            </a:r>
          </a:p>
          <a:p>
            <a:pPr lvl="1"/>
            <a:r>
              <a:rPr lang="en-US" sz="1800" dirty="0" smtClean="0"/>
              <a:t>Non-negativity</a:t>
            </a:r>
          </a:p>
          <a:p>
            <a:pPr lvl="1"/>
            <a:r>
              <a:rPr lang="en-US" sz="1800" dirty="0" smtClean="0"/>
              <a:t>Null Value</a:t>
            </a:r>
          </a:p>
          <a:p>
            <a:pPr lvl="1"/>
            <a:r>
              <a:rPr lang="en-US" sz="1800" dirty="0" err="1" smtClean="0"/>
              <a:t>Monotonicity</a:t>
            </a:r>
            <a:r>
              <a:rPr lang="en-US" sz="1800" dirty="0" smtClean="0"/>
              <a:t>: Adding inter-module relationships does not decrease coupling.</a:t>
            </a:r>
          </a:p>
          <a:p>
            <a:pPr lvl="1"/>
            <a:r>
              <a:rPr lang="en-US" sz="1800" dirty="0" smtClean="0"/>
              <a:t>Merging of Modules: The coupling of a [</a:t>
            </a:r>
            <a:r>
              <a:rPr lang="en-US" sz="1800" dirty="0" err="1" smtClean="0"/>
              <a:t>module|modular</a:t>
            </a:r>
            <a:r>
              <a:rPr lang="en-US" sz="1800" dirty="0" smtClean="0"/>
              <a:t> system] obtained by merging two modules is not greater than the [sum of the couplings of the two original </a:t>
            </a:r>
            <a:r>
              <a:rPr lang="en-US" sz="1800" dirty="0" err="1" smtClean="0"/>
              <a:t>modules|coupling</a:t>
            </a:r>
            <a:r>
              <a:rPr lang="en-US" sz="1800" dirty="0" smtClean="0"/>
              <a:t> of the original modular system], since the two modules may have common inter-module relationships.</a:t>
            </a:r>
          </a:p>
          <a:p>
            <a:pPr lvl="1"/>
            <a:r>
              <a:rPr lang="en-US" sz="1800" dirty="0" smtClean="0"/>
              <a:t>Disjoint Module </a:t>
            </a:r>
            <a:r>
              <a:rPr lang="en-US" sz="1800" dirty="0" err="1" smtClean="0"/>
              <a:t>Additivity</a:t>
            </a:r>
            <a:r>
              <a:rPr lang="en-US" sz="1800" dirty="0" smtClean="0"/>
              <a:t>: The coupling of a [</a:t>
            </a:r>
            <a:r>
              <a:rPr lang="en-US" sz="1800" dirty="0" err="1" smtClean="0"/>
              <a:t>module|modular</a:t>
            </a:r>
            <a:r>
              <a:rPr lang="en-US" sz="1800" dirty="0" smtClean="0"/>
              <a:t> system] obtained by merging two unrelated modules is equal to the [sum of the couplings of the two original </a:t>
            </a:r>
            <a:r>
              <a:rPr lang="en-US" sz="1800" dirty="0" err="1" smtClean="0"/>
              <a:t>modules|coupling</a:t>
            </a:r>
            <a:r>
              <a:rPr lang="en-US" sz="1800" dirty="0" smtClean="0"/>
              <a:t> of the original modular system].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of Concept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Coupling and cohesion</a:t>
            </a:r>
            <a:r>
              <a:rPr lang="en-US" sz="2200" dirty="0" smtClean="0"/>
              <a:t> are only defined in the context of </a:t>
            </a:r>
            <a:r>
              <a:rPr lang="en-US" sz="2200" i="1" dirty="0" smtClean="0">
                <a:solidFill>
                  <a:srgbClr val="C00000"/>
                </a:solidFill>
              </a:rPr>
              <a:t>modular systems</a:t>
            </a:r>
            <a:r>
              <a:rPr lang="en-US" sz="2200" dirty="0" smtClean="0"/>
              <a:t>, whereas </a:t>
            </a:r>
            <a:r>
              <a:rPr lang="en-US" sz="2200" i="1" dirty="0" smtClean="0">
                <a:solidFill>
                  <a:srgbClr val="C00000"/>
                </a:solidFill>
              </a:rPr>
              <a:t>size, length and complexity</a:t>
            </a:r>
            <a:r>
              <a:rPr lang="en-US" sz="2200" dirty="0" smtClean="0"/>
              <a:t> are defined for </a:t>
            </a:r>
            <a:r>
              <a:rPr lang="en-US" sz="2200" i="1" dirty="0" smtClean="0">
                <a:solidFill>
                  <a:srgbClr val="C00000"/>
                </a:solidFill>
              </a:rPr>
              <a:t>all systems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concepts appear to have the null value (second column) and </a:t>
            </a:r>
            <a:r>
              <a:rPr lang="en-US" sz="2200" dirty="0" err="1" smtClean="0"/>
              <a:t>monotonicity</a:t>
            </a:r>
            <a:r>
              <a:rPr lang="en-US" sz="2200" dirty="0" smtClean="0"/>
              <a:t> (third column) properties based on </a:t>
            </a:r>
            <a:r>
              <a:rPr lang="en-US" sz="2200" i="1" dirty="0" smtClean="0">
                <a:solidFill>
                  <a:srgbClr val="C00000"/>
                </a:solidFill>
              </a:rPr>
              <a:t>different sets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When systems are made of disjoint modules, size, complexity and coupling are </a:t>
            </a:r>
            <a:r>
              <a:rPr lang="en-US" sz="2200" i="1" dirty="0" smtClean="0">
                <a:solidFill>
                  <a:srgbClr val="C00000"/>
                </a:solidFill>
              </a:rPr>
              <a:t>additive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419600"/>
            <a:ext cx="792480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 Software Metrics Problems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Software metrics need to be constructed with a stronger degree of </a:t>
            </a:r>
            <a:r>
              <a:rPr lang="en-US" sz="2400" i="1" dirty="0" smtClean="0">
                <a:solidFill>
                  <a:srgbClr val="C00000"/>
                </a:solidFill>
              </a:rPr>
              <a:t>theoretical and mathematical rigor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It is not surprising to find that software metrics developed with </a:t>
            </a:r>
            <a:r>
              <a:rPr lang="en-US" sz="2400" i="1" dirty="0" smtClean="0">
                <a:solidFill>
                  <a:srgbClr val="C00000"/>
                </a:solidFill>
              </a:rPr>
              <a:t>traditional methods</a:t>
            </a:r>
            <a:r>
              <a:rPr lang="en-US" sz="2400" dirty="0" smtClean="0"/>
              <a:t> in mind do not readily lend themselves to OO notions such as classes, inheritance, encapsulation and message passing.</a:t>
            </a:r>
          </a:p>
          <a:p>
            <a:endParaRPr lang="en-US" sz="2400" dirty="0" smtClean="0"/>
          </a:p>
          <a:p>
            <a:r>
              <a:rPr lang="en-US" sz="2400" dirty="0" smtClean="0"/>
              <a:t>It seems appropriate to develop a set, or suite of new metrics especially designed to </a:t>
            </a:r>
            <a:r>
              <a:rPr lang="en-US" sz="2400" i="1" dirty="0" smtClean="0">
                <a:solidFill>
                  <a:srgbClr val="C00000"/>
                </a:solidFill>
              </a:rPr>
              <a:t>measure unique aspects of the OO </a:t>
            </a:r>
            <a:r>
              <a:rPr lang="en-US" sz="2400" dirty="0" smtClean="0"/>
              <a:t>approach.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Theory 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object oriented design</a:t>
            </a:r>
            <a:r>
              <a:rPr lang="en-US" sz="2400" dirty="0" smtClean="0"/>
              <a:t> can be conceptualized as a </a:t>
            </a:r>
            <a:r>
              <a:rPr lang="en-US" sz="2400" u="sng" dirty="0" smtClean="0"/>
              <a:t>relational system</a:t>
            </a:r>
            <a:r>
              <a:rPr lang="en-US" sz="2400" dirty="0" smtClean="0"/>
              <a:t>, which is defined  as an ordered tuple consisting of a set of elements, a set of relations and a set of binary operations.</a:t>
            </a:r>
          </a:p>
          <a:p>
            <a:endParaRPr lang="en-US" sz="2400" dirty="0" smtClean="0"/>
          </a:p>
          <a:p>
            <a:r>
              <a:rPr lang="en-US" sz="2400" dirty="0" smtClean="0"/>
              <a:t>where</a:t>
            </a:r>
          </a:p>
          <a:p>
            <a:pPr>
              <a:buNone/>
            </a:pPr>
            <a:r>
              <a:rPr lang="en-US" sz="2400" dirty="0" smtClean="0"/>
              <a:t>	A is a set of </a:t>
            </a:r>
            <a:r>
              <a:rPr lang="en-US" sz="2400" i="1" dirty="0" smtClean="0">
                <a:solidFill>
                  <a:srgbClr val="C00000"/>
                </a:solidFill>
              </a:rPr>
              <a:t>object-elements</a:t>
            </a:r>
          </a:p>
          <a:p>
            <a:pPr>
              <a:buNone/>
            </a:pPr>
            <a:r>
              <a:rPr lang="en-US" sz="2400" dirty="0" smtClean="0"/>
              <a:t>	R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. . . </a:t>
            </a:r>
            <a:r>
              <a:rPr lang="en-US" sz="2400" dirty="0" err="1" smtClean="0"/>
              <a:t>R</a:t>
            </a:r>
            <a:r>
              <a:rPr lang="en-US" sz="2400" baseline="-25000" dirty="0" err="1" smtClean="0"/>
              <a:t>n</a:t>
            </a:r>
            <a:r>
              <a:rPr lang="en-US" sz="2400" dirty="0" smtClean="0"/>
              <a:t>, are </a:t>
            </a:r>
            <a:r>
              <a:rPr lang="en-US" sz="2400" i="1" dirty="0" smtClean="0">
                <a:solidFill>
                  <a:srgbClr val="C00000"/>
                </a:solidFill>
              </a:rPr>
              <a:t>empirical relations</a:t>
            </a:r>
            <a:r>
              <a:rPr lang="en-US" sz="2400" dirty="0" smtClean="0"/>
              <a:t> on object-elements of A (e.g., bigger than, smaller than, etc.)</a:t>
            </a:r>
          </a:p>
          <a:p>
            <a:pPr>
              <a:buNone/>
            </a:pPr>
            <a:r>
              <a:rPr lang="en-US" sz="2400" dirty="0" smtClean="0"/>
              <a:t>	0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. . .O</a:t>
            </a:r>
            <a:r>
              <a:rPr lang="en-US" sz="2400" baseline="-25000" dirty="0" smtClean="0"/>
              <a:t>m</a:t>
            </a:r>
            <a:r>
              <a:rPr lang="en-US" sz="2400" dirty="0" smtClean="0"/>
              <a:t> are </a:t>
            </a:r>
            <a:r>
              <a:rPr lang="en-US" sz="2400" i="1" dirty="0" smtClean="0">
                <a:solidFill>
                  <a:srgbClr val="C00000"/>
                </a:solidFill>
              </a:rPr>
              <a:t>binary operations</a:t>
            </a:r>
            <a:r>
              <a:rPr lang="en-US" sz="2400" dirty="0" smtClean="0"/>
              <a:t> on elements of A (e.g., combination)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8025" y="3281363"/>
            <a:ext cx="264795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Empirical Relations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useful way to </a:t>
            </a:r>
            <a:r>
              <a:rPr lang="en-US" sz="2200" i="1" dirty="0" smtClean="0">
                <a:solidFill>
                  <a:srgbClr val="C00000"/>
                </a:solidFill>
              </a:rPr>
              <a:t>understand empirical relations</a:t>
            </a:r>
            <a:r>
              <a:rPr lang="en-US" sz="2200" dirty="0" smtClean="0"/>
              <a:t> on a set of object-elements is to consider the measurement of complexity.</a:t>
            </a:r>
          </a:p>
          <a:p>
            <a:r>
              <a:rPr lang="en-US" sz="2200" dirty="0" smtClean="0"/>
              <a:t>For example, a designer </a:t>
            </a:r>
            <a:r>
              <a:rPr lang="en-US" sz="2200" i="1" dirty="0" smtClean="0">
                <a:solidFill>
                  <a:srgbClr val="C00000"/>
                </a:solidFill>
              </a:rPr>
              <a:t>intuitively understands</a:t>
            </a:r>
            <a:r>
              <a:rPr lang="en-US" sz="2200" dirty="0" smtClean="0"/>
              <a:t> that a class that has many methods is generally more complex than one that has few methods.</a:t>
            </a:r>
          </a:p>
          <a:p>
            <a:r>
              <a:rPr lang="en-US" sz="2200" dirty="0" smtClean="0"/>
              <a:t>This intuitive idea is defined as a </a:t>
            </a:r>
            <a:r>
              <a:rPr lang="en-US" sz="2200" i="1" dirty="0" smtClean="0">
                <a:solidFill>
                  <a:srgbClr val="C00000"/>
                </a:solidFill>
              </a:rPr>
              <a:t>viewpoint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An </a:t>
            </a:r>
            <a:r>
              <a:rPr lang="en-US" sz="2200" i="1" dirty="0" smtClean="0">
                <a:solidFill>
                  <a:srgbClr val="C00000"/>
                </a:solidFill>
              </a:rPr>
              <a:t>empirical relation</a:t>
            </a:r>
            <a:r>
              <a:rPr lang="en-US" sz="2200" dirty="0" smtClean="0"/>
              <a:t> is identical to a viewpoint, and the two terms are distinguished here only for the sake of consistency with the measurement theory literature.</a:t>
            </a:r>
          </a:p>
          <a:p>
            <a:r>
              <a:rPr lang="en-US" sz="2200" dirty="0" smtClean="0"/>
              <a:t>A viewpoint must be of </a:t>
            </a:r>
            <a:r>
              <a:rPr lang="en-US" sz="2200" i="1" dirty="0" smtClean="0">
                <a:solidFill>
                  <a:srgbClr val="C00000"/>
                </a:solidFill>
              </a:rPr>
              <a:t>weak order</a:t>
            </a:r>
            <a:r>
              <a:rPr lang="en-US" sz="2200" dirty="0" smtClean="0"/>
              <a:t>.</a:t>
            </a:r>
          </a:p>
          <a:p>
            <a:pPr lvl="1"/>
            <a:r>
              <a:rPr lang="en-US" sz="1800" i="1" dirty="0" smtClean="0">
                <a:solidFill>
                  <a:srgbClr val="C00000"/>
                </a:solidFill>
              </a:rPr>
              <a:t>Completeness</a:t>
            </a:r>
            <a:r>
              <a:rPr lang="en-US" sz="1800" dirty="0" smtClean="0"/>
              <a:t>: P is more complex than P’ or P’ is more complex than P</a:t>
            </a:r>
          </a:p>
          <a:p>
            <a:pPr lvl="1"/>
            <a:r>
              <a:rPr lang="en-US" sz="1800" i="1" dirty="0" smtClean="0">
                <a:solidFill>
                  <a:srgbClr val="C00000"/>
                </a:solidFill>
              </a:rPr>
              <a:t>Transitivity</a:t>
            </a:r>
            <a:r>
              <a:rPr lang="en-US" sz="1800" dirty="0" smtClean="0"/>
              <a:t>: if P is more complex than P’ and P’ is more complex than P”, then P is more complex than P”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Relational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743200"/>
          </a:xfrm>
        </p:spPr>
        <p:txBody>
          <a:bodyPr/>
          <a:lstStyle/>
          <a:p>
            <a:r>
              <a:rPr lang="en-US" sz="2200" dirty="0" smtClean="0"/>
              <a:t>To be able to measure something about an object design, the empirical relational system as defined above needs to be transformed to a </a:t>
            </a:r>
            <a:r>
              <a:rPr lang="en-US" sz="2200" i="1" dirty="0" smtClean="0">
                <a:solidFill>
                  <a:srgbClr val="C00000"/>
                </a:solidFill>
              </a:rPr>
              <a:t>formal relational system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r>
              <a:rPr lang="en-US" sz="2200" dirty="0" smtClean="0"/>
              <a:t>C is a set of elements (e.g., real numbers)</a:t>
            </a:r>
          </a:p>
          <a:p>
            <a:r>
              <a:rPr lang="en-US" sz="2200" dirty="0" smtClean="0"/>
              <a:t>S</a:t>
            </a:r>
            <a:r>
              <a:rPr lang="en-US" sz="2200" baseline="-25000" dirty="0" smtClean="0"/>
              <a:t>1</a:t>
            </a:r>
            <a:r>
              <a:rPr lang="en-US" sz="2200" dirty="0" smtClean="0"/>
              <a:t> . . . </a:t>
            </a:r>
            <a:r>
              <a:rPr lang="en-US" sz="2200" dirty="0" err="1" smtClean="0"/>
              <a:t>S</a:t>
            </a:r>
            <a:r>
              <a:rPr lang="en-US" sz="2200" baseline="-25000" dirty="0" err="1" smtClean="0"/>
              <a:t>n</a:t>
            </a:r>
            <a:r>
              <a:rPr lang="en-US" sz="2200" dirty="0" smtClean="0"/>
              <a:t>, are formal relations on elements of C (e.g., &gt;, &lt;, =)</a:t>
            </a:r>
          </a:p>
          <a:p>
            <a:r>
              <a:rPr lang="en-US" sz="2200" dirty="0" smtClean="0"/>
              <a:t>B</a:t>
            </a:r>
            <a:r>
              <a:rPr lang="en-US" sz="2200" baseline="-25000" dirty="0" smtClean="0"/>
              <a:t>1</a:t>
            </a:r>
            <a:r>
              <a:rPr lang="en-US" sz="2200" dirty="0" smtClean="0"/>
              <a:t> . . . </a:t>
            </a:r>
            <a:r>
              <a:rPr lang="en-US" sz="2200" dirty="0" err="1" smtClean="0"/>
              <a:t>B</a:t>
            </a:r>
            <a:r>
              <a:rPr lang="en-US" sz="2200" baseline="-25000" dirty="0" err="1" smtClean="0"/>
              <a:t>m</a:t>
            </a:r>
            <a:r>
              <a:rPr lang="en-US" sz="2200" dirty="0" smtClean="0"/>
              <a:t>, are binary operations on elements of C (e.g., +. -, *)</a:t>
            </a:r>
          </a:p>
          <a:p>
            <a:endParaRPr lang="en-US" sz="18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2590800"/>
            <a:ext cx="25336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191000"/>
            <a:ext cx="51149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715000" y="4267200"/>
            <a:ext cx="2971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Consolas" pitchFamily="49" charset="0"/>
                <a:cs typeface="Courier New" pitchFamily="49" charset="0"/>
              </a:rPr>
              <a:t>The principle is that numerical representations produced by the transformation to formal systems help in better understanding the empirical system.</a:t>
            </a:r>
            <a:endParaRPr lang="en-US" b="1" dirty="0">
              <a:latin typeface="Consolas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Ontological Definitions for Object Oriented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world is viewed as composed of things, referred to as </a:t>
            </a:r>
            <a:r>
              <a:rPr lang="en-US" sz="2200" i="1" dirty="0" smtClean="0">
                <a:solidFill>
                  <a:srgbClr val="C00000"/>
                </a:solidFill>
              </a:rPr>
              <a:t>substantial individuals</a:t>
            </a:r>
            <a:r>
              <a:rPr lang="en-US" sz="2200" dirty="0" smtClean="0"/>
              <a:t>, and concepts.</a:t>
            </a:r>
          </a:p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property</a:t>
            </a:r>
            <a:r>
              <a:rPr lang="en-US" sz="2200" dirty="0" smtClean="0"/>
              <a:t> is a feature that a substantial individual possesses.</a:t>
            </a:r>
          </a:p>
          <a:p>
            <a:r>
              <a:rPr lang="en-US" sz="2200" dirty="0" smtClean="0"/>
              <a:t>All substantial individuals possess a </a:t>
            </a:r>
            <a:r>
              <a:rPr lang="en-US" sz="2200" i="1" dirty="0" smtClean="0">
                <a:solidFill>
                  <a:srgbClr val="C00000"/>
                </a:solidFill>
              </a:rPr>
              <a:t>finite set of properties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Properties are recognized only through </a:t>
            </a:r>
            <a:r>
              <a:rPr lang="en-US" sz="2200" i="1" dirty="0" smtClean="0">
                <a:solidFill>
                  <a:srgbClr val="C00000"/>
                </a:solidFill>
              </a:rPr>
              <a:t>attributes</a:t>
            </a:r>
            <a:r>
              <a:rPr lang="en-US" sz="2200" dirty="0" smtClean="0"/>
              <a:t>. A known property must have at least one attribute representing it. Properties do not exist on their own, but are “attached” to individuals.</a:t>
            </a:r>
          </a:p>
          <a:p>
            <a:r>
              <a:rPr lang="en-US" sz="2200" dirty="0" smtClean="0"/>
              <a:t>A substantial individual and its properties collectively constitute </a:t>
            </a:r>
            <a:r>
              <a:rPr lang="en-US" sz="2200" i="1" dirty="0" smtClean="0">
                <a:solidFill>
                  <a:srgbClr val="C00000"/>
                </a:solidFill>
              </a:rPr>
              <a:t>an object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An object can </a:t>
            </a:r>
            <a:r>
              <a:rPr lang="en-US" sz="2200" i="1" dirty="0" smtClean="0">
                <a:solidFill>
                  <a:srgbClr val="C00000"/>
                </a:solidFill>
              </a:rPr>
              <a:t>be represented</a:t>
            </a:r>
            <a:r>
              <a:rPr lang="en-US" sz="2200" dirty="0" smtClean="0"/>
              <a:t> in the following manner:</a:t>
            </a:r>
          </a:p>
          <a:p>
            <a:pPr>
              <a:buNone/>
            </a:pPr>
            <a:r>
              <a:rPr lang="en-US" sz="2200" dirty="0" smtClean="0"/>
              <a:t>	</a:t>
            </a:r>
            <a:r>
              <a:rPr lang="en-US" sz="2200" i="1" dirty="0" smtClean="0">
                <a:solidFill>
                  <a:srgbClr val="C00000"/>
                </a:solidFill>
              </a:rPr>
              <a:t>X = (x, p (x))</a:t>
            </a:r>
            <a:r>
              <a:rPr lang="en-US" sz="2200" dirty="0" smtClean="0"/>
              <a:t> where x is the substantial individual and p (x) is the finite collection of its properties.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4000"/>
          </a:xfrm>
        </p:spPr>
        <p:txBody>
          <a:bodyPr/>
          <a:lstStyle/>
          <a:p>
            <a:r>
              <a:rPr lang="en-US" sz="2400" dirty="0" smtClean="0"/>
              <a:t>Two objects are </a:t>
            </a:r>
            <a:r>
              <a:rPr lang="en-US" sz="2400" i="1" dirty="0" smtClean="0">
                <a:solidFill>
                  <a:srgbClr val="C00000"/>
                </a:solidFill>
              </a:rPr>
              <a:t>coupled</a:t>
            </a:r>
            <a:r>
              <a:rPr lang="en-US" sz="2400" dirty="0" smtClean="0"/>
              <a:t> if and only if at least one of them </a:t>
            </a:r>
            <a:r>
              <a:rPr lang="en-US" sz="2400" i="1" dirty="0" smtClean="0">
                <a:solidFill>
                  <a:srgbClr val="C00000"/>
                </a:solidFill>
              </a:rPr>
              <a:t>acts upon</a:t>
            </a:r>
            <a:r>
              <a:rPr lang="en-US" sz="2400" dirty="0" smtClean="0"/>
              <a:t> the other, X is said to act upon Y if the history of Y is affected by X, where </a:t>
            </a:r>
            <a:r>
              <a:rPr lang="en-US" sz="2400" i="1" dirty="0" smtClean="0">
                <a:solidFill>
                  <a:srgbClr val="C00000"/>
                </a:solidFill>
              </a:rPr>
              <a:t>history</a:t>
            </a:r>
            <a:r>
              <a:rPr lang="en-US" sz="2400" dirty="0" smtClean="0"/>
              <a:t> is defined as the </a:t>
            </a:r>
            <a:r>
              <a:rPr lang="en-US" sz="2400" i="1" dirty="0" smtClean="0">
                <a:solidFill>
                  <a:srgbClr val="C00000"/>
                </a:solidFill>
              </a:rPr>
              <a:t>chronologically ordered states</a:t>
            </a:r>
            <a:r>
              <a:rPr lang="en-US" sz="2400" dirty="0" smtClean="0"/>
              <a:t> that a thing traverses in time.</a:t>
            </a:r>
          </a:p>
          <a:p>
            <a:r>
              <a:rPr lang="en-US" sz="2400" dirty="0" smtClean="0"/>
              <a:t>Let X = (x , p (x)) and Y = (y, p(y)) be two objects.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where {M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} is the set of methods and {I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} is the set of instances variables of object </a:t>
            </a:r>
            <a:r>
              <a:rPr lang="en-US" sz="2400" dirty="0" err="1" smtClean="0"/>
              <a:t>i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Since objects of the same class have the same properties, two classes are coupled when </a:t>
            </a:r>
            <a:r>
              <a:rPr lang="en-US" sz="2400" i="1" dirty="0" smtClean="0">
                <a:solidFill>
                  <a:srgbClr val="C00000"/>
                </a:solidFill>
              </a:rPr>
              <a:t>methods declared in one class use methods or instance variables of the other class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3695700"/>
            <a:ext cx="19050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The degree of similarity</a:t>
            </a:r>
            <a:r>
              <a:rPr lang="en-US" sz="2400" dirty="0" smtClean="0"/>
              <a:t> of methods can be viewed as a major aspect of object class cohesiveness.</a:t>
            </a:r>
          </a:p>
          <a:p>
            <a:r>
              <a:rPr lang="en-US" sz="2400" dirty="0" smtClean="0"/>
              <a:t>If an object class has </a:t>
            </a:r>
            <a:r>
              <a:rPr lang="en-US" sz="2400" i="1" dirty="0" smtClean="0">
                <a:solidFill>
                  <a:srgbClr val="C00000"/>
                </a:solidFill>
              </a:rPr>
              <a:t>different methods</a:t>
            </a:r>
            <a:r>
              <a:rPr lang="en-US" sz="2400" dirty="0" smtClean="0"/>
              <a:t> performing different operations on </a:t>
            </a:r>
            <a:r>
              <a:rPr lang="en-US" sz="2400" i="1" dirty="0" smtClean="0">
                <a:solidFill>
                  <a:srgbClr val="C00000"/>
                </a:solidFill>
              </a:rPr>
              <a:t>the same set of instance variables</a:t>
            </a:r>
            <a:r>
              <a:rPr lang="en-US" sz="2400" dirty="0" smtClean="0"/>
              <a:t>, the class is cohesive.</a:t>
            </a:r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75" y="3886200"/>
            <a:ext cx="65722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9455</TotalTime>
  <Words>1657</Words>
  <Application>Microsoft Office PowerPoint</Application>
  <PresentationFormat>On-screen Show (4:3)</PresentationFormat>
  <Paragraphs>125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Software Design Evaluation</vt:lpstr>
      <vt:lpstr>Objectives</vt:lpstr>
      <vt:lpstr>Contents</vt:lpstr>
      <vt:lpstr>References</vt:lpstr>
      <vt:lpstr>Metric Based Evaluation</vt:lpstr>
      <vt:lpstr>Systems and Modules Representation [1]</vt:lpstr>
      <vt:lpstr>Operations on Modules</vt:lpstr>
      <vt:lpstr>Modular Systems Representation</vt:lpstr>
      <vt:lpstr>Size</vt:lpstr>
      <vt:lpstr>Length</vt:lpstr>
      <vt:lpstr>Complexity</vt:lpstr>
      <vt:lpstr>Cohesion</vt:lpstr>
      <vt:lpstr>Coupling</vt:lpstr>
      <vt:lpstr>Comparison of Concept Properties</vt:lpstr>
      <vt:lpstr>Slide 15</vt:lpstr>
      <vt:lpstr>OO Software Metrics Problems [2]</vt:lpstr>
      <vt:lpstr>Measurement Theory Base</vt:lpstr>
      <vt:lpstr>Empirical Relations</vt:lpstr>
      <vt:lpstr>Formal Relational System</vt:lpstr>
      <vt:lpstr>Ontological Definitions for Object Oriented Concepts</vt:lpstr>
      <vt:lpstr>Coupling</vt:lpstr>
      <vt:lpstr>Cohesion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3001</cp:revision>
  <dcterms:created xsi:type="dcterms:W3CDTF">2007-10-06T08:25:13Z</dcterms:created>
  <dcterms:modified xsi:type="dcterms:W3CDTF">2021-06-27T19:19:50Z</dcterms:modified>
</cp:coreProperties>
</file>