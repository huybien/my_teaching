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477" r:id="rId3"/>
    <p:sldId id="607" r:id="rId4"/>
    <p:sldId id="478" r:id="rId5"/>
    <p:sldId id="649" r:id="rId6"/>
    <p:sldId id="609" r:id="rId7"/>
    <p:sldId id="648" r:id="rId8"/>
    <p:sldId id="611" r:id="rId9"/>
    <p:sldId id="616" r:id="rId10"/>
    <p:sldId id="633" r:id="rId11"/>
    <p:sldId id="634" r:id="rId12"/>
    <p:sldId id="650" r:id="rId13"/>
    <p:sldId id="635" r:id="rId14"/>
    <p:sldId id="651" r:id="rId15"/>
    <p:sldId id="621" r:id="rId16"/>
    <p:sldId id="640" r:id="rId17"/>
    <p:sldId id="647" r:id="rId18"/>
    <p:sldId id="652" r:id="rId19"/>
    <p:sldId id="638" r:id="rId20"/>
    <p:sldId id="658" r:id="rId21"/>
    <p:sldId id="655" r:id="rId22"/>
    <p:sldId id="644" r:id="rId23"/>
    <p:sldId id="654" r:id="rId24"/>
    <p:sldId id="657" r:id="rId25"/>
    <p:sldId id="659" r:id="rId26"/>
    <p:sldId id="662" r:id="rId27"/>
    <p:sldId id="660" r:id="rId28"/>
    <p:sldId id="663" r:id="rId29"/>
    <p:sldId id="665" r:id="rId30"/>
    <p:sldId id="666" r:id="rId31"/>
    <p:sldId id="656" r:id="rId32"/>
    <p:sldId id="653" r:id="rId33"/>
    <p:sldId id="343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06" autoAdjust="0"/>
    <p:restoredTop sz="94667" autoAdjust="0"/>
  </p:normalViewPr>
  <p:slideViewPr>
    <p:cSldViewPr>
      <p:cViewPr>
        <p:scale>
          <a:sx n="50" d="100"/>
          <a:sy n="50" d="100"/>
        </p:scale>
        <p:origin x="-155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ravendb.net/learn/inside-ravendb-book/reader/4.0/1-welcome-to-ravendb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chocolatey.org/en-u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hocolatey.org/docs/why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docs.chocolatey.org/en-us/choco/setup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chocolatey.org/docs/commands-lis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nuget.org/packages/RavenDB.Client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ravendb.net/docs/article-page/7.0/csharp/start/getting-started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hub.docker.com/r/ravendb/ravendb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8080/studio/index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r>
              <a:rPr lang="en-US" sz="6000" dirty="0" err="1" smtClean="0"/>
              <a:t>RavenDB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5410200" cy="37338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install and start </a:t>
            </a:r>
            <a:r>
              <a:rPr lang="en-US" sz="2400" dirty="0" err="1" smtClean="0"/>
              <a:t>RavenDB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write data to </a:t>
            </a:r>
            <a:r>
              <a:rPr lang="en-US" sz="2400" dirty="0" err="1" smtClean="0"/>
              <a:t>RavenDB</a:t>
            </a:r>
            <a:r>
              <a:rPr lang="en-US" sz="2400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sz="2400" dirty="0" smtClean="0"/>
              <a:t>To read data from </a:t>
            </a:r>
            <a:r>
              <a:rPr lang="en-US" sz="2400" dirty="0" err="1" smtClean="0"/>
              <a:t>RavenDB</a:t>
            </a:r>
            <a:r>
              <a:rPr lang="en-US" sz="24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22885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800" dirty="0" err="1" smtClean="0"/>
              <a:t>Chocolatey</a:t>
            </a:r>
            <a:endParaRPr lang="en-US" sz="2800" dirty="0" smtClean="0"/>
          </a:p>
          <a:p>
            <a:pPr marL="571500" indent="-571500">
              <a:buFont typeface="+mj-lt"/>
              <a:buAutoNum type="romanUcPeriod"/>
            </a:pPr>
            <a:r>
              <a:rPr lang="en-US" sz="2800" dirty="0" err="1" smtClean="0"/>
              <a:t>RavenDB</a:t>
            </a:r>
            <a:endParaRPr lang="en-US" sz="28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latin typeface="+mj-lt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RavenDB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https://ravendb.net/learn/inside-ravendb-book/reader/4.0/1-welcome-to-ravendb</a:t>
            </a:r>
            <a:endParaRPr lang="en-US" sz="2400" dirty="0" smtClean="0"/>
          </a:p>
          <a:p>
            <a:r>
              <a:rPr lang="en-US" sz="2400" b="1" dirty="0" err="1" smtClean="0"/>
              <a:t>RavenDB</a:t>
            </a:r>
            <a:r>
              <a:rPr lang="en-US" sz="2400" dirty="0" smtClean="0"/>
              <a:t> is a high performance, </a:t>
            </a:r>
            <a:r>
              <a:rPr lang="en-US" sz="2400" i="1" dirty="0" smtClean="0">
                <a:solidFill>
                  <a:srgbClr val="C00000"/>
                </a:solidFill>
              </a:rPr>
              <a:t>distributed</a:t>
            </a:r>
            <a:r>
              <a:rPr lang="en-US" sz="2400" dirty="0" smtClean="0"/>
              <a:t>, </a:t>
            </a:r>
            <a:r>
              <a:rPr lang="en-US" sz="2400" dirty="0" err="1" smtClean="0"/>
              <a:t>NoSQL</a:t>
            </a:r>
            <a:r>
              <a:rPr lang="en-US" sz="2400" dirty="0" smtClean="0"/>
              <a:t> document database. </a:t>
            </a:r>
          </a:p>
          <a:p>
            <a:r>
              <a:rPr lang="en-US" sz="2400" b="1" dirty="0" err="1" smtClean="0"/>
              <a:t>RavenDB</a:t>
            </a:r>
            <a:r>
              <a:rPr lang="en-US" sz="2400" dirty="0" smtClean="0"/>
              <a:t> is also an </a:t>
            </a:r>
            <a:r>
              <a:rPr lang="en-US" sz="2400" i="1" dirty="0" smtClean="0">
                <a:solidFill>
                  <a:srgbClr val="C00000"/>
                </a:solidFill>
              </a:rPr>
              <a:t>ACID database</a:t>
            </a:r>
            <a:r>
              <a:rPr lang="en-US" sz="2400" dirty="0" smtClean="0"/>
              <a:t>, unlike many other </a:t>
            </a:r>
            <a:r>
              <a:rPr lang="en-US" sz="2400" dirty="0" err="1" smtClean="0"/>
              <a:t>NoSQL</a:t>
            </a:r>
            <a:r>
              <a:rPr lang="en-US" sz="2400" dirty="0" smtClean="0"/>
              <a:t> databases.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</a:t>
            </a:r>
            <a:r>
              <a:rPr lang="en-US" dirty="0" err="1" smtClean="0"/>
              <a:t>Chocolatey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https://docs.chocolatey.org/en-us/</a:t>
            </a:r>
            <a:endParaRPr lang="en-US" sz="2400" dirty="0" smtClean="0"/>
          </a:p>
          <a:p>
            <a:r>
              <a:rPr lang="en-US" sz="2400" dirty="0" err="1" smtClean="0"/>
              <a:t>Chocolatey</a:t>
            </a:r>
            <a:r>
              <a:rPr lang="en-US" sz="2400" dirty="0" smtClean="0"/>
              <a:t> brings the concepts of true </a:t>
            </a:r>
            <a:r>
              <a:rPr lang="en-US" sz="2400" i="1" dirty="0" smtClean="0">
                <a:solidFill>
                  <a:srgbClr val="C00000"/>
                </a:solidFill>
              </a:rPr>
              <a:t>package management</a:t>
            </a:r>
            <a:r>
              <a:rPr lang="en-US" sz="2400" dirty="0" smtClean="0"/>
              <a:t> to allow you to version things, manage dependencies and installation order.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</a:t>
            </a:r>
            <a:r>
              <a:rPr lang="en-US" dirty="0" err="1" smtClean="0"/>
              <a:t>Chocolatey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https://chocolatey.org/docs/why</a:t>
            </a:r>
            <a:endParaRPr lang="en-US" sz="2400" dirty="0" smtClean="0"/>
          </a:p>
          <a:p>
            <a:r>
              <a:rPr lang="en-US" sz="2400" dirty="0" err="1" smtClean="0"/>
              <a:t>Chocolatey</a:t>
            </a:r>
            <a:r>
              <a:rPr lang="en-US" sz="2400" dirty="0" smtClean="0"/>
              <a:t> builds on technologies that are familiar:</a:t>
            </a:r>
          </a:p>
          <a:p>
            <a:pPr lvl="1"/>
            <a:r>
              <a:rPr lang="en-US" sz="2000" dirty="0" err="1" smtClean="0"/>
              <a:t>PowerShell</a:t>
            </a:r>
            <a:endParaRPr lang="en-US" sz="2000" dirty="0" smtClean="0"/>
          </a:p>
          <a:p>
            <a:pPr lvl="1"/>
            <a:r>
              <a:rPr lang="en-US" sz="2000" dirty="0" smtClean="0"/>
              <a:t>Unattended installations</a:t>
            </a:r>
          </a:p>
          <a:p>
            <a:r>
              <a:rPr lang="en-US" sz="2400" dirty="0" smtClean="0"/>
              <a:t>How much effort do you go through to set a tool and all of its requirements up on your machine?</a:t>
            </a:r>
          </a:p>
          <a:p>
            <a:r>
              <a:rPr lang="en-US" sz="2400" dirty="0" smtClean="0"/>
              <a:t>Do you realize that all of this manual effort is a pain?</a:t>
            </a:r>
          </a:p>
          <a:p>
            <a:r>
              <a:rPr lang="en-US" sz="2400" dirty="0" smtClean="0"/>
              <a:t>It's something we just do and don't realize we are wasting time doing all of this manual process.</a:t>
            </a:r>
          </a:p>
          <a:p>
            <a:r>
              <a:rPr lang="en-US" sz="2400" dirty="0" smtClean="0"/>
              <a:t>And worse, when we install applications it's always... Next </a:t>
            </a:r>
            <a:r>
              <a:rPr lang="en-US" sz="2400" dirty="0" err="1" smtClean="0"/>
              <a:t>Next</a:t>
            </a:r>
            <a:r>
              <a:rPr lang="en-US" sz="2400" dirty="0" smtClean="0"/>
              <a:t> </a:t>
            </a:r>
            <a:r>
              <a:rPr lang="en-US" sz="2400" dirty="0" err="1" smtClean="0"/>
              <a:t>Next</a:t>
            </a:r>
            <a:r>
              <a:rPr lang="en-US" sz="2400" dirty="0" smtClean="0"/>
              <a:t> Finish.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</a:t>
            </a:r>
            <a:r>
              <a:rPr lang="en-US" dirty="0" err="1" smtClean="0"/>
              <a:t>Chocolatey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https://docs.chocolatey.org/en-us/choco/setup/</a:t>
            </a:r>
            <a:endParaRPr lang="en-US" sz="2400" dirty="0" smtClean="0"/>
          </a:p>
          <a:p>
            <a:r>
              <a:rPr lang="en-US" sz="1600" dirty="0" smtClean="0">
                <a:latin typeface="Consolas" pitchFamily="49" charset="0"/>
              </a:rPr>
              <a:t>@"%</a:t>
            </a:r>
            <a:r>
              <a:rPr lang="en-US" sz="1600" dirty="0" err="1" smtClean="0">
                <a:latin typeface="Consolas" pitchFamily="49" charset="0"/>
              </a:rPr>
              <a:t>SystemRoot</a:t>
            </a:r>
            <a:r>
              <a:rPr lang="en-US" sz="1600" dirty="0" smtClean="0">
                <a:latin typeface="Consolas" pitchFamily="49" charset="0"/>
              </a:rPr>
              <a:t>%\System32\</a:t>
            </a:r>
            <a:r>
              <a:rPr lang="en-US" sz="1600" dirty="0" err="1" smtClean="0">
                <a:latin typeface="Consolas" pitchFamily="49" charset="0"/>
              </a:rPr>
              <a:t>WindowsPowerShell</a:t>
            </a:r>
            <a:r>
              <a:rPr lang="en-US" sz="1600" dirty="0" smtClean="0">
                <a:latin typeface="Consolas" pitchFamily="49" charset="0"/>
              </a:rPr>
              <a:t>\v1.0\powershell.exe" -</a:t>
            </a:r>
            <a:r>
              <a:rPr lang="en-US" sz="1600" dirty="0" err="1" smtClean="0">
                <a:latin typeface="Consolas" pitchFamily="49" charset="0"/>
              </a:rPr>
              <a:t>NoProfile</a:t>
            </a:r>
            <a:r>
              <a:rPr lang="en-US" sz="1600" dirty="0" smtClean="0">
                <a:latin typeface="Consolas" pitchFamily="49" charset="0"/>
              </a:rPr>
              <a:t> -</a:t>
            </a:r>
            <a:r>
              <a:rPr lang="en-US" sz="1600" dirty="0" err="1" smtClean="0">
                <a:latin typeface="Consolas" pitchFamily="49" charset="0"/>
              </a:rPr>
              <a:t>InputFormat</a:t>
            </a:r>
            <a:r>
              <a:rPr lang="en-US" sz="1600" dirty="0" smtClean="0">
                <a:latin typeface="Consolas" pitchFamily="49" charset="0"/>
              </a:rPr>
              <a:t> None -</a:t>
            </a:r>
            <a:r>
              <a:rPr lang="en-US" sz="1600" dirty="0" err="1" smtClean="0">
                <a:latin typeface="Consolas" pitchFamily="49" charset="0"/>
              </a:rPr>
              <a:t>ExecutionPolicy</a:t>
            </a:r>
            <a:r>
              <a:rPr lang="en-US" sz="1600" dirty="0" smtClean="0">
                <a:latin typeface="Consolas" pitchFamily="49" charset="0"/>
              </a:rPr>
              <a:t> Bypass -Command "[</a:t>
            </a:r>
            <a:r>
              <a:rPr lang="en-US" sz="1600" dirty="0" err="1" smtClean="0">
                <a:latin typeface="Consolas" pitchFamily="49" charset="0"/>
              </a:rPr>
              <a:t>System.Net.ServicePointManager</a:t>
            </a:r>
            <a:r>
              <a:rPr lang="en-US" sz="1600" dirty="0" smtClean="0">
                <a:latin typeface="Consolas" pitchFamily="49" charset="0"/>
              </a:rPr>
              <a:t>]::</a:t>
            </a:r>
            <a:r>
              <a:rPr lang="en-US" sz="1600" dirty="0" err="1" smtClean="0">
                <a:latin typeface="Consolas" pitchFamily="49" charset="0"/>
              </a:rPr>
              <a:t>SecurityProtocol</a:t>
            </a:r>
            <a:r>
              <a:rPr lang="en-US" sz="1600" dirty="0" smtClean="0">
                <a:latin typeface="Consolas" pitchFamily="49" charset="0"/>
              </a:rPr>
              <a:t> = 3072; </a:t>
            </a:r>
            <a:r>
              <a:rPr lang="en-US" sz="1600" dirty="0" err="1" smtClean="0">
                <a:latin typeface="Consolas" pitchFamily="49" charset="0"/>
              </a:rPr>
              <a:t>iex</a:t>
            </a:r>
            <a:r>
              <a:rPr lang="en-US" sz="1600" dirty="0" smtClean="0">
                <a:latin typeface="Consolas" pitchFamily="49" charset="0"/>
              </a:rPr>
              <a:t> ((New-Object </a:t>
            </a:r>
            <a:r>
              <a:rPr lang="en-US" sz="1600" dirty="0" err="1" smtClean="0">
                <a:latin typeface="Consolas" pitchFamily="49" charset="0"/>
              </a:rPr>
              <a:t>System.Net.WebClient</a:t>
            </a:r>
            <a:r>
              <a:rPr lang="en-US" sz="1600" dirty="0" smtClean="0">
                <a:latin typeface="Consolas" pitchFamily="49" charset="0"/>
              </a:rPr>
              <a:t>).</a:t>
            </a:r>
            <a:r>
              <a:rPr lang="en-US" sz="1600" dirty="0" err="1" smtClean="0">
                <a:latin typeface="Consolas" pitchFamily="49" charset="0"/>
              </a:rPr>
              <a:t>DownloadString</a:t>
            </a:r>
            <a:r>
              <a:rPr lang="en-US" sz="1600" dirty="0" smtClean="0">
                <a:latin typeface="Consolas" pitchFamily="49" charset="0"/>
              </a:rPr>
              <a:t>('https://community.chocolatey.org/install.ps1'))" &amp;&amp; SET "PATH=%PATH%;%ALLUSERSPROFILE%\</a:t>
            </a:r>
            <a:r>
              <a:rPr lang="en-US" sz="1600" dirty="0" err="1" smtClean="0">
                <a:latin typeface="Consolas" pitchFamily="49" charset="0"/>
              </a:rPr>
              <a:t>chocolatey</a:t>
            </a:r>
            <a:r>
              <a:rPr lang="en-US" sz="1600" dirty="0" smtClean="0">
                <a:latin typeface="Consolas" pitchFamily="49" charset="0"/>
              </a:rPr>
              <a:t>\bin"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3813" y="4140200"/>
            <a:ext cx="6556375" cy="195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Search for and Install a Package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https://chocolatey.org/docs/commands-list</a:t>
            </a:r>
            <a:endParaRPr lang="en-US" sz="2200" dirty="0" smtClean="0"/>
          </a:p>
          <a:p>
            <a:r>
              <a:rPr lang="en-US" sz="2200" b="1" dirty="0" err="1" smtClean="0">
                <a:latin typeface="Consolas" pitchFamily="49" charset="0"/>
              </a:rPr>
              <a:t>choco</a:t>
            </a:r>
            <a:r>
              <a:rPr lang="en-US" sz="2200" b="1" dirty="0" smtClean="0">
                <a:latin typeface="Consolas" pitchFamily="49" charset="0"/>
              </a:rPr>
              <a:t> list</a:t>
            </a:r>
          </a:p>
          <a:p>
            <a:r>
              <a:rPr lang="en-US" sz="2200" b="1" dirty="0" err="1" smtClean="0">
                <a:latin typeface="Consolas" pitchFamily="49" charset="0"/>
              </a:rPr>
              <a:t>choco</a:t>
            </a:r>
            <a:r>
              <a:rPr lang="en-US" sz="2200" b="1" dirty="0" smtClean="0">
                <a:latin typeface="Consolas" pitchFamily="49" charset="0"/>
              </a:rPr>
              <a:t> search </a:t>
            </a:r>
            <a:r>
              <a:rPr lang="en-US" sz="2200" b="1" dirty="0" err="1" smtClean="0">
                <a:latin typeface="Consolas" pitchFamily="49" charset="0"/>
              </a:rPr>
              <a:t>ravendb</a:t>
            </a:r>
            <a:endParaRPr lang="en-US" sz="2200" b="1" dirty="0" smtClean="0">
              <a:latin typeface="Consolas" pitchFamily="49" charset="0"/>
            </a:endParaRPr>
          </a:p>
          <a:p>
            <a:r>
              <a:rPr lang="en-US" sz="2200" b="1" dirty="0" err="1" smtClean="0">
                <a:latin typeface="Consolas" pitchFamily="49" charset="0"/>
              </a:rPr>
              <a:t>choco</a:t>
            </a:r>
            <a:r>
              <a:rPr lang="en-US" sz="2200" b="1" dirty="0" smtClean="0">
                <a:latin typeface="Consolas" pitchFamily="49" charset="0"/>
              </a:rPr>
              <a:t> install </a:t>
            </a:r>
            <a:r>
              <a:rPr lang="en-US" sz="2200" b="1" dirty="0" err="1" smtClean="0">
                <a:latin typeface="Consolas" pitchFamily="49" charset="0"/>
              </a:rPr>
              <a:t>ravendb</a:t>
            </a:r>
            <a:endParaRPr lang="en-US" sz="2200" b="1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3813" y="3759200"/>
            <a:ext cx="6556375" cy="195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Run a Package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900" dirty="0" err="1" smtClean="0">
                <a:latin typeface="Consolas" pitchFamily="49" charset="0"/>
              </a:rPr>
              <a:t>cd</a:t>
            </a:r>
            <a:r>
              <a:rPr lang="en-US" sz="1900" dirty="0" smtClean="0">
                <a:latin typeface="Consolas" pitchFamily="49" charset="0"/>
              </a:rPr>
              <a:t> C:\RavenDB</a:t>
            </a:r>
          </a:p>
          <a:p>
            <a:r>
              <a:rPr lang="en-US" sz="1900" dirty="0" err="1" smtClean="0">
                <a:latin typeface="Consolas" pitchFamily="49" charset="0"/>
              </a:rPr>
              <a:t>powershell</a:t>
            </a:r>
            <a:r>
              <a:rPr lang="en-US" sz="1900" dirty="0" smtClean="0">
                <a:latin typeface="Consolas" pitchFamily="49" charset="0"/>
              </a:rPr>
              <a:t> -</a:t>
            </a:r>
            <a:r>
              <a:rPr lang="en-US" sz="1900" dirty="0" err="1" smtClean="0">
                <a:latin typeface="Consolas" pitchFamily="49" charset="0"/>
              </a:rPr>
              <a:t>executionPolicy</a:t>
            </a:r>
            <a:r>
              <a:rPr lang="en-US" sz="1900" dirty="0" smtClean="0">
                <a:latin typeface="Consolas" pitchFamily="49" charset="0"/>
              </a:rPr>
              <a:t> bypass -</a:t>
            </a:r>
            <a:r>
              <a:rPr lang="en-US" sz="1900" dirty="0" err="1" smtClean="0">
                <a:latin typeface="Consolas" pitchFamily="49" charset="0"/>
              </a:rPr>
              <a:t>noexit</a:t>
            </a:r>
            <a:r>
              <a:rPr lang="en-US" sz="1900" dirty="0" smtClean="0">
                <a:latin typeface="Consolas" pitchFamily="49" charset="0"/>
              </a:rPr>
              <a:t> -file run.ps1</a:t>
            </a:r>
            <a:endParaRPr lang="en-US" sz="1900" dirty="0">
              <a:latin typeface="Consolas" pitchFamily="49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3813" y="3378200"/>
            <a:ext cx="6556375" cy="195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Set up New Single Node Cluster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2380" y="1828800"/>
            <a:ext cx="6662420" cy="4071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Select Unsecure Security Level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1752600"/>
            <a:ext cx="4732248" cy="4489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Finish Wizard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828800"/>
            <a:ext cx="7579079" cy="425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Restart Server</a:t>
            </a: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8103" y="2443423"/>
            <a:ext cx="7653897" cy="2128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Downgrading a Package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b="1" dirty="0" err="1" smtClean="0">
                <a:latin typeface="Consolas" pitchFamily="49" charset="0"/>
              </a:rPr>
              <a:t>choco</a:t>
            </a:r>
            <a:r>
              <a:rPr lang="en-US" sz="2200" b="1" dirty="0" smtClean="0">
                <a:latin typeface="Consolas" pitchFamily="49" charset="0"/>
              </a:rPr>
              <a:t> uninstall </a:t>
            </a:r>
            <a:r>
              <a:rPr lang="en-US" sz="2200" b="1" dirty="0" err="1" smtClean="0">
                <a:latin typeface="Consolas" pitchFamily="49" charset="0"/>
              </a:rPr>
              <a:t>ravendb</a:t>
            </a:r>
            <a:endParaRPr lang="en-US" sz="2200" b="1" dirty="0" smtClean="0">
              <a:latin typeface="Consolas" pitchFamily="49" charset="0"/>
            </a:endParaRPr>
          </a:p>
          <a:p>
            <a:r>
              <a:rPr lang="en-US" sz="2200" b="1" dirty="0" err="1" smtClean="0">
                <a:latin typeface="Consolas" pitchFamily="49" charset="0"/>
              </a:rPr>
              <a:t>choco</a:t>
            </a:r>
            <a:r>
              <a:rPr lang="en-US" sz="2200" b="1" dirty="0" smtClean="0">
                <a:latin typeface="Consolas" pitchFamily="49" charset="0"/>
              </a:rPr>
              <a:t> search </a:t>
            </a:r>
            <a:r>
              <a:rPr lang="en-US" sz="2200" b="1" dirty="0" err="1" smtClean="0">
                <a:latin typeface="Consolas" pitchFamily="49" charset="0"/>
              </a:rPr>
              <a:t>ravendb</a:t>
            </a:r>
            <a:endParaRPr lang="en-US" sz="2200" b="1" dirty="0" smtClean="0">
              <a:latin typeface="Consolas" pitchFamily="49" charset="0"/>
            </a:endParaRPr>
          </a:p>
          <a:p>
            <a:r>
              <a:rPr lang="en-US" sz="2200" b="1" dirty="0" err="1" smtClean="0">
                <a:latin typeface="Consolas" pitchFamily="49" charset="0"/>
              </a:rPr>
              <a:t>choco</a:t>
            </a:r>
            <a:r>
              <a:rPr lang="en-US" sz="2200" b="1" dirty="0" smtClean="0">
                <a:latin typeface="Consolas" pitchFamily="49" charset="0"/>
              </a:rPr>
              <a:t> install ravendb3</a:t>
            </a:r>
            <a:endParaRPr lang="en-US" sz="2200" b="1" dirty="0"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971800"/>
            <a:ext cx="6103620" cy="3478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4191000"/>
            <a:ext cx="42672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Database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981200"/>
            <a:ext cx="7500520" cy="34902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Install </a:t>
            </a:r>
            <a:r>
              <a:rPr lang="en-US" dirty="0" err="1" smtClean="0"/>
              <a:t>RavenDB.Client</a:t>
            </a:r>
            <a:r>
              <a:rPr lang="en-US" dirty="0" smtClean="0"/>
              <a:t> for .NET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https://www.nuget.org/packages/RavenDB.Client/</a:t>
            </a:r>
            <a:endParaRPr lang="en-US" sz="2400" dirty="0" smtClean="0"/>
          </a:p>
          <a:p>
            <a:r>
              <a:rPr lang="fr-FR" sz="2200" dirty="0" err="1" smtClean="0">
                <a:latin typeface="Consolas" pitchFamily="49" charset="0"/>
              </a:rPr>
              <a:t>dotnet</a:t>
            </a:r>
            <a:r>
              <a:rPr lang="fr-FR" sz="2200" dirty="0" smtClean="0">
                <a:latin typeface="Consolas" pitchFamily="49" charset="0"/>
              </a:rPr>
              <a:t> </a:t>
            </a:r>
            <a:r>
              <a:rPr lang="fr-FR" sz="2200" dirty="0" err="1" smtClean="0">
                <a:latin typeface="Consolas" pitchFamily="49" charset="0"/>
              </a:rPr>
              <a:t>add</a:t>
            </a:r>
            <a:r>
              <a:rPr lang="fr-FR" sz="2200" dirty="0" smtClean="0">
                <a:latin typeface="Consolas" pitchFamily="49" charset="0"/>
              </a:rPr>
              <a:t> package </a:t>
            </a:r>
            <a:r>
              <a:rPr lang="fr-FR" sz="2200" dirty="0" err="1" smtClean="0">
                <a:latin typeface="Consolas" pitchFamily="49" charset="0"/>
              </a:rPr>
              <a:t>RavenDB.Client</a:t>
            </a:r>
            <a:r>
              <a:rPr lang="fr-FR" sz="2200" dirty="0" smtClean="0">
                <a:latin typeface="Consolas" pitchFamily="49" charset="0"/>
              </a:rPr>
              <a:t> --version 7.0.1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1575" y="3105150"/>
            <a:ext cx="680085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a Model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8550" y="1984375"/>
            <a:ext cx="6946900" cy="350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Initialize a </a:t>
            </a:r>
            <a:r>
              <a:rPr lang="en-US" dirty="0" err="1" smtClean="0"/>
              <a:t>DocumentStore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https://ravendb.net/docs/article-page/7.0/csharp/start/getting-started</a:t>
            </a:r>
            <a:endParaRPr lang="en-US" sz="2000" dirty="0" smtClean="0"/>
          </a:p>
          <a:p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7050" y="2514600"/>
            <a:ext cx="55499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Store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657600" cy="4525963"/>
          </a:xfrm>
        </p:spPr>
        <p:txBody>
          <a:bodyPr/>
          <a:lstStyle/>
          <a:p>
            <a:r>
              <a:rPr lang="en-US" sz="2000" dirty="0" err="1" smtClean="0"/>
              <a:t>RavenDB</a:t>
            </a:r>
            <a:r>
              <a:rPr lang="en-US" sz="2000" dirty="0" smtClean="0"/>
              <a:t> is a Document Database. All stored objects are called documents.</a:t>
            </a:r>
          </a:p>
          <a:p>
            <a:r>
              <a:rPr lang="en-US" sz="2000" dirty="0" smtClean="0"/>
              <a:t>Each document contains a </a:t>
            </a:r>
            <a:r>
              <a:rPr lang="en-US" sz="2000" b="1" dirty="0" smtClean="0"/>
              <a:t>unique ID</a:t>
            </a:r>
            <a:r>
              <a:rPr lang="en-US" sz="2000" dirty="0" smtClean="0"/>
              <a:t> that identifies it, </a:t>
            </a:r>
            <a:r>
              <a:rPr lang="en-US" sz="2000" b="1" dirty="0" smtClean="0"/>
              <a:t>data</a:t>
            </a:r>
            <a:r>
              <a:rPr lang="en-US" sz="2000" dirty="0" smtClean="0"/>
              <a:t> and adjacent </a:t>
            </a:r>
            <a:r>
              <a:rPr lang="en-US" sz="2000" b="1" dirty="0" smtClean="0"/>
              <a:t>metadata</a:t>
            </a:r>
            <a:r>
              <a:rPr lang="en-US" sz="2000" dirty="0" smtClean="0"/>
              <a:t>, both stored in JSON format.</a:t>
            </a:r>
          </a:p>
          <a:p>
            <a:r>
              <a:rPr lang="en-US" sz="2000" dirty="0" smtClean="0"/>
              <a:t>The metadata contains information describing the document, e.g. the last modification date (@last-modified property) or the collection (@collection property) assignment.</a:t>
            </a: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91000" y="1552575"/>
            <a:ext cx="4489450" cy="454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Verify Stored Data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286000"/>
            <a:ext cx="7527122" cy="2874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Load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657600" cy="4525963"/>
          </a:xfrm>
        </p:spPr>
        <p:txBody>
          <a:bodyPr/>
          <a:lstStyle/>
          <a:p>
            <a:r>
              <a:rPr lang="en-US" sz="2000" dirty="0" smtClean="0"/>
              <a:t>The Session was designed to help the user write efficient code easily.</a:t>
            </a:r>
          </a:p>
          <a:p>
            <a:r>
              <a:rPr lang="en-US" sz="2000" dirty="0" smtClean="0"/>
              <a:t>For example, when a document is being loaded (</a:t>
            </a:r>
            <a:r>
              <a:rPr lang="en-US" sz="2000" b="1" dirty="0" smtClean="0"/>
              <a:t>.Load</a:t>
            </a:r>
            <a:r>
              <a:rPr lang="en-US" sz="2000" dirty="0" smtClean="0"/>
              <a:t>) from the server, there is an option to retrieve additional documents in the same request (using </a:t>
            </a:r>
            <a:r>
              <a:rPr lang="en-US" sz="2000" b="1" dirty="0" smtClean="0"/>
              <a:t>.Include</a:t>
            </a:r>
            <a:r>
              <a:rPr lang="en-US" sz="2000" dirty="0" smtClean="0"/>
              <a:t>), minimizing the number of expensive calls.</a:t>
            </a:r>
            <a:endParaRPr lang="en-US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1752600"/>
            <a:ext cx="4406900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Verify Stored Data</a:t>
            </a:r>
            <a:endParaRPr lang="en-US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84250" y="2654300"/>
            <a:ext cx="7175500" cy="176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Query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657600" cy="4525963"/>
          </a:xfrm>
        </p:spPr>
        <p:txBody>
          <a:bodyPr/>
          <a:lstStyle/>
          <a:p>
            <a:r>
              <a:rPr lang="en-US" sz="2000" dirty="0" smtClean="0"/>
              <a:t>To satisfy queries, </a:t>
            </a:r>
            <a:r>
              <a:rPr lang="en-US" sz="2000" i="1" dirty="0" smtClean="0">
                <a:solidFill>
                  <a:srgbClr val="C00000"/>
                </a:solidFill>
              </a:rPr>
              <a:t>indexes</a:t>
            </a:r>
            <a:r>
              <a:rPr lang="en-US" sz="2000" dirty="0" smtClean="0"/>
              <a:t> are used. From the querying perspective, an index defines which document fields can be used to find a document.</a:t>
            </a:r>
          </a:p>
          <a:p>
            <a:r>
              <a:rPr lang="en-US" sz="2000" dirty="0" smtClean="0"/>
              <a:t>The whole indexing process is done asynchronously, which gives very quick querying response times, even when large amounts of data have been changed.</a:t>
            </a:r>
          </a:p>
          <a:p>
            <a:r>
              <a:rPr lang="en-US" sz="2000" dirty="0" smtClean="0"/>
              <a:t>However, an implication of this approach is that the index might be </a:t>
            </a:r>
            <a:r>
              <a:rPr lang="en-US" sz="2000" i="1" dirty="0" smtClean="0">
                <a:solidFill>
                  <a:srgbClr val="C00000"/>
                </a:solidFill>
              </a:rPr>
              <a:t>stale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1600200"/>
            <a:ext cx="4492625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</a:t>
            </a:r>
            <a:r>
              <a:rPr lang="en-US" dirty="0" smtClean="0"/>
              <a:t>Run </a:t>
            </a:r>
            <a:r>
              <a:rPr lang="en-US" dirty="0" err="1" smtClean="0"/>
              <a:t>Docker</a:t>
            </a:r>
            <a:r>
              <a:rPr lang="en-US" smtClean="0"/>
              <a:t> Linux </a:t>
            </a:r>
            <a:r>
              <a:rPr lang="en-US" dirty="0" smtClean="0"/>
              <a:t>Image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latin typeface="+mj-lt"/>
                <a:hlinkClick r:id="rId2"/>
              </a:rPr>
              <a:t>https://</a:t>
            </a:r>
            <a:r>
              <a:rPr lang="en-US" sz="2000" dirty="0" smtClean="0">
                <a:latin typeface="+mj-lt"/>
                <a:hlinkClick r:id="rId2"/>
              </a:rPr>
              <a:t>hub.docker.com/r/ravendb/ravendb</a:t>
            </a:r>
            <a:endParaRPr lang="en-US" sz="2000" dirty="0" smtClean="0">
              <a:latin typeface="+mj-lt"/>
            </a:endParaRPr>
          </a:p>
          <a:p>
            <a:r>
              <a:rPr lang="en-US" sz="2000" dirty="0" err="1" smtClean="0">
                <a:latin typeface="Consolas" pitchFamily="49" charset="0"/>
              </a:rPr>
              <a:t>docker</a:t>
            </a:r>
            <a:r>
              <a:rPr lang="en-US" sz="2000" dirty="0" smtClean="0">
                <a:latin typeface="Consolas" pitchFamily="49" charset="0"/>
              </a:rPr>
              <a:t> </a:t>
            </a:r>
            <a:r>
              <a:rPr lang="en-US" sz="2000" dirty="0" smtClean="0">
                <a:latin typeface="Consolas" pitchFamily="49" charset="0"/>
              </a:rPr>
              <a:t>run -p 8080:8080 </a:t>
            </a:r>
            <a:r>
              <a:rPr lang="en-US" sz="2000" dirty="0" err="1" smtClean="0">
                <a:latin typeface="Consolas" pitchFamily="49" charset="0"/>
              </a:rPr>
              <a:t>ravendb</a:t>
            </a:r>
            <a:r>
              <a:rPr lang="en-US" sz="2000" dirty="0" smtClean="0">
                <a:latin typeface="Consolas" pitchFamily="49" charset="0"/>
              </a:rPr>
              <a:t>/</a:t>
            </a:r>
            <a:r>
              <a:rPr lang="en-US" sz="2000" dirty="0" err="1" smtClean="0">
                <a:latin typeface="Consolas" pitchFamily="49" charset="0"/>
              </a:rPr>
              <a:t>ravendb:ubuntu</a:t>
            </a:r>
            <a:r>
              <a:rPr lang="en-US" sz="2000" dirty="0" smtClean="0">
                <a:latin typeface="Consolas" pitchFamily="49" charset="0"/>
              </a:rPr>
              <a:t>-latest</a:t>
            </a:r>
            <a:endParaRPr lang="en-US" sz="2000" dirty="0" smtClean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8325" y="3003550"/>
            <a:ext cx="5467350" cy="164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</a:t>
            </a:r>
            <a:r>
              <a:rPr lang="en-US" dirty="0" smtClean="0"/>
              <a:t>Connect to </a:t>
            </a:r>
            <a:r>
              <a:rPr lang="en-US" dirty="0" smtClean="0"/>
              <a:t>the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http://</a:t>
            </a:r>
            <a:r>
              <a:rPr lang="en-US" sz="2400" dirty="0" smtClean="0">
                <a:hlinkClick r:id="rId2"/>
              </a:rPr>
              <a:t>127.0.0.1:8080/studio/index.html</a:t>
            </a:r>
            <a:endParaRPr lang="en-US" sz="2400" dirty="0" smtClean="0"/>
          </a:p>
          <a:p>
            <a:endParaRPr lang="en-US" sz="2200" dirty="0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Allow Remote Connections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Stop the server.</a:t>
            </a:r>
          </a:p>
          <a:p>
            <a:r>
              <a:rPr lang="en-US" sz="2400" dirty="0" smtClean="0"/>
              <a:t>Open </a:t>
            </a:r>
            <a:r>
              <a:rPr lang="en-US" sz="2400" b="1" i="1" dirty="0" smtClean="0">
                <a:latin typeface="Consolas" pitchFamily="49" charset="0"/>
              </a:rPr>
              <a:t>C:\RavenDB\Server\settings.json</a:t>
            </a:r>
          </a:p>
          <a:p>
            <a:r>
              <a:rPr lang="en-US" sz="2400" dirty="0" smtClean="0"/>
              <a:t>Change the IP to </a:t>
            </a:r>
            <a:r>
              <a:rPr lang="en-US" sz="2400" b="1" dirty="0" smtClean="0"/>
              <a:t>0.0.0.0</a:t>
            </a:r>
            <a:endParaRPr lang="en-US" sz="2400" dirty="0" smtClean="0"/>
          </a:p>
          <a:p>
            <a:pPr lvl="1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{</a:t>
            </a:r>
          </a:p>
          <a:p>
            <a:pPr lvl="1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800" dirty="0" smtClean="0">
                <a:solidFill>
                  <a:srgbClr val="2E75B6"/>
                </a:solidFill>
                <a:latin typeface="Consolas"/>
              </a:rPr>
              <a:t>"</a:t>
            </a:r>
            <a:r>
              <a:rPr lang="en-US" sz="1800" dirty="0" err="1" smtClean="0">
                <a:solidFill>
                  <a:srgbClr val="2E75B6"/>
                </a:solidFill>
                <a:latin typeface="Consolas"/>
              </a:rPr>
              <a:t>DataDir</a:t>
            </a:r>
            <a:r>
              <a:rPr lang="en-US" sz="1800" dirty="0" smtClean="0">
                <a:solidFill>
                  <a:srgbClr val="2E75B6"/>
                </a:solidFill>
                <a:latin typeface="Consolas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800" dirty="0" smtClean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800" dirty="0" err="1" smtClean="0">
                <a:solidFill>
                  <a:srgbClr val="A31515"/>
                </a:solidFill>
                <a:latin typeface="Consolas"/>
              </a:rPr>
              <a:t>RavenData</a:t>
            </a:r>
            <a:r>
              <a:rPr lang="en-US" sz="1800" dirty="0" smtClean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,</a:t>
            </a:r>
          </a:p>
          <a:p>
            <a:pPr lvl="1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800" dirty="0" smtClean="0">
                <a:solidFill>
                  <a:srgbClr val="2E75B6"/>
                </a:solidFill>
                <a:latin typeface="Consolas"/>
              </a:rPr>
              <a:t>"</a:t>
            </a:r>
            <a:r>
              <a:rPr lang="en-US" sz="1800" dirty="0" err="1" smtClean="0">
                <a:solidFill>
                  <a:srgbClr val="2E75B6"/>
                </a:solidFill>
                <a:latin typeface="Consolas"/>
              </a:rPr>
              <a:t>License.Eula.Accepted</a:t>
            </a:r>
            <a:r>
              <a:rPr lang="en-US" sz="1800" dirty="0" smtClean="0">
                <a:solidFill>
                  <a:srgbClr val="2E75B6"/>
                </a:solidFill>
                <a:latin typeface="Consolas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800" dirty="0" smtClean="0">
                <a:solidFill>
                  <a:srgbClr val="0000FF"/>
                </a:solidFill>
                <a:latin typeface="Consolas"/>
              </a:rPr>
              <a:t>true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,</a:t>
            </a:r>
          </a:p>
          <a:p>
            <a:pPr lvl="1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800" dirty="0" smtClean="0">
                <a:solidFill>
                  <a:srgbClr val="2E75B6"/>
                </a:solidFill>
                <a:latin typeface="Consolas"/>
              </a:rPr>
              <a:t>"</a:t>
            </a:r>
            <a:r>
              <a:rPr lang="en-US" sz="1800" dirty="0" err="1" smtClean="0">
                <a:solidFill>
                  <a:srgbClr val="2E75B6"/>
                </a:solidFill>
                <a:latin typeface="Consolas"/>
              </a:rPr>
              <a:t>Setup.Mode</a:t>
            </a:r>
            <a:r>
              <a:rPr lang="en-US" sz="1800" dirty="0" smtClean="0">
                <a:solidFill>
                  <a:srgbClr val="2E75B6"/>
                </a:solidFill>
                <a:latin typeface="Consolas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800" dirty="0" smtClean="0">
                <a:solidFill>
                  <a:srgbClr val="A31515"/>
                </a:solidFill>
                <a:latin typeface="Consolas"/>
              </a:rPr>
              <a:t>"Unsecured"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,</a:t>
            </a:r>
          </a:p>
          <a:p>
            <a:pPr lvl="1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800" dirty="0" smtClean="0">
                <a:solidFill>
                  <a:srgbClr val="2E75B6"/>
                </a:solidFill>
                <a:latin typeface="Consolas"/>
              </a:rPr>
              <a:t>"</a:t>
            </a:r>
            <a:r>
              <a:rPr lang="en-US" sz="1800" dirty="0" err="1" smtClean="0">
                <a:solidFill>
                  <a:srgbClr val="2E75B6"/>
                </a:solidFill>
                <a:latin typeface="Consolas"/>
              </a:rPr>
              <a:t>Security.UnsecuredAccessAllowed</a:t>
            </a:r>
            <a:r>
              <a:rPr lang="en-US" sz="1800" dirty="0" smtClean="0">
                <a:solidFill>
                  <a:srgbClr val="2E75B6"/>
                </a:solidFill>
                <a:latin typeface="Consolas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800" dirty="0" smtClean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800" dirty="0" err="1" smtClean="0">
                <a:solidFill>
                  <a:srgbClr val="A31515"/>
                </a:solidFill>
                <a:latin typeface="Consolas"/>
              </a:rPr>
              <a:t>PublicNetwork</a:t>
            </a:r>
            <a:r>
              <a:rPr lang="en-US" sz="1800" dirty="0" smtClean="0">
                <a:solidFill>
                  <a:srgbClr val="A31515"/>
                </a:solidFill>
                <a:latin typeface="Consolas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,</a:t>
            </a:r>
          </a:p>
          <a:p>
            <a:pPr lvl="1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800" dirty="0" smtClean="0">
                <a:solidFill>
                  <a:srgbClr val="2E75B6"/>
                </a:solidFill>
                <a:latin typeface="Consolas"/>
              </a:rPr>
              <a:t>"</a:t>
            </a:r>
            <a:r>
              <a:rPr lang="en-US" sz="1800" dirty="0" err="1" smtClean="0">
                <a:solidFill>
                  <a:srgbClr val="2E75B6"/>
                </a:solidFill>
                <a:latin typeface="Consolas"/>
              </a:rPr>
              <a:t>ServerUrl</a:t>
            </a:r>
            <a:r>
              <a:rPr lang="en-US" sz="1800" dirty="0" smtClean="0">
                <a:solidFill>
                  <a:srgbClr val="2E75B6"/>
                </a:solidFill>
                <a:latin typeface="Consolas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800" dirty="0" smtClean="0">
                <a:solidFill>
                  <a:srgbClr val="A31515"/>
                </a:solidFill>
                <a:latin typeface="Consolas"/>
              </a:rPr>
              <a:t>"http://0.0.0.0:8080"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,</a:t>
            </a:r>
          </a:p>
          <a:p>
            <a:pPr lvl="1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  </a:t>
            </a:r>
            <a:r>
              <a:rPr lang="en-US" sz="1800" dirty="0" smtClean="0">
                <a:solidFill>
                  <a:srgbClr val="2E75B6"/>
                </a:solidFill>
                <a:latin typeface="Consolas"/>
              </a:rPr>
              <a:t>"</a:t>
            </a:r>
            <a:r>
              <a:rPr lang="en-US" sz="1800" dirty="0" err="1" smtClean="0">
                <a:solidFill>
                  <a:srgbClr val="2E75B6"/>
                </a:solidFill>
                <a:latin typeface="Consolas"/>
              </a:rPr>
              <a:t>ServerUrl.Tcp</a:t>
            </a:r>
            <a:r>
              <a:rPr lang="en-US" sz="1800" dirty="0" smtClean="0">
                <a:solidFill>
                  <a:srgbClr val="2E75B6"/>
                </a:solidFill>
                <a:latin typeface="Consolas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: </a:t>
            </a:r>
            <a:r>
              <a:rPr lang="en-US" sz="1800" dirty="0" smtClean="0">
                <a:solidFill>
                  <a:srgbClr val="A31515"/>
                </a:solidFill>
                <a:latin typeface="Consolas"/>
              </a:rPr>
              <a:t>"tcp://0.0.0.0:38888"</a:t>
            </a:r>
            <a:endParaRPr lang="en-US" sz="1800" dirty="0" smtClean="0">
              <a:solidFill>
                <a:srgbClr val="000000"/>
              </a:solidFill>
              <a:latin typeface="Consolas"/>
            </a:endParaRPr>
          </a:p>
          <a:p>
            <a:pPr lvl="1"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}</a:t>
            </a:r>
          </a:p>
          <a:p>
            <a:r>
              <a:rPr lang="en-US" sz="2400" dirty="0" smtClean="0"/>
              <a:t>Start the server.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10558</TotalTime>
  <Words>653</Words>
  <Application>Microsoft Office PowerPoint</Application>
  <PresentationFormat>On-screen Show (4:3)</PresentationFormat>
  <Paragraphs>89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RavenDB</vt:lpstr>
      <vt:lpstr>Objectives</vt:lpstr>
      <vt:lpstr>Contents</vt:lpstr>
      <vt:lpstr>References</vt:lpstr>
      <vt:lpstr>RavenDB</vt:lpstr>
      <vt:lpstr>What is Chocolatey?</vt:lpstr>
      <vt:lpstr>Why Chocolatey?</vt:lpstr>
      <vt:lpstr>1. Install Chocolatey</vt:lpstr>
      <vt:lpstr>2. Search for and Install a Package</vt:lpstr>
      <vt:lpstr>3. Run a Package</vt:lpstr>
      <vt:lpstr>4. Set up New Single Node Cluster</vt:lpstr>
      <vt:lpstr>5. Select Unsecure Security Level</vt:lpstr>
      <vt:lpstr>6. Finish Wizard</vt:lpstr>
      <vt:lpstr>7. Restart Server</vt:lpstr>
      <vt:lpstr>Downgrading a Package</vt:lpstr>
      <vt:lpstr>Slide 16</vt:lpstr>
      <vt:lpstr>1. Create a Database</vt:lpstr>
      <vt:lpstr>2. Install RavenDB.Client for .NET</vt:lpstr>
      <vt:lpstr>3. Create a Model</vt:lpstr>
      <vt:lpstr>4. Initialize a DocumentStore</vt:lpstr>
      <vt:lpstr>5. Store Data</vt:lpstr>
      <vt:lpstr>6. Verify Stored Data</vt:lpstr>
      <vt:lpstr>Slide 23</vt:lpstr>
      <vt:lpstr>1. Load Data</vt:lpstr>
      <vt:lpstr>2. Verify Stored Data</vt:lpstr>
      <vt:lpstr>Slide 26</vt:lpstr>
      <vt:lpstr>1. Query Data</vt:lpstr>
      <vt:lpstr>Slide 28</vt:lpstr>
      <vt:lpstr>1. Run Docker Linux Image</vt:lpstr>
      <vt:lpstr>2. Connect to the Server</vt:lpstr>
      <vt:lpstr>Slide 31</vt:lpstr>
      <vt:lpstr>1. Allow Remote Connections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3945</cp:revision>
  <dcterms:created xsi:type="dcterms:W3CDTF">2007-10-06T08:25:13Z</dcterms:created>
  <dcterms:modified xsi:type="dcterms:W3CDTF">2025-04-17T13:14:35Z</dcterms:modified>
</cp:coreProperties>
</file>