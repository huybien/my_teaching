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0"/>
  </p:notesMasterIdLst>
  <p:handoutMasterIdLst>
    <p:handoutMasterId r:id="rId61"/>
  </p:handoutMasterIdLst>
  <p:sldIdLst>
    <p:sldId id="256" r:id="rId2"/>
    <p:sldId id="444" r:id="rId3"/>
    <p:sldId id="667" r:id="rId4"/>
    <p:sldId id="411" r:id="rId5"/>
    <p:sldId id="642" r:id="rId6"/>
    <p:sldId id="607" r:id="rId7"/>
    <p:sldId id="654" r:id="rId8"/>
    <p:sldId id="655" r:id="rId9"/>
    <p:sldId id="656" r:id="rId10"/>
    <p:sldId id="657" r:id="rId11"/>
    <p:sldId id="658" r:id="rId12"/>
    <p:sldId id="659" r:id="rId13"/>
    <p:sldId id="660" r:id="rId14"/>
    <p:sldId id="661" r:id="rId15"/>
    <p:sldId id="680" r:id="rId16"/>
    <p:sldId id="663" r:id="rId17"/>
    <p:sldId id="664" r:id="rId18"/>
    <p:sldId id="665" r:id="rId19"/>
    <p:sldId id="678" r:id="rId20"/>
    <p:sldId id="668" r:id="rId21"/>
    <p:sldId id="669" r:id="rId22"/>
    <p:sldId id="670" r:id="rId23"/>
    <p:sldId id="671" r:id="rId24"/>
    <p:sldId id="672" r:id="rId25"/>
    <p:sldId id="673" r:id="rId26"/>
    <p:sldId id="674" r:id="rId27"/>
    <p:sldId id="675" r:id="rId28"/>
    <p:sldId id="676" r:id="rId29"/>
    <p:sldId id="677" r:id="rId30"/>
    <p:sldId id="608" r:id="rId31"/>
    <p:sldId id="594" r:id="rId32"/>
    <p:sldId id="585" r:id="rId33"/>
    <p:sldId id="587" r:id="rId34"/>
    <p:sldId id="588" r:id="rId35"/>
    <p:sldId id="590" r:id="rId36"/>
    <p:sldId id="591" r:id="rId37"/>
    <p:sldId id="592" r:id="rId38"/>
    <p:sldId id="593" r:id="rId39"/>
    <p:sldId id="595" r:id="rId40"/>
    <p:sldId id="606" r:id="rId41"/>
    <p:sldId id="598" r:id="rId42"/>
    <p:sldId id="599" r:id="rId43"/>
    <p:sldId id="600" r:id="rId44"/>
    <p:sldId id="601" r:id="rId45"/>
    <p:sldId id="602" r:id="rId46"/>
    <p:sldId id="603" r:id="rId47"/>
    <p:sldId id="604" r:id="rId48"/>
    <p:sldId id="605" r:id="rId49"/>
    <p:sldId id="618" r:id="rId50"/>
    <p:sldId id="624" r:id="rId51"/>
    <p:sldId id="625" r:id="rId52"/>
    <p:sldId id="627" r:id="rId53"/>
    <p:sldId id="628" r:id="rId54"/>
    <p:sldId id="629" r:id="rId55"/>
    <p:sldId id="630" r:id="rId56"/>
    <p:sldId id="632" r:id="rId57"/>
    <p:sldId id="679" r:id="rId58"/>
    <p:sldId id="343" r:id="rId5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57" autoAdjust="0"/>
    <p:restoredTop sz="94667" autoAdjust="0"/>
  </p:normalViewPr>
  <p:slideViewPr>
    <p:cSldViewPr>
      <p:cViewPr>
        <p:scale>
          <a:sx n="50" d="100"/>
          <a:sy n="50" d="100"/>
        </p:scale>
        <p:origin x="-148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0497B-5798-422F-BCA5-837460096250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E158B-9637-4A1B-846B-D85FF16BCD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796C2-F8F2-4352-AD3F-23FA0FF10F72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E6C1E-8806-48E1-844B-47BE1C50CF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21B9AD-E267-41B8-AFB9-F339B3C6A571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2FAA6B-5534-44A2-AEB6-C3AA6AD137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3B7B48-E476-4875-A0CA-B0673732DFDD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A623A-42AC-4D11-AF54-DB15196F08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F0A2C2-9A3C-44C4-9D1F-47B44EB3EF12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38AB1B-E996-4ECC-822F-4BC1227516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352965-9852-4C5D-9CFD-AA7D7C51A3F1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D760F-B2EC-4EEB-B282-45333B1157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ABA97A-E8D3-4153-8AD9-0AC754381ACA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6E96F6-D03D-4FB0-942F-6504F81FF6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1E0C7-1AF5-43CF-B84A-415948674BE8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B45132-88B8-4DDF-85A7-99B030F49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F2F585-6AB3-4A98-8C00-3FB0F428366B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DEE648-0B22-4684-A888-DEB1CE6260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55A04C-D082-4B30-8565-236556BDD91C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6D829-2DC4-4B7D-B12C-FDD216EF07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3085A-46E4-429D-86C3-B3CDAC36DAFB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7732C7-0A09-4095-98E8-F693C2579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0270D8-9F80-4CBC-9EEB-40BF8E1F9541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B142B-9F3F-466D-9D5E-77E7230DF7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44C27D-6266-4BC5-9F9E-701F440BBF98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74873-7D28-4297-9E3C-7A8D1F19C8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 smtClean="0"/>
              <a:pPr>
                <a:defRPr/>
              </a:pPr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Structured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>
              <a:defRPr/>
            </a:pPr>
            <a:r>
              <a:rPr lang="en-US" sz="4400" dirty="0" smtClean="0"/>
              <a:t>Lecturer: Ngo Huy Bien</a:t>
            </a:r>
          </a:p>
          <a:p>
            <a:pPr>
              <a:defRPr/>
            </a:pPr>
            <a:r>
              <a:rPr lang="en-US" sz="3600" dirty="0" smtClean="0"/>
              <a:t>Software Engineering Department</a:t>
            </a:r>
          </a:p>
          <a:p>
            <a:pPr>
              <a:defRPr/>
            </a:pPr>
            <a:r>
              <a:rPr lang="en-US" sz="3600" dirty="0" smtClean="0"/>
              <a:t>Faculty of Information Technology</a:t>
            </a:r>
          </a:p>
          <a:p>
            <a:pPr>
              <a:defRPr/>
            </a:pPr>
            <a:r>
              <a:rPr lang="en-US" sz="3600" dirty="0" smtClean="0"/>
              <a:t>VNUHCM - University of Science</a:t>
            </a:r>
          </a:p>
          <a:p>
            <a:pPr>
              <a:defRPr/>
            </a:pPr>
            <a:r>
              <a:rPr lang="en-US" sz="3600" dirty="0" smtClean="0"/>
              <a:t>Ho Chi Minh City, Vietnam</a:t>
            </a:r>
          </a:p>
          <a:p>
            <a:pPr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257800" cy="4724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design software </a:t>
            </a:r>
            <a:r>
              <a:rPr lang="en-US" sz="2400" i="1" dirty="0" smtClean="0">
                <a:solidFill>
                  <a:srgbClr val="C00000"/>
                </a:solidFill>
              </a:rPr>
              <a:t>systematically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OO Design Methodology.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Designing with Patterns.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Design and Programming Relationship.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err="1" smtClean="0"/>
              <a:t>Meilir</a:t>
            </a:r>
            <a:r>
              <a:rPr lang="en-US" sz="2200" dirty="0" smtClean="0"/>
              <a:t> Page-Jones (1988). The Practical Guide to Structured Systems Design. Pearson Education.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smtClean="0"/>
              <a:t>David </a:t>
            </a:r>
            <a:r>
              <a:rPr lang="en-US" sz="2200" dirty="0" err="1" smtClean="0"/>
              <a:t>Budgen</a:t>
            </a:r>
            <a:r>
              <a:rPr lang="en-US" sz="2200" dirty="0" smtClean="0"/>
              <a:t> (2003). Software Design. Pearson.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Robert C. Martin (2017). Clean Architecture - A Craftsman's Guide to Software Structure and Design. Pearson Education.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err="1" smtClean="0"/>
              <a:t>Glenford</a:t>
            </a:r>
            <a:r>
              <a:rPr lang="en-US" sz="2200" dirty="0" smtClean="0"/>
              <a:t> J. Myers (1975). Reliable Software Through Composite Design. </a:t>
            </a:r>
            <a:r>
              <a:rPr lang="en-US" sz="2200" dirty="0" err="1" smtClean="0"/>
              <a:t>Petrocelli</a:t>
            </a:r>
            <a:r>
              <a:rPr lang="en-US" sz="2200" dirty="0" smtClean="0"/>
              <a:t>‐Charter.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Notations</a:t>
            </a:r>
          </a:p>
          <a:p>
            <a:r>
              <a:rPr lang="en-US" sz="2400" dirty="0" smtClean="0"/>
              <a:t>Steps</a:t>
            </a:r>
          </a:p>
          <a:p>
            <a:r>
              <a:rPr lang="en-US" sz="2400" dirty="0" smtClean="0"/>
              <a:t>Templates</a:t>
            </a:r>
            <a:endParaRPr lang="en-US" sz="2400" dirty="0"/>
          </a:p>
        </p:txBody>
      </p:sp>
      <p:pic>
        <p:nvPicPr>
          <p:cNvPr id="1026" name="Picture 2" descr="https://t3.ftcdn.net/jpg/04/08/48/00/360_F_408480097_LIoFE7f34U722KFvdZFdvzAbCsksVq6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810000"/>
            <a:ext cx="5053584" cy="2194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Structured Design?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Structured Design</a:t>
            </a:r>
            <a:r>
              <a:rPr lang="en-US" sz="2000" dirty="0" smtClean="0"/>
              <a:t> is a </a:t>
            </a:r>
            <a:r>
              <a:rPr lang="en-US" sz="2000" u="sng" dirty="0" smtClean="0"/>
              <a:t>disciplined approach</a:t>
            </a:r>
            <a:r>
              <a:rPr lang="en-US" sz="2000" dirty="0" smtClean="0"/>
              <a:t> to computer system design. It has the following five aspects:</a:t>
            </a:r>
          </a:p>
          <a:p>
            <a:pPr lvl="1"/>
            <a:r>
              <a:rPr lang="en-US" sz="2000" dirty="0" smtClean="0"/>
              <a:t>Structured Design uses a </a:t>
            </a:r>
            <a:r>
              <a:rPr lang="en-US" sz="2000" i="1" dirty="0" smtClean="0">
                <a:solidFill>
                  <a:srgbClr val="C00000"/>
                </a:solidFill>
              </a:rPr>
              <a:t>definition of the problem</a:t>
            </a:r>
            <a:r>
              <a:rPr lang="en-US" sz="2000" dirty="0" smtClean="0"/>
              <a:t> to guide the </a:t>
            </a:r>
            <a:r>
              <a:rPr lang="en-US" sz="2000" u="sng" dirty="0" smtClean="0"/>
              <a:t>definition of the solution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Structured Design seeks to conquer the complexity of large systems by means of </a:t>
            </a:r>
            <a:r>
              <a:rPr lang="en-US" sz="2000" i="1" dirty="0" smtClean="0">
                <a:solidFill>
                  <a:srgbClr val="C00000"/>
                </a:solidFill>
              </a:rPr>
              <a:t>partitioning the system into "black boxes"</a:t>
            </a:r>
            <a:r>
              <a:rPr lang="en-US" sz="2000" dirty="0" smtClean="0"/>
              <a:t> and by </a:t>
            </a:r>
            <a:r>
              <a:rPr lang="en-US" sz="2000" i="1" dirty="0" smtClean="0">
                <a:solidFill>
                  <a:srgbClr val="C00000"/>
                </a:solidFill>
              </a:rPr>
              <a:t>organizing the black boxes into hierarchies</a:t>
            </a:r>
            <a:r>
              <a:rPr lang="en-US" sz="2000" dirty="0" smtClean="0"/>
              <a:t> suitable for computer implementation.</a:t>
            </a:r>
          </a:p>
          <a:p>
            <a:pPr lvl="1"/>
            <a:r>
              <a:rPr lang="en-US" sz="2000" dirty="0" smtClean="0"/>
              <a:t>Structured Design uses tools, especially </a:t>
            </a:r>
            <a:r>
              <a:rPr lang="en-US" sz="2000" i="1" dirty="0" smtClean="0">
                <a:solidFill>
                  <a:srgbClr val="C00000"/>
                </a:solidFill>
              </a:rPr>
              <a:t>graphic ones</a:t>
            </a:r>
            <a:r>
              <a:rPr lang="en-US" sz="2000" dirty="0" smtClean="0"/>
              <a:t>, to render systems readily </a:t>
            </a:r>
            <a:r>
              <a:rPr lang="en-US" sz="2000" u="sng" dirty="0" smtClean="0"/>
              <a:t>understandable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Structured Design offers </a:t>
            </a:r>
            <a:r>
              <a:rPr lang="en-US" sz="2000" i="1" dirty="0" smtClean="0">
                <a:solidFill>
                  <a:srgbClr val="C00000"/>
                </a:solidFill>
              </a:rPr>
              <a:t>a set of strategies</a:t>
            </a:r>
            <a:r>
              <a:rPr lang="en-US" sz="2000" dirty="0" smtClean="0"/>
              <a:t> for </a:t>
            </a:r>
            <a:r>
              <a:rPr lang="en-US" sz="2000" u="sng" dirty="0" smtClean="0"/>
              <a:t>developing a design</a:t>
            </a:r>
            <a:r>
              <a:rPr lang="en-US" sz="2000" dirty="0" smtClean="0"/>
              <a:t> solution from a well-defined statement of a problem.</a:t>
            </a:r>
          </a:p>
          <a:p>
            <a:pPr lvl="1"/>
            <a:r>
              <a:rPr lang="en-US" sz="2000" dirty="0" smtClean="0"/>
              <a:t>Structured Design offers </a:t>
            </a:r>
            <a:r>
              <a:rPr lang="en-US" sz="2000" i="1" dirty="0" smtClean="0">
                <a:solidFill>
                  <a:srgbClr val="C00000"/>
                </a:solidFill>
              </a:rPr>
              <a:t>a set of criteria</a:t>
            </a:r>
            <a:r>
              <a:rPr lang="en-US" sz="2000" dirty="0" smtClean="0"/>
              <a:t> for </a:t>
            </a:r>
            <a:r>
              <a:rPr lang="en-US" sz="2000" u="sng" dirty="0" smtClean="0"/>
              <a:t>evaluating the quality</a:t>
            </a:r>
            <a:r>
              <a:rPr lang="en-US" sz="2000" dirty="0" smtClean="0"/>
              <a:t> of a given design solution with respect to the problem to be solved.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Context of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Design is the bridge between analysis and implementation.</a:t>
            </a:r>
          </a:p>
          <a:p>
            <a:r>
              <a:rPr lang="en-US" sz="2400" dirty="0" smtClean="0"/>
              <a:t>Broadly, the "Seven Ages" of a </a:t>
            </a:r>
            <a:r>
              <a:rPr lang="en-US" sz="2400" i="1" dirty="0" smtClean="0">
                <a:solidFill>
                  <a:srgbClr val="C00000"/>
                </a:solidFill>
              </a:rPr>
              <a:t>classical</a:t>
            </a:r>
            <a:r>
              <a:rPr lang="en-US" sz="2400" dirty="0" smtClean="0"/>
              <a:t> computer system are</a:t>
            </a:r>
          </a:p>
          <a:p>
            <a:pPr lvl="1"/>
            <a:r>
              <a:rPr lang="en-US" sz="2000" dirty="0" smtClean="0"/>
              <a:t>problem or opportunity recognition,</a:t>
            </a:r>
          </a:p>
          <a:p>
            <a:pPr lvl="1"/>
            <a:r>
              <a:rPr lang="en-US" sz="2000" dirty="0" smtClean="0"/>
              <a:t>feasibility study,</a:t>
            </a:r>
          </a:p>
          <a:p>
            <a:pPr lvl="1"/>
            <a:r>
              <a:rPr lang="en-US" sz="2000" dirty="0" smtClean="0"/>
              <a:t>analysis,</a:t>
            </a:r>
          </a:p>
          <a:p>
            <a:pPr lvl="1"/>
            <a:r>
              <a:rPr lang="en-US" sz="2000" dirty="0" smtClean="0"/>
              <a:t>design</a:t>
            </a:r>
          </a:p>
          <a:p>
            <a:pPr lvl="2"/>
            <a:r>
              <a:rPr lang="en-US" sz="1600" dirty="0" smtClean="0"/>
              <a:t>preliminary design</a:t>
            </a:r>
          </a:p>
          <a:p>
            <a:pPr lvl="2"/>
            <a:r>
              <a:rPr lang="en-US" sz="1600" dirty="0" smtClean="0"/>
              <a:t>detailed design</a:t>
            </a:r>
          </a:p>
          <a:p>
            <a:pPr lvl="1"/>
            <a:r>
              <a:rPr lang="en-US" sz="2000" dirty="0" smtClean="0"/>
              <a:t>implementation,</a:t>
            </a:r>
          </a:p>
          <a:p>
            <a:pPr lvl="1"/>
            <a:r>
              <a:rPr lang="en-US" sz="2000" dirty="0" smtClean="0"/>
              <a:t>testing, and</a:t>
            </a:r>
          </a:p>
          <a:p>
            <a:pPr lvl="1"/>
            <a:r>
              <a:rPr lang="en-US" sz="2000" dirty="0" smtClean="0"/>
              <a:t>maintenance.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 smtClean="0"/>
              <a:t>1. Problem or Opportunity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idea of developing a new system occurs to the user when he recognizes that he has </a:t>
            </a:r>
            <a:r>
              <a:rPr lang="en-US" sz="2400" i="1" dirty="0" smtClean="0">
                <a:solidFill>
                  <a:srgbClr val="C00000"/>
                </a:solidFill>
              </a:rPr>
              <a:t>a problem</a:t>
            </a:r>
            <a:r>
              <a:rPr lang="en-US" sz="2400" dirty="0" smtClean="0"/>
              <a:t> in the way that he currently carries out his business or when he identifies an </a:t>
            </a:r>
            <a:r>
              <a:rPr lang="en-US" sz="2400" i="1" dirty="0" smtClean="0">
                <a:solidFill>
                  <a:srgbClr val="C00000"/>
                </a:solidFill>
              </a:rPr>
              <a:t>opportunity</a:t>
            </a:r>
            <a:r>
              <a:rPr lang="en-US" sz="2400" dirty="0" smtClean="0"/>
              <a:t> to improve his business.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Maybe the user </a:t>
            </a:r>
            <a:r>
              <a:rPr lang="en-US" sz="2400" i="1" dirty="0" smtClean="0">
                <a:solidFill>
                  <a:srgbClr val="C00000"/>
                </a:solidFill>
              </a:rPr>
              <a:t>does need a computer</a:t>
            </a:r>
            <a:r>
              <a:rPr lang="en-US" sz="2400" dirty="0" smtClean="0"/>
              <a:t> – but </a:t>
            </a:r>
            <a:r>
              <a:rPr lang="en-US" sz="2400" u="sng" dirty="0" smtClean="0"/>
              <a:t>maybe not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That's one of the decisions that cannot be made before completion of the next stage of design: </a:t>
            </a:r>
            <a:r>
              <a:rPr lang="en-US" sz="2400" i="1" dirty="0" smtClean="0">
                <a:solidFill>
                  <a:srgbClr val="C00000"/>
                </a:solidFill>
              </a:rPr>
              <a:t>the feasibility study (alias survey)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feasibility study serves</a:t>
            </a:r>
          </a:p>
          <a:p>
            <a:pPr lvl="1"/>
            <a:r>
              <a:rPr lang="en-US" sz="1800" dirty="0" smtClean="0"/>
              <a:t>to identify the scope of the current system to be studied;</a:t>
            </a:r>
          </a:p>
          <a:p>
            <a:pPr lvl="1"/>
            <a:r>
              <a:rPr lang="en-US" sz="1800" dirty="0" smtClean="0"/>
              <a:t>to identify problems and unexploited opportunities in the current system, which may be either manual or automated;</a:t>
            </a:r>
          </a:p>
          <a:p>
            <a:pPr lvl="1"/>
            <a:r>
              <a:rPr lang="en-US" sz="1800" dirty="0" smtClean="0"/>
              <a:t>to identify major objectives for the new system;</a:t>
            </a:r>
          </a:p>
          <a:p>
            <a:pPr lvl="1"/>
            <a:r>
              <a:rPr lang="en-US" sz="1800" dirty="0" smtClean="0"/>
              <a:t>to estimate roughly the costs of each possible solution to the user's problems</a:t>
            </a:r>
          </a:p>
          <a:p>
            <a:r>
              <a:rPr lang="en-US" sz="2400" dirty="0" smtClean="0"/>
              <a:t>For most projects, the feasibility study will take </a:t>
            </a:r>
            <a:r>
              <a:rPr lang="en-US" sz="2400" i="1" dirty="0" smtClean="0">
                <a:solidFill>
                  <a:srgbClr val="C00000"/>
                </a:solidFill>
              </a:rPr>
              <a:t>less than a month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information gathered during the feasibility study, although probably </a:t>
            </a:r>
            <a:r>
              <a:rPr lang="en-US" sz="2400" i="1" dirty="0" smtClean="0">
                <a:solidFill>
                  <a:srgbClr val="C00000"/>
                </a:solidFill>
              </a:rPr>
              <a:t>not very detailed</a:t>
            </a:r>
            <a:r>
              <a:rPr lang="en-US" sz="2400" dirty="0" smtClean="0"/>
              <a:t> – or </a:t>
            </a:r>
            <a:r>
              <a:rPr lang="en-US" sz="2400" i="1" dirty="0" smtClean="0">
                <a:solidFill>
                  <a:srgbClr val="C00000"/>
                </a:solidFill>
              </a:rPr>
              <a:t>even accurate</a:t>
            </a:r>
            <a:r>
              <a:rPr lang="en-US" sz="2400" dirty="0" smtClean="0"/>
              <a:t> – will be the jumping-off point for a </a:t>
            </a:r>
            <a:r>
              <a:rPr lang="en-US" sz="2400" u="sng" dirty="0" smtClean="0"/>
              <a:t>full analysis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Analysis (alias external design, business systems analysis, or specification phase) consists of grilling the users about </a:t>
            </a:r>
            <a:r>
              <a:rPr lang="en-US" sz="2400" i="1" dirty="0" smtClean="0">
                <a:solidFill>
                  <a:srgbClr val="C00000"/>
                </a:solidFill>
              </a:rPr>
              <a:t>what the current system does</a:t>
            </a:r>
            <a:r>
              <a:rPr lang="en-US" sz="2400" dirty="0" smtClean="0"/>
              <a:t>, what extra features they want in their new system, and what constraints (such as response time) the new system must satisfy.</a:t>
            </a:r>
          </a:p>
          <a:p>
            <a:r>
              <a:rPr lang="en-US" sz="2400" dirty="0" smtClean="0"/>
              <a:t>Analysis must produce a specification. This document states the </a:t>
            </a:r>
            <a:r>
              <a:rPr lang="en-US" sz="2400" i="1" dirty="0" smtClean="0">
                <a:solidFill>
                  <a:srgbClr val="C00000"/>
                </a:solidFill>
              </a:rPr>
              <a:t>functional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data requirements</a:t>
            </a:r>
            <a:r>
              <a:rPr lang="en-US" sz="2400" dirty="0" smtClean="0"/>
              <a:t> for the new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involves writing </a:t>
            </a:r>
            <a:r>
              <a:rPr lang="en-US" sz="2400" u="sng" dirty="0" smtClean="0"/>
              <a:t>systems flowcharts</a:t>
            </a:r>
            <a:r>
              <a:rPr lang="en-US" sz="2400" dirty="0" smtClean="0"/>
              <a:t>, </a:t>
            </a:r>
            <a:r>
              <a:rPr lang="en-US" sz="2400" u="sng" dirty="0" smtClean="0"/>
              <a:t>job steps</a:t>
            </a:r>
            <a:r>
              <a:rPr lang="en-US" sz="2400" dirty="0" smtClean="0"/>
              <a:t>, </a:t>
            </a:r>
            <a:r>
              <a:rPr lang="en-US" sz="2400" u="sng" dirty="0" smtClean="0"/>
              <a:t>program narratives</a:t>
            </a:r>
            <a:r>
              <a:rPr lang="en-US" sz="2400" dirty="0" smtClean="0"/>
              <a:t>, and so on, which is known as </a:t>
            </a:r>
            <a:r>
              <a:rPr lang="en-US" sz="2400" i="1" dirty="0" smtClean="0">
                <a:solidFill>
                  <a:srgbClr val="C00000"/>
                </a:solidFill>
              </a:rPr>
              <a:t>preliminary design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Preliminary design is followed by </a:t>
            </a:r>
            <a:r>
              <a:rPr lang="en-US" sz="2400" i="1" dirty="0" smtClean="0">
                <a:solidFill>
                  <a:srgbClr val="C00000"/>
                </a:solidFill>
              </a:rPr>
              <a:t>detailed design</a:t>
            </a:r>
            <a:r>
              <a:rPr lang="en-US" sz="2400" dirty="0" smtClean="0"/>
              <a:t>, during which time </a:t>
            </a:r>
            <a:r>
              <a:rPr lang="en-US" sz="2400" u="sng" dirty="0" smtClean="0"/>
              <a:t>program flowcharts</a:t>
            </a:r>
            <a:r>
              <a:rPr lang="en-US" sz="2400" dirty="0" smtClean="0"/>
              <a:t>, </a:t>
            </a:r>
            <a:r>
              <a:rPr lang="en-US" sz="2400" u="sng" dirty="0" smtClean="0"/>
              <a:t>file layouts</a:t>
            </a:r>
            <a:r>
              <a:rPr lang="en-US" sz="2400" dirty="0" smtClean="0"/>
              <a:t>, and </a:t>
            </a:r>
            <a:r>
              <a:rPr lang="en-US" sz="2400" u="sng" dirty="0" smtClean="0"/>
              <a:t>data descriptions</a:t>
            </a:r>
            <a:r>
              <a:rPr lang="en-US" sz="2400" dirty="0" smtClean="0"/>
              <a:t> – </a:t>
            </a:r>
            <a:r>
              <a:rPr lang="en-US" sz="2400" i="1" dirty="0" smtClean="0">
                <a:solidFill>
                  <a:srgbClr val="C00000"/>
                </a:solidFill>
              </a:rPr>
              <a:t>everything but code</a:t>
            </a:r>
            <a:r>
              <a:rPr lang="en-US" sz="2400" dirty="0" smtClean="0"/>
              <a:t> – are developed.</a:t>
            </a:r>
          </a:p>
          <a:p>
            <a:r>
              <a:rPr lang="en-US" sz="2400" dirty="0" smtClean="0"/>
              <a:t>Structured Design, which follows Structured Analysis, takes the </a:t>
            </a:r>
            <a:r>
              <a:rPr lang="en-US" sz="2400" i="1" dirty="0" smtClean="0">
                <a:solidFill>
                  <a:srgbClr val="C00000"/>
                </a:solidFill>
              </a:rPr>
              <a:t>structured specification</a:t>
            </a:r>
            <a:r>
              <a:rPr lang="en-US" sz="2400" dirty="0" smtClean="0"/>
              <a:t> together with its definition of </a:t>
            </a:r>
            <a:r>
              <a:rPr lang="en-US" sz="2400" u="sng" dirty="0" smtClean="0"/>
              <a:t>physical configuration</a:t>
            </a:r>
            <a:r>
              <a:rPr lang="en-US" sz="2400" dirty="0" smtClean="0"/>
              <a:t> and consolidates </a:t>
            </a:r>
            <a:r>
              <a:rPr lang="en-US" sz="2400" u="sng" dirty="0" smtClean="0"/>
              <a:t>preliminary and detailed design</a:t>
            </a:r>
            <a:r>
              <a:rPr lang="en-US" sz="2400" dirty="0" smtClean="0"/>
              <a:t> into a single design phase with a well-defined set of design activities and an objective set of criteria for design quality.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the implementation phase (alias programming or coding), what was produced during design is turned into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 smtClean="0"/>
              <a:t>The testing phase has traditionally involved first the testing of separate parts of the system and then the testing of the system as a whole.</a:t>
            </a:r>
          </a:p>
          <a:p>
            <a:r>
              <a:rPr lang="en-US" sz="2200" dirty="0" smtClean="0"/>
              <a:t>The whole system is then turned over for acceptance testing (alias quality assurance).</a:t>
            </a:r>
          </a:p>
          <a:p>
            <a:r>
              <a:rPr lang="en-US" sz="2200" dirty="0" smtClean="0"/>
              <a:t>Structured techniques emphasize the interweaving of the testing phase </a:t>
            </a:r>
            <a:r>
              <a:rPr lang="en-US" sz="2200" i="1" dirty="0" smtClean="0">
                <a:solidFill>
                  <a:srgbClr val="C00000"/>
                </a:solidFill>
              </a:rPr>
              <a:t>as much as possible with implementation</a:t>
            </a:r>
            <a:r>
              <a:rPr lang="en-US" sz="2200" dirty="0" smtClean="0"/>
              <a:t> so that system quality is built in rather than in some mysterious way "added in" after the fact.</a:t>
            </a:r>
          </a:p>
          <a:p>
            <a:r>
              <a:rPr lang="en-US" sz="2200" dirty="0" smtClean="0"/>
              <a:t>Indeed, the development of </a:t>
            </a:r>
            <a:r>
              <a:rPr lang="en-US" sz="2200" i="1" dirty="0" smtClean="0">
                <a:solidFill>
                  <a:srgbClr val="C00000"/>
                </a:solidFill>
              </a:rPr>
              <a:t>test cases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a test plan</a:t>
            </a:r>
            <a:r>
              <a:rPr lang="en-US" sz="2200" dirty="0" smtClean="0"/>
              <a:t> can </a:t>
            </a:r>
            <a:r>
              <a:rPr lang="en-US" sz="2200" u="sng" dirty="0" smtClean="0"/>
              <a:t>begin at the end of analysis and be carried out during the design phase</a:t>
            </a:r>
            <a:r>
              <a:rPr lang="en-US" sz="2200" dirty="0" smtClean="0"/>
              <a:t> itself. This will ensure that testing is ready to begin as soon as implementation 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Once the system has been coaxed into passing the acceptance test, it is ready for delivery (alias cutover, production inception, parallel operation, and so on).</a:t>
            </a:r>
          </a:p>
          <a:p>
            <a:r>
              <a:rPr lang="en-US" sz="2400" dirty="0" smtClean="0"/>
              <a:t>Anything that happens to the system from then on is called maintenance.</a:t>
            </a:r>
          </a:p>
          <a:p>
            <a:r>
              <a:rPr lang="en-US" sz="2400" dirty="0" smtClean="0"/>
              <a:t>A few years after the delivery of a traditional system, </a:t>
            </a:r>
            <a:r>
              <a:rPr lang="en-US" sz="2400" i="1" dirty="0" smtClean="0">
                <a:solidFill>
                  <a:srgbClr val="C00000"/>
                </a:solidFill>
              </a:rPr>
              <a:t>changes during maintenance</a:t>
            </a:r>
            <a:r>
              <a:rPr lang="en-US" sz="2400" dirty="0" smtClean="0"/>
              <a:t> become extremely tedious, error-prone, and expensive.</a:t>
            </a:r>
          </a:p>
          <a:p>
            <a:r>
              <a:rPr lang="en-US" sz="2400" dirty="0" smtClean="0"/>
              <a:t>Ideally, management recognizes the problem and does a feasibility study on replacing the old system with a new one.</a:t>
            </a:r>
          </a:p>
          <a:p>
            <a:r>
              <a:rPr lang="en-US" sz="2400" dirty="0" smtClean="0"/>
              <a:t>Thus, the cycle begins anew.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s://www.shopatmatter.com/wp-content/uploads/Prints/This-page-intentionally-left-blank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981200"/>
            <a:ext cx="3175000" cy="317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Structured 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Data Flow Diagram</a:t>
            </a:r>
          </a:p>
          <a:p>
            <a:r>
              <a:rPr lang="en-US" sz="2400" dirty="0" smtClean="0"/>
              <a:t>The Data Dictionary</a:t>
            </a:r>
          </a:p>
          <a:p>
            <a:r>
              <a:rPr lang="en-US" sz="2400" dirty="0" smtClean="0"/>
              <a:t>Entity-Relationship Diagrams</a:t>
            </a:r>
          </a:p>
          <a:p>
            <a:r>
              <a:rPr lang="en-US" sz="2400" dirty="0" smtClean="0"/>
              <a:t>Tools To Express Policy</a:t>
            </a:r>
          </a:p>
          <a:p>
            <a:pPr lvl="1"/>
            <a:r>
              <a:rPr lang="en-US" sz="2000" dirty="0" smtClean="0"/>
              <a:t>Structured English</a:t>
            </a:r>
          </a:p>
          <a:p>
            <a:pPr lvl="1"/>
            <a:r>
              <a:rPr lang="en-US" sz="2000" dirty="0" smtClean="0"/>
              <a:t>Decision trees</a:t>
            </a:r>
          </a:p>
          <a:p>
            <a:pPr lvl="1"/>
            <a:r>
              <a:rPr lang="en-US" sz="2000" dirty="0" smtClean="0"/>
              <a:t>Decision tables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the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final step of analysis is the creation of </a:t>
            </a:r>
            <a:r>
              <a:rPr lang="en-US" sz="2400" i="1" dirty="0" smtClean="0">
                <a:solidFill>
                  <a:srgbClr val="C00000"/>
                </a:solidFill>
              </a:rPr>
              <a:t>a configuration for the essential model</a:t>
            </a:r>
            <a:r>
              <a:rPr lang="en-US" sz="2400" dirty="0" smtClean="0"/>
              <a:t> of the </a:t>
            </a:r>
            <a:r>
              <a:rPr lang="en-US" sz="2400" u="sng" dirty="0" smtClean="0"/>
              <a:t>new system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Composite Data</a:t>
            </a:r>
          </a:p>
          <a:p>
            <a:r>
              <a:rPr lang="en-US" sz="2400" dirty="0" smtClean="0"/>
              <a:t>Data Elements</a:t>
            </a:r>
          </a:p>
          <a:p>
            <a:r>
              <a:rPr lang="en-US" sz="2400" dirty="0" smtClean="0"/>
              <a:t>Data Flows</a:t>
            </a:r>
          </a:p>
          <a:p>
            <a:r>
              <a:rPr lang="en-US" sz="2400" dirty="0" smtClean="0"/>
              <a:t>Processes</a:t>
            </a:r>
          </a:p>
          <a:p>
            <a:r>
              <a:rPr lang="en-US" sz="2400" dirty="0" smtClean="0"/>
              <a:t>Data Stores</a:t>
            </a:r>
          </a:p>
          <a:p>
            <a:r>
              <a:rPr lang="en-US" sz="2400" dirty="0" smtClean="0"/>
              <a:t>External Entities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Transactional Analysis.</a:t>
            </a:r>
          </a:p>
          <a:p>
            <a:r>
              <a:rPr lang="en-US" sz="2400" dirty="0" smtClean="0"/>
              <a:t>Transform Analysis.</a:t>
            </a:r>
          </a:p>
          <a:p>
            <a:r>
              <a:rPr lang="en-US" sz="2400" dirty="0" smtClean="0"/>
              <a:t>Identify the Central Transform.</a:t>
            </a:r>
          </a:p>
          <a:p>
            <a:r>
              <a:rPr lang="en-US" sz="2400" dirty="0" smtClean="0"/>
              <a:t>Produce a First-Cut Structure Chart.</a:t>
            </a:r>
          </a:p>
          <a:p>
            <a:r>
              <a:rPr lang="en-US" sz="2400" dirty="0" smtClean="0"/>
              <a:t>Revise the First-Cut Structure Chart.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The Designer's Channels of Communication [2]</a:t>
            </a:r>
            <a:endParaRPr lang="en-US" sz="4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1920875"/>
            <a:ext cx="5759450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Model of the Design Process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9238" y="1412875"/>
            <a:ext cx="3565525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by 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sz="2400" dirty="0" smtClean="0"/>
              <a:t>The relevant </a:t>
            </a:r>
            <a:r>
              <a:rPr lang="en-US" sz="2400" i="1" dirty="0" smtClean="0">
                <a:solidFill>
                  <a:srgbClr val="C00000"/>
                </a:solidFill>
              </a:rPr>
              <a:t>entities</a:t>
            </a:r>
            <a:r>
              <a:rPr lang="en-US" sz="2400" dirty="0" smtClean="0"/>
              <a:t> are normally identified by analyzing an initial description of the problem.</a:t>
            </a:r>
          </a:p>
          <a:p>
            <a:r>
              <a:rPr lang="en-US" sz="2400" dirty="0" smtClean="0"/>
              <a:t>A complete and detailed model of the solution is then developed by elaborating the </a:t>
            </a:r>
            <a:r>
              <a:rPr lang="en-US" sz="2400" i="1" dirty="0" smtClean="0">
                <a:solidFill>
                  <a:srgbClr val="C00000"/>
                </a:solidFill>
              </a:rPr>
              <a:t>descriptions</a:t>
            </a:r>
            <a:r>
              <a:rPr lang="en-US" sz="2400" dirty="0" smtClean="0"/>
              <a:t> of the entities and the </a:t>
            </a:r>
            <a:r>
              <a:rPr lang="en-US" sz="2400" i="1" dirty="0" smtClean="0">
                <a:solidFill>
                  <a:srgbClr val="C00000"/>
                </a:solidFill>
              </a:rPr>
              <a:t>interactions</a:t>
            </a:r>
            <a:r>
              <a:rPr lang="en-US" sz="2400" dirty="0" smtClean="0"/>
              <a:t> occurring between them.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3275" y="2133600"/>
            <a:ext cx="414972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3867150"/>
            <a:ext cx="324231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Top-Down 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r>
              <a:rPr lang="en-US" sz="2400" dirty="0" smtClean="0"/>
              <a:t>Stepwise refinement</a:t>
            </a:r>
          </a:p>
          <a:p>
            <a:r>
              <a:rPr lang="en-US" sz="2400" dirty="0" smtClean="0"/>
              <a:t>Divide and conquer</a:t>
            </a:r>
          </a:p>
          <a:p>
            <a:r>
              <a:rPr lang="en-US" sz="2400" dirty="0" smtClean="0"/>
              <a:t>This approach is unstable. It may be that these two structures will converge following further decomposition, but this cannot be guaranteed by the use of the strategy alone.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9220" y="4038600"/>
            <a:ext cx="3192780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Top-Down Decomposition Limitations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Wicked problem</a:t>
            </a:r>
          </a:p>
          <a:p>
            <a:pPr lvl="1"/>
            <a:r>
              <a:rPr lang="en-US" sz="2000" dirty="0" smtClean="0"/>
              <a:t>The lack of a '</a:t>
            </a:r>
            <a:r>
              <a:rPr lang="en-US" sz="2000" i="1" dirty="0" smtClean="0">
                <a:solidFill>
                  <a:srgbClr val="C00000"/>
                </a:solidFill>
              </a:rPr>
              <a:t>stopping rule</a:t>
            </a:r>
            <a:r>
              <a:rPr lang="en-US" sz="2000" dirty="0" smtClean="0"/>
              <a:t>' that the designer can use to determine that the design process is complete.</a:t>
            </a:r>
          </a:p>
          <a:p>
            <a:pPr lvl="1"/>
            <a:r>
              <a:rPr lang="en-US" sz="2000" dirty="0" smtClean="0"/>
              <a:t>There are no generally applicable criteria that can be used to determine </a:t>
            </a:r>
            <a:r>
              <a:rPr lang="en-US" sz="2000" i="1" dirty="0" smtClean="0">
                <a:solidFill>
                  <a:srgbClr val="C00000"/>
                </a:solidFill>
              </a:rPr>
              <a:t>how small</a:t>
            </a:r>
            <a:r>
              <a:rPr lang="en-US" sz="2000" dirty="0" smtClean="0"/>
              <a:t> a task should be to be considered as suitably elemental.</a:t>
            </a:r>
          </a:p>
          <a:p>
            <a:r>
              <a:rPr lang="en-US" sz="2400" dirty="0" smtClean="0"/>
              <a:t>The problem of duplication.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114800"/>
            <a:ext cx="3813810" cy="2450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Paradigms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Paradigms</a:t>
            </a:r>
            <a:r>
              <a:rPr lang="en-US" sz="2200" dirty="0" smtClean="0"/>
              <a:t> are ways of programming, relatively </a:t>
            </a:r>
            <a:r>
              <a:rPr lang="en-US" sz="2200" u="sng" dirty="0" smtClean="0"/>
              <a:t>unrelated to languages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paradigm tells you which programming </a:t>
            </a:r>
            <a:r>
              <a:rPr lang="en-US" sz="2200" i="1" dirty="0" smtClean="0">
                <a:solidFill>
                  <a:srgbClr val="C00000"/>
                </a:solidFill>
              </a:rPr>
              <a:t>structures</a:t>
            </a:r>
            <a:r>
              <a:rPr lang="en-US" sz="2200" dirty="0" smtClean="0"/>
              <a:t> to use, and </a:t>
            </a:r>
            <a:r>
              <a:rPr lang="en-US" sz="2200" i="1" dirty="0" smtClean="0">
                <a:solidFill>
                  <a:srgbClr val="C00000"/>
                </a:solidFill>
              </a:rPr>
              <a:t>when</a:t>
            </a:r>
            <a:r>
              <a:rPr lang="en-US" sz="2200" dirty="0" smtClean="0"/>
              <a:t> to use them.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Structured programming</a:t>
            </a:r>
            <a:r>
              <a:rPr lang="en-US" sz="2200" dirty="0" smtClean="0"/>
              <a:t> imposes discipline on </a:t>
            </a:r>
            <a:r>
              <a:rPr lang="en-US" sz="2200" u="sng" dirty="0" smtClean="0"/>
              <a:t>direct transfer of control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Object-oriented programming</a:t>
            </a:r>
            <a:r>
              <a:rPr lang="en-US" sz="2200" dirty="0" smtClean="0"/>
              <a:t> imposes discipline on </a:t>
            </a:r>
            <a:r>
              <a:rPr lang="en-US" sz="2200" u="sng" dirty="0" smtClean="0"/>
              <a:t>indirect transfer of control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Functional programming</a:t>
            </a:r>
            <a:r>
              <a:rPr lang="en-US" sz="2200" dirty="0" smtClean="0"/>
              <a:t> imposes discipline upon </a:t>
            </a:r>
            <a:r>
              <a:rPr lang="en-US" sz="2200" u="sng" dirty="0" smtClean="0"/>
              <a:t>assignment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Those three align with the </a:t>
            </a:r>
            <a:r>
              <a:rPr lang="en-US" sz="2200" i="1" dirty="0" smtClean="0">
                <a:solidFill>
                  <a:srgbClr val="C00000"/>
                </a:solidFill>
              </a:rPr>
              <a:t>three big concerns of architecture</a:t>
            </a:r>
            <a:r>
              <a:rPr lang="en-US" sz="2200" dirty="0" smtClean="0"/>
              <a:t>: function, separation of components, and data management.</a:t>
            </a:r>
          </a:p>
          <a:p>
            <a:r>
              <a:rPr lang="en-US" sz="2200" b="1" dirty="0" smtClean="0"/>
              <a:t>Programming approaches </a:t>
            </a:r>
            <a:r>
              <a:rPr lang="en-US" sz="2200" b="1" dirty="0" smtClean="0">
                <a:sym typeface="Wingdings" pitchFamily="2" charset="2"/>
              </a:rPr>
              <a:t> Analysis &amp; Design approaches.</a:t>
            </a:r>
            <a:endParaRPr lang="en-US" sz="22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Dijkstra</a:t>
            </a:r>
            <a:r>
              <a:rPr lang="en-US" sz="2400" dirty="0" smtClean="0"/>
              <a:t> discovered that certain uses of </a:t>
            </a:r>
            <a:r>
              <a:rPr lang="en-US" sz="2400" b="1" dirty="0" err="1" smtClean="0">
                <a:latin typeface="Consolas" pitchFamily="49" charset="0"/>
              </a:rPr>
              <a:t>goto</a:t>
            </a:r>
            <a:r>
              <a:rPr lang="en-US" sz="2400" dirty="0" smtClean="0"/>
              <a:t> statements prevent modules from being </a:t>
            </a:r>
            <a:r>
              <a:rPr lang="en-US" sz="2400" i="1" dirty="0" smtClean="0">
                <a:solidFill>
                  <a:srgbClr val="C00000"/>
                </a:solidFill>
              </a:rPr>
              <a:t>decomposed recursively</a:t>
            </a:r>
            <a:r>
              <a:rPr lang="en-US" sz="2400" dirty="0" smtClean="0"/>
              <a:t> into smaller and smaller units, thereby preventing use of the divide-and-conquer approach.</a:t>
            </a:r>
          </a:p>
          <a:p>
            <a:r>
              <a:rPr lang="en-US" sz="2400" dirty="0" smtClean="0"/>
              <a:t>He replaced those </a:t>
            </a:r>
            <a:r>
              <a:rPr lang="en-US" sz="2400" i="1" dirty="0" smtClean="0">
                <a:solidFill>
                  <a:srgbClr val="C00000"/>
                </a:solidFill>
              </a:rPr>
              <a:t>jumps</a:t>
            </a:r>
            <a:r>
              <a:rPr lang="en-US" sz="2400" dirty="0" smtClean="0"/>
              <a:t> with the more familiar </a:t>
            </a:r>
            <a:r>
              <a:rPr lang="en-US" sz="2400" b="1" dirty="0" smtClean="0">
                <a:latin typeface="Consolas" pitchFamily="49" charset="0"/>
              </a:rPr>
              <a:t>if/then/else</a:t>
            </a:r>
            <a:r>
              <a:rPr lang="en-US" sz="2400" dirty="0" smtClean="0"/>
              <a:t> and </a:t>
            </a:r>
            <a:r>
              <a:rPr lang="en-US" sz="2400" b="1" dirty="0" smtClean="0">
                <a:latin typeface="Consolas" pitchFamily="49" charset="0"/>
              </a:rPr>
              <a:t>do/while/until</a:t>
            </a:r>
            <a:r>
              <a:rPr lang="en-US" sz="2400" dirty="0" smtClean="0"/>
              <a:t> constructs.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Programming &amp;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Structured programming allows modules to be </a:t>
            </a:r>
            <a:r>
              <a:rPr lang="en-US" sz="2400" i="1" dirty="0" smtClean="0">
                <a:solidFill>
                  <a:srgbClr val="C00000"/>
                </a:solidFill>
              </a:rPr>
              <a:t>recursively decomposed</a:t>
            </a:r>
            <a:r>
              <a:rPr lang="en-US" sz="2400" dirty="0" smtClean="0"/>
              <a:t> into provable units, which in turn means that modules can be functionally decomposed.</a:t>
            </a:r>
          </a:p>
          <a:p>
            <a:r>
              <a:rPr lang="en-US" sz="2400" dirty="0" smtClean="0"/>
              <a:t>That is, you can take </a:t>
            </a:r>
            <a:r>
              <a:rPr lang="en-US" sz="2400" u="sng" dirty="0" smtClean="0"/>
              <a:t>a large-scale problem statement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decompose</a:t>
            </a:r>
            <a:r>
              <a:rPr lang="en-US" sz="2400" dirty="0" smtClean="0"/>
              <a:t> it into </a:t>
            </a:r>
            <a:r>
              <a:rPr lang="en-US" sz="2400" u="sng" dirty="0" smtClean="0"/>
              <a:t>high-level functions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of those functions can then be </a:t>
            </a:r>
            <a:r>
              <a:rPr lang="en-US" sz="2400" i="1" dirty="0" smtClean="0">
                <a:solidFill>
                  <a:srgbClr val="C00000"/>
                </a:solidFill>
              </a:rPr>
              <a:t>decomposed</a:t>
            </a:r>
            <a:r>
              <a:rPr lang="en-US" sz="2400" dirty="0" smtClean="0"/>
              <a:t> into </a:t>
            </a:r>
            <a:r>
              <a:rPr lang="en-US" sz="2400" u="sng" dirty="0" smtClean="0"/>
              <a:t>lower-level functions</a:t>
            </a:r>
            <a:r>
              <a:rPr lang="en-US" sz="2400" dirty="0" smtClean="0"/>
              <a:t>, ad infinitum.</a:t>
            </a:r>
          </a:p>
          <a:p>
            <a:r>
              <a:rPr lang="en-US" sz="2400" dirty="0" smtClean="0"/>
              <a:t>Moreover, each of those decomposed functions can be </a:t>
            </a:r>
            <a:r>
              <a:rPr lang="en-US" sz="2400" i="1" dirty="0" smtClean="0">
                <a:solidFill>
                  <a:srgbClr val="C00000"/>
                </a:solidFill>
              </a:rPr>
              <a:t>represented</a:t>
            </a:r>
            <a:r>
              <a:rPr lang="en-US" sz="2400" dirty="0" smtClean="0"/>
              <a:t> using the </a:t>
            </a:r>
            <a:r>
              <a:rPr lang="en-US" sz="2400" u="sng" dirty="0" smtClean="0"/>
              <a:t>restricted control structures</a:t>
            </a:r>
            <a:r>
              <a:rPr lang="en-US" sz="2400" dirty="0" smtClean="0"/>
              <a:t> of structured programming.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a Design Solution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"Hey, Arthur, what do you think of my program?"</a:t>
            </a:r>
          </a:p>
          <a:p>
            <a:r>
              <a:rPr lang="en-US" sz="2400" dirty="0" smtClean="0"/>
              <a:t>"I wouldn't have done it that way."</a:t>
            </a:r>
          </a:p>
          <a:p>
            <a:r>
              <a:rPr lang="en-US" sz="2400" dirty="0" smtClean="0"/>
              <a:t>"Why not?"</a:t>
            </a:r>
          </a:p>
          <a:p>
            <a:r>
              <a:rPr lang="en-US" sz="2400" dirty="0" smtClean="0"/>
              <a:t>"It stinks."</a:t>
            </a:r>
          </a:p>
          <a:p>
            <a:r>
              <a:rPr lang="en-US" sz="2400" dirty="0" smtClean="0"/>
              <a:t>"What do you mean, it …"</a:t>
            </a:r>
          </a:p>
          <a:p>
            <a:r>
              <a:rPr lang="en-US" sz="2400" dirty="0" smtClean="0"/>
              <a:t>"Why on earth did you design it like that, anyway?"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Coupling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measure</a:t>
            </a:r>
            <a:r>
              <a:rPr lang="en-US" sz="2400" dirty="0" smtClean="0"/>
              <a:t> of the interdependence between two modules.</a:t>
            </a:r>
          </a:p>
          <a:p>
            <a:r>
              <a:rPr lang="en-US" sz="2400" dirty="0" smtClean="0"/>
              <a:t>In a </a:t>
            </a:r>
            <a:r>
              <a:rPr lang="en-US" sz="2400" i="1" dirty="0" smtClean="0">
                <a:solidFill>
                  <a:srgbClr val="C00000"/>
                </a:solidFill>
              </a:rPr>
              <a:t>good design</a:t>
            </a:r>
            <a:r>
              <a:rPr lang="en-US" sz="2400" dirty="0" smtClean="0"/>
              <a:t>, coupling is kept to a </a:t>
            </a:r>
            <a:r>
              <a:rPr lang="en-US" sz="2400" u="sng" dirty="0" smtClean="0"/>
              <a:t>minimum</a:t>
            </a:r>
            <a:r>
              <a:rPr lang="en-US" sz="2400" dirty="0" smtClean="0"/>
              <a:t> by:</a:t>
            </a:r>
          </a:p>
          <a:p>
            <a:pPr lvl="1"/>
            <a:r>
              <a:rPr lang="en-US" sz="2000" dirty="0" smtClean="0"/>
              <a:t>eliminating </a:t>
            </a:r>
            <a:r>
              <a:rPr lang="en-US" sz="2000" i="1" dirty="0" smtClean="0">
                <a:solidFill>
                  <a:srgbClr val="C00000"/>
                </a:solidFill>
              </a:rPr>
              <a:t>unnecessary</a:t>
            </a:r>
            <a:r>
              <a:rPr lang="en-US" sz="2000" dirty="0" smtClean="0"/>
              <a:t> relationships between modules; </a:t>
            </a:r>
          </a:p>
          <a:p>
            <a:pPr lvl="1"/>
            <a:r>
              <a:rPr lang="en-US" sz="2000" dirty="0" smtClean="0"/>
              <a:t>reducing </a:t>
            </a:r>
            <a:r>
              <a:rPr lang="en-US" sz="2000" i="1" dirty="0" smtClean="0">
                <a:solidFill>
                  <a:srgbClr val="C00000"/>
                </a:solidFill>
              </a:rPr>
              <a:t>the number</a:t>
            </a:r>
            <a:r>
              <a:rPr lang="en-US" sz="2000" dirty="0" smtClean="0"/>
              <a:t> of necessary relationships; and </a:t>
            </a:r>
          </a:p>
          <a:p>
            <a:pPr lvl="1"/>
            <a:r>
              <a:rPr lang="en-US" sz="2000" dirty="0" smtClean="0"/>
              <a:t>easing </a:t>
            </a:r>
            <a:r>
              <a:rPr lang="en-US" sz="2000" i="1" dirty="0" smtClean="0">
                <a:solidFill>
                  <a:srgbClr val="C00000"/>
                </a:solidFill>
              </a:rPr>
              <a:t>the tightness</a:t>
            </a:r>
            <a:r>
              <a:rPr lang="en-US" sz="2000" dirty="0" smtClean="0"/>
              <a:t> of necessary relationships.</a:t>
            </a:r>
            <a:endParaRPr lang="en-US" sz="2000" dirty="0"/>
          </a:p>
        </p:txBody>
      </p: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828800"/>
            <a:ext cx="1744980" cy="3482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Two modules are </a:t>
            </a:r>
            <a:r>
              <a:rPr lang="en-US" sz="2400" i="1" dirty="0" smtClean="0">
                <a:solidFill>
                  <a:srgbClr val="C00000"/>
                </a:solidFill>
              </a:rPr>
              <a:t>data coupled</a:t>
            </a:r>
            <a:r>
              <a:rPr lang="en-US" sz="2400" dirty="0" smtClean="0"/>
              <a:t> if they communicate by </a:t>
            </a:r>
            <a:r>
              <a:rPr lang="en-US" sz="2400" u="sng" dirty="0" smtClean="0"/>
              <a:t>parameters</a:t>
            </a:r>
            <a:r>
              <a:rPr lang="en-US" sz="2400" dirty="0" smtClean="0"/>
              <a:t>, each parameter being an </a:t>
            </a:r>
            <a:r>
              <a:rPr lang="en-US" sz="2400" u="sng" dirty="0" smtClean="0"/>
              <a:t>elementary</a:t>
            </a:r>
            <a:r>
              <a:rPr lang="en-US" sz="2400" dirty="0" smtClean="0"/>
              <a:t> piece of data.</a:t>
            </a:r>
            <a:endParaRPr lang="en-US" sz="2400" dirty="0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447800"/>
            <a:ext cx="279273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Stamp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Two normally coupled modules are </a:t>
            </a:r>
            <a:r>
              <a:rPr lang="en-US" sz="2400" i="1" dirty="0" smtClean="0">
                <a:solidFill>
                  <a:srgbClr val="C00000"/>
                </a:solidFill>
              </a:rPr>
              <a:t>stamp coupled</a:t>
            </a:r>
            <a:r>
              <a:rPr lang="en-US" sz="2400" dirty="0" smtClean="0"/>
              <a:t> if one passes to the other a </a:t>
            </a:r>
            <a:r>
              <a:rPr lang="en-US" sz="2400" u="sng" dirty="0" smtClean="0"/>
              <a:t>composite</a:t>
            </a:r>
            <a:r>
              <a:rPr lang="en-US" sz="2400" dirty="0" smtClean="0"/>
              <a:t> piece of data, that is, a piece of data with meaningful </a:t>
            </a:r>
            <a:r>
              <a:rPr lang="en-US" sz="2400" u="sng" dirty="0" smtClean="0"/>
              <a:t>internal structure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752600"/>
            <a:ext cx="1687830" cy="431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Two modules are </a:t>
            </a:r>
            <a:r>
              <a:rPr lang="en-US" sz="2400" i="1" dirty="0" smtClean="0">
                <a:solidFill>
                  <a:srgbClr val="C00000"/>
                </a:solidFill>
              </a:rPr>
              <a:t>control coupled</a:t>
            </a:r>
            <a:r>
              <a:rPr lang="en-US" sz="2400" dirty="0" smtClean="0"/>
              <a:t> if one passes to the other a piece of </a:t>
            </a:r>
            <a:r>
              <a:rPr lang="en-US" sz="2400" u="sng" dirty="0" smtClean="0"/>
              <a:t>information intended to control the internal logic</a:t>
            </a:r>
            <a:r>
              <a:rPr lang="en-US" sz="2400" dirty="0" smtClean="0"/>
              <a:t> of the other.</a:t>
            </a:r>
            <a:endParaRPr lang="en-US" sz="2400" dirty="0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5940" y="1828800"/>
            <a:ext cx="284226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352800"/>
            <a:ext cx="2686050" cy="292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(Alias Global)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Two modules are </a:t>
            </a:r>
            <a:r>
              <a:rPr lang="en-US" sz="2400" i="1" dirty="0" smtClean="0">
                <a:solidFill>
                  <a:srgbClr val="C00000"/>
                </a:solidFill>
              </a:rPr>
              <a:t>common coupled</a:t>
            </a:r>
            <a:r>
              <a:rPr lang="en-US" sz="2400" dirty="0" smtClean="0"/>
              <a:t> if they refer to the same </a:t>
            </a:r>
            <a:r>
              <a:rPr lang="en-US" sz="2400" u="sng" dirty="0" smtClean="0"/>
              <a:t>global data</a:t>
            </a:r>
            <a:r>
              <a:rPr lang="en-US" sz="2400" dirty="0" smtClean="0"/>
              <a:t> area.</a:t>
            </a:r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667000"/>
            <a:ext cx="4476750" cy="328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Coupling: Brain Teaser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Brain Teaser: Who's joined to whom-and by what?</a:t>
            </a:r>
            <a:endParaRPr lang="en-US" sz="2400" dirty="0"/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590800"/>
            <a:ext cx="4587240" cy="3703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Database Coupling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Database coupling also </a:t>
            </a:r>
            <a:r>
              <a:rPr lang="en-US" sz="1800" i="1" dirty="0" smtClean="0">
                <a:solidFill>
                  <a:srgbClr val="C00000"/>
                </a:solidFill>
              </a:rPr>
              <a:t>differs</a:t>
            </a:r>
            <a:r>
              <a:rPr lang="en-US" sz="1800" dirty="0" smtClean="0"/>
              <a:t> from common coupling in three significant ways.</a:t>
            </a:r>
          </a:p>
          <a:p>
            <a:r>
              <a:rPr lang="en-US" sz="1800" dirty="0" smtClean="0"/>
              <a:t>Databases are </a:t>
            </a:r>
            <a:r>
              <a:rPr lang="en-US" sz="1800" i="1" dirty="0" smtClean="0">
                <a:solidFill>
                  <a:srgbClr val="C00000"/>
                </a:solidFill>
              </a:rPr>
              <a:t>nonvolatile</a:t>
            </a:r>
            <a:r>
              <a:rPr lang="en-US" sz="1800" dirty="0" smtClean="0"/>
              <a:t>. Their contents can be inspected for correctness by, for instance, database auditing software.</a:t>
            </a:r>
          </a:p>
          <a:p>
            <a:r>
              <a:rPr lang="en-US" sz="1800" dirty="0" smtClean="0"/>
              <a:t>Databases are (or should be!) designed with </a:t>
            </a:r>
            <a:r>
              <a:rPr lang="en-US" sz="1800" i="1" dirty="0" smtClean="0">
                <a:solidFill>
                  <a:srgbClr val="C00000"/>
                </a:solidFill>
              </a:rPr>
              <a:t>consummate discipline</a:t>
            </a:r>
            <a:r>
              <a:rPr lang="en-US" sz="1800" dirty="0" smtClean="0"/>
              <a:t>. They are not arbitrary areas of data but contain well-defined, application-oriented objects with specific integrity rules.</a:t>
            </a:r>
          </a:p>
          <a:p>
            <a:r>
              <a:rPr lang="en-US" sz="1800" dirty="0" smtClean="0"/>
              <a:t>A given transaction does </a:t>
            </a:r>
            <a:r>
              <a:rPr lang="en-US" sz="1800" u="sng" dirty="0" smtClean="0"/>
              <a:t>not</a:t>
            </a:r>
            <a:r>
              <a:rPr lang="en-US" sz="1800" dirty="0" smtClean="0"/>
              <a:t> randomly attract </a:t>
            </a:r>
            <a:r>
              <a:rPr lang="en-US" sz="1800" u="sng" dirty="0" smtClean="0"/>
              <a:t>large areas</a:t>
            </a:r>
            <a:r>
              <a:rPr lang="en-US" sz="1800" dirty="0" smtClean="0"/>
              <a:t> of the database. It creates, deletes, modifies, or reads only the </a:t>
            </a:r>
            <a:r>
              <a:rPr lang="en-US" sz="1800" i="1" dirty="0" smtClean="0">
                <a:solidFill>
                  <a:srgbClr val="C00000"/>
                </a:solidFill>
              </a:rPr>
              <a:t>specific objects</a:t>
            </a:r>
            <a:r>
              <a:rPr lang="en-US" sz="1800" dirty="0" smtClean="0"/>
              <a:t> that it needs in order to carry out its function.</a:t>
            </a:r>
            <a:endParaRPr lang="en-US" sz="1800" dirty="0"/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9640" y="2133600"/>
            <a:ext cx="4023360" cy="357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 smtClean="0"/>
              <a:t>Content (Alias Pathological) Coupling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Two modules exhibit </a:t>
            </a:r>
            <a:r>
              <a:rPr lang="en-US" sz="2400" i="1" dirty="0" smtClean="0">
                <a:solidFill>
                  <a:srgbClr val="C00000"/>
                </a:solidFill>
              </a:rPr>
              <a:t>content coupling</a:t>
            </a:r>
            <a:r>
              <a:rPr lang="en-US" sz="2400" dirty="0" smtClean="0"/>
              <a:t> if one refers to </a:t>
            </a:r>
            <a:r>
              <a:rPr lang="en-US" sz="2400" u="sng" dirty="0" smtClean="0"/>
              <a:t>the inside</a:t>
            </a:r>
            <a:r>
              <a:rPr lang="en-US" sz="2400" dirty="0" smtClean="0"/>
              <a:t> of the other in any way-for instance, </a:t>
            </a:r>
          </a:p>
          <a:p>
            <a:pPr lvl="1"/>
            <a:r>
              <a:rPr lang="en-US" sz="2000" dirty="0" smtClean="0"/>
              <a:t>if one module </a:t>
            </a:r>
            <a:r>
              <a:rPr lang="en-US" sz="2000" u="sng" dirty="0" smtClean="0"/>
              <a:t>branches</a:t>
            </a:r>
            <a:r>
              <a:rPr lang="en-US" sz="2000" dirty="0" smtClean="0"/>
              <a:t> or falls through into another, </a:t>
            </a:r>
          </a:p>
          <a:p>
            <a:pPr lvl="1"/>
            <a:r>
              <a:rPr lang="en-US" sz="2000" dirty="0" smtClean="0"/>
              <a:t>if one module refers to (or changes) </a:t>
            </a:r>
            <a:r>
              <a:rPr lang="en-US" sz="2000" u="sng" dirty="0" smtClean="0"/>
              <a:t>data</a:t>
            </a:r>
            <a:r>
              <a:rPr lang="en-US" sz="2000" dirty="0" smtClean="0"/>
              <a:t> within another, or </a:t>
            </a:r>
          </a:p>
          <a:p>
            <a:pPr lvl="1"/>
            <a:r>
              <a:rPr lang="en-US" sz="2000" dirty="0" smtClean="0"/>
              <a:t>if one module alters a </a:t>
            </a:r>
            <a:r>
              <a:rPr lang="en-US" sz="2000" u="sng" dirty="0" smtClean="0"/>
              <a:t>statement</a:t>
            </a:r>
            <a:r>
              <a:rPr lang="en-US" sz="2000" dirty="0" smtClean="0"/>
              <a:t> in another.</a:t>
            </a:r>
            <a:endParaRPr lang="en-US" sz="2000" dirty="0"/>
          </a:p>
        </p:txBody>
      </p:sp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600200"/>
            <a:ext cx="3078480" cy="471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Cohesion</a:t>
            </a:r>
            <a:r>
              <a:rPr lang="en-US" sz="2000" dirty="0" smtClean="0"/>
              <a:t> is the </a:t>
            </a:r>
            <a:r>
              <a:rPr lang="en-US" sz="2000" u="sng" dirty="0" smtClean="0"/>
              <a:t>measure of the functional relatedness of elements</a:t>
            </a:r>
            <a:r>
              <a:rPr lang="en-US" sz="2000" dirty="0" smtClean="0"/>
              <a:t> (instructions, data definitions, etc.) within a single module.</a:t>
            </a:r>
          </a:p>
          <a:p>
            <a:r>
              <a:rPr lang="en-US" sz="2000" dirty="0" smtClean="0"/>
              <a:t>In a good design, the cohesion of every module is high.</a:t>
            </a:r>
          </a:p>
          <a:p>
            <a:r>
              <a:rPr lang="en-US" sz="2000" dirty="0" smtClean="0"/>
              <a:t>A module may exhibit any of </a:t>
            </a:r>
            <a:r>
              <a:rPr lang="en-US" sz="2000" i="1" dirty="0" smtClean="0">
                <a:solidFill>
                  <a:srgbClr val="C00000"/>
                </a:solidFill>
              </a:rPr>
              <a:t>seven levels of cohesion</a:t>
            </a:r>
            <a:r>
              <a:rPr lang="en-US" sz="2000" dirty="0" smtClean="0"/>
              <a:t> depending on how the activities within the module are related.</a:t>
            </a:r>
            <a:endParaRPr lang="en-US" sz="2000" dirty="0"/>
          </a:p>
        </p:txBody>
      </p:sp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429000"/>
            <a:ext cx="8096250" cy="3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functionally cohesive</a:t>
            </a:r>
            <a:r>
              <a:rPr lang="en-US" sz="2400" dirty="0" smtClean="0"/>
              <a:t> module contains elements that all contribute to the execution of </a:t>
            </a:r>
            <a:r>
              <a:rPr lang="en-US" sz="2400" u="sng" dirty="0" smtClean="0"/>
              <a:t>one and only one problem-related task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of these modules has a strong, </a:t>
            </a:r>
            <a:r>
              <a:rPr lang="en-US" sz="2400" i="1" dirty="0" smtClean="0">
                <a:solidFill>
                  <a:srgbClr val="C00000"/>
                </a:solidFill>
              </a:rPr>
              <a:t>single-minded purpose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When its boss calls it, it carries out just </a:t>
            </a:r>
            <a:r>
              <a:rPr lang="en-US" sz="2400" i="1" dirty="0" smtClean="0">
                <a:solidFill>
                  <a:srgbClr val="C00000"/>
                </a:solidFill>
              </a:rPr>
              <a:t>one job</a:t>
            </a:r>
            <a:r>
              <a:rPr lang="en-US" sz="2400" dirty="0" smtClean="0"/>
              <a:t> to completion without getting involved in any extracurricular activity.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2057400" y="4191000"/>
            <a:ext cx="52578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COMPUTE COSINE OF ANGLE</a:t>
            </a:r>
          </a:p>
          <a:p>
            <a:r>
              <a:rPr lang="en-US" dirty="0" smtClean="0">
                <a:latin typeface="Consolas" pitchFamily="49" charset="0"/>
              </a:rPr>
              <a:t>VERIFY ALPHABETIC SYNTAX</a:t>
            </a:r>
          </a:p>
          <a:p>
            <a:r>
              <a:rPr lang="en-US" dirty="0" smtClean="0">
                <a:latin typeface="Consolas" pitchFamily="49" charset="0"/>
              </a:rPr>
              <a:t>READ TRANSACTION RECORD</a:t>
            </a:r>
          </a:p>
          <a:p>
            <a:r>
              <a:rPr lang="en-US" dirty="0" smtClean="0">
                <a:latin typeface="Consolas" pitchFamily="49" charset="0"/>
              </a:rPr>
              <a:t>DETERMINE CUSTOMER MORTGAGE REPAYMENT</a:t>
            </a:r>
          </a:p>
          <a:p>
            <a:r>
              <a:rPr lang="en-US" dirty="0" smtClean="0">
                <a:latin typeface="Consolas" pitchFamily="49" charset="0"/>
              </a:rPr>
              <a:t>COMPUTE POINT OF IMP ACT OF MISSILE</a:t>
            </a:r>
          </a:p>
          <a:p>
            <a:r>
              <a:rPr lang="en-US" dirty="0" smtClean="0">
                <a:latin typeface="Consolas" pitchFamily="49" charset="0"/>
              </a:rPr>
              <a:t>CALCULATE NET EMPLOYEE SALARY</a:t>
            </a:r>
          </a:p>
          <a:p>
            <a:r>
              <a:rPr lang="en-US" dirty="0" smtClean="0">
                <a:latin typeface="Consolas" pitchFamily="49" charset="0"/>
              </a:rPr>
              <a:t>ASSIGN SEAT TO AIRLINE CUSTOMER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Sequential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sequentially cohesive</a:t>
            </a:r>
            <a:r>
              <a:rPr lang="en-US" sz="2200" dirty="0" smtClean="0"/>
              <a:t> module is one whose elements are involved in activities such that </a:t>
            </a:r>
            <a:r>
              <a:rPr lang="en-US" sz="2200" u="sng" dirty="0" smtClean="0"/>
              <a:t>output</a:t>
            </a:r>
            <a:r>
              <a:rPr lang="en-US" sz="2200" dirty="0" smtClean="0"/>
              <a:t> data from one activity serves as </a:t>
            </a:r>
            <a:r>
              <a:rPr lang="en-US" sz="2200" u="sng" dirty="0" smtClean="0"/>
              <a:t>input</a:t>
            </a:r>
            <a:r>
              <a:rPr lang="en-US" sz="2200" dirty="0" smtClean="0"/>
              <a:t> data to the next.</a:t>
            </a:r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/>
              <a:t>This group of four activities </a:t>
            </a:r>
            <a:r>
              <a:rPr lang="en-US" sz="2200" u="sng" dirty="0" smtClean="0"/>
              <a:t>cannot</a:t>
            </a:r>
            <a:r>
              <a:rPr lang="en-US" sz="2200" dirty="0" smtClean="0"/>
              <a:t> be summed up as </a:t>
            </a:r>
            <a:r>
              <a:rPr lang="en-US" sz="2200" i="1" dirty="0" smtClean="0">
                <a:solidFill>
                  <a:srgbClr val="C00000"/>
                </a:solidFill>
              </a:rPr>
              <a:t>a single function</a:t>
            </a:r>
            <a:r>
              <a:rPr lang="en-US" sz="2200" dirty="0" smtClean="0"/>
              <a:t>, which means the "module" is not functionally cohesive.</a:t>
            </a:r>
          </a:p>
          <a:p>
            <a:r>
              <a:rPr lang="en-US" sz="2200" dirty="0" smtClean="0"/>
              <a:t>If we added a fifth step, PUT ON FINAL COAT, we would have a functionally cohesive module called REPAINT CAR.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2362200" y="3048000"/>
            <a:ext cx="4572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1. CLEAN CAR BODY</a:t>
            </a:r>
          </a:p>
          <a:p>
            <a:r>
              <a:rPr lang="en-US" dirty="0" smtClean="0">
                <a:latin typeface="Consolas" pitchFamily="49" charset="0"/>
              </a:rPr>
              <a:t>2. FILL IN HOLES IN CAR</a:t>
            </a:r>
          </a:p>
          <a:p>
            <a:r>
              <a:rPr lang="en-US" dirty="0" smtClean="0">
                <a:latin typeface="Consolas" pitchFamily="49" charset="0"/>
              </a:rPr>
              <a:t>3. SAND CAR BODY</a:t>
            </a:r>
          </a:p>
          <a:p>
            <a:r>
              <a:rPr lang="en-US" dirty="0" smtClean="0">
                <a:latin typeface="Consolas" pitchFamily="49" charset="0"/>
              </a:rPr>
              <a:t>4. APPLY PRIMER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err="1" smtClean="0">
                <a:solidFill>
                  <a:srgbClr val="C00000"/>
                </a:solidFill>
              </a:rPr>
              <a:t>communicationally</a:t>
            </a:r>
            <a:r>
              <a:rPr lang="en-US" sz="2400" i="1" dirty="0" smtClean="0">
                <a:solidFill>
                  <a:srgbClr val="C00000"/>
                </a:solidFill>
              </a:rPr>
              <a:t> cohesive</a:t>
            </a:r>
            <a:r>
              <a:rPr lang="en-US" sz="2400" dirty="0" smtClean="0"/>
              <a:t> module is one whose elements contribute to activities that use </a:t>
            </a:r>
            <a:r>
              <a:rPr lang="en-US" sz="2400" u="sng" dirty="0" smtClean="0"/>
              <a:t>the same input</a:t>
            </a:r>
            <a:r>
              <a:rPr lang="en-US" sz="2400" dirty="0" smtClean="0"/>
              <a:t> or </a:t>
            </a:r>
            <a:r>
              <a:rPr lang="en-US" sz="2400" u="sng" dirty="0" smtClean="0"/>
              <a:t>output data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These four activities are related because they all work on </a:t>
            </a:r>
            <a:r>
              <a:rPr lang="en-US" sz="2400" i="1" dirty="0" smtClean="0">
                <a:solidFill>
                  <a:srgbClr val="C00000"/>
                </a:solidFill>
              </a:rPr>
              <a:t>the same input data</a:t>
            </a:r>
            <a:r>
              <a:rPr lang="en-US" sz="2400" dirty="0" smtClean="0"/>
              <a:t>, the book, which makes the "module" </a:t>
            </a:r>
            <a:r>
              <a:rPr lang="en-US" sz="2400" dirty="0" err="1" smtClean="0"/>
              <a:t>communicationally</a:t>
            </a:r>
            <a:r>
              <a:rPr lang="en-US" sz="2400" dirty="0" smtClean="0"/>
              <a:t> cohesive.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2362200" y="3048000"/>
            <a:ext cx="4572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1. FIND TITLE OF BOOK</a:t>
            </a:r>
          </a:p>
          <a:p>
            <a:r>
              <a:rPr lang="en-US" dirty="0" smtClean="0">
                <a:latin typeface="Consolas" pitchFamily="49" charset="0"/>
              </a:rPr>
              <a:t>2. FIND PRICE OF BOOK</a:t>
            </a:r>
          </a:p>
          <a:p>
            <a:r>
              <a:rPr lang="en-US" dirty="0" smtClean="0">
                <a:latin typeface="Consolas" pitchFamily="49" charset="0"/>
              </a:rPr>
              <a:t>3. FIND PUBLISHER OF BOOK</a:t>
            </a:r>
          </a:p>
          <a:p>
            <a:r>
              <a:rPr lang="en-US" dirty="0" smtClean="0">
                <a:latin typeface="Consolas" pitchFamily="49" charset="0"/>
              </a:rPr>
              <a:t>4. FIND AUTHOR OF BOOK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smtClean="0"/>
              <a:t>A </a:t>
            </a:r>
            <a:r>
              <a:rPr lang="en-US" sz="1800" i="1" dirty="0" smtClean="0">
                <a:solidFill>
                  <a:srgbClr val="C00000"/>
                </a:solidFill>
              </a:rPr>
              <a:t>procedurally cohesive</a:t>
            </a:r>
            <a:r>
              <a:rPr lang="en-US" sz="1800" dirty="0" smtClean="0"/>
              <a:t> module is one whose elements are </a:t>
            </a:r>
            <a:r>
              <a:rPr lang="en-US" sz="1800" u="sng" dirty="0" smtClean="0"/>
              <a:t>involved in different and possibly unrelated activities</a:t>
            </a:r>
            <a:r>
              <a:rPr lang="en-US" sz="1800" dirty="0" smtClean="0"/>
              <a:t> in which control flows from each activity to the next. They are related by order of execution rather than by any </a:t>
            </a:r>
            <a:r>
              <a:rPr lang="en-US" sz="1800" i="1" dirty="0" smtClean="0">
                <a:solidFill>
                  <a:srgbClr val="C00000"/>
                </a:solidFill>
              </a:rPr>
              <a:t>single problem-related function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A procedurally cohesive module that averages two completely unrelated tables, TABLE-A and TABLE-B, which both </a:t>
            </a:r>
            <a:r>
              <a:rPr lang="en-US" sz="1800" i="1" dirty="0" smtClean="0">
                <a:solidFill>
                  <a:srgbClr val="C00000"/>
                </a:solidFill>
              </a:rPr>
              <a:t>just happen</a:t>
            </a:r>
            <a:r>
              <a:rPr lang="en-US" sz="1800" dirty="0" smtClean="0"/>
              <a:t> to have 100 elements each.</a:t>
            </a:r>
            <a:endParaRPr lang="en-US" sz="1800" dirty="0"/>
          </a:p>
        </p:txBody>
      </p:sp>
      <p:sp>
        <p:nvSpPr>
          <p:cNvPr id="6" name="Rectangle 5"/>
          <p:cNvSpPr/>
          <p:nvPr/>
        </p:nvSpPr>
        <p:spPr>
          <a:xfrm>
            <a:off x="609600" y="3506212"/>
            <a:ext cx="5867400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/>
              <a:t>module</a:t>
            </a:r>
            <a:r>
              <a:rPr lang="en-US" sz="1600" dirty="0" smtClean="0"/>
              <a:t> compute table-A-</a:t>
            </a:r>
            <a:r>
              <a:rPr lang="en-US" sz="1600" dirty="0" err="1" smtClean="0"/>
              <a:t>avg</a:t>
            </a:r>
            <a:r>
              <a:rPr lang="en-US" sz="1600" dirty="0" smtClean="0"/>
              <a:t> and table-B-</a:t>
            </a:r>
            <a:r>
              <a:rPr lang="en-US" sz="1600" dirty="0" err="1" smtClean="0"/>
              <a:t>avg</a:t>
            </a:r>
            <a:endParaRPr lang="en-US" sz="1600" dirty="0" smtClean="0"/>
          </a:p>
          <a:p>
            <a:r>
              <a:rPr lang="en-US" sz="1600" b="1" dirty="0" smtClean="0"/>
              <a:t>	uses</a:t>
            </a:r>
            <a:r>
              <a:rPr lang="en-US" sz="1600" dirty="0" smtClean="0"/>
              <a:t> table-A, table-B</a:t>
            </a:r>
          </a:p>
          <a:p>
            <a:r>
              <a:rPr lang="en-US" sz="1600" b="1" dirty="0" smtClean="0"/>
              <a:t>	returns</a:t>
            </a:r>
            <a:r>
              <a:rPr lang="en-US" sz="1600" dirty="0" smtClean="0"/>
              <a:t> table-A-</a:t>
            </a:r>
            <a:r>
              <a:rPr lang="en-US" sz="1600" dirty="0" err="1" smtClean="0"/>
              <a:t>avg</a:t>
            </a:r>
            <a:r>
              <a:rPr lang="en-US" sz="1600" dirty="0" smtClean="0"/>
              <a:t>, table-B-</a:t>
            </a:r>
            <a:r>
              <a:rPr lang="en-US" sz="1600" dirty="0" err="1" smtClean="0"/>
              <a:t>avg</a:t>
            </a:r>
            <a:endParaRPr lang="en-US" sz="1600" dirty="0" smtClean="0"/>
          </a:p>
          <a:p>
            <a:r>
              <a:rPr lang="en-US" sz="1600" dirty="0" smtClean="0"/>
              <a:t>		table-A-total : = 0</a:t>
            </a:r>
          </a:p>
          <a:p>
            <a:r>
              <a:rPr lang="en-US" sz="1600" dirty="0" smtClean="0"/>
              <a:t>		table-B-total : = 0</a:t>
            </a:r>
          </a:p>
          <a:p>
            <a:r>
              <a:rPr lang="en-US" sz="1600" dirty="0" smtClean="0"/>
              <a:t>		for </a:t>
            </a:r>
            <a:r>
              <a:rPr lang="en-US" sz="1600" dirty="0" err="1" smtClean="0"/>
              <a:t>i</a:t>
            </a:r>
            <a:r>
              <a:rPr lang="en-US" sz="1600" dirty="0" smtClean="0"/>
              <a:t> = </a:t>
            </a:r>
            <a:r>
              <a:rPr lang="en-US" sz="1600" dirty="0" err="1" smtClean="0"/>
              <a:t>i</a:t>
            </a:r>
            <a:r>
              <a:rPr lang="en-US" sz="1600" dirty="0" smtClean="0"/>
              <a:t> to 100</a:t>
            </a:r>
          </a:p>
          <a:p>
            <a:r>
              <a:rPr lang="en-US" sz="1600" dirty="0" smtClean="0"/>
              <a:t>			add table-A (</a:t>
            </a:r>
            <a:r>
              <a:rPr lang="en-US" sz="1600" dirty="0" err="1" smtClean="0"/>
              <a:t>i</a:t>
            </a:r>
            <a:r>
              <a:rPr lang="en-US" sz="1600" dirty="0" smtClean="0"/>
              <a:t>) to table-A-total</a:t>
            </a:r>
          </a:p>
          <a:p>
            <a:r>
              <a:rPr lang="en-US" sz="1600" dirty="0" smtClean="0"/>
              <a:t>			add table-B (</a:t>
            </a:r>
            <a:r>
              <a:rPr lang="en-US" sz="1600" dirty="0" err="1" smtClean="0"/>
              <a:t>i</a:t>
            </a:r>
            <a:r>
              <a:rPr lang="en-US" sz="1600" dirty="0" smtClean="0"/>
              <a:t>) to table-B-total</a:t>
            </a:r>
          </a:p>
          <a:p>
            <a:r>
              <a:rPr lang="en-US" sz="1600" dirty="0" smtClean="0"/>
              <a:t>		</a:t>
            </a:r>
            <a:r>
              <a:rPr lang="en-US" sz="1600" dirty="0" err="1" smtClean="0"/>
              <a:t>endfor</a:t>
            </a:r>
            <a:endParaRPr lang="en-US" sz="1600" dirty="0" smtClean="0"/>
          </a:p>
          <a:p>
            <a:r>
              <a:rPr lang="en-US" sz="1600" dirty="0" smtClean="0"/>
              <a:t>		table-A-</a:t>
            </a:r>
            <a:r>
              <a:rPr lang="en-US" sz="1600" dirty="0" err="1" smtClean="0"/>
              <a:t>avg</a:t>
            </a:r>
            <a:r>
              <a:rPr lang="en-US" sz="1600" dirty="0" smtClean="0"/>
              <a:t> : = table-A-total/100</a:t>
            </a:r>
          </a:p>
          <a:p>
            <a:r>
              <a:rPr lang="en-US" sz="1600" dirty="0" smtClean="0"/>
              <a:t>		table-B-</a:t>
            </a:r>
            <a:r>
              <a:rPr lang="en-US" sz="1600" dirty="0" err="1" smtClean="0"/>
              <a:t>avg</a:t>
            </a:r>
            <a:r>
              <a:rPr lang="en-US" sz="1600" dirty="0" smtClean="0"/>
              <a:t> : = table-B-total/100</a:t>
            </a:r>
          </a:p>
          <a:p>
            <a:r>
              <a:rPr lang="en-US" sz="1600" b="1" dirty="0" err="1" smtClean="0"/>
              <a:t>endmodule</a:t>
            </a:r>
            <a:endParaRPr lang="en-US" sz="1600" b="1" dirty="0">
              <a:latin typeface="Consolas" pitchFamily="49" charset="0"/>
            </a:endParaRPr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779520"/>
            <a:ext cx="2122170" cy="2392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Temporal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temporally cohesive</a:t>
            </a:r>
            <a:r>
              <a:rPr lang="en-US" sz="2200" dirty="0" smtClean="0"/>
              <a:t> module is one whose elements are involved in activities that are </a:t>
            </a:r>
            <a:r>
              <a:rPr lang="en-US" sz="2200" u="sng" dirty="0" smtClean="0"/>
              <a:t>related in time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914400" y="2679680"/>
            <a:ext cx="51054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 initialize</a:t>
            </a:r>
          </a:p>
          <a:p>
            <a:r>
              <a:rPr lang="en-US" b="1" dirty="0" smtClean="0"/>
              <a:t>	updates</a:t>
            </a:r>
            <a:r>
              <a:rPr lang="en-US" dirty="0" smtClean="0"/>
              <a:t> a-counter, b-counter, items table,</a:t>
            </a:r>
          </a:p>
          <a:p>
            <a:r>
              <a:rPr lang="en-US" dirty="0" smtClean="0"/>
              <a:t>		totals table, switch-a, switch-b</a:t>
            </a:r>
          </a:p>
          <a:p>
            <a:pPr lvl="2"/>
            <a:r>
              <a:rPr lang="en-US" b="1" dirty="0" smtClean="0"/>
              <a:t>rewind</a:t>
            </a:r>
            <a:r>
              <a:rPr lang="en-US" dirty="0" smtClean="0"/>
              <a:t> tape-a</a:t>
            </a:r>
          </a:p>
          <a:p>
            <a:pPr lvl="2"/>
            <a:r>
              <a:rPr lang="en-US" b="1" dirty="0" smtClean="0"/>
              <a:t>set</a:t>
            </a:r>
            <a:r>
              <a:rPr lang="en-US" dirty="0" smtClean="0"/>
              <a:t> a-counter </a:t>
            </a:r>
            <a:r>
              <a:rPr lang="en-US" b="1" dirty="0" smtClean="0"/>
              <a:t>to</a:t>
            </a:r>
            <a:r>
              <a:rPr lang="en-US" dirty="0" smtClean="0"/>
              <a:t> 0</a:t>
            </a:r>
          </a:p>
          <a:p>
            <a:pPr lvl="2"/>
            <a:r>
              <a:rPr lang="en-US" b="1" dirty="0" smtClean="0"/>
              <a:t>rewind</a:t>
            </a:r>
            <a:r>
              <a:rPr lang="en-US" dirty="0" smtClean="0"/>
              <a:t> tape-b</a:t>
            </a:r>
          </a:p>
          <a:p>
            <a:pPr lvl="2"/>
            <a:r>
              <a:rPr lang="en-US" b="1" dirty="0" smtClean="0"/>
              <a:t>set</a:t>
            </a:r>
            <a:r>
              <a:rPr lang="en-US" dirty="0" smtClean="0"/>
              <a:t> b-counter </a:t>
            </a:r>
            <a:r>
              <a:rPr lang="en-US" b="1" dirty="0" smtClean="0"/>
              <a:t>to</a:t>
            </a:r>
            <a:r>
              <a:rPr lang="en-US" dirty="0" smtClean="0"/>
              <a:t> 0</a:t>
            </a:r>
          </a:p>
          <a:p>
            <a:pPr lvl="2"/>
            <a:r>
              <a:rPr lang="en-US" b="1" dirty="0" smtClean="0"/>
              <a:t>clear</a:t>
            </a:r>
            <a:r>
              <a:rPr lang="en-US" dirty="0" smtClean="0"/>
              <a:t> items table</a:t>
            </a:r>
          </a:p>
          <a:p>
            <a:pPr lvl="2"/>
            <a:r>
              <a:rPr lang="en-US" b="1" dirty="0" smtClean="0"/>
              <a:t>clear</a:t>
            </a:r>
            <a:r>
              <a:rPr lang="en-US" dirty="0" smtClean="0"/>
              <a:t> totals table</a:t>
            </a:r>
          </a:p>
          <a:p>
            <a:pPr lvl="2"/>
            <a:r>
              <a:rPr lang="en-US" b="1" dirty="0" smtClean="0"/>
              <a:t>set</a:t>
            </a:r>
            <a:r>
              <a:rPr lang="en-US" dirty="0" smtClean="0"/>
              <a:t> switch-a to </a:t>
            </a:r>
            <a:r>
              <a:rPr lang="en-US" b="1" dirty="0" smtClean="0"/>
              <a:t>off</a:t>
            </a:r>
          </a:p>
          <a:p>
            <a:pPr lvl="2"/>
            <a:r>
              <a:rPr lang="en-US" b="1" dirty="0" smtClean="0"/>
              <a:t>set</a:t>
            </a:r>
            <a:r>
              <a:rPr lang="en-US" dirty="0" smtClean="0"/>
              <a:t> switch-b to </a:t>
            </a:r>
            <a:r>
              <a:rPr lang="en-US" b="1" dirty="0" smtClean="0"/>
              <a:t>on</a:t>
            </a:r>
          </a:p>
          <a:p>
            <a:r>
              <a:rPr lang="en-US" b="1" dirty="0" err="1" smtClean="0"/>
              <a:t>endmodule</a:t>
            </a:r>
            <a:endParaRPr lang="en-US" b="1" dirty="0">
              <a:latin typeface="Consolas" pitchFamily="49" charset="0"/>
            </a:endParaRPr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971800"/>
            <a:ext cx="169164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logically cohesive</a:t>
            </a:r>
            <a:r>
              <a:rPr lang="en-US" sz="2400" dirty="0" smtClean="0"/>
              <a:t> module is one whose </a:t>
            </a:r>
            <a:r>
              <a:rPr lang="en-US" sz="2400" u="sng" dirty="0" smtClean="0"/>
              <a:t>elements</a:t>
            </a:r>
            <a:r>
              <a:rPr lang="en-US" sz="2400" dirty="0" smtClean="0"/>
              <a:t> contribute to activities of </a:t>
            </a:r>
            <a:r>
              <a:rPr lang="en-US" sz="2400" u="sng" dirty="0" smtClean="0"/>
              <a:t>the same general category</a:t>
            </a:r>
            <a:r>
              <a:rPr lang="en-US" sz="2400" dirty="0" smtClean="0"/>
              <a:t> in which the activity or activities to be executed are selected from outside the module.</a:t>
            </a:r>
          </a:p>
          <a:p>
            <a:r>
              <a:rPr lang="en-US" sz="2400" dirty="0" smtClean="0"/>
              <a:t>A logically cohesive module contains a number of activities of the same general kind.</a:t>
            </a:r>
          </a:p>
          <a:p>
            <a:r>
              <a:rPr lang="en-US" sz="2400" dirty="0" smtClean="0"/>
              <a:t>To use the module, we pick out just the piece(s) we need.</a:t>
            </a:r>
          </a:p>
          <a:p>
            <a:r>
              <a:rPr lang="en-US" sz="2400" dirty="0" smtClean="0"/>
              <a:t>Thus, a logically cohesive module is </a:t>
            </a:r>
            <a:r>
              <a:rPr lang="en-US" sz="2400" i="1" dirty="0" smtClean="0">
                <a:solidFill>
                  <a:srgbClr val="C00000"/>
                </a:solidFill>
              </a:rPr>
              <a:t>a grab bag of activities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activities, although different, are forced to share the one and only interface to the module.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Coincidental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coincidentally cohesive</a:t>
            </a:r>
            <a:r>
              <a:rPr lang="en-US" sz="2400" dirty="0" smtClean="0"/>
              <a:t> module is one whose elements contribute to activities with </a:t>
            </a:r>
            <a:r>
              <a:rPr lang="en-US" sz="2400" u="sng" dirty="0" smtClean="0"/>
              <a:t>no meaningful relationship</a:t>
            </a:r>
            <a:r>
              <a:rPr lang="en-US" sz="2400" dirty="0" smtClean="0"/>
              <a:t> to one another. Its activities are related neither by flow of data nor by flow of control.</a:t>
            </a:r>
          </a:p>
          <a:p>
            <a:r>
              <a:rPr lang="en-US" sz="2400" dirty="0" smtClean="0"/>
              <a:t>Coincidental cohesion, fortunately, is rare. Among its causes are the misguided attempts of morons </a:t>
            </a:r>
            <a:r>
              <a:rPr lang="en-US" sz="2400" i="1" dirty="0" smtClean="0">
                <a:solidFill>
                  <a:srgbClr val="C00000"/>
                </a:solidFill>
              </a:rPr>
              <a:t>to save time or memory (both usually unsuccessful)</a:t>
            </a:r>
            <a:r>
              <a:rPr lang="en-US" sz="2400" dirty="0" smtClean="0"/>
              <a:t>; the </a:t>
            </a:r>
            <a:r>
              <a:rPr lang="en-US" sz="2400" i="1" dirty="0" smtClean="0">
                <a:solidFill>
                  <a:srgbClr val="C00000"/>
                </a:solidFill>
              </a:rPr>
              <a:t>shoveling of existing monolithic code</a:t>
            </a:r>
            <a:r>
              <a:rPr lang="en-US" sz="2400" dirty="0" smtClean="0"/>
              <a:t> arbitrarily into modules; and the ill-considered </a:t>
            </a:r>
            <a:r>
              <a:rPr lang="en-US" sz="2400" i="1" dirty="0" smtClean="0">
                <a:solidFill>
                  <a:srgbClr val="C00000"/>
                </a:solidFill>
              </a:rPr>
              <a:t>maintenance changes</a:t>
            </a:r>
            <a:r>
              <a:rPr lang="en-US" sz="2400" dirty="0" smtClean="0"/>
              <a:t> to modules with mediocre (typically temporal) cohesion, leading to the addition of flags.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Determining Module Cohesion</a:t>
            </a:r>
            <a:endParaRPr lang="en-US" dirty="0"/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447800"/>
            <a:ext cx="6027420" cy="476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Structural Design Process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structural-design process</a:t>
            </a:r>
            <a:r>
              <a:rPr lang="en-US" sz="2000" dirty="0" smtClean="0"/>
              <a:t> follows the </a:t>
            </a:r>
            <a:r>
              <a:rPr lang="en-US" sz="2000" u="sng" dirty="0" smtClean="0"/>
              <a:t>external-design process</a:t>
            </a:r>
            <a:r>
              <a:rPr lang="en-US" sz="2000" dirty="0" smtClean="0"/>
              <a:t> (specifying the external characteristics of the program or system) and precedes the </a:t>
            </a:r>
            <a:r>
              <a:rPr lang="en-US" sz="2000" u="sng" dirty="0" smtClean="0"/>
              <a:t>module design processes</a:t>
            </a:r>
            <a:r>
              <a:rPr lang="en-US" sz="2000" dirty="0" smtClean="0"/>
              <a:t> (precisely defining the interface and logic of each module).</a:t>
            </a:r>
          </a:p>
          <a:p>
            <a:r>
              <a:rPr lang="en-US" sz="2000" dirty="0" smtClean="0"/>
              <a:t>There are </a:t>
            </a:r>
            <a:r>
              <a:rPr lang="en-US" sz="2000" i="1" dirty="0" smtClean="0">
                <a:solidFill>
                  <a:srgbClr val="C00000"/>
                </a:solidFill>
              </a:rPr>
              <a:t>three steps</a:t>
            </a:r>
            <a:r>
              <a:rPr lang="en-US" sz="2000" dirty="0" smtClean="0"/>
              <a:t> in the structural design process:</a:t>
            </a:r>
          </a:p>
          <a:p>
            <a:pPr lvl="1"/>
            <a:r>
              <a:rPr lang="en-US" sz="1600" dirty="0" smtClean="0"/>
              <a:t>Starting with the </a:t>
            </a:r>
            <a:r>
              <a:rPr lang="en-US" sz="1600" i="1" dirty="0" smtClean="0">
                <a:solidFill>
                  <a:srgbClr val="C00000"/>
                </a:solidFill>
              </a:rPr>
              <a:t>problem statement</a:t>
            </a:r>
            <a:r>
              <a:rPr lang="en-US" sz="1600" dirty="0" smtClean="0"/>
              <a:t> ( or functional or external specification), design the </a:t>
            </a:r>
            <a:r>
              <a:rPr lang="en-US" sz="1600" u="sng" dirty="0" smtClean="0"/>
              <a:t>structure of the entire program</a:t>
            </a:r>
            <a:r>
              <a:rPr lang="en-US" sz="1600" dirty="0" smtClean="0"/>
              <a:t> or system using one or more forms of analysis.</a:t>
            </a:r>
          </a:p>
          <a:p>
            <a:pPr lvl="1"/>
            <a:r>
              <a:rPr lang="en-US" sz="1600" dirty="0" smtClean="0"/>
              <a:t>Note that when designing a system ( a collection of related programs), an intermediate step is usually necessary. Before the system can be decomposed into modules, it must be decomposed into independent programs, or components.</a:t>
            </a:r>
          </a:p>
          <a:p>
            <a:pPr lvl="1"/>
            <a:r>
              <a:rPr lang="en-US" sz="1600" dirty="0" smtClean="0"/>
              <a:t>Review the completed structural design, trying to </a:t>
            </a:r>
            <a:r>
              <a:rPr lang="en-US" sz="1600" i="1" dirty="0" smtClean="0">
                <a:solidFill>
                  <a:srgbClr val="C00000"/>
                </a:solidFill>
              </a:rPr>
              <a:t>maximize module strength</a:t>
            </a:r>
            <a:r>
              <a:rPr lang="en-US" sz="1600" dirty="0" smtClean="0"/>
              <a:t> and to </a:t>
            </a:r>
            <a:r>
              <a:rPr lang="en-US" sz="1600" i="1" dirty="0" smtClean="0">
                <a:solidFill>
                  <a:srgbClr val="C00000"/>
                </a:solidFill>
              </a:rPr>
              <a:t>minimize coupling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smtClean="0"/>
              <a:t>Review the design again, using the </a:t>
            </a:r>
            <a:r>
              <a:rPr lang="en-US" sz="1600" i="1" dirty="0" smtClean="0">
                <a:solidFill>
                  <a:srgbClr val="C00000"/>
                </a:solidFill>
              </a:rPr>
              <a:t>guidelines</a:t>
            </a:r>
            <a:r>
              <a:rPr lang="en-US" sz="1600" dirty="0" smtClean="0"/>
              <a:t> ( decision structure, input/output isolation, restrictive modules, data access, size, recursion, predictable behavior) and the </a:t>
            </a:r>
            <a:r>
              <a:rPr lang="en-US" sz="1600" i="1" dirty="0" smtClean="0">
                <a:solidFill>
                  <a:srgbClr val="C00000"/>
                </a:solidFill>
              </a:rPr>
              <a:t>review process</a:t>
            </a:r>
            <a:r>
              <a:rPr lang="en-US" sz="1600" dirty="0" smtClean="0"/>
              <a:t>.</a:t>
            </a:r>
          </a:p>
          <a:p>
            <a:r>
              <a:rPr lang="en-US" sz="2000" dirty="0" smtClean="0"/>
              <a:t>Note that this is an </a:t>
            </a:r>
            <a:r>
              <a:rPr lang="en-US" sz="2000" i="1" dirty="0" smtClean="0">
                <a:solidFill>
                  <a:srgbClr val="C00000"/>
                </a:solidFill>
              </a:rPr>
              <a:t>iterative process</a:t>
            </a:r>
            <a:r>
              <a:rPr lang="en-US" sz="2000" dirty="0" smtClean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basis of composite analysis is that the </a:t>
            </a:r>
            <a:r>
              <a:rPr lang="en-US" sz="2400" i="1" dirty="0" smtClean="0">
                <a:solidFill>
                  <a:srgbClr val="C00000"/>
                </a:solidFill>
              </a:rPr>
              <a:t>structure of the program</a:t>
            </a:r>
            <a:r>
              <a:rPr lang="en-US" sz="2400" dirty="0" smtClean="0"/>
              <a:t> should resemble the </a:t>
            </a:r>
            <a:r>
              <a:rPr lang="en-US" sz="2400" i="1" dirty="0" smtClean="0">
                <a:solidFill>
                  <a:srgbClr val="C00000"/>
                </a:solidFill>
              </a:rPr>
              <a:t>structure of the problem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accomplish this, composite analysis involves an analysis of the </a:t>
            </a:r>
            <a:r>
              <a:rPr lang="en-US" sz="2400" i="1" dirty="0" smtClean="0">
                <a:solidFill>
                  <a:srgbClr val="C00000"/>
                </a:solidFill>
              </a:rPr>
              <a:t>problem structure</a:t>
            </a:r>
            <a:r>
              <a:rPr lang="en-US" sz="2400" dirty="0" smtClean="0"/>
              <a:t> and, in particular, </a:t>
            </a:r>
            <a:r>
              <a:rPr lang="en-US" sz="2400" u="sng" dirty="0" smtClean="0"/>
              <a:t>the flow of data</a:t>
            </a:r>
            <a:r>
              <a:rPr lang="en-US" sz="2400" dirty="0" smtClean="0"/>
              <a:t> through the problem and </a:t>
            </a:r>
            <a:r>
              <a:rPr lang="en-US" sz="2400" u="sng" dirty="0" smtClean="0"/>
              <a:t>the transformations</a:t>
            </a:r>
            <a:r>
              <a:rPr lang="en-US" sz="2400" dirty="0" smtClean="0"/>
              <a:t> that occur on that data.</a:t>
            </a:r>
          </a:p>
          <a:p>
            <a:r>
              <a:rPr lang="en-US" sz="2400" dirty="0" smtClean="0"/>
              <a:t>The rationale behind this is that </a:t>
            </a:r>
            <a:r>
              <a:rPr lang="en-US" sz="2400" i="1" dirty="0" smtClean="0">
                <a:solidFill>
                  <a:srgbClr val="C00000"/>
                </a:solidFill>
              </a:rPr>
              <a:t>problem structures</a:t>
            </a:r>
            <a:r>
              <a:rPr lang="en-US" sz="2400" dirty="0" smtClean="0"/>
              <a:t> are almost always defined in </a:t>
            </a:r>
            <a:r>
              <a:rPr lang="en-US" sz="2400" u="sng" dirty="0" smtClean="0"/>
              <a:t>purely functional terms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Consequently </a:t>
            </a:r>
            <a:r>
              <a:rPr lang="en-US" sz="2400" i="1" dirty="0" smtClean="0">
                <a:solidFill>
                  <a:srgbClr val="C00000"/>
                </a:solidFill>
              </a:rPr>
              <a:t>one way</a:t>
            </a:r>
            <a:r>
              <a:rPr lang="en-US" sz="2400" dirty="0" smtClean="0"/>
              <a:t> to arrive at a program structure with a </a:t>
            </a:r>
            <a:r>
              <a:rPr lang="en-US" sz="2400" u="sng" dirty="0" smtClean="0"/>
              <a:t>functional organization</a:t>
            </a:r>
            <a:r>
              <a:rPr lang="en-US" sz="2400" dirty="0" smtClean="0"/>
              <a:t> (high module strength) is to model it after the problem structure.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Composite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principal steps of composite analysis</a:t>
            </a:r>
            <a:r>
              <a:rPr lang="en-US" sz="2200" dirty="0" smtClean="0"/>
              <a:t>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Identify the </a:t>
            </a:r>
            <a:r>
              <a:rPr lang="en-US" sz="2000" i="1" dirty="0" smtClean="0">
                <a:solidFill>
                  <a:srgbClr val="C00000"/>
                </a:solidFill>
              </a:rPr>
              <a:t>problem structure</a:t>
            </a:r>
            <a:r>
              <a:rPr lang="en-US" sz="2000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Identify the </a:t>
            </a:r>
            <a:r>
              <a:rPr lang="en-US" sz="2000" i="1" dirty="0" smtClean="0">
                <a:solidFill>
                  <a:srgbClr val="C00000"/>
                </a:solidFill>
              </a:rPr>
              <a:t>principal input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output data streams</a:t>
            </a:r>
            <a:r>
              <a:rPr lang="en-US" sz="2000" dirty="0" smtClean="0"/>
              <a:t> in the problem.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Identify the points in the problem structure where these data streams </a:t>
            </a:r>
            <a:r>
              <a:rPr lang="en-US" sz="2000" i="1" dirty="0" smtClean="0">
                <a:solidFill>
                  <a:srgbClr val="C00000"/>
                </a:solidFill>
              </a:rPr>
              <a:t>begin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end</a:t>
            </a:r>
            <a:r>
              <a:rPr lang="en-US" sz="2000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i="1" dirty="0" smtClean="0">
                <a:solidFill>
                  <a:srgbClr val="C00000"/>
                </a:solidFill>
              </a:rPr>
              <a:t>Decompose</a:t>
            </a:r>
            <a:r>
              <a:rPr lang="en-US" sz="2000" dirty="0" smtClean="0"/>
              <a:t> this problem into a set of subordinate modules.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Repeat the process, viewing each module from step 4 as a new sub-problem.</a:t>
            </a:r>
          </a:p>
          <a:p>
            <a:r>
              <a:rPr lang="en-US" sz="2200" dirty="0" smtClean="0"/>
              <a:t>Composite analysis is a </a:t>
            </a:r>
            <a:r>
              <a:rPr lang="en-US" sz="2200" i="1" dirty="0" smtClean="0">
                <a:solidFill>
                  <a:srgbClr val="C00000"/>
                </a:solidFill>
              </a:rPr>
              <a:t>top-down reasoning process</a:t>
            </a:r>
            <a:r>
              <a:rPr lang="en-US" sz="2200" dirty="0" smtClean="0"/>
              <a:t>. It involves iterating between defining sections of the program structure to supply functions and then generating new functional requirements from the completed sections of the structure.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Step 1: Problem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first step is sketching out a rough picture of the problem.</a:t>
            </a:r>
          </a:p>
          <a:p>
            <a:r>
              <a:rPr lang="en-US" sz="2400" dirty="0" smtClean="0"/>
              <a:t>This sketch should be in </a:t>
            </a:r>
            <a:r>
              <a:rPr lang="en-US" sz="2400" i="1" dirty="0" smtClean="0">
                <a:solidFill>
                  <a:srgbClr val="C00000"/>
                </a:solidFill>
              </a:rPr>
              <a:t>functional</a:t>
            </a:r>
            <a:r>
              <a:rPr lang="en-US" sz="2400" dirty="0" smtClean="0"/>
              <a:t>, </a:t>
            </a:r>
            <a:r>
              <a:rPr lang="en-US" sz="2400" u="sng" dirty="0" smtClean="0"/>
              <a:t>not procedural</a:t>
            </a:r>
            <a:r>
              <a:rPr lang="en-US" sz="2400" dirty="0" smtClean="0"/>
              <a:t>, terms.</a:t>
            </a:r>
          </a:p>
          <a:p>
            <a:r>
              <a:rPr lang="en-US" sz="2400" dirty="0" smtClean="0"/>
              <a:t>(Procedural terms mean technical terms.)</a:t>
            </a:r>
          </a:p>
          <a:p>
            <a:r>
              <a:rPr lang="en-US" sz="2400" dirty="0" smtClean="0"/>
              <a:t>Most, if not all, problems can be represented by a linear chain of three to ten processes.</a:t>
            </a:r>
          </a:p>
          <a:p>
            <a:r>
              <a:rPr lang="en-US" sz="2400" dirty="0" smtClean="0"/>
              <a:t>The chain represents </a:t>
            </a:r>
            <a:r>
              <a:rPr lang="en-US" sz="2400" i="1" dirty="0" smtClean="0">
                <a:solidFill>
                  <a:srgbClr val="C00000"/>
                </a:solidFill>
              </a:rPr>
              <a:t>data flow</a:t>
            </a:r>
            <a:r>
              <a:rPr lang="en-US" sz="2400" dirty="0" smtClean="0"/>
              <a:t> within the problem, </a:t>
            </a:r>
            <a:r>
              <a:rPr lang="en-US" sz="2400" u="sng" dirty="0" smtClean="0"/>
              <a:t>not</a:t>
            </a:r>
            <a:r>
              <a:rPr lang="en-US" sz="2400" dirty="0" smtClean="0"/>
              <a:t> necessarily the </a:t>
            </a:r>
            <a:r>
              <a:rPr lang="en-US" sz="2400" u="sng" dirty="0" smtClean="0"/>
              <a:t>execution flow</a:t>
            </a:r>
            <a:r>
              <a:rPr lang="en-US" sz="2400" dirty="0" smtClean="0"/>
              <a:t> of the processes.</a:t>
            </a:r>
          </a:p>
          <a:p>
            <a:r>
              <a:rPr lang="en-US" sz="2400" dirty="0" smtClean="0"/>
              <a:t>(Data flow means what constitute the processes.)</a:t>
            </a:r>
            <a:endParaRPr lang="en-US" sz="2200" dirty="0" smtClean="0"/>
          </a:p>
          <a:p>
            <a:r>
              <a:rPr lang="en-US" sz="2400" dirty="0" smtClean="0"/>
              <a:t>(Execution flow means how to implement the processes.)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Structure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As an example, consider a simple </a:t>
            </a:r>
            <a:r>
              <a:rPr lang="en-US" sz="2400" i="1" dirty="0" smtClean="0">
                <a:solidFill>
                  <a:srgbClr val="C00000"/>
                </a:solidFill>
              </a:rPr>
              <a:t>airlines reservation system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driven by input from remote terminals.</a:t>
            </a:r>
          </a:p>
          <a:p>
            <a:r>
              <a:rPr lang="en-US" sz="2400" dirty="0" smtClean="0"/>
              <a:t>The major </a:t>
            </a:r>
            <a:r>
              <a:rPr lang="en-US" sz="2400" i="1" dirty="0" smtClean="0">
                <a:solidFill>
                  <a:srgbClr val="C00000"/>
                </a:solidFill>
              </a:rPr>
              <a:t>types of input</a:t>
            </a:r>
            <a:r>
              <a:rPr lang="en-US" sz="2400" dirty="0" smtClean="0"/>
              <a:t> are requests for information (seats available, flights), sales of tickets, and passenger check-</a:t>
            </a:r>
            <a:r>
              <a:rPr lang="en-US" sz="2400" dirty="0" err="1" smtClean="0"/>
              <a:t>in’s</a:t>
            </a:r>
            <a:r>
              <a:rPr lang="en-US" sz="2400" dirty="0" smtClean="0"/>
              <a:t>.</a:t>
            </a:r>
            <a:endParaRPr lang="en-US" sz="2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581400"/>
            <a:ext cx="6807200" cy="262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Step 2: External Data 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Identify </a:t>
            </a:r>
            <a:r>
              <a:rPr lang="en-US" sz="2400" i="1" dirty="0" smtClean="0">
                <a:solidFill>
                  <a:srgbClr val="C00000"/>
                </a:solidFill>
              </a:rPr>
              <a:t>the streams of data</a:t>
            </a:r>
            <a:r>
              <a:rPr lang="en-US" sz="2400" dirty="0" smtClean="0"/>
              <a:t> that are both </a:t>
            </a:r>
            <a:r>
              <a:rPr lang="en-US" sz="2400" u="sng" dirty="0" smtClean="0"/>
              <a:t>external</a:t>
            </a:r>
            <a:r>
              <a:rPr lang="en-US" sz="2400" dirty="0" smtClean="0"/>
              <a:t> and </a:t>
            </a:r>
            <a:r>
              <a:rPr lang="en-US" sz="2400" u="sng" dirty="0" smtClean="0"/>
              <a:t>conceptual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external stream of data</a:t>
            </a:r>
            <a:r>
              <a:rPr lang="en-US" sz="2400" dirty="0" smtClean="0"/>
              <a:t> is one that begins and/ or ends </a:t>
            </a:r>
            <a:r>
              <a:rPr lang="en-US" sz="2400" u="sng" dirty="0" smtClean="0"/>
              <a:t>outside</a:t>
            </a:r>
            <a:r>
              <a:rPr lang="en-US" sz="2400" dirty="0" smtClean="0"/>
              <a:t> of the system.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conceptual stream of data</a:t>
            </a:r>
            <a:r>
              <a:rPr lang="en-US" sz="2400" dirty="0" smtClean="0"/>
              <a:t> is a stream of related data that is </a:t>
            </a:r>
            <a:r>
              <a:rPr lang="en-US" sz="2400" u="sng" dirty="0" smtClean="0"/>
              <a:t>independent</a:t>
            </a:r>
            <a:r>
              <a:rPr lang="en-US" sz="2400" dirty="0" smtClean="0"/>
              <a:t> of any </a:t>
            </a:r>
            <a:r>
              <a:rPr lang="en-US" sz="2400" u="sng" dirty="0" smtClean="0"/>
              <a:t>physical input-</a:t>
            </a:r>
            <a:r>
              <a:rPr lang="en-US" sz="2400" u="sng" dirty="0" err="1" smtClean="0"/>
              <a:t>ouput</a:t>
            </a:r>
            <a:r>
              <a:rPr lang="en-US" sz="2400" u="sng" dirty="0" smtClean="0"/>
              <a:t> device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instance, several conceptual streams may be coming from one input device or one stream may be coming from several input devices.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Larry Constantine and Edward Yourdon (1979). Structured Design: Fundamentals of a Discipline of Computer Program and Systems Design. Pearson.</a:t>
            </a:r>
          </a:p>
          <a:p>
            <a:r>
              <a:rPr lang="en-US" sz="2400" dirty="0" smtClean="0"/>
              <a:t>Program Development by Stepwise Refinement (top down)</a:t>
            </a:r>
          </a:p>
          <a:p>
            <a:r>
              <a:rPr lang="en-US" sz="2400" dirty="0" smtClean="0"/>
              <a:t>Structured Analysis and System Specification (data flow)</a:t>
            </a:r>
          </a:p>
          <a:p>
            <a:r>
              <a:rPr lang="en-US" sz="2400" dirty="0" smtClean="0"/>
              <a:t>Structured Design: Fundamentals of a Discipline of Computer (data flow =&gt; modules)</a:t>
            </a:r>
          </a:p>
          <a:p>
            <a:r>
              <a:rPr lang="en-US" sz="2400" dirty="0" smtClean="0"/>
              <a:t>Modern Structured Analysis (data flow =&gt; modules)</a:t>
            </a:r>
          </a:p>
          <a:p>
            <a:r>
              <a:rPr lang="en-US" sz="2400" dirty="0" smtClean="0"/>
              <a:t>System Development (data structures)</a:t>
            </a:r>
          </a:p>
          <a:p>
            <a:r>
              <a:rPr lang="en-US" sz="2400" dirty="0" smtClean="0"/>
              <a:t>Structured Systems Analysis and Structured Design</a:t>
            </a:r>
          </a:p>
          <a:p>
            <a:r>
              <a:rPr lang="en-US" sz="2400" dirty="0" smtClean="0"/>
              <a:t>The JSP Design Process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14928</TotalTime>
  <Words>3022</Words>
  <Application>Microsoft Office PowerPoint</Application>
  <PresentationFormat>On-screen Show (4:3)</PresentationFormat>
  <Paragraphs>285</Paragraphs>
  <Slides>58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Structured Design</vt:lpstr>
      <vt:lpstr>Objectives</vt:lpstr>
      <vt:lpstr>Contents</vt:lpstr>
      <vt:lpstr>References</vt:lpstr>
      <vt:lpstr>Key Ideas</vt:lpstr>
      <vt:lpstr>What is Structured Design? [1]</vt:lpstr>
      <vt:lpstr>The Context of Design</vt:lpstr>
      <vt:lpstr>1. Problem or Opportunity Recognition</vt:lpstr>
      <vt:lpstr>2. Feasibility Study</vt:lpstr>
      <vt:lpstr>3. Analysis</vt:lpstr>
      <vt:lpstr>4. Design</vt:lpstr>
      <vt:lpstr>5. Implementation</vt:lpstr>
      <vt:lpstr>6. Testing</vt:lpstr>
      <vt:lpstr>7. Maintenance</vt:lpstr>
      <vt:lpstr>Slide 15</vt:lpstr>
      <vt:lpstr>The Structured Specifications</vt:lpstr>
      <vt:lpstr>Configuring the System</vt:lpstr>
      <vt:lpstr>Design Strategies</vt:lpstr>
      <vt:lpstr>Slide 19</vt:lpstr>
      <vt:lpstr>The Designer's Channels of Communication [2]</vt:lpstr>
      <vt:lpstr>A Model of the Design Process</vt:lpstr>
      <vt:lpstr>Design by Composition</vt:lpstr>
      <vt:lpstr>Top-Down Decomposition</vt:lpstr>
      <vt:lpstr>Top-Down Decomposition Limitations</vt:lpstr>
      <vt:lpstr>Slide 25</vt:lpstr>
      <vt:lpstr>Programming Paradigms [3]</vt:lpstr>
      <vt:lpstr>Structured Programming</vt:lpstr>
      <vt:lpstr>Structured Programming &amp; Design</vt:lpstr>
      <vt:lpstr>Slide 29</vt:lpstr>
      <vt:lpstr>Evaluating a Design Solution [1]</vt:lpstr>
      <vt:lpstr>Coupling</vt:lpstr>
      <vt:lpstr>Data Coupling</vt:lpstr>
      <vt:lpstr>Stamp Coupling</vt:lpstr>
      <vt:lpstr>Control Coupling</vt:lpstr>
      <vt:lpstr>Common (Alias Global) Coupling</vt:lpstr>
      <vt:lpstr>Common Coupling: Brain Teaser</vt:lpstr>
      <vt:lpstr>Database Coupling</vt:lpstr>
      <vt:lpstr>Content (Alias Pathological) Coupling</vt:lpstr>
      <vt:lpstr>Slide 39</vt:lpstr>
      <vt:lpstr>Cohesion</vt:lpstr>
      <vt:lpstr>Functional Cohesion</vt:lpstr>
      <vt:lpstr>Sequential Cohesion</vt:lpstr>
      <vt:lpstr>Communicational Cohesion</vt:lpstr>
      <vt:lpstr>Procedural Cohesion</vt:lpstr>
      <vt:lpstr>Temporal Cohesion</vt:lpstr>
      <vt:lpstr>Logical Cohesion</vt:lpstr>
      <vt:lpstr>Coincidental Cohesion</vt:lpstr>
      <vt:lpstr>Determining Module Cohesion</vt:lpstr>
      <vt:lpstr>Slide 49</vt:lpstr>
      <vt:lpstr>The Structural Design Process [4]</vt:lpstr>
      <vt:lpstr>Composite Analysis</vt:lpstr>
      <vt:lpstr>Steps of Composite Analysis</vt:lpstr>
      <vt:lpstr>Step 1: Problem Structure</vt:lpstr>
      <vt:lpstr>Problem Structure Example</vt:lpstr>
      <vt:lpstr>Step 2: External Data Streams</vt:lpstr>
      <vt:lpstr>Slide 56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4748</cp:revision>
  <dcterms:created xsi:type="dcterms:W3CDTF">2007-10-06T08:25:13Z</dcterms:created>
  <dcterms:modified xsi:type="dcterms:W3CDTF">2024-04-17T15:07:50Z</dcterms:modified>
</cp:coreProperties>
</file>