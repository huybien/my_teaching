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129.xml" ContentType="application/vnd.openxmlformats-officedocument.presentationml.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117.xml" ContentType="application/vnd.openxmlformats-officedocument.presentationml.slide+xml"/>
  <Override PartName="/ppt/slides/slide126.xml" ContentType="application/vnd.openxmlformats-officedocument.presentationml.slide+xml"/>
  <Override PartName="/ppt/slides/slide12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ppt/slides/slide124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1"/>
  </p:notesMasterIdLst>
  <p:sldIdLst>
    <p:sldId id="679" r:id="rId2"/>
    <p:sldId id="680" r:id="rId3"/>
    <p:sldId id="681" r:id="rId4"/>
    <p:sldId id="682" r:id="rId5"/>
    <p:sldId id="810" r:id="rId6"/>
    <p:sldId id="811" r:id="rId7"/>
    <p:sldId id="812" r:id="rId8"/>
    <p:sldId id="813" r:id="rId9"/>
    <p:sldId id="825" r:id="rId10"/>
    <p:sldId id="871" r:id="rId11"/>
    <p:sldId id="826" r:id="rId12"/>
    <p:sldId id="814" r:id="rId13"/>
    <p:sldId id="677" r:id="rId14"/>
    <p:sldId id="678" r:id="rId15"/>
    <p:sldId id="683" r:id="rId16"/>
    <p:sldId id="685" r:id="rId17"/>
    <p:sldId id="831" r:id="rId18"/>
    <p:sldId id="717" r:id="rId19"/>
    <p:sldId id="832" r:id="rId20"/>
    <p:sldId id="688" r:id="rId21"/>
    <p:sldId id="689" r:id="rId22"/>
    <p:sldId id="690" r:id="rId23"/>
    <p:sldId id="691" r:id="rId24"/>
    <p:sldId id="833" r:id="rId25"/>
    <p:sldId id="719" r:id="rId26"/>
    <p:sldId id="834" r:id="rId27"/>
    <p:sldId id="694" r:id="rId28"/>
    <p:sldId id="695" r:id="rId29"/>
    <p:sldId id="696" r:id="rId30"/>
    <p:sldId id="697" r:id="rId31"/>
    <p:sldId id="698" r:id="rId32"/>
    <p:sldId id="699" r:id="rId33"/>
    <p:sldId id="700" r:id="rId34"/>
    <p:sldId id="720" r:id="rId35"/>
    <p:sldId id="721" r:id="rId36"/>
    <p:sldId id="772" r:id="rId37"/>
    <p:sldId id="773" r:id="rId38"/>
    <p:sldId id="774" r:id="rId39"/>
    <p:sldId id="769" r:id="rId40"/>
    <p:sldId id="701" r:id="rId41"/>
    <p:sldId id="703" r:id="rId42"/>
    <p:sldId id="704" r:id="rId43"/>
    <p:sldId id="705" r:id="rId44"/>
    <p:sldId id="706" r:id="rId45"/>
    <p:sldId id="709" r:id="rId46"/>
    <p:sldId id="710" r:id="rId47"/>
    <p:sldId id="712" r:id="rId48"/>
    <p:sldId id="835" r:id="rId49"/>
    <p:sldId id="713" r:id="rId50"/>
    <p:sldId id="714" r:id="rId51"/>
    <p:sldId id="715" r:id="rId52"/>
    <p:sldId id="836" r:id="rId53"/>
    <p:sldId id="716" r:id="rId54"/>
    <p:sldId id="775" r:id="rId55"/>
    <p:sldId id="770" r:id="rId56"/>
    <p:sldId id="771" r:id="rId57"/>
    <p:sldId id="731" r:id="rId58"/>
    <p:sldId id="648" r:id="rId59"/>
    <p:sldId id="746" r:id="rId60"/>
    <p:sldId id="747" r:id="rId61"/>
    <p:sldId id="748" r:id="rId62"/>
    <p:sldId id="837" r:id="rId63"/>
    <p:sldId id="647" r:id="rId64"/>
    <p:sldId id="776" r:id="rId65"/>
    <p:sldId id="752" r:id="rId66"/>
    <p:sldId id="777" r:id="rId67"/>
    <p:sldId id="754" r:id="rId68"/>
    <p:sldId id="778" r:id="rId69"/>
    <p:sldId id="756" r:id="rId70"/>
    <p:sldId id="779" r:id="rId71"/>
    <p:sldId id="649" r:id="rId72"/>
    <p:sldId id="822" r:id="rId73"/>
    <p:sldId id="838" r:id="rId74"/>
    <p:sldId id="844" r:id="rId75"/>
    <p:sldId id="845" r:id="rId76"/>
    <p:sldId id="846" r:id="rId77"/>
    <p:sldId id="851" r:id="rId78"/>
    <p:sldId id="847" r:id="rId79"/>
    <p:sldId id="850" r:id="rId80"/>
    <p:sldId id="848" r:id="rId81"/>
    <p:sldId id="849" r:id="rId82"/>
    <p:sldId id="842" r:id="rId83"/>
    <p:sldId id="793" r:id="rId84"/>
    <p:sldId id="794" r:id="rId85"/>
    <p:sldId id="795" r:id="rId86"/>
    <p:sldId id="796" r:id="rId87"/>
    <p:sldId id="797" r:id="rId88"/>
    <p:sldId id="839" r:id="rId89"/>
    <p:sldId id="791" r:id="rId90"/>
    <p:sldId id="854" r:id="rId91"/>
    <p:sldId id="855" r:id="rId92"/>
    <p:sldId id="856" r:id="rId93"/>
    <p:sldId id="802" r:id="rId94"/>
    <p:sldId id="852" r:id="rId95"/>
    <p:sldId id="857" r:id="rId96"/>
    <p:sldId id="858" r:id="rId97"/>
    <p:sldId id="841" r:id="rId98"/>
    <p:sldId id="652" r:id="rId99"/>
    <p:sldId id="653" r:id="rId100"/>
    <p:sldId id="864" r:id="rId101"/>
    <p:sldId id="865" r:id="rId102"/>
    <p:sldId id="654" r:id="rId103"/>
    <p:sldId id="829" r:id="rId104"/>
    <p:sldId id="821" r:id="rId105"/>
    <p:sldId id="863" r:id="rId106"/>
    <p:sldId id="830" r:id="rId107"/>
    <p:sldId id="868" r:id="rId108"/>
    <p:sldId id="869" r:id="rId109"/>
    <p:sldId id="867" r:id="rId110"/>
    <p:sldId id="780" r:id="rId111"/>
    <p:sldId id="781" r:id="rId112"/>
    <p:sldId id="782" r:id="rId113"/>
    <p:sldId id="783" r:id="rId114"/>
    <p:sldId id="784" r:id="rId115"/>
    <p:sldId id="785" r:id="rId116"/>
    <p:sldId id="786" r:id="rId117"/>
    <p:sldId id="787" r:id="rId118"/>
    <p:sldId id="788" r:id="rId119"/>
    <p:sldId id="809" r:id="rId120"/>
    <p:sldId id="861" r:id="rId121"/>
    <p:sldId id="670" r:id="rId122"/>
    <p:sldId id="669" r:id="rId123"/>
    <p:sldId id="807" r:id="rId124"/>
    <p:sldId id="671" r:id="rId125"/>
    <p:sldId id="728" r:id="rId126"/>
    <p:sldId id="862" r:id="rId127"/>
    <p:sldId id="870" r:id="rId128"/>
    <p:sldId id="808" r:id="rId129"/>
    <p:sldId id="516" r:id="rId1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9405" autoAdjust="0"/>
    <p:restoredTop sz="85605" autoAdjust="0"/>
  </p:normalViewPr>
  <p:slideViewPr>
    <p:cSldViewPr>
      <p:cViewPr>
        <p:scale>
          <a:sx n="50" d="100"/>
          <a:sy n="50" d="100"/>
        </p:scale>
        <p:origin x="-1456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13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70CC96-DB61-4850-AF79-05CA5E4B3D0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70CC96-DB61-4850-AF79-05CA5E4B3D0A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4B47AF5-6F75-499A-A72D-221105F5A823}" type="slidenum">
              <a:rPr/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83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4B47AF5-6F75-499A-A72D-221105F5A823}" type="slidenum">
              <a:rPr/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84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4B47AF5-6F75-499A-A72D-221105F5A823}" type="slidenum">
              <a:rPr/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85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/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4B47AF5-6F75-499A-A72D-221105F5A823}" type="slidenum">
              <a:rPr/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86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70CC96-DB61-4850-AF79-05CA5E4B3D0A}" type="slidenum">
              <a:rPr lang="en-US" smtClean="0"/>
              <a:pPr/>
              <a:t>123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70CC96-DB61-4850-AF79-05CA5E4B3D0A}" type="slidenum">
              <a:rPr lang="en-US" smtClean="0"/>
              <a:pPr/>
              <a:t>125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70CC96-DB61-4850-AF79-05CA5E4B3D0A}" type="slidenum">
              <a:rPr lang="en-US" smtClean="0"/>
              <a:pPr/>
              <a:t>126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8/14/2026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8/14/2026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8/14/2026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8/14/2026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8/14/2026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8/14/2026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github.com/oskardudycz/EventSourcing.NetCor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engineering.linkedin.com/distributed-systems/log-what-every-software-engineer-should-know-about-real-time-datas-unifying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2.png"/><Relationship Id="rId4" Type="http://schemas.openxmlformats.org/officeDocument/2006/relationships/image" Target="../media/image6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54.png"/><Relationship Id="rId4" Type="http://schemas.openxmlformats.org/officeDocument/2006/relationships/image" Target="../media/image6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3.png"/><Relationship Id="rId7" Type="http://schemas.openxmlformats.org/officeDocument/2006/relationships/image" Target="../media/image6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hyperlink" Target="https://martinfowler.com/articles/microservice-trade-offs.html" TargetMode="Externa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hyperlink" Target="http://codebetter.com/gregyoung/2010/02/16/cqrs-task-based-uis-event-sourcing-agh/" TargetMode="Externa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hyperlink" Target="https://kariera.future-processing.pl/blog/cqrs-simple-architecture/" TargetMode="Externa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hyperlink" Target="https://martinfowler.com/eaaDev/EventSourcing.html" TargetMode="Externa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hyperlink" Target="https://martinfowler.com/eaaDev/EventCollaboration.html" TargetMode="Externa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martinfowler.com/articles/201701-event-driven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tNZ4hAOhzs" TargetMode="External"/><Relationship Id="rId2" Type="http://schemas.openxmlformats.org/officeDocument/2006/relationships/hyperlink" Target="https://www.youtube.com/watch?v=9a1PqwFrMP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oringtechnology.club/" TargetMode="External"/><Relationship Id="rId4" Type="http://schemas.openxmlformats.org/officeDocument/2006/relationships/hyperlink" Target="https://www.youtube.com/watch?v=osk0ZBdBbx4" TargetMode="Externa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martendb.io/introduction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skardudycz/EventSourcing.NodeJS" TargetMode="External"/><Relationship Id="rId2" Type="http://schemas.openxmlformats.org/officeDocument/2006/relationships/hyperlink" Target="https://github.com/oskardudycz/EventSourcing.NetCor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oskardudycz/EventSourcing.JVM" TargetMode="Externa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hyperlink" Target="https://pekko.apache.org/" TargetMode="External"/><Relationship Id="rId2" Type="http://schemas.openxmlformats.org/officeDocument/2006/relationships/hyperlink" Target="https://akka.io/what-is-akka" TargetMode="Externa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Event Sourcing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195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implement a feature using </a:t>
            </a:r>
            <a:r>
              <a:rPr lang="en-US" sz="2400" i="1" dirty="0" smtClean="0">
                <a:solidFill>
                  <a:srgbClr val="C00000"/>
                </a:solidFill>
              </a:rPr>
              <a:t>event sourcing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(To learn a new architecture style by </a:t>
            </a:r>
            <a:r>
              <a:rPr lang="en-US" sz="2400" i="1" smtClean="0">
                <a:solidFill>
                  <a:srgbClr val="C00000"/>
                </a:solidFill>
              </a:rPr>
              <a:t>yourself</a:t>
            </a:r>
            <a:r>
              <a:rPr lang="en-US" sz="2400" smtClean="0"/>
              <a:t>.</a:t>
            </a:r>
            <a:r>
              <a:rPr lang="en-US" sz="2400" dirty="0" smtClean="0"/>
              <a:t>)</a:t>
            </a:r>
            <a:endParaRPr lang="en-US" sz="240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Raw Events vs. Aggregated Data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Writes vs. Reads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Log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Event Stream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Data Integration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Event Sourcing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CQRS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867400" cy="4495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Martin </a:t>
            </a:r>
            <a:r>
              <a:rPr lang="en-US" sz="2400" dirty="0" err="1" smtClean="0"/>
              <a:t>Kleppmann</a:t>
            </a:r>
            <a:r>
              <a:rPr lang="en-US" sz="2400" dirty="0" smtClean="0"/>
              <a:t> (2016). Making Sense of Stream Processing. O'Reilly Media.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12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Solving a Problem: The </a:t>
            </a:r>
            <a:r>
              <a:rPr lang="en-US" i="1" dirty="0" smtClean="0">
                <a:solidFill>
                  <a:srgbClr val="C00000"/>
                </a:solidFill>
              </a:rPr>
              <a:t>Hard</a:t>
            </a:r>
            <a:r>
              <a:rPr lang="en-US" dirty="0" smtClean="0"/>
              <a:t> Part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Input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Story: As sponsors, we want the system to be able to </a:t>
            </a:r>
            <a:r>
              <a:rPr lang="en-US" sz="2000" u="sng" dirty="0" smtClean="0"/>
              <a:t>run as fast and reliably as possible</a:t>
            </a:r>
            <a:r>
              <a:rPr lang="en-US" sz="2000" dirty="0" smtClean="0"/>
              <a:t> so that we can serve as many customers as we want.</a:t>
            </a:r>
          </a:p>
          <a:p>
            <a:pPr lvl="1"/>
            <a:r>
              <a:rPr lang="en-US" sz="2000" dirty="0" smtClean="0"/>
              <a:t>Developer: Ngo Huy Bien.</a:t>
            </a:r>
          </a:p>
          <a:p>
            <a:r>
              <a:rPr lang="en-US" sz="2400" dirty="0" smtClean="0"/>
              <a:t>Bonus: </a:t>
            </a:r>
          </a:p>
          <a:p>
            <a:pPr lvl="1"/>
            <a:r>
              <a:rPr lang="en-US" sz="2000" dirty="0" smtClean="0"/>
              <a:t>UI + Architecture.</a:t>
            </a:r>
          </a:p>
          <a:p>
            <a:pPr lvl="1"/>
            <a:r>
              <a:rPr lang="en-US" sz="2000" dirty="0" smtClean="0"/>
              <a:t>Scenarios, Domain Models + ERD.</a:t>
            </a:r>
          </a:p>
          <a:p>
            <a:pPr lvl="1"/>
            <a:r>
              <a:rPr lang="en-US" sz="2000" dirty="0" smtClean="0"/>
              <a:t>Prototype + Proof of Concept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Output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Source code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Problem solved.</a:t>
            </a:r>
          </a:p>
          <a:p>
            <a:r>
              <a:rPr lang="en-US" sz="2400" b="1" i="1" dirty="0" smtClean="0">
                <a:solidFill>
                  <a:srgbClr val="C00000"/>
                </a:solidFill>
              </a:rPr>
              <a:t>Issue: Which tools? I haven't used these tools.</a:t>
            </a:r>
          </a:p>
        </p:txBody>
      </p:sp>
      <p:pic>
        <p:nvPicPr>
          <p:cNvPr id="3074" name="Picture 2" descr="https://images.squarespace-cdn.com/content/v1/583ed05c59cc68a8c3e45c0f/1574085452103-JAY3739FDGTE0ZR90QPX/ke17ZwdGBToddI8pDm48kOggE0Ch6pMGalwtLMqzsSB7gQa3H78H3Y0txjaiv_0fDoOvxcdMmMKkDsyUqMSsMWxHk725yiiHCCLfrh8O1z5QPOohDIaIeljMHgDF5CVlOqpeNLcJ80NK65_fV7S1Ufo5RWkg_J4of0jUNHaDHx6pZKBvpVYzidBWCapg0tuoMuEaB2HPGSYDV-11UTcW2g/question-mark-2405197_1920.jpg?format=1000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3200400"/>
            <a:ext cx="3048000" cy="20330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money</a:t>
            </a:r>
          </a:p>
          <a:p>
            <a:pPr lvl="1"/>
            <a:r>
              <a:rPr lang="en-US" dirty="0" smtClean="0"/>
              <a:t>Get a job (job requirement)</a:t>
            </a:r>
          </a:p>
          <a:p>
            <a:pPr lvl="1"/>
            <a:r>
              <a:rPr lang="en-US" dirty="0" smtClean="0"/>
              <a:t>Startup (solving a problem)</a:t>
            </a:r>
          </a:p>
          <a:p>
            <a:pPr lvl="2"/>
            <a:r>
              <a:rPr lang="en-US" dirty="0" smtClean="0"/>
              <a:t>Architecture selection</a:t>
            </a:r>
          </a:p>
          <a:p>
            <a:pPr lvl="3"/>
            <a:r>
              <a:rPr lang="en-US" i="1" dirty="0" smtClean="0">
                <a:solidFill>
                  <a:srgbClr val="C00000"/>
                </a:solidFill>
              </a:rPr>
              <a:t>Faster</a:t>
            </a:r>
            <a:r>
              <a:rPr lang="en-US" dirty="0" smtClean="0"/>
              <a:t> development (Get a task done).</a:t>
            </a:r>
          </a:p>
          <a:p>
            <a:pPr lvl="3"/>
            <a:r>
              <a:rPr lang="en-US" dirty="0" smtClean="0"/>
              <a:t>Easier </a:t>
            </a:r>
            <a:r>
              <a:rPr lang="en-US" i="1" dirty="0" smtClean="0">
                <a:solidFill>
                  <a:srgbClr val="C00000"/>
                </a:solidFill>
              </a:rPr>
              <a:t>modifiability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C00000"/>
                </a:solidFill>
              </a:rPr>
              <a:t>extensibility.</a:t>
            </a:r>
          </a:p>
          <a:p>
            <a:pPr lvl="3"/>
            <a:r>
              <a:rPr lang="en-US" dirty="0" smtClean="0"/>
              <a:t>Better security and </a:t>
            </a:r>
            <a:r>
              <a:rPr lang="en-US" i="1" dirty="0" smtClean="0">
                <a:solidFill>
                  <a:srgbClr val="C00000"/>
                </a:solidFill>
              </a:rPr>
              <a:t>scalability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Hobby</a:t>
            </a:r>
          </a:p>
          <a:p>
            <a:pPr lvl="1"/>
            <a:r>
              <a:rPr lang="en-US" i="1" dirty="0" smtClean="0">
                <a:solidFill>
                  <a:srgbClr val="C00000"/>
                </a:solidFill>
              </a:rPr>
              <a:t>Problem</a:t>
            </a:r>
            <a:r>
              <a:rPr lang="en-US" dirty="0" smtClean="0"/>
              <a:t>/need.</a:t>
            </a:r>
          </a:p>
          <a:p>
            <a:pPr lvl="1"/>
            <a:r>
              <a:rPr lang="en-US" dirty="0" smtClean="0"/>
              <a:t>Open yourself up to </a:t>
            </a:r>
            <a:r>
              <a:rPr lang="en-US" i="1" dirty="0" smtClean="0">
                <a:solidFill>
                  <a:srgbClr val="C00000"/>
                </a:solidFill>
              </a:rPr>
              <a:t>new ideas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C00000"/>
                </a:solidFill>
              </a:rPr>
              <a:t>approaches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Why Learn a New Architecture Style?</a:t>
            </a:r>
            <a:endParaRPr lang="en-US" sz="4200" dirty="0"/>
          </a:p>
        </p:txBody>
      </p:sp>
      <p:cxnSp>
        <p:nvCxnSpPr>
          <p:cNvPr id="7" name="Curved Connector 6"/>
          <p:cNvCxnSpPr/>
          <p:nvPr/>
        </p:nvCxnSpPr>
        <p:spPr>
          <a:xfrm rot="16200000" flipV="1">
            <a:off x="990600" y="4267200"/>
            <a:ext cx="1752600" cy="3810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Curved Connector 5"/>
          <p:cNvCxnSpPr/>
          <p:nvPr/>
        </p:nvCxnSpPr>
        <p:spPr>
          <a:xfrm rot="10800000">
            <a:off x="3581400" y="5638800"/>
            <a:ext cx="1447800" cy="2286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ight Arrow 7"/>
          <p:cNvSpPr/>
          <p:nvPr/>
        </p:nvSpPr>
        <p:spPr>
          <a:xfrm>
            <a:off x="228600" y="1524000"/>
            <a:ext cx="609600" cy="838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228600" y="4648200"/>
            <a:ext cx="609600" cy="838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2514600"/>
            <a:ext cx="2510698" cy="62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Identify a Concrete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Implement a feature using </a:t>
            </a:r>
            <a:r>
              <a:rPr lang="en-US" sz="2600" i="1" dirty="0" smtClean="0">
                <a:solidFill>
                  <a:srgbClr val="C00000"/>
                </a:solidFill>
              </a:rPr>
              <a:t>CQRS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Implement a feature using </a:t>
            </a:r>
            <a:r>
              <a:rPr lang="en-US" sz="2600" i="1" dirty="0" smtClean="0">
                <a:solidFill>
                  <a:srgbClr val="C00000"/>
                </a:solidFill>
              </a:rPr>
              <a:t>Event Sourcing</a:t>
            </a:r>
            <a:r>
              <a:rPr lang="en-US" sz="2600" dirty="0" smtClean="0"/>
              <a:t>.</a:t>
            </a:r>
          </a:p>
        </p:txBody>
      </p:sp>
      <p:pic>
        <p:nvPicPr>
          <p:cNvPr id="4" name="Picture 2" descr="https://img.haikudeck.com/mg/C42A8FE8-C585-4360-984E-C8FC7552298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200400"/>
            <a:ext cx="3251200" cy="2438400"/>
          </a:xfrm>
          <a:prstGeom prst="rect">
            <a:avLst/>
          </a:prstGeom>
          <a:noFill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3505200"/>
            <a:ext cx="21812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Typical Procedure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Clarify domain-specific terminologies (CQRS? Event Sourcing?, </a:t>
            </a:r>
            <a:r>
              <a:rPr lang="en-US" sz="2600" dirty="0" err="1" smtClean="0"/>
              <a:t>EventStoreDB</a:t>
            </a:r>
            <a:r>
              <a:rPr lang="en-US" sz="2600" dirty="0" smtClean="0"/>
              <a:t>? Kafka?)</a:t>
            </a:r>
          </a:p>
          <a:p>
            <a:r>
              <a:rPr lang="en-US" sz="2600" dirty="0" smtClean="0"/>
              <a:t>Find a tutorial (or a mentor).</a:t>
            </a:r>
          </a:p>
          <a:p>
            <a:r>
              <a:rPr lang="en-US" sz="2600" dirty="0" smtClean="0"/>
              <a:t>Install and configure the tools.</a:t>
            </a:r>
          </a:p>
          <a:p>
            <a:r>
              <a:rPr lang="en-US" sz="2600" dirty="0" smtClean="0"/>
              <a:t>Reproduce, test and clarify the tutorial code.</a:t>
            </a:r>
            <a:endParaRPr lang="en-US" sz="2600" dirty="0"/>
          </a:p>
        </p:txBody>
      </p:sp>
      <p:pic>
        <p:nvPicPr>
          <p:cNvPr id="1026" name="Picture 2" descr="https://static.thenounproject.com/png/204132-2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4191000"/>
            <a:ext cx="190500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Customer Management</a:t>
            </a:r>
            <a:r>
              <a:rPr lang="en-US" dirty="0" smtClean="0"/>
              <a:t> 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Source: </a:t>
            </a:r>
            <a:r>
              <a:rPr lang="en-US" sz="2400" dirty="0" smtClean="0">
                <a:hlinkClick r:id="rId2"/>
              </a:rPr>
              <a:t>https</a:t>
            </a:r>
            <a:r>
              <a:rPr lang="en-US" sz="2400" dirty="0" smtClean="0">
                <a:hlinkClick r:id="rId2"/>
              </a:rPr>
              <a:t>://github.com/EduardoPires/EquinoxProject</a:t>
            </a:r>
          </a:p>
          <a:p>
            <a:r>
              <a:rPr lang="en-US" sz="2400" dirty="0" smtClean="0"/>
              <a:t>Online demo: </a:t>
            </a:r>
            <a:r>
              <a:rPr lang="en-US" sz="2400" dirty="0" smtClean="0">
                <a:hlinkClick r:id="rId2"/>
              </a:rPr>
              <a:t>https://equinoxproject.azurewebsites.net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>
              <a:hlinkClick r:id="rId2"/>
            </a:endParaRPr>
          </a:p>
          <a:p>
            <a:r>
              <a:rPr lang="en-US" sz="2400" b="1" dirty="0" smtClean="0"/>
              <a:t>Create Customer Management App (CRUD App)</a:t>
            </a:r>
            <a:endParaRPr lang="en-US" sz="2400" b="1" dirty="0" smtClean="0"/>
          </a:p>
          <a:p>
            <a:pPr lvl="1"/>
            <a:r>
              <a:rPr lang="en-US" sz="2000" dirty="0" smtClean="0"/>
              <a:t>First name</a:t>
            </a:r>
          </a:p>
          <a:p>
            <a:pPr lvl="1"/>
            <a:r>
              <a:rPr lang="en-US" sz="2000" dirty="0" smtClean="0"/>
              <a:t>Last name</a:t>
            </a:r>
          </a:p>
          <a:p>
            <a:pPr lvl="1"/>
            <a:r>
              <a:rPr lang="en-US" sz="2000" dirty="0" smtClean="0"/>
              <a:t>ID</a:t>
            </a:r>
          </a:p>
          <a:p>
            <a:pPr lvl="1"/>
            <a:r>
              <a:rPr lang="en-US" sz="2000" dirty="0" smtClean="0"/>
              <a:t>Date of birth</a:t>
            </a:r>
          </a:p>
          <a:p>
            <a:pPr lvl="1"/>
            <a:r>
              <a:rPr lang="en-US" sz="2000" dirty="0" smtClean="0"/>
              <a:t>Email</a:t>
            </a:r>
          </a:p>
          <a:p>
            <a:r>
              <a:rPr lang="en-US" sz="2400" dirty="0" smtClean="0"/>
              <a:t>Scalability (Performance)?</a:t>
            </a:r>
          </a:p>
          <a:p>
            <a:r>
              <a:rPr lang="en-US" sz="2400" dirty="0" err="1" smtClean="0"/>
              <a:t>Auditability</a:t>
            </a:r>
            <a:r>
              <a:rPr lang="en-US" sz="2400" dirty="0" smtClean="0"/>
              <a:t>?</a:t>
            </a:r>
          </a:p>
        </p:txBody>
      </p:sp>
      <p:pic>
        <p:nvPicPr>
          <p:cNvPr id="1026" name="Picture 2" descr="Demo là gì? Ý nghĩa của từ Demo? Các loại Demo phổ biế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3863975"/>
            <a:ext cx="3810000" cy="20796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Event Sourcing?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Audit log</a:t>
            </a:r>
          </a:p>
          <a:p>
            <a:pPr lvl="1"/>
            <a:r>
              <a:rPr lang="en-US" dirty="0" smtClean="0"/>
              <a:t>Why not use "traditional" log?</a:t>
            </a:r>
          </a:p>
          <a:p>
            <a:pPr lvl="2"/>
            <a:r>
              <a:rPr lang="en-US" dirty="0" smtClean="0"/>
              <a:t>How to prove the authenticity of the log?</a:t>
            </a:r>
          </a:p>
          <a:p>
            <a:pPr lvl="3"/>
            <a:r>
              <a:rPr lang="en-US" dirty="0" smtClean="0"/>
              <a:t>Restore the system state using the log.</a:t>
            </a:r>
          </a:p>
          <a:p>
            <a:r>
              <a:rPr lang="en-US" dirty="0" smtClean="0"/>
              <a:t>Big data</a:t>
            </a:r>
          </a:p>
          <a:p>
            <a:pPr lvl="1"/>
            <a:r>
              <a:rPr lang="en-US" dirty="0" smtClean="0"/>
              <a:t>Performance optimization</a:t>
            </a:r>
          </a:p>
          <a:p>
            <a:pPr lvl="2"/>
            <a:r>
              <a:rPr lang="en-US" dirty="0" smtClean="0"/>
              <a:t>Writes vs. reads</a:t>
            </a:r>
          </a:p>
          <a:p>
            <a:r>
              <a:rPr lang="en-US" dirty="0" smtClean="0"/>
              <a:t>Complexity</a:t>
            </a:r>
          </a:p>
          <a:p>
            <a:pPr lvl="1"/>
            <a:r>
              <a:rPr lang="en-US" dirty="0" smtClean="0"/>
              <a:t>Components dependency</a:t>
            </a:r>
          </a:p>
          <a:p>
            <a:endParaRPr lang="en-US" dirty="0"/>
          </a:p>
        </p:txBody>
      </p:sp>
      <p:pic>
        <p:nvPicPr>
          <p:cNvPr id="4" name="Picture 2" descr="https://island.lk/wp-content/uploads/2021/11/The-problems-of-lif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4038600"/>
            <a:ext cx="3095625" cy="18764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Counting Page Visitors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Google Analytics is a bit of JavaScript that you can put on your website, and that keeps track of </a:t>
            </a:r>
            <a:r>
              <a:rPr lang="en-US" sz="2400" i="1" dirty="0" smtClean="0">
                <a:solidFill>
                  <a:srgbClr val="C00000"/>
                </a:solidFill>
              </a:rPr>
              <a:t>which pages</a:t>
            </a:r>
            <a:r>
              <a:rPr lang="en-US" sz="2400" dirty="0" smtClean="0"/>
              <a:t> have been </a:t>
            </a:r>
            <a:r>
              <a:rPr lang="en-US" sz="2400" u="sng" dirty="0" smtClean="0"/>
              <a:t>viewed</a:t>
            </a:r>
            <a:r>
              <a:rPr lang="en-US" sz="2400" dirty="0" smtClean="0"/>
              <a:t> by </a:t>
            </a:r>
            <a:r>
              <a:rPr lang="en-US" sz="2400" i="1" dirty="0" smtClean="0">
                <a:solidFill>
                  <a:srgbClr val="C00000"/>
                </a:solidFill>
              </a:rPr>
              <a:t>which visitors</a:t>
            </a:r>
            <a:r>
              <a:rPr lang="en-US" sz="2400" dirty="0" smtClean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3168015"/>
            <a:ext cx="3800475" cy="2851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3725" y="3777615"/>
            <a:ext cx="3800475" cy="2851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Record Page View Event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How would you </a:t>
            </a:r>
            <a:r>
              <a:rPr lang="en-US" sz="2200" i="1" dirty="0" smtClean="0">
                <a:solidFill>
                  <a:srgbClr val="C00000"/>
                </a:solidFill>
              </a:rPr>
              <a:t>implement</a:t>
            </a:r>
            <a:r>
              <a:rPr lang="en-US" sz="2200" dirty="0" smtClean="0"/>
              <a:t> something like Google Analytics?</a:t>
            </a:r>
          </a:p>
          <a:p>
            <a:r>
              <a:rPr lang="en-US" sz="2200" dirty="0" smtClean="0"/>
              <a:t>First take the </a:t>
            </a:r>
            <a:r>
              <a:rPr lang="en-US" sz="2200" i="1" dirty="0" smtClean="0">
                <a:solidFill>
                  <a:srgbClr val="C00000"/>
                </a:solidFill>
              </a:rPr>
              <a:t>input</a:t>
            </a:r>
            <a:r>
              <a:rPr lang="en-US" sz="2200" dirty="0" smtClean="0"/>
              <a:t> to the system.</a:t>
            </a:r>
          </a:p>
          <a:p>
            <a:r>
              <a:rPr lang="en-US" sz="2200" dirty="0" smtClean="0"/>
              <a:t>Every time a user views a page, we need to </a:t>
            </a:r>
            <a:r>
              <a:rPr lang="en-US" sz="2200" i="1" dirty="0" smtClean="0">
                <a:solidFill>
                  <a:srgbClr val="C00000"/>
                </a:solidFill>
              </a:rPr>
              <a:t>log an event</a:t>
            </a:r>
            <a:r>
              <a:rPr lang="en-US" sz="2200" dirty="0" smtClean="0"/>
              <a:t> to record that fact.</a:t>
            </a:r>
          </a:p>
          <a:p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page view event</a:t>
            </a:r>
            <a:r>
              <a:rPr lang="en-US" sz="2200" dirty="0" smtClean="0"/>
              <a:t> might look something like the example (using a kind of pseudo-JSON).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 Reporting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4938" y="1571625"/>
            <a:ext cx="6334125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Raw Events vs. Aggregated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Raw events: you have maximum flexibility for </a:t>
            </a:r>
            <a:r>
              <a:rPr lang="en-US" sz="2400" i="1" dirty="0" smtClean="0">
                <a:solidFill>
                  <a:srgbClr val="C00000"/>
                </a:solidFill>
              </a:rPr>
              <a:t>analysis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Aggregated data: you need to make decisions or react to things in </a:t>
            </a:r>
            <a:r>
              <a:rPr lang="en-US" sz="2400" i="1" dirty="0" smtClean="0">
                <a:solidFill>
                  <a:srgbClr val="C00000"/>
                </a:solidFill>
              </a:rPr>
              <a:t>real time</a:t>
            </a:r>
            <a:r>
              <a:rPr lang="en-US" sz="2400" dirty="0" smtClean="0"/>
              <a:t>. E.g. for stock market trading, you also need to be quick.</a:t>
            </a:r>
            <a:endParaRPr 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352800"/>
            <a:ext cx="4222750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Counting Video Views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Raw Events or Aggregated Data?</a:t>
            </a:r>
            <a:endParaRPr lang="en-US" sz="2400" dirty="0"/>
          </a:p>
        </p:txBody>
      </p:sp>
      <p:pic>
        <p:nvPicPr>
          <p:cNvPr id="1028" name="Picture 4" descr="https://www.researchgate.net/profile/Lorenzo-Maggi-2/publication/321465025/figure/fig3/AS:648029581348868@1531513700564/Instance-of-audience-retention-rate-ARR-from-YouTub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743200"/>
            <a:ext cx="4768850" cy="1644650"/>
          </a:xfrm>
          <a:prstGeom prst="rect">
            <a:avLst/>
          </a:prstGeom>
          <a:noFill/>
        </p:spPr>
      </p:pic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4800600"/>
            <a:ext cx="4572000" cy="111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80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6400" y="4724400"/>
            <a:ext cx="2828925" cy="106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Shopping Cart Example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4938" y="1647825"/>
            <a:ext cx="6334125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Update a Shopping Cart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4938" y="1647825"/>
            <a:ext cx="6334125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Record Shopping Cart Changes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4938" y="1495425"/>
            <a:ext cx="6334125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Raw Events vs. Aggregated Data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4938" y="1571625"/>
            <a:ext cx="6334125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Bank Account Example</a:t>
            </a:r>
            <a:endParaRPr lang="en-US" dirty="0"/>
          </a:p>
        </p:txBody>
      </p:sp>
      <p:pic>
        <p:nvPicPr>
          <p:cNvPr id="1026" name="Picture 2" descr="https://developer.ibm.com/developer/default/tutorials/reactive-in-practice-5/images/unit5_journa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981200"/>
            <a:ext cx="6075357" cy="41721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Twitter Writes vs. Reads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Twitter's input: a tweet button. Twitter's output: a timeline.</a:t>
            </a:r>
            <a:endParaRPr lang="en-US" sz="2400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2438400"/>
            <a:ext cx="5278438" cy="373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Forms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Data is written in a simple form; it is read in a much more complex form.</a:t>
            </a:r>
            <a:endParaRPr 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36762" y="2593975"/>
            <a:ext cx="5278438" cy="373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Naïve Data Output Solution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Generating a timeline of tweets by using SQL.</a:t>
            </a:r>
            <a:endParaRPr 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441575"/>
            <a:ext cx="5278438" cy="373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Facebook</a:t>
            </a:r>
            <a:r>
              <a:rPr lang="en-US" dirty="0" smtClean="0"/>
              <a:t> Writes vs. Reads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Facebook's</a:t>
            </a:r>
            <a:r>
              <a:rPr lang="en-US" sz="2400" dirty="0" smtClean="0"/>
              <a:t> input: a “like” button.</a:t>
            </a:r>
          </a:p>
          <a:p>
            <a:r>
              <a:rPr lang="en-US" sz="2400" dirty="0" err="1" smtClean="0"/>
              <a:t>Facebook's</a:t>
            </a:r>
            <a:r>
              <a:rPr lang="en-US" sz="2400" dirty="0" smtClean="0"/>
              <a:t> output: a timeline post, liked by lots of people.</a:t>
            </a:r>
            <a:endParaRPr 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670175"/>
            <a:ext cx="5278438" cy="373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Forms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When you view a </a:t>
            </a:r>
            <a:r>
              <a:rPr lang="en-US" sz="2400" dirty="0" err="1" smtClean="0"/>
              <a:t>Facebook</a:t>
            </a:r>
            <a:r>
              <a:rPr lang="en-US" sz="2400" dirty="0" smtClean="0"/>
              <a:t> post, hundreds of thousands of events </a:t>
            </a:r>
            <a:r>
              <a:rPr lang="en-US" sz="2400" i="1" dirty="0" smtClean="0">
                <a:solidFill>
                  <a:srgbClr val="C00000"/>
                </a:solidFill>
              </a:rPr>
              <a:t>may have been aggregated</a:t>
            </a:r>
            <a:r>
              <a:rPr lang="en-US" sz="2400" dirty="0" smtClean="0"/>
              <a:t> in its making.</a:t>
            </a:r>
            <a:endParaRPr 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514600"/>
            <a:ext cx="5278438" cy="373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LinkedIn Writes vs. Reads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LinkedIn's input: your profile edits.</a:t>
            </a:r>
          </a:p>
          <a:p>
            <a:r>
              <a:rPr lang="en-US" sz="2400" dirty="0" smtClean="0"/>
              <a:t>LinkedIn's output: a search engine over everybody's profiles.</a:t>
            </a:r>
            <a:endParaRPr lang="en-US" sz="24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667000"/>
            <a:ext cx="5278438" cy="373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Forms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full-text index summarizes which profiles contain which keywords; when a profile is updated, the index needs to be updated accordingly.</a:t>
            </a:r>
            <a:endParaRPr lang="en-US" sz="24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743200"/>
            <a:ext cx="5278438" cy="373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Writes vs. Reads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Events</a:t>
            </a:r>
            <a:r>
              <a:rPr lang="en-US" sz="2400" dirty="0" smtClean="0"/>
              <a:t> are optimized for </a:t>
            </a:r>
            <a:r>
              <a:rPr lang="en-US" sz="2400" u="sng" dirty="0" smtClean="0"/>
              <a:t>writes</a:t>
            </a:r>
            <a:r>
              <a:rPr lang="en-US" sz="2400" dirty="0" smtClean="0"/>
              <a:t>; </a:t>
            </a:r>
            <a:r>
              <a:rPr lang="en-US" sz="2400" i="1" dirty="0" smtClean="0">
                <a:solidFill>
                  <a:srgbClr val="C00000"/>
                </a:solidFill>
              </a:rPr>
              <a:t>aggregated values</a:t>
            </a:r>
            <a:r>
              <a:rPr lang="en-US" sz="2400" dirty="0" smtClean="0"/>
              <a:t> are optimized for </a:t>
            </a:r>
            <a:r>
              <a:rPr lang="en-US" sz="2400" u="sng" dirty="0" smtClean="0"/>
              <a:t>reads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2438400"/>
            <a:ext cx="5278438" cy="396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Log?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https://engineering.linkedin.com/distributed-systems/log-what-every-software-engineer-should-know-about-real-time-datas-unifying</a:t>
            </a:r>
            <a:endParaRPr lang="en-US" sz="2000" dirty="0" smtClean="0"/>
          </a:p>
          <a:p>
            <a:r>
              <a:rPr lang="en-US" sz="2000" dirty="0" smtClean="0"/>
              <a:t>A </a:t>
            </a:r>
            <a:r>
              <a:rPr lang="en-US" sz="2000" i="1" dirty="0" smtClean="0">
                <a:solidFill>
                  <a:srgbClr val="C00000"/>
                </a:solidFill>
              </a:rPr>
              <a:t>log</a:t>
            </a:r>
            <a:r>
              <a:rPr lang="en-US" sz="2000" dirty="0" smtClean="0"/>
              <a:t> is perhaps the simplest possible </a:t>
            </a:r>
            <a:r>
              <a:rPr lang="en-US" sz="2000" u="sng" dirty="0" smtClean="0"/>
              <a:t>storage abstraction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It is an </a:t>
            </a:r>
            <a:r>
              <a:rPr lang="en-US" sz="2000" i="1" dirty="0" smtClean="0">
                <a:solidFill>
                  <a:srgbClr val="C00000"/>
                </a:solidFill>
              </a:rPr>
              <a:t>append-only</a:t>
            </a:r>
            <a:r>
              <a:rPr lang="en-US" sz="2000" dirty="0" smtClean="0"/>
              <a:t>, totally-ordered sequence of records </a:t>
            </a:r>
            <a:r>
              <a:rPr lang="en-US" sz="2000" i="1" dirty="0" smtClean="0">
                <a:solidFill>
                  <a:srgbClr val="C00000"/>
                </a:solidFill>
              </a:rPr>
              <a:t>ordered by time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It looks like this:</a:t>
            </a:r>
            <a:endParaRPr lang="en-US" sz="2000" dirty="0"/>
          </a:p>
        </p:txBody>
      </p:sp>
      <p:pic>
        <p:nvPicPr>
          <p:cNvPr id="1026" name="Picture 2" descr="https://content.linkedin.com/content/dam/engineering/en-us/blog/migrated/lo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3568997"/>
            <a:ext cx="5028572" cy="23746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"Application" Log vs. "Data" Log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Another definition of logging—"</a:t>
            </a:r>
            <a:r>
              <a:rPr lang="en-US" sz="2400" i="1" dirty="0" smtClean="0">
                <a:solidFill>
                  <a:srgbClr val="C00000"/>
                </a:solidFill>
              </a:rPr>
              <a:t>application logging</a:t>
            </a:r>
            <a:r>
              <a:rPr lang="en-US" sz="2400" dirty="0" smtClean="0"/>
              <a:t>"—the </a:t>
            </a:r>
            <a:r>
              <a:rPr lang="en-US" sz="2400" u="sng" dirty="0" smtClean="0"/>
              <a:t>unstructured error messages</a:t>
            </a:r>
            <a:r>
              <a:rPr lang="en-US" sz="2400" dirty="0" smtClean="0"/>
              <a:t> or trace info an application might write out to a local file using </a:t>
            </a:r>
            <a:r>
              <a:rPr lang="en-US" sz="2400" dirty="0" err="1" smtClean="0"/>
              <a:t>syslog</a:t>
            </a:r>
            <a:r>
              <a:rPr lang="en-US" sz="2400" dirty="0" smtClean="0"/>
              <a:t> or log4j.</a:t>
            </a:r>
          </a:p>
          <a:p>
            <a:r>
              <a:rPr lang="en-US" sz="2400" dirty="0" smtClean="0"/>
              <a:t>The application log is a degenerative form of the log concept being described.</a:t>
            </a:r>
          </a:p>
          <a:p>
            <a:r>
              <a:rPr lang="en-US" sz="2400" dirty="0" smtClean="0"/>
              <a:t>The biggest difference is that text logs are meant to be primarily for humans to read and the "journal" or "</a:t>
            </a:r>
            <a:r>
              <a:rPr lang="en-US" sz="2400" i="1" dirty="0" smtClean="0">
                <a:solidFill>
                  <a:srgbClr val="C00000"/>
                </a:solidFill>
              </a:rPr>
              <a:t>data logs</a:t>
            </a:r>
            <a:r>
              <a:rPr lang="en-US" sz="2400" dirty="0" smtClean="0"/>
              <a:t>" being described are built </a:t>
            </a:r>
            <a:r>
              <a:rPr lang="en-US" sz="2400" u="sng" dirty="0" smtClean="0"/>
              <a:t>for programmatic access</a:t>
            </a:r>
            <a:r>
              <a:rPr lang="en-US" sz="2400" dirty="0" smtClean="0"/>
              <a:t>. 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Event Stream?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It is a </a:t>
            </a:r>
            <a:r>
              <a:rPr lang="en-US" sz="2400" i="1" dirty="0" smtClean="0">
                <a:solidFill>
                  <a:srgbClr val="C00000"/>
                </a:solidFill>
              </a:rPr>
              <a:t>collection of events</a:t>
            </a:r>
            <a:r>
              <a:rPr lang="en-US" sz="2400" dirty="0" smtClean="0"/>
              <a:t> that happen to an </a:t>
            </a:r>
            <a:r>
              <a:rPr lang="en-US" sz="2400" u="sng" dirty="0" smtClean="0"/>
              <a:t>entity</a:t>
            </a:r>
            <a:r>
              <a:rPr lang="en-US" sz="2400" dirty="0" smtClean="0"/>
              <a:t> (e.g. an URL, a Bank Account).</a:t>
            </a:r>
          </a:p>
          <a:p>
            <a:r>
              <a:rPr lang="en-US" sz="2400" dirty="0" smtClean="0"/>
              <a:t>An event stream is usually </a:t>
            </a:r>
            <a:r>
              <a:rPr lang="en-US" sz="2400" i="1" dirty="0" smtClean="0">
                <a:solidFill>
                  <a:srgbClr val="C00000"/>
                </a:solidFill>
              </a:rPr>
              <a:t>stored</a:t>
            </a:r>
            <a:r>
              <a:rPr lang="en-US" sz="2400" dirty="0" smtClean="0"/>
              <a:t> as a Log.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Don't Use Both?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36762" y="1525587"/>
            <a:ext cx="5278438" cy="396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 an Event </a:t>
            </a:r>
            <a:r>
              <a:rPr lang="en-US" dirty="0" smtClean="0"/>
              <a:t>Stream?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828800"/>
            <a:ext cx="5278438" cy="396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Application: Version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sz="2400" dirty="0" smtClean="0"/>
              <a:t>One web app, one database: life is simple.</a:t>
            </a:r>
          </a:p>
          <a:p>
            <a:r>
              <a:rPr lang="en-US" sz="2400" dirty="0" smtClean="0"/>
              <a:t>Whenever the application wants to remember something for the future, it </a:t>
            </a:r>
            <a:r>
              <a:rPr lang="en-US" sz="2400" i="1" dirty="0" smtClean="0">
                <a:solidFill>
                  <a:srgbClr val="C00000"/>
                </a:solidFill>
              </a:rPr>
              <a:t>stores</a:t>
            </a:r>
            <a:r>
              <a:rPr lang="en-US" sz="2400" dirty="0" smtClean="0"/>
              <a:t> it in a database.</a:t>
            </a:r>
          </a:p>
          <a:p>
            <a:r>
              <a:rPr lang="en-US" sz="2400" dirty="0" smtClean="0"/>
              <a:t>Accordingly, whenever the application wants to look up something that it stored previously, it </a:t>
            </a:r>
            <a:r>
              <a:rPr lang="en-US" sz="2400" i="1" dirty="0" smtClean="0">
                <a:solidFill>
                  <a:srgbClr val="C00000"/>
                </a:solidFill>
              </a:rPr>
              <a:t>queries</a:t>
            </a:r>
            <a:r>
              <a:rPr lang="en-US" sz="2400" dirty="0" smtClean="0"/>
              <a:t> the database.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6450" y="2286000"/>
            <a:ext cx="4222750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Application: Version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sz="2400" dirty="0" smtClean="0"/>
              <a:t>More users, making more requests </a:t>
            </a:r>
            <a:r>
              <a:rPr lang="en-US" sz="2400" dirty="0" smtClean="0">
                <a:sym typeface="Wingdings" pitchFamily="2" charset="2"/>
              </a:rPr>
              <a:t> cache.</a:t>
            </a:r>
            <a:endParaRPr lang="en-US" sz="2400" dirty="0" smtClean="0"/>
          </a:p>
          <a:p>
            <a:r>
              <a:rPr lang="en-US" sz="2400" dirty="0" smtClean="0"/>
              <a:t>Slow search queries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/>
              <a:t>full-text search.</a:t>
            </a:r>
          </a:p>
          <a:p>
            <a:r>
              <a:rPr lang="en-US" sz="2400" dirty="0" smtClean="0"/>
              <a:t>Graph operations that are not efficient on a relational or document database </a:t>
            </a:r>
            <a:r>
              <a:rPr lang="en-US" sz="2400" dirty="0" smtClean="0">
                <a:sym typeface="Wingdings" pitchFamily="2" charset="2"/>
              </a:rPr>
              <a:t> graph database.</a:t>
            </a:r>
            <a:endParaRPr lang="en-US" sz="2400" dirty="0" smtClean="0"/>
          </a:p>
          <a:p>
            <a:r>
              <a:rPr lang="en-US" sz="2400" dirty="0" smtClean="0"/>
              <a:t>Expensive operations </a:t>
            </a:r>
            <a:r>
              <a:rPr lang="en-US" sz="2400" dirty="0" smtClean="0">
                <a:sym typeface="Wingdings" pitchFamily="2" charset="2"/>
              </a:rPr>
              <a:t> message queue and workers.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2209800"/>
            <a:ext cx="4222750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Application: Version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sz="2400" dirty="0" smtClean="0"/>
              <a:t>Send notifications, such as email or push notifications to users </a:t>
            </a:r>
            <a:r>
              <a:rPr lang="en-US" sz="2400" dirty="0" smtClean="0">
                <a:sym typeface="Wingdings" pitchFamily="2" charset="2"/>
              </a:rPr>
              <a:t> Notification system.</a:t>
            </a:r>
          </a:p>
          <a:p>
            <a:r>
              <a:rPr lang="en-US" sz="2400" dirty="0" smtClean="0"/>
              <a:t>A lot of data that needs to be analyzed </a:t>
            </a:r>
            <a:r>
              <a:rPr lang="en-US" sz="2400" dirty="0" smtClean="0">
                <a:sym typeface="Wingdings" pitchFamily="2" charset="2"/>
              </a:rPr>
              <a:t> HDFS.</a:t>
            </a:r>
          </a:p>
          <a:p>
            <a:r>
              <a:rPr lang="en-US" sz="2400" dirty="0" smtClean="0">
                <a:sym typeface="Wingdings" pitchFamily="2" charset="2"/>
              </a:rPr>
              <a:t>Search &amp; HDFS </a:t>
            </a:r>
            <a:r>
              <a:rPr lang="en-US" sz="2400" dirty="0" err="1" smtClean="0">
                <a:sym typeface="Wingdings" pitchFamily="2" charset="2"/>
              </a:rPr>
              <a:t>syncronization</a:t>
            </a:r>
            <a:r>
              <a:rPr lang="en-US" sz="2400" dirty="0" smtClean="0">
                <a:sym typeface="Wingdings" pitchFamily="2" charset="2"/>
              </a:rPr>
              <a:t>  Index builder.</a:t>
            </a:r>
          </a:p>
          <a:p>
            <a:r>
              <a:rPr lang="en-US" sz="2400" dirty="0" smtClean="0"/>
              <a:t>A lot of systems and services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/>
              <a:t>Metrics and monitoring.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2057400"/>
            <a:ext cx="4222750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Application: Version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sz="2400" dirty="0" smtClean="0"/>
              <a:t>More and more features are requested (</a:t>
            </a:r>
            <a:r>
              <a:rPr lang="en-US" sz="2400" dirty="0" err="1" smtClean="0"/>
              <a:t>multitenancy</a:t>
            </a:r>
            <a:r>
              <a:rPr lang="en-US" sz="2400" dirty="0" smtClean="0"/>
              <a:t>, business workflow builder, legacy systems integration, external systems integration) </a:t>
            </a:r>
            <a:r>
              <a:rPr lang="en-US" sz="2400" dirty="0" smtClean="0">
                <a:sym typeface="Wingdings" pitchFamily="2" charset="2"/>
              </a:rPr>
              <a:t> more and more</a:t>
            </a:r>
            <a:r>
              <a:rPr lang="en-US" sz="2400" dirty="0" smtClean="0"/>
              <a:t> services.</a:t>
            </a:r>
          </a:p>
          <a:p>
            <a:r>
              <a:rPr lang="en-US" sz="2400" dirty="0" smtClean="0"/>
              <a:t>A system with many interdependent components becomes very complex and </a:t>
            </a:r>
            <a:r>
              <a:rPr lang="en-US" sz="2400" i="1" dirty="0" smtClean="0">
                <a:solidFill>
                  <a:srgbClr val="C00000"/>
                </a:solidFill>
              </a:rPr>
              <a:t>difficult to manage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understand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6450" y="2133600"/>
            <a:ext cx="4222750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Real Trouble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05400" cy="4525963"/>
          </a:xfrm>
        </p:spPr>
        <p:txBody>
          <a:bodyPr/>
          <a:lstStyle/>
          <a:p>
            <a:r>
              <a:rPr lang="en-US" sz="2000" dirty="0" smtClean="0"/>
              <a:t>Also, as a system grows, you need a way of decomposing it into smaller components in order to keep it manageable.</a:t>
            </a:r>
          </a:p>
          <a:p>
            <a:r>
              <a:rPr lang="en-US" sz="2000" dirty="0" smtClean="0"/>
              <a:t>That's what </a:t>
            </a:r>
            <a:r>
              <a:rPr lang="en-US" sz="2000" i="1" dirty="0" err="1" smtClean="0">
                <a:solidFill>
                  <a:srgbClr val="C00000"/>
                </a:solidFill>
              </a:rPr>
              <a:t>microservices</a:t>
            </a:r>
            <a:r>
              <a:rPr lang="en-US" sz="2000" dirty="0" smtClean="0"/>
              <a:t> are all about.</a:t>
            </a:r>
          </a:p>
          <a:p>
            <a:r>
              <a:rPr lang="en-US" sz="2000" dirty="0" smtClean="0"/>
              <a:t>But, if your system becomes </a:t>
            </a:r>
            <a:r>
              <a:rPr lang="en-US" sz="2000" i="1" dirty="0" smtClean="0">
                <a:solidFill>
                  <a:srgbClr val="C00000"/>
                </a:solidFill>
              </a:rPr>
              <a:t>a tangled mess of interdependent components</a:t>
            </a:r>
            <a:r>
              <a:rPr lang="en-US" sz="2000" dirty="0" smtClean="0"/>
              <a:t>, that's not manageable either.</a:t>
            </a:r>
          </a:p>
          <a:p>
            <a:r>
              <a:rPr lang="en-US" sz="2000" dirty="0" smtClean="0"/>
              <a:t>Simply having many different storage systems is not a problem in and of itself: if they were all independent from one another, it wouldn't be a big deal.</a:t>
            </a:r>
          </a:p>
          <a:p>
            <a:r>
              <a:rPr lang="en-US" sz="2000" dirty="0" smtClean="0"/>
              <a:t>The real trouble here is that many of them end up containing </a:t>
            </a:r>
            <a:r>
              <a:rPr lang="en-US" sz="2000" i="1" dirty="0" smtClean="0">
                <a:solidFill>
                  <a:srgbClr val="C00000"/>
                </a:solidFill>
              </a:rPr>
              <a:t>the same data</a:t>
            </a:r>
            <a:r>
              <a:rPr lang="en-US" sz="2000" dirty="0" smtClean="0"/>
              <a:t>, or </a:t>
            </a:r>
            <a:r>
              <a:rPr lang="en-US" sz="2000" i="1" dirty="0" smtClean="0">
                <a:solidFill>
                  <a:srgbClr val="C00000"/>
                </a:solidFill>
              </a:rPr>
              <a:t>related data</a:t>
            </a:r>
            <a:r>
              <a:rPr lang="en-US" sz="2000" dirty="0" smtClean="0"/>
              <a:t>, but </a:t>
            </a:r>
            <a:r>
              <a:rPr lang="en-US" sz="2000" u="sng" dirty="0" smtClean="0"/>
              <a:t>in different form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2514600"/>
            <a:ext cx="3167063" cy="237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Challenge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problem of </a:t>
            </a:r>
            <a:r>
              <a:rPr lang="en-US" sz="2400" i="1" dirty="0" smtClean="0">
                <a:solidFill>
                  <a:srgbClr val="C00000"/>
                </a:solidFill>
              </a:rPr>
              <a:t>data integration</a:t>
            </a:r>
            <a:r>
              <a:rPr lang="en-US" sz="2400" dirty="0" smtClean="0"/>
              <a:t>: keeping data systems </a:t>
            </a:r>
            <a:r>
              <a:rPr lang="en-US" sz="2400" u="sng" dirty="0" smtClean="0"/>
              <a:t>synchronized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667000"/>
            <a:ext cx="4222750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An Integration Approach: Dual Writes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It's the responsibility of your </a:t>
            </a:r>
            <a:r>
              <a:rPr lang="en-US" sz="2400" i="1" dirty="0" smtClean="0">
                <a:solidFill>
                  <a:srgbClr val="C00000"/>
                </a:solidFill>
              </a:rPr>
              <a:t>application code</a:t>
            </a:r>
            <a:r>
              <a:rPr lang="en-US" sz="2400" dirty="0" smtClean="0"/>
              <a:t> to </a:t>
            </a:r>
            <a:r>
              <a:rPr lang="en-US" sz="2400" u="sng" dirty="0" smtClean="0"/>
              <a:t>update data</a:t>
            </a:r>
            <a:r>
              <a:rPr lang="en-US" sz="2400" dirty="0" smtClean="0"/>
              <a:t> in all the </a:t>
            </a:r>
            <a:r>
              <a:rPr lang="en-US" sz="2400" u="sng" dirty="0" smtClean="0"/>
              <a:t>appropriate places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819400"/>
            <a:ext cx="4222750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Dual Writes Issue: Race Conditions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Two different clients </a:t>
            </a:r>
            <a:r>
              <a:rPr lang="en-US" sz="2200" dirty="0" smtClean="0">
                <a:solidFill>
                  <a:srgbClr val="C00000"/>
                </a:solidFill>
              </a:rPr>
              <a:t>concurrently</a:t>
            </a:r>
            <a:r>
              <a:rPr lang="en-US" sz="2200" dirty="0" smtClean="0"/>
              <a:t> writing to the same key, using dual writes.</a:t>
            </a:r>
          </a:p>
          <a:p>
            <a:r>
              <a:rPr lang="en-US" sz="2200" dirty="0" smtClean="0"/>
              <a:t>A race condition with dual writes leads to perpetual </a:t>
            </a:r>
            <a:r>
              <a:rPr lang="en-US" sz="2200" i="1" dirty="0" smtClean="0">
                <a:solidFill>
                  <a:srgbClr val="C00000"/>
                </a:solidFill>
              </a:rPr>
              <a:t>inconsistency</a:t>
            </a:r>
            <a:r>
              <a:rPr lang="en-US" sz="2200" dirty="0" smtClean="0"/>
              <a:t> between two </a:t>
            </a:r>
            <a:r>
              <a:rPr lang="en-US" sz="2200" dirty="0" err="1" smtClean="0"/>
              <a:t>datastores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429000"/>
            <a:ext cx="3167063" cy="237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3429000"/>
            <a:ext cx="3167063" cy="237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Dual Writes Issue: Partial Failures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One write succeeds; the other write fails. What now?</a:t>
            </a:r>
          </a:p>
          <a:p>
            <a:r>
              <a:rPr lang="en-US" sz="2200" dirty="0" smtClean="0"/>
              <a:t>Some systems support </a:t>
            </a:r>
            <a:r>
              <a:rPr lang="en-US" sz="2200" i="1" dirty="0" smtClean="0">
                <a:solidFill>
                  <a:srgbClr val="C00000"/>
                </a:solidFill>
              </a:rPr>
              <a:t>distributed transactions</a:t>
            </a:r>
            <a:r>
              <a:rPr lang="en-US" sz="2200" dirty="0" smtClean="0"/>
              <a:t>, based on 2-phase commit, for example.</a:t>
            </a:r>
          </a:p>
          <a:p>
            <a:r>
              <a:rPr lang="en-US" sz="2200" dirty="0" smtClean="0"/>
              <a:t>However, many </a:t>
            </a:r>
            <a:r>
              <a:rPr lang="en-US" sz="2200" dirty="0" err="1" smtClean="0"/>
              <a:t>datastores</a:t>
            </a:r>
            <a:r>
              <a:rPr lang="en-US" sz="2200" dirty="0" smtClean="0"/>
              <a:t> nowadays don't support it, and even if they did, it's not clear whether distributed transactions are a good idea in the first place.</a:t>
            </a:r>
            <a:endParaRPr lang="en-US" sz="2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4100512"/>
            <a:ext cx="3167063" cy="237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4024312"/>
            <a:ext cx="3167063" cy="237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Integration Approach: Log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Store</a:t>
            </a:r>
            <a:r>
              <a:rPr lang="en-US" sz="2400" dirty="0" smtClean="0"/>
              <a:t> all your </a:t>
            </a:r>
            <a:r>
              <a:rPr lang="en-US" sz="2400" u="sng" dirty="0" smtClean="0"/>
              <a:t>writes</a:t>
            </a:r>
            <a:r>
              <a:rPr lang="en-US" sz="2400" dirty="0" smtClean="0"/>
              <a:t> in </a:t>
            </a:r>
            <a:r>
              <a:rPr lang="en-US" sz="2400" u="sng" dirty="0" smtClean="0"/>
              <a:t>a fixed order</a:t>
            </a:r>
            <a:r>
              <a:rPr lang="en-US" sz="2400" dirty="0" smtClean="0"/>
              <a:t>, and apply them in that fixed order to the various places they need to go.</a:t>
            </a:r>
            <a:endParaRPr lang="en-US" sz="22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819400"/>
            <a:ext cx="4222750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370" name="Picture 2" descr="https://content.linkedin.com/content/dam/engineering/en-us/blog/migrated/log_subscriptio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2895600"/>
            <a:ext cx="3048000" cy="2905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Example Logs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Primary-backup replication</a:t>
            </a:r>
            <a:r>
              <a:rPr lang="en-US" sz="2200" dirty="0" smtClean="0"/>
              <a:t>: elect one replica as the leader and allow this leader to process requests.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State machine replication</a:t>
            </a:r>
            <a:r>
              <a:rPr lang="en-US" sz="2200" dirty="0" smtClean="0"/>
              <a:t>: an active-active model where a log of the incoming requests is kept and each replica processes each request.</a:t>
            </a:r>
            <a:endParaRPr lang="en-US" sz="2200" dirty="0"/>
          </a:p>
        </p:txBody>
      </p:sp>
      <p:pic>
        <p:nvPicPr>
          <p:cNvPr id="113666" name="Picture 2" descr="https://content.linkedin.com/content/dam/engineering/en-us/blog/migrated/active_and_passive_arc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6657" y="3315086"/>
            <a:ext cx="6057143" cy="30857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Log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Install, run, and execute CRUD commands.</a:t>
            </a:r>
          </a:p>
          <a:p>
            <a:pPr lvl="1"/>
            <a:r>
              <a:rPr lang="en-US" sz="2200" b="1" dirty="0" err="1" smtClean="0"/>
              <a:t>EventStoreDB</a:t>
            </a:r>
            <a:endParaRPr lang="en-US" sz="2200" b="1" dirty="0" smtClean="0"/>
          </a:p>
          <a:p>
            <a:pPr lvl="1"/>
            <a:r>
              <a:rPr lang="en-US" sz="2200" dirty="0" err="1" smtClean="0"/>
              <a:t>PostgreSQL</a:t>
            </a:r>
            <a:r>
              <a:rPr lang="en-US" sz="2200" dirty="0" smtClean="0"/>
              <a:t> with JSONB</a:t>
            </a:r>
          </a:p>
          <a:p>
            <a:pPr lvl="1"/>
            <a:r>
              <a:rPr lang="en-US" sz="2200" dirty="0" smtClean="0"/>
              <a:t>Apache Kafka</a:t>
            </a:r>
          </a:p>
          <a:p>
            <a:pPr lvl="1"/>
            <a:r>
              <a:rPr lang="en-US" sz="2200" dirty="0" err="1" smtClean="0"/>
              <a:t>RabbitMQ</a:t>
            </a:r>
            <a:endParaRPr lang="en-US" sz="2200" dirty="0" smtClean="0"/>
          </a:p>
          <a:p>
            <a:pPr lvl="1"/>
            <a:r>
              <a:rPr lang="en-US" sz="2200" dirty="0" smtClean="0"/>
              <a:t>Amazon Kinesis (cloud based solution)</a:t>
            </a:r>
          </a:p>
          <a:p>
            <a:pPr lvl="1"/>
            <a:r>
              <a:rPr lang="en-US" sz="2200" dirty="0" smtClean="0"/>
              <a:t>Microsoft Azure Event Hubs (cloud based solution)</a:t>
            </a:r>
          </a:p>
          <a:p>
            <a:pPr lvl="1"/>
            <a:r>
              <a:rPr lang="en-US" sz="2200" dirty="0" smtClean="0"/>
              <a:t>Google Pub/Sub (cloud based solution)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400" y="2514600"/>
            <a:ext cx="1251585" cy="1125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Distributed Log (aka Event Sourcing)?</a:t>
            </a:r>
            <a:endParaRPr 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0562" y="1906587"/>
            <a:ext cx="5278438" cy="396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0550" y="4267200"/>
            <a:ext cx="79629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Storage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Save object state (value of properties) in tables or documents of RDMS or </a:t>
            </a:r>
            <a:r>
              <a:rPr lang="en-US" sz="2400" dirty="0" err="1" smtClean="0"/>
              <a:t>NoSQL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sp>
        <p:nvSpPr>
          <p:cNvPr id="10" name="Rectangle 35"/>
          <p:cNvSpPr/>
          <p:nvPr/>
        </p:nvSpPr>
        <p:spPr>
          <a:xfrm>
            <a:off x="1066800" y="5285601"/>
            <a:ext cx="1374096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04e3b534-8a40…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11" name="Rectangle 36"/>
          <p:cNvSpPr/>
          <p:nvPr/>
        </p:nvSpPr>
        <p:spPr>
          <a:xfrm>
            <a:off x="2895600" y="5285601"/>
            <a:ext cx="1289139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Tony Ferguson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12" name="Rectangle 26"/>
          <p:cNvSpPr/>
          <p:nvPr/>
        </p:nvSpPr>
        <p:spPr>
          <a:xfrm>
            <a:off x="5791200" y="5257800"/>
            <a:ext cx="437940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smtClean="0">
                <a:solidFill>
                  <a:srgbClr val="C00000"/>
                </a:solidFill>
                <a:uFillTx/>
                <a:latin typeface="Consolas" pitchFamily="49"/>
                <a:ea typeface="Fira Code Light" pitchFamily="49"/>
              </a:rPr>
              <a:t>10</a:t>
            </a:r>
            <a:endParaRPr lang="en-GB" sz="1800" b="1" i="0" u="none" strike="noStrike" kern="1200" cap="none" spc="0" baseline="0" dirty="0">
              <a:solidFill>
                <a:srgbClr val="C00000"/>
              </a:solidFill>
              <a:uFillTx/>
              <a:latin typeface="Consolas" pitchFamily="49"/>
            </a:endParaRPr>
          </a:p>
        </p:txBody>
      </p:sp>
      <p:sp>
        <p:nvSpPr>
          <p:cNvPr id="13" name="TextBox 27"/>
          <p:cNvSpPr txBox="1"/>
          <p:nvPr/>
        </p:nvSpPr>
        <p:spPr>
          <a:xfrm>
            <a:off x="4896158" y="5285601"/>
            <a:ext cx="437842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32</a:t>
            </a:r>
          </a:p>
        </p:txBody>
      </p:sp>
      <p:pic>
        <p:nvPicPr>
          <p:cNvPr id="14" name="Picture 5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643" y="3202087"/>
            <a:ext cx="2626696" cy="566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3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713065" y="2638560"/>
            <a:ext cx="4059335" cy="15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3"/>
          <p:cNvSpPr/>
          <p:nvPr/>
        </p:nvSpPr>
        <p:spPr>
          <a:xfrm>
            <a:off x="3853846" y="2974291"/>
            <a:ext cx="4075922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04e3b534-8a40-4180-a7ed-d5afaa45a858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Name: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Tony Ferguson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Age: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Ward: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10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IsAdmitted</a:t>
            </a: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true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</p:txBody>
      </p:sp>
      <p:sp>
        <p:nvSpPr>
          <p:cNvPr id="20" name="TextBox 27"/>
          <p:cNvSpPr txBox="1"/>
          <p:nvPr/>
        </p:nvSpPr>
        <p:spPr>
          <a:xfrm>
            <a:off x="7162800" y="5257800"/>
            <a:ext cx="533400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 smtClean="0">
                <a:solidFill>
                  <a:srgbClr val="000000"/>
                </a:solidFill>
                <a:uFillTx/>
                <a:latin typeface="Consolas" pitchFamily="49"/>
              </a:rPr>
              <a:t>true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0550" y="3429000"/>
            <a:ext cx="79629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Transfer Patient</a:t>
            </a:r>
            <a:endParaRPr lang="en-US" dirty="0"/>
          </a:p>
        </p:txBody>
      </p:sp>
      <p:sp>
        <p:nvSpPr>
          <p:cNvPr id="10" name="Rectangle 35"/>
          <p:cNvSpPr/>
          <p:nvPr/>
        </p:nvSpPr>
        <p:spPr>
          <a:xfrm>
            <a:off x="1066800" y="4447401"/>
            <a:ext cx="1374096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04e3b534-8a40…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11" name="Rectangle 36"/>
          <p:cNvSpPr/>
          <p:nvPr/>
        </p:nvSpPr>
        <p:spPr>
          <a:xfrm>
            <a:off x="2895600" y="4447401"/>
            <a:ext cx="1289139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Tony Ferguson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12" name="Rectangle 26"/>
          <p:cNvSpPr/>
          <p:nvPr/>
        </p:nvSpPr>
        <p:spPr>
          <a:xfrm>
            <a:off x="5791200" y="4419600"/>
            <a:ext cx="437940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smtClean="0">
                <a:solidFill>
                  <a:srgbClr val="C00000"/>
                </a:solidFill>
                <a:uFillTx/>
                <a:latin typeface="Consolas" pitchFamily="49"/>
                <a:ea typeface="Fira Code Light" pitchFamily="49"/>
              </a:rPr>
              <a:t>76</a:t>
            </a:r>
            <a:endParaRPr lang="en-GB" sz="1800" b="1" i="0" u="none" strike="noStrike" kern="1200" cap="none" spc="0" baseline="0" dirty="0">
              <a:solidFill>
                <a:srgbClr val="C00000"/>
              </a:solidFill>
              <a:uFillTx/>
              <a:latin typeface="Consolas" pitchFamily="49"/>
            </a:endParaRPr>
          </a:p>
        </p:txBody>
      </p:sp>
      <p:sp>
        <p:nvSpPr>
          <p:cNvPr id="13" name="TextBox 27"/>
          <p:cNvSpPr txBox="1"/>
          <p:nvPr/>
        </p:nvSpPr>
        <p:spPr>
          <a:xfrm>
            <a:off x="4896158" y="4447401"/>
            <a:ext cx="437842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32</a:t>
            </a:r>
          </a:p>
        </p:txBody>
      </p:sp>
      <p:sp>
        <p:nvSpPr>
          <p:cNvPr id="20" name="TextBox 27"/>
          <p:cNvSpPr txBox="1"/>
          <p:nvPr/>
        </p:nvSpPr>
        <p:spPr>
          <a:xfrm>
            <a:off x="7162800" y="4419600"/>
            <a:ext cx="533400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 smtClean="0">
                <a:solidFill>
                  <a:srgbClr val="000000"/>
                </a:solidFill>
                <a:uFillTx/>
                <a:latin typeface="Consolas" pitchFamily="49"/>
              </a:rPr>
              <a:t>true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18" name="Rectangle 15"/>
          <p:cNvSpPr/>
          <p:nvPr/>
        </p:nvSpPr>
        <p:spPr>
          <a:xfrm>
            <a:off x="5147301" y="2300369"/>
            <a:ext cx="184109" cy="200564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19" name="Picture 5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4677" y="2170231"/>
            <a:ext cx="2728907" cy="524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5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165297" y="1676400"/>
            <a:ext cx="4094442" cy="15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Rectangle 3"/>
          <p:cNvSpPr/>
          <p:nvPr/>
        </p:nvSpPr>
        <p:spPr>
          <a:xfrm>
            <a:off x="4306078" y="2012122"/>
            <a:ext cx="4075922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04e3b534-8a40-4180-a7ed-d5afaa45a858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Name: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Tony Ferguson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Age: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Ward: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76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IsAdmitted</a:t>
            </a: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true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</p:txBody>
      </p:sp>
      <p:pic>
        <p:nvPicPr>
          <p:cNvPr id="23" name="Picture 62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54539" y="2498288"/>
            <a:ext cx="457200" cy="519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0550" y="3429000"/>
            <a:ext cx="79629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Transfer Patient Once More Time</a:t>
            </a:r>
            <a:endParaRPr lang="en-US" dirty="0"/>
          </a:p>
        </p:txBody>
      </p:sp>
      <p:sp>
        <p:nvSpPr>
          <p:cNvPr id="10" name="Rectangle 35"/>
          <p:cNvSpPr/>
          <p:nvPr/>
        </p:nvSpPr>
        <p:spPr>
          <a:xfrm>
            <a:off x="1066800" y="4447401"/>
            <a:ext cx="1374096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04e3b534-8a40…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11" name="Rectangle 36"/>
          <p:cNvSpPr/>
          <p:nvPr/>
        </p:nvSpPr>
        <p:spPr>
          <a:xfrm>
            <a:off x="2895600" y="4447401"/>
            <a:ext cx="1289139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Tony Ferguson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12" name="Rectangle 26"/>
          <p:cNvSpPr/>
          <p:nvPr/>
        </p:nvSpPr>
        <p:spPr>
          <a:xfrm>
            <a:off x="5791200" y="4419600"/>
            <a:ext cx="437940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smtClean="0">
                <a:solidFill>
                  <a:srgbClr val="C00000"/>
                </a:solidFill>
                <a:uFillTx/>
                <a:latin typeface="Consolas" pitchFamily="49"/>
                <a:ea typeface="Fira Code Light" pitchFamily="49"/>
              </a:rPr>
              <a:t>34</a:t>
            </a:r>
            <a:endParaRPr lang="en-GB" sz="1800" b="1" i="0" u="none" strike="noStrike" kern="1200" cap="none" spc="0" baseline="0" dirty="0">
              <a:solidFill>
                <a:srgbClr val="C00000"/>
              </a:solidFill>
              <a:uFillTx/>
              <a:latin typeface="Consolas" pitchFamily="49"/>
            </a:endParaRPr>
          </a:p>
        </p:txBody>
      </p:sp>
      <p:sp>
        <p:nvSpPr>
          <p:cNvPr id="13" name="TextBox 27"/>
          <p:cNvSpPr txBox="1"/>
          <p:nvPr/>
        </p:nvSpPr>
        <p:spPr>
          <a:xfrm>
            <a:off x="4896158" y="4447401"/>
            <a:ext cx="437842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32</a:t>
            </a:r>
          </a:p>
        </p:txBody>
      </p:sp>
      <p:sp>
        <p:nvSpPr>
          <p:cNvPr id="20" name="TextBox 27"/>
          <p:cNvSpPr txBox="1"/>
          <p:nvPr/>
        </p:nvSpPr>
        <p:spPr>
          <a:xfrm>
            <a:off x="7162800" y="4419600"/>
            <a:ext cx="533400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 smtClean="0">
                <a:solidFill>
                  <a:srgbClr val="000000"/>
                </a:solidFill>
                <a:uFillTx/>
                <a:latin typeface="Consolas" pitchFamily="49"/>
              </a:rPr>
              <a:t>true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pic>
        <p:nvPicPr>
          <p:cNvPr id="14" name="Picture 5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5780" y="2150129"/>
            <a:ext cx="2728907" cy="524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5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89097" y="1600200"/>
            <a:ext cx="4094442" cy="15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3"/>
          <p:cNvSpPr/>
          <p:nvPr/>
        </p:nvSpPr>
        <p:spPr>
          <a:xfrm>
            <a:off x="4229878" y="1935931"/>
            <a:ext cx="4075922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04e3b534-8a40-4180-a7ed-d5afaa45a858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Name: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Tony Ferguson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Age: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Ward: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34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IsAdmitted</a:t>
            </a: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true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</p:txBody>
      </p:sp>
      <p:pic>
        <p:nvPicPr>
          <p:cNvPr id="17" name="Picture 6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678339" y="2413102"/>
            <a:ext cx="420752" cy="511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0550" y="3429000"/>
            <a:ext cx="79629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Discharge Patient</a:t>
            </a:r>
            <a:endParaRPr lang="en-US" dirty="0"/>
          </a:p>
        </p:txBody>
      </p:sp>
      <p:sp>
        <p:nvSpPr>
          <p:cNvPr id="10" name="Rectangle 35"/>
          <p:cNvSpPr/>
          <p:nvPr/>
        </p:nvSpPr>
        <p:spPr>
          <a:xfrm>
            <a:off x="1066800" y="4447401"/>
            <a:ext cx="1374096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04e3b534-8a40…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11" name="Rectangle 36"/>
          <p:cNvSpPr/>
          <p:nvPr/>
        </p:nvSpPr>
        <p:spPr>
          <a:xfrm>
            <a:off x="2895600" y="4447401"/>
            <a:ext cx="1289139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Tony Ferguson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12" name="Rectangle 26"/>
          <p:cNvSpPr/>
          <p:nvPr/>
        </p:nvSpPr>
        <p:spPr>
          <a:xfrm>
            <a:off x="5791200" y="4419600"/>
            <a:ext cx="691215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smtClean="0">
                <a:solidFill>
                  <a:srgbClr val="C00000"/>
                </a:solidFill>
                <a:uFillTx/>
                <a:latin typeface="Consolas" pitchFamily="49"/>
                <a:ea typeface="Fira Code Light" pitchFamily="49"/>
              </a:rPr>
              <a:t>NULL</a:t>
            </a:r>
            <a:endParaRPr lang="en-GB" sz="1800" b="1" i="0" u="none" strike="noStrike" kern="1200" cap="none" spc="0" baseline="0" dirty="0">
              <a:solidFill>
                <a:srgbClr val="C00000"/>
              </a:solidFill>
              <a:uFillTx/>
              <a:latin typeface="Consolas" pitchFamily="49"/>
            </a:endParaRPr>
          </a:p>
        </p:txBody>
      </p:sp>
      <p:sp>
        <p:nvSpPr>
          <p:cNvPr id="13" name="TextBox 27"/>
          <p:cNvSpPr txBox="1"/>
          <p:nvPr/>
        </p:nvSpPr>
        <p:spPr>
          <a:xfrm>
            <a:off x="4896158" y="4447401"/>
            <a:ext cx="437842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32</a:t>
            </a:r>
          </a:p>
        </p:txBody>
      </p:sp>
      <p:sp>
        <p:nvSpPr>
          <p:cNvPr id="20" name="TextBox 27"/>
          <p:cNvSpPr txBox="1"/>
          <p:nvPr/>
        </p:nvSpPr>
        <p:spPr>
          <a:xfrm>
            <a:off x="7162800" y="4419600"/>
            <a:ext cx="533400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 smtClean="0">
                <a:solidFill>
                  <a:srgbClr val="000000"/>
                </a:solidFill>
                <a:uFillTx/>
                <a:latin typeface="Consolas" pitchFamily="49"/>
              </a:rPr>
              <a:t>true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18" name="TextBox 7"/>
          <p:cNvSpPr txBox="1"/>
          <p:nvPr/>
        </p:nvSpPr>
        <p:spPr>
          <a:xfrm>
            <a:off x="979154" y="2308185"/>
            <a:ext cx="2464136" cy="369332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Fira Code" pitchFamily="49"/>
                <a:ea typeface="Fira Code" pitchFamily="49"/>
              </a:rPr>
              <a:t>DischargePatient()</a:t>
            </a:r>
          </a:p>
        </p:txBody>
      </p:sp>
      <p:pic>
        <p:nvPicPr>
          <p:cNvPr id="19" name="Picture 5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79155" y="2178421"/>
            <a:ext cx="2805182" cy="560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6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41497" y="1600200"/>
            <a:ext cx="4129865" cy="15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Rectangle 3"/>
          <p:cNvSpPr/>
          <p:nvPr/>
        </p:nvSpPr>
        <p:spPr>
          <a:xfrm>
            <a:off x="4382278" y="1935932"/>
            <a:ext cx="4075922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04e3b534-8a40-4180-a7ed-d5afaa45a858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Name: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Tony Ferguson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Age: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Ward: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null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IsAdmitted</a:t>
            </a: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false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</p:txBody>
      </p:sp>
      <p:pic>
        <p:nvPicPr>
          <p:cNvPr id="23" name="Picture 6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941488" y="2120548"/>
            <a:ext cx="2162924" cy="1068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Sourcing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/>
              <a:t>Saving objects</a:t>
            </a:r>
          </a:p>
          <a:p>
            <a:pPr lvl="1"/>
            <a:r>
              <a:rPr lang="en-US" sz="2400" dirty="0" smtClean="0"/>
              <a:t>Create an event for every state change of the object.</a:t>
            </a:r>
          </a:p>
          <a:p>
            <a:pPr lvl="1"/>
            <a:r>
              <a:rPr lang="en-US" sz="2400" dirty="0" smtClean="0"/>
              <a:t>Persist </a:t>
            </a:r>
            <a:r>
              <a:rPr lang="en-US" sz="2400" i="1" dirty="0" smtClean="0">
                <a:solidFill>
                  <a:srgbClr val="C00000"/>
                </a:solidFill>
              </a:rPr>
              <a:t>stream</a:t>
            </a:r>
            <a:r>
              <a:rPr lang="en-US" sz="2400" dirty="0" smtClean="0"/>
              <a:t> of events, preserving event order.</a:t>
            </a:r>
          </a:p>
        </p:txBody>
      </p:sp>
      <p:pic>
        <p:nvPicPr>
          <p:cNvPr id="5" name="Picture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60473" y="3124200"/>
            <a:ext cx="3490447" cy="1587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614" y="4069636"/>
            <a:ext cx="1371599" cy="221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3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79689" y="3147188"/>
            <a:ext cx="4052548" cy="15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3"/>
          <p:cNvSpPr/>
          <p:nvPr/>
        </p:nvSpPr>
        <p:spPr>
          <a:xfrm>
            <a:off x="1767397" y="3482919"/>
            <a:ext cx="5434562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04e3b534-8a40-4180-a7ed-d5afaa45a858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Name: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Tony Ferguson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Age: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Ward: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10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IsAdmitted</a:t>
            </a: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true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</p:txBody>
      </p:sp>
      <p:sp>
        <p:nvSpPr>
          <p:cNvPr id="9" name="Rectangle 20"/>
          <p:cNvSpPr/>
          <p:nvPr/>
        </p:nvSpPr>
        <p:spPr>
          <a:xfrm>
            <a:off x="5818014" y="3495849"/>
            <a:ext cx="3478386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PatientAdmitted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600" b="0" i="0" u="none" strike="noStrike" kern="120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Name: </a:t>
            </a:r>
            <a:r>
              <a:rPr lang="en-GB" sz="1600" b="0" i="0" u="none" strike="noStrike" kern="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Tony Ferguson</a:t>
            </a:r>
            <a:r>
              <a:rPr lang="en-GB" sz="1600" b="0" i="0" u="none" strike="noStrike" kern="120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	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Age: </a:t>
            </a:r>
            <a:r>
              <a:rPr lang="en-GB" sz="1600" b="0" i="0" u="none" strike="noStrike" kern="120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Ward:</a:t>
            </a:r>
            <a:r>
              <a:rPr lang="en-GB" sz="1600" b="0" i="0" u="none" strike="noStrike" kern="120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10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404969" y="5286831"/>
            <a:ext cx="0" cy="0"/>
          </a:xfrm>
          <a:prstGeom prst="straightConnector1">
            <a:avLst/>
          </a:prstGeom>
          <a:noFill/>
          <a:ln w="6345">
            <a:solidFill>
              <a:srgbClr val="5B9BD5"/>
            </a:solidFill>
            <a:prstDash val="solid"/>
            <a:miter/>
            <a:tailEnd type="arrow"/>
          </a:ln>
        </p:spPr>
      </p:cxnSp>
      <p:cxnSp>
        <p:nvCxnSpPr>
          <p:cNvPr id="11" name="Straight Arrow Connector 11"/>
          <p:cNvCxnSpPr/>
          <p:nvPr/>
        </p:nvCxnSpPr>
        <p:spPr>
          <a:xfrm flipV="1">
            <a:off x="3722768" y="5667917"/>
            <a:ext cx="234812" cy="9939"/>
          </a:xfrm>
          <a:prstGeom prst="straightConnector1">
            <a:avLst/>
          </a:prstGeom>
          <a:noFill/>
          <a:ln w="6345">
            <a:solidFill>
              <a:srgbClr val="5B9BD5"/>
            </a:solidFill>
            <a:prstDash val="solid"/>
            <a:miter/>
            <a:tailEnd type="arrow"/>
          </a:ln>
        </p:spPr>
      </p:cxnSp>
      <p:pic>
        <p:nvPicPr>
          <p:cNvPr id="12" name="Picture 2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52800" y="5029200"/>
            <a:ext cx="1366909" cy="1378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3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1495" y="5469438"/>
            <a:ext cx="2626696" cy="56636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0" y="4800600"/>
            <a:ext cx="3291286" cy="8925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600" dirty="0" smtClean="0">
                <a:latin typeface="Consolas" pitchFamily="49" charset="0"/>
              </a:rPr>
              <a:t>What is an event </a:t>
            </a:r>
          </a:p>
          <a:p>
            <a:pPr algn="ctr"/>
            <a:r>
              <a:rPr lang="en-US" sz="2600" dirty="0" smtClean="0">
                <a:latin typeface="Consolas" pitchFamily="49" charset="0"/>
              </a:rPr>
              <a:t>technically?</a:t>
            </a:r>
            <a:endParaRPr lang="en-US" sz="26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is the Event Stored?</a:t>
            </a:r>
            <a:endParaRPr lang="en-US" dirty="0"/>
          </a:p>
        </p:txBody>
      </p:sp>
      <p:pic>
        <p:nvPicPr>
          <p:cNvPr id="11469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905000"/>
            <a:ext cx="8009573" cy="3749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799" y="3886200"/>
            <a:ext cx="3474401" cy="2366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Transfer Patient</a:t>
            </a:r>
            <a:endParaRPr lang="en-US" dirty="0"/>
          </a:p>
        </p:txBody>
      </p:sp>
      <p:sp>
        <p:nvSpPr>
          <p:cNvPr id="27" name="Rectangle 15"/>
          <p:cNvSpPr/>
          <p:nvPr/>
        </p:nvSpPr>
        <p:spPr>
          <a:xfrm>
            <a:off x="3026581" y="2652929"/>
            <a:ext cx="245479" cy="200564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28" name="Picture 5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9177" y="2841717"/>
            <a:ext cx="1447799" cy="208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5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17242" y="2028960"/>
            <a:ext cx="3997757" cy="15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Rectangle 3"/>
          <p:cNvSpPr/>
          <p:nvPr/>
        </p:nvSpPr>
        <p:spPr>
          <a:xfrm>
            <a:off x="1904951" y="2364682"/>
            <a:ext cx="5434562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04e3b534-8a40-4180-a7ed-d5afaa45a858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Name: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Tony Ferguson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Age: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Ward: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76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IsAdmitted</a:t>
            </a: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true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</p:txBody>
      </p:sp>
      <p:pic>
        <p:nvPicPr>
          <p:cNvPr id="31" name="Picture 6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92999" y="2888112"/>
            <a:ext cx="526401" cy="44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Picture 4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652727" y="1948667"/>
            <a:ext cx="3490447" cy="158782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Rectangle 22"/>
          <p:cNvSpPr/>
          <p:nvPr/>
        </p:nvSpPr>
        <p:spPr>
          <a:xfrm>
            <a:off x="6041201" y="2253555"/>
            <a:ext cx="3712399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PatientTransferred</a:t>
            </a: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ToWard</a:t>
            </a: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76</a:t>
            </a:r>
          </a:p>
        </p:txBody>
      </p:sp>
      <p:pic>
        <p:nvPicPr>
          <p:cNvPr id="34" name="Picture 2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101610" y="4114800"/>
            <a:ext cx="1366909" cy="1378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Picture 2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643535" y="4197625"/>
            <a:ext cx="1695537" cy="1308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Picture 3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19200" y="4546140"/>
            <a:ext cx="2728907" cy="524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is the Event Stored?</a:t>
            </a:r>
            <a:endParaRPr lang="en-US" dirty="0"/>
          </a:p>
        </p:txBody>
      </p:sp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305" y="2031682"/>
            <a:ext cx="8075295" cy="3454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47800" y="4953000"/>
            <a:ext cx="526401" cy="448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Transfer Patient Once More Time</a:t>
            </a:r>
            <a:endParaRPr lang="en-US" dirty="0"/>
          </a:p>
        </p:txBody>
      </p:sp>
      <p:pic>
        <p:nvPicPr>
          <p:cNvPr id="13" name="Picture 2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84907" y="4054733"/>
            <a:ext cx="1366909" cy="1378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2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57863" y="4101687"/>
            <a:ext cx="1695537" cy="1308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2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46309" y="3955969"/>
            <a:ext cx="1771743" cy="1530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3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51398" y="4559060"/>
            <a:ext cx="2728907" cy="524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5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5377" y="2838283"/>
            <a:ext cx="1307406" cy="188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5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717242" y="1949181"/>
            <a:ext cx="3997757" cy="15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ectangle 3"/>
          <p:cNvSpPr/>
          <p:nvPr/>
        </p:nvSpPr>
        <p:spPr>
          <a:xfrm>
            <a:off x="1904951" y="2284912"/>
            <a:ext cx="5434562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200" b="0" i="0" u="none" strike="noStrike" kern="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04e3b534-8a40-4180-a7ed-d5afaa45a858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Name: </a:t>
            </a:r>
            <a:r>
              <a:rPr lang="en-GB" sz="1200" b="0" i="0" u="none" strike="noStrike" kern="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Tony Ferguson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Age: </a:t>
            </a:r>
            <a:r>
              <a:rPr lang="en-GB" sz="1200" b="0" i="0" u="none" strike="noStrike" kern="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Ward:</a:t>
            </a:r>
            <a:r>
              <a:rPr lang="en-GB" sz="1200" b="0" i="0" u="none" strike="noStrike" kern="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34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IsAdmitted: </a:t>
            </a:r>
            <a:r>
              <a:rPr lang="en-GB" sz="1200" b="0" i="0" u="none" strike="noStrike" kern="0" cap="none" spc="0" baseline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true</a:t>
            </a:r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</p:txBody>
      </p:sp>
      <p:pic>
        <p:nvPicPr>
          <p:cNvPr id="20" name="Picture 63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58398" y="2764506"/>
            <a:ext cx="561002" cy="511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4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525379" y="1828800"/>
            <a:ext cx="3490447" cy="158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Rectangle 22"/>
          <p:cNvSpPr/>
          <p:nvPr/>
        </p:nvSpPr>
        <p:spPr>
          <a:xfrm>
            <a:off x="5971478" y="2161322"/>
            <a:ext cx="3712399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PatientTransferred</a:t>
            </a: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ToWard</a:t>
            </a: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</a:t>
            </a:r>
            <a:r>
              <a:rPr lang="en-GB" sz="18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34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is the Event Stored?</a:t>
            </a:r>
            <a:endParaRPr lang="en-US" dirty="0"/>
          </a:p>
        </p:txBody>
      </p:sp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057400"/>
            <a:ext cx="8018145" cy="3463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47800" y="4953000"/>
            <a:ext cx="561002" cy="511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Discharge Patient</a:t>
            </a:r>
            <a:endParaRPr lang="en-US" dirty="0"/>
          </a:p>
        </p:txBody>
      </p:sp>
      <p:pic>
        <p:nvPicPr>
          <p:cNvPr id="23" name="Picture 5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2356991"/>
            <a:ext cx="1603424" cy="240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6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71612" y="1763517"/>
            <a:ext cx="4019587" cy="155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Rectangle 3"/>
          <p:cNvSpPr/>
          <p:nvPr/>
        </p:nvSpPr>
        <p:spPr>
          <a:xfrm>
            <a:off x="1959321" y="2099249"/>
            <a:ext cx="5434562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04e3b534-8a40-4180-a7ed-d5afaa45a858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Name: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Tony Ferguson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Age: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Ward: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null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i="0" u="none" strike="noStrike" kern="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IsAdmitted</a:t>
            </a:r>
            <a:r>
              <a:rPr lang="en-GB" sz="1200" b="1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 </a:t>
            </a:r>
            <a:r>
              <a:rPr lang="en-GB" sz="12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false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</p:txBody>
      </p:sp>
      <p:pic>
        <p:nvPicPr>
          <p:cNvPr id="26" name="Picture 6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71600" y="2505581"/>
            <a:ext cx="2285725" cy="847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42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603926" y="1657218"/>
            <a:ext cx="3490447" cy="158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Rectangle 23"/>
          <p:cNvSpPr/>
          <p:nvPr/>
        </p:nvSpPr>
        <p:spPr>
          <a:xfrm>
            <a:off x="5971478" y="2011969"/>
            <a:ext cx="2964128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PatientDischarged</a:t>
            </a: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04e3b534-8a4a</a:t>
            </a:r>
            <a:r>
              <a:rPr lang="en-GB" sz="1800" b="0" i="0" u="none" strike="noStrike" kern="1200" cap="none" spc="0" baseline="0" dirty="0" smtClean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…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Ward:</a:t>
            </a:r>
            <a:r>
              <a:rPr lang="en-GB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 null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kern="0" dirty="0" err="1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IsAdmitted</a:t>
            </a:r>
            <a:r>
              <a:rPr lang="en-GB" b="1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: </a:t>
            </a:r>
            <a:r>
              <a:rPr lang="en-GB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false</a:t>
            </a:r>
            <a:endParaRPr lang="en-GB" dirty="0" smtClean="0">
              <a:solidFill>
                <a:srgbClr val="000000"/>
              </a:solidFill>
              <a:latin typeface="Fira Code Light" pitchFamily="49"/>
              <a:ea typeface="Fira Code Light" pitchFamily="49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664684" y="4543844"/>
            <a:ext cx="937145" cy="403268"/>
          </a:xfrm>
          <a:prstGeom prst="rect">
            <a:avLst/>
          </a:prstGeom>
          <a:solidFill>
            <a:srgbClr val="5B9BD5"/>
          </a:solidFill>
          <a:ln w="12701">
            <a:solidFill>
              <a:srgbClr val="41719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900" b="1" i="0" u="none" strike="noStrike" kern="1200" cap="none" spc="0" baseline="0">
                <a:solidFill>
                  <a:srgbClr val="FFFFFF"/>
                </a:solidFill>
                <a:uFillTx/>
                <a:latin typeface="Fira Code Light" pitchFamily="49"/>
                <a:ea typeface="Fira Code Light" pitchFamily="49"/>
              </a:rPr>
              <a:t>PatientAdmitted</a:t>
            </a:r>
            <a:endParaRPr lang="en-GB" sz="900" b="0" i="0" u="none" strike="noStrike" kern="1200" cap="none" spc="0" baseline="0">
              <a:solidFill>
                <a:srgbClr val="FFFFFF"/>
              </a:solidFill>
              <a:uFillTx/>
              <a:latin typeface="Fira Code Light" pitchFamily="49"/>
              <a:ea typeface="Fira Code Light" pitchFamily="49"/>
            </a:endParaRPr>
          </a:p>
        </p:txBody>
      </p:sp>
      <p:pic>
        <p:nvPicPr>
          <p:cNvPr id="30" name="Picture 2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059904" y="4011820"/>
            <a:ext cx="1366909" cy="1378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Picture 2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265299" y="3886200"/>
            <a:ext cx="1771743" cy="1530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Picture 29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991453" y="3905530"/>
            <a:ext cx="1771743" cy="1530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Picture 3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188605" y="4045908"/>
            <a:ext cx="1719348" cy="1225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3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4465371"/>
            <a:ext cx="2805182" cy="560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is the Event Stored?</a:t>
            </a:r>
            <a:endParaRPr lang="en-US" dirty="0"/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942" y="2057400"/>
            <a:ext cx="8003858" cy="332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How Many Event Types for an Object?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Event types vs. Events.</a:t>
            </a:r>
          </a:p>
          <a:p>
            <a:r>
              <a:rPr lang="en-US" sz="2200" dirty="0" smtClean="0"/>
              <a:t>Your choice. Depending on your domain. No rules.</a:t>
            </a:r>
            <a:endParaRPr lang="en-US" sz="2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2667000"/>
            <a:ext cx="3420852" cy="681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352800"/>
            <a:ext cx="7391400" cy="304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14600" y="3505200"/>
            <a:ext cx="2285725" cy="847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1000" y="3590375"/>
            <a:ext cx="1295400" cy="685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are Events Stored?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Events are often stored as schema-less data, because different event types often have different properties.</a:t>
            </a:r>
            <a:endParaRPr lang="en-US" sz="2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2667000"/>
            <a:ext cx="3420852" cy="681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352800"/>
            <a:ext cx="7391400" cy="304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705600" y="3962400"/>
            <a:ext cx="2285725" cy="847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1000" y="3590375"/>
            <a:ext cx="1295400" cy="685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Demo: Patient Events (Domain)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IEvent.cs</a:t>
            </a:r>
            <a:endParaRPr lang="en-US" sz="2200" dirty="0" smtClean="0">
              <a:latin typeface="Consolas" pitchFamily="49" charset="0"/>
            </a:endParaRPr>
          </a:p>
          <a:p>
            <a:pPr lvl="1"/>
            <a:r>
              <a:rPr lang="en-US" sz="2000" dirty="0" err="1" smtClean="0">
                <a:latin typeface="Consolas" pitchFamily="49" charset="0"/>
              </a:rPr>
              <a:t>PatientAdmittedEvent.cs</a:t>
            </a:r>
            <a:r>
              <a:rPr lang="en-US" sz="2000" dirty="0" smtClean="0">
                <a:latin typeface="Consolas" pitchFamily="49" charset="0"/>
              </a:rPr>
              <a:t> (just a DTO)</a:t>
            </a:r>
          </a:p>
          <a:p>
            <a:pPr lvl="1"/>
            <a:r>
              <a:rPr lang="en-US" sz="2000" dirty="0" err="1" smtClean="0">
                <a:latin typeface="Consolas" pitchFamily="49" charset="0"/>
              </a:rPr>
              <a:t>PatientTransferedEvent.cs</a:t>
            </a:r>
            <a:r>
              <a:rPr lang="en-US" sz="2000" dirty="0" smtClean="0">
                <a:latin typeface="Consolas" pitchFamily="49" charset="0"/>
              </a:rPr>
              <a:t> (just a DTO too)</a:t>
            </a:r>
          </a:p>
          <a:p>
            <a:pPr lvl="1"/>
            <a:r>
              <a:rPr lang="en-US" sz="2000" dirty="0" err="1" smtClean="0">
                <a:latin typeface="Consolas" pitchFamily="49" charset="0"/>
              </a:rPr>
              <a:t>PatientDischargedEvent.cs</a:t>
            </a:r>
            <a:r>
              <a:rPr lang="en-US" sz="2000" dirty="0" smtClean="0">
                <a:latin typeface="Consolas" pitchFamily="49" charset="0"/>
              </a:rPr>
              <a:t> (just a DTO too)</a:t>
            </a:r>
          </a:p>
          <a:p>
            <a:r>
              <a:rPr lang="en-US" sz="2200" dirty="0" err="1" smtClean="0">
                <a:latin typeface="Consolas" pitchFamily="49" charset="0"/>
              </a:rPr>
              <a:t>IAggregateRoot.cs</a:t>
            </a:r>
            <a:r>
              <a:rPr lang="en-US" sz="2200" dirty="0" smtClean="0">
                <a:latin typeface="Consolas" pitchFamily="49" charset="0"/>
              </a:rPr>
              <a:t>, </a:t>
            </a:r>
            <a:r>
              <a:rPr lang="en-US" sz="2200" dirty="0" err="1" smtClean="0">
                <a:latin typeface="Consolas" pitchFamily="49" charset="0"/>
              </a:rPr>
              <a:t>AggregateRoot.cs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PatientAggregate.cs</a:t>
            </a:r>
            <a:r>
              <a:rPr lang="en-US" sz="2200" dirty="0" smtClean="0">
                <a:latin typeface="Consolas" pitchFamily="49" charset="0"/>
              </a:rPr>
              <a:t> (</a:t>
            </a:r>
            <a:r>
              <a:rPr lang="en-US" sz="2200" b="1" dirty="0" smtClean="0">
                <a:latin typeface="Consolas" pitchFamily="49" charset="0"/>
              </a:rPr>
              <a:t>contains the latest Patient information</a:t>
            </a:r>
            <a:r>
              <a:rPr lang="en-US" sz="2200" dirty="0" smtClean="0">
                <a:latin typeface="Consolas" pitchFamily="49" charset="0"/>
              </a:rPr>
              <a:t>)</a:t>
            </a:r>
          </a:p>
          <a:p>
            <a:pPr lvl="1"/>
            <a:r>
              <a:rPr lang="en-US" sz="2000" b="1" dirty="0" smtClean="0">
                <a:latin typeface="Consolas" pitchFamily="49" charset="0"/>
              </a:rPr>
              <a:t>events</a:t>
            </a: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eventHandlers</a:t>
            </a:r>
            <a:endParaRPr lang="en-US" sz="2000" b="1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AggregateRepository.cs</a:t>
            </a:r>
            <a:endParaRPr lang="en-US" sz="2200" dirty="0" smtClean="0">
              <a:latin typeface="Consolas" pitchFamily="49" charset="0"/>
            </a:endParaRPr>
          </a:p>
          <a:p>
            <a:pPr lvl="1"/>
            <a:r>
              <a:rPr lang="en-US" sz="2000" dirty="0" err="1" smtClean="0">
                <a:latin typeface="Consolas" pitchFamily="49" charset="0"/>
              </a:rPr>
              <a:t>EventStoreClient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b="1" dirty="0" smtClean="0">
                <a:latin typeface="Consolas" pitchFamily="49" charset="0"/>
              </a:rPr>
              <a:t>client</a:t>
            </a:r>
          </a:p>
          <a:p>
            <a:pPr lvl="1"/>
            <a:r>
              <a:rPr lang="en-US" sz="2000" b="1" dirty="0" smtClean="0">
                <a:latin typeface="Consolas" pitchFamily="49" charset="0"/>
              </a:rPr>
              <a:t>Save</a:t>
            </a:r>
            <a:r>
              <a:rPr lang="en-US" sz="2000" dirty="0" smtClean="0">
                <a:latin typeface="Consolas" pitchFamily="49" charset="0"/>
              </a:rPr>
              <a:t>: </a:t>
            </a:r>
            <a:r>
              <a:rPr lang="en-US" sz="2000" dirty="0" err="1" smtClean="0">
                <a:latin typeface="Consolas" pitchFamily="49" charset="0"/>
              </a:rPr>
              <a:t>client.AppendToStreamAsync</a:t>
            </a:r>
            <a:endParaRPr lang="en-US" sz="2000" dirty="0" smtClean="0">
              <a:latin typeface="Consolas" pitchFamily="49" charset="0"/>
            </a:endParaRPr>
          </a:p>
          <a:p>
            <a:pPr lvl="1"/>
            <a:r>
              <a:rPr lang="en-US" sz="2000" b="1" dirty="0" smtClean="0">
                <a:latin typeface="Consolas" pitchFamily="49" charset="0"/>
              </a:rPr>
              <a:t>Get</a:t>
            </a:r>
            <a:r>
              <a:rPr lang="en-US" sz="2000" dirty="0" smtClean="0">
                <a:latin typeface="Consolas" pitchFamily="49" charset="0"/>
              </a:rPr>
              <a:t>: </a:t>
            </a:r>
            <a:r>
              <a:rPr lang="en-US" sz="2000" dirty="0" err="1" smtClean="0">
                <a:latin typeface="Consolas" pitchFamily="49" charset="0"/>
              </a:rPr>
              <a:t>client.ReadStreamAsync</a:t>
            </a:r>
            <a:endParaRPr lang="en-US" sz="20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Demo: Patient Commands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Entry point: </a:t>
            </a:r>
            <a:r>
              <a:rPr lang="en-US" sz="2400" dirty="0" err="1" smtClean="0">
                <a:latin typeface="Consolas" pitchFamily="49" charset="0"/>
              </a:rPr>
              <a:t>TestConsole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smtClean="0">
                <a:latin typeface="Consolas" pitchFamily="49" charset="0"/>
                <a:sym typeface="Wingdings" pitchFamily="2" charset="2"/>
              </a:rPr>
              <a:t> </a:t>
            </a:r>
            <a:r>
              <a:rPr lang="en-US" sz="2400" dirty="0" err="1" smtClean="0">
                <a:latin typeface="Consolas" pitchFamily="49" charset="0"/>
              </a:rPr>
              <a:t>Program.cs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b="1" dirty="0" err="1" smtClean="0">
                <a:latin typeface="Consolas" pitchFamily="49" charset="0"/>
              </a:rPr>
              <a:t>PatientCommandHandler.cs</a:t>
            </a:r>
            <a:endParaRPr lang="en-US" sz="2400" b="1" dirty="0" smtClean="0">
              <a:latin typeface="Consolas" pitchFamily="49" charset="0"/>
            </a:endParaRPr>
          </a:p>
          <a:p>
            <a:pPr lvl="1"/>
            <a:r>
              <a:rPr lang="en-US" sz="1800" dirty="0" smtClean="0">
                <a:latin typeface="Consolas" pitchFamily="49" charset="0"/>
              </a:rPr>
              <a:t>Contains </a:t>
            </a:r>
            <a:r>
              <a:rPr lang="en-US" sz="1800" b="1" dirty="0" err="1" smtClean="0">
                <a:latin typeface="Consolas" pitchFamily="49" charset="0"/>
              </a:rPr>
              <a:t>AdmitPatientCommand</a:t>
            </a:r>
            <a:r>
              <a:rPr lang="en-US" sz="1800" dirty="0" smtClean="0">
                <a:latin typeface="Consolas" pitchFamily="49" charset="0"/>
              </a:rPr>
              <a:t> (just a Command DTO)</a:t>
            </a:r>
          </a:p>
          <a:p>
            <a:pPr lvl="1"/>
            <a:r>
              <a:rPr lang="en-US" sz="1800" dirty="0" smtClean="0">
                <a:latin typeface="Consolas" pitchFamily="49" charset="0"/>
              </a:rPr>
              <a:t>Contains </a:t>
            </a:r>
            <a:r>
              <a:rPr lang="en-US" sz="1800" b="1" dirty="0" err="1" smtClean="0">
                <a:latin typeface="Consolas" pitchFamily="49" charset="0"/>
              </a:rPr>
              <a:t>TransferPatientCommand</a:t>
            </a:r>
            <a:r>
              <a:rPr lang="en-US" sz="1800" dirty="0" smtClean="0">
                <a:latin typeface="Consolas" pitchFamily="49" charset="0"/>
              </a:rPr>
              <a:t> (just a Command DTO)</a:t>
            </a:r>
          </a:p>
          <a:p>
            <a:pPr lvl="1"/>
            <a:r>
              <a:rPr lang="en-US" sz="1800" dirty="0" smtClean="0">
                <a:latin typeface="Consolas" pitchFamily="49" charset="0"/>
              </a:rPr>
              <a:t>Contains </a:t>
            </a:r>
            <a:r>
              <a:rPr lang="en-US" sz="1800" b="1" dirty="0" err="1" smtClean="0">
                <a:latin typeface="Consolas" pitchFamily="49" charset="0"/>
              </a:rPr>
              <a:t>DischargePatientCommand</a:t>
            </a:r>
            <a:r>
              <a:rPr lang="en-US" sz="1800" dirty="0" smtClean="0">
                <a:latin typeface="Consolas" pitchFamily="49" charset="0"/>
              </a:rPr>
              <a:t> (just a Command DTO)</a:t>
            </a:r>
          </a:p>
          <a:p>
            <a:pPr lvl="1"/>
            <a:r>
              <a:rPr lang="en-US" sz="1800" dirty="0" smtClean="0">
                <a:latin typeface="Consolas" pitchFamily="49" charset="0"/>
              </a:rPr>
              <a:t>Updates </a:t>
            </a:r>
            <a:r>
              <a:rPr lang="en-US" sz="1800" b="1" dirty="0" err="1" smtClean="0">
                <a:latin typeface="Consolas" pitchFamily="49" charset="0"/>
              </a:rPr>
              <a:t>PatientAggregate</a:t>
            </a:r>
            <a:r>
              <a:rPr lang="en-US" sz="1800" dirty="0" smtClean="0">
                <a:latin typeface="Consolas" pitchFamily="49" charset="0"/>
              </a:rPr>
              <a:t> with Command DTO information.</a:t>
            </a:r>
          </a:p>
          <a:p>
            <a:pPr lvl="1"/>
            <a:r>
              <a:rPr lang="en-US" sz="1800" dirty="0" smtClean="0">
                <a:latin typeface="Consolas" pitchFamily="49" charset="0"/>
              </a:rPr>
              <a:t>Uses </a:t>
            </a:r>
            <a:r>
              <a:rPr lang="en-US" sz="1800" b="1" dirty="0" err="1" smtClean="0">
                <a:latin typeface="Consolas" pitchFamily="49" charset="0"/>
              </a:rPr>
              <a:t>AggregateRepository</a:t>
            </a:r>
            <a:r>
              <a:rPr lang="en-US" sz="1800" dirty="0" smtClean="0">
                <a:latin typeface="Consolas" pitchFamily="49" charset="0"/>
              </a:rPr>
              <a:t> to store Command DTO information.</a:t>
            </a:r>
          </a:p>
          <a:p>
            <a:r>
              <a:rPr lang="en-US" sz="2400" dirty="0" err="1" smtClean="0">
                <a:latin typeface="Consolas" pitchFamily="49" charset="0"/>
              </a:rPr>
              <a:t>CommandHandlerMap.cs</a:t>
            </a:r>
            <a:r>
              <a:rPr lang="en-US" sz="2400" dirty="0" smtClean="0">
                <a:latin typeface="Consolas" pitchFamily="49" charset="0"/>
              </a:rPr>
              <a:t>: collection of Command Handlers. </a:t>
            </a:r>
            <a:r>
              <a:rPr lang="en-US" sz="2400" dirty="0" err="1" smtClean="0">
                <a:latin typeface="Consolas" pitchFamily="49" charset="0"/>
              </a:rPr>
              <a:t>PatientCommandHandler</a:t>
            </a:r>
            <a:r>
              <a:rPr lang="en-US" sz="2400" dirty="0" smtClean="0">
                <a:latin typeface="Consolas" pitchFamily="49" charset="0"/>
              </a:rPr>
              <a:t> is one of Command Handlers.</a:t>
            </a:r>
          </a:p>
          <a:p>
            <a:r>
              <a:rPr lang="en-US" sz="2400" dirty="0" err="1" smtClean="0">
                <a:latin typeface="Consolas" pitchFamily="49" charset="0"/>
              </a:rPr>
              <a:t>CommandDispatcher.cs</a:t>
            </a:r>
            <a:r>
              <a:rPr lang="en-US" sz="2400" dirty="0" smtClean="0">
                <a:latin typeface="Consolas" pitchFamily="49" charset="0"/>
              </a:rPr>
              <a:t>: retrieves Command DTO and get the corresponding handler in </a:t>
            </a:r>
            <a:r>
              <a:rPr lang="en-US" sz="2400" dirty="0" err="1" smtClean="0">
                <a:latin typeface="Consolas" pitchFamily="49" charset="0"/>
              </a:rPr>
              <a:t>CommandHandlerMap</a:t>
            </a:r>
            <a:r>
              <a:rPr lang="en-US" sz="2400" dirty="0" smtClean="0">
                <a:latin typeface="Consolas" pitchFamily="49" charset="0"/>
              </a:rPr>
              <a:t> to execute it.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Admit Patient Command Handler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 smtClean="0">
                <a:latin typeface="Consolas" pitchFamily="49" charset="0"/>
              </a:rPr>
              <a:t>PatientCommandHandler.cs</a:t>
            </a:r>
            <a:endParaRPr lang="en-US" sz="2400" b="1" dirty="0" smtClean="0">
              <a:latin typeface="Consolas" pitchFamily="49" charset="0"/>
            </a:endParaRPr>
          </a:p>
          <a:p>
            <a:pPr lvl="1"/>
            <a:r>
              <a:rPr lang="en-US" sz="2200" dirty="0" smtClean="0"/>
              <a:t>Create a "blank" object instance.</a:t>
            </a:r>
          </a:p>
          <a:p>
            <a:pPr lvl="1"/>
            <a:r>
              <a:rPr lang="en-US" sz="2200" dirty="0" smtClean="0"/>
              <a:t>Retrieve the first event for the object.</a:t>
            </a:r>
          </a:p>
          <a:p>
            <a:pPr lvl="1"/>
            <a:r>
              <a:rPr lang="en-US" sz="2200" dirty="0" smtClean="0"/>
              <a:t>Apply the event to the "blank" object instance.</a:t>
            </a:r>
            <a:endParaRPr lang="en-US" sz="2200" b="1" dirty="0" smtClean="0"/>
          </a:p>
          <a:p>
            <a:pPr lvl="1"/>
            <a:r>
              <a:rPr lang="en-US" sz="2200" dirty="0" smtClean="0"/>
              <a:t>Save the event to the event store.</a:t>
            </a:r>
            <a:endParaRPr lang="en-US" sz="2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Admit Patient Command Handler (Encounter)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524000"/>
            <a:ext cx="6667500" cy="444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76800" y="2590800"/>
            <a:ext cx="2462214" cy="1714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Transfer Patient Command Handler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 smtClean="0">
                <a:latin typeface="Consolas" pitchFamily="49" charset="0"/>
              </a:rPr>
              <a:t>PatientCommandHandler.cs</a:t>
            </a:r>
            <a:endParaRPr lang="en-US" sz="2400" b="1" dirty="0" smtClean="0">
              <a:latin typeface="Consolas" pitchFamily="49" charset="0"/>
            </a:endParaRPr>
          </a:p>
          <a:p>
            <a:pPr lvl="1"/>
            <a:r>
              <a:rPr lang="en-US" sz="2200" dirty="0" smtClean="0"/>
              <a:t>Create a "blank" object instance.</a:t>
            </a:r>
          </a:p>
          <a:p>
            <a:pPr lvl="1"/>
            <a:r>
              <a:rPr lang="en-US" sz="2200" dirty="0" smtClean="0"/>
              <a:t>Retrieve the events for the object id.</a:t>
            </a:r>
          </a:p>
          <a:p>
            <a:pPr lvl="1"/>
            <a:r>
              <a:rPr lang="en-US" sz="2200" dirty="0" smtClean="0"/>
              <a:t>Subsequently apply the events to the "blank" object instance.</a:t>
            </a:r>
          </a:p>
          <a:p>
            <a:pPr lvl="1"/>
            <a:r>
              <a:rPr lang="en-US" sz="2200" b="1" dirty="0" smtClean="0"/>
              <a:t>Execute business rules (</a:t>
            </a:r>
            <a:r>
              <a:rPr lang="en-US" sz="2200" b="1" dirty="0" err="1" smtClean="0"/>
              <a:t>TransferPatient</a:t>
            </a:r>
            <a:r>
              <a:rPr lang="en-US" sz="2200" b="1" dirty="0" smtClean="0"/>
              <a:t>)</a:t>
            </a:r>
          </a:p>
          <a:p>
            <a:pPr lvl="1"/>
            <a:r>
              <a:rPr lang="en-US" sz="2200" dirty="0" smtClean="0"/>
              <a:t>Save the events to the event store.</a:t>
            </a:r>
          </a:p>
          <a:p>
            <a:pPr lvl="1"/>
            <a:endParaRPr lang="en-US" sz="2200" b="1" dirty="0" smtClean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Discharge Patient Command Handler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 smtClean="0">
                <a:latin typeface="Consolas" pitchFamily="49" charset="0"/>
              </a:rPr>
              <a:t>PatientCommandHandler.cs</a:t>
            </a:r>
            <a:endParaRPr lang="en-US" sz="2400" b="1" dirty="0" smtClean="0">
              <a:latin typeface="Consolas" pitchFamily="49" charset="0"/>
            </a:endParaRPr>
          </a:p>
          <a:p>
            <a:pPr lvl="1"/>
            <a:r>
              <a:rPr lang="en-US" sz="2200" dirty="0" smtClean="0"/>
              <a:t>Create a "blank" object instance.</a:t>
            </a:r>
          </a:p>
          <a:p>
            <a:pPr lvl="1"/>
            <a:r>
              <a:rPr lang="en-US" sz="2200" dirty="0" smtClean="0"/>
              <a:t>Retrieve the events for the object id.</a:t>
            </a:r>
          </a:p>
          <a:p>
            <a:pPr lvl="1"/>
            <a:r>
              <a:rPr lang="en-US" sz="2200" dirty="0" smtClean="0"/>
              <a:t>Subsequently apply the events to the "blank" object instance.</a:t>
            </a:r>
          </a:p>
          <a:p>
            <a:pPr lvl="1"/>
            <a:r>
              <a:rPr lang="en-US" sz="2200" b="1" dirty="0" smtClean="0"/>
              <a:t>Execute business rules (</a:t>
            </a:r>
            <a:r>
              <a:rPr lang="en-US" sz="2200" b="1" dirty="0" err="1" smtClean="0"/>
              <a:t>DischargePatient</a:t>
            </a:r>
            <a:r>
              <a:rPr lang="en-US" sz="2200" b="1" dirty="0" smtClean="0"/>
              <a:t>)</a:t>
            </a:r>
          </a:p>
          <a:p>
            <a:pPr lvl="1"/>
            <a:r>
              <a:rPr lang="en-US" sz="2200" dirty="0" smtClean="0"/>
              <a:t>Save the events to the event store.</a:t>
            </a:r>
          </a:p>
          <a:p>
            <a:pPr lvl="1"/>
            <a:endParaRPr lang="en-US" sz="2200" b="1" dirty="0" smtClean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Executing a Handler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Dispatcher input: Admit Patient.</a:t>
            </a:r>
          </a:p>
          <a:p>
            <a:r>
              <a:rPr lang="en-US" sz="2400" dirty="0" smtClean="0"/>
              <a:t>Dispatcher execution: Admin Handler.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6400" y="2895600"/>
            <a:ext cx="5143748" cy="3429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Approach for Aggregate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Create a "blank" object instance.</a:t>
            </a:r>
          </a:p>
          <a:p>
            <a:r>
              <a:rPr lang="en-US" sz="2400" dirty="0" smtClean="0"/>
              <a:t>Retrieve the events for the object id.</a:t>
            </a:r>
          </a:p>
          <a:p>
            <a:r>
              <a:rPr lang="en-US" sz="2400" dirty="0" smtClean="0"/>
              <a:t>Subsequently apply the events to a "blank" object instance.</a:t>
            </a:r>
            <a:endParaRPr lang="en-US" sz="2400" b="1" dirty="0" smtClean="0"/>
          </a:p>
          <a:p>
            <a:endParaRPr lang="en-US" sz="2400" dirty="0"/>
          </a:p>
        </p:txBody>
      </p:sp>
      <p:pic>
        <p:nvPicPr>
          <p:cNvPr id="6" name="Picture 3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05200" y="3886200"/>
            <a:ext cx="5083561" cy="1661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3275" y="4108631"/>
            <a:ext cx="2193068" cy="65914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36"/>
          <p:cNvSpPr/>
          <p:nvPr/>
        </p:nvSpPr>
        <p:spPr>
          <a:xfrm>
            <a:off x="1371600" y="3657600"/>
            <a:ext cx="1582484" cy="52322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800" b="0" i="0" u="none" strike="noStrike" kern="1200" cap="none" spc="0" baseline="0" dirty="0" smtClean="0">
                <a:solidFill>
                  <a:srgbClr val="000000"/>
                </a:solidFill>
                <a:uFillTx/>
                <a:latin typeface="Comic Sans MS" pitchFamily="66" charset="0"/>
                <a:ea typeface="Fira Code Light" pitchFamily="49"/>
              </a:rPr>
              <a:t>CREATE</a:t>
            </a:r>
            <a:endParaRPr lang="en-GB" sz="2800" b="0" i="0" u="none" strike="noStrike" kern="1200" cap="none" spc="0" baseline="0" dirty="0">
              <a:solidFill>
                <a:srgbClr val="000000"/>
              </a:solidFill>
              <a:uFillTx/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9745" y="3473586"/>
            <a:ext cx="3507855" cy="1587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1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8138" y="0"/>
            <a:ext cx="3495662" cy="183281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5256" y="1828287"/>
            <a:ext cx="3488544" cy="1587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8655" y="5061414"/>
            <a:ext cx="3372745" cy="15878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22"/>
          <p:cNvSpPr/>
          <p:nvPr/>
        </p:nvSpPr>
        <p:spPr>
          <a:xfrm>
            <a:off x="536611" y="2133185"/>
            <a:ext cx="3044789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PatientTransferred</a:t>
            </a: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ToWard</a:t>
            </a: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76</a:t>
            </a:r>
          </a:p>
        </p:txBody>
      </p:sp>
      <p:sp>
        <p:nvSpPr>
          <p:cNvPr id="7" name="Rectangle 23"/>
          <p:cNvSpPr/>
          <p:nvPr/>
        </p:nvSpPr>
        <p:spPr>
          <a:xfrm>
            <a:off x="484318" y="5424476"/>
            <a:ext cx="2716082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 err="1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PatientDischarged</a:t>
            </a:r>
            <a:endParaRPr lang="en-GB" b="1" dirty="0" smtClean="0">
              <a:solidFill>
                <a:srgbClr val="000000"/>
              </a:solidFill>
              <a:latin typeface="Fira Code Light" pitchFamily="49"/>
              <a:ea typeface="Fira Code Light" pitchFamily="49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Id: </a:t>
            </a:r>
            <a:r>
              <a:rPr lang="en-GB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04e3b534-8a4a…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Ward:</a:t>
            </a:r>
            <a:r>
              <a:rPr lang="en-GB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 null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kern="0" dirty="0" err="1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IsAdmitted</a:t>
            </a:r>
            <a:r>
              <a:rPr lang="en-GB" b="1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: </a:t>
            </a:r>
            <a:r>
              <a:rPr lang="en-GB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false</a:t>
            </a:r>
            <a:endParaRPr lang="en-GB" dirty="0" smtClean="0">
              <a:solidFill>
                <a:srgbClr val="000000"/>
              </a:solidFill>
              <a:latin typeface="Fira Code Light" pitchFamily="49"/>
              <a:ea typeface="Fira Code Light" pitchFamily="49"/>
            </a:endParaRPr>
          </a:p>
        </p:txBody>
      </p:sp>
      <p:sp>
        <p:nvSpPr>
          <p:cNvPr id="8" name="Rectangle 22"/>
          <p:cNvSpPr/>
          <p:nvPr/>
        </p:nvSpPr>
        <p:spPr>
          <a:xfrm>
            <a:off x="484319" y="3806107"/>
            <a:ext cx="3020881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PatientTransferred</a:t>
            </a: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ToWard</a:t>
            </a: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</a:t>
            </a:r>
            <a:r>
              <a:rPr lang="en-GB" sz="18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34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</p:txBody>
      </p:sp>
      <p:sp>
        <p:nvSpPr>
          <p:cNvPr id="9" name="Rectangle 20"/>
          <p:cNvSpPr/>
          <p:nvPr/>
        </p:nvSpPr>
        <p:spPr>
          <a:xfrm>
            <a:off x="453862" y="491243"/>
            <a:ext cx="2608790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PatientAdmitted</a:t>
            </a:r>
            <a:endParaRPr lang="en-GB" sz="1600" b="1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6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Name: </a:t>
            </a:r>
            <a:r>
              <a:rPr lang="en-GB" sz="16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Tony </a:t>
            </a:r>
            <a:r>
              <a:rPr lang="en-GB" sz="1600" b="0" i="0" u="none" strike="noStrike" kern="0" cap="none" spc="0" baseline="0" dirty="0" smtClean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Ferguson</a:t>
            </a:r>
            <a:endParaRPr lang="en-GB" sz="16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Age: </a:t>
            </a:r>
            <a:r>
              <a:rPr lang="en-GB" sz="16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Ward:</a:t>
            </a:r>
            <a:r>
              <a:rPr lang="en-GB" sz="16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10</a:t>
            </a:r>
          </a:p>
        </p:txBody>
      </p:sp>
      <p:pic>
        <p:nvPicPr>
          <p:cNvPr id="10" name="Picture 3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733800" y="2986873"/>
            <a:ext cx="5083561" cy="166132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5"/>
          <p:cNvSpPr/>
          <p:nvPr/>
        </p:nvSpPr>
        <p:spPr>
          <a:xfrm>
            <a:off x="3733800" y="3304401"/>
            <a:ext cx="1374096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04e3b534-8a40…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12" name="Rectangle 36"/>
          <p:cNvSpPr/>
          <p:nvPr/>
        </p:nvSpPr>
        <p:spPr>
          <a:xfrm>
            <a:off x="5194902" y="3304401"/>
            <a:ext cx="1289139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Tony Ferguson</a:t>
            </a:r>
            <a:endParaRPr lang="en-GB" sz="1200" b="0" i="0" u="none" strike="noStrike" kern="1200" cap="none" spc="0" baseline="0" dirty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pic>
        <p:nvPicPr>
          <p:cNvPr id="13" name="Picture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1575144">
            <a:off x="3548996" y="1550587"/>
            <a:ext cx="3254889" cy="65914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26"/>
          <p:cNvSpPr/>
          <p:nvPr/>
        </p:nvSpPr>
        <p:spPr>
          <a:xfrm>
            <a:off x="7876654" y="3276600"/>
            <a:ext cx="437940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smtClean="0">
                <a:solidFill>
                  <a:srgbClr val="C00000"/>
                </a:solidFill>
                <a:uFillTx/>
                <a:latin typeface="Consolas" pitchFamily="49"/>
                <a:ea typeface="Fira Code Light" pitchFamily="49"/>
              </a:rPr>
              <a:t>10</a:t>
            </a:r>
            <a:endParaRPr lang="en-GB" sz="1800" b="1" i="0" u="none" strike="noStrike" kern="1200" cap="none" spc="0" baseline="0" dirty="0">
              <a:solidFill>
                <a:srgbClr val="C00000"/>
              </a:solidFill>
              <a:uFillTx/>
              <a:latin typeface="Consolas" pitchFamily="49"/>
            </a:endParaRPr>
          </a:p>
        </p:txBody>
      </p:sp>
      <p:sp>
        <p:nvSpPr>
          <p:cNvPr id="16" name="TextBox 27"/>
          <p:cNvSpPr txBox="1"/>
          <p:nvPr/>
        </p:nvSpPr>
        <p:spPr>
          <a:xfrm>
            <a:off x="6942869" y="3304401"/>
            <a:ext cx="437842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 dirty="0">
                <a:solidFill>
                  <a:srgbClr val="000000"/>
                </a:solidFill>
                <a:uFillTx/>
                <a:latin typeface="Consolas" pitchFamily="49"/>
              </a:rPr>
              <a:t>32</a:t>
            </a:r>
          </a:p>
        </p:txBody>
      </p:sp>
      <p:pic>
        <p:nvPicPr>
          <p:cNvPr id="17" name="Picture 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993374">
            <a:off x="4455227" y="1099400"/>
            <a:ext cx="1967797" cy="53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ectangle 18"/>
          <p:cNvSpPr/>
          <p:nvPr/>
        </p:nvSpPr>
        <p:spPr>
          <a:xfrm>
            <a:off x="5867400" y="609600"/>
            <a:ext cx="2750048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 smtClean="0">
                <a:latin typeface="+mj-lt"/>
              </a:rPr>
              <a:t>Apply the First Event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9745" y="3473586"/>
            <a:ext cx="3507855" cy="1587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1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8138" y="0"/>
            <a:ext cx="3495662" cy="1832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5256" y="1828287"/>
            <a:ext cx="3488544" cy="15878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1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8655" y="5061414"/>
            <a:ext cx="3372745" cy="15878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22"/>
          <p:cNvSpPr/>
          <p:nvPr/>
        </p:nvSpPr>
        <p:spPr>
          <a:xfrm>
            <a:off x="536611" y="2133185"/>
            <a:ext cx="3044789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PatientTransferred</a:t>
            </a: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ToWard</a:t>
            </a: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76</a:t>
            </a:r>
          </a:p>
        </p:txBody>
      </p:sp>
      <p:sp>
        <p:nvSpPr>
          <p:cNvPr id="7" name="Rectangle 23"/>
          <p:cNvSpPr/>
          <p:nvPr/>
        </p:nvSpPr>
        <p:spPr>
          <a:xfrm>
            <a:off x="484318" y="5424476"/>
            <a:ext cx="2639882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 err="1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PatientDischarged</a:t>
            </a:r>
            <a:endParaRPr lang="en-GB" b="1" dirty="0" smtClean="0">
              <a:solidFill>
                <a:srgbClr val="000000"/>
              </a:solidFill>
              <a:latin typeface="Fira Code Light" pitchFamily="49"/>
              <a:ea typeface="Fira Code Light" pitchFamily="49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Id: </a:t>
            </a:r>
            <a:r>
              <a:rPr lang="en-GB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04e3b534-8a4a…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Ward:</a:t>
            </a:r>
            <a:r>
              <a:rPr lang="en-GB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 null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kern="0" dirty="0" err="1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IsAdmitted</a:t>
            </a:r>
            <a:r>
              <a:rPr lang="en-GB" b="1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: </a:t>
            </a:r>
            <a:r>
              <a:rPr lang="en-GB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false</a:t>
            </a:r>
            <a:endParaRPr lang="en-GB" dirty="0" smtClean="0">
              <a:solidFill>
                <a:srgbClr val="000000"/>
              </a:solidFill>
              <a:latin typeface="Fira Code Light" pitchFamily="49"/>
              <a:ea typeface="Fira Code Light" pitchFamily="49"/>
            </a:endParaRPr>
          </a:p>
        </p:txBody>
      </p:sp>
      <p:sp>
        <p:nvSpPr>
          <p:cNvPr id="8" name="Rectangle 22"/>
          <p:cNvSpPr/>
          <p:nvPr/>
        </p:nvSpPr>
        <p:spPr>
          <a:xfrm>
            <a:off x="484319" y="3806107"/>
            <a:ext cx="3020881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PatientTransferred</a:t>
            </a: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ToWard</a:t>
            </a: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</a:t>
            </a:r>
            <a:r>
              <a:rPr lang="en-GB" sz="18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34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</p:txBody>
      </p:sp>
      <p:sp>
        <p:nvSpPr>
          <p:cNvPr id="9" name="Rectangle 20"/>
          <p:cNvSpPr/>
          <p:nvPr/>
        </p:nvSpPr>
        <p:spPr>
          <a:xfrm>
            <a:off x="453862" y="491243"/>
            <a:ext cx="2608790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PatientAdmitted</a:t>
            </a:r>
            <a:endParaRPr lang="en-GB" sz="1600" b="1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6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Name: </a:t>
            </a:r>
            <a:r>
              <a:rPr lang="en-GB" sz="16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Tony </a:t>
            </a:r>
            <a:r>
              <a:rPr lang="en-GB" sz="1600" b="0" i="0" u="none" strike="noStrike" kern="0" cap="none" spc="0" baseline="0" dirty="0" smtClean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Ferguson</a:t>
            </a:r>
            <a:endParaRPr lang="en-GB" sz="16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Age: </a:t>
            </a:r>
            <a:r>
              <a:rPr lang="en-GB" sz="16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Ward:</a:t>
            </a:r>
            <a:r>
              <a:rPr lang="en-GB" sz="16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10</a:t>
            </a:r>
          </a:p>
        </p:txBody>
      </p:sp>
      <p:pic>
        <p:nvPicPr>
          <p:cNvPr id="10" name="Picture 3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733800" y="4282273"/>
            <a:ext cx="5083561" cy="166132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5"/>
          <p:cNvSpPr/>
          <p:nvPr/>
        </p:nvSpPr>
        <p:spPr>
          <a:xfrm>
            <a:off x="3733800" y="4597860"/>
            <a:ext cx="1374096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04e3b534-8a40…</a:t>
            </a:r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12" name="Rectangle 36"/>
          <p:cNvSpPr/>
          <p:nvPr/>
        </p:nvSpPr>
        <p:spPr>
          <a:xfrm>
            <a:off x="5194902" y="4597860"/>
            <a:ext cx="1289139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Tony Ferguson</a:t>
            </a:r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pic>
        <p:nvPicPr>
          <p:cNvPr id="13" name="Picture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1575144">
            <a:off x="3548996" y="2940417"/>
            <a:ext cx="3254889" cy="659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993374">
            <a:off x="4330936" y="2402850"/>
            <a:ext cx="1967797" cy="53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26"/>
          <p:cNvSpPr/>
          <p:nvPr/>
        </p:nvSpPr>
        <p:spPr>
          <a:xfrm>
            <a:off x="7876654" y="4555029"/>
            <a:ext cx="437942" cy="36933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>
                <a:solidFill>
                  <a:srgbClr val="C00000"/>
                </a:solidFill>
                <a:uFillTx/>
                <a:latin typeface="Consolas" pitchFamily="49"/>
                <a:ea typeface="Fira Code Light" pitchFamily="49"/>
              </a:rPr>
              <a:t>76</a:t>
            </a:r>
            <a:endParaRPr lang="en-GB" sz="1800" b="1" i="0" u="none" strike="noStrike" kern="1200" cap="none" spc="0" baseline="0" dirty="0">
              <a:solidFill>
                <a:srgbClr val="C00000"/>
              </a:solidFill>
              <a:uFillTx/>
              <a:latin typeface="Consolas" pitchFamily="49"/>
            </a:endParaRPr>
          </a:p>
        </p:txBody>
      </p:sp>
      <p:sp>
        <p:nvSpPr>
          <p:cNvPr id="16" name="TextBox 27"/>
          <p:cNvSpPr txBox="1"/>
          <p:nvPr/>
        </p:nvSpPr>
        <p:spPr>
          <a:xfrm>
            <a:off x="6942869" y="4597860"/>
            <a:ext cx="437842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onsolas" pitchFamily="49"/>
              </a:rPr>
              <a:t>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62600" y="1671935"/>
            <a:ext cx="312489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 smtClean="0">
                <a:latin typeface="+mj-lt"/>
              </a:rPr>
              <a:t>Apply the Second Event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9745" y="3473586"/>
            <a:ext cx="3507855" cy="15878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1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8138" y="0"/>
            <a:ext cx="3495662" cy="1832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5256" y="1828287"/>
            <a:ext cx="3488544" cy="1587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8655" y="5061414"/>
            <a:ext cx="3372745" cy="15878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22"/>
          <p:cNvSpPr/>
          <p:nvPr/>
        </p:nvSpPr>
        <p:spPr>
          <a:xfrm>
            <a:off x="536611" y="2133185"/>
            <a:ext cx="3044789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PatientTransferred</a:t>
            </a: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ToWard</a:t>
            </a: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76</a:t>
            </a:r>
          </a:p>
        </p:txBody>
      </p:sp>
      <p:sp>
        <p:nvSpPr>
          <p:cNvPr id="7" name="Rectangle 23"/>
          <p:cNvSpPr/>
          <p:nvPr/>
        </p:nvSpPr>
        <p:spPr>
          <a:xfrm>
            <a:off x="484318" y="5424476"/>
            <a:ext cx="2716082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 err="1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PatientDischarged</a:t>
            </a:r>
            <a:endParaRPr lang="en-GB" b="1" dirty="0" smtClean="0">
              <a:solidFill>
                <a:srgbClr val="000000"/>
              </a:solidFill>
              <a:latin typeface="Fira Code Light" pitchFamily="49"/>
              <a:ea typeface="Fira Code Light" pitchFamily="49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Id: </a:t>
            </a:r>
            <a:r>
              <a:rPr lang="en-GB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04e3b534-8a4a…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Ward:</a:t>
            </a:r>
            <a:r>
              <a:rPr lang="en-GB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 null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kern="0" dirty="0" err="1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IsAdmitted</a:t>
            </a:r>
            <a:r>
              <a:rPr lang="en-GB" b="1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: </a:t>
            </a:r>
            <a:r>
              <a:rPr lang="en-GB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false</a:t>
            </a:r>
            <a:endParaRPr lang="en-GB" dirty="0" smtClean="0">
              <a:solidFill>
                <a:srgbClr val="000000"/>
              </a:solidFill>
              <a:latin typeface="Fira Code Light" pitchFamily="49"/>
              <a:ea typeface="Fira Code Light" pitchFamily="49"/>
            </a:endParaRPr>
          </a:p>
        </p:txBody>
      </p:sp>
      <p:sp>
        <p:nvSpPr>
          <p:cNvPr id="8" name="Rectangle 22"/>
          <p:cNvSpPr/>
          <p:nvPr/>
        </p:nvSpPr>
        <p:spPr>
          <a:xfrm>
            <a:off x="484319" y="3806107"/>
            <a:ext cx="3020881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PatientTransferred</a:t>
            </a: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ToWard</a:t>
            </a: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</a:t>
            </a:r>
            <a:r>
              <a:rPr lang="en-GB" sz="18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34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</p:txBody>
      </p:sp>
      <p:sp>
        <p:nvSpPr>
          <p:cNvPr id="9" name="Rectangle 20"/>
          <p:cNvSpPr/>
          <p:nvPr/>
        </p:nvSpPr>
        <p:spPr>
          <a:xfrm>
            <a:off x="453862" y="491243"/>
            <a:ext cx="2608790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PatientAdmitted</a:t>
            </a:r>
            <a:endParaRPr lang="en-GB" sz="1600" b="1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6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Name: </a:t>
            </a:r>
            <a:r>
              <a:rPr lang="en-GB" sz="16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Tony </a:t>
            </a:r>
            <a:r>
              <a:rPr lang="en-GB" sz="1600" b="0" i="0" u="none" strike="noStrike" kern="0" cap="none" spc="0" baseline="0" dirty="0" smtClean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Ferguson</a:t>
            </a:r>
            <a:endParaRPr lang="en-GB" sz="16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Age: </a:t>
            </a:r>
            <a:r>
              <a:rPr lang="en-GB" sz="16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Ward:</a:t>
            </a:r>
            <a:r>
              <a:rPr lang="en-GB" sz="16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10</a:t>
            </a:r>
          </a:p>
        </p:txBody>
      </p:sp>
      <p:pic>
        <p:nvPicPr>
          <p:cNvPr id="17" name="Picture 3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86200" y="1143000"/>
            <a:ext cx="5083561" cy="166132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Rectangle 35"/>
          <p:cNvSpPr/>
          <p:nvPr/>
        </p:nvSpPr>
        <p:spPr>
          <a:xfrm>
            <a:off x="3886200" y="1458587"/>
            <a:ext cx="1374096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04e3b534-8a40…</a:t>
            </a:r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19" name="Rectangle 36"/>
          <p:cNvSpPr/>
          <p:nvPr/>
        </p:nvSpPr>
        <p:spPr>
          <a:xfrm>
            <a:off x="5347302" y="1458587"/>
            <a:ext cx="1289139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Tony Ferguson</a:t>
            </a:r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20" name="TextBox 37"/>
          <p:cNvSpPr txBox="1"/>
          <p:nvPr/>
        </p:nvSpPr>
        <p:spPr>
          <a:xfrm>
            <a:off x="7095269" y="1458587"/>
            <a:ext cx="437842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onsolas" pitchFamily="49"/>
              </a:rPr>
              <a:t>32</a:t>
            </a:r>
          </a:p>
        </p:txBody>
      </p:sp>
      <p:pic>
        <p:nvPicPr>
          <p:cNvPr id="21" name="Picture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8536898" flipH="1">
            <a:off x="3330699" y="3202541"/>
            <a:ext cx="3254889" cy="717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19849303">
            <a:off x="4199956" y="4110722"/>
            <a:ext cx="1967797" cy="53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Rectangle 25"/>
          <p:cNvSpPr/>
          <p:nvPr/>
        </p:nvSpPr>
        <p:spPr>
          <a:xfrm>
            <a:off x="8029054" y="1415756"/>
            <a:ext cx="437942" cy="36933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>
                <a:solidFill>
                  <a:srgbClr val="C00000"/>
                </a:solidFill>
                <a:uFillTx/>
                <a:latin typeface="Consolas" pitchFamily="49"/>
              </a:rPr>
              <a:t>34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4419600"/>
            <a:ext cx="2865143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 smtClean="0">
                <a:latin typeface="+mj-lt"/>
              </a:rPr>
              <a:t>Apply the Third Event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9745" y="3473586"/>
            <a:ext cx="3507855" cy="1587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1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8138" y="0"/>
            <a:ext cx="3495662" cy="1832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5256" y="1828287"/>
            <a:ext cx="3488544" cy="1587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8655" y="5061414"/>
            <a:ext cx="3372745" cy="15878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Rectangle 22"/>
          <p:cNvSpPr/>
          <p:nvPr/>
        </p:nvSpPr>
        <p:spPr>
          <a:xfrm>
            <a:off x="536611" y="2133185"/>
            <a:ext cx="3044789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PatientTransferred</a:t>
            </a:r>
            <a:endParaRPr lang="en-GB" sz="1800" b="1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ToWard</a:t>
            </a:r>
            <a:r>
              <a:rPr lang="en-GB" sz="18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</a:t>
            </a: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76</a:t>
            </a:r>
          </a:p>
        </p:txBody>
      </p:sp>
      <p:sp>
        <p:nvSpPr>
          <p:cNvPr id="7" name="Rectangle 23"/>
          <p:cNvSpPr/>
          <p:nvPr/>
        </p:nvSpPr>
        <p:spPr>
          <a:xfrm>
            <a:off x="484318" y="5424476"/>
            <a:ext cx="2792282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 err="1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PatientDischarged</a:t>
            </a:r>
            <a:endParaRPr lang="en-GB" b="1" dirty="0" smtClean="0">
              <a:solidFill>
                <a:srgbClr val="000000"/>
              </a:solidFill>
              <a:latin typeface="Fira Code Light" pitchFamily="49"/>
              <a:ea typeface="Fira Code Light" pitchFamily="49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Id: </a:t>
            </a:r>
            <a:r>
              <a:rPr lang="en-GB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04e3b534-8a4a…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Ward:</a:t>
            </a:r>
            <a:r>
              <a:rPr lang="en-GB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 null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b="1" kern="0" dirty="0" err="1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IsAdmitted</a:t>
            </a:r>
            <a:r>
              <a:rPr lang="en-GB" b="1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: </a:t>
            </a:r>
            <a:r>
              <a:rPr lang="en-GB" kern="0" dirty="0" smtClean="0">
                <a:solidFill>
                  <a:srgbClr val="000000"/>
                </a:solidFill>
                <a:latin typeface="Fira Code Light" pitchFamily="49"/>
                <a:ea typeface="Fira Code Light" pitchFamily="49"/>
              </a:rPr>
              <a:t>false</a:t>
            </a:r>
            <a:endParaRPr lang="en-GB" dirty="0" smtClean="0">
              <a:solidFill>
                <a:srgbClr val="000000"/>
              </a:solidFill>
              <a:latin typeface="Fira Code Light" pitchFamily="49"/>
              <a:ea typeface="Fira Code Light" pitchFamily="49"/>
            </a:endParaRPr>
          </a:p>
        </p:txBody>
      </p:sp>
      <p:sp>
        <p:nvSpPr>
          <p:cNvPr id="8" name="Rectangle 22"/>
          <p:cNvSpPr/>
          <p:nvPr/>
        </p:nvSpPr>
        <p:spPr>
          <a:xfrm>
            <a:off x="484319" y="3806107"/>
            <a:ext cx="3020881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 smtClean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PatientTransferred</a:t>
            </a:r>
            <a:endParaRPr lang="en-GB" sz="1800" b="1" i="0" u="none" strike="noStrike" kern="1200" cap="none" spc="0" baseline="0" dirty="0" smtClean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smtClean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800" b="0" i="0" u="none" strike="noStrike" kern="1200" cap="none" spc="0" baseline="0" dirty="0" smtClean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err="1" smtClean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ToWard</a:t>
            </a:r>
            <a:r>
              <a:rPr lang="en-GB" sz="1800" b="1" i="0" u="none" strike="noStrike" kern="1200" cap="none" spc="0" baseline="0" dirty="0" smtClean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:</a:t>
            </a:r>
            <a:r>
              <a:rPr lang="en-GB" sz="1800" b="0" i="0" u="none" strike="noStrike" kern="1200" cap="none" spc="0" baseline="0" dirty="0" smtClean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</a:t>
            </a:r>
            <a:r>
              <a:rPr lang="en-GB" sz="1800" b="0" i="0" u="none" strike="noStrike" kern="0" cap="none" spc="0" baseline="0" dirty="0" smtClean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34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</p:txBody>
      </p:sp>
      <p:sp>
        <p:nvSpPr>
          <p:cNvPr id="9" name="Rectangle 20"/>
          <p:cNvSpPr/>
          <p:nvPr/>
        </p:nvSpPr>
        <p:spPr>
          <a:xfrm>
            <a:off x="453862" y="491243"/>
            <a:ext cx="2608790" cy="90212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 err="1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PatientAdmitted</a:t>
            </a:r>
            <a:endParaRPr lang="en-GB" sz="1600" b="1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Id: </a:t>
            </a:r>
            <a:r>
              <a:rPr lang="en-GB" sz="16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04e3b534-8a40-41…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Name: </a:t>
            </a:r>
            <a:r>
              <a:rPr lang="en-GB" sz="1600" b="0" i="0" u="none" strike="noStrike" kern="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Tony </a:t>
            </a:r>
            <a:r>
              <a:rPr lang="en-GB" sz="1600" b="0" i="0" u="none" strike="noStrike" kern="0" cap="none" spc="0" baseline="0" dirty="0" smtClean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Ferguson</a:t>
            </a:r>
            <a:endParaRPr lang="en-GB" sz="1600" b="0" i="0" u="none" strike="noStrike" kern="1200" cap="none" spc="0" baseline="0" dirty="0">
              <a:solidFill>
                <a:srgbClr val="000000"/>
              </a:solidFill>
              <a:uFillTx/>
              <a:latin typeface="Fira Code Light" pitchFamily="49"/>
              <a:ea typeface="Fira Code Light" pitchFamily="49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Age: </a:t>
            </a:r>
            <a:r>
              <a:rPr lang="en-GB" sz="16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32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b="1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Ward:</a:t>
            </a:r>
            <a:r>
              <a:rPr lang="en-GB" sz="1600" b="0" i="0" u="none" strike="noStrike" kern="1200" cap="none" spc="0" baseline="0" dirty="0">
                <a:solidFill>
                  <a:srgbClr val="000000"/>
                </a:solidFill>
                <a:uFillTx/>
                <a:latin typeface="Fira Code Light" pitchFamily="49"/>
                <a:ea typeface="Fira Code Light" pitchFamily="49"/>
              </a:rPr>
              <a:t> 10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63918" y="2451078"/>
            <a:ext cx="5083561" cy="166132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Rectangle 35"/>
          <p:cNvSpPr/>
          <p:nvPr/>
        </p:nvSpPr>
        <p:spPr>
          <a:xfrm>
            <a:off x="3863918" y="2766665"/>
            <a:ext cx="1374096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04e3b534-8a40…</a:t>
            </a:r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5325020" y="2766665"/>
            <a:ext cx="1289139" cy="27699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onsolas" pitchFamily="49"/>
                <a:ea typeface="Fira Code Light" pitchFamily="49"/>
              </a:rPr>
              <a:t>Tony Ferguson</a:t>
            </a:r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onsolas" pitchFamily="49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072987" y="2766665"/>
            <a:ext cx="437842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onsolas" pitchFamily="49"/>
              </a:rPr>
              <a:t>32</a:t>
            </a:r>
          </a:p>
        </p:txBody>
      </p:sp>
      <p:pic>
        <p:nvPicPr>
          <p:cNvPr id="38" name="Picture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8536898" flipH="1">
            <a:off x="3308417" y="4510619"/>
            <a:ext cx="3254889" cy="717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Picture 4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19849303">
            <a:off x="4177674" y="5418800"/>
            <a:ext cx="1967797" cy="5363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Rectangle 25"/>
          <p:cNvSpPr/>
          <p:nvPr/>
        </p:nvSpPr>
        <p:spPr>
          <a:xfrm>
            <a:off x="8006772" y="2723834"/>
            <a:ext cx="691215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 dirty="0" smtClean="0">
                <a:solidFill>
                  <a:srgbClr val="C00000"/>
                </a:solidFill>
                <a:uFillTx/>
                <a:latin typeface="Consolas" pitchFamily="49"/>
              </a:rPr>
              <a:t>NULL</a:t>
            </a:r>
            <a:endParaRPr lang="en-GB" sz="1800" b="1" i="0" u="none" strike="noStrike" kern="1200" cap="none" spc="0" baseline="0" dirty="0">
              <a:solidFill>
                <a:srgbClr val="C00000"/>
              </a:solidFill>
              <a:uFillTx/>
              <a:latin typeface="Consolas" pitchFamily="49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3962400" y="990600"/>
            <a:ext cx="4572000" cy="1143000"/>
          </a:xfrm>
        </p:spPr>
        <p:txBody>
          <a:bodyPr/>
          <a:lstStyle/>
          <a:p>
            <a:r>
              <a:rPr lang="en-US" dirty="0" smtClean="0"/>
              <a:t>Apply Final Event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715000" y="5715000"/>
            <a:ext cx="2808461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 smtClean="0">
                <a:latin typeface="+mj-lt"/>
              </a:rPr>
              <a:t>Apply the Final Event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Example</a:t>
            </a:r>
            <a:endParaRPr lang="en-US" dirty="0"/>
          </a:p>
        </p:txBody>
      </p:sp>
      <p:pic>
        <p:nvPicPr>
          <p:cNvPr id="39940" name="Picture 4" descr="Restore from EventStream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419876"/>
            <a:ext cx="4047619" cy="52095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CQRS + Event Sourcing</a:t>
            </a:r>
            <a:endParaRPr lang="en-US" dirty="0"/>
          </a:p>
        </p:txBody>
      </p:sp>
      <p:pic>
        <p:nvPicPr>
          <p:cNvPr id="4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80757" y="1676400"/>
            <a:ext cx="6667843" cy="4445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33157" y="5486400"/>
            <a:ext cx="1200899" cy="473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33157" y="2438400"/>
            <a:ext cx="1799703" cy="338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Demo: Projections (Views)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Ward view: Patient wards.</a:t>
            </a:r>
          </a:p>
          <a:p>
            <a:r>
              <a:rPr lang="en-US" sz="2400" dirty="0" smtClean="0"/>
              <a:t>Demographic view: Patient ages.</a:t>
            </a:r>
            <a:endParaRPr lang="en-US" sz="2400" dirty="0"/>
          </a:p>
        </p:txBody>
      </p:sp>
      <p:pic>
        <p:nvPicPr>
          <p:cNvPr id="4" name="Picture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29462" y="2971800"/>
            <a:ext cx="4952338" cy="330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Patient Ward View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924484"/>
            <a:ext cx="7256945" cy="3942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Patient Demographic View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828800"/>
            <a:ext cx="7485557" cy="3987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1320800"/>
            <a:ext cx="7620000" cy="5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Projection Manager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24479" y="2514600"/>
            <a:ext cx="2676521" cy="964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Projection Manager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Program.cs</a:t>
            </a:r>
            <a:r>
              <a:rPr lang="en-US" sz="2200" dirty="0" smtClean="0">
                <a:latin typeface="Consolas" pitchFamily="49" charset="0"/>
              </a:rPr>
              <a:t>: Sets up connections to </a:t>
            </a:r>
            <a:r>
              <a:rPr lang="en-US" sz="2200" dirty="0" err="1" smtClean="0">
                <a:latin typeface="Consolas" pitchFamily="49" charset="0"/>
              </a:rPr>
              <a:t>RavenDB</a:t>
            </a:r>
            <a:r>
              <a:rPr lang="en-US" sz="2200" dirty="0" smtClean="0">
                <a:latin typeface="Consolas" pitchFamily="49" charset="0"/>
              </a:rPr>
              <a:t> and Event Store.</a:t>
            </a:r>
          </a:p>
          <a:p>
            <a:r>
              <a:rPr lang="en-US" sz="2200" dirty="0" err="1" smtClean="0">
                <a:latin typeface="Consolas" pitchFamily="49" charset="0"/>
              </a:rPr>
              <a:t>Projection.cs</a:t>
            </a:r>
            <a:r>
              <a:rPr lang="en-US" sz="2200" dirty="0" smtClean="0">
                <a:latin typeface="Consolas" pitchFamily="49" charset="0"/>
              </a:rPr>
              <a:t>: Base methods for all projections.</a:t>
            </a:r>
          </a:p>
          <a:p>
            <a:pPr lvl="1"/>
            <a:r>
              <a:rPr lang="en-US" sz="1800" b="1" dirty="0" smtClean="0">
                <a:latin typeface="Consolas" pitchFamily="49" charset="0"/>
              </a:rPr>
              <a:t>Handle</a:t>
            </a:r>
          </a:p>
          <a:p>
            <a:r>
              <a:rPr lang="en-US" sz="2200" dirty="0" err="1" smtClean="0">
                <a:latin typeface="Consolas" pitchFamily="49" charset="0"/>
              </a:rPr>
              <a:t>WardViewProjection.cs</a:t>
            </a:r>
            <a:r>
              <a:rPr lang="en-US" sz="2200" dirty="0" smtClean="0">
                <a:latin typeface="Consolas" pitchFamily="49" charset="0"/>
              </a:rPr>
              <a:t>: S</a:t>
            </a:r>
            <a:r>
              <a:rPr lang="en-US" sz="2200" dirty="0" smtClean="0">
                <a:latin typeface="Consolas" pitchFamily="49" charset="0"/>
                <a:sym typeface="Wingdings" pitchFamily="2" charset="2"/>
              </a:rPr>
              <a:t>aves data to </a:t>
            </a:r>
            <a:r>
              <a:rPr lang="en-US" sz="2200" dirty="0" err="1" smtClean="0">
                <a:latin typeface="Consolas" pitchFamily="49" charset="0"/>
                <a:sym typeface="Wingdings" pitchFamily="2" charset="2"/>
              </a:rPr>
              <a:t>RavenDB</a:t>
            </a:r>
            <a:r>
              <a:rPr lang="en-US" sz="2200" dirty="0" smtClean="0">
                <a:latin typeface="Consolas" pitchFamily="49" charset="0"/>
                <a:sym typeface="Wingdings" pitchFamily="2" charset="2"/>
              </a:rPr>
              <a:t> </a:t>
            </a:r>
            <a:r>
              <a:rPr lang="en-US" sz="2200" dirty="0" smtClean="0">
                <a:latin typeface="Consolas" pitchFamily="49" charset="0"/>
              </a:rPr>
              <a:t>for </a:t>
            </a:r>
            <a:r>
              <a:rPr lang="en-US" sz="2200" b="1" dirty="0" smtClean="0">
                <a:latin typeface="Consolas" pitchFamily="49" charset="0"/>
              </a:rPr>
              <a:t>ward view</a:t>
            </a:r>
            <a:r>
              <a:rPr lang="en-US" sz="2200" dirty="0" smtClean="0">
                <a:latin typeface="Consolas" pitchFamily="49" charset="0"/>
              </a:rPr>
              <a:t>.</a:t>
            </a:r>
          </a:p>
          <a:p>
            <a:r>
              <a:rPr lang="en-US" sz="2200" dirty="0" err="1" smtClean="0">
                <a:latin typeface="Consolas" pitchFamily="49" charset="0"/>
              </a:rPr>
              <a:t>PatientDemographicProjection.cs</a:t>
            </a:r>
            <a:r>
              <a:rPr lang="en-US" sz="2200" dirty="0" smtClean="0">
                <a:latin typeface="Consolas" pitchFamily="49" charset="0"/>
              </a:rPr>
              <a:t>: </a:t>
            </a:r>
            <a:r>
              <a:rPr lang="en-US" sz="2200" dirty="0" smtClean="0">
                <a:latin typeface="Consolas" pitchFamily="49" charset="0"/>
                <a:sym typeface="Wingdings" pitchFamily="2" charset="2"/>
              </a:rPr>
              <a:t>Saves data to </a:t>
            </a:r>
            <a:r>
              <a:rPr lang="en-US" sz="2200" dirty="0" err="1" smtClean="0">
                <a:latin typeface="Consolas" pitchFamily="49" charset="0"/>
                <a:sym typeface="Wingdings" pitchFamily="2" charset="2"/>
              </a:rPr>
              <a:t>RavenDB</a:t>
            </a:r>
            <a:r>
              <a:rPr lang="en-US" sz="2200" dirty="0" smtClean="0">
                <a:latin typeface="Consolas" pitchFamily="49" charset="0"/>
                <a:sym typeface="Wingdings" pitchFamily="2" charset="2"/>
              </a:rPr>
              <a:t> </a:t>
            </a:r>
            <a:r>
              <a:rPr lang="en-US" sz="2200" dirty="0" smtClean="0">
                <a:latin typeface="Consolas" pitchFamily="49" charset="0"/>
              </a:rPr>
              <a:t>for </a:t>
            </a:r>
            <a:r>
              <a:rPr lang="en-US" sz="2200" b="1" dirty="0" smtClean="0">
                <a:latin typeface="Consolas" pitchFamily="49" charset="0"/>
              </a:rPr>
              <a:t>demographic view</a:t>
            </a:r>
            <a:r>
              <a:rPr lang="en-US" sz="2200" dirty="0" smtClean="0">
                <a:latin typeface="Consolas" pitchFamily="49" charset="0"/>
              </a:rPr>
              <a:t>.</a:t>
            </a:r>
          </a:p>
          <a:p>
            <a:r>
              <a:rPr lang="en-US" sz="2200" dirty="0" err="1" smtClean="0">
                <a:latin typeface="Consolas" pitchFamily="49" charset="0"/>
              </a:rPr>
              <a:t>ProjectionManager.cs</a:t>
            </a:r>
            <a:r>
              <a:rPr lang="en-US" sz="2200" dirty="0" smtClean="0">
                <a:latin typeface="Consolas" pitchFamily="49" charset="0"/>
              </a:rPr>
              <a:t>: Subscribes to event store and registers Projections to write data to </a:t>
            </a:r>
            <a:r>
              <a:rPr lang="en-US" sz="2200" dirty="0" err="1" smtClean="0">
                <a:latin typeface="Consolas" pitchFamily="49" charset="0"/>
              </a:rPr>
              <a:t>RavenDB</a:t>
            </a:r>
            <a:r>
              <a:rPr lang="en-US" sz="2200" dirty="0" smtClean="0">
                <a:latin typeface="Consolas" pitchFamily="49" charset="0"/>
              </a:rPr>
              <a:t>, then updates stream position for each Projection.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MongoDB</a:t>
            </a:r>
            <a:r>
              <a:rPr lang="en-US" dirty="0" smtClean="0"/>
              <a:t> Patient Ward View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7580" y="2286000"/>
            <a:ext cx="7348220" cy="2735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err="1" smtClean="0"/>
              <a:t>MongoDB</a:t>
            </a:r>
            <a:r>
              <a:rPr lang="en-US" sz="4200" dirty="0" smtClean="0"/>
              <a:t> Patient Demographic View</a:t>
            </a:r>
            <a:endParaRPr lang="en-US" sz="4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0320" y="1905000"/>
            <a:ext cx="7345480" cy="3587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Update an Object?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Just save an event, e.g. </a:t>
            </a:r>
            <a:r>
              <a:rPr lang="en-US" sz="2600" b="1" dirty="0" err="1" smtClean="0">
                <a:latin typeface="Consolas" pitchFamily="49" charset="0"/>
              </a:rPr>
              <a:t>PatientNameChanged</a:t>
            </a:r>
            <a:r>
              <a:rPr lang="en-US" sz="2600" dirty="0" smtClean="0"/>
              <a:t> event.</a:t>
            </a:r>
            <a:endParaRPr lang="en-US" sz="2600" dirty="0"/>
          </a:p>
        </p:txBody>
      </p:sp>
      <p:pic>
        <p:nvPicPr>
          <p:cNvPr id="22530" name="Picture 2" descr="https://geewhizeducation.com/wp-content/uploads/2020/09/bigstock-Kid-Boy-With-Question-Mark-Ch-299587039-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971800"/>
            <a:ext cx="4000500" cy="266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Delete an Object?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Just save an event, e.g. </a:t>
            </a:r>
            <a:r>
              <a:rPr lang="en-US" sz="2600" b="1" dirty="0" err="1" smtClean="0">
                <a:latin typeface="Consolas" pitchFamily="49" charset="0"/>
              </a:rPr>
              <a:t>PatientDeleted</a:t>
            </a:r>
            <a:r>
              <a:rPr lang="en-US" sz="2600" dirty="0" smtClean="0"/>
              <a:t> event.</a:t>
            </a:r>
            <a:endParaRPr lang="en-US" sz="2600" dirty="0"/>
          </a:p>
        </p:txBody>
      </p:sp>
      <p:pic>
        <p:nvPicPr>
          <p:cNvPr id="21506" name="Picture 2" descr="https://images.squarespace-cdn.com/content/5de7ee58468116628da2a339/1600352135171-YZZRAEOYC3P0HGL3P0HP/Fun+Trivia+Questions+For+Kids+In+Elementary+School.jpg?format=1500w&amp;content-type=image%2F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2895600"/>
            <a:ext cx="3810000" cy="254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to a Stream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9938" y="2282825"/>
            <a:ext cx="7604125" cy="305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Snapshotting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5325" y="2028825"/>
            <a:ext cx="7753350" cy="345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Handle Side-Effects?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/>
          <a:lstStyle/>
          <a:p>
            <a:r>
              <a:rPr lang="en-US" sz="2600" dirty="0" smtClean="0"/>
              <a:t>E-mails sent </a:t>
            </a:r>
            <a:r>
              <a:rPr lang="en-US" sz="2600" i="1" dirty="0" smtClean="0">
                <a:solidFill>
                  <a:srgbClr val="C00000"/>
                </a:solidFill>
              </a:rPr>
              <a:t>twice</a:t>
            </a:r>
            <a:r>
              <a:rPr lang="en-US" sz="2600" dirty="0" smtClean="0"/>
              <a:t>, payment processed </a:t>
            </a:r>
            <a:r>
              <a:rPr lang="en-US" sz="2600" i="1" dirty="0" smtClean="0">
                <a:solidFill>
                  <a:srgbClr val="C00000"/>
                </a:solidFill>
              </a:rPr>
              <a:t>twice</a:t>
            </a:r>
            <a:r>
              <a:rPr lang="en-US" sz="2600" dirty="0" smtClean="0"/>
              <a:t> when replaying the events.</a:t>
            </a:r>
          </a:p>
          <a:p>
            <a:r>
              <a:rPr lang="en-US" sz="2600" b="1" dirty="0" smtClean="0"/>
              <a:t>Solution 1</a:t>
            </a:r>
            <a:r>
              <a:rPr lang="en-US" sz="2600" dirty="0" smtClean="0"/>
              <a:t>:</a:t>
            </a:r>
          </a:p>
          <a:p>
            <a:pPr lvl="1"/>
            <a:r>
              <a:rPr lang="en-US" sz="2200" dirty="0" smtClean="0"/>
              <a:t>Separate side-effect and state change.</a:t>
            </a:r>
          </a:p>
          <a:p>
            <a:pPr lvl="1"/>
            <a:r>
              <a:rPr lang="en-US" sz="2200" dirty="0" smtClean="0"/>
              <a:t>Only the state change event is being replayed.</a:t>
            </a:r>
          </a:p>
          <a:p>
            <a:r>
              <a:rPr lang="en-US" sz="2600" b="1" dirty="0" smtClean="0"/>
              <a:t>Solution 2</a:t>
            </a:r>
            <a:r>
              <a:rPr lang="en-US" sz="2600" dirty="0" smtClean="0"/>
              <a:t>:</a:t>
            </a:r>
          </a:p>
          <a:p>
            <a:pPr lvl="1"/>
            <a:r>
              <a:rPr lang="en-US" sz="2200" dirty="0" smtClean="0"/>
              <a:t>When events are </a:t>
            </a:r>
            <a:r>
              <a:rPr lang="en-US" sz="2200" b="1" i="1" dirty="0" smtClean="0">
                <a:solidFill>
                  <a:srgbClr val="C00000"/>
                </a:solidFill>
              </a:rPr>
              <a:t>created (only once)</a:t>
            </a:r>
            <a:r>
              <a:rPr lang="en-US" sz="2200" dirty="0" smtClean="0"/>
              <a:t>, side-effects are triggered by event-listeners.</a:t>
            </a:r>
            <a:endParaRPr lang="en-US" sz="2000" dirty="0" smtClean="0"/>
          </a:p>
          <a:p>
            <a:endParaRPr lang="en-US" sz="2400" dirty="0"/>
          </a:p>
        </p:txBody>
      </p:sp>
      <p:pic>
        <p:nvPicPr>
          <p:cNvPr id="41986" name="Picture 2" descr="Savings triggers side-effec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905000"/>
            <a:ext cx="2394180" cy="36910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Sourcing vs. Consistency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https://martinfowler.com/articles/microservice-trade-offs.html#consistency</a:t>
            </a:r>
            <a:endParaRPr lang="en-US" sz="2400" dirty="0" smtClean="0"/>
          </a:p>
          <a:p>
            <a:r>
              <a:rPr lang="en-US" sz="2400" dirty="0" smtClean="0"/>
              <a:t>You </a:t>
            </a:r>
            <a:r>
              <a:rPr lang="en-US" sz="2400" i="1" dirty="0" smtClean="0">
                <a:solidFill>
                  <a:srgbClr val="C00000"/>
                </a:solidFill>
              </a:rPr>
              <a:t>make an update</a:t>
            </a:r>
            <a:r>
              <a:rPr lang="en-US" sz="2400" dirty="0" smtClean="0"/>
              <a:t> to something, it refreshes your screen and </a:t>
            </a:r>
            <a:r>
              <a:rPr lang="en-US" sz="2400" u="sng" dirty="0" smtClean="0"/>
              <a:t>the update is missing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You wait a minute or two, hit refresh, and there it is.</a:t>
            </a:r>
          </a:p>
          <a:p>
            <a:r>
              <a:rPr lang="en-US" sz="2400" dirty="0" smtClean="0"/>
              <a:t>This is a very </a:t>
            </a:r>
            <a:r>
              <a:rPr lang="en-US" sz="2400" i="1" dirty="0" smtClean="0">
                <a:solidFill>
                  <a:srgbClr val="C00000"/>
                </a:solidFill>
              </a:rPr>
              <a:t>irritating usability problem</a:t>
            </a:r>
            <a:r>
              <a:rPr lang="en-US" sz="2400" dirty="0" smtClean="0"/>
              <a:t>, and is almost certainly due to the perils of eventual consistency.</a:t>
            </a:r>
          </a:p>
          <a:p>
            <a:endParaRPr lang="en-US" sz="2400" dirty="0"/>
          </a:p>
        </p:txBody>
      </p:sp>
      <p:pic>
        <p:nvPicPr>
          <p:cNvPr id="10242" name="Picture 2" descr="https://www.tutoringcentral.com/Portals/34/xBlog/uploads/2019/2/14/attentio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4562240"/>
            <a:ext cx="2394919" cy="1686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How to Provide Feedback to User?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Attention</a:t>
            </a:r>
            <a:r>
              <a:rPr lang="en-US" sz="2200" dirty="0" smtClean="0"/>
              <a:t>: Do not use command processors for both </a:t>
            </a:r>
            <a:r>
              <a:rPr lang="en-US" sz="2200" u="sng" dirty="0" smtClean="0"/>
              <a:t>storing</a:t>
            </a:r>
            <a:r>
              <a:rPr lang="en-US" sz="2200" dirty="0" smtClean="0"/>
              <a:t> and </a:t>
            </a:r>
            <a:r>
              <a:rPr lang="en-US" sz="2200" u="sng" dirty="0" smtClean="0"/>
              <a:t>restoring</a:t>
            </a:r>
            <a:r>
              <a:rPr lang="en-US" sz="2200" dirty="0" smtClean="0"/>
              <a:t> states. It may complicate the command processors. </a:t>
            </a:r>
            <a:r>
              <a:rPr lang="en-US" sz="2200" b="1" dirty="0" smtClean="0"/>
              <a:t>Solution 1: Use snapshots when possible.</a:t>
            </a:r>
            <a:endParaRPr lang="en-US" sz="2200" b="1" dirty="0"/>
          </a:p>
        </p:txBody>
      </p:sp>
      <p:pic>
        <p:nvPicPr>
          <p:cNvPr id="5" name="Picture 2" descr="https://eventuate.io/i/requestflo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7723" y="2826177"/>
            <a:ext cx="7790477" cy="34222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to Projection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Do NOT do it.</a:t>
            </a:r>
          </a:p>
          <a:p>
            <a:r>
              <a:rPr lang="en-US" sz="2000" dirty="0" smtClean="0"/>
              <a:t>If that projection write fails — what happens?</a:t>
            </a:r>
          </a:p>
          <a:p>
            <a:pPr lvl="1"/>
            <a:r>
              <a:rPr lang="en-US" sz="2000" dirty="0" smtClean="0"/>
              <a:t>Retry logic?</a:t>
            </a:r>
          </a:p>
          <a:p>
            <a:pPr lvl="1"/>
            <a:r>
              <a:rPr lang="en-US" sz="2000" dirty="0" smtClean="0"/>
              <a:t>Partial failure?</a:t>
            </a:r>
          </a:p>
          <a:p>
            <a:pPr lvl="1"/>
            <a:r>
              <a:rPr lang="en-US" sz="2000" dirty="0" smtClean="0"/>
              <a:t>Compensating actions?</a:t>
            </a:r>
          </a:p>
          <a:p>
            <a:r>
              <a:rPr lang="en-US" sz="2000" dirty="0" smtClean="0"/>
              <a:t>You’ve just </a:t>
            </a:r>
            <a:r>
              <a:rPr lang="en-US" sz="2000" b="1" dirty="0" smtClean="0"/>
              <a:t>added complexity</a:t>
            </a:r>
            <a:r>
              <a:rPr lang="en-US" sz="2000" dirty="0" smtClean="0"/>
              <a:t> to what should be a </a:t>
            </a:r>
            <a:r>
              <a:rPr lang="en-US" sz="2000" b="1" dirty="0" smtClean="0"/>
              <a:t>simple, deterministic, and transactional</a:t>
            </a:r>
            <a:r>
              <a:rPr lang="en-US" sz="2000" dirty="0" smtClean="0"/>
              <a:t> part of the system.</a:t>
            </a:r>
          </a:p>
          <a:p>
            <a:r>
              <a:rPr lang="en-US" sz="2000" dirty="0" smtClean="0"/>
              <a:t>Let’s say your projection is down during the write. If your logic was dependent on that projection being up-to-date </a:t>
            </a:r>
            <a:r>
              <a:rPr lang="en-US" sz="2000" i="1" dirty="0" smtClean="0"/>
              <a:t>right away</a:t>
            </a:r>
            <a:r>
              <a:rPr lang="en-US" sz="2000" dirty="0" smtClean="0"/>
              <a:t> (e.g., for returning a response), </a:t>
            </a:r>
            <a:r>
              <a:rPr lang="en-US" sz="2000" b="1" dirty="0" smtClean="0"/>
              <a:t>you’re hosed</a:t>
            </a:r>
            <a:r>
              <a:rPr lang="en-US" sz="2000" dirty="0" smtClean="0"/>
              <a:t>. You may break the purity and </a:t>
            </a:r>
            <a:r>
              <a:rPr lang="en-US" sz="2000" dirty="0" err="1" smtClean="0"/>
              <a:t>replayability</a:t>
            </a:r>
            <a:r>
              <a:rPr lang="en-US" sz="2000" dirty="0" smtClean="0"/>
              <a:t> of event sourcing.</a:t>
            </a:r>
          </a:p>
          <a:p>
            <a:r>
              <a:rPr lang="en-US" sz="2000" dirty="0" smtClean="0"/>
              <a:t>Better to </a:t>
            </a:r>
            <a:r>
              <a:rPr lang="en-US" sz="2000" b="1" dirty="0" smtClean="0"/>
              <a:t>let projections update asynchronously</a:t>
            </a:r>
            <a:r>
              <a:rPr lang="en-US" sz="2000" dirty="0" smtClean="0"/>
              <a:t>, and keep your write path clean and pure.</a:t>
            </a:r>
          </a:p>
        </p:txBody>
      </p:sp>
      <p:pic>
        <p:nvPicPr>
          <p:cNvPr id="6146" name="Picture 2" descr="https://media.istockphoto.com/id/1360805134/photo/clothespins-and-a-sheet-of-notebook-with-the-inscription-common-mistakes.jpg?s=612x612&amp;w=0&amp;k=20&amp;c=M570d6oDZ8r9XsZzCViWmUtxk-hCpdSbHDsNsnAjSe8=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1600200"/>
            <a:ext cx="1865376" cy="12313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How to Provide Feedback to User? (II)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Solution 2: Use Post/Redirect/Get pattern.</a:t>
            </a:r>
          </a:p>
          <a:p>
            <a:endParaRPr lang="en-US" sz="2400" dirty="0"/>
          </a:p>
        </p:txBody>
      </p:sp>
      <p:pic>
        <p:nvPicPr>
          <p:cNvPr id="129026" name="Picture 2" descr="https://upload.wikimedia.org/wikipedia/commons/3/3c/PostRedirectGet_DoubleSubmitSoluti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2514600"/>
            <a:ext cx="4146550" cy="3390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Unbound List of Events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5725" y="1927225"/>
            <a:ext cx="6432550" cy="401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Fixing Unbound List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6313" y="2124075"/>
            <a:ext cx="7191375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Versioning</a:t>
            </a:r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2613" y="1927225"/>
            <a:ext cx="5438775" cy="416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CQRS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smtClean="0">
                <a:hlinkClick r:id="rId2"/>
              </a:rPr>
              <a:t>http://codebetter.com/gregyoung/2010/02/16/cqrs-task-based-uis-event-sourcing-agh/</a:t>
            </a:r>
            <a:endParaRPr lang="en-US" sz="1600" dirty="0" smtClean="0"/>
          </a:p>
          <a:p>
            <a:r>
              <a:rPr lang="en-US" sz="2000" dirty="0" smtClean="0"/>
              <a:t>CQRS: Command and Query Responsibility Segregation.</a:t>
            </a:r>
          </a:p>
          <a:p>
            <a:r>
              <a:rPr lang="en-US" sz="2000" dirty="0" smtClean="0"/>
              <a:t>When most people talk about CQRS they are really speaking about applying the CQRS pattern to the object that represents the service boundary of the application. Consider the following pseudo-code </a:t>
            </a:r>
            <a:r>
              <a:rPr lang="en-US" sz="2000" i="1" dirty="0" smtClean="0">
                <a:solidFill>
                  <a:srgbClr val="C00000"/>
                </a:solidFill>
              </a:rPr>
              <a:t>service definition</a:t>
            </a:r>
            <a:r>
              <a:rPr lang="en-US" sz="2000" dirty="0" smtClean="0"/>
              <a:t>.</a:t>
            </a:r>
          </a:p>
          <a:p>
            <a:r>
              <a:rPr lang="en-US" sz="2000" b="1" dirty="0" err="1" smtClean="0">
                <a:latin typeface="Consolas" pitchFamily="49" charset="0"/>
              </a:rPr>
              <a:t>CustomerService</a:t>
            </a:r>
            <a:endParaRPr lang="en-US" sz="2000" b="1" dirty="0" smtClean="0">
              <a:latin typeface="Consolas" pitchFamily="49" charset="0"/>
            </a:endParaRP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void </a:t>
            </a:r>
            <a:r>
              <a:rPr lang="en-US" sz="1800" dirty="0" err="1" smtClean="0">
                <a:latin typeface="Consolas" pitchFamily="49" charset="0"/>
              </a:rPr>
              <a:t>MakeCustomerPreferred</a:t>
            </a:r>
            <a:r>
              <a:rPr lang="en-US" sz="1800" dirty="0" smtClean="0">
                <a:latin typeface="Consolas" pitchFamily="49" charset="0"/>
              </a:rPr>
              <a:t>(</a:t>
            </a:r>
            <a:r>
              <a:rPr lang="en-US" sz="1800" dirty="0" err="1" smtClean="0">
                <a:latin typeface="Consolas" pitchFamily="49" charset="0"/>
              </a:rPr>
              <a:t>CustomerId</a:t>
            </a:r>
            <a:r>
              <a:rPr lang="en-US" sz="1800" dirty="0" smtClean="0">
                <a:latin typeface="Consolas" pitchFamily="49" charset="0"/>
              </a:rPr>
              <a:t>)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Customer </a:t>
            </a:r>
            <a:r>
              <a:rPr lang="en-US" sz="1800" dirty="0" err="1" smtClean="0">
                <a:latin typeface="Consolas" pitchFamily="49" charset="0"/>
              </a:rPr>
              <a:t>GetCustomer</a:t>
            </a:r>
            <a:r>
              <a:rPr lang="en-US" sz="1800" dirty="0" smtClean="0">
                <a:latin typeface="Consolas" pitchFamily="49" charset="0"/>
              </a:rPr>
              <a:t>(</a:t>
            </a:r>
            <a:r>
              <a:rPr lang="en-US" sz="1800" dirty="0" err="1" smtClean="0">
                <a:latin typeface="Consolas" pitchFamily="49" charset="0"/>
              </a:rPr>
              <a:t>CustomerId</a:t>
            </a:r>
            <a:r>
              <a:rPr lang="en-US" sz="1800" dirty="0" smtClean="0">
                <a:latin typeface="Consolas" pitchFamily="49" charset="0"/>
              </a:rPr>
              <a:t>)</a:t>
            </a:r>
          </a:p>
          <a:p>
            <a:pPr lvl="1">
              <a:buNone/>
            </a:pPr>
            <a:r>
              <a:rPr lang="en-US" sz="1800" dirty="0" err="1" smtClean="0">
                <a:latin typeface="Consolas" pitchFamily="49" charset="0"/>
              </a:rPr>
              <a:t>CustomerSet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GetCustomersWithName</a:t>
            </a:r>
            <a:r>
              <a:rPr lang="en-US" sz="1800" dirty="0" smtClean="0">
                <a:latin typeface="Consolas" pitchFamily="49" charset="0"/>
              </a:rPr>
              <a:t>(Name)</a:t>
            </a:r>
          </a:p>
          <a:p>
            <a:pPr lvl="1">
              <a:buNone/>
            </a:pPr>
            <a:r>
              <a:rPr lang="en-US" sz="1800" dirty="0" err="1" smtClean="0">
                <a:latin typeface="Consolas" pitchFamily="49" charset="0"/>
              </a:rPr>
              <a:t>CustomerSet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GetPreferredCustomers</a:t>
            </a:r>
            <a:r>
              <a:rPr lang="en-US" sz="1800" dirty="0" smtClean="0">
                <a:latin typeface="Consolas" pitchFamily="49" charset="0"/>
              </a:rPr>
              <a:t>()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void </a:t>
            </a:r>
            <a:r>
              <a:rPr lang="en-US" sz="1800" dirty="0" err="1" smtClean="0">
                <a:latin typeface="Consolas" pitchFamily="49" charset="0"/>
              </a:rPr>
              <a:t>ChangeCustomerLocale</a:t>
            </a:r>
            <a:r>
              <a:rPr lang="en-US" sz="1800" dirty="0" smtClean="0">
                <a:latin typeface="Consolas" pitchFamily="49" charset="0"/>
              </a:rPr>
              <a:t>(</a:t>
            </a:r>
            <a:r>
              <a:rPr lang="en-US" sz="1800" dirty="0" err="1" smtClean="0">
                <a:latin typeface="Consolas" pitchFamily="49" charset="0"/>
              </a:rPr>
              <a:t>CustomerId</a:t>
            </a:r>
            <a:r>
              <a:rPr lang="en-US" sz="1800" dirty="0" smtClean="0">
                <a:latin typeface="Consolas" pitchFamily="49" charset="0"/>
              </a:rPr>
              <a:t>, </a:t>
            </a:r>
            <a:r>
              <a:rPr lang="en-US" sz="1800" dirty="0" err="1" smtClean="0">
                <a:latin typeface="Consolas" pitchFamily="49" charset="0"/>
              </a:rPr>
              <a:t>NewLocale</a:t>
            </a:r>
            <a:r>
              <a:rPr lang="en-US" sz="1800" dirty="0" smtClean="0">
                <a:latin typeface="Consolas" pitchFamily="49" charset="0"/>
              </a:rPr>
              <a:t>)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void </a:t>
            </a:r>
            <a:r>
              <a:rPr lang="en-US" sz="1800" dirty="0" err="1" smtClean="0">
                <a:latin typeface="Consolas" pitchFamily="49" charset="0"/>
              </a:rPr>
              <a:t>CreateCustomer</a:t>
            </a:r>
            <a:r>
              <a:rPr lang="en-US" sz="1800" dirty="0" smtClean="0">
                <a:latin typeface="Consolas" pitchFamily="49" charset="0"/>
              </a:rPr>
              <a:t>(Customer)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void </a:t>
            </a:r>
            <a:r>
              <a:rPr lang="en-US" sz="1800" dirty="0" err="1" smtClean="0">
                <a:latin typeface="Consolas" pitchFamily="49" charset="0"/>
              </a:rPr>
              <a:t>EditCustomerDetails</a:t>
            </a:r>
            <a:r>
              <a:rPr lang="en-US" sz="1800" dirty="0" smtClean="0">
                <a:latin typeface="Consolas" pitchFamily="49" charset="0"/>
              </a:rPr>
              <a:t>(</a:t>
            </a:r>
            <a:r>
              <a:rPr lang="en-US" sz="1800" dirty="0" err="1" smtClean="0">
                <a:latin typeface="Consolas" pitchFamily="49" charset="0"/>
              </a:rPr>
              <a:t>CustomerDetails</a:t>
            </a:r>
            <a:r>
              <a:rPr lang="en-US" sz="1800" dirty="0" smtClean="0">
                <a:latin typeface="Consolas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CQRS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Applying CQRS on this would result in </a:t>
            </a:r>
            <a:r>
              <a:rPr lang="en-US" sz="2200" i="1" dirty="0" smtClean="0">
                <a:solidFill>
                  <a:srgbClr val="C00000"/>
                </a:solidFill>
              </a:rPr>
              <a:t>two services</a:t>
            </a:r>
            <a:r>
              <a:rPr lang="en-US" sz="2200" dirty="0" smtClean="0"/>
              <a:t>:</a:t>
            </a:r>
          </a:p>
          <a:p>
            <a:r>
              <a:rPr lang="en-US" sz="1800" b="1" dirty="0" err="1" smtClean="0">
                <a:latin typeface="Consolas" pitchFamily="49" charset="0"/>
              </a:rPr>
              <a:t>CustomerWriteService</a:t>
            </a:r>
            <a:endParaRPr lang="en-US" sz="1800" b="1" dirty="0" smtClean="0">
              <a:latin typeface="Consolas" pitchFamily="49" charset="0"/>
            </a:endParaRP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void </a:t>
            </a:r>
            <a:r>
              <a:rPr lang="en-US" sz="1800" dirty="0" err="1" smtClean="0">
                <a:latin typeface="Consolas" pitchFamily="49" charset="0"/>
              </a:rPr>
              <a:t>MakeCustomerPreferred</a:t>
            </a:r>
            <a:r>
              <a:rPr lang="en-US" sz="1800" dirty="0" smtClean="0">
                <a:latin typeface="Consolas" pitchFamily="49" charset="0"/>
              </a:rPr>
              <a:t>(</a:t>
            </a:r>
            <a:r>
              <a:rPr lang="en-US" sz="1800" dirty="0" err="1" smtClean="0">
                <a:latin typeface="Consolas" pitchFamily="49" charset="0"/>
              </a:rPr>
              <a:t>CustomerId</a:t>
            </a:r>
            <a:r>
              <a:rPr lang="en-US" sz="1800" dirty="0" smtClean="0">
                <a:latin typeface="Consolas" pitchFamily="49" charset="0"/>
              </a:rPr>
              <a:t>)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void </a:t>
            </a:r>
            <a:r>
              <a:rPr lang="en-US" sz="1800" dirty="0" err="1" smtClean="0">
                <a:latin typeface="Consolas" pitchFamily="49" charset="0"/>
              </a:rPr>
              <a:t>ChangeCustomerLocale</a:t>
            </a:r>
            <a:r>
              <a:rPr lang="en-US" sz="1800" dirty="0" smtClean="0">
                <a:latin typeface="Consolas" pitchFamily="49" charset="0"/>
              </a:rPr>
              <a:t>(</a:t>
            </a:r>
            <a:r>
              <a:rPr lang="en-US" sz="1800" dirty="0" err="1" smtClean="0">
                <a:latin typeface="Consolas" pitchFamily="49" charset="0"/>
              </a:rPr>
              <a:t>CustomerId</a:t>
            </a:r>
            <a:r>
              <a:rPr lang="en-US" sz="1800" dirty="0" smtClean="0">
                <a:latin typeface="Consolas" pitchFamily="49" charset="0"/>
              </a:rPr>
              <a:t>, </a:t>
            </a:r>
            <a:r>
              <a:rPr lang="en-US" sz="1800" dirty="0" err="1" smtClean="0">
                <a:latin typeface="Consolas" pitchFamily="49" charset="0"/>
              </a:rPr>
              <a:t>NewLocale</a:t>
            </a:r>
            <a:r>
              <a:rPr lang="en-US" sz="1800" dirty="0" smtClean="0">
                <a:latin typeface="Consolas" pitchFamily="49" charset="0"/>
              </a:rPr>
              <a:t>)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void </a:t>
            </a:r>
            <a:r>
              <a:rPr lang="en-US" sz="1800" dirty="0" err="1" smtClean="0">
                <a:latin typeface="Consolas" pitchFamily="49" charset="0"/>
              </a:rPr>
              <a:t>CreateCustomer</a:t>
            </a:r>
            <a:r>
              <a:rPr lang="en-US" sz="1800" dirty="0" smtClean="0">
                <a:latin typeface="Consolas" pitchFamily="49" charset="0"/>
              </a:rPr>
              <a:t>(Customer)</a:t>
            </a: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void </a:t>
            </a:r>
            <a:r>
              <a:rPr lang="en-US" sz="1800" dirty="0" err="1" smtClean="0">
                <a:latin typeface="Consolas" pitchFamily="49" charset="0"/>
              </a:rPr>
              <a:t>EditCustomerDetails</a:t>
            </a:r>
            <a:r>
              <a:rPr lang="en-US" sz="1800" dirty="0" smtClean="0">
                <a:latin typeface="Consolas" pitchFamily="49" charset="0"/>
              </a:rPr>
              <a:t>(</a:t>
            </a:r>
            <a:r>
              <a:rPr lang="en-US" sz="1800" dirty="0" err="1" smtClean="0">
                <a:latin typeface="Consolas" pitchFamily="49" charset="0"/>
              </a:rPr>
              <a:t>CustomerDetails</a:t>
            </a:r>
            <a:r>
              <a:rPr lang="en-US" sz="1800" dirty="0" smtClean="0">
                <a:latin typeface="Consolas" pitchFamily="49" charset="0"/>
              </a:rPr>
              <a:t>)</a:t>
            </a:r>
          </a:p>
          <a:p>
            <a:endParaRPr lang="en-US" sz="1800" dirty="0" smtClean="0"/>
          </a:p>
          <a:p>
            <a:r>
              <a:rPr lang="en-US" sz="1800" b="1" dirty="0" err="1" smtClean="0">
                <a:latin typeface="Consolas" pitchFamily="49" charset="0"/>
              </a:rPr>
              <a:t>CustomerReadService</a:t>
            </a:r>
            <a:endParaRPr lang="en-US" sz="1800" b="1" dirty="0" smtClean="0">
              <a:latin typeface="Consolas" pitchFamily="49" charset="0"/>
            </a:endParaRPr>
          </a:p>
          <a:p>
            <a:pPr lvl="1">
              <a:buNone/>
            </a:pPr>
            <a:r>
              <a:rPr lang="en-US" sz="1800" dirty="0" smtClean="0">
                <a:latin typeface="Consolas" pitchFamily="49" charset="0"/>
              </a:rPr>
              <a:t>Customer </a:t>
            </a:r>
            <a:r>
              <a:rPr lang="en-US" sz="1800" dirty="0" err="1" smtClean="0">
                <a:latin typeface="Consolas" pitchFamily="49" charset="0"/>
              </a:rPr>
              <a:t>GetCustomer</a:t>
            </a:r>
            <a:r>
              <a:rPr lang="en-US" sz="1800" dirty="0" smtClean="0">
                <a:latin typeface="Consolas" pitchFamily="49" charset="0"/>
              </a:rPr>
              <a:t>(</a:t>
            </a:r>
            <a:r>
              <a:rPr lang="en-US" sz="1800" dirty="0" err="1" smtClean="0">
                <a:latin typeface="Consolas" pitchFamily="49" charset="0"/>
              </a:rPr>
              <a:t>CustomerId</a:t>
            </a:r>
            <a:r>
              <a:rPr lang="en-US" sz="1800" dirty="0" smtClean="0">
                <a:latin typeface="Consolas" pitchFamily="49" charset="0"/>
              </a:rPr>
              <a:t>)</a:t>
            </a:r>
          </a:p>
          <a:p>
            <a:pPr lvl="1">
              <a:buNone/>
            </a:pPr>
            <a:r>
              <a:rPr lang="en-US" sz="1800" dirty="0" err="1" smtClean="0">
                <a:latin typeface="Consolas" pitchFamily="49" charset="0"/>
              </a:rPr>
              <a:t>CustomerSet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GetCustomersWithName</a:t>
            </a:r>
            <a:r>
              <a:rPr lang="en-US" sz="1800" dirty="0" smtClean="0">
                <a:latin typeface="Consolas" pitchFamily="49" charset="0"/>
              </a:rPr>
              <a:t>(Name)</a:t>
            </a:r>
          </a:p>
          <a:p>
            <a:pPr lvl="1">
              <a:buNone/>
            </a:pPr>
            <a:r>
              <a:rPr lang="en-US" sz="1800" dirty="0" err="1" smtClean="0">
                <a:latin typeface="Consolas" pitchFamily="49" charset="0"/>
              </a:rPr>
              <a:t>CustomerSet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GetPreferredCustomers</a:t>
            </a:r>
            <a:r>
              <a:rPr lang="en-US" sz="1800" dirty="0" smtClean="0">
                <a:latin typeface="Consolas" pitchFamily="49" charset="0"/>
              </a:rPr>
              <a:t>()</a:t>
            </a:r>
          </a:p>
          <a:p>
            <a:endParaRPr lang="en-US" sz="1800" dirty="0" smtClean="0"/>
          </a:p>
          <a:p>
            <a:r>
              <a:rPr lang="en-US" sz="2200" dirty="0" smtClean="0"/>
              <a:t>That is it. That is the entirety of the CQRS pattern.</a:t>
            </a:r>
            <a:endParaRPr lang="en-US" sz="2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https://kariera.future-processing.pl/blog/cqrs-simple-architecture/</a:t>
            </a:r>
            <a:endParaRPr lang="en-US" sz="2200" dirty="0" smtClean="0"/>
          </a:p>
          <a:p>
            <a:endParaRPr lang="en-US" sz="2200" dirty="0"/>
          </a:p>
        </p:txBody>
      </p:sp>
      <p:pic>
        <p:nvPicPr>
          <p:cNvPr id="4" name="Picture 2" descr="https://kariera.future-processing.pl//wp-content/uploads/2015/04/1_layer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590800"/>
            <a:ext cx="7505700" cy="2628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Commands and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Separate business logic into Commands and Queries.</a:t>
            </a:r>
          </a:p>
          <a:p>
            <a:r>
              <a:rPr lang="en-US" sz="2000" b="1" dirty="0" smtClean="0"/>
              <a:t>Command</a:t>
            </a:r>
            <a:r>
              <a:rPr lang="en-US" sz="2000" dirty="0" smtClean="0"/>
              <a:t> – Firing command is the only way to change the state of the system.</a:t>
            </a:r>
          </a:p>
          <a:p>
            <a:r>
              <a:rPr lang="en-US" sz="2000" b="1" dirty="0" smtClean="0"/>
              <a:t>Query </a:t>
            </a:r>
            <a:r>
              <a:rPr lang="en-US" sz="2000" dirty="0" smtClean="0"/>
              <a:t>– Reading the state of the system, filtering, aggregating and transforming data to deliver it in the most useful format.</a:t>
            </a:r>
            <a:endParaRPr lang="en-US" sz="2000" dirty="0"/>
          </a:p>
        </p:txBody>
      </p:sp>
      <p:pic>
        <p:nvPicPr>
          <p:cNvPr id="109570" name="Picture 2" descr="https://kariera.future-processing.pl//wp-content/uploads/2015/04/CQRS-Simple-Architecture_2_CQS_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43300"/>
            <a:ext cx="7505700" cy="2628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 and WRITE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Separate domain model into READ and WRITE models.</a:t>
            </a:r>
          </a:p>
        </p:txBody>
      </p:sp>
      <p:pic>
        <p:nvPicPr>
          <p:cNvPr id="110594" name="Picture 2" descr="https://kariera.future-processing.pl//wp-content/uploads/2015/04/CQRS_CQS_WRITE_REA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819400"/>
            <a:ext cx="7515225" cy="2628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 READ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Queries can retrieve data directly from database instead of relying on ORM.</a:t>
            </a:r>
          </a:p>
        </p:txBody>
      </p:sp>
      <p:pic>
        <p:nvPicPr>
          <p:cNvPr id="111618" name="Picture 2" descr="https://kariera.future-processing.pl//wp-content/uploads/2015/04/CQRS_4_CQS_NoREA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657474"/>
            <a:ext cx="7515225" cy="32099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 DB and WRITE 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READ model is virtualized by DB Views.</a:t>
            </a:r>
          </a:p>
          <a:p>
            <a:r>
              <a:rPr lang="en-US" sz="2400" dirty="0" smtClean="0"/>
              <a:t>READ DB is updated by events.</a:t>
            </a:r>
          </a:p>
        </p:txBody>
      </p:sp>
      <p:pic>
        <p:nvPicPr>
          <p:cNvPr id="112642" name="Picture 2" descr="https://kariera.future-processing.pl//wp-content/uploads/2015/04/CQRS_5_CQR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924175"/>
            <a:ext cx="7410450" cy="30194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 DB and Event Stream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READ model is virtualized by DB Views.</a:t>
            </a:r>
          </a:p>
          <a:p>
            <a:r>
              <a:rPr lang="en-US" sz="2400" dirty="0" smtClean="0"/>
              <a:t>READ DB is subscribed to event stream.</a:t>
            </a:r>
          </a:p>
        </p:txBody>
      </p:sp>
      <p:pic>
        <p:nvPicPr>
          <p:cNvPr id="113666" name="Picture 2" descr="https://kariera.future-processing.pl//wp-content/uploads/2015/04/CQRS_6_CQRS_E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838449"/>
            <a:ext cx="7496175" cy="34861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CQRS?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largest possible benefit though is that it recognizes that there are different architectural properties when dealing with commands and queries … for example it allows us to host the two services differently, e.g. </a:t>
            </a:r>
            <a:r>
              <a:rPr lang="en-US" sz="2200" b="1" dirty="0" smtClean="0"/>
              <a:t>we can host the read service on </a:t>
            </a:r>
            <a:r>
              <a:rPr lang="en-US" sz="2200" b="1" i="1" dirty="0" smtClean="0">
                <a:solidFill>
                  <a:srgbClr val="C00000"/>
                </a:solidFill>
              </a:rPr>
              <a:t>25 servers</a:t>
            </a:r>
            <a:r>
              <a:rPr lang="en-US" sz="2200" b="1" dirty="0" smtClean="0"/>
              <a:t> and the write service on </a:t>
            </a:r>
            <a:r>
              <a:rPr lang="en-US" sz="2200" b="1" i="1" dirty="0" smtClean="0">
                <a:solidFill>
                  <a:srgbClr val="C00000"/>
                </a:solidFill>
              </a:rPr>
              <a:t>two servers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processing of commands and queries is fundamentally </a:t>
            </a:r>
            <a:r>
              <a:rPr lang="en-US" sz="2200" i="1" dirty="0" smtClean="0">
                <a:solidFill>
                  <a:srgbClr val="C00000"/>
                </a:solidFill>
              </a:rPr>
              <a:t>asymmetrical</a:t>
            </a:r>
            <a:r>
              <a:rPr lang="en-US" sz="2200" dirty="0" smtClean="0"/>
              <a:t>, and scaling the services </a:t>
            </a:r>
            <a:r>
              <a:rPr lang="en-US" sz="2200" u="sng" dirty="0" smtClean="0"/>
              <a:t>symmetrically</a:t>
            </a:r>
            <a:r>
              <a:rPr lang="en-US" sz="2200" dirty="0" smtClean="0"/>
              <a:t> does not make a lot of sense.</a:t>
            </a:r>
            <a:endParaRPr lang="en-US" sz="2200" dirty="0"/>
          </a:p>
        </p:txBody>
      </p:sp>
      <p:pic>
        <p:nvPicPr>
          <p:cNvPr id="11266" name="Picture 2" descr="https://www.studytienganh.vn/upload/2017/12/4905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4724400"/>
            <a:ext cx="2836855" cy="14577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Sourcing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https://martinfowler.com/eaaDev/EventSourcing.html</a:t>
            </a:r>
            <a:endParaRPr lang="en-US" sz="2400" dirty="0" smtClean="0"/>
          </a:p>
          <a:p>
            <a:r>
              <a:rPr lang="en-US" sz="2400" b="1" dirty="0" smtClean="0"/>
              <a:t>Need:</a:t>
            </a:r>
          </a:p>
          <a:p>
            <a:pPr lvl="1"/>
            <a:r>
              <a:rPr lang="en-US" sz="2000" dirty="0" smtClean="0"/>
              <a:t>We can query an application's state to find out the current state of the world.</a:t>
            </a:r>
          </a:p>
          <a:p>
            <a:pPr lvl="1"/>
            <a:r>
              <a:rPr lang="en-US" sz="2000" dirty="0" smtClean="0"/>
              <a:t>However there are times when we don't just want to see where we are, we also want to know </a:t>
            </a:r>
            <a:r>
              <a:rPr lang="en-US" sz="2000" i="1" dirty="0" smtClean="0">
                <a:solidFill>
                  <a:srgbClr val="C00000"/>
                </a:solidFill>
              </a:rPr>
              <a:t>how we got there</a:t>
            </a:r>
            <a:r>
              <a:rPr lang="en-US" sz="2000" dirty="0" smtClean="0"/>
              <a:t>.</a:t>
            </a:r>
          </a:p>
          <a:p>
            <a:r>
              <a:rPr lang="en-US" sz="2400" b="1" dirty="0" smtClean="0"/>
              <a:t>Event Sourcing</a:t>
            </a:r>
            <a:r>
              <a:rPr lang="en-US" sz="2400" dirty="0" smtClean="0"/>
              <a:t>: Capture all changes to an application state as a sequence of events.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4876800"/>
            <a:ext cx="2295525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Event Sourcing vs. Event Collaboration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https://martinfowler.com/eaaDev/EventCollaboration.html</a:t>
            </a:r>
            <a:endParaRPr lang="en-US" sz="2200" dirty="0" smtClean="0"/>
          </a:p>
          <a:p>
            <a:r>
              <a:rPr lang="en-US" sz="2200" b="1" dirty="0" smtClean="0"/>
              <a:t>Need</a:t>
            </a:r>
            <a:r>
              <a:rPr lang="en-US" sz="2200" dirty="0" smtClean="0"/>
              <a:t>: How to add new components to a system without existing components needing to know anything about the new arrivals.</a:t>
            </a:r>
          </a:p>
          <a:p>
            <a:r>
              <a:rPr lang="en-US" sz="2200" b="1" dirty="0" smtClean="0"/>
              <a:t>Event Collaboration</a:t>
            </a:r>
            <a:r>
              <a:rPr lang="en-US" sz="2200" dirty="0" smtClean="0"/>
              <a:t>: Multiple components work together by </a:t>
            </a:r>
            <a:r>
              <a:rPr lang="en-US" sz="2200" i="1" dirty="0" smtClean="0">
                <a:solidFill>
                  <a:srgbClr val="C00000"/>
                </a:solidFill>
              </a:rPr>
              <a:t>communicating</a:t>
            </a:r>
            <a:r>
              <a:rPr lang="en-US" sz="2200" dirty="0" smtClean="0"/>
              <a:t> with each other by </a:t>
            </a:r>
            <a:r>
              <a:rPr lang="en-US" sz="2200" u="sng" dirty="0" smtClean="0"/>
              <a:t>sending events</a:t>
            </a:r>
            <a:r>
              <a:rPr lang="en-US" sz="2200" dirty="0" smtClean="0"/>
              <a:t> when their internal state changes.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Attention</a:t>
            </a:r>
            <a:r>
              <a:rPr lang="en-US" sz="2200" dirty="0" smtClean="0"/>
              <a:t>: Do not use event store as message bus.</a:t>
            </a:r>
          </a:p>
          <a:p>
            <a:r>
              <a:rPr lang="en-US" sz="2200" dirty="0" smtClean="0"/>
              <a:t>Separate business history facts from technical event notifications.</a:t>
            </a:r>
          </a:p>
        </p:txBody>
      </p:sp>
      <p:pic>
        <p:nvPicPr>
          <p:cNvPr id="10242" name="Picture 2" descr="https://www.tutoringcentral.com/Portals/34/xBlog/uploads/2019/2/14/attentio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4714640"/>
            <a:ext cx="2394919" cy="1686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Event-Driven Meanings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3"/>
              </a:rPr>
              <a:t>https://www.youtube.com/watch?v=STKCRSUsyP0</a:t>
            </a:r>
          </a:p>
          <a:p>
            <a:r>
              <a:rPr lang="en-US" sz="2000" dirty="0" smtClean="0">
                <a:hlinkClick r:id="rId3"/>
              </a:rPr>
              <a:t>https://martinfowler.com/articles/201701-event-driven.html</a:t>
            </a:r>
            <a:endParaRPr lang="en-US" sz="2000" dirty="0" smtClean="0"/>
          </a:p>
          <a:p>
            <a:r>
              <a:rPr lang="en-US" sz="2000" i="1" dirty="0" smtClean="0">
                <a:solidFill>
                  <a:srgbClr val="C00000"/>
                </a:solidFill>
              </a:rPr>
              <a:t>Event Notification</a:t>
            </a:r>
            <a:r>
              <a:rPr lang="en-US" sz="2000" dirty="0" smtClean="0"/>
              <a:t>. This happens when a system </a:t>
            </a:r>
            <a:r>
              <a:rPr lang="en-US" sz="2000" u="sng" dirty="0" smtClean="0"/>
              <a:t>sends event messages</a:t>
            </a:r>
            <a:r>
              <a:rPr lang="en-US" sz="2000" dirty="0" smtClean="0"/>
              <a:t> to notify other systems of a change in its domain.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Event-Carried State Transfer</a:t>
            </a:r>
            <a:r>
              <a:rPr lang="en-US" sz="2000" dirty="0" smtClean="0"/>
              <a:t>. This pattern shows up when you want to </a:t>
            </a:r>
            <a:r>
              <a:rPr lang="en-US" sz="2000" u="sng" dirty="0" smtClean="0"/>
              <a:t>update clients of a system</a:t>
            </a:r>
            <a:r>
              <a:rPr lang="en-US" sz="2000" dirty="0" smtClean="0"/>
              <a:t> in such a way that they </a:t>
            </a:r>
            <a:r>
              <a:rPr lang="en-US" sz="2000" u="sng" dirty="0" smtClean="0"/>
              <a:t>don't need to contact the source system</a:t>
            </a:r>
            <a:r>
              <a:rPr lang="en-US" sz="2000" dirty="0" smtClean="0"/>
              <a:t> in order to do further work.</a:t>
            </a:r>
            <a:endParaRPr lang="en-US" sz="2000" b="1" dirty="0" smtClean="0"/>
          </a:p>
          <a:p>
            <a:r>
              <a:rPr lang="en-US" sz="2000" i="1" dirty="0" smtClean="0">
                <a:solidFill>
                  <a:srgbClr val="C00000"/>
                </a:solidFill>
              </a:rPr>
              <a:t>Event-Sourcing</a:t>
            </a:r>
            <a:r>
              <a:rPr lang="en-US" sz="2000" b="1" dirty="0" smtClean="0"/>
              <a:t>. </a:t>
            </a:r>
            <a:r>
              <a:rPr lang="en-US" sz="2000" dirty="0" smtClean="0"/>
              <a:t>The core idea of event sourcing is that whenever we make a change to the state of a system, we </a:t>
            </a:r>
            <a:r>
              <a:rPr lang="en-US" sz="2000" u="sng" dirty="0" smtClean="0"/>
              <a:t>record that state change as an event</a:t>
            </a:r>
            <a:r>
              <a:rPr lang="en-US" sz="2000" dirty="0" smtClean="0"/>
              <a:t>, and we can </a:t>
            </a:r>
            <a:r>
              <a:rPr lang="en-US" sz="2000" u="sng" dirty="0" smtClean="0"/>
              <a:t>confidently rebuild the system state</a:t>
            </a:r>
            <a:r>
              <a:rPr lang="en-US" sz="2000" dirty="0" smtClean="0"/>
              <a:t> by reprocessing the events at any time in the future.</a:t>
            </a:r>
            <a:endParaRPr lang="en-US" sz="2000" b="1" dirty="0" smtClean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9800" y="5181600"/>
            <a:ext cx="2295525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An Introduction to CQRS and Event Sourcing Patterns (2017)</a:t>
            </a:r>
          </a:p>
          <a:p>
            <a:pPr lvl="1"/>
            <a:r>
              <a:rPr lang="en-US" sz="2000" dirty="0" smtClean="0">
                <a:hlinkClick r:id="rId2"/>
              </a:rPr>
              <a:t>https://www.youtube.com/watch?v=9a1PqwFrMP0</a:t>
            </a:r>
          </a:p>
          <a:p>
            <a:pPr lvl="1"/>
            <a:r>
              <a:rPr lang="en-US" sz="2000" dirty="0" smtClean="0">
                <a:hlinkClick r:id="rId2"/>
              </a:rPr>
              <a:t>https://github.com/mat-mcloughlin/PatientMangement</a:t>
            </a:r>
          </a:p>
          <a:p>
            <a:r>
              <a:rPr lang="en-US" sz="2400" dirty="0" smtClean="0"/>
              <a:t>Netflix Downloads (2017)</a:t>
            </a:r>
            <a:endParaRPr lang="en-US" sz="2400" dirty="0" smtClean="0">
              <a:hlinkClick r:id="rId2"/>
            </a:endParaRPr>
          </a:p>
          <a:p>
            <a:pPr lvl="1"/>
            <a:r>
              <a:rPr lang="en-US" sz="2000" dirty="0" smtClean="0">
                <a:hlinkClick r:id="rId2"/>
              </a:rPr>
              <a:t>https://www.youtube.com/watch?v=rsSld8NycCU</a:t>
            </a:r>
          </a:p>
          <a:p>
            <a:r>
              <a:rPr lang="en-US" sz="2400" dirty="0" smtClean="0"/>
              <a:t>Netflix Downloads (2018)</a:t>
            </a:r>
          </a:p>
          <a:p>
            <a:pPr lvl="1"/>
            <a:r>
              <a:rPr lang="en-US" sz="2000" dirty="0" smtClean="0">
                <a:hlinkClick r:id="rId3"/>
              </a:rPr>
              <a:t>https://www.youtube.com/watch?v=9tNZ4hAOhzs</a:t>
            </a:r>
            <a:endParaRPr lang="en-US" sz="2000" dirty="0" smtClean="0"/>
          </a:p>
          <a:p>
            <a:r>
              <a:rPr lang="en-US" sz="2400" dirty="0" smtClean="0"/>
              <a:t>Mistakes Made Adopting Event Sourcing (2020)</a:t>
            </a:r>
          </a:p>
          <a:p>
            <a:pPr lvl="1"/>
            <a:r>
              <a:rPr lang="en-US" sz="2000" dirty="0" smtClean="0">
                <a:hlinkClick r:id="rId4"/>
              </a:rPr>
              <a:t>https://www.youtube.com/watch?v=osk0ZBdBbx4</a:t>
            </a:r>
            <a:endParaRPr lang="en-US" sz="2000" dirty="0" smtClean="0"/>
          </a:p>
          <a:p>
            <a:pPr lvl="1"/>
            <a:r>
              <a:rPr lang="en-US" sz="2000" dirty="0" smtClean="0">
                <a:hlinkClick r:id="rId5"/>
              </a:rPr>
              <a:t>https://boringtechnology.club/</a:t>
            </a:r>
            <a:endParaRPr lang="en-US" sz="2000" dirty="0" smtClean="0"/>
          </a:p>
          <a:p>
            <a:pPr lvl="1"/>
            <a:endParaRPr lang="en-US" sz="2400" dirty="0" smtClean="0"/>
          </a:p>
          <a:p>
            <a:pPr lvl="1"/>
            <a:endParaRPr lang="en-US" sz="2000" dirty="0" smtClean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Books with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Java</a:t>
            </a:r>
          </a:p>
          <a:p>
            <a:pPr lvl="1"/>
            <a:r>
              <a:rPr lang="en-US" sz="2200" dirty="0" smtClean="0"/>
              <a:t>Alexander Dean and </a:t>
            </a:r>
            <a:r>
              <a:rPr lang="en-US" sz="2200" dirty="0" err="1" smtClean="0"/>
              <a:t>Valentin</a:t>
            </a:r>
            <a:r>
              <a:rPr lang="en-US" sz="2200" dirty="0" smtClean="0"/>
              <a:t> </a:t>
            </a:r>
            <a:r>
              <a:rPr lang="en-US" sz="2200" dirty="0" err="1" smtClean="0"/>
              <a:t>Crettaz</a:t>
            </a:r>
            <a:r>
              <a:rPr lang="en-US" sz="2200" dirty="0" smtClean="0"/>
              <a:t> (2019). Event Streams in Action: Real-Time Event Systems with Kafka and Kinesis. Manning Publications.</a:t>
            </a:r>
          </a:p>
          <a:p>
            <a:r>
              <a:rPr lang="en-US" sz="2600" dirty="0" smtClean="0"/>
              <a:t>.NET</a:t>
            </a:r>
          </a:p>
          <a:p>
            <a:pPr lvl="1"/>
            <a:r>
              <a:rPr lang="en-US" sz="2200" dirty="0" smtClean="0"/>
              <a:t>Dominic Betts et al. (2012). Exploring CQRS and Event Sourcing. Microsoft Patterns &amp; Practices.</a:t>
            </a:r>
          </a:p>
          <a:p>
            <a:pPr lvl="1"/>
            <a:r>
              <a:rPr lang="en-US" sz="2200" dirty="0" smtClean="0"/>
              <a:t>Kevin Hoffman (2017). Building </a:t>
            </a:r>
            <a:r>
              <a:rPr lang="en-US" sz="2200" dirty="0" err="1" smtClean="0"/>
              <a:t>Microservices</a:t>
            </a:r>
            <a:r>
              <a:rPr lang="en-US" sz="2200" dirty="0" smtClean="0"/>
              <a:t> with ASP.NET Core: Develop, Test, and Deploy Cross-Platform Services in the Cloud. O'Reilly.</a:t>
            </a:r>
          </a:p>
          <a:p>
            <a:pPr lvl="1"/>
            <a:r>
              <a:rPr lang="en-US" sz="2200" dirty="0" smtClean="0"/>
              <a:t>Vaughn Vernon (2013). Implementing Domain-Driven Design. Addison-Wesley Professional.</a:t>
            </a:r>
          </a:p>
          <a:p>
            <a:endParaRPr lang="en-US" sz="26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>
                <a:hlinkClick r:id="rId3"/>
              </a:rPr>
              <a:t>https://martendb.io/introduction.html</a:t>
            </a:r>
            <a:endParaRPr lang="en-US" sz="2600" dirty="0" smtClean="0"/>
          </a:p>
          <a:p>
            <a:pPr lvl="1"/>
            <a:r>
              <a:rPr lang="en-US" sz="2200" dirty="0" smtClean="0"/>
              <a:t>Marten is a .NET library for building applications using a document-based approach and Event Sourcing.</a:t>
            </a:r>
          </a:p>
          <a:p>
            <a:pPr lvl="1"/>
            <a:r>
              <a:rPr lang="en-US" sz="2200" dirty="0" smtClean="0"/>
              <a:t>The basis for our work is the unique </a:t>
            </a:r>
            <a:r>
              <a:rPr lang="en-US" sz="2200" dirty="0" err="1" smtClean="0"/>
              <a:t>Postgresql</a:t>
            </a:r>
            <a:r>
              <a:rPr lang="en-US" sz="2200" dirty="0" smtClean="0"/>
              <a:t> support for JSON storage. Thanks to that and other </a:t>
            </a:r>
            <a:r>
              <a:rPr lang="en-US" sz="2200" dirty="0" err="1" smtClean="0"/>
              <a:t>Postgresql</a:t>
            </a:r>
            <a:r>
              <a:rPr lang="en-US" sz="2200" dirty="0" smtClean="0"/>
              <a:t> capabilities, Marten brings </a:t>
            </a:r>
            <a:r>
              <a:rPr lang="en-US" sz="2200" b="1" dirty="0" smtClean="0"/>
              <a:t>strong consistency</a:t>
            </a:r>
            <a:r>
              <a:rPr lang="en-US" sz="2200" dirty="0" smtClean="0"/>
              <a:t> into those approaches.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Source Demos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hlinkClick r:id="rId2"/>
              </a:rPr>
              <a:t>https</a:t>
            </a:r>
            <a:r>
              <a:rPr lang="en-US" sz="2400" dirty="0" smtClean="0">
                <a:hlinkClick r:id="rId2"/>
              </a:rPr>
              <a:t>://github.com/oskardudycz/EventSourcing.NetCore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https://github.com/oskardudycz/EventSourcing.NodeJS</a:t>
            </a:r>
            <a:endParaRPr lang="en-US" sz="2400" dirty="0" smtClean="0"/>
          </a:p>
          <a:p>
            <a:r>
              <a:rPr lang="en-US" sz="2400" dirty="0" smtClean="0">
                <a:hlinkClick r:id="rId4"/>
              </a:rPr>
              <a:t>https://github.com/oskardudycz/EventSourcing.JVM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Paper</a:t>
            </a:r>
          </a:p>
          <a:p>
            <a:pPr lvl="1"/>
            <a:r>
              <a:rPr lang="en-US" sz="1600" dirty="0" err="1" smtClean="0"/>
              <a:t>Overeem</a:t>
            </a:r>
            <a:r>
              <a:rPr lang="en-US" sz="1600" dirty="0" smtClean="0"/>
              <a:t>, M., Spoor, M., &amp; Jansen, S. (2017, February). The dark side of event sourcing: Managing data conversion. In </a:t>
            </a:r>
            <a:r>
              <a:rPr lang="en-US" sz="1600" i="1" dirty="0" smtClean="0"/>
              <a:t>2017 IEEE 24th International Conference on Software Analysis, Evolution and Reengineering (SANER)</a:t>
            </a:r>
            <a:r>
              <a:rPr lang="en-US" sz="1600" dirty="0" smtClean="0"/>
              <a:t> (pp. 193-204). IEEE.</a:t>
            </a:r>
          </a:p>
          <a:p>
            <a:r>
              <a:rPr lang="en-US" sz="2600" dirty="0" smtClean="0">
                <a:hlinkClick r:id="rId2"/>
              </a:rPr>
              <a:t>https://akka.io/what-is-akka</a:t>
            </a:r>
            <a:endParaRPr lang="en-US" sz="2600" dirty="0" smtClean="0"/>
          </a:p>
          <a:p>
            <a:r>
              <a:rPr lang="en-US" sz="2600" smtClean="0">
                <a:hlinkClick r:id="rId3"/>
              </a:rPr>
              <a:t>https://pekko.apache.org/</a:t>
            </a:r>
            <a:endParaRPr lang="en-US" sz="260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27550</TotalTime>
  <Words>3578</Words>
  <Application>Microsoft Office PowerPoint</Application>
  <PresentationFormat>On-screen Show (4:3)</PresentationFormat>
  <Paragraphs>568</Paragraphs>
  <Slides>129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129</vt:i4>
      </vt:variant>
    </vt:vector>
  </HeadingPairs>
  <TitlesOfParts>
    <vt:vector size="130" baseType="lpstr">
      <vt:lpstr>Office Theme</vt:lpstr>
      <vt:lpstr>Event Sourcing</vt:lpstr>
      <vt:lpstr>Objectives</vt:lpstr>
      <vt:lpstr>Contents</vt:lpstr>
      <vt:lpstr>References</vt:lpstr>
      <vt:lpstr>Solving a Problem: The Hard Part</vt:lpstr>
      <vt:lpstr>Why Learn a New Architecture Style?</vt:lpstr>
      <vt:lpstr>Identify a Concrete Problem</vt:lpstr>
      <vt:lpstr>Typical Procedure</vt:lpstr>
      <vt:lpstr>Slide 9</vt:lpstr>
      <vt:lpstr>Customer Management Demo</vt:lpstr>
      <vt:lpstr>Why Event Sourcing?</vt:lpstr>
      <vt:lpstr>Slide 12</vt:lpstr>
      <vt:lpstr>Counting Page Visitors [1]</vt:lpstr>
      <vt:lpstr>Record Page View Event</vt:lpstr>
      <vt:lpstr>Implement Reporting</vt:lpstr>
      <vt:lpstr>Raw Events vs. Aggregated Data</vt:lpstr>
      <vt:lpstr>Slide 17</vt:lpstr>
      <vt:lpstr>Counting Video Views Example</vt:lpstr>
      <vt:lpstr>Slide 19</vt:lpstr>
      <vt:lpstr>Shopping Cart Example</vt:lpstr>
      <vt:lpstr>Update a Shopping Cart</vt:lpstr>
      <vt:lpstr>Record Shopping Cart Changes</vt:lpstr>
      <vt:lpstr>Raw Events vs. Aggregated Data</vt:lpstr>
      <vt:lpstr>Slide 24</vt:lpstr>
      <vt:lpstr>Bank Account Example</vt:lpstr>
      <vt:lpstr>Slide 26</vt:lpstr>
      <vt:lpstr>Twitter Writes vs. Reads</vt:lpstr>
      <vt:lpstr>Data Forms</vt:lpstr>
      <vt:lpstr>A Naïve Data Output Solution</vt:lpstr>
      <vt:lpstr>Facebook Writes vs. Reads</vt:lpstr>
      <vt:lpstr>Data Forms</vt:lpstr>
      <vt:lpstr>LinkedIn Writes vs. Reads</vt:lpstr>
      <vt:lpstr>Data Forms</vt:lpstr>
      <vt:lpstr>Writes vs. Reads</vt:lpstr>
      <vt:lpstr>Slide 35</vt:lpstr>
      <vt:lpstr>What is a Log?</vt:lpstr>
      <vt:lpstr>"Application" Log vs. "Data" Log</vt:lpstr>
      <vt:lpstr>What is Event Stream?</vt:lpstr>
      <vt:lpstr>Why Don't Use Both?</vt:lpstr>
      <vt:lpstr>How to Use an Event Stream?</vt:lpstr>
      <vt:lpstr>Slide 41</vt:lpstr>
      <vt:lpstr>Web Application: Version 1</vt:lpstr>
      <vt:lpstr>Web Application: Version 2</vt:lpstr>
      <vt:lpstr>Web Application: Version 3</vt:lpstr>
      <vt:lpstr>Web Application: Version 4</vt:lpstr>
      <vt:lpstr>The Real Trouble</vt:lpstr>
      <vt:lpstr>Our Challenge</vt:lpstr>
      <vt:lpstr>Slide 48</vt:lpstr>
      <vt:lpstr>An Integration Approach: Dual Writes</vt:lpstr>
      <vt:lpstr>Dual Writes Issue: Race Conditions</vt:lpstr>
      <vt:lpstr>Dual Writes Issue: Partial Failures</vt:lpstr>
      <vt:lpstr>Slide 52</vt:lpstr>
      <vt:lpstr>Another Integration Approach: Log</vt:lpstr>
      <vt:lpstr>Other Example Logs</vt:lpstr>
      <vt:lpstr>Distributed Log Software</vt:lpstr>
      <vt:lpstr>Why Use Distributed Log (aka Event Sourcing)?</vt:lpstr>
      <vt:lpstr>Slide 57</vt:lpstr>
      <vt:lpstr>Traditional Storage Approach</vt:lpstr>
      <vt:lpstr>Transfer Patient</vt:lpstr>
      <vt:lpstr>Transfer Patient Once More Time</vt:lpstr>
      <vt:lpstr>Discharge Patient</vt:lpstr>
      <vt:lpstr>Slide 62</vt:lpstr>
      <vt:lpstr>Event Sourcing Approach</vt:lpstr>
      <vt:lpstr>How is the Event Stored?</vt:lpstr>
      <vt:lpstr>Transfer Patient</vt:lpstr>
      <vt:lpstr>How is the Event Stored?</vt:lpstr>
      <vt:lpstr>Transfer Patient Once More Time</vt:lpstr>
      <vt:lpstr>How is the Event Stored?</vt:lpstr>
      <vt:lpstr>Discharge Patient</vt:lpstr>
      <vt:lpstr>How is the Event Stored?</vt:lpstr>
      <vt:lpstr>How Many Event Types for an Object?</vt:lpstr>
      <vt:lpstr>How are Events Stored?</vt:lpstr>
      <vt:lpstr>Slide 73</vt:lpstr>
      <vt:lpstr>Demo: Patient Events (Domain)</vt:lpstr>
      <vt:lpstr>Demo: Patient Commands</vt:lpstr>
      <vt:lpstr>Admit Patient Command Handler</vt:lpstr>
      <vt:lpstr>Admit Patient Command Handler (Encounter)</vt:lpstr>
      <vt:lpstr>Transfer Patient Command Handler</vt:lpstr>
      <vt:lpstr>Discharge Patient Command Handler</vt:lpstr>
      <vt:lpstr>Executing a Handler</vt:lpstr>
      <vt:lpstr>Slide 81</vt:lpstr>
      <vt:lpstr>General Approach for Aggregate</vt:lpstr>
      <vt:lpstr>Slide 83</vt:lpstr>
      <vt:lpstr>Slide 84</vt:lpstr>
      <vt:lpstr>Slide 85</vt:lpstr>
      <vt:lpstr>Apply Final Event</vt:lpstr>
      <vt:lpstr>Another Example</vt:lpstr>
      <vt:lpstr>Slide 88</vt:lpstr>
      <vt:lpstr>CQRS + Event Sourcing</vt:lpstr>
      <vt:lpstr>Demo: Projections (Views)</vt:lpstr>
      <vt:lpstr>Patient Ward View</vt:lpstr>
      <vt:lpstr>Patient Demographic View</vt:lpstr>
      <vt:lpstr>Projection Manager</vt:lpstr>
      <vt:lpstr>Projection Manager Code</vt:lpstr>
      <vt:lpstr>MongoDB Patient Ward View</vt:lpstr>
      <vt:lpstr>MongoDB Patient Demographic View</vt:lpstr>
      <vt:lpstr>Slide 97</vt:lpstr>
      <vt:lpstr>How to Update an Object?</vt:lpstr>
      <vt:lpstr>How to Delete an Object?</vt:lpstr>
      <vt:lpstr>Writing to a Stream</vt:lpstr>
      <vt:lpstr>Snapshotting</vt:lpstr>
      <vt:lpstr>How to Handle Side-Effects?</vt:lpstr>
      <vt:lpstr>Event Sourcing vs. Consistency</vt:lpstr>
      <vt:lpstr>How to Provide Feedback to User?</vt:lpstr>
      <vt:lpstr>Writing to Projection</vt:lpstr>
      <vt:lpstr>How to Provide Feedback to User? (II)</vt:lpstr>
      <vt:lpstr>Unbound List of Events</vt:lpstr>
      <vt:lpstr>Fixing Unbound List</vt:lpstr>
      <vt:lpstr>Versioning</vt:lpstr>
      <vt:lpstr>Slide 110</vt:lpstr>
      <vt:lpstr>CQRS (I)</vt:lpstr>
      <vt:lpstr>CQRS (II)</vt:lpstr>
      <vt:lpstr>Traditional Architecture</vt:lpstr>
      <vt:lpstr>Commands and Queries</vt:lpstr>
      <vt:lpstr>READ and WRITE Models</vt:lpstr>
      <vt:lpstr>Direct READ Model</vt:lpstr>
      <vt:lpstr>READ DB and WRITE DB</vt:lpstr>
      <vt:lpstr>READ DB and Event Stream</vt:lpstr>
      <vt:lpstr>Why CQRS?</vt:lpstr>
      <vt:lpstr>Slide 120</vt:lpstr>
      <vt:lpstr>Event Sourcing</vt:lpstr>
      <vt:lpstr>Event Sourcing vs. Event Collaboration</vt:lpstr>
      <vt:lpstr>Event-Driven Meanings</vt:lpstr>
      <vt:lpstr>Case Studies</vt:lpstr>
      <vt:lpstr>Books with Code</vt:lpstr>
      <vt:lpstr>Tools</vt:lpstr>
      <vt:lpstr>Open Source Demos</vt:lpstr>
      <vt:lpstr>Further Research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6866</cp:revision>
  <dcterms:created xsi:type="dcterms:W3CDTF">2007-10-06T08:25:13Z</dcterms:created>
  <dcterms:modified xsi:type="dcterms:W3CDTF">2026-08-13T18:35:35Z</dcterms:modified>
</cp:coreProperties>
</file>