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77" r:id="rId3"/>
    <p:sldId id="607" r:id="rId4"/>
    <p:sldId id="478" r:id="rId5"/>
    <p:sldId id="656" r:id="rId6"/>
    <p:sldId id="662" r:id="rId7"/>
    <p:sldId id="655" r:id="rId8"/>
    <p:sldId id="612" r:id="rId9"/>
    <p:sldId id="613" r:id="rId10"/>
    <p:sldId id="614" r:id="rId11"/>
    <p:sldId id="615" r:id="rId12"/>
    <p:sldId id="657" r:id="rId13"/>
    <p:sldId id="668" r:id="rId14"/>
    <p:sldId id="625" r:id="rId15"/>
    <p:sldId id="658" r:id="rId16"/>
    <p:sldId id="628" r:id="rId17"/>
    <p:sldId id="629" r:id="rId18"/>
    <p:sldId id="630" r:id="rId19"/>
    <p:sldId id="660" r:id="rId20"/>
    <p:sldId id="659" r:id="rId21"/>
    <p:sldId id="649" r:id="rId22"/>
    <p:sldId id="652" r:id="rId23"/>
    <p:sldId id="654" r:id="rId24"/>
    <p:sldId id="667" r:id="rId25"/>
    <p:sldId id="664" r:id="rId26"/>
    <p:sldId id="665" r:id="rId27"/>
    <p:sldId id="666" r:id="rId28"/>
    <p:sldId id="661" r:id="rId29"/>
    <p:sldId id="647" r:id="rId30"/>
    <p:sldId id="343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06" autoAdjust="0"/>
    <p:restoredTop sz="94667" autoAdjust="0"/>
  </p:normalViewPr>
  <p:slideViewPr>
    <p:cSldViewPr>
      <p:cViewPr>
        <p:scale>
          <a:sx n="50" d="100"/>
          <a:sy n="50" d="100"/>
        </p:scale>
        <p:origin x="-155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kurrent.io/getting-started/introduction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kurrent.io/getting-started/introduction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chocolatey.org/en-us/choco/setup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uget.eventstore.com/eventstore/v2/" TargetMode="External"/><Relationship Id="rId2" Type="http://schemas.openxmlformats.org/officeDocument/2006/relationships/hyperlink" Target="https://docs.kurrent.io/server/v24.10/quick-start/installation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127.0.0.1:2113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127.0.0.1:2113/web/index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kurrent-io/EventStoreDB-From-Scratch-Dotnet/tree/mai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127.0.0.1:2113/web/index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rrent-io/KurrentDB-Client-Java" TargetMode="External"/><Relationship Id="rId2" Type="http://schemas.openxmlformats.org/officeDocument/2006/relationships/hyperlink" Target="https://github.com/kurrent-io/EventStore-Client-Dotnet/tree/master/samp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kurrent-io/KurrentDB-Client-NodeJ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hub.docker.com/r/eventstore/eventstore/tag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evelopers.eventstore.com/server/v20.10/installation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localhost:2113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192.168.1.13:2113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smtClean="0"/>
              <a:t>KurrentDB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install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start</a:t>
            </a:r>
            <a:r>
              <a:rPr lang="en-US" sz="2400" dirty="0" smtClean="0"/>
              <a:t> </a:t>
            </a:r>
            <a:r>
              <a:rPr lang="en-US" sz="2400" dirty="0" err="1" smtClean="0"/>
              <a:t>EventStoreDB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write data</a:t>
            </a:r>
            <a:r>
              <a:rPr lang="en-US" sz="2400" dirty="0" smtClean="0"/>
              <a:t> to </a:t>
            </a:r>
            <a:r>
              <a:rPr lang="en-US" sz="2400" dirty="0" err="1" smtClean="0"/>
              <a:t>EventStoreDB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read data</a:t>
            </a:r>
            <a:r>
              <a:rPr lang="en-US" sz="2400" dirty="0" smtClean="0"/>
              <a:t> from </a:t>
            </a:r>
            <a:r>
              <a:rPr lang="en-US" sz="2400" dirty="0" err="1" smtClean="0"/>
              <a:t>EventStoreDB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800" dirty="0" err="1" smtClean="0"/>
              <a:t>EventStoreDB</a:t>
            </a: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KurrentDB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https://docs.kurrent.io/getting-started/introduction.html</a:t>
            </a:r>
            <a:endParaRPr lang="en-US" sz="2400" dirty="0" smtClean="0"/>
          </a:p>
          <a:p>
            <a:r>
              <a:rPr lang="en-US" sz="2400" dirty="0" err="1" smtClean="0"/>
              <a:t>KurrentDB</a:t>
            </a:r>
            <a:r>
              <a:rPr lang="en-US" sz="2400" dirty="0" smtClean="0"/>
              <a:t> is an event-native database designed specifically to store, process, and deliver application state changes, known as events.</a:t>
            </a:r>
          </a:p>
          <a:p>
            <a:r>
              <a:rPr lang="en-US" sz="2400" dirty="0" smtClean="0"/>
              <a:t>Each event captures a specific change in the state. Examples include when an order is placed, a payment is processed, or an item is shipped. By capturing all these incremental updates, </a:t>
            </a:r>
            <a:r>
              <a:rPr lang="en-US" sz="2400" dirty="0" err="1" smtClean="0"/>
              <a:t>KurrentDB</a:t>
            </a:r>
            <a:r>
              <a:rPr lang="en-US" sz="2400" dirty="0" smtClean="0"/>
              <a:t> captures temporal context and provides a complete audit trail of a business process.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KurrentDB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https://docs.kurrent.io/getting-started/introduction.html</a:t>
            </a:r>
            <a:endParaRPr lang="en-US" sz="2400" dirty="0" smtClean="0"/>
          </a:p>
          <a:p>
            <a:r>
              <a:rPr lang="en-US" sz="2400" dirty="0" smtClean="0"/>
              <a:t>Traditional databases often focus only on current state and overwrite data, which discards valuable information about the past and the events that shaped the current state.</a:t>
            </a:r>
          </a:p>
          <a:p>
            <a:r>
              <a:rPr lang="en-US" sz="2400" dirty="0" smtClean="0"/>
              <a:t>In contrast, </a:t>
            </a:r>
            <a:r>
              <a:rPr lang="en-US" sz="2400" dirty="0" err="1" smtClean="0"/>
              <a:t>KurrentDB</a:t>
            </a:r>
            <a:r>
              <a:rPr lang="en-US" sz="2400" dirty="0" smtClean="0"/>
              <a:t> keeps a complete history of changes, providing organizations with richer, and more contextual data that supports deeper insights - critical in today’s AI and data-driven environment.</a:t>
            </a:r>
          </a:p>
          <a:p>
            <a:r>
              <a:rPr lang="en-US" sz="2400" dirty="0" err="1" smtClean="0"/>
              <a:t>KurrentDB</a:t>
            </a:r>
            <a:r>
              <a:rPr lang="en-US" sz="2400" dirty="0" smtClean="0"/>
              <a:t> also includes additional features that make it simple to develop event-native applications that enable real-time updates and minimize system dependencies while maintaining data consistency.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Chocolatey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https://docs.chocolatey.org/en-us/choco/setup/</a:t>
            </a:r>
            <a:endParaRPr lang="en-US" sz="2400" dirty="0" smtClean="0"/>
          </a:p>
          <a:p>
            <a:r>
              <a:rPr lang="en-US" sz="1600" dirty="0" smtClean="0">
                <a:latin typeface="Consolas" pitchFamily="49" charset="0"/>
              </a:rPr>
              <a:t>@"%</a:t>
            </a:r>
            <a:r>
              <a:rPr lang="en-US" sz="1600" dirty="0" err="1" smtClean="0">
                <a:latin typeface="Consolas" pitchFamily="49" charset="0"/>
              </a:rPr>
              <a:t>SystemRoot</a:t>
            </a:r>
            <a:r>
              <a:rPr lang="en-US" sz="1600" dirty="0" smtClean="0">
                <a:latin typeface="Consolas" pitchFamily="49" charset="0"/>
              </a:rPr>
              <a:t>%\System32\</a:t>
            </a:r>
            <a:r>
              <a:rPr lang="en-US" sz="1600" dirty="0" err="1" smtClean="0">
                <a:latin typeface="Consolas" pitchFamily="49" charset="0"/>
              </a:rPr>
              <a:t>WindowsPowerShell</a:t>
            </a:r>
            <a:r>
              <a:rPr lang="en-US" sz="1600" dirty="0" smtClean="0">
                <a:latin typeface="Consolas" pitchFamily="49" charset="0"/>
              </a:rPr>
              <a:t>\v1.0\powershell.exe" -</a:t>
            </a:r>
            <a:r>
              <a:rPr lang="en-US" sz="1600" dirty="0" err="1" smtClean="0">
                <a:latin typeface="Consolas" pitchFamily="49" charset="0"/>
              </a:rPr>
              <a:t>NoProfile</a:t>
            </a:r>
            <a:r>
              <a:rPr lang="en-US" sz="1600" dirty="0" smtClean="0">
                <a:latin typeface="Consolas" pitchFamily="49" charset="0"/>
              </a:rPr>
              <a:t> -</a:t>
            </a:r>
            <a:r>
              <a:rPr lang="en-US" sz="1600" dirty="0" err="1" smtClean="0">
                <a:latin typeface="Consolas" pitchFamily="49" charset="0"/>
              </a:rPr>
              <a:t>InputFormat</a:t>
            </a:r>
            <a:r>
              <a:rPr lang="en-US" sz="1600" dirty="0" smtClean="0">
                <a:latin typeface="Consolas" pitchFamily="49" charset="0"/>
              </a:rPr>
              <a:t> None -</a:t>
            </a:r>
            <a:r>
              <a:rPr lang="en-US" sz="1600" dirty="0" err="1" smtClean="0">
                <a:latin typeface="Consolas" pitchFamily="49" charset="0"/>
              </a:rPr>
              <a:t>ExecutionPolicy</a:t>
            </a:r>
            <a:r>
              <a:rPr lang="en-US" sz="1600" dirty="0" smtClean="0">
                <a:latin typeface="Consolas" pitchFamily="49" charset="0"/>
              </a:rPr>
              <a:t> Bypass -Command "[</a:t>
            </a:r>
            <a:r>
              <a:rPr lang="en-US" sz="1600" dirty="0" err="1" smtClean="0">
                <a:latin typeface="Consolas" pitchFamily="49" charset="0"/>
              </a:rPr>
              <a:t>System.Net.ServicePointManager</a:t>
            </a:r>
            <a:r>
              <a:rPr lang="en-US" sz="1600" dirty="0" smtClean="0">
                <a:latin typeface="Consolas" pitchFamily="49" charset="0"/>
              </a:rPr>
              <a:t>]::</a:t>
            </a:r>
            <a:r>
              <a:rPr lang="en-US" sz="1600" dirty="0" err="1" smtClean="0">
                <a:latin typeface="Consolas" pitchFamily="49" charset="0"/>
              </a:rPr>
              <a:t>SecurityProtocol</a:t>
            </a:r>
            <a:r>
              <a:rPr lang="en-US" sz="1600" dirty="0" smtClean="0">
                <a:latin typeface="Consolas" pitchFamily="49" charset="0"/>
              </a:rPr>
              <a:t> = 3072; </a:t>
            </a:r>
            <a:r>
              <a:rPr lang="en-US" sz="1600" dirty="0" err="1" smtClean="0">
                <a:latin typeface="Consolas" pitchFamily="49" charset="0"/>
              </a:rPr>
              <a:t>iex</a:t>
            </a:r>
            <a:r>
              <a:rPr lang="en-US" sz="1600" dirty="0" smtClean="0">
                <a:latin typeface="Consolas" pitchFamily="49" charset="0"/>
              </a:rPr>
              <a:t> ((New-Object </a:t>
            </a:r>
            <a:r>
              <a:rPr lang="en-US" sz="1600" dirty="0" err="1" smtClean="0">
                <a:latin typeface="Consolas" pitchFamily="49" charset="0"/>
              </a:rPr>
              <a:t>System.Net.WebClient</a:t>
            </a:r>
            <a:r>
              <a:rPr lang="en-US" sz="1600" dirty="0" smtClean="0">
                <a:latin typeface="Consolas" pitchFamily="49" charset="0"/>
              </a:rPr>
              <a:t>).</a:t>
            </a:r>
            <a:r>
              <a:rPr lang="en-US" sz="1600" dirty="0" err="1" smtClean="0">
                <a:latin typeface="Consolas" pitchFamily="49" charset="0"/>
              </a:rPr>
              <a:t>DownloadString</a:t>
            </a:r>
            <a:r>
              <a:rPr lang="en-US" sz="1600" dirty="0" smtClean="0">
                <a:latin typeface="Consolas" pitchFamily="49" charset="0"/>
              </a:rPr>
              <a:t>('https://community.chocolatey.org/install.ps1'))" &amp;&amp; SET "PATH=%PATH%;%ALLUSERSPROFILE%\</a:t>
            </a:r>
            <a:r>
              <a:rPr lang="en-US" sz="1600" dirty="0" err="1" smtClean="0">
                <a:latin typeface="Consolas" pitchFamily="49" charset="0"/>
              </a:rPr>
              <a:t>chocolatey</a:t>
            </a:r>
            <a:r>
              <a:rPr lang="en-US" sz="1600" dirty="0" smtClean="0">
                <a:latin typeface="Consolas" pitchFamily="49" charset="0"/>
              </a:rPr>
              <a:t>\bin"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3813" y="4140200"/>
            <a:ext cx="6556375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2. Install </a:t>
            </a:r>
            <a:r>
              <a:rPr lang="en-US" sz="4000" dirty="0" err="1" smtClean="0"/>
              <a:t>KurrentDB</a:t>
            </a:r>
            <a:r>
              <a:rPr lang="en-US" sz="4200" dirty="0" smtClean="0"/>
              <a:t> </a:t>
            </a:r>
            <a:r>
              <a:rPr lang="en-US" sz="4200" dirty="0" smtClean="0"/>
              <a:t>on Windows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https://docs.kurrent.io/server/v24.10/quick-start/installation.html</a:t>
            </a:r>
            <a:endParaRPr lang="en-US" sz="2200" dirty="0" smtClean="0"/>
          </a:p>
          <a:p>
            <a:r>
              <a:rPr lang="en-US" sz="2200" dirty="0" err="1" smtClean="0"/>
              <a:t>choco</a:t>
            </a:r>
            <a:r>
              <a:rPr lang="en-US" sz="2200" dirty="0" smtClean="0"/>
              <a:t> source add -n </a:t>
            </a:r>
            <a:r>
              <a:rPr lang="en-US" sz="2200" dirty="0" err="1" smtClean="0"/>
              <a:t>eventstore-eventstore</a:t>
            </a:r>
            <a:r>
              <a:rPr lang="en-US" sz="2200" dirty="0" smtClean="0"/>
              <a:t> -s </a:t>
            </a:r>
            <a:r>
              <a:rPr lang="en-US" sz="2200" dirty="0" smtClean="0">
                <a:hlinkClick r:id="rId3"/>
              </a:rPr>
              <a:t>https://nuget.eventstore.com/eventstore/v2/</a:t>
            </a:r>
            <a:endParaRPr lang="en-US" sz="2200" dirty="0" smtClean="0"/>
          </a:p>
          <a:p>
            <a:r>
              <a:rPr lang="en-US" sz="2200" dirty="0" err="1" smtClean="0"/>
              <a:t>choco</a:t>
            </a:r>
            <a:r>
              <a:rPr lang="en-US" sz="2200" dirty="0" smtClean="0"/>
              <a:t> install </a:t>
            </a:r>
            <a:r>
              <a:rPr lang="en-US" sz="2200" dirty="0" err="1" smtClean="0"/>
              <a:t>eventstoredb-ee</a:t>
            </a:r>
            <a:r>
              <a:rPr lang="en-US" sz="2200" dirty="0" smtClean="0"/>
              <a:t> -s </a:t>
            </a:r>
            <a:r>
              <a:rPr lang="en-US" sz="2200" dirty="0" err="1" smtClean="0"/>
              <a:t>eventstore-eventstore</a:t>
            </a:r>
            <a:r>
              <a:rPr lang="en-US" sz="2200" dirty="0" smtClean="0"/>
              <a:t> --version 24.10.4</a:t>
            </a:r>
          </a:p>
          <a:p>
            <a:endParaRPr lang="en-US" sz="2200" b="1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0050" y="3930650"/>
            <a:ext cx="580390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Start </a:t>
            </a:r>
            <a:r>
              <a:rPr lang="en-US" dirty="0" err="1" smtClean="0"/>
              <a:t>KurrentDB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EventStore.ClusterNode.exe</a:t>
            </a:r>
            <a:r>
              <a:rPr lang="en-US" sz="1800" dirty="0" smtClean="0">
                <a:latin typeface="Consolas" pitchFamily="49" charset="0"/>
              </a:rPr>
              <a:t> --db ./db --log ./logs --insecure --enable-atom-pub-over-http --run-projections All</a:t>
            </a:r>
          </a:p>
          <a:p>
            <a:r>
              <a:rPr lang="en-US" sz="1800" i="1" dirty="0" smtClean="0">
                <a:latin typeface="Consolas" pitchFamily="49" charset="0"/>
              </a:rPr>
              <a:t>--insecure: disable TLS.</a:t>
            </a:r>
          </a:p>
          <a:p>
            <a:r>
              <a:rPr lang="en-US" sz="1800" i="1" dirty="0" smtClean="0">
                <a:latin typeface="Consolas" pitchFamily="49" charset="0"/>
              </a:rPr>
              <a:t>--enable-atom-pub-over-http: enable Stream browser.</a:t>
            </a:r>
          </a:p>
          <a:p>
            <a:r>
              <a:rPr lang="en-US" sz="1800" i="1" dirty="0" smtClean="0">
                <a:latin typeface="Consolas" pitchFamily="49" charset="0"/>
              </a:rPr>
              <a:t>--run-projections All: enable Projections.</a:t>
            </a:r>
          </a:p>
          <a:p>
            <a:endParaRPr lang="en-US" sz="2000" dirty="0" smtClean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2" y="3352800"/>
            <a:ext cx="8049578" cy="3131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Connect to </a:t>
            </a:r>
            <a:r>
              <a:rPr lang="en-US" dirty="0" err="1" smtClean="0"/>
              <a:t>KurrentDB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smtClean="0">
                <a:latin typeface="Consolas" pitchFamily="49" charset="0"/>
                <a:hlinkClick r:id="rId2"/>
              </a:rPr>
              <a:t>http://127.0.0.1:2113</a:t>
            </a:r>
            <a:endParaRPr lang="en-US" sz="2200" b="1" dirty="0" smtClean="0">
              <a:latin typeface="Consolas" pitchFamily="49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209800"/>
            <a:ext cx="8263890" cy="416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Write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>
                <a:latin typeface="Consolas" pitchFamily="49" charset="0"/>
                <a:hlinkClick r:id="rId2"/>
              </a:rPr>
              <a:t>http://127.0.0.1:2113/web/index.html#/streams/addEvent</a:t>
            </a:r>
            <a:endParaRPr lang="en-US" sz="2000" b="1" dirty="0" smtClean="0">
              <a:latin typeface="Consolas" pitchFamily="49" charset="0"/>
            </a:endParaRPr>
          </a:p>
          <a:p>
            <a:endParaRPr lang="en-US" sz="2000" b="1" dirty="0" smtClean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438400"/>
            <a:ext cx="8308556" cy="355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Start a Testing 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EventStore.ClusterNode.exe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b="1" dirty="0" smtClean="0">
                <a:latin typeface="Consolas" pitchFamily="49" charset="0"/>
              </a:rPr>
              <a:t>--</a:t>
            </a:r>
            <a:r>
              <a:rPr lang="en-US" sz="2400" b="1" dirty="0" err="1" smtClean="0">
                <a:latin typeface="Consolas" pitchFamily="49" charset="0"/>
              </a:rPr>
              <a:t>mem</a:t>
            </a:r>
            <a:r>
              <a:rPr lang="en-US" sz="2400" b="1" dirty="0" smtClean="0">
                <a:latin typeface="Consolas" pitchFamily="49" charset="0"/>
              </a:rPr>
              <a:t>-db</a:t>
            </a:r>
            <a:r>
              <a:rPr lang="en-US" sz="2400" dirty="0" smtClean="0">
                <a:latin typeface="Consolas" pitchFamily="49" charset="0"/>
              </a:rPr>
              <a:t> --log ./logs --insecure --enable-atom-pub-over-http --run-projections All </a:t>
            </a:r>
            <a:r>
              <a:rPr lang="en-US" sz="2400" b="1" dirty="0" smtClean="0">
                <a:latin typeface="Consolas" pitchFamily="49" charset="0"/>
              </a:rPr>
              <a:t>--ext-</a:t>
            </a:r>
            <a:r>
              <a:rPr lang="en-US" sz="2400" b="1" dirty="0" err="1" smtClean="0">
                <a:latin typeface="Consolas" pitchFamily="49" charset="0"/>
              </a:rPr>
              <a:t>ip</a:t>
            </a:r>
            <a:r>
              <a:rPr lang="en-US" sz="2400" b="1" dirty="0" smtClean="0">
                <a:latin typeface="Consolas" pitchFamily="49" charset="0"/>
              </a:rPr>
              <a:t> 0.0.0.0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0050" y="3397250"/>
            <a:ext cx="580390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2. </a:t>
            </a:r>
            <a:r>
              <a:rPr lang="en-US" dirty="0" smtClean="0"/>
              <a:t>Install the .NET client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dotnet</a:t>
            </a:r>
            <a:r>
              <a:rPr lang="en-US" sz="2400" dirty="0" smtClean="0">
                <a:latin typeface="Consolas" pitchFamily="49" charset="0"/>
              </a:rPr>
              <a:t> add package </a:t>
            </a:r>
            <a:r>
              <a:rPr lang="en-US" sz="2400" dirty="0" err="1" smtClean="0">
                <a:latin typeface="Consolas" pitchFamily="49" charset="0"/>
              </a:rPr>
              <a:t>EventStore.Client.Grpc.Streams</a:t>
            </a:r>
            <a:endParaRPr lang="en-US" sz="2400" dirty="0" smtClean="0">
              <a:latin typeface="Consolas" pitchFamily="49" charset="0"/>
            </a:endParaRPr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1575" y="2800350"/>
            <a:ext cx="68008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Connect to </a:t>
            </a:r>
            <a:r>
              <a:rPr lang="en-US" dirty="0" err="1" smtClean="0"/>
              <a:t>KurrentDB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https://github.com/kurrent-io/EventStoreDB-From-Scratch-Dotnet/tree/main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8263" y="3019425"/>
            <a:ext cx="64674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Append Data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0013" y="1819275"/>
            <a:ext cx="64039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Verify Appended Data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http://127.0.0.1:2113/web/index.html#/streams/TestStream/1</a:t>
            </a:r>
            <a:endParaRPr lang="en-US" sz="1800" dirty="0" smtClean="0"/>
          </a:p>
          <a:p>
            <a:endParaRPr lang="en-US" sz="1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1775" y="2311400"/>
            <a:ext cx="6140450" cy="378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Read Events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8263" y="1765300"/>
            <a:ext cx="6467475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Samples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https://github.com/kurrent-io/EventStore-Client-Dotnet/tree/master/samples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github.com/kurrent-io/KurrentDB-Client-Java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</a:t>
            </a:r>
            <a:r>
              <a:rPr lang="en-US" sz="2400" dirty="0" smtClean="0">
                <a:hlinkClick r:id="rId4"/>
              </a:rPr>
              <a:t>github.com/kurrent-io/KurrentDB-Client-NodeJS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Pull </a:t>
            </a:r>
            <a:r>
              <a:rPr lang="en-US" dirty="0" err="1" smtClean="0"/>
              <a:t>Docker</a:t>
            </a:r>
            <a:r>
              <a:rPr lang="en-US" dirty="0" smtClean="0"/>
              <a:t>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https://hub.docker.com/r/eventstore/eventstore/tags</a:t>
            </a:r>
            <a:endParaRPr lang="en-US" sz="2400" dirty="0" smtClean="0">
              <a:latin typeface="+mj-lt"/>
            </a:endParaRPr>
          </a:p>
          <a:p>
            <a:r>
              <a:rPr lang="en-US" sz="2200" dirty="0" err="1" smtClean="0">
                <a:latin typeface="Consolas" pitchFamily="49" charset="0"/>
              </a:rPr>
              <a:t>docker</a:t>
            </a:r>
            <a:r>
              <a:rPr lang="en-US" sz="2200" dirty="0" smtClean="0">
                <a:latin typeface="Consolas" pitchFamily="49" charset="0"/>
              </a:rPr>
              <a:t> pull </a:t>
            </a:r>
            <a:r>
              <a:rPr lang="en-US" sz="2200" dirty="0" err="1" smtClean="0">
                <a:latin typeface="Consolas" pitchFamily="49" charset="0"/>
              </a:rPr>
              <a:t>eventstore</a:t>
            </a:r>
            <a:r>
              <a:rPr lang="en-US" sz="2200" dirty="0" smtClean="0">
                <a:latin typeface="Consolas" pitchFamily="49" charset="0"/>
              </a:rPr>
              <a:t>/</a:t>
            </a:r>
            <a:r>
              <a:rPr lang="en-US" sz="2200" dirty="0" err="1" smtClean="0">
                <a:latin typeface="Consolas" pitchFamily="49" charset="0"/>
              </a:rPr>
              <a:t>eventstore:lts</a:t>
            </a:r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3048000"/>
            <a:ext cx="580390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the </a:t>
            </a:r>
            <a:r>
              <a:rPr lang="en-US" dirty="0" err="1" smtClean="0"/>
              <a:t>Docker</a:t>
            </a:r>
            <a:r>
              <a:rPr lang="en-US" dirty="0" smtClean="0"/>
              <a:t>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https://developers.eventstore.com/server/v20.10/installation.html#run-with-docker</a:t>
            </a:r>
            <a:endParaRPr lang="en-US" sz="2400" dirty="0" smtClean="0">
              <a:latin typeface="+mj-lt"/>
            </a:endParaRPr>
          </a:p>
          <a:p>
            <a:r>
              <a:rPr lang="en-US" sz="2000" dirty="0" err="1" smtClean="0">
                <a:latin typeface="Consolas" pitchFamily="49" charset="0"/>
              </a:rPr>
              <a:t>docker</a:t>
            </a:r>
            <a:r>
              <a:rPr lang="en-US" sz="2000" dirty="0" smtClean="0">
                <a:latin typeface="Consolas" pitchFamily="49" charset="0"/>
              </a:rPr>
              <a:t> run --name </a:t>
            </a:r>
            <a:r>
              <a:rPr lang="en-US" sz="2000" b="1" dirty="0" smtClean="0">
                <a:latin typeface="Consolas" pitchFamily="49" charset="0"/>
              </a:rPr>
              <a:t>my-</a:t>
            </a:r>
            <a:r>
              <a:rPr lang="en-US" sz="2000" b="1" dirty="0" err="1" smtClean="0">
                <a:latin typeface="Consolas" pitchFamily="49" charset="0"/>
              </a:rPr>
              <a:t>eventstore</a:t>
            </a:r>
            <a:r>
              <a:rPr lang="en-US" sz="2000" b="1" dirty="0" smtClean="0">
                <a:latin typeface="Consolas" pitchFamily="49" charset="0"/>
              </a:rPr>
              <a:t>-node</a:t>
            </a:r>
            <a:r>
              <a:rPr lang="en-US" sz="2000" dirty="0" smtClean="0">
                <a:latin typeface="Consolas" pitchFamily="49" charset="0"/>
              </a:rPr>
              <a:t> -it -p </a:t>
            </a:r>
            <a:r>
              <a:rPr lang="en-US" sz="2000" b="1" dirty="0" smtClean="0">
                <a:latin typeface="Consolas" pitchFamily="49" charset="0"/>
              </a:rPr>
              <a:t>2113</a:t>
            </a:r>
            <a:r>
              <a:rPr lang="en-US" sz="2000" dirty="0" smtClean="0">
                <a:latin typeface="Consolas" pitchFamily="49" charset="0"/>
              </a:rPr>
              <a:t>:2113 -p </a:t>
            </a:r>
            <a:r>
              <a:rPr lang="en-US" sz="2000" b="1" dirty="0" smtClean="0">
                <a:latin typeface="Consolas" pitchFamily="49" charset="0"/>
              </a:rPr>
              <a:t>1113</a:t>
            </a:r>
            <a:r>
              <a:rPr lang="en-US" sz="2000" dirty="0" smtClean="0">
                <a:latin typeface="Consolas" pitchFamily="49" charset="0"/>
              </a:rPr>
              <a:t>:1113 </a:t>
            </a:r>
            <a:r>
              <a:rPr lang="en-US" sz="2000" dirty="0" err="1" smtClean="0">
                <a:latin typeface="Consolas" pitchFamily="49" charset="0"/>
              </a:rPr>
              <a:t>eventstore</a:t>
            </a:r>
            <a:r>
              <a:rPr lang="en-US" sz="2000" dirty="0" smtClean="0">
                <a:latin typeface="Consolas" pitchFamily="49" charset="0"/>
              </a:rPr>
              <a:t>/</a:t>
            </a:r>
            <a:r>
              <a:rPr lang="en-US" sz="2000" dirty="0" err="1" smtClean="0">
                <a:latin typeface="Consolas" pitchFamily="49" charset="0"/>
              </a:rPr>
              <a:t>eventstore:lts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b="1" dirty="0" smtClean="0">
                <a:latin typeface="Consolas" pitchFamily="49" charset="0"/>
              </a:rPr>
              <a:t>--insecure</a:t>
            </a:r>
            <a:r>
              <a:rPr lang="en-US" sz="2000" dirty="0" smtClean="0">
                <a:latin typeface="Consolas" pitchFamily="49" charset="0"/>
              </a:rPr>
              <a:t> --run-projections=All --enable-atom-pub-over-http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0050" y="3778250"/>
            <a:ext cx="580390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Connect to </a:t>
            </a:r>
            <a:r>
              <a:rPr lang="en-US" dirty="0" err="1" smtClean="0"/>
              <a:t>KurrentDB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http://localhost:2113/</a:t>
            </a:r>
            <a:endParaRPr lang="en-US" sz="2400" dirty="0" smtClean="0"/>
          </a:p>
          <a:p>
            <a:endParaRPr lang="en-US" sz="22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525" y="2362200"/>
            <a:ext cx="7600950" cy="380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Allow Remote Connections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EventStore.ClusterNode.exe</a:t>
            </a:r>
            <a:r>
              <a:rPr lang="en-US" sz="2000" dirty="0" smtClean="0">
                <a:latin typeface="Consolas" pitchFamily="49" charset="0"/>
              </a:rPr>
              <a:t> --db ./db --log ./logs --insecure --enable-atom-pub-over-http --run-projections All </a:t>
            </a:r>
            <a:r>
              <a:rPr lang="en-US" sz="2000" b="1" dirty="0" smtClean="0">
                <a:latin typeface="Consolas" pitchFamily="49" charset="0"/>
              </a:rPr>
              <a:t>--ext-</a:t>
            </a:r>
            <a:r>
              <a:rPr lang="en-US" sz="2000" b="1" dirty="0" err="1" smtClean="0">
                <a:latin typeface="Consolas" pitchFamily="49" charset="0"/>
              </a:rPr>
              <a:t>ip</a:t>
            </a:r>
            <a:r>
              <a:rPr lang="en-US" sz="2000" b="1" dirty="0" smtClean="0">
                <a:latin typeface="Consolas" pitchFamily="49" charset="0"/>
              </a:rPr>
              <a:t> 192.168.1.19 --enable-external-</a:t>
            </a:r>
            <a:r>
              <a:rPr lang="en-US" sz="2000" b="1" dirty="0" err="1" smtClean="0">
                <a:latin typeface="Consolas" pitchFamily="49" charset="0"/>
              </a:rPr>
              <a:t>tcp</a:t>
            </a:r>
            <a:endParaRPr lang="en-US" sz="2000" b="1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EventStore.ClusterNode.exe</a:t>
            </a:r>
            <a:r>
              <a:rPr lang="en-US" sz="2000" dirty="0" smtClean="0">
                <a:latin typeface="Consolas" pitchFamily="49" charset="0"/>
              </a:rPr>
              <a:t> --db ./db --log ./logs --insecure --enable-atom-pub-over-http --run-projections All </a:t>
            </a:r>
            <a:r>
              <a:rPr lang="en-US" sz="2000" b="1" dirty="0" smtClean="0">
                <a:latin typeface="Consolas" pitchFamily="49" charset="0"/>
              </a:rPr>
              <a:t>--ext-</a:t>
            </a:r>
            <a:r>
              <a:rPr lang="en-US" sz="2000" b="1" dirty="0" err="1" smtClean="0">
                <a:latin typeface="Consolas" pitchFamily="49" charset="0"/>
              </a:rPr>
              <a:t>ip</a:t>
            </a:r>
            <a:r>
              <a:rPr lang="en-US" sz="2000" b="1" dirty="0" smtClean="0">
                <a:latin typeface="Consolas" pitchFamily="49" charset="0"/>
              </a:rPr>
              <a:t> 0.0.0.0 --enable-external-</a:t>
            </a:r>
            <a:r>
              <a:rPr lang="en-US" sz="2000" b="1" dirty="0" err="1" smtClean="0">
                <a:latin typeface="Consolas" pitchFamily="49" charset="0"/>
              </a:rPr>
              <a:t>tcp</a:t>
            </a:r>
            <a:endParaRPr lang="en-US" sz="2000" b="1" dirty="0" smtClean="0">
              <a:latin typeface="Consolas" pitchFamily="49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743200"/>
            <a:ext cx="6337300" cy="220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Open 2113, 1113 Ports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868775"/>
            <a:ext cx="7344648" cy="422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Connect to the Remote 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  <a:hlinkClick r:id="rId2"/>
              </a:rPr>
              <a:t>http://192.168.1.19:2113</a:t>
            </a:r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362200"/>
            <a:ext cx="7620000" cy="3881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 err="1" smtClean="0"/>
              <a:t>KurrentDB</a:t>
            </a:r>
            <a:r>
              <a:rPr lang="en-US" dirty="0" smtClean="0"/>
              <a:t> </a:t>
            </a:r>
            <a:r>
              <a:rPr lang="en-US" dirty="0" smtClean="0"/>
              <a:t>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10835</TotalTime>
  <Words>551</Words>
  <Application>Microsoft Office PowerPoint</Application>
  <PresentationFormat>On-screen Show (4:3)</PresentationFormat>
  <Paragraphs>76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KurrentDB</vt:lpstr>
      <vt:lpstr>Objectives</vt:lpstr>
      <vt:lpstr>Contents</vt:lpstr>
      <vt:lpstr>References</vt:lpstr>
      <vt:lpstr>KurrentDB</vt:lpstr>
      <vt:lpstr>Why KurrentDB?</vt:lpstr>
      <vt:lpstr>1. Install Chocolatey</vt:lpstr>
      <vt:lpstr>2. Install KurrentDB on Windows</vt:lpstr>
      <vt:lpstr>3. Start KurrentDB</vt:lpstr>
      <vt:lpstr>4. Connect to KurrentDB</vt:lpstr>
      <vt:lpstr>5. Write Events</vt:lpstr>
      <vt:lpstr>Slide 12</vt:lpstr>
      <vt:lpstr>1. Start a Testing Instance</vt:lpstr>
      <vt:lpstr>2. Install the .NET client API</vt:lpstr>
      <vt:lpstr>3. Connect to KurrentDB</vt:lpstr>
      <vt:lpstr>4. Append Data</vt:lpstr>
      <vt:lpstr>5. Verify Appended Data</vt:lpstr>
      <vt:lpstr>6. Read Events</vt:lpstr>
      <vt:lpstr>More Samples</vt:lpstr>
      <vt:lpstr>Slide 20</vt:lpstr>
      <vt:lpstr>1. Pull Docker Image</vt:lpstr>
      <vt:lpstr>2. Run the Docker Image</vt:lpstr>
      <vt:lpstr>3. Connect to KurrentDB</vt:lpstr>
      <vt:lpstr>Slide 24</vt:lpstr>
      <vt:lpstr>1. Allow Remote Connections</vt:lpstr>
      <vt:lpstr>2. Open 2113, 1113 Ports</vt:lpstr>
      <vt:lpstr>3. Connect to the Remote Instance</vt:lpstr>
      <vt:lpstr>Slide 28</vt:lpstr>
      <vt:lpstr>Install KurrentDB on Ubuntu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4004</cp:revision>
  <dcterms:created xsi:type="dcterms:W3CDTF">2007-10-06T08:25:13Z</dcterms:created>
  <dcterms:modified xsi:type="dcterms:W3CDTF">2025-06-11T11:27:03Z</dcterms:modified>
</cp:coreProperties>
</file>