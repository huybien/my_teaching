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7"/>
  </p:notesMasterIdLst>
  <p:sldIdLst>
    <p:sldId id="261" r:id="rId2"/>
    <p:sldId id="262" r:id="rId3"/>
    <p:sldId id="263" r:id="rId4"/>
    <p:sldId id="264" r:id="rId5"/>
    <p:sldId id="257" r:id="rId6"/>
    <p:sldId id="272" r:id="rId7"/>
    <p:sldId id="270" r:id="rId8"/>
    <p:sldId id="271" r:id="rId9"/>
    <p:sldId id="266" r:id="rId10"/>
    <p:sldId id="273" r:id="rId11"/>
    <p:sldId id="268" r:id="rId12"/>
    <p:sldId id="275" r:id="rId13"/>
    <p:sldId id="274" r:id="rId14"/>
    <p:sldId id="276" r:id="rId15"/>
    <p:sldId id="265" r:id="rId16"/>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vertBarState="maximized">
    <p:restoredLeft sz="21176" autoAdjust="0"/>
    <p:restoredTop sz="94667" autoAdjust="0"/>
  </p:normalViewPr>
  <p:slideViewPr>
    <p:cSldViewPr>
      <p:cViewPr>
        <p:scale>
          <a:sx n="50" d="100"/>
          <a:sy n="50" d="100"/>
        </p:scale>
        <p:origin x="-1476"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A718828-07AF-4D8D-802C-C19AD93C82D2}" type="datetimeFigureOut">
              <a:rPr lang="en-US" smtClean="0"/>
              <a:pPr/>
              <a:t>10/20/2025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0534FFD-E43C-4EF5-8DC9-1CF32A74EEF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FA779648-DD18-489E-A5AD-A830DE47708D}" type="slidenum">
              <a:rPr lang="en-US" smtClean="0"/>
              <a:pPr/>
              <a:t>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BB3B12F3-13D8-4BC6-B271-EF890D2E3EA0}" type="datetimeFigureOut">
              <a:rPr lang="en-US"/>
              <a:pPr>
                <a:defRPr/>
              </a:pPr>
              <a:t>10/20/2025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C4D65A0-8A45-49A8-B2B4-890662407FE0}"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AF2554BB-BED8-407D-871B-BC3BF099B766}" type="datetimeFigureOut">
              <a:rPr lang="en-US"/>
              <a:pPr>
                <a:defRPr/>
              </a:pPr>
              <a:t>10/20/2025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B6A513C-A265-4672-ADF9-9C420A0C09A7}"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D183AE9F-B8F4-4A27-A258-84000ADADD35}" type="datetimeFigureOut">
              <a:rPr lang="en-US"/>
              <a:pPr>
                <a:defRPr/>
              </a:pPr>
              <a:t>10/20/2025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0C0325C-EBE7-4A11-97E9-DF8C42B04A73}"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8B4F403C-A7D9-4211-8DC1-5865845C9F38}" type="datetimeFigureOut">
              <a:rPr lang="en-US"/>
              <a:pPr>
                <a:defRPr/>
              </a:pPr>
              <a:t>10/20/2025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091B809-96F5-477B-8E72-8AB6B5E4AEA1}"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8809C128-87F1-4A1D-AC95-1D0A8C2820AC}" type="datetimeFigureOut">
              <a:rPr lang="en-US"/>
              <a:pPr>
                <a:defRPr/>
              </a:pPr>
              <a:t>10/20/2025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C251F8E-6BBA-4EBA-BCCA-61145C18CC0B}"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0DD7EAC8-1610-4C8B-8A2E-7959779A26B0}" type="datetimeFigureOut">
              <a:rPr lang="en-US"/>
              <a:pPr>
                <a:defRPr/>
              </a:pPr>
              <a:t>10/20/2025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88F43CFA-8BED-4A88-AB21-8477601BA31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BD13CF8C-ED99-4E62-9F8F-039B47F842EB}" type="datetimeFigureOut">
              <a:rPr lang="en-US"/>
              <a:pPr>
                <a:defRPr/>
              </a:pPr>
              <a:t>10/20/2025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73FA9176-712D-4387-A1B9-79FDD21B4132}"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A10295A-2761-40EA-9DA2-E88C0504267F}" type="datetimeFigureOut">
              <a:rPr lang="en-US"/>
              <a:pPr>
                <a:defRPr/>
              </a:pPr>
              <a:t>10/20/2025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6EFA140-F156-4425-B953-A67D35160EB0}"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7036556-1340-40FC-A073-D70D8832A760}" type="datetimeFigureOut">
              <a:rPr lang="en-US"/>
              <a:pPr>
                <a:defRPr/>
              </a:pPr>
              <a:t>10/20/2025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B3919B8-AF1D-4524-AED9-AA87E5FE0640}"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B5375E21-F618-4DDC-86A2-77C690CACCAF}" type="datetimeFigureOut">
              <a:rPr lang="en-US"/>
              <a:pPr>
                <a:defRPr/>
              </a:pPr>
              <a:t>10/20/2025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EDB1DC0-76E8-4C19-B643-CDC8176FDDA2}"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1B4CE7E0-80C2-49E8-81AC-9B27623F73A4}" type="datetimeFigureOut">
              <a:rPr lang="en-US"/>
              <a:pPr>
                <a:defRPr/>
              </a:pPr>
              <a:t>10/20/2025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9D05C-0F0F-4E8B-B47F-3C2F1A4BC70E}"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218"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9219"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F5EA699-B790-4630-B1C5-9840307833F6}" type="datetimeFigureOut">
              <a:rPr lang="en-US"/>
              <a:pPr>
                <a:defRPr/>
              </a:pPr>
              <a:t>10/20/2025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409E2BD1-610D-47CE-BC14-E90E7753FA5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p:txBody>
          <a:bodyPr/>
          <a:lstStyle/>
          <a:p>
            <a:pPr eaLnBrk="1" hangingPunct="1"/>
            <a:r>
              <a:rPr lang="en-US" sz="6000" dirty="0" smtClean="0"/>
              <a:t>The Type Object Pattern</a:t>
            </a:r>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600201"/>
            <a:ext cx="5334000" cy="4495799"/>
          </a:xfrm>
        </p:spPr>
        <p:txBody>
          <a:bodyPr/>
          <a:lstStyle/>
          <a:p>
            <a:pPr marL="457200" indent="-457200">
              <a:buFont typeface="Wingdings" pitchFamily="2" charset="2"/>
              <a:buChar char="Ø"/>
            </a:pPr>
            <a:endParaRPr lang="en-US" sz="2400" dirty="0" smtClean="0"/>
          </a:p>
        </p:txBody>
      </p:sp>
      <p:pic>
        <p:nvPicPr>
          <p:cNvPr id="4" name="Picture 2"/>
          <p:cNvPicPr>
            <a:picLocks noChangeAspect="1" noChangeArrowheads="1"/>
          </p:cNvPicPr>
          <p:nvPr/>
        </p:nvPicPr>
        <p:blipFill>
          <a:blip r:embed="rId2" cstate="print"/>
          <a:srcRect/>
          <a:stretch>
            <a:fillRect/>
          </a:stretch>
        </p:blipFill>
        <p:spPr bwMode="auto">
          <a:xfrm>
            <a:off x="5867400" y="28194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None/>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524000"/>
            <a:ext cx="5638800" cy="4876800"/>
          </a:xfrm>
        </p:spPr>
        <p:txBody>
          <a:bodyPr/>
          <a:lstStyle/>
          <a:p>
            <a:pPr marL="457200" lvl="0" indent="-457200">
              <a:buFont typeface="+mj-lt"/>
              <a:buAutoNum type="arabicPeriod"/>
            </a:pPr>
            <a:r>
              <a:rPr lang="en-US" sz="2400" dirty="0" smtClean="0"/>
              <a:t>Ralph Johnson and Bobby Woolf. The Type Object Pattern. 1998.</a:t>
            </a:r>
          </a:p>
        </p:txBody>
      </p:sp>
      <p:pic>
        <p:nvPicPr>
          <p:cNvPr id="4" name="Picture 4" descr="http://2.bp.blogspot.com/-FqRM_5NQE6Q/TaSdzyWfvtI/AAAAAAAAAFg/C_2LDJWJOx4/s1600/books-pile.jpg"/>
          <p:cNvPicPr>
            <a:picLocks noChangeAspect="1" noChangeArrowheads="1"/>
          </p:cNvPicPr>
          <p:nvPr/>
        </p:nvPicPr>
        <p:blipFill>
          <a:blip r:embed="rId3" cstate="print"/>
          <a:srcRect/>
          <a:stretch>
            <a:fillRect/>
          </a:stretch>
        </p:blipFill>
        <p:spPr bwMode="auto">
          <a:xfrm>
            <a:off x="6248400" y="16764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Context</a:t>
            </a:r>
            <a:endParaRPr lang="en-US" dirty="0"/>
          </a:p>
        </p:txBody>
      </p:sp>
      <p:sp>
        <p:nvSpPr>
          <p:cNvPr id="3" name="Content Placeholder 2"/>
          <p:cNvSpPr>
            <a:spLocks noGrp="1"/>
          </p:cNvSpPr>
          <p:nvPr>
            <p:ph idx="1"/>
          </p:nvPr>
        </p:nvSpPr>
        <p:spPr/>
        <p:txBody>
          <a:bodyPr/>
          <a:lstStyle/>
          <a:p>
            <a:r>
              <a:rPr lang="en-US" sz="2400" dirty="0" smtClean="0"/>
              <a:t>Although an object system can create new instances on demand, it usually cannot </a:t>
            </a:r>
            <a:r>
              <a:rPr lang="en-US" sz="2400" i="1" dirty="0" smtClean="0">
                <a:solidFill>
                  <a:srgbClr val="C00000"/>
                </a:solidFill>
              </a:rPr>
              <a:t>create new classes without recompilation</a:t>
            </a:r>
            <a:r>
              <a:rPr lang="en-US" sz="2400" dirty="0" smtClean="0"/>
              <a:t>.</a:t>
            </a:r>
          </a:p>
          <a:p>
            <a:r>
              <a:rPr lang="en-US" sz="2400" dirty="0" smtClean="0"/>
              <a:t>Consider a system for </a:t>
            </a:r>
            <a:r>
              <a:rPr lang="en-US" sz="2400" i="1" dirty="0" smtClean="0">
                <a:solidFill>
                  <a:srgbClr val="C00000"/>
                </a:solidFill>
              </a:rPr>
              <a:t>tracking the videotapes</a:t>
            </a:r>
            <a:r>
              <a:rPr lang="en-US" sz="2400" dirty="0" smtClean="0"/>
              <a:t> in a video rental store's inventory.</a:t>
            </a:r>
          </a:p>
          <a:p>
            <a:r>
              <a:rPr lang="en-US" sz="2400" dirty="0" smtClean="0"/>
              <a:t>The system will obviously require a class called "</a:t>
            </a:r>
            <a:r>
              <a:rPr lang="en-US" sz="2400" i="1" dirty="0" smtClean="0">
                <a:solidFill>
                  <a:srgbClr val="C00000"/>
                </a:solidFill>
              </a:rPr>
              <a:t>Videotape</a:t>
            </a:r>
            <a:r>
              <a:rPr lang="en-US" sz="2400" dirty="0" smtClean="0"/>
              <a:t>."</a:t>
            </a:r>
          </a:p>
          <a:p>
            <a:r>
              <a:rPr lang="en-US" sz="2400" dirty="0" smtClean="0"/>
              <a:t>Each </a:t>
            </a:r>
            <a:r>
              <a:rPr lang="en-US" sz="2400" i="1" dirty="0" smtClean="0">
                <a:solidFill>
                  <a:srgbClr val="C00000"/>
                </a:solidFill>
              </a:rPr>
              <a:t>instance of Videotape</a:t>
            </a:r>
            <a:r>
              <a:rPr lang="en-US" sz="2400" dirty="0" smtClean="0"/>
              <a:t> will represent one of the videotapes in the store's inventory.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Problem 1</a:t>
            </a:r>
            <a:endParaRPr lang="en-US" dirty="0"/>
          </a:p>
        </p:txBody>
      </p:sp>
      <p:sp>
        <p:nvSpPr>
          <p:cNvPr id="3" name="Content Placeholder 2"/>
          <p:cNvSpPr>
            <a:spLocks noGrp="1"/>
          </p:cNvSpPr>
          <p:nvPr>
            <p:ph idx="1"/>
          </p:nvPr>
        </p:nvSpPr>
        <p:spPr/>
        <p:txBody>
          <a:bodyPr/>
          <a:lstStyle/>
          <a:p>
            <a:r>
              <a:rPr lang="en-US" sz="2400" dirty="0" smtClean="0"/>
              <a:t>However, since many of the videotapes are very similar, the Videotape instances will contain </a:t>
            </a:r>
            <a:r>
              <a:rPr lang="en-US" sz="2400" i="1" dirty="0" smtClean="0">
                <a:solidFill>
                  <a:srgbClr val="C00000"/>
                </a:solidFill>
              </a:rPr>
              <a:t>a lot of redundant information</a:t>
            </a:r>
            <a:r>
              <a:rPr lang="en-US" sz="2400" dirty="0" smtClean="0"/>
              <a:t>.</a:t>
            </a:r>
          </a:p>
          <a:p>
            <a:r>
              <a:rPr lang="en-US" sz="2400" dirty="0" smtClean="0"/>
              <a:t>For example, all copies of Star Wars have the same title, rental price, MPAA1 rating, etc. This information is different for The Terminator, but all copies of The Terminator have the same data.</a:t>
            </a:r>
          </a:p>
          <a:p>
            <a:r>
              <a:rPr lang="en-US" sz="2400" dirty="0" smtClean="0"/>
              <a:t>Thus repeating this information through all copies of Star Wars or all copies of The Terminator is redundant.</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Simple Solution (I)</a:t>
            </a:r>
            <a:endParaRPr lang="en-US" dirty="0"/>
          </a:p>
        </p:txBody>
      </p:sp>
      <p:sp>
        <p:nvSpPr>
          <p:cNvPr id="3" name="Content Placeholder 2"/>
          <p:cNvSpPr>
            <a:spLocks noGrp="1"/>
          </p:cNvSpPr>
          <p:nvPr>
            <p:ph idx="1"/>
          </p:nvPr>
        </p:nvSpPr>
        <p:spPr/>
        <p:txBody>
          <a:bodyPr/>
          <a:lstStyle/>
          <a:p>
            <a:r>
              <a:rPr lang="en-US" sz="2400" dirty="0" smtClean="0"/>
              <a:t>One way to solve this problem is to create a subclass of Videotape for each movie.</a:t>
            </a:r>
          </a:p>
          <a:p>
            <a:r>
              <a:rPr lang="en-US" sz="2400" dirty="0" smtClean="0"/>
              <a:t>Thus two of the subclasses would be </a:t>
            </a:r>
            <a:r>
              <a:rPr lang="en-US" sz="2400" dirty="0" err="1" smtClean="0"/>
              <a:t>StarWarsTape</a:t>
            </a:r>
            <a:r>
              <a:rPr lang="en-US" sz="2400" dirty="0" smtClean="0"/>
              <a:t> and </a:t>
            </a:r>
            <a:r>
              <a:rPr lang="en-US" sz="2400" dirty="0" err="1" smtClean="0"/>
              <a:t>TerminatorTape</a:t>
            </a:r>
            <a:r>
              <a:rPr lang="en-US" sz="2400" dirty="0" smtClean="0"/>
              <a:t>.</a:t>
            </a:r>
          </a:p>
          <a:p>
            <a:r>
              <a:rPr lang="en-US" sz="2400" dirty="0" smtClean="0"/>
              <a:t>The class itself would keep the information for that movie. So the information common to all copies of </a:t>
            </a:r>
            <a:r>
              <a:rPr lang="en-US" sz="2400" i="1" dirty="0" smtClean="0"/>
              <a:t>Star Wars would be stored </a:t>
            </a:r>
            <a:r>
              <a:rPr lang="en-US" sz="2400" dirty="0" smtClean="0"/>
              <a:t>only once.</a:t>
            </a:r>
          </a:p>
          <a:p>
            <a:r>
              <a:rPr lang="en-US" sz="2400" dirty="0" smtClean="0"/>
              <a:t>It might be hardcoded on the instance side of </a:t>
            </a:r>
            <a:r>
              <a:rPr lang="en-US" sz="2400" dirty="0" err="1" smtClean="0"/>
              <a:t>StarWarsTape</a:t>
            </a:r>
            <a:r>
              <a:rPr lang="en-US" sz="2400" dirty="0" smtClean="0"/>
              <a:t> or stored in variables on the class side or in an object assigned to the class for this purpose.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Simple Solution (II)</a:t>
            </a:r>
            <a:endParaRPr lang="en-US" dirty="0"/>
          </a:p>
        </p:txBody>
      </p:sp>
      <p:sp>
        <p:nvSpPr>
          <p:cNvPr id="3" name="Content Placeholder 2"/>
          <p:cNvSpPr>
            <a:spLocks noGrp="1"/>
          </p:cNvSpPr>
          <p:nvPr>
            <p:ph idx="1"/>
          </p:nvPr>
        </p:nvSpPr>
        <p:spPr/>
        <p:txBody>
          <a:bodyPr/>
          <a:lstStyle/>
          <a:p>
            <a:r>
              <a:rPr lang="en-US" sz="2400" dirty="0" smtClean="0"/>
              <a:t>Now Videotape would be an abstract class; the system would not create instances of it.</a:t>
            </a:r>
          </a:p>
          <a:p>
            <a:r>
              <a:rPr lang="en-US" sz="2400" dirty="0" smtClean="0"/>
              <a:t>Instead, when the store bought a new videotape and started renting it, the system would create an instance of the class for that movie.</a:t>
            </a:r>
          </a:p>
          <a:p>
            <a:r>
              <a:rPr lang="en-US" sz="2400" dirty="0" smtClean="0"/>
              <a:t>So if the new videotape were for The Terminator, the system would create an instance of </a:t>
            </a:r>
            <a:r>
              <a:rPr lang="en-US" sz="2400" dirty="0" err="1" smtClean="0"/>
              <a:t>TerminatorTape</a:t>
            </a:r>
            <a:r>
              <a:rPr lang="en-US" sz="2400" dirty="0" smtClean="0"/>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Problem 2 (I)</a:t>
            </a:r>
            <a:endParaRPr lang="en-US" dirty="0"/>
          </a:p>
        </p:txBody>
      </p:sp>
      <p:sp>
        <p:nvSpPr>
          <p:cNvPr id="3" name="Content Placeholder 2"/>
          <p:cNvSpPr>
            <a:spLocks noGrp="1"/>
          </p:cNvSpPr>
          <p:nvPr>
            <p:ph idx="1"/>
          </p:nvPr>
        </p:nvSpPr>
        <p:spPr/>
        <p:txBody>
          <a:bodyPr/>
          <a:lstStyle/>
          <a:p>
            <a:r>
              <a:rPr lang="en-US" sz="2400" dirty="0" smtClean="0"/>
              <a:t>One problem is that if the store stocks lots of different movies, Videotape could require </a:t>
            </a:r>
            <a:r>
              <a:rPr lang="en-US" sz="2400" i="1" dirty="0" smtClean="0">
                <a:solidFill>
                  <a:srgbClr val="C00000"/>
                </a:solidFill>
              </a:rPr>
              <a:t>a huge number of subclasses</a:t>
            </a:r>
            <a:r>
              <a:rPr lang="en-US" sz="2400" dirty="0" smtClean="0"/>
              <a:t>.</a:t>
            </a:r>
          </a:p>
          <a:p>
            <a:r>
              <a:rPr lang="en-US" sz="2400" dirty="0" smtClean="0"/>
              <a:t>Another problem is what would happen when the system is deployed and the store starts stocking </a:t>
            </a:r>
            <a:r>
              <a:rPr lang="en-US" sz="2400" i="1" dirty="0" smtClean="0">
                <a:solidFill>
                  <a:srgbClr val="C00000"/>
                </a:solidFill>
              </a:rPr>
              <a:t>a new movie</a:t>
            </a:r>
            <a:r>
              <a:rPr lang="en-US" sz="2400" dirty="0" smtClean="0"/>
              <a:t>−perhaps Independence Day.</a:t>
            </a:r>
          </a:p>
          <a:p>
            <a:r>
              <a:rPr lang="en-US" sz="2400" dirty="0" smtClean="0"/>
              <a:t>There is no </a:t>
            </a:r>
            <a:r>
              <a:rPr lang="en-US" sz="2400" dirty="0" err="1" smtClean="0"/>
              <a:t>IndependenceDayTape</a:t>
            </a:r>
            <a:r>
              <a:rPr lang="en-US" sz="2400" dirty="0" smtClean="0"/>
              <a:t> class in the system.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Problem 2 (II)</a:t>
            </a:r>
            <a:endParaRPr lang="en-US" dirty="0"/>
          </a:p>
        </p:txBody>
      </p:sp>
      <p:sp>
        <p:nvSpPr>
          <p:cNvPr id="3" name="Content Placeholder 2"/>
          <p:cNvSpPr>
            <a:spLocks noGrp="1"/>
          </p:cNvSpPr>
          <p:nvPr>
            <p:ph idx="1"/>
          </p:nvPr>
        </p:nvSpPr>
        <p:spPr/>
        <p:txBody>
          <a:bodyPr/>
          <a:lstStyle/>
          <a:p>
            <a:r>
              <a:rPr lang="en-US" sz="2400" dirty="0" smtClean="0"/>
              <a:t>If the developer did not predict this situation, he would have to modify the code to add a new </a:t>
            </a:r>
            <a:r>
              <a:rPr lang="en-US" sz="2400" dirty="0" err="1" smtClean="0"/>
              <a:t>IndependenceDayTape</a:t>
            </a:r>
            <a:r>
              <a:rPr lang="en-US" sz="2400" dirty="0" smtClean="0"/>
              <a:t> class, </a:t>
            </a:r>
            <a:r>
              <a:rPr lang="en-US" sz="2400" i="1" dirty="0" smtClean="0">
                <a:solidFill>
                  <a:srgbClr val="C00000"/>
                </a:solidFill>
              </a:rPr>
              <a:t>recompile the system</a:t>
            </a:r>
            <a:r>
              <a:rPr lang="en-US" sz="2400" dirty="0" smtClean="0"/>
              <a:t>, and redeploy it.</a:t>
            </a:r>
          </a:p>
          <a:p>
            <a:r>
              <a:rPr lang="en-US" sz="2400" dirty="0" smtClean="0"/>
              <a:t>If the developer did predict this situation, he could provide a </a:t>
            </a:r>
            <a:r>
              <a:rPr lang="en-US" sz="2400" i="1" dirty="0" smtClean="0">
                <a:solidFill>
                  <a:srgbClr val="C00000"/>
                </a:solidFill>
              </a:rPr>
              <a:t>special subclass</a:t>
            </a:r>
            <a:r>
              <a:rPr lang="en-US" sz="2400" dirty="0" smtClean="0"/>
              <a:t> of Videotape−such as </a:t>
            </a:r>
            <a:r>
              <a:rPr lang="en-US" sz="2400" dirty="0" err="1" smtClean="0"/>
              <a:t>UnknownTape</a:t>
            </a:r>
            <a:r>
              <a:rPr lang="en-US" sz="2400" dirty="0" smtClean="0"/>
              <a:t>−and the store would create an instance of it for all videotapes of the new movie.</a:t>
            </a:r>
          </a:p>
          <a:p>
            <a:r>
              <a:rPr lang="en-US" sz="2400" dirty="0" smtClean="0"/>
              <a:t>The problem with </a:t>
            </a:r>
            <a:r>
              <a:rPr lang="en-US" sz="2400" dirty="0" err="1" smtClean="0"/>
              <a:t>UnknownTape</a:t>
            </a:r>
            <a:r>
              <a:rPr lang="en-US" sz="2400" dirty="0" smtClean="0"/>
              <a:t> is that it has </a:t>
            </a:r>
            <a:r>
              <a:rPr lang="en-US" sz="2400" i="1" dirty="0" smtClean="0">
                <a:solidFill>
                  <a:srgbClr val="C00000"/>
                </a:solidFill>
              </a:rPr>
              <a:t>the same lack of flexibility</a:t>
            </a:r>
            <a:r>
              <a:rPr lang="en-US" sz="2400" dirty="0" smtClean="0"/>
              <a:t> that Videotape had.</a:t>
            </a:r>
          </a:p>
          <a:p>
            <a:r>
              <a:rPr lang="en-US" sz="2400" dirty="0" smtClean="0"/>
              <a:t>Just as Videotape required subclasses, so will </a:t>
            </a:r>
            <a:r>
              <a:rPr lang="en-US" sz="2400" dirty="0" err="1" smtClean="0"/>
              <a:t>UnknownTape</a:t>
            </a:r>
            <a:r>
              <a:rPr lang="en-US" sz="2400" dirty="0" smtClean="0"/>
              <a:t>, so </a:t>
            </a:r>
            <a:r>
              <a:rPr lang="en-US" sz="2400" dirty="0" err="1" smtClean="0"/>
              <a:t>UnknownTape</a:t>
            </a:r>
            <a:r>
              <a:rPr lang="en-US" sz="2400" dirty="0" smtClean="0"/>
              <a:t> is not a very good solution.</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Solution (I)</a:t>
            </a:r>
            <a:endParaRPr lang="en-US" dirty="0"/>
          </a:p>
        </p:txBody>
      </p:sp>
      <p:sp>
        <p:nvSpPr>
          <p:cNvPr id="3" name="Content Placeholder 2"/>
          <p:cNvSpPr>
            <a:spLocks noGrp="1"/>
          </p:cNvSpPr>
          <p:nvPr>
            <p:ph idx="1"/>
          </p:nvPr>
        </p:nvSpPr>
        <p:spPr/>
        <p:txBody>
          <a:bodyPr/>
          <a:lstStyle/>
          <a:p>
            <a:r>
              <a:rPr lang="en-US" sz="2200" i="1" dirty="0" smtClean="0">
                <a:solidFill>
                  <a:srgbClr val="C00000"/>
                </a:solidFill>
              </a:rPr>
              <a:t>Class− based object languages</a:t>
            </a:r>
            <a:r>
              <a:rPr lang="en-US" sz="2200" dirty="0" smtClean="0"/>
              <a:t> give support for instances of classes, but they do not give support for instances of instances of classes.</a:t>
            </a:r>
          </a:p>
          <a:p>
            <a:r>
              <a:rPr lang="en-US" sz="2200" dirty="0" smtClean="0"/>
              <a:t>So to implement this solution in a typical class−based language, you need to </a:t>
            </a:r>
            <a:r>
              <a:rPr lang="en-US" sz="2200" i="1" dirty="0" smtClean="0">
                <a:solidFill>
                  <a:srgbClr val="C00000"/>
                </a:solidFill>
              </a:rPr>
              <a:t>implement two classes</a:t>
            </a:r>
            <a:r>
              <a:rPr lang="en-US" sz="2200" dirty="0" smtClean="0"/>
              <a:t>: one to represent </a:t>
            </a:r>
            <a:r>
              <a:rPr lang="en-US" sz="2200" b="1" dirty="0" smtClean="0"/>
              <a:t>a type</a:t>
            </a:r>
            <a:r>
              <a:rPr lang="en-US" sz="2200" dirty="0" smtClean="0"/>
              <a:t> of videotape (Movie) and one to represent a videotape (Videotape).</a:t>
            </a:r>
          </a:p>
          <a:p>
            <a:r>
              <a:rPr lang="en-US" sz="2200" dirty="0" smtClean="0"/>
              <a:t>Each instance of Videotape would have </a:t>
            </a:r>
            <a:r>
              <a:rPr lang="en-US" sz="2200" b="1" dirty="0" smtClean="0"/>
              <a:t>a pointer</a:t>
            </a:r>
            <a:r>
              <a:rPr lang="en-US" sz="2200" dirty="0" smtClean="0"/>
              <a:t> to its corresponding instance of Movie.</a:t>
            </a:r>
          </a:p>
        </p:txBody>
      </p:sp>
      <p:pic>
        <p:nvPicPr>
          <p:cNvPr id="4" name="Picture 2"/>
          <p:cNvPicPr>
            <a:picLocks noChangeAspect="1" noChangeArrowheads="1"/>
          </p:cNvPicPr>
          <p:nvPr/>
        </p:nvPicPr>
        <p:blipFill>
          <a:blip r:embed="rId2" cstate="print"/>
          <a:srcRect/>
          <a:stretch>
            <a:fillRect/>
          </a:stretch>
        </p:blipFill>
        <p:spPr bwMode="auto">
          <a:xfrm>
            <a:off x="2209800" y="4495800"/>
            <a:ext cx="4572000" cy="1190625"/>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Solution (II)</a:t>
            </a:r>
            <a:endParaRPr lang="en-US" dirty="0"/>
          </a:p>
        </p:txBody>
      </p:sp>
      <p:sp>
        <p:nvSpPr>
          <p:cNvPr id="3" name="Content Placeholder 2"/>
          <p:cNvSpPr>
            <a:spLocks noGrp="1"/>
          </p:cNvSpPr>
          <p:nvPr>
            <p:ph idx="1"/>
          </p:nvPr>
        </p:nvSpPr>
        <p:spPr/>
        <p:txBody>
          <a:bodyPr/>
          <a:lstStyle/>
          <a:p>
            <a:r>
              <a:rPr lang="en-US" sz="2200" dirty="0" smtClean="0"/>
              <a:t>This class diagram illustrates how each </a:t>
            </a:r>
            <a:r>
              <a:rPr lang="en-US" sz="2200" i="1" dirty="0" smtClean="0">
                <a:solidFill>
                  <a:srgbClr val="C00000"/>
                </a:solidFill>
              </a:rPr>
              <a:t>instance</a:t>
            </a:r>
            <a:r>
              <a:rPr lang="en-US" sz="2200" dirty="0" smtClean="0"/>
              <a:t> of Videotape has a corresponding instance of Movie.</a:t>
            </a:r>
          </a:p>
          <a:p>
            <a:r>
              <a:rPr lang="en-US" sz="2200" dirty="0" smtClean="0"/>
              <a:t>It shows how properties defined by the type of videotape are separated from those which differ for each particular videotape.</a:t>
            </a:r>
          </a:p>
          <a:p>
            <a:r>
              <a:rPr lang="en-US" sz="2200" dirty="0" smtClean="0"/>
              <a:t>In this case, the movie’s title and how much is costs to rent are separated from whether the tape is rented and who is currently renting it.</a:t>
            </a:r>
          </a:p>
        </p:txBody>
      </p:sp>
      <p:pic>
        <p:nvPicPr>
          <p:cNvPr id="4" name="Picture 2"/>
          <p:cNvPicPr>
            <a:picLocks noChangeAspect="1" noChangeArrowheads="1"/>
          </p:cNvPicPr>
          <p:nvPr/>
        </p:nvPicPr>
        <p:blipFill>
          <a:blip r:embed="rId2" cstate="print"/>
          <a:srcRect/>
          <a:stretch>
            <a:fillRect/>
          </a:stretch>
        </p:blipFill>
        <p:spPr bwMode="auto">
          <a:xfrm>
            <a:off x="2209800" y="4495800"/>
            <a:ext cx="4572000" cy="1190625"/>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Solution (III)</a:t>
            </a:r>
            <a:endParaRPr lang="en-US" dirty="0"/>
          </a:p>
        </p:txBody>
      </p:sp>
      <p:sp>
        <p:nvSpPr>
          <p:cNvPr id="3" name="Content Placeholder 2"/>
          <p:cNvSpPr>
            <a:spLocks noGrp="1"/>
          </p:cNvSpPr>
          <p:nvPr>
            <p:ph idx="1"/>
          </p:nvPr>
        </p:nvSpPr>
        <p:spPr/>
        <p:txBody>
          <a:bodyPr/>
          <a:lstStyle/>
          <a:p>
            <a:r>
              <a:rPr lang="en-US" sz="2200" dirty="0" smtClean="0"/>
              <a:t>This </a:t>
            </a:r>
            <a:r>
              <a:rPr lang="en-US" sz="2200" i="1" dirty="0" smtClean="0">
                <a:solidFill>
                  <a:srgbClr val="C00000"/>
                </a:solidFill>
              </a:rPr>
              <a:t>instance diagram</a:t>
            </a:r>
            <a:r>
              <a:rPr lang="en-US" sz="2200" dirty="0" smtClean="0"/>
              <a:t> shows how there is an instance of Movie to represent each type of videotape and an instance of Videotape to represent each video the store stocks.</a:t>
            </a:r>
          </a:p>
          <a:p>
            <a:r>
              <a:rPr lang="en-US" sz="2200" dirty="0" smtClean="0"/>
              <a:t>Star Wars and The Terminator are movies; videotapes are the copy of Star Wars that John is renting verses the one that Sue is renting.</a:t>
            </a:r>
          </a:p>
          <a:p>
            <a:r>
              <a:rPr lang="en-US" sz="2200" dirty="0" smtClean="0"/>
              <a:t>It also shows how each Videotape knows what type it is because of its relationship to a particular instance of Movie.</a:t>
            </a:r>
          </a:p>
        </p:txBody>
      </p:sp>
      <p:pic>
        <p:nvPicPr>
          <p:cNvPr id="5" name="Picture 3"/>
          <p:cNvPicPr>
            <a:picLocks noChangeAspect="1" noChangeArrowheads="1"/>
          </p:cNvPicPr>
          <p:nvPr/>
        </p:nvPicPr>
        <p:blipFill>
          <a:blip r:embed="rId2" cstate="print"/>
          <a:srcRect/>
          <a:stretch>
            <a:fillRect/>
          </a:stretch>
        </p:blipFill>
        <p:spPr bwMode="auto">
          <a:xfrm>
            <a:off x="1981200" y="4343400"/>
            <a:ext cx="5210175" cy="190500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Handling New Movie</a:t>
            </a:r>
            <a:endParaRPr lang="en-US" dirty="0"/>
          </a:p>
        </p:txBody>
      </p:sp>
      <p:sp>
        <p:nvSpPr>
          <p:cNvPr id="3" name="Content Placeholder 2"/>
          <p:cNvSpPr>
            <a:spLocks noGrp="1"/>
          </p:cNvSpPr>
          <p:nvPr>
            <p:ph idx="1"/>
          </p:nvPr>
        </p:nvSpPr>
        <p:spPr/>
        <p:txBody>
          <a:bodyPr/>
          <a:lstStyle/>
          <a:p>
            <a:r>
              <a:rPr lang="en-US" sz="2400" dirty="0" smtClean="0"/>
              <a:t>If a new movie, such as Independence Day, were to be rented to Jack, the system would create a new Movie and a new Videotape that points to the Movie.</a:t>
            </a:r>
          </a:p>
          <a:p>
            <a:r>
              <a:rPr lang="en-US" sz="2400" dirty="0" smtClean="0"/>
              <a:t>The movie is Independence Day and the tape is the copy of Independence Day that Jack ends up renting.</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10933</TotalTime>
  <Words>819</Words>
  <Application>Microsoft Office PowerPoint</Application>
  <PresentationFormat>On-screen Show (4:3)</PresentationFormat>
  <Paragraphs>55</Paragraphs>
  <Slides>15</Slides>
  <Notes>1</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The Type Object Pattern</vt:lpstr>
      <vt:lpstr>Objectives</vt:lpstr>
      <vt:lpstr>Contents</vt:lpstr>
      <vt:lpstr>References</vt:lpstr>
      <vt:lpstr>Context</vt:lpstr>
      <vt:lpstr>The Problem 1</vt:lpstr>
      <vt:lpstr>Simple Solution (I)</vt:lpstr>
      <vt:lpstr>Simple Solution (II)</vt:lpstr>
      <vt:lpstr>The Problem 2 (I)</vt:lpstr>
      <vt:lpstr>The Problem 2 (II)</vt:lpstr>
      <vt:lpstr>Solution (I)</vt:lpstr>
      <vt:lpstr>Solution (II)</vt:lpstr>
      <vt:lpstr>Solution (III)</vt:lpstr>
      <vt:lpstr>Handling New Movie</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3076</cp:revision>
  <dcterms:created xsi:type="dcterms:W3CDTF">2007-10-06T08:25:13Z</dcterms:created>
  <dcterms:modified xsi:type="dcterms:W3CDTF">2025-10-20T11:36:57Z</dcterms:modified>
</cp:coreProperties>
</file>