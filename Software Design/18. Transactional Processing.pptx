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5"/>
  </p:notesMasterIdLst>
  <p:sldIdLst>
    <p:sldId id="414" r:id="rId2"/>
    <p:sldId id="415" r:id="rId3"/>
    <p:sldId id="416" r:id="rId4"/>
    <p:sldId id="417" r:id="rId5"/>
    <p:sldId id="361" r:id="rId6"/>
    <p:sldId id="418" r:id="rId7"/>
    <p:sldId id="397" r:id="rId8"/>
    <p:sldId id="398" r:id="rId9"/>
    <p:sldId id="430" r:id="rId10"/>
    <p:sldId id="396" r:id="rId11"/>
    <p:sldId id="423" r:id="rId12"/>
    <p:sldId id="419" r:id="rId13"/>
    <p:sldId id="420" r:id="rId14"/>
    <p:sldId id="421" r:id="rId15"/>
    <p:sldId id="422" r:id="rId16"/>
    <p:sldId id="429" r:id="rId17"/>
    <p:sldId id="365" r:id="rId18"/>
    <p:sldId id="366" r:id="rId19"/>
    <p:sldId id="367" r:id="rId20"/>
    <p:sldId id="368" r:id="rId21"/>
    <p:sldId id="369" r:id="rId22"/>
    <p:sldId id="372" r:id="rId23"/>
    <p:sldId id="373" r:id="rId24"/>
    <p:sldId id="374" r:id="rId25"/>
    <p:sldId id="376" r:id="rId26"/>
    <p:sldId id="375" r:id="rId27"/>
    <p:sldId id="377" r:id="rId28"/>
    <p:sldId id="378" r:id="rId29"/>
    <p:sldId id="424" r:id="rId30"/>
    <p:sldId id="428" r:id="rId31"/>
    <p:sldId id="404" r:id="rId32"/>
    <p:sldId id="395" r:id="rId33"/>
    <p:sldId id="379" r:id="rId34"/>
    <p:sldId id="380" r:id="rId35"/>
    <p:sldId id="431" r:id="rId36"/>
    <p:sldId id="432" r:id="rId37"/>
    <p:sldId id="425" r:id="rId38"/>
    <p:sldId id="407" r:id="rId39"/>
    <p:sldId id="405" r:id="rId40"/>
    <p:sldId id="427" r:id="rId41"/>
    <p:sldId id="408" r:id="rId42"/>
    <p:sldId id="409" r:id="rId43"/>
    <p:sldId id="410" r:id="rId44"/>
    <p:sldId id="426" r:id="rId45"/>
    <p:sldId id="383" r:id="rId46"/>
    <p:sldId id="384" r:id="rId47"/>
    <p:sldId id="386" r:id="rId48"/>
    <p:sldId id="387" r:id="rId49"/>
    <p:sldId id="388" r:id="rId50"/>
    <p:sldId id="389" r:id="rId51"/>
    <p:sldId id="390" r:id="rId52"/>
    <p:sldId id="391" r:id="rId53"/>
    <p:sldId id="359" r:id="rId5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06" autoAdjust="0"/>
    <p:restoredTop sz="94667" autoAdjust="0"/>
  </p:normalViewPr>
  <p:slideViewPr>
    <p:cSldViewPr>
      <p:cViewPr>
        <p:scale>
          <a:sx n="50" d="100"/>
          <a:sy n="50" d="100"/>
        </p:scale>
        <p:origin x="-155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4026E6-0412-4830-8F06-DF45033103D5}" type="datetimeFigureOut">
              <a:rPr lang="en-US" smtClean="0"/>
              <a:pPr/>
              <a:t>2/26/2024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21BAC6-1780-4248-A045-EEDC4FD7C33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F8F1E381-20DA-4745-B537-35B514BA6DD7}" type="datetimeFigureOut">
              <a:rPr lang="en-US"/>
              <a:pPr>
                <a:defRPr/>
              </a:pPr>
              <a:t>2/26/2024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94EF19F-72C6-4835-B8F9-C4043AB145C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656C9F8-4ECB-4B63-B927-93DB51F662D0}" type="datetimeFigureOut">
              <a:rPr lang="en-US"/>
              <a:pPr>
                <a:defRPr/>
              </a:pPr>
              <a:t>2/26/2024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9E5146C-45A3-4063-B945-A6E828CB1A71}"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120DA55-A2EA-4E91-9DF8-848564DA5A8C}" type="datetimeFigureOut">
              <a:rPr lang="en-US"/>
              <a:pPr>
                <a:defRPr/>
              </a:pPr>
              <a:t>2/26/2024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502FCE2-22A4-4D22-98FA-0E266C50229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82FE22C-AAA6-4859-915C-7CA8A229741E}" type="datetimeFigureOut">
              <a:rPr lang="en-US"/>
              <a:pPr>
                <a:defRPr/>
              </a:pPr>
              <a:t>2/26/2024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94E97B5-865B-4943-9516-8680CA16C72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2DB4DA2C-F6C4-40D9-95C2-7E16780900E4}" type="datetimeFigureOut">
              <a:rPr lang="en-US"/>
              <a:pPr>
                <a:defRPr/>
              </a:pPr>
              <a:t>2/26/2024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179A6762-FCC9-4A4D-B55E-A9AEAC8C4268}"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B02FA20-63C4-4E2F-BBAB-9D9ECDF79A55}" type="datetimeFigureOut">
              <a:rPr lang="en-US"/>
              <a:pPr>
                <a:defRPr/>
              </a:pPr>
              <a:t>2/26/2024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D571E3C-6E5C-4814-A904-273FE3A958CC}"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4E24579-F551-4401-BD9C-1A956A73C8B1}" type="datetimeFigureOut">
              <a:rPr lang="en-US"/>
              <a:pPr>
                <a:defRPr/>
              </a:pPr>
              <a:t>2/26/2024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E24CBAC-259E-4BF8-ACF6-FAB2C68750FB}"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04B6935-2E86-4F35-979C-26D8DA31E11B}" type="datetimeFigureOut">
              <a:rPr lang="en-US"/>
              <a:pPr>
                <a:defRPr/>
              </a:pPr>
              <a:t>2/26/2024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049D8DE-4736-4786-A76F-BA4BFA66C358}"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34642AA-84FD-46EB-91FE-F301FD1B086D}" type="datetimeFigureOut">
              <a:rPr lang="en-US"/>
              <a:pPr>
                <a:defRPr/>
              </a:pPr>
              <a:t>2/26/2024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2E0BD26-494C-4707-B45F-1E41DB7E206B}"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67AB78B-B950-4223-B948-C26A4E4BFB92}" type="datetimeFigureOut">
              <a:rPr lang="en-US"/>
              <a:pPr>
                <a:defRPr/>
              </a:pPr>
              <a:t>2/26/2024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0435AB7-6027-4C00-A9DE-A82D1F9B718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C8E790DE-6227-4769-B4D1-A285E0E78CE4}" type="datetimeFigureOut">
              <a:rPr lang="en-US"/>
              <a:pPr>
                <a:defRPr/>
              </a:pPr>
              <a:t>2/26/2024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F58F97A-8135-4157-8FDD-A5EB0FEF561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6C44B157-FED2-4AB7-A096-BDB0B5D2F088}" type="datetimeFigureOut">
              <a:rPr lang="en-US"/>
              <a:pPr>
                <a:defRPr/>
              </a:pPr>
              <a:t>2/26/2024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5BD64C92-C51E-4B83-930E-D172469398A1}"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Transactional Processing</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r>
              <a:rPr lang="en-US" sz="2400" dirty="0" smtClean="0"/>
              <a:t>To present how </a:t>
            </a:r>
            <a:r>
              <a:rPr lang="en-US" sz="2400" i="1" dirty="0" smtClean="0">
                <a:solidFill>
                  <a:srgbClr val="C00000"/>
                </a:solidFill>
              </a:rPr>
              <a:t>transactional middleware</a:t>
            </a:r>
            <a:r>
              <a:rPr lang="en-US" sz="2400" dirty="0" smtClean="0"/>
              <a:t> works and when to use it.</a:t>
            </a:r>
          </a:p>
          <a:p>
            <a:pPr>
              <a:buFont typeface="Wingdings" pitchFamily="2" charset="2"/>
              <a:buChar char="Ø"/>
            </a:pPr>
            <a:r>
              <a:rPr lang="en-US" sz="2400" dirty="0" smtClean="0"/>
              <a:t>To present how transactional middleware and database systems work together to support </a:t>
            </a:r>
            <a:r>
              <a:rPr lang="en-US" sz="2400" i="1" dirty="0" smtClean="0">
                <a:solidFill>
                  <a:srgbClr val="C00000"/>
                </a:solidFill>
              </a:rPr>
              <a:t>reliable distributed transaction processing</a:t>
            </a:r>
            <a:r>
              <a:rPr lang="en-US" sz="2400" dirty="0" smtClean="0"/>
              <a:t> applications.</a:t>
            </a:r>
          </a:p>
          <a:p>
            <a:pPr>
              <a:buFont typeface="Wingdings" pitchFamily="2" charset="2"/>
              <a:buChar char="Ø"/>
            </a:pPr>
            <a:r>
              <a:rPr lang="en-US" sz="2400" dirty="0" smtClean="0"/>
              <a:t>To learn quickly how to use any </a:t>
            </a:r>
            <a:r>
              <a:rPr lang="en-US" sz="2400" i="1" dirty="0" smtClean="0">
                <a:solidFill>
                  <a:srgbClr val="C00000"/>
                </a:solidFill>
              </a:rPr>
              <a:t>transactional middleware product</a:t>
            </a:r>
            <a:r>
              <a:rPr lang="en-US" sz="2400" dirty="0" smtClean="0"/>
              <a:t> or database system.</a:t>
            </a:r>
          </a:p>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smtClean="0"/>
              <a:t>Business </a:t>
            </a:r>
            <a:r>
              <a:rPr lang="en-US" sz="2400" dirty="0" smtClean="0"/>
              <a:t>Transaction</a:t>
            </a:r>
          </a:p>
          <a:p>
            <a:pPr marL="571500" indent="-571500">
              <a:buFont typeface="+mj-lt"/>
              <a:buAutoNum type="romanUcPeriod"/>
            </a:pPr>
            <a:r>
              <a:rPr lang="en-US" sz="2400" dirty="0" smtClean="0"/>
              <a:t>Transaction </a:t>
            </a:r>
            <a:r>
              <a:rPr lang="en-US" sz="2400" dirty="0" smtClean="0"/>
              <a:t>Processing</a:t>
            </a:r>
          </a:p>
          <a:p>
            <a:pPr marL="571500" indent="-571500">
              <a:buFont typeface="+mj-lt"/>
              <a:buAutoNum type="romanUcPeriod"/>
            </a:pPr>
            <a:r>
              <a:rPr lang="en-US" sz="2400" dirty="0" smtClean="0"/>
              <a:t>ACID Properties</a:t>
            </a: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lvl="0" indent="-457200">
              <a:buFont typeface="+mj-lt"/>
              <a:buAutoNum type="arabicPeriod"/>
            </a:pPr>
            <a:r>
              <a:rPr lang="en-US" sz="2400" dirty="0" smtClean="0"/>
              <a:t>Philip A. Bernstein and Eric Newcomer (2009). Principles of Transaction Processing. Morgan Kaufmann.</a:t>
            </a:r>
          </a:p>
          <a:p>
            <a:pPr marL="457200" lvl="0" indent="-457200">
              <a:buFont typeface="+mj-lt"/>
              <a:buAutoNum type="arabicPeriod"/>
            </a:pPr>
            <a:r>
              <a:rPr lang="en-US" sz="2400" dirty="0" smtClean="0"/>
              <a:t>Theo </a:t>
            </a:r>
            <a:r>
              <a:rPr lang="en-US" sz="2400" dirty="0" err="1" smtClean="0"/>
              <a:t>Haerder</a:t>
            </a:r>
            <a:r>
              <a:rPr lang="en-US" sz="2400" dirty="0" smtClean="0"/>
              <a:t> And Andreas Reuter (1983). Principles Of Transaction-Oriented Database Recovery.</a:t>
            </a:r>
          </a:p>
          <a:p>
            <a:pPr marL="457200" indent="-457200">
              <a:buFont typeface="+mj-lt"/>
              <a:buAutoNum type="arabicPeriod"/>
            </a:pPr>
            <a:r>
              <a:rPr lang="en-US" sz="2400" dirty="0" err="1" smtClean="0"/>
              <a:t>Sanjiva</a:t>
            </a:r>
            <a:r>
              <a:rPr lang="en-US" sz="2400" dirty="0" smtClean="0"/>
              <a:t> </a:t>
            </a:r>
            <a:r>
              <a:rPr lang="en-US" sz="2400" dirty="0" err="1" smtClean="0"/>
              <a:t>Weerawarana</a:t>
            </a:r>
            <a:r>
              <a:rPr lang="en-US" sz="2400" dirty="0" smtClean="0"/>
              <a:t> et al. (2005). Web Services Platform Architecture. Prentice Hall PTR.</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Business Transaction? [1]</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business transaction</a:t>
            </a:r>
            <a:r>
              <a:rPr lang="en-US" sz="2400" dirty="0" smtClean="0"/>
              <a:t> is </a:t>
            </a:r>
            <a:r>
              <a:rPr lang="en-US" sz="2400" u="sng" dirty="0" smtClean="0"/>
              <a:t>an interaction in the real world</a:t>
            </a:r>
            <a:r>
              <a:rPr lang="en-US" sz="2400" dirty="0" smtClean="0"/>
              <a:t>, usually between an enterprise and a person or another enterprise, where something is exchanged.</a:t>
            </a:r>
          </a:p>
          <a:p>
            <a:r>
              <a:rPr lang="en-US" sz="2400" i="1" dirty="0" smtClean="0">
                <a:solidFill>
                  <a:srgbClr val="C00000"/>
                </a:solidFill>
              </a:rPr>
              <a:t>Transaction processing (TP)</a:t>
            </a:r>
            <a:r>
              <a:rPr lang="en-US" sz="2400" dirty="0" smtClean="0"/>
              <a:t>—</a:t>
            </a:r>
            <a:r>
              <a:rPr lang="en-US" sz="2400" u="sng" dirty="0" smtClean="0"/>
              <a:t>the processing of business transactions by computers</a:t>
            </a:r>
            <a:r>
              <a:rPr lang="en-US" sz="2400" dirty="0" smtClean="0"/>
              <a:t> connected by computer networks.</a:t>
            </a:r>
          </a:p>
          <a:p>
            <a:r>
              <a:rPr lang="en-US" sz="2400" dirty="0" smtClean="0"/>
              <a:t>An </a:t>
            </a:r>
            <a:r>
              <a:rPr lang="en-US" sz="2400" i="1" dirty="0" smtClean="0">
                <a:solidFill>
                  <a:srgbClr val="C00000"/>
                </a:solidFill>
              </a:rPr>
              <a:t>on-line transaction</a:t>
            </a:r>
            <a:r>
              <a:rPr lang="en-US" sz="2400" dirty="0" smtClean="0"/>
              <a:t> is </a:t>
            </a:r>
            <a:r>
              <a:rPr lang="en-US" sz="2400" u="sng" dirty="0" smtClean="0"/>
              <a:t>the execution of a program</a:t>
            </a:r>
            <a:r>
              <a:rPr lang="en-US" sz="2400" dirty="0" smtClean="0"/>
              <a:t> that performs an administrative function by accessing a shared database, usually on behalf of an on-line user.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Processing Application</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Transaction program</a:t>
            </a:r>
            <a:r>
              <a:rPr lang="en-US" sz="2400" dirty="0" smtClean="0"/>
              <a:t> is the program whose execution is the transaction.</a:t>
            </a:r>
          </a:p>
          <a:p>
            <a:r>
              <a:rPr lang="en-US" sz="2400" dirty="0" smtClean="0"/>
              <a:t>A </a:t>
            </a:r>
            <a:r>
              <a:rPr lang="en-US" sz="2400" i="1" dirty="0" smtClean="0">
                <a:solidFill>
                  <a:srgbClr val="C00000"/>
                </a:solidFill>
              </a:rPr>
              <a:t>transaction processing application</a:t>
            </a:r>
            <a:r>
              <a:rPr lang="en-US" sz="2400" dirty="0" smtClean="0"/>
              <a:t> is a collection of transaction programs designed to do the functions necessary to </a:t>
            </a:r>
            <a:r>
              <a:rPr lang="en-US" sz="2400" u="sng" dirty="0" smtClean="0"/>
              <a:t>automate a given business activity</a:t>
            </a:r>
            <a:r>
              <a:rPr lang="en-US" sz="2400" dirty="0" smtClean="0"/>
              <a: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Process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business process (workflow)</a:t>
            </a:r>
            <a:r>
              <a:rPr lang="en-US" sz="2400" dirty="0" smtClean="0"/>
              <a:t> is </a:t>
            </a:r>
            <a:r>
              <a:rPr lang="en-US" sz="2400" u="sng" dirty="0" smtClean="0"/>
              <a:t>a set of related tasks</a:t>
            </a:r>
            <a:r>
              <a:rPr lang="en-US" sz="2400" dirty="0" smtClean="0"/>
              <a:t> that lead to </a:t>
            </a:r>
            <a:r>
              <a:rPr lang="en-US" sz="2400" u="sng" dirty="0" smtClean="0"/>
              <a:t>a particular goal</a:t>
            </a:r>
            <a:r>
              <a:rPr lang="en-US" sz="2400" dirty="0" smtClean="0"/>
              <a:t>.</a:t>
            </a:r>
          </a:p>
          <a:p>
            <a:r>
              <a:rPr lang="en-US" sz="2400" i="1" dirty="0" smtClean="0">
                <a:solidFill>
                  <a:srgbClr val="C00000"/>
                </a:solidFill>
              </a:rPr>
              <a:t>Example</a:t>
            </a:r>
            <a:r>
              <a:rPr lang="en-US" sz="2400" dirty="0" smtClean="0"/>
              <a:t>: Process an order for retail goods:</a:t>
            </a:r>
          </a:p>
          <a:p>
            <a:pPr lvl="1"/>
            <a:r>
              <a:rPr lang="en-US" sz="2000" dirty="0" smtClean="0"/>
              <a:t>Check the customer’s credit, reserve the required material from stock, schedule the shipment</a:t>
            </a:r>
          </a:p>
          <a:p>
            <a:pPr lvl="1"/>
            <a:r>
              <a:rPr lang="en-US" sz="2000" dirty="0" smtClean="0"/>
              <a:t>Give commission credit to the salesperson, submit a request for payment from a credit card company</a:t>
            </a:r>
          </a:p>
          <a:p>
            <a:pPr lvl="1"/>
            <a:r>
              <a:rPr lang="en-US" sz="2000" dirty="0" smtClean="0"/>
              <a:t>Perform the shipment, and then validate that the order was delivered.</a:t>
            </a:r>
          </a:p>
          <a:p>
            <a:r>
              <a:rPr lang="en-US" sz="2400" i="1" dirty="0" smtClean="0">
                <a:solidFill>
                  <a:srgbClr val="C00000"/>
                </a:solidFill>
              </a:rPr>
              <a:t>Business transaction</a:t>
            </a:r>
            <a:r>
              <a:rPr lang="en-US" sz="2400" dirty="0" smtClean="0"/>
              <a:t> is a </a:t>
            </a:r>
            <a:r>
              <a:rPr lang="en-US" sz="2400" u="sng" dirty="0" smtClean="0"/>
              <a:t>business process</a:t>
            </a:r>
            <a:r>
              <a:rPr lang="en-US" sz="2400" dirty="0" smtClean="0"/>
              <a:t> or </a:t>
            </a:r>
            <a:r>
              <a:rPr lang="en-US" sz="2400" u="sng" dirty="0" smtClean="0"/>
              <a:t>a step</a:t>
            </a:r>
            <a:r>
              <a:rPr lang="en-US" sz="2400" dirty="0" smtClean="0"/>
              <a:t> within a business process.</a:t>
            </a:r>
          </a:p>
          <a:p>
            <a:r>
              <a:rPr lang="en-US" sz="2400" i="1" dirty="0" smtClean="0">
                <a:solidFill>
                  <a:srgbClr val="C00000"/>
                </a:solidFill>
              </a:rPr>
              <a:t>Business process management</a:t>
            </a:r>
            <a:r>
              <a:rPr lang="en-US" sz="2400" dirty="0" smtClean="0"/>
              <a:t> is </a:t>
            </a:r>
            <a:r>
              <a:rPr lang="en-US" sz="2400" u="sng" dirty="0" smtClean="0"/>
              <a:t>the activity of creating, managing, adapting, and monitoring</a:t>
            </a:r>
            <a:r>
              <a:rPr lang="en-US" sz="2400" dirty="0" smtClean="0"/>
              <a:t> business processes.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Process Definition</a:t>
            </a:r>
            <a:endParaRPr lang="en-US" dirty="0"/>
          </a:p>
        </p:txBody>
      </p:sp>
      <p:sp>
        <p:nvSpPr>
          <p:cNvPr id="3" name="Content Placeholder 2"/>
          <p:cNvSpPr>
            <a:spLocks noGrp="1"/>
          </p:cNvSpPr>
          <p:nvPr>
            <p:ph idx="1"/>
          </p:nvPr>
        </p:nvSpPr>
        <p:spPr/>
        <p:txBody>
          <a:bodyPr/>
          <a:lstStyle/>
          <a:p>
            <a:r>
              <a:rPr lang="en-US" sz="2200" dirty="0" smtClean="0"/>
              <a:t>A </a:t>
            </a:r>
            <a:r>
              <a:rPr lang="en-US" sz="2200" i="1" dirty="0" smtClean="0">
                <a:solidFill>
                  <a:srgbClr val="C00000"/>
                </a:solidFill>
              </a:rPr>
              <a:t>business process definition</a:t>
            </a:r>
            <a:r>
              <a:rPr lang="en-US" sz="2200" dirty="0" smtClean="0"/>
              <a:t> is an action of </a:t>
            </a:r>
            <a:r>
              <a:rPr lang="en-US" sz="2200" u="sng" dirty="0" smtClean="0"/>
              <a:t>specifying the steps of the business process</a:t>
            </a:r>
            <a:r>
              <a:rPr lang="en-US" sz="2200" dirty="0" smtClean="0"/>
              <a:t>, the work performed by each step, the order in which the steps execute, and how steps communicate with each other.</a:t>
            </a:r>
          </a:p>
          <a:p>
            <a:r>
              <a:rPr lang="en-US" sz="2200" i="1" dirty="0" smtClean="0">
                <a:solidFill>
                  <a:srgbClr val="C00000"/>
                </a:solidFill>
              </a:rPr>
              <a:t>Finite state machine</a:t>
            </a:r>
            <a:r>
              <a:rPr lang="en-US" sz="2200" dirty="0" smtClean="0"/>
              <a:t> is a machine having a finite set of states. For each state, it specifies the set of events that can occur. Each event causes the machine to perform an action and move into a different state.</a:t>
            </a:r>
          </a:p>
          <a:p>
            <a:r>
              <a:rPr lang="en-US" sz="2200" dirty="0" smtClean="0"/>
              <a:t>A </a:t>
            </a:r>
            <a:r>
              <a:rPr lang="en-US" sz="2200" u="sng" dirty="0" smtClean="0"/>
              <a:t>business process</a:t>
            </a:r>
            <a:r>
              <a:rPr lang="en-US" sz="2200" dirty="0" smtClean="0"/>
              <a:t> needs to be </a:t>
            </a:r>
            <a:r>
              <a:rPr lang="en-US" sz="2200" i="1" dirty="0" smtClean="0">
                <a:solidFill>
                  <a:srgbClr val="C00000"/>
                </a:solidFill>
              </a:rPr>
              <a:t>specified in a formal language</a:t>
            </a:r>
            <a:r>
              <a:rPr lang="en-US" sz="2200" dirty="0" smtClean="0"/>
              <a:t>. This can be an imperative language with the usual control flow constructs, a finite state machine, or a graphical notation suitable for a visual programming tool.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Processing System</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TP system</a:t>
            </a:r>
            <a:r>
              <a:rPr lang="en-US" sz="2400" dirty="0" smtClean="0"/>
              <a:t> is the computer system—both hardware and software—that hosts the transaction programs.</a:t>
            </a:r>
          </a:p>
          <a:p>
            <a:endParaRPr lang="en-US" sz="2400" dirty="0"/>
          </a:p>
        </p:txBody>
      </p:sp>
      <p:pic>
        <p:nvPicPr>
          <p:cNvPr id="4" name="Picture 2"/>
          <p:cNvPicPr>
            <a:picLocks noChangeAspect="1" noChangeArrowheads="1"/>
          </p:cNvPicPr>
          <p:nvPr/>
        </p:nvPicPr>
        <p:blipFill>
          <a:blip r:embed="rId2" cstate="print"/>
          <a:srcRect/>
          <a:stretch>
            <a:fillRect/>
          </a:stretch>
        </p:blipFill>
        <p:spPr bwMode="auto">
          <a:xfrm>
            <a:off x="476250" y="3048000"/>
            <a:ext cx="8191500" cy="30289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Multi-Tier TP Application Architecture</a:t>
            </a:r>
            <a:endParaRPr lang="en-US" sz="4000" dirty="0"/>
          </a:p>
        </p:txBody>
      </p:sp>
      <p:pic>
        <p:nvPicPr>
          <p:cNvPr id="1026" name="Picture 2"/>
          <p:cNvPicPr>
            <a:picLocks noChangeAspect="1" noChangeArrowheads="1"/>
          </p:cNvPicPr>
          <p:nvPr/>
        </p:nvPicPr>
        <p:blipFill>
          <a:blip r:embed="rId2" cstate="print"/>
          <a:srcRect/>
          <a:stretch>
            <a:fillRect/>
          </a:stretch>
        </p:blipFill>
        <p:spPr bwMode="auto">
          <a:xfrm>
            <a:off x="852488" y="1400175"/>
            <a:ext cx="7439025" cy="5305425"/>
          </a:xfrm>
          <a:prstGeom prst="rect">
            <a:avLst/>
          </a:prstGeom>
          <a:noFill/>
          <a:ln w="9525">
            <a:noFill/>
            <a:miter lim="800000"/>
            <a:headEnd/>
            <a:tailEnd/>
          </a:ln>
        </p:spPr>
      </p:pic>
      <p:sp>
        <p:nvSpPr>
          <p:cNvPr id="5" name="Rectangle 4"/>
          <p:cNvSpPr/>
          <p:nvPr/>
        </p:nvSpPr>
        <p:spPr>
          <a:xfrm>
            <a:off x="152400" y="2667000"/>
            <a:ext cx="2819400" cy="1785104"/>
          </a:xfrm>
          <a:prstGeom prst="rect">
            <a:avLst/>
          </a:prstGeom>
        </p:spPr>
        <p:txBody>
          <a:bodyPr wrap="square">
            <a:spAutoFit/>
          </a:bodyPr>
          <a:lstStyle/>
          <a:p>
            <a:r>
              <a:rPr lang="en-US" sz="2200" i="1" dirty="0" smtClean="0">
                <a:solidFill>
                  <a:srgbClr val="C00000"/>
                </a:solidFill>
                <a:latin typeface="+mj-lt"/>
              </a:rPr>
              <a:t>The front-end program (a web browser)</a:t>
            </a:r>
            <a:r>
              <a:rPr lang="en-US" sz="2200" dirty="0" smtClean="0">
                <a:latin typeface="+mj-lt"/>
              </a:rPr>
              <a:t> manages the user’s display and outputs requests.</a:t>
            </a:r>
            <a:endParaRPr lang="en-US" sz="2200" dirty="0">
              <a:latin typeface="+mj-lt"/>
            </a:endParaRPr>
          </a:p>
        </p:txBody>
      </p:sp>
      <p:sp>
        <p:nvSpPr>
          <p:cNvPr id="6" name="Rectangle 5"/>
          <p:cNvSpPr/>
          <p:nvPr/>
        </p:nvSpPr>
        <p:spPr>
          <a:xfrm>
            <a:off x="6477000" y="2133600"/>
            <a:ext cx="2590800" cy="2800767"/>
          </a:xfrm>
          <a:prstGeom prst="rect">
            <a:avLst/>
          </a:prstGeom>
        </p:spPr>
        <p:txBody>
          <a:bodyPr wrap="square">
            <a:spAutoFit/>
          </a:bodyPr>
          <a:lstStyle/>
          <a:p>
            <a:r>
              <a:rPr lang="en-US" sz="2200" i="1" dirty="0" smtClean="0">
                <a:solidFill>
                  <a:srgbClr val="C00000"/>
                </a:solidFill>
                <a:latin typeface="+mj-lt"/>
              </a:rPr>
              <a:t>The request controller processes a request </a:t>
            </a:r>
            <a:r>
              <a:rPr lang="en-US" sz="2200" dirty="0" smtClean="0">
                <a:latin typeface="+mj-lt"/>
              </a:rPr>
              <a:t>by calling transaction servers, which access databases and other transactional resources.</a:t>
            </a:r>
            <a:endParaRPr lang="en-US" sz="22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Database Transaction Example [2]</a:t>
            </a:r>
            <a:endParaRPr lang="en-US" dirty="0"/>
          </a:p>
        </p:txBody>
      </p:sp>
      <p:sp>
        <p:nvSpPr>
          <p:cNvPr id="3" name="Content Placeholder 2"/>
          <p:cNvSpPr>
            <a:spLocks noGrp="1"/>
          </p:cNvSpPr>
          <p:nvPr>
            <p:ph idx="1"/>
          </p:nvPr>
        </p:nvSpPr>
        <p:spPr>
          <a:xfrm>
            <a:off x="457200" y="4724400"/>
            <a:ext cx="8229600" cy="1676400"/>
          </a:xfrm>
        </p:spPr>
        <p:txBody>
          <a:bodyPr/>
          <a:lstStyle/>
          <a:p>
            <a:r>
              <a:rPr lang="en-US" sz="2000" dirty="0" smtClean="0"/>
              <a:t>The concept of a </a:t>
            </a:r>
            <a:r>
              <a:rPr lang="en-US" sz="2000" i="1" dirty="0" smtClean="0">
                <a:solidFill>
                  <a:srgbClr val="C00000"/>
                </a:solidFill>
              </a:rPr>
              <a:t>transaction</a:t>
            </a:r>
            <a:r>
              <a:rPr lang="en-US" sz="2000" dirty="0" smtClean="0"/>
              <a:t>, which includes all database interactions between $BEGIN_TRANSACTION and $COMMIT_TRANSACTION in the above example, requires that all of its actions be executed </a:t>
            </a:r>
            <a:r>
              <a:rPr lang="en-US" sz="2000" i="1" dirty="0" smtClean="0">
                <a:solidFill>
                  <a:srgbClr val="C00000"/>
                </a:solidFill>
              </a:rPr>
              <a:t>indivisibly</a:t>
            </a:r>
            <a:r>
              <a:rPr lang="en-US" sz="2000" dirty="0" smtClean="0"/>
              <a:t>:</a:t>
            </a:r>
          </a:p>
          <a:p>
            <a:r>
              <a:rPr lang="en-US" sz="2000" dirty="0" smtClean="0"/>
              <a:t>Either </a:t>
            </a:r>
            <a:r>
              <a:rPr lang="en-US" sz="2000" i="1" dirty="0" smtClean="0">
                <a:solidFill>
                  <a:srgbClr val="C00000"/>
                </a:solidFill>
              </a:rPr>
              <a:t>all actions</a:t>
            </a:r>
            <a:r>
              <a:rPr lang="en-US" sz="2000" dirty="0" smtClean="0"/>
              <a:t> are </a:t>
            </a:r>
            <a:r>
              <a:rPr lang="en-US" sz="2000" u="sng" dirty="0" smtClean="0"/>
              <a:t>properly reflected</a:t>
            </a:r>
            <a:r>
              <a:rPr lang="en-US" sz="2000" dirty="0" smtClean="0"/>
              <a:t> in the database or </a:t>
            </a:r>
            <a:r>
              <a:rPr lang="en-US" sz="2000" u="sng" dirty="0" smtClean="0"/>
              <a:t>nothing has happened</a:t>
            </a:r>
            <a:r>
              <a:rPr lang="en-US" sz="2000" dirty="0" smtClean="0"/>
              <a:t>.</a:t>
            </a:r>
            <a:endParaRPr lang="en-US" sz="2000" dirty="0"/>
          </a:p>
        </p:txBody>
      </p:sp>
      <p:pic>
        <p:nvPicPr>
          <p:cNvPr id="4" name="Picture 2"/>
          <p:cNvPicPr>
            <a:picLocks noChangeAspect="1" noChangeArrowheads="1"/>
          </p:cNvPicPr>
          <p:nvPr/>
        </p:nvPicPr>
        <p:blipFill>
          <a:blip r:embed="rId2" cstate="print"/>
          <a:srcRect/>
          <a:stretch>
            <a:fillRect/>
          </a:stretch>
        </p:blipFill>
        <p:spPr bwMode="auto">
          <a:xfrm>
            <a:off x="2057400" y="1447800"/>
            <a:ext cx="4757166" cy="306781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ACID Properties?</a:t>
            </a:r>
            <a:endParaRPr lang="en-US" dirty="0"/>
          </a:p>
        </p:txBody>
      </p:sp>
      <p:sp>
        <p:nvSpPr>
          <p:cNvPr id="3" name="Content Placeholder 2"/>
          <p:cNvSpPr>
            <a:spLocks noGrp="1"/>
          </p:cNvSpPr>
          <p:nvPr>
            <p:ph idx="1"/>
          </p:nvPr>
        </p:nvSpPr>
        <p:spPr/>
        <p:txBody>
          <a:bodyPr/>
          <a:lstStyle/>
          <a:p>
            <a:r>
              <a:rPr lang="en-US" sz="2400" dirty="0" smtClean="0"/>
              <a:t>To achieve this kind of </a:t>
            </a:r>
            <a:r>
              <a:rPr lang="en-US" sz="2400" i="1" dirty="0" smtClean="0">
                <a:solidFill>
                  <a:srgbClr val="C00000"/>
                </a:solidFill>
              </a:rPr>
              <a:t>indivisibility</a:t>
            </a:r>
            <a:r>
              <a:rPr lang="en-US" sz="2400" dirty="0" smtClean="0"/>
              <a:t>, a transaction must have four properties</a:t>
            </a:r>
            <a:r>
              <a:rPr lang="en-US" sz="2200" dirty="0" smtClean="0"/>
              <a:t>:</a:t>
            </a:r>
            <a:endParaRPr lang="en-US" sz="2200" i="1" dirty="0" smtClean="0">
              <a:solidFill>
                <a:srgbClr val="C00000"/>
              </a:solidFill>
            </a:endParaRPr>
          </a:p>
          <a:p>
            <a:pPr lvl="1">
              <a:buFont typeface="Arial" pitchFamily="34" charset="0"/>
              <a:buChar char="•"/>
            </a:pPr>
            <a:r>
              <a:rPr lang="en-US" sz="2000" i="1" dirty="0" smtClean="0">
                <a:solidFill>
                  <a:srgbClr val="C00000"/>
                </a:solidFill>
              </a:rPr>
              <a:t>Atomicity</a:t>
            </a:r>
            <a:r>
              <a:rPr lang="en-US" sz="2000" dirty="0" smtClean="0"/>
              <a:t>. It must be of the </a:t>
            </a:r>
            <a:r>
              <a:rPr lang="en-US" sz="2000" u="sng" dirty="0" smtClean="0"/>
              <a:t>all-or-nothing type</a:t>
            </a:r>
            <a:r>
              <a:rPr lang="en-US" sz="2000" dirty="0" smtClean="0"/>
              <a:t> described above, and the user must, whatever happens, know which state he or she is in.</a:t>
            </a:r>
          </a:p>
          <a:p>
            <a:pPr lvl="1">
              <a:buFont typeface="Arial" pitchFamily="34" charset="0"/>
              <a:buChar char="•"/>
            </a:pPr>
            <a:r>
              <a:rPr lang="en-US" sz="2000" i="1" dirty="0" smtClean="0">
                <a:solidFill>
                  <a:srgbClr val="C00000"/>
                </a:solidFill>
              </a:rPr>
              <a:t>Consistency</a:t>
            </a:r>
            <a:r>
              <a:rPr lang="en-US" sz="2000" dirty="0" smtClean="0"/>
              <a:t>. Each successful transaction by definition </a:t>
            </a:r>
            <a:r>
              <a:rPr lang="en-US" sz="2000" u="sng" dirty="0" smtClean="0"/>
              <a:t>commits only legal results</a:t>
            </a:r>
            <a:r>
              <a:rPr lang="en-US" sz="2000" dirty="0" smtClean="0"/>
              <a:t>.</a:t>
            </a:r>
          </a:p>
          <a:p>
            <a:pPr lvl="1">
              <a:buFont typeface="Arial" pitchFamily="34" charset="0"/>
              <a:buChar char="•"/>
            </a:pPr>
            <a:r>
              <a:rPr lang="en-US" sz="2000" i="1" dirty="0" smtClean="0">
                <a:solidFill>
                  <a:srgbClr val="C00000"/>
                </a:solidFill>
              </a:rPr>
              <a:t>Isolation</a:t>
            </a:r>
            <a:r>
              <a:rPr lang="en-US" sz="2000" dirty="0" smtClean="0"/>
              <a:t>. Events </a:t>
            </a:r>
            <a:r>
              <a:rPr lang="en-US" sz="2000" u="sng" dirty="0" smtClean="0"/>
              <a:t>hidden</a:t>
            </a:r>
            <a:r>
              <a:rPr lang="en-US" sz="2000" dirty="0" smtClean="0"/>
              <a:t> from other transactions running </a:t>
            </a:r>
            <a:r>
              <a:rPr lang="en-US" sz="2000" u="sng" dirty="0" smtClean="0"/>
              <a:t>concurrently</a:t>
            </a:r>
            <a:r>
              <a:rPr lang="en-US" sz="2000" dirty="0" smtClean="0"/>
              <a:t>.</a:t>
            </a:r>
          </a:p>
          <a:p>
            <a:pPr lvl="1">
              <a:buFont typeface="Arial" pitchFamily="34" charset="0"/>
              <a:buChar char="•"/>
            </a:pPr>
            <a:r>
              <a:rPr lang="en-US" sz="2000" i="1" dirty="0" smtClean="0">
                <a:solidFill>
                  <a:srgbClr val="C00000"/>
                </a:solidFill>
              </a:rPr>
              <a:t>Durability</a:t>
            </a:r>
            <a:r>
              <a:rPr lang="en-US" sz="2000" dirty="0" smtClean="0"/>
              <a:t>. Once a transaction has been completed and has committed its results to the database, the system must guarantee that these results </a:t>
            </a:r>
            <a:r>
              <a:rPr lang="en-US" sz="2000" u="sng" dirty="0" smtClean="0"/>
              <a:t>survive any subsequent malfunctions</a:t>
            </a:r>
            <a:r>
              <a:rPr lang="en-US" sz="2000" dirty="0" smtClean="0"/>
              <a:t>.</a:t>
            </a:r>
          </a:p>
        </p:txBody>
      </p:sp>
      <p:pic>
        <p:nvPicPr>
          <p:cNvPr id="102404" name="Picture 4" descr="https://1.bp.blogspot.com/-j7gWCoWIsw0/VGi4yYnF8iI/AAAAAAAAASc/3ftMzv-gepw/s400/ACIDWordsOnly.png"/>
          <p:cNvPicPr>
            <a:picLocks noChangeAspect="1" noChangeArrowheads="1"/>
          </p:cNvPicPr>
          <p:nvPr/>
        </p:nvPicPr>
        <p:blipFill>
          <a:blip r:embed="rId2" cstate="print"/>
          <a:srcRect/>
          <a:stretch>
            <a:fillRect/>
          </a:stretch>
        </p:blipFill>
        <p:spPr bwMode="auto">
          <a:xfrm>
            <a:off x="3200400" y="5334000"/>
            <a:ext cx="2540000" cy="85725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Termination</a:t>
            </a:r>
            <a:endParaRPr lang="en-US" dirty="0"/>
          </a:p>
        </p:txBody>
      </p:sp>
      <p:sp>
        <p:nvSpPr>
          <p:cNvPr id="3" name="Content Placeholder 2"/>
          <p:cNvSpPr>
            <a:spLocks noGrp="1"/>
          </p:cNvSpPr>
          <p:nvPr>
            <p:ph idx="1"/>
          </p:nvPr>
        </p:nvSpPr>
        <p:spPr/>
        <p:txBody>
          <a:bodyPr/>
          <a:lstStyle/>
          <a:p>
            <a:r>
              <a:rPr lang="en-US" sz="2400" dirty="0" smtClean="0"/>
              <a:t>A transaction can </a:t>
            </a:r>
            <a:r>
              <a:rPr lang="en-US" sz="2400" i="1" dirty="0" smtClean="0">
                <a:solidFill>
                  <a:srgbClr val="C00000"/>
                </a:solidFill>
              </a:rPr>
              <a:t>terminate</a:t>
            </a:r>
            <a:r>
              <a:rPr lang="en-US" sz="2400" dirty="0" smtClean="0"/>
              <a:t> in the three ways</a:t>
            </a:r>
          </a:p>
          <a:p>
            <a:pPr lvl="1"/>
            <a:r>
              <a:rPr lang="en-US" sz="2000" dirty="0" smtClean="0"/>
              <a:t>reaching its </a:t>
            </a:r>
            <a:r>
              <a:rPr lang="en-US" sz="2000" i="1" dirty="0" smtClean="0">
                <a:solidFill>
                  <a:srgbClr val="C00000"/>
                </a:solidFill>
              </a:rPr>
              <a:t>commit point</a:t>
            </a:r>
            <a:r>
              <a:rPr lang="en-US" sz="2000" dirty="0" smtClean="0"/>
              <a:t> or</a:t>
            </a:r>
          </a:p>
          <a:p>
            <a:pPr lvl="1"/>
            <a:r>
              <a:rPr lang="en-US" sz="2000" dirty="0" smtClean="0"/>
              <a:t>detecting bad input or other violations of consistency, preventing a normal termination, in which case it will </a:t>
            </a:r>
            <a:r>
              <a:rPr lang="en-US" sz="2000" i="1" dirty="0" smtClean="0">
                <a:solidFill>
                  <a:srgbClr val="C00000"/>
                </a:solidFill>
              </a:rPr>
              <a:t>reset</a:t>
            </a:r>
            <a:r>
              <a:rPr lang="en-US" sz="2000" dirty="0" smtClean="0"/>
              <a:t> all that it has done (</a:t>
            </a:r>
            <a:r>
              <a:rPr lang="en-US" sz="2000" i="1" dirty="0" smtClean="0">
                <a:solidFill>
                  <a:srgbClr val="C00000"/>
                </a:solidFill>
              </a:rPr>
              <a:t>abort</a:t>
            </a:r>
            <a:r>
              <a:rPr lang="en-US" sz="2000" dirty="0" smtClean="0"/>
              <a:t>) or</a:t>
            </a:r>
          </a:p>
          <a:p>
            <a:pPr lvl="1"/>
            <a:r>
              <a:rPr lang="en-US" sz="2000" dirty="0" smtClean="0"/>
              <a:t>running into a problem that can only be detected by the system, such as time-out or deadlock, in which case its effects are </a:t>
            </a:r>
            <a:r>
              <a:rPr lang="en-US" sz="2000" i="1" dirty="0" smtClean="0">
                <a:solidFill>
                  <a:srgbClr val="C00000"/>
                </a:solidFill>
              </a:rPr>
              <a:t>aborted by the DBMS</a:t>
            </a:r>
          </a:p>
          <a:p>
            <a:r>
              <a:rPr lang="en-US" sz="2400" dirty="0" smtClean="0"/>
              <a:t>or can be affected by a </a:t>
            </a:r>
            <a:r>
              <a:rPr lang="en-US" sz="2400" i="1" dirty="0" smtClean="0">
                <a:solidFill>
                  <a:srgbClr val="C00000"/>
                </a:solidFill>
              </a:rPr>
              <a:t>system crash</a:t>
            </a:r>
            <a:r>
              <a:rPr lang="en-US" sz="2400" dirty="0" smtClean="0"/>
              <a:t>.</a:t>
            </a:r>
          </a:p>
          <a:p>
            <a:endParaRPr lang="en-US" dirty="0"/>
          </a:p>
        </p:txBody>
      </p:sp>
      <p:pic>
        <p:nvPicPr>
          <p:cNvPr id="4" name="Picture 2"/>
          <p:cNvPicPr>
            <a:picLocks noChangeAspect="1" noChangeArrowheads="1"/>
          </p:cNvPicPr>
          <p:nvPr/>
        </p:nvPicPr>
        <p:blipFill>
          <a:blip r:embed="rId2" cstate="print"/>
          <a:srcRect/>
          <a:stretch>
            <a:fillRect/>
          </a:stretch>
        </p:blipFill>
        <p:spPr bwMode="auto">
          <a:xfrm>
            <a:off x="2895600" y="4953000"/>
            <a:ext cx="3425825" cy="14097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Completion [3]</a:t>
            </a:r>
            <a:endParaRPr lang="en-US" dirty="0"/>
          </a:p>
        </p:txBody>
      </p:sp>
      <p:sp>
        <p:nvSpPr>
          <p:cNvPr id="3" name="Content Placeholder 2"/>
          <p:cNvSpPr>
            <a:spLocks noGrp="1"/>
          </p:cNvSpPr>
          <p:nvPr>
            <p:ph idx="1"/>
          </p:nvPr>
        </p:nvSpPr>
        <p:spPr/>
        <p:txBody>
          <a:bodyPr/>
          <a:lstStyle/>
          <a:p>
            <a:r>
              <a:rPr lang="en-US" sz="2400" dirty="0" smtClean="0"/>
              <a:t>A </a:t>
            </a:r>
            <a:r>
              <a:rPr lang="en-US" sz="2400" u="sng" dirty="0" smtClean="0"/>
              <a:t>transaction</a:t>
            </a:r>
            <a:r>
              <a:rPr lang="en-US" sz="2400" dirty="0" smtClean="0"/>
              <a:t> can be </a:t>
            </a:r>
            <a:r>
              <a:rPr lang="en-US" sz="2400" i="1" dirty="0" smtClean="0">
                <a:solidFill>
                  <a:srgbClr val="C00000"/>
                </a:solidFill>
              </a:rPr>
              <a:t>completed in two ways</a:t>
            </a:r>
            <a:r>
              <a:rPr lang="en-US" sz="2400" dirty="0" smtClean="0"/>
              <a:t>: committed or aborted (cancelled).</a:t>
            </a:r>
          </a:p>
          <a:p>
            <a:r>
              <a:rPr lang="en-US" sz="2400" dirty="0" smtClean="0"/>
              <a:t>When a transaction is </a:t>
            </a:r>
            <a:r>
              <a:rPr lang="en-US" sz="2400" i="1" dirty="0" smtClean="0">
                <a:solidFill>
                  <a:srgbClr val="C00000"/>
                </a:solidFill>
              </a:rPr>
              <a:t>committed</a:t>
            </a:r>
            <a:r>
              <a:rPr lang="en-US" sz="2400" dirty="0" smtClean="0"/>
              <a:t>, all changes that are caused by operations of the business application are </a:t>
            </a:r>
            <a:r>
              <a:rPr lang="en-US" sz="2400" u="sng" dirty="0" smtClean="0"/>
              <a:t>made durable</a:t>
            </a:r>
            <a:r>
              <a:rPr lang="en-US" sz="2400" dirty="0" smtClean="0"/>
              <a:t> (forced onto stable storage such as a disk).</a:t>
            </a:r>
          </a:p>
          <a:p>
            <a:r>
              <a:rPr lang="en-US" sz="2400" dirty="0" smtClean="0"/>
              <a:t>When a transaction is </a:t>
            </a:r>
            <a:r>
              <a:rPr lang="en-US" sz="2400" i="1" dirty="0" smtClean="0">
                <a:solidFill>
                  <a:srgbClr val="C00000"/>
                </a:solidFill>
              </a:rPr>
              <a:t>aborted</a:t>
            </a:r>
            <a:r>
              <a:rPr lang="en-US" sz="2400" dirty="0" smtClean="0"/>
              <a:t>, all changes that are made during the lifetime of the transaction are </a:t>
            </a:r>
            <a:r>
              <a:rPr lang="en-US" sz="2400" u="sng" dirty="0" smtClean="0"/>
              <a:t>undone</a:t>
            </a:r>
            <a:r>
              <a:rPr lang="en-US" sz="2400" dirty="0" smtClean="0"/>
              <a: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Atomicity Challenge [1]</a:t>
            </a:r>
            <a:endParaRPr lang="en-US" dirty="0"/>
          </a:p>
        </p:txBody>
      </p:sp>
      <p:sp>
        <p:nvSpPr>
          <p:cNvPr id="3" name="Content Placeholder 2"/>
          <p:cNvSpPr>
            <a:spLocks noGrp="1"/>
          </p:cNvSpPr>
          <p:nvPr>
            <p:ph idx="1"/>
          </p:nvPr>
        </p:nvSpPr>
        <p:spPr/>
        <p:txBody>
          <a:bodyPr/>
          <a:lstStyle/>
          <a:p>
            <a:r>
              <a:rPr lang="en-US" sz="2400" dirty="0" smtClean="0"/>
              <a:t>A transaction can commit its updates on one database system, but a second database system can </a:t>
            </a:r>
            <a:r>
              <a:rPr lang="en-US" sz="2400" i="1" dirty="0" smtClean="0">
                <a:solidFill>
                  <a:srgbClr val="C00000"/>
                </a:solidFill>
              </a:rPr>
              <a:t>fail before the transaction commits</a:t>
            </a:r>
            <a:r>
              <a:rPr lang="en-US" sz="2400" dirty="0" smtClean="0"/>
              <a:t> there too.</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1371600" y="2971800"/>
            <a:ext cx="6572250" cy="35433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Two-Phase Commit Protocol</a:t>
            </a:r>
            <a:endParaRPr lang="en-US" dirty="0"/>
          </a:p>
        </p:txBody>
      </p:sp>
      <p:pic>
        <p:nvPicPr>
          <p:cNvPr id="3075" name="Picture 3"/>
          <p:cNvPicPr>
            <a:picLocks noChangeAspect="1" noChangeArrowheads="1"/>
          </p:cNvPicPr>
          <p:nvPr/>
        </p:nvPicPr>
        <p:blipFill>
          <a:blip r:embed="rId2" cstate="print"/>
          <a:srcRect/>
          <a:stretch>
            <a:fillRect/>
          </a:stretch>
        </p:blipFill>
        <p:spPr bwMode="auto">
          <a:xfrm>
            <a:off x="2262188" y="1295400"/>
            <a:ext cx="4619625" cy="1743075"/>
          </a:xfrm>
          <a:prstGeom prst="rect">
            <a:avLst/>
          </a:prstGeom>
          <a:noFill/>
          <a:ln w="9525">
            <a:noFill/>
            <a:miter lim="800000"/>
            <a:headEnd/>
            <a:tailEnd/>
          </a:ln>
        </p:spPr>
      </p:pic>
      <p:pic>
        <p:nvPicPr>
          <p:cNvPr id="3076" name="Picture 4"/>
          <p:cNvPicPr>
            <a:picLocks noChangeAspect="1" noChangeArrowheads="1"/>
          </p:cNvPicPr>
          <p:nvPr/>
        </p:nvPicPr>
        <p:blipFill>
          <a:blip r:embed="rId3" cstate="print"/>
          <a:srcRect/>
          <a:stretch>
            <a:fillRect/>
          </a:stretch>
        </p:blipFill>
        <p:spPr bwMode="auto">
          <a:xfrm>
            <a:off x="1057275" y="3390900"/>
            <a:ext cx="7029450" cy="29337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Bracketing</a:t>
            </a:r>
            <a:endParaRPr lang="en-US" dirty="0"/>
          </a:p>
        </p:txBody>
      </p:sp>
      <p:sp>
        <p:nvSpPr>
          <p:cNvPr id="3" name="Content Placeholder 2"/>
          <p:cNvSpPr>
            <a:spLocks noGrp="1"/>
          </p:cNvSpPr>
          <p:nvPr>
            <p:ph idx="1"/>
          </p:nvPr>
        </p:nvSpPr>
        <p:spPr/>
        <p:txBody>
          <a:bodyPr/>
          <a:lstStyle/>
          <a:p>
            <a:r>
              <a:rPr lang="en-US" sz="2600" dirty="0" smtClean="0"/>
              <a:t>Transaction bracketing offers the application programmer commands to </a:t>
            </a:r>
            <a:r>
              <a:rPr lang="en-US" sz="2600" i="1" dirty="0" smtClean="0">
                <a:solidFill>
                  <a:srgbClr val="C00000"/>
                </a:solidFill>
              </a:rPr>
              <a:t>Start, Commit, and Abort</a:t>
            </a:r>
            <a:r>
              <a:rPr lang="en-US" sz="2600" dirty="0" smtClean="0"/>
              <a:t> a transaction.</a:t>
            </a:r>
            <a:endParaRPr lang="en-US" sz="2600" dirty="0"/>
          </a:p>
        </p:txBody>
      </p:sp>
      <p:pic>
        <p:nvPicPr>
          <p:cNvPr id="4104" name="Picture 8"/>
          <p:cNvPicPr>
            <a:picLocks noChangeAspect="1" noChangeArrowheads="1"/>
          </p:cNvPicPr>
          <p:nvPr/>
        </p:nvPicPr>
        <p:blipFill>
          <a:blip r:embed="rId2" cstate="print"/>
          <a:srcRect/>
          <a:stretch>
            <a:fillRect/>
          </a:stretch>
        </p:blipFill>
        <p:spPr bwMode="auto">
          <a:xfrm>
            <a:off x="914400" y="2581275"/>
            <a:ext cx="5048250" cy="3895725"/>
          </a:xfrm>
          <a:prstGeom prst="rect">
            <a:avLst/>
          </a:prstGeom>
          <a:noFill/>
          <a:ln w="9525">
            <a:noFill/>
            <a:miter lim="800000"/>
            <a:headEnd/>
            <a:tailEnd/>
          </a:ln>
        </p:spPr>
      </p:pic>
      <p:sp>
        <p:nvSpPr>
          <p:cNvPr id="11" name="Rectangle 10"/>
          <p:cNvSpPr/>
          <p:nvPr/>
        </p:nvSpPr>
        <p:spPr>
          <a:xfrm>
            <a:off x="5943600" y="2895600"/>
            <a:ext cx="2895600" cy="2862322"/>
          </a:xfrm>
          <a:prstGeom prst="rect">
            <a:avLst/>
          </a:prstGeom>
        </p:spPr>
        <p:txBody>
          <a:bodyPr wrap="square">
            <a:spAutoFit/>
          </a:bodyPr>
          <a:lstStyle/>
          <a:p>
            <a:r>
              <a:rPr lang="en-US" sz="2000" dirty="0" smtClean="0">
                <a:solidFill>
                  <a:srgbClr val="C00000"/>
                </a:solidFill>
                <a:latin typeface="Consolas" pitchFamily="49" charset="0"/>
                <a:cs typeface="Consolas" pitchFamily="49" charset="0"/>
              </a:rPr>
              <a:t>We cannot compose </a:t>
            </a:r>
            <a:r>
              <a:rPr lang="en-US" sz="2000" dirty="0" err="1" smtClean="0">
                <a:solidFill>
                  <a:srgbClr val="C00000"/>
                </a:solidFill>
                <a:latin typeface="Consolas" pitchFamily="49" charset="0"/>
                <a:cs typeface="Consolas" pitchFamily="49" charset="0"/>
              </a:rPr>
              <a:t>DebitChecking</a:t>
            </a:r>
            <a:r>
              <a:rPr lang="en-US" sz="2000" dirty="0" smtClean="0">
                <a:solidFill>
                  <a:srgbClr val="C00000"/>
                </a:solidFill>
                <a:latin typeface="Consolas" pitchFamily="49" charset="0"/>
                <a:cs typeface="Consolas" pitchFamily="49" charset="0"/>
              </a:rPr>
              <a:t> and </a:t>
            </a:r>
            <a:r>
              <a:rPr lang="en-US" sz="2000" dirty="0" err="1" smtClean="0">
                <a:solidFill>
                  <a:srgbClr val="C00000"/>
                </a:solidFill>
                <a:latin typeface="Consolas" pitchFamily="49" charset="0"/>
                <a:cs typeface="Consolas" pitchFamily="49" charset="0"/>
              </a:rPr>
              <a:t>PayLoan</a:t>
            </a:r>
            <a:r>
              <a:rPr lang="en-US" sz="2000" dirty="0" smtClean="0">
                <a:solidFill>
                  <a:srgbClr val="C00000"/>
                </a:solidFill>
                <a:latin typeface="Consolas" pitchFamily="49" charset="0"/>
                <a:cs typeface="Consolas" pitchFamily="49" charset="0"/>
              </a:rPr>
              <a:t> into a larger transaction.</a:t>
            </a:r>
          </a:p>
          <a:p>
            <a:endParaRPr lang="en-US" sz="2000" dirty="0" smtClean="0">
              <a:solidFill>
                <a:srgbClr val="C00000"/>
              </a:solidFill>
              <a:latin typeface="Consolas" pitchFamily="49" charset="0"/>
              <a:cs typeface="Consolas" pitchFamily="49" charset="0"/>
            </a:endParaRPr>
          </a:p>
          <a:p>
            <a:r>
              <a:rPr lang="en-US" sz="2000" dirty="0" smtClean="0">
                <a:solidFill>
                  <a:srgbClr val="C00000"/>
                </a:solidFill>
                <a:latin typeface="Consolas" pitchFamily="49" charset="0"/>
                <a:cs typeface="Consolas" pitchFamily="49" charset="0"/>
              </a:rPr>
              <a:t>We call this the transaction </a:t>
            </a:r>
            <a:r>
              <a:rPr lang="en-US" sz="2000" dirty="0" err="1" smtClean="0">
                <a:solidFill>
                  <a:srgbClr val="C00000"/>
                </a:solidFill>
                <a:latin typeface="Consolas" pitchFamily="49" charset="0"/>
                <a:cs typeface="Consolas" pitchFamily="49" charset="0"/>
              </a:rPr>
              <a:t>composability</a:t>
            </a:r>
            <a:r>
              <a:rPr lang="en-US" sz="2000" dirty="0" smtClean="0">
                <a:solidFill>
                  <a:srgbClr val="C00000"/>
                </a:solidFill>
                <a:latin typeface="Consolas" pitchFamily="49" charset="0"/>
                <a:cs typeface="Consolas" pitchFamily="49" charset="0"/>
              </a:rPr>
              <a:t> problem.</a:t>
            </a:r>
            <a:endParaRPr lang="en-US" sz="2000" dirty="0">
              <a:solidFill>
                <a:srgbClr val="C00000"/>
              </a:solidFill>
              <a:latin typeface="Consolas" pitchFamily="49" charset="0"/>
              <a:cs typeface="Consolas" pitchFamily="49"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Enabling </a:t>
            </a:r>
            <a:r>
              <a:rPr lang="en-US" dirty="0" err="1" smtClean="0"/>
              <a:t>Composability</a:t>
            </a:r>
            <a:endParaRPr lang="en-US" dirty="0"/>
          </a:p>
        </p:txBody>
      </p:sp>
      <p:pic>
        <p:nvPicPr>
          <p:cNvPr id="5123" name="Picture 3"/>
          <p:cNvPicPr>
            <a:picLocks noChangeAspect="1" noChangeArrowheads="1"/>
          </p:cNvPicPr>
          <p:nvPr/>
        </p:nvPicPr>
        <p:blipFill>
          <a:blip r:embed="rId2" cstate="print"/>
          <a:srcRect/>
          <a:stretch>
            <a:fillRect/>
          </a:stretch>
        </p:blipFill>
        <p:spPr bwMode="auto">
          <a:xfrm>
            <a:off x="1371600" y="1295400"/>
            <a:ext cx="6086475" cy="356235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1357313" y="4876800"/>
            <a:ext cx="6429375" cy="180975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Bracketing in Object-Oriented Programming</a:t>
            </a:r>
            <a:endParaRPr lang="en-US" dirty="0"/>
          </a:p>
        </p:txBody>
      </p:sp>
      <p:sp>
        <p:nvSpPr>
          <p:cNvPr id="3" name="Content Placeholder 2"/>
          <p:cNvSpPr>
            <a:spLocks noGrp="1"/>
          </p:cNvSpPr>
          <p:nvPr>
            <p:ph idx="1"/>
          </p:nvPr>
        </p:nvSpPr>
        <p:spPr/>
        <p:txBody>
          <a:bodyPr/>
          <a:lstStyle/>
          <a:p>
            <a:r>
              <a:rPr lang="en-US" sz="2200" dirty="0" smtClean="0"/>
              <a:t>Each </a:t>
            </a:r>
            <a:r>
              <a:rPr lang="en-US" sz="2200" i="1" dirty="0" smtClean="0">
                <a:solidFill>
                  <a:srgbClr val="C00000"/>
                </a:solidFill>
              </a:rPr>
              <a:t>method</a:t>
            </a:r>
            <a:r>
              <a:rPr lang="en-US" sz="2200" dirty="0" smtClean="0"/>
              <a:t> is tagged with a transaction attribute that indicates its transactional behavior, thereby avoiding explicit transaction bracketing in the application code itself.</a:t>
            </a:r>
          </a:p>
          <a:p>
            <a:r>
              <a:rPr lang="en-US" sz="2200" dirty="0" smtClean="0"/>
              <a:t>The </a:t>
            </a:r>
            <a:r>
              <a:rPr lang="en-US" sz="2200" i="1" dirty="0" smtClean="0">
                <a:solidFill>
                  <a:srgbClr val="C00000"/>
                </a:solidFill>
              </a:rPr>
              <a:t>transaction attribute</a:t>
            </a:r>
            <a:r>
              <a:rPr lang="en-US" sz="2200" dirty="0" smtClean="0"/>
              <a:t> can have one of the following values:</a:t>
            </a:r>
          </a:p>
          <a:p>
            <a:pPr lvl="1"/>
            <a:r>
              <a:rPr lang="en-US" sz="1800" i="1" dirty="0" smtClean="0">
                <a:solidFill>
                  <a:srgbClr val="C00000"/>
                </a:solidFill>
              </a:rPr>
              <a:t>Requires New</a:t>
            </a:r>
            <a:r>
              <a:rPr lang="en-US" sz="1800" dirty="0" smtClean="0"/>
              <a:t>: Every invocation of the method starts executing in a new transaction, whether or not the caller is already executing in a transaction.</a:t>
            </a:r>
          </a:p>
          <a:p>
            <a:pPr lvl="1"/>
            <a:r>
              <a:rPr lang="en-US" sz="1800" i="1" dirty="0" smtClean="0">
                <a:solidFill>
                  <a:srgbClr val="C00000"/>
                </a:solidFill>
              </a:rPr>
              <a:t>Required</a:t>
            </a:r>
            <a:r>
              <a:rPr lang="en-US" sz="1800" dirty="0" smtClean="0"/>
              <a:t>: If the caller is already running within a transaction, then the called method executes within that transaction. If not, then the called method starts executing in a new transaction.</a:t>
            </a:r>
          </a:p>
          <a:p>
            <a:pPr lvl="1"/>
            <a:r>
              <a:rPr lang="en-US" sz="1800" i="1" dirty="0" smtClean="0">
                <a:solidFill>
                  <a:srgbClr val="C00000"/>
                </a:solidFill>
              </a:rPr>
              <a:t>Supported</a:t>
            </a:r>
            <a:r>
              <a:rPr lang="en-US" sz="1800" dirty="0" smtClean="0"/>
              <a:t>: If the caller is already running within a transaction, then the called method executes within that transaction. If not, then the called method does not execute within a transaction.</a:t>
            </a:r>
          </a:p>
          <a:p>
            <a:pPr lvl="1"/>
            <a:r>
              <a:rPr lang="en-US" sz="1800" i="1" dirty="0" smtClean="0">
                <a:solidFill>
                  <a:srgbClr val="C00000"/>
                </a:solidFill>
              </a:rPr>
              <a:t>Not Supported</a:t>
            </a:r>
            <a:r>
              <a:rPr lang="en-US" sz="1800" dirty="0" smtClean="0"/>
              <a:t>: The called method does not execute within a transaction, even if the program that created the object is running within a transaction.</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Multi-Programmed System</a:t>
            </a:r>
            <a:endParaRPr lang="en-US" dirty="0"/>
          </a:p>
        </p:txBody>
      </p:sp>
      <p:sp>
        <p:nvSpPr>
          <p:cNvPr id="3" name="Content Placeholder 2"/>
          <p:cNvSpPr>
            <a:spLocks noGrp="1"/>
          </p:cNvSpPr>
          <p:nvPr>
            <p:ph idx="1"/>
          </p:nvPr>
        </p:nvSpPr>
        <p:spPr/>
        <p:txBody>
          <a:bodyPr/>
          <a:lstStyle/>
          <a:p>
            <a:r>
              <a:rPr lang="en-US" sz="2200" dirty="0" smtClean="0"/>
              <a:t>A processor has a </a:t>
            </a:r>
            <a:r>
              <a:rPr lang="en-US" sz="2200" i="1" dirty="0" smtClean="0">
                <a:solidFill>
                  <a:srgbClr val="C00000"/>
                </a:solidFill>
              </a:rPr>
              <a:t>state</a:t>
            </a:r>
            <a:r>
              <a:rPr lang="en-US" sz="2200" dirty="0" smtClean="0"/>
              <a:t>, called the </a:t>
            </a:r>
            <a:r>
              <a:rPr lang="en-US" sz="2200" i="1" dirty="0" smtClean="0">
                <a:solidFill>
                  <a:srgbClr val="C00000"/>
                </a:solidFill>
              </a:rPr>
              <a:t>processor context</a:t>
            </a:r>
            <a:r>
              <a:rPr lang="en-US" sz="2200" dirty="0" smtClean="0"/>
              <a:t>, that consists of a control thread and an address space.</a:t>
            </a:r>
          </a:p>
          <a:p>
            <a:r>
              <a:rPr lang="en-US" sz="2200" dirty="0" smtClean="0"/>
              <a:t>The </a:t>
            </a:r>
            <a:r>
              <a:rPr lang="en-US" sz="2200" i="1" dirty="0" smtClean="0">
                <a:solidFill>
                  <a:srgbClr val="C00000"/>
                </a:solidFill>
              </a:rPr>
              <a:t>control thread</a:t>
            </a:r>
            <a:r>
              <a:rPr lang="en-US" sz="2200" dirty="0" smtClean="0"/>
              <a:t> consists of the values stored in the processor’s registers, such as the instruction counter, the stack pointer, and data registers.</a:t>
            </a:r>
          </a:p>
          <a:p>
            <a:r>
              <a:rPr lang="en-US" sz="2200" dirty="0" smtClean="0"/>
              <a:t>An </a:t>
            </a:r>
            <a:r>
              <a:rPr lang="en-US" sz="2200" i="1" dirty="0" smtClean="0">
                <a:solidFill>
                  <a:srgbClr val="C00000"/>
                </a:solidFill>
              </a:rPr>
              <a:t>address space</a:t>
            </a:r>
            <a:r>
              <a:rPr lang="en-US" sz="2200" dirty="0" smtClean="0"/>
              <a:t> is a mapping of the processor’s view of memory to the physical memory, typically represented in registers that point to page tables.</a:t>
            </a:r>
          </a:p>
          <a:p>
            <a:r>
              <a:rPr lang="en-US" sz="2200" dirty="0" smtClean="0"/>
              <a:t>Every </a:t>
            </a:r>
            <a:r>
              <a:rPr lang="en-US" sz="2200" i="1" dirty="0" smtClean="0">
                <a:solidFill>
                  <a:srgbClr val="C00000"/>
                </a:solidFill>
              </a:rPr>
              <a:t>active program</a:t>
            </a:r>
            <a:r>
              <a:rPr lang="en-US" sz="2200" dirty="0" smtClean="0"/>
              <a:t> has an associated processor state. For a program that’s currently executing, it is the state of the physical processor on which it’s running. For programs that were executing and are temporarily idle, the state is saved in main memory and will be reloaded into a processor when the program resumes execution.</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Multithreaded Process</a:t>
            </a:r>
            <a:endParaRPr lang="en-US" dirty="0"/>
          </a:p>
        </p:txBody>
      </p:sp>
      <p:sp>
        <p:nvSpPr>
          <p:cNvPr id="3" name="Content Placeholder 2"/>
          <p:cNvSpPr>
            <a:spLocks noGrp="1"/>
          </p:cNvSpPr>
          <p:nvPr>
            <p:ph idx="1"/>
          </p:nvPr>
        </p:nvSpPr>
        <p:spPr>
          <a:xfrm>
            <a:off x="457200" y="1371601"/>
            <a:ext cx="8229600" cy="3276600"/>
          </a:xfrm>
        </p:spPr>
        <p:txBody>
          <a:bodyPr/>
          <a:lstStyle/>
          <a:p>
            <a:r>
              <a:rPr lang="en-US" sz="2200" dirty="0" smtClean="0"/>
              <a:t>A </a:t>
            </a:r>
            <a:r>
              <a:rPr lang="en-US" sz="2200" i="1" dirty="0" smtClean="0">
                <a:solidFill>
                  <a:srgbClr val="C00000"/>
                </a:solidFill>
              </a:rPr>
              <a:t>multithreaded process</a:t>
            </a:r>
            <a:r>
              <a:rPr lang="en-US" sz="2200" dirty="0" smtClean="0"/>
              <a:t> supports many control threads in a single address space.</a:t>
            </a:r>
          </a:p>
          <a:p>
            <a:r>
              <a:rPr lang="en-US" sz="2200" dirty="0" smtClean="0"/>
              <a:t>Each </a:t>
            </a:r>
            <a:r>
              <a:rPr lang="en-US" sz="2200" i="1" dirty="0" smtClean="0">
                <a:solidFill>
                  <a:srgbClr val="C00000"/>
                </a:solidFill>
              </a:rPr>
              <a:t>thread</a:t>
            </a:r>
            <a:r>
              <a:rPr lang="en-US" sz="2200" dirty="0" smtClean="0"/>
              <a:t> is an independent path of execution through the process.</a:t>
            </a:r>
          </a:p>
          <a:p>
            <a:r>
              <a:rPr lang="en-US" sz="2200" dirty="0" smtClean="0"/>
              <a:t>All the threads in the process execute the </a:t>
            </a:r>
            <a:r>
              <a:rPr lang="en-US" sz="2200" i="1" dirty="0" smtClean="0">
                <a:solidFill>
                  <a:srgbClr val="C00000"/>
                </a:solidFill>
              </a:rPr>
              <a:t>same</a:t>
            </a:r>
            <a:r>
              <a:rPr lang="en-US" sz="2200" dirty="0" smtClean="0"/>
              <a:t> program and use the same process memory. But each of them has a </a:t>
            </a:r>
            <a:r>
              <a:rPr lang="en-US" sz="2200" i="1" dirty="0" smtClean="0">
                <a:solidFill>
                  <a:srgbClr val="C00000"/>
                </a:solidFill>
              </a:rPr>
              <a:t>save area</a:t>
            </a:r>
            <a:r>
              <a:rPr lang="en-US" sz="2200" dirty="0" smtClean="0"/>
              <a:t> for register values and private variables (e.g., the process stack).</a:t>
            </a:r>
          </a:p>
          <a:p>
            <a:r>
              <a:rPr lang="en-US" sz="2200" dirty="0" smtClean="0"/>
              <a:t>A multithreaded process has many executions of its program running </a:t>
            </a:r>
            <a:r>
              <a:rPr lang="en-US" sz="2200" i="1" dirty="0" smtClean="0">
                <a:solidFill>
                  <a:srgbClr val="C00000"/>
                </a:solidFill>
              </a:rPr>
              <a:t>concurrently</a:t>
            </a:r>
            <a:r>
              <a:rPr lang="en-US" sz="2200" dirty="0" smtClean="0"/>
              <a:t>, one for each of its threads.</a:t>
            </a:r>
            <a:endParaRPr lang="en-US" sz="2200" dirty="0"/>
          </a:p>
        </p:txBody>
      </p:sp>
      <p:pic>
        <p:nvPicPr>
          <p:cNvPr id="3074" name="Picture 2"/>
          <p:cNvPicPr>
            <a:picLocks noChangeAspect="1" noChangeArrowheads="1"/>
          </p:cNvPicPr>
          <p:nvPr/>
        </p:nvPicPr>
        <p:blipFill>
          <a:blip r:embed="rId2" cstate="print"/>
          <a:srcRect/>
          <a:stretch>
            <a:fillRect/>
          </a:stretch>
        </p:blipFill>
        <p:spPr bwMode="auto">
          <a:xfrm>
            <a:off x="1524000" y="4724400"/>
            <a:ext cx="5972175" cy="20288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Procedure Call (RPC)</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Remote procedure call (RPC)</a:t>
            </a:r>
            <a:r>
              <a:rPr lang="en-US" sz="2200" b="1" dirty="0" smtClean="0">
                <a:solidFill>
                  <a:schemeClr val="tx2"/>
                </a:solidFill>
              </a:rPr>
              <a:t> </a:t>
            </a:r>
            <a:r>
              <a:rPr lang="en-US" sz="2200" dirty="0" smtClean="0"/>
              <a:t>is a programming mechanism that enables a program in one process to invoke a program in another process using an ordinary procedure call, as if the two programs were executing in the same process (or more precisely, in the same address space).</a:t>
            </a:r>
          </a:p>
          <a:p>
            <a:r>
              <a:rPr lang="en-US" sz="2200" dirty="0" smtClean="0"/>
              <a:t>The </a:t>
            </a:r>
            <a:r>
              <a:rPr lang="en-US" sz="2200" i="1" dirty="0" smtClean="0">
                <a:solidFill>
                  <a:srgbClr val="C00000"/>
                </a:solidFill>
              </a:rPr>
              <a:t>RPC runtime system</a:t>
            </a:r>
            <a:r>
              <a:rPr lang="en-US" sz="2200" dirty="0" smtClean="0"/>
              <a:t> has some extra work to do to allow a transaction to invoke an RPC.</a:t>
            </a:r>
          </a:p>
          <a:p>
            <a:r>
              <a:rPr lang="en-US" sz="2200" dirty="0" smtClean="0"/>
              <a:t>It has to pass the </a:t>
            </a:r>
            <a:r>
              <a:rPr lang="en-US" sz="2200" i="1" dirty="0" smtClean="0">
                <a:solidFill>
                  <a:srgbClr val="C00000"/>
                </a:solidFill>
              </a:rPr>
              <a:t>transaction context</a:t>
            </a:r>
            <a:r>
              <a:rPr lang="en-US" sz="2200" dirty="0" smtClean="0"/>
              <a:t> (transaction ID, security credentials, the identity of the system that started the transaction, and other system information that is required by the </a:t>
            </a:r>
            <a:r>
              <a:rPr lang="en-US" sz="2200" i="1" dirty="0" err="1" smtClean="0">
                <a:solidFill>
                  <a:srgbClr val="C00000"/>
                </a:solidFill>
              </a:rPr>
              <a:t>callee</a:t>
            </a:r>
            <a:r>
              <a:rPr lang="en-US" sz="2200" dirty="0" smtClean="0"/>
              <a:t>) from the </a:t>
            </a:r>
            <a:r>
              <a:rPr lang="en-US" sz="2200" i="1" dirty="0" smtClean="0">
                <a:solidFill>
                  <a:srgbClr val="C00000"/>
                </a:solidFill>
              </a:rPr>
              <a:t>caller</a:t>
            </a:r>
            <a:r>
              <a:rPr lang="en-US" sz="2200" dirty="0" smtClean="0"/>
              <a:t> to the </a:t>
            </a:r>
            <a:r>
              <a:rPr lang="en-US" sz="2200" dirty="0" err="1" smtClean="0"/>
              <a:t>callee</a:t>
            </a:r>
            <a:r>
              <a:rPr lang="en-US" sz="2200" dirty="0" smtClean="0"/>
              <a:t> and must throw transaction-related exceptions back to the caller.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Object-Oriented RPC</a:t>
            </a:r>
            <a:endParaRPr lang="en-US" dirty="0"/>
          </a:p>
        </p:txBody>
      </p:sp>
      <p:sp>
        <p:nvSpPr>
          <p:cNvPr id="3" name="Content Placeholder 2"/>
          <p:cNvSpPr>
            <a:spLocks noGrp="1"/>
          </p:cNvSpPr>
          <p:nvPr>
            <p:ph idx="1"/>
          </p:nvPr>
        </p:nvSpPr>
        <p:spPr/>
        <p:txBody>
          <a:bodyPr/>
          <a:lstStyle/>
          <a:p>
            <a:r>
              <a:rPr lang="en-US" sz="2000" dirty="0" smtClean="0"/>
              <a:t>In an object-oriented programming model, procedures are defined as </a:t>
            </a:r>
            <a:r>
              <a:rPr lang="en-US" sz="2000" i="1" dirty="0" smtClean="0">
                <a:solidFill>
                  <a:srgbClr val="C00000"/>
                </a:solidFill>
              </a:rPr>
              <a:t>methods</a:t>
            </a:r>
            <a:r>
              <a:rPr lang="en-US" sz="2000" dirty="0" smtClean="0"/>
              <a:t> of classes.</a:t>
            </a:r>
          </a:p>
          <a:p>
            <a:r>
              <a:rPr lang="en-US" sz="2000" dirty="0" smtClean="0"/>
              <a:t>There are two types of methods, </a:t>
            </a:r>
            <a:r>
              <a:rPr lang="en-US" sz="2000" i="1" dirty="0" smtClean="0">
                <a:solidFill>
                  <a:srgbClr val="C00000"/>
                </a:solidFill>
              </a:rPr>
              <a:t>class methods</a:t>
            </a:r>
            <a:r>
              <a:rPr lang="en-US" sz="2000" dirty="0" smtClean="0">
                <a:solidFill>
                  <a:schemeClr val="tx2"/>
                </a:solidFill>
              </a:rPr>
              <a:t> </a:t>
            </a:r>
            <a:r>
              <a:rPr lang="en-US" sz="2000" dirty="0" smtClean="0"/>
              <a:t>and </a:t>
            </a:r>
            <a:r>
              <a:rPr lang="en-US" sz="2000" i="1" dirty="0" smtClean="0">
                <a:solidFill>
                  <a:srgbClr val="C00000"/>
                </a:solidFill>
              </a:rPr>
              <a:t>object methods</a:t>
            </a:r>
            <a:r>
              <a:rPr lang="en-US" sz="2000" dirty="0" smtClean="0"/>
              <a:t>.</a:t>
            </a:r>
          </a:p>
          <a:p>
            <a:r>
              <a:rPr lang="en-US" sz="2000" dirty="0" smtClean="0"/>
              <a:t>A class method is </a:t>
            </a:r>
            <a:r>
              <a:rPr lang="en-US" sz="2000" i="1" dirty="0" smtClean="0">
                <a:solidFill>
                  <a:srgbClr val="C00000"/>
                </a:solidFill>
              </a:rPr>
              <a:t>invoked on the class itself</a:t>
            </a:r>
            <a:r>
              <a:rPr lang="en-US" sz="2000" dirty="0" smtClean="0"/>
              <a:t>, such as the method new, which creates an object (i.e., instance) of the class.</a:t>
            </a:r>
          </a:p>
          <a:p>
            <a:r>
              <a:rPr lang="en-US" sz="2000" dirty="0" smtClean="0"/>
              <a:t>To invoke an object method, the caller uses a </a:t>
            </a:r>
            <a:r>
              <a:rPr lang="en-US" sz="2000" i="1" dirty="0" smtClean="0">
                <a:solidFill>
                  <a:srgbClr val="C00000"/>
                </a:solidFill>
              </a:rPr>
              <a:t>reference</a:t>
            </a:r>
            <a:r>
              <a:rPr lang="en-US" sz="2000" dirty="0" smtClean="0"/>
              <a:t> (i.e., a binding) to the object. This could be created by the caller when it invokes the method new.</a:t>
            </a:r>
          </a:p>
          <a:p>
            <a:r>
              <a:rPr lang="en-US" sz="2000" dirty="0" smtClean="0"/>
              <a:t>If the </a:t>
            </a:r>
            <a:r>
              <a:rPr lang="en-US" sz="2000" i="1" dirty="0" smtClean="0">
                <a:solidFill>
                  <a:srgbClr val="C00000"/>
                </a:solidFill>
              </a:rPr>
              <a:t>class is remote</a:t>
            </a:r>
            <a:r>
              <a:rPr lang="en-US" sz="2000" dirty="0" smtClean="0">
                <a:solidFill>
                  <a:schemeClr val="tx2"/>
                </a:solidFill>
              </a:rPr>
              <a:t>,</a:t>
            </a:r>
            <a:r>
              <a:rPr lang="en-US" sz="2000" dirty="0" smtClean="0"/>
              <a:t> the invocation of new is itself an RPC, which returns a reference to a new object of the remote class. </a:t>
            </a:r>
            <a:r>
              <a:rPr lang="en-US" sz="2000" i="1" dirty="0" smtClean="0">
                <a:solidFill>
                  <a:srgbClr val="C00000"/>
                </a:solidFill>
              </a:rPr>
              <a:t>The object</a:t>
            </a:r>
            <a:r>
              <a:rPr lang="en-US" sz="2000" dirty="0" smtClean="0"/>
              <a:t> lives in the remote class, while </a:t>
            </a:r>
            <a:r>
              <a:rPr lang="en-US" sz="2000" i="1" dirty="0" smtClean="0">
                <a:solidFill>
                  <a:srgbClr val="C00000"/>
                </a:solidFill>
              </a:rPr>
              <a:t>the reference</a:t>
            </a:r>
            <a:r>
              <a:rPr lang="en-US" sz="2000" dirty="0" smtClean="0"/>
              <a:t> is local to the caller.</a:t>
            </a:r>
          </a:p>
          <a:p>
            <a:r>
              <a:rPr lang="en-US" sz="2000" dirty="0" smtClean="0"/>
              <a:t>The reference is thus a </a:t>
            </a:r>
            <a:r>
              <a:rPr lang="en-US" sz="2000" i="1" dirty="0" smtClean="0">
                <a:solidFill>
                  <a:srgbClr val="C00000"/>
                </a:solidFill>
              </a:rPr>
              <a:t>local surrogate</a:t>
            </a:r>
            <a:r>
              <a:rPr lang="en-US" sz="2000" dirty="0" smtClean="0"/>
              <a:t> for the remote object.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RPC Implementation</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690688" y="1228725"/>
            <a:ext cx="5762625" cy="5553075"/>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communication session</a:t>
            </a:r>
            <a:r>
              <a:rPr lang="en-US" sz="2400" dirty="0" smtClean="0"/>
              <a:t> is a lasting connection between two system components, typically two processes, that want to share state.</a:t>
            </a:r>
          </a:p>
          <a:p>
            <a:r>
              <a:rPr lang="en-US" sz="2400" dirty="0" smtClean="0"/>
              <a:t>Three-Way Handshake to Create a Session. </a:t>
            </a:r>
          </a:p>
          <a:p>
            <a:endParaRPr lang="en-US" sz="2400" dirty="0" smtClean="0"/>
          </a:p>
          <a:p>
            <a:endParaRPr lang="en-US" sz="2400" dirty="0" smtClean="0"/>
          </a:p>
          <a:p>
            <a:endParaRPr lang="en-US" sz="2400" dirty="0" smtClean="0"/>
          </a:p>
          <a:p>
            <a:endParaRPr lang="en-US" sz="2400" dirty="0" smtClean="0"/>
          </a:p>
          <a:p>
            <a:r>
              <a:rPr lang="en-US" sz="2400" dirty="0" smtClean="0"/>
              <a:t>Each component that is involved in a session needs to </a:t>
            </a:r>
            <a:r>
              <a:rPr lang="en-US" sz="2400" i="1" dirty="0" smtClean="0">
                <a:solidFill>
                  <a:srgbClr val="C00000"/>
                </a:solidFill>
              </a:rPr>
              <a:t>allocate some memory</a:t>
            </a:r>
            <a:r>
              <a:rPr lang="en-US" sz="2400" dirty="0" smtClean="0"/>
              <a:t> that holds the shared state associated with the session.</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1447800" y="3276600"/>
            <a:ext cx="6657975" cy="1600200"/>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Retaining State in a Business Process</a:t>
            </a:r>
            <a:endParaRPr lang="en-US" dirty="0"/>
          </a:p>
        </p:txBody>
      </p:sp>
      <p:sp>
        <p:nvSpPr>
          <p:cNvPr id="3" name="Content Placeholder 2"/>
          <p:cNvSpPr>
            <a:spLocks noGrp="1"/>
          </p:cNvSpPr>
          <p:nvPr>
            <p:ph idx="1"/>
          </p:nvPr>
        </p:nvSpPr>
        <p:spPr/>
        <p:txBody>
          <a:bodyPr/>
          <a:lstStyle/>
          <a:p>
            <a:r>
              <a:rPr lang="en-US" sz="2400" dirty="0" smtClean="0"/>
              <a:t>Each transaction in a business process saves the </a:t>
            </a:r>
            <a:r>
              <a:rPr lang="en-US" sz="2400" i="1" dirty="0" smtClean="0">
                <a:solidFill>
                  <a:srgbClr val="C00000"/>
                </a:solidFill>
              </a:rPr>
              <a:t>process state</a:t>
            </a:r>
            <a:r>
              <a:rPr lang="en-US" sz="2400" dirty="0" smtClean="0"/>
              <a:t> for use by the next transaction in the sequence.</a:t>
            </a:r>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A </a:t>
            </a:r>
            <a:r>
              <a:rPr lang="en-US" sz="2400" i="1" dirty="0" smtClean="0">
                <a:solidFill>
                  <a:srgbClr val="C00000"/>
                </a:solidFill>
              </a:rPr>
              <a:t>cookie</a:t>
            </a:r>
            <a:r>
              <a:rPr lang="en-US" sz="2400" dirty="0" smtClean="0"/>
              <a:t> is a small amount of information sent by a server to a web browser that the web browser then stores persistently and returns to the same server on subsequent calls.</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514600" y="2519363"/>
            <a:ext cx="4114800" cy="1819275"/>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Savepoint</a:t>
            </a:r>
            <a:endParaRPr lang="en-US" dirty="0"/>
          </a:p>
        </p:txBody>
      </p:sp>
      <p:sp>
        <p:nvSpPr>
          <p:cNvPr id="3" name="Content Placeholder 2"/>
          <p:cNvSpPr>
            <a:spLocks noGrp="1"/>
          </p:cNvSpPr>
          <p:nvPr>
            <p:ph idx="1"/>
          </p:nvPr>
        </p:nvSpPr>
        <p:spPr/>
        <p:txBody>
          <a:bodyPr/>
          <a:lstStyle/>
          <a:p>
            <a:r>
              <a:rPr lang="en-US" sz="2400" dirty="0" smtClean="0"/>
              <a:t>An application program that brackets a transaction must provide error handling for two types of exceptions—</a:t>
            </a:r>
            <a:r>
              <a:rPr lang="en-US" sz="2400" i="1" dirty="0" smtClean="0">
                <a:solidFill>
                  <a:srgbClr val="C00000"/>
                </a:solidFill>
              </a:rPr>
              <a:t>transaction failures</a:t>
            </a:r>
            <a:r>
              <a:rPr lang="en-US" sz="2400" dirty="0" smtClean="0">
                <a:solidFill>
                  <a:srgbClr val="FF0000"/>
                </a:solidFill>
              </a:rPr>
              <a:t> </a:t>
            </a:r>
            <a:r>
              <a:rPr lang="en-US" sz="2400" dirty="0" smtClean="0"/>
              <a:t>and </a:t>
            </a:r>
            <a:r>
              <a:rPr lang="en-US" sz="2400" i="1" dirty="0" smtClean="0">
                <a:solidFill>
                  <a:srgbClr val="C00000"/>
                </a:solidFill>
              </a:rPr>
              <a:t>system failures</a:t>
            </a:r>
            <a:r>
              <a:rPr lang="en-US" sz="2400" dirty="0" smtClean="0"/>
              <a:t>.</a:t>
            </a:r>
          </a:p>
          <a:p>
            <a:r>
              <a:rPr lang="en-US" sz="2400" dirty="0" smtClean="0"/>
              <a:t>A </a:t>
            </a:r>
            <a:r>
              <a:rPr lang="en-US" sz="2400" i="1" dirty="0" err="1" smtClean="0">
                <a:solidFill>
                  <a:srgbClr val="C00000"/>
                </a:solidFill>
              </a:rPr>
              <a:t>savepoint</a:t>
            </a:r>
            <a:r>
              <a:rPr lang="en-US" sz="2400" dirty="0" smtClean="0"/>
              <a:t> is a point in a program where the application saves all its state, generally by issuing a </a:t>
            </a:r>
            <a:r>
              <a:rPr lang="en-US" sz="2400" dirty="0" err="1" smtClean="0"/>
              <a:t>savepoint</a:t>
            </a:r>
            <a:r>
              <a:rPr lang="en-US" sz="2400" dirty="0" smtClean="0"/>
              <a:t> command.</a:t>
            </a:r>
          </a:p>
          <a:p>
            <a:endParaRPr lang="en-US" sz="2400" dirty="0"/>
          </a:p>
        </p:txBody>
      </p:sp>
      <p:pic>
        <p:nvPicPr>
          <p:cNvPr id="4" name="Picture 2"/>
          <p:cNvPicPr>
            <a:picLocks noChangeAspect="1" noChangeArrowheads="1"/>
          </p:cNvPicPr>
          <p:nvPr/>
        </p:nvPicPr>
        <p:blipFill>
          <a:blip r:embed="rId2" cstate="print"/>
          <a:srcRect/>
          <a:stretch>
            <a:fillRect/>
          </a:stretch>
        </p:blipFill>
        <p:spPr bwMode="auto">
          <a:xfrm>
            <a:off x="719138" y="4038600"/>
            <a:ext cx="7705725" cy="17526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Concurrent </a:t>
            </a:r>
            <a:r>
              <a:rPr lang="en-US" dirty="0" err="1" smtClean="0"/>
              <a:t>Subtransactions</a:t>
            </a:r>
            <a:endParaRPr lang="en-US" dirty="0"/>
          </a:p>
        </p:txBody>
      </p:sp>
      <p:sp>
        <p:nvSpPr>
          <p:cNvPr id="3" name="Content Placeholder 2"/>
          <p:cNvSpPr>
            <a:spLocks noGrp="1"/>
          </p:cNvSpPr>
          <p:nvPr>
            <p:ph idx="1"/>
          </p:nvPr>
        </p:nvSpPr>
        <p:spPr>
          <a:xfrm>
            <a:off x="457200" y="1600201"/>
            <a:ext cx="8229600" cy="1219200"/>
          </a:xfrm>
        </p:spPr>
        <p:txBody>
          <a:bodyPr/>
          <a:lstStyle/>
          <a:p>
            <a:r>
              <a:rPr lang="en-US" sz="2400" dirty="0" err="1" smtClean="0"/>
              <a:t>Savepoints</a:t>
            </a:r>
            <a:r>
              <a:rPr lang="en-US" sz="2400" dirty="0" smtClean="0"/>
              <a:t> aren’t enough for </a:t>
            </a:r>
            <a:r>
              <a:rPr lang="en-US" sz="2400" i="1" dirty="0" smtClean="0">
                <a:solidFill>
                  <a:srgbClr val="C00000"/>
                </a:solidFill>
              </a:rPr>
              <a:t>concurrent </a:t>
            </a:r>
            <a:r>
              <a:rPr lang="en-US" sz="2400" i="1" dirty="0" err="1" smtClean="0">
                <a:solidFill>
                  <a:srgbClr val="C00000"/>
                </a:solidFill>
              </a:rPr>
              <a:t>subtransactions</a:t>
            </a:r>
            <a:r>
              <a:rPr lang="en-US" sz="2400" dirty="0" smtClean="0"/>
              <a:t>. If </a:t>
            </a:r>
            <a:r>
              <a:rPr lang="en-US" sz="2400" dirty="0" err="1" smtClean="0"/>
              <a:t>functionZ</a:t>
            </a:r>
            <a:r>
              <a:rPr lang="en-US" sz="2400" dirty="0" smtClean="0"/>
              <a:t> commits and </a:t>
            </a:r>
            <a:r>
              <a:rPr lang="en-US" sz="2400" dirty="0" err="1" smtClean="0"/>
              <a:t>functionY</a:t>
            </a:r>
            <a:r>
              <a:rPr lang="en-US" sz="2400" dirty="0" smtClean="0"/>
              <a:t> aborts, there is no </a:t>
            </a:r>
            <a:r>
              <a:rPr lang="en-US" sz="2400" dirty="0" err="1" smtClean="0"/>
              <a:t>savepoint</a:t>
            </a:r>
            <a:r>
              <a:rPr lang="en-US" sz="2400" dirty="0" smtClean="0"/>
              <a:t> in RM_A that produces the right state.</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704850" y="3048000"/>
            <a:ext cx="7734300" cy="358140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Direct TP</a:t>
            </a:r>
            <a:endParaRPr lang="en-US" dirty="0"/>
          </a:p>
        </p:txBody>
      </p:sp>
      <p:sp>
        <p:nvSpPr>
          <p:cNvPr id="3" name="Content Placeholder 2"/>
          <p:cNvSpPr>
            <a:spLocks noGrp="1"/>
          </p:cNvSpPr>
          <p:nvPr>
            <p:ph idx="1"/>
          </p:nvPr>
        </p:nvSpPr>
        <p:spPr/>
        <p:txBody>
          <a:bodyPr/>
          <a:lstStyle/>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(a) Sending a request to a down server. (b) Sending a reply to a down client. (c) Balancing the request load across many servers. (d) Scheduling requests.</a:t>
            </a:r>
            <a:endParaRPr lang="en-US" sz="2400" dirty="0"/>
          </a:p>
        </p:txBody>
      </p:sp>
      <p:pic>
        <p:nvPicPr>
          <p:cNvPr id="3075" name="Picture 3"/>
          <p:cNvPicPr>
            <a:picLocks noChangeAspect="1" noChangeArrowheads="1"/>
          </p:cNvPicPr>
          <p:nvPr/>
        </p:nvPicPr>
        <p:blipFill>
          <a:blip r:embed="rId2" cstate="print"/>
          <a:srcRect/>
          <a:stretch>
            <a:fillRect/>
          </a:stretch>
        </p:blipFill>
        <p:spPr bwMode="auto">
          <a:xfrm>
            <a:off x="852488" y="1219200"/>
            <a:ext cx="7439025" cy="3781425"/>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Queued Transaction Model</a:t>
            </a:r>
            <a:endParaRPr lang="en-US" dirty="0"/>
          </a:p>
        </p:txBody>
      </p:sp>
      <p:sp>
        <p:nvSpPr>
          <p:cNvPr id="3" name="Content Placeholder 2"/>
          <p:cNvSpPr>
            <a:spLocks noGrp="1"/>
          </p:cNvSpPr>
          <p:nvPr>
            <p:ph idx="1"/>
          </p:nvPr>
        </p:nvSpPr>
        <p:spPr/>
        <p:txBody>
          <a:bodyPr/>
          <a:lstStyle/>
          <a:p>
            <a:r>
              <a:rPr lang="en-US" sz="2400" dirty="0" smtClean="0"/>
              <a:t>In </a:t>
            </a:r>
            <a:r>
              <a:rPr lang="en-US" sz="2400" i="1" dirty="0" smtClean="0">
                <a:solidFill>
                  <a:srgbClr val="C00000"/>
                </a:solidFill>
              </a:rPr>
              <a:t>queued TP</a:t>
            </a:r>
            <a:r>
              <a:rPr lang="en-US" sz="2400" dirty="0" smtClean="0"/>
              <a:t>, clients send requests to queues, and servers receive requests from queues. This is in contrast to direct TP, where clients send requests to servers.</a:t>
            </a:r>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To support a queuing model, the system needs </a:t>
            </a:r>
            <a:r>
              <a:rPr lang="en-US" sz="2400" i="1" dirty="0" smtClean="0">
                <a:solidFill>
                  <a:srgbClr val="C00000"/>
                </a:solidFill>
              </a:rPr>
              <a:t>a queue manager</a:t>
            </a:r>
            <a:r>
              <a:rPr lang="en-US" sz="2400" dirty="0" smtClean="0"/>
              <a:t> that stores and </a:t>
            </a:r>
            <a:r>
              <a:rPr lang="en-US" sz="2400" u="sng" dirty="0" smtClean="0"/>
              <a:t>manages queues</a:t>
            </a:r>
            <a:r>
              <a:rPr lang="en-US" sz="2400" dirty="0" smtClean="0"/>
              <a:t>.</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1447800" y="3067050"/>
            <a:ext cx="5943600" cy="1657350"/>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Running a Request as Three Transactions</a:t>
            </a:r>
            <a:endParaRPr lang="en-US" dirty="0"/>
          </a:p>
        </p:txBody>
      </p:sp>
      <p:pic>
        <p:nvPicPr>
          <p:cNvPr id="3075" name="Picture 3"/>
          <p:cNvPicPr>
            <a:picLocks noGrp="1" noChangeAspect="1" noChangeArrowheads="1"/>
          </p:cNvPicPr>
          <p:nvPr>
            <p:ph idx="1"/>
          </p:nvPr>
        </p:nvPicPr>
        <p:blipFill>
          <a:blip r:embed="rId2" cstate="print"/>
          <a:srcRect/>
          <a:stretch>
            <a:fillRect/>
          </a:stretch>
        </p:blipFill>
        <p:spPr bwMode="auto">
          <a:xfrm>
            <a:off x="1115890" y="1600200"/>
            <a:ext cx="6912220" cy="4525963"/>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Broker-Based Architecture</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Broker-based architecture</a:t>
            </a:r>
            <a:r>
              <a:rPr lang="en-US" sz="2400" dirty="0" smtClean="0"/>
              <a:t> is a model in which a message server provides a bridge (message broker) between the heterogeneous applications.</a:t>
            </a:r>
          </a:p>
          <a:p>
            <a:r>
              <a:rPr lang="en-US" sz="2400" dirty="0" smtClean="0"/>
              <a:t>A </a:t>
            </a:r>
            <a:r>
              <a:rPr lang="en-US" sz="2400" i="1" dirty="0" smtClean="0">
                <a:solidFill>
                  <a:srgbClr val="C00000"/>
                </a:solidFill>
              </a:rPr>
              <a:t>client</a:t>
            </a:r>
            <a:r>
              <a:rPr lang="en-US" sz="2400" dirty="0" smtClean="0"/>
              <a:t> communicates with the </a:t>
            </a:r>
            <a:r>
              <a:rPr lang="en-US" sz="2400" u="sng" dirty="0" smtClean="0"/>
              <a:t>broker</a:t>
            </a:r>
            <a:r>
              <a:rPr lang="en-US" sz="2400" dirty="0" smtClean="0"/>
              <a:t>, which </a:t>
            </a:r>
            <a:r>
              <a:rPr lang="en-US" sz="2400" u="sng" dirty="0" smtClean="0"/>
              <a:t>forwards</a:t>
            </a:r>
            <a:r>
              <a:rPr lang="en-US" sz="2400" dirty="0" smtClean="0"/>
              <a:t> the message to the desired application.</a:t>
            </a:r>
          </a:p>
          <a:p>
            <a:endParaRPr lang="en-US" sz="2400" dirty="0"/>
          </a:p>
        </p:txBody>
      </p:sp>
      <p:pic>
        <p:nvPicPr>
          <p:cNvPr id="4" name="Picture 2"/>
          <p:cNvPicPr>
            <a:picLocks noChangeAspect="1" noChangeArrowheads="1"/>
          </p:cNvPicPr>
          <p:nvPr/>
        </p:nvPicPr>
        <p:blipFill>
          <a:blip r:embed="rId2" cstate="print"/>
          <a:srcRect/>
          <a:stretch>
            <a:fillRect/>
          </a:stretch>
        </p:blipFill>
        <p:spPr bwMode="auto">
          <a:xfrm>
            <a:off x="719138" y="3886200"/>
            <a:ext cx="7705725" cy="2371725"/>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Bus-Based Architecture</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Bus-based architecture</a:t>
            </a:r>
            <a:r>
              <a:rPr lang="en-US" sz="2200" dirty="0" smtClean="0"/>
              <a:t> is a model in which the client talks directly to TP applications using a standard wire protocol.</a:t>
            </a:r>
          </a:p>
          <a:p>
            <a:r>
              <a:rPr lang="en-US" sz="2200" dirty="0" smtClean="0"/>
              <a:t>If a TP system does not support the common protocol, then it needs to have a </a:t>
            </a:r>
            <a:r>
              <a:rPr lang="en-US" sz="2200" i="1" dirty="0" smtClean="0">
                <a:solidFill>
                  <a:srgbClr val="C00000"/>
                </a:solidFill>
              </a:rPr>
              <a:t>protocol translator</a:t>
            </a:r>
            <a:r>
              <a:rPr lang="en-US" sz="2200" dirty="0" smtClean="0"/>
              <a:t> that translates from the bus’s common protocol to the system-specific technology for calling the TP system’s applications.</a:t>
            </a:r>
          </a:p>
          <a:p>
            <a:endParaRPr lang="en-US" sz="2200" dirty="0"/>
          </a:p>
        </p:txBody>
      </p:sp>
      <p:pic>
        <p:nvPicPr>
          <p:cNvPr id="4" name="Picture 2"/>
          <p:cNvPicPr>
            <a:picLocks noChangeAspect="1" noChangeArrowheads="1"/>
          </p:cNvPicPr>
          <p:nvPr/>
        </p:nvPicPr>
        <p:blipFill>
          <a:blip r:embed="rId2" cstate="print"/>
          <a:srcRect/>
          <a:stretch>
            <a:fillRect/>
          </a:stretch>
        </p:blipFill>
        <p:spPr bwMode="auto">
          <a:xfrm>
            <a:off x="1023938" y="3810000"/>
            <a:ext cx="7096125" cy="280987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Serializable</a:t>
            </a:r>
            <a:r>
              <a:rPr lang="en-US" dirty="0" smtClean="0"/>
              <a:t> Execution</a:t>
            </a:r>
            <a:endParaRPr lang="en-US" dirty="0"/>
          </a:p>
        </p:txBody>
      </p:sp>
      <p:sp>
        <p:nvSpPr>
          <p:cNvPr id="3" name="Content Placeholder 2"/>
          <p:cNvSpPr>
            <a:spLocks noGrp="1"/>
          </p:cNvSpPr>
          <p:nvPr>
            <p:ph idx="1"/>
          </p:nvPr>
        </p:nvSpPr>
        <p:spPr/>
        <p:txBody>
          <a:bodyPr/>
          <a:lstStyle/>
          <a:p>
            <a:r>
              <a:rPr lang="en-US" sz="2400" i="1" dirty="0" err="1" smtClean="0">
                <a:solidFill>
                  <a:srgbClr val="C00000"/>
                </a:solidFill>
              </a:rPr>
              <a:t>Serializable</a:t>
            </a:r>
            <a:r>
              <a:rPr lang="en-US" sz="2400" i="1" dirty="0" smtClean="0">
                <a:solidFill>
                  <a:srgbClr val="C00000"/>
                </a:solidFill>
              </a:rPr>
              <a:t> execution</a:t>
            </a:r>
            <a:r>
              <a:rPr lang="en-US" sz="2400" dirty="0" smtClean="0"/>
              <a:t> is an execution that has the same effect as a </a:t>
            </a:r>
            <a:r>
              <a:rPr lang="en-US" sz="2400" u="sng" dirty="0" smtClean="0"/>
              <a:t>serial execution</a:t>
            </a:r>
            <a:r>
              <a:rPr lang="en-US" sz="2400" dirty="0" smtClean="0"/>
              <a:t>, i.e. </a:t>
            </a:r>
            <a:r>
              <a:rPr lang="en-US" sz="2400" u="sng" dirty="0" smtClean="0"/>
              <a:t>running the transactions serially</a:t>
            </a:r>
            <a:r>
              <a:rPr lang="en-US" sz="2400" dirty="0" smtClean="0"/>
              <a:t>, one after another, </a:t>
            </a:r>
            <a:r>
              <a:rPr lang="en-US" sz="2400" u="sng" dirty="0" smtClean="0"/>
              <a:t>in sequence</a:t>
            </a:r>
            <a:r>
              <a:rPr lang="en-US" sz="2400" dirty="0" smtClean="0"/>
              <a:t>, with no overlap in executing any two of them.</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2514600" y="4419600"/>
            <a:ext cx="4337050" cy="17716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A </a:t>
            </a:r>
            <a:r>
              <a:rPr lang="en-US" dirty="0" err="1" smtClean="0">
                <a:solidFill>
                  <a:srgbClr val="C00000"/>
                </a:solidFill>
              </a:rPr>
              <a:t>Non</a:t>
            </a:r>
            <a:r>
              <a:rPr lang="en-US" dirty="0" err="1" smtClean="0"/>
              <a:t>serializable</a:t>
            </a:r>
            <a:r>
              <a:rPr lang="en-US" dirty="0" smtClean="0"/>
              <a:t> Execution</a:t>
            </a:r>
            <a:endParaRPr lang="en-US" dirty="0"/>
          </a:p>
        </p:txBody>
      </p:sp>
      <p:sp>
        <p:nvSpPr>
          <p:cNvPr id="3" name="Content Placeholder 2"/>
          <p:cNvSpPr>
            <a:spLocks noGrp="1"/>
          </p:cNvSpPr>
          <p:nvPr>
            <p:ph idx="1"/>
          </p:nvPr>
        </p:nvSpPr>
        <p:spPr/>
        <p:txBody>
          <a:bodyPr/>
          <a:lstStyle/>
          <a:p>
            <a:r>
              <a:rPr lang="en-US" sz="2000" dirty="0" smtClean="0"/>
              <a:t>x = 10, y = 10</a:t>
            </a:r>
          </a:p>
          <a:p>
            <a:r>
              <a:rPr lang="en-US" sz="2000" dirty="0" smtClean="0"/>
              <a:t>T</a:t>
            </a:r>
            <a:r>
              <a:rPr lang="en-US" sz="2000" baseline="-25000" dirty="0" smtClean="0"/>
              <a:t>1</a:t>
            </a:r>
            <a:r>
              <a:rPr lang="en-US" sz="2000" dirty="0" smtClean="0"/>
              <a:t> reads x and later writes y (++y), and T</a:t>
            </a:r>
            <a:r>
              <a:rPr lang="en-US" sz="2000" baseline="-25000" dirty="0" smtClean="0"/>
              <a:t>2</a:t>
            </a:r>
            <a:r>
              <a:rPr lang="en-US" sz="2000" dirty="0" smtClean="0"/>
              <a:t> reads y and later writes x (++x).</a:t>
            </a:r>
          </a:p>
          <a:p>
            <a:r>
              <a:rPr lang="en-US" sz="2000" dirty="0" smtClean="0"/>
              <a:t>T</a:t>
            </a:r>
            <a:r>
              <a:rPr lang="en-US" sz="2000" baseline="-25000" dirty="0" smtClean="0"/>
              <a:t>1</a:t>
            </a:r>
            <a:r>
              <a:rPr lang="en-US" sz="2000" dirty="0" smtClean="0"/>
              <a:t>T</a:t>
            </a:r>
            <a:r>
              <a:rPr lang="en-US" sz="2000" baseline="-25000" dirty="0" smtClean="0"/>
              <a:t>2</a:t>
            </a:r>
            <a:r>
              <a:rPr lang="en-US" sz="2000" dirty="0" smtClean="0"/>
              <a:t> = r</a:t>
            </a:r>
            <a:r>
              <a:rPr lang="en-US" sz="2000" baseline="-25000" dirty="0" smtClean="0"/>
              <a:t>1</a:t>
            </a:r>
            <a:r>
              <a:rPr lang="en-US" sz="2000" dirty="0" smtClean="0"/>
              <a:t>[x] w</a:t>
            </a:r>
            <a:r>
              <a:rPr lang="en-US" sz="2000" baseline="-25000" dirty="0" smtClean="0"/>
              <a:t>1</a:t>
            </a:r>
            <a:r>
              <a:rPr lang="en-US" sz="2000" dirty="0" smtClean="0"/>
              <a:t>[y] r</a:t>
            </a:r>
            <a:r>
              <a:rPr lang="en-US" sz="2000" baseline="-25000" dirty="0" smtClean="0"/>
              <a:t>2</a:t>
            </a:r>
            <a:r>
              <a:rPr lang="en-US" sz="2000" dirty="0" smtClean="0"/>
              <a:t>[y] w</a:t>
            </a:r>
            <a:r>
              <a:rPr lang="en-US" sz="2000" baseline="-25000" dirty="0" smtClean="0"/>
              <a:t>2</a:t>
            </a:r>
            <a:r>
              <a:rPr lang="en-US" sz="2000" dirty="0" smtClean="0"/>
              <a:t>[x]. T</a:t>
            </a:r>
            <a:r>
              <a:rPr lang="en-US" sz="2000" baseline="-25000" dirty="0" smtClean="0"/>
              <a:t>1</a:t>
            </a:r>
            <a:r>
              <a:rPr lang="en-US" sz="2000" dirty="0" smtClean="0"/>
              <a:t>:  x = 10, y = 11. T</a:t>
            </a:r>
            <a:r>
              <a:rPr lang="en-US" sz="2000" baseline="-25000" dirty="0" smtClean="0"/>
              <a:t>2</a:t>
            </a:r>
            <a:r>
              <a:rPr lang="en-US" sz="2000" dirty="0" smtClean="0"/>
              <a:t>: x = 11, y = 11</a:t>
            </a:r>
          </a:p>
          <a:p>
            <a:r>
              <a:rPr lang="en-US" sz="2000" dirty="0" smtClean="0"/>
              <a:t>T</a:t>
            </a:r>
            <a:r>
              <a:rPr lang="en-US" sz="2000" baseline="-25000" dirty="0" smtClean="0"/>
              <a:t>2</a:t>
            </a:r>
            <a:r>
              <a:rPr lang="en-US" sz="2000" dirty="0" smtClean="0"/>
              <a:t>T</a:t>
            </a:r>
            <a:r>
              <a:rPr lang="en-US" sz="2000" baseline="-25000" dirty="0" smtClean="0"/>
              <a:t>1</a:t>
            </a:r>
            <a:r>
              <a:rPr lang="en-US" sz="2000" dirty="0" smtClean="0"/>
              <a:t> = r</a:t>
            </a:r>
            <a:r>
              <a:rPr lang="en-US" sz="2000" baseline="-25000" dirty="0" smtClean="0"/>
              <a:t>2</a:t>
            </a:r>
            <a:r>
              <a:rPr lang="en-US" sz="2000" dirty="0" smtClean="0"/>
              <a:t>[y] w</a:t>
            </a:r>
            <a:r>
              <a:rPr lang="en-US" sz="2000" baseline="-25000" dirty="0" smtClean="0"/>
              <a:t>2</a:t>
            </a:r>
            <a:r>
              <a:rPr lang="en-US" sz="2000" dirty="0" smtClean="0"/>
              <a:t>[x] r</a:t>
            </a:r>
            <a:r>
              <a:rPr lang="en-US" sz="2000" baseline="-25000" dirty="0" smtClean="0"/>
              <a:t>1</a:t>
            </a:r>
            <a:r>
              <a:rPr lang="en-US" sz="2000" dirty="0" smtClean="0"/>
              <a:t>[x] w</a:t>
            </a:r>
            <a:r>
              <a:rPr lang="en-US" sz="2000" baseline="-25000" dirty="0" smtClean="0"/>
              <a:t>1</a:t>
            </a:r>
            <a:r>
              <a:rPr lang="en-US" sz="2000" dirty="0" smtClean="0"/>
              <a:t>[y]. T</a:t>
            </a:r>
            <a:r>
              <a:rPr lang="en-US" sz="2000" baseline="-25000" dirty="0" smtClean="0"/>
              <a:t>2</a:t>
            </a:r>
            <a:r>
              <a:rPr lang="en-US" sz="2000" dirty="0" smtClean="0"/>
              <a:t>:  y = 10, x = 11. T</a:t>
            </a:r>
            <a:r>
              <a:rPr lang="en-US" sz="2000" baseline="-25000" dirty="0" smtClean="0"/>
              <a:t>1</a:t>
            </a:r>
            <a:r>
              <a:rPr lang="en-US" sz="2000" dirty="0" smtClean="0"/>
              <a:t>: x = 11, y = 11</a:t>
            </a:r>
          </a:p>
          <a:p>
            <a:r>
              <a:rPr lang="en-US" sz="2000" dirty="0" smtClean="0"/>
              <a:t>E = r</a:t>
            </a:r>
            <a:r>
              <a:rPr lang="en-US" sz="2000" baseline="-25000" dirty="0" smtClean="0"/>
              <a:t>1</a:t>
            </a:r>
            <a:r>
              <a:rPr lang="en-US" sz="2000" dirty="0" smtClean="0"/>
              <a:t>[x] r</a:t>
            </a:r>
            <a:r>
              <a:rPr lang="en-US" sz="2000" baseline="-25000" dirty="0" smtClean="0"/>
              <a:t>2</a:t>
            </a:r>
            <a:r>
              <a:rPr lang="en-US" sz="2000" dirty="0" smtClean="0"/>
              <a:t>[y] w</a:t>
            </a:r>
            <a:r>
              <a:rPr lang="en-US" sz="2000" baseline="-25000" dirty="0" smtClean="0"/>
              <a:t>2</a:t>
            </a:r>
            <a:r>
              <a:rPr lang="en-US" sz="2000" dirty="0" smtClean="0"/>
              <a:t>[x] w</a:t>
            </a:r>
            <a:r>
              <a:rPr lang="en-US" sz="2000" baseline="-25000" dirty="0" smtClean="0"/>
              <a:t>1</a:t>
            </a:r>
            <a:r>
              <a:rPr lang="en-US" sz="2000" dirty="0" smtClean="0"/>
              <a:t>[y] is a </a:t>
            </a:r>
            <a:r>
              <a:rPr lang="en-US" sz="2000" i="1" dirty="0" err="1" smtClean="0">
                <a:solidFill>
                  <a:srgbClr val="C00000"/>
                </a:solidFill>
              </a:rPr>
              <a:t>non</a:t>
            </a:r>
            <a:r>
              <a:rPr lang="en-US" sz="2000" dirty="0" err="1" smtClean="0"/>
              <a:t>serializable</a:t>
            </a:r>
            <a:r>
              <a:rPr lang="en-US" sz="2000" dirty="0" smtClean="0"/>
              <a:t> execution because </a:t>
            </a:r>
          </a:p>
          <a:p>
            <a:pPr>
              <a:buNone/>
            </a:pPr>
            <a:r>
              <a:rPr lang="en-US" sz="2000" dirty="0" smtClean="0"/>
              <a:t>	T</a:t>
            </a:r>
            <a:r>
              <a:rPr lang="en-US" sz="2000" baseline="-25000" dirty="0" smtClean="0"/>
              <a:t>1</a:t>
            </a:r>
            <a:r>
              <a:rPr lang="en-US" sz="2000" dirty="0" smtClean="0"/>
              <a:t>:  x = 10. T</a:t>
            </a:r>
            <a:r>
              <a:rPr lang="en-US" sz="2000" baseline="-25000" dirty="0" smtClean="0"/>
              <a:t>2</a:t>
            </a:r>
            <a:r>
              <a:rPr lang="en-US" sz="2000" dirty="0" smtClean="0"/>
              <a:t>: y = 10. T</a:t>
            </a:r>
            <a:r>
              <a:rPr lang="en-US" sz="2000" baseline="-25000" dirty="0" smtClean="0"/>
              <a:t>2</a:t>
            </a:r>
            <a:r>
              <a:rPr lang="en-US" sz="2000" dirty="0" smtClean="0"/>
              <a:t>:  x = 11, T</a:t>
            </a:r>
            <a:r>
              <a:rPr lang="en-US" sz="2000" baseline="-25000" dirty="0" smtClean="0"/>
              <a:t>1</a:t>
            </a:r>
            <a:r>
              <a:rPr lang="en-US" sz="2000" dirty="0" smtClean="0"/>
              <a:t>:  y = 11 i.e.</a:t>
            </a:r>
          </a:p>
          <a:p>
            <a:pPr>
              <a:buNone/>
            </a:pPr>
            <a:r>
              <a:rPr lang="en-US" sz="2000" dirty="0" smtClean="0"/>
              <a:t>	T</a:t>
            </a:r>
            <a:r>
              <a:rPr lang="en-US" sz="2000" baseline="-25000" dirty="0" smtClean="0"/>
              <a:t>1</a:t>
            </a:r>
            <a:r>
              <a:rPr lang="en-US" sz="2000" dirty="0" smtClean="0"/>
              <a:t>:  x = 10, y = 11. T</a:t>
            </a:r>
            <a:r>
              <a:rPr lang="en-US" sz="2000" baseline="-25000" dirty="0" smtClean="0"/>
              <a:t>2</a:t>
            </a:r>
            <a:r>
              <a:rPr lang="en-US" sz="2000" dirty="0" smtClean="0"/>
              <a:t>:  x = 11, y = 10 does not match with T</a:t>
            </a:r>
            <a:r>
              <a:rPr lang="en-US" sz="2000" baseline="-25000" dirty="0" smtClean="0"/>
              <a:t>1</a:t>
            </a:r>
            <a:r>
              <a:rPr lang="en-US" sz="2000" dirty="0" smtClean="0"/>
              <a:t>T</a:t>
            </a:r>
            <a:r>
              <a:rPr lang="en-US" sz="2000" baseline="-25000" dirty="0" smtClean="0"/>
              <a:t>2</a:t>
            </a:r>
            <a:r>
              <a:rPr lang="en-US" sz="2000" dirty="0" smtClean="0"/>
              <a:t> or T</a:t>
            </a:r>
            <a:r>
              <a:rPr lang="en-US" sz="2000" baseline="-25000" dirty="0" smtClean="0"/>
              <a:t>2</a:t>
            </a:r>
            <a:r>
              <a:rPr lang="en-US" sz="2000" dirty="0" smtClean="0"/>
              <a:t>T</a:t>
            </a:r>
            <a:r>
              <a:rPr lang="en-US" sz="2000" baseline="-25000" dirty="0" smtClean="0"/>
              <a:t>1</a:t>
            </a:r>
            <a:r>
              <a:rPr lang="en-US" sz="2000" dirty="0" smtClean="0"/>
              <a:t>.</a:t>
            </a:r>
          </a:p>
          <a:p>
            <a:pPr>
              <a:buNone/>
            </a:pPr>
            <a:endParaRPr lang="en-US" sz="2000"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Locking</a:t>
            </a:r>
            <a:endParaRPr lang="en-US" dirty="0"/>
          </a:p>
        </p:txBody>
      </p:sp>
      <p:sp>
        <p:nvSpPr>
          <p:cNvPr id="3" name="Content Placeholder 2"/>
          <p:cNvSpPr>
            <a:spLocks noGrp="1"/>
          </p:cNvSpPr>
          <p:nvPr>
            <p:ph idx="1"/>
          </p:nvPr>
        </p:nvSpPr>
        <p:spPr/>
        <p:txBody>
          <a:bodyPr/>
          <a:lstStyle/>
          <a:p>
            <a:r>
              <a:rPr lang="en-US" sz="2600" dirty="0" smtClean="0"/>
              <a:t>The most popular mechanism used to </a:t>
            </a:r>
            <a:r>
              <a:rPr lang="en-US" sz="2600" u="sng" dirty="0" smtClean="0"/>
              <a:t>attain </a:t>
            </a:r>
            <a:r>
              <a:rPr lang="en-US" sz="2600" u="sng" dirty="0" err="1" smtClean="0"/>
              <a:t>serializability</a:t>
            </a:r>
            <a:r>
              <a:rPr lang="en-US" sz="2600" dirty="0" smtClean="0"/>
              <a:t> is </a:t>
            </a:r>
            <a:r>
              <a:rPr lang="en-US" sz="2600" i="1" dirty="0" smtClean="0">
                <a:solidFill>
                  <a:srgbClr val="C00000"/>
                </a:solidFill>
              </a:rPr>
              <a:t>locking</a:t>
            </a:r>
            <a:r>
              <a:rPr lang="en-US" sz="2600" dirty="0" smtClean="0"/>
              <a:t>.</a:t>
            </a:r>
          </a:p>
          <a:p>
            <a:pPr lvl="1"/>
            <a:r>
              <a:rPr lang="en-US" sz="2200" dirty="0" smtClean="0"/>
              <a:t>Each transaction </a:t>
            </a:r>
            <a:r>
              <a:rPr lang="en-US" sz="2200" i="1" dirty="0" smtClean="0">
                <a:solidFill>
                  <a:srgbClr val="C00000"/>
                </a:solidFill>
              </a:rPr>
              <a:t>reserves access to the data</a:t>
            </a:r>
            <a:r>
              <a:rPr lang="en-US" sz="2200" dirty="0" smtClean="0"/>
              <a:t> it uses. This reservation is called </a:t>
            </a:r>
            <a:r>
              <a:rPr lang="en-US" sz="2200" u="sng" dirty="0" smtClean="0"/>
              <a:t>a lock</a:t>
            </a:r>
            <a:r>
              <a:rPr lang="en-US" sz="2200" dirty="0" smtClean="0"/>
              <a:t>.</a:t>
            </a:r>
          </a:p>
          <a:p>
            <a:pPr lvl="1"/>
            <a:r>
              <a:rPr lang="en-US" sz="2200" dirty="0" smtClean="0"/>
              <a:t>There are </a:t>
            </a:r>
            <a:r>
              <a:rPr lang="en-US" sz="2200" i="1" dirty="0" smtClean="0">
                <a:solidFill>
                  <a:srgbClr val="C00000"/>
                </a:solidFill>
              </a:rPr>
              <a:t>read locks</a:t>
            </a:r>
            <a:r>
              <a:rPr lang="en-US" sz="2200" dirty="0" smtClean="0"/>
              <a:t> and </a:t>
            </a:r>
            <a:r>
              <a:rPr lang="en-US" sz="2200" i="1" dirty="0" smtClean="0">
                <a:solidFill>
                  <a:srgbClr val="C00000"/>
                </a:solidFill>
              </a:rPr>
              <a:t>write locks</a:t>
            </a:r>
            <a:r>
              <a:rPr lang="en-US" sz="2200" dirty="0" smtClean="0"/>
              <a:t>.</a:t>
            </a:r>
          </a:p>
          <a:p>
            <a:pPr lvl="1"/>
            <a:r>
              <a:rPr lang="en-US" sz="2200" i="1" dirty="0" smtClean="0">
                <a:solidFill>
                  <a:srgbClr val="C00000"/>
                </a:solidFill>
              </a:rPr>
              <a:t>Before reading</a:t>
            </a:r>
            <a:r>
              <a:rPr lang="en-US" sz="2200" dirty="0" smtClean="0"/>
              <a:t> a piece of data, a transaction sets a </a:t>
            </a:r>
            <a:r>
              <a:rPr lang="en-US" sz="2200" u="sng" dirty="0" smtClean="0"/>
              <a:t>read lock</a:t>
            </a:r>
            <a:r>
              <a:rPr lang="en-US" sz="2200" dirty="0" smtClean="0"/>
              <a:t>.</a:t>
            </a:r>
          </a:p>
          <a:p>
            <a:pPr lvl="1"/>
            <a:r>
              <a:rPr lang="en-US" sz="2200" i="1" dirty="0" smtClean="0">
                <a:solidFill>
                  <a:srgbClr val="C00000"/>
                </a:solidFill>
              </a:rPr>
              <a:t>Before writing</a:t>
            </a:r>
            <a:r>
              <a:rPr lang="en-US" sz="2200" dirty="0" smtClean="0"/>
              <a:t> the data, it sets a </a:t>
            </a:r>
            <a:r>
              <a:rPr lang="en-US" sz="2200" u="sng" dirty="0" smtClean="0"/>
              <a:t>write lock</a:t>
            </a:r>
            <a:r>
              <a:rPr lang="en-US" sz="2200" dirty="0" smtClean="0"/>
              <a:t>.</a:t>
            </a:r>
          </a:p>
          <a:p>
            <a:pPr lvl="1"/>
            <a:r>
              <a:rPr lang="en-US" sz="2200" i="1" dirty="0" smtClean="0">
                <a:solidFill>
                  <a:srgbClr val="C00000"/>
                </a:solidFill>
              </a:rPr>
              <a:t>Read locks</a:t>
            </a:r>
            <a:r>
              <a:rPr lang="en-US" sz="2200" dirty="0" smtClean="0"/>
              <a:t> conflict with </a:t>
            </a:r>
            <a:r>
              <a:rPr lang="en-US" sz="2200" u="sng" dirty="0" smtClean="0"/>
              <a:t>write locks</a:t>
            </a:r>
            <a:r>
              <a:rPr lang="en-US" sz="2200" dirty="0" smtClean="0"/>
              <a:t>, and </a:t>
            </a:r>
            <a:r>
              <a:rPr lang="en-US" sz="2200" i="1" dirty="0" smtClean="0">
                <a:solidFill>
                  <a:srgbClr val="C00000"/>
                </a:solidFill>
              </a:rPr>
              <a:t>write locks</a:t>
            </a:r>
            <a:r>
              <a:rPr lang="en-US" sz="2200" dirty="0" smtClean="0"/>
              <a:t> conflict with </a:t>
            </a:r>
            <a:r>
              <a:rPr lang="en-US" sz="2200" u="sng" dirty="0" smtClean="0"/>
              <a:t>both read and write locks</a:t>
            </a:r>
            <a:r>
              <a:rPr lang="en-US" sz="2200" dirty="0" smtClean="0"/>
              <a:t>.</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Two-Phase Locking Theorem</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Two-phase locking</a:t>
            </a:r>
            <a:r>
              <a:rPr lang="en-US" sz="2400" dirty="0" smtClean="0"/>
              <a:t> is a lock mechanism in which a transaction </a:t>
            </a:r>
            <a:r>
              <a:rPr lang="en-US" sz="2400" u="sng" dirty="0" smtClean="0"/>
              <a:t>obtains all its locks before releasing any of them</a:t>
            </a:r>
            <a:r>
              <a:rPr lang="en-US" sz="2400" dirty="0" smtClean="0"/>
              <a:t>.</a:t>
            </a:r>
          </a:p>
          <a:p>
            <a:r>
              <a:rPr lang="en-US" sz="2400" i="1" dirty="0" smtClean="0">
                <a:solidFill>
                  <a:srgbClr val="C00000"/>
                </a:solidFill>
              </a:rPr>
              <a:t>Two-Phase Locking Theorem</a:t>
            </a:r>
            <a:r>
              <a:rPr lang="en-US" sz="2400" dirty="0" smtClean="0"/>
              <a:t>: If all transactions in an execution are </a:t>
            </a:r>
            <a:r>
              <a:rPr lang="en-US" sz="2400" i="1" dirty="0" smtClean="0">
                <a:solidFill>
                  <a:srgbClr val="C00000"/>
                </a:solidFill>
              </a:rPr>
              <a:t>two-phase locked</a:t>
            </a:r>
            <a:r>
              <a:rPr lang="en-US" sz="2400" dirty="0" smtClean="0"/>
              <a:t>, then the execution is </a:t>
            </a:r>
            <a:r>
              <a:rPr lang="en-US" sz="2400" u="sng" dirty="0" err="1" smtClean="0"/>
              <a:t>serializable</a:t>
            </a:r>
            <a:r>
              <a:rPr lang="en-US" sz="2400" dirty="0" smtClean="0"/>
              <a:t>.</a:t>
            </a:r>
            <a:endParaRPr 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 Handshakes</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Transaction handshake</a:t>
            </a:r>
            <a:r>
              <a:rPr lang="en-US" sz="2400" dirty="0" smtClean="0"/>
              <a:t> is a situation when a user wait until a transaction has committed before using that transaction’s output as input to another transaction</a:t>
            </a:r>
          </a:p>
          <a:p>
            <a:endParaRPr lang="en-US" sz="2400" dirty="0" smtClean="0"/>
          </a:p>
          <a:p>
            <a:endParaRPr lang="en-US" sz="2400" dirty="0" smtClean="0"/>
          </a:p>
          <a:p>
            <a:endParaRPr lang="en-US" sz="2400" dirty="0" smtClean="0"/>
          </a:p>
          <a:p>
            <a:endParaRPr lang="en-US" sz="2400" dirty="0" smtClean="0"/>
          </a:p>
          <a:p>
            <a:endParaRPr lang="en-US" sz="2400" dirty="0" smtClean="0"/>
          </a:p>
          <a:p>
            <a:endParaRPr lang="en-US" sz="2400" dirty="0" smtClean="0"/>
          </a:p>
          <a:p>
            <a:r>
              <a:rPr lang="en-US" sz="2400" dirty="0" smtClean="0"/>
              <a:t>Transaction Handshake Theorem: For </a:t>
            </a:r>
            <a:r>
              <a:rPr lang="en-US" sz="2400" i="1" dirty="0" smtClean="0">
                <a:solidFill>
                  <a:srgbClr val="C00000"/>
                </a:solidFill>
              </a:rPr>
              <a:t>every two-phase locked execution</a:t>
            </a:r>
            <a:r>
              <a:rPr lang="en-US" sz="2400" dirty="0" smtClean="0"/>
              <a:t>, there is an </a:t>
            </a:r>
            <a:r>
              <a:rPr lang="en-US" sz="2400" u="sng" dirty="0" smtClean="0"/>
              <a:t>equivalent serial execution</a:t>
            </a:r>
            <a:r>
              <a:rPr lang="en-US" sz="2400" dirty="0" smtClean="0"/>
              <a:t> that preserves all transaction handshakes.</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2152650" y="2847975"/>
            <a:ext cx="4838700" cy="2486025"/>
          </a:xfrm>
          <a:prstGeom prst="rect">
            <a:avLst/>
          </a:prstGeom>
          <a:noFill/>
          <a:ln w="9525">
            <a:noFill/>
            <a:miter lim="800000"/>
            <a:headEnd/>
            <a:tailEnd/>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Lock Managers</a:t>
            </a:r>
            <a:endParaRPr lang="en-US" dirty="0"/>
          </a:p>
        </p:txBody>
      </p:sp>
      <p:sp>
        <p:nvSpPr>
          <p:cNvPr id="3" name="Content Placeholder 2"/>
          <p:cNvSpPr>
            <a:spLocks noGrp="1"/>
          </p:cNvSpPr>
          <p:nvPr>
            <p:ph idx="1"/>
          </p:nvPr>
        </p:nvSpPr>
        <p:spPr/>
        <p:txBody>
          <a:bodyPr/>
          <a:lstStyle/>
          <a:p>
            <a:r>
              <a:rPr lang="en-US" sz="2400" dirty="0" smtClean="0"/>
              <a:t>A </a:t>
            </a:r>
            <a:r>
              <a:rPr lang="en-US" sz="2400" i="1" dirty="0" smtClean="0">
                <a:solidFill>
                  <a:srgbClr val="C00000"/>
                </a:solidFill>
              </a:rPr>
              <a:t>lock manager</a:t>
            </a:r>
            <a:r>
              <a:rPr lang="en-US" sz="2400" dirty="0" smtClean="0"/>
              <a:t> is a component that services the operations:</a:t>
            </a:r>
          </a:p>
          <a:p>
            <a:pPr lvl="1"/>
            <a:r>
              <a:rPr lang="en-US" sz="2000" dirty="0" smtClean="0"/>
              <a:t>Lock (transaction-id, data-item, lock-mode): </a:t>
            </a:r>
            <a:r>
              <a:rPr lang="en-US" sz="2000" i="1" dirty="0" smtClean="0">
                <a:solidFill>
                  <a:srgbClr val="C00000"/>
                </a:solidFill>
              </a:rPr>
              <a:t>Set a lock</a:t>
            </a:r>
            <a:r>
              <a:rPr lang="en-US" sz="2000" dirty="0" smtClean="0"/>
              <a:t> with mode lock-mode on behalf of transaction </a:t>
            </a:r>
            <a:r>
              <a:rPr lang="en-US" sz="2000" dirty="0" err="1" smtClean="0"/>
              <a:t>transaction</a:t>
            </a:r>
            <a:r>
              <a:rPr lang="en-US" sz="2000" dirty="0" smtClean="0"/>
              <a:t>-id on data-item.</a:t>
            </a:r>
          </a:p>
          <a:p>
            <a:pPr lvl="1"/>
            <a:r>
              <a:rPr lang="en-US" sz="2000" dirty="0" smtClean="0"/>
              <a:t>Unlock (transaction-id, data-item): </a:t>
            </a:r>
            <a:r>
              <a:rPr lang="en-US" sz="2000" i="1" dirty="0" smtClean="0">
                <a:solidFill>
                  <a:srgbClr val="C00000"/>
                </a:solidFill>
              </a:rPr>
              <a:t>Release</a:t>
            </a:r>
            <a:r>
              <a:rPr lang="en-US" sz="2000" dirty="0" smtClean="0"/>
              <a:t> transaction </a:t>
            </a:r>
            <a:r>
              <a:rPr lang="en-US" sz="2000" dirty="0" err="1" smtClean="0"/>
              <a:t>transaction</a:t>
            </a:r>
            <a:r>
              <a:rPr lang="en-US" sz="2000" dirty="0" smtClean="0"/>
              <a:t>-id’s lock on data-item.</a:t>
            </a:r>
          </a:p>
          <a:p>
            <a:pPr lvl="1"/>
            <a:r>
              <a:rPr lang="en-US" sz="2000" dirty="0" smtClean="0"/>
              <a:t>Unlock (transaction-id): </a:t>
            </a:r>
            <a:r>
              <a:rPr lang="en-US" sz="2000" i="1" dirty="0" smtClean="0">
                <a:solidFill>
                  <a:srgbClr val="C00000"/>
                </a:solidFill>
              </a:rPr>
              <a:t>Release all</a:t>
            </a:r>
            <a:r>
              <a:rPr lang="en-US" sz="2000" dirty="0" smtClean="0"/>
              <a:t> transaction </a:t>
            </a:r>
            <a:r>
              <a:rPr lang="en-US" sz="2000" dirty="0" err="1" smtClean="0"/>
              <a:t>transaction</a:t>
            </a:r>
            <a:r>
              <a:rPr lang="en-US" sz="2000" dirty="0" smtClean="0"/>
              <a:t>-id’s locks.</a:t>
            </a:r>
          </a:p>
          <a:p>
            <a:r>
              <a:rPr lang="en-US" sz="2400" dirty="0" smtClean="0"/>
              <a:t>The size of data items that the data manager locks is called the </a:t>
            </a:r>
            <a:r>
              <a:rPr lang="en-US" sz="2400" i="1" dirty="0" smtClean="0">
                <a:solidFill>
                  <a:srgbClr val="C00000"/>
                </a:solidFill>
              </a:rPr>
              <a:t>locking granularity</a:t>
            </a:r>
            <a:r>
              <a:rPr lang="en-US" sz="2400" dirty="0" smtClean="0"/>
              <a:t>.</a:t>
            </a:r>
          </a:p>
          <a:p>
            <a:r>
              <a:rPr lang="en-US" sz="2400" dirty="0" smtClean="0"/>
              <a:t>The data manager could lock at a </a:t>
            </a:r>
            <a:r>
              <a:rPr lang="en-US" sz="2400" i="1" dirty="0" smtClean="0">
                <a:solidFill>
                  <a:srgbClr val="C00000"/>
                </a:solidFill>
              </a:rPr>
              <a:t>coarse granularity</a:t>
            </a:r>
            <a:r>
              <a:rPr lang="en-US" sz="2400" dirty="0" smtClean="0"/>
              <a:t> such as </a:t>
            </a:r>
            <a:r>
              <a:rPr lang="en-US" sz="2400" u="sng" dirty="0" smtClean="0"/>
              <a:t>files</a:t>
            </a:r>
            <a:r>
              <a:rPr lang="en-US" sz="2400" dirty="0" smtClean="0"/>
              <a:t>, at a </a:t>
            </a:r>
            <a:r>
              <a:rPr lang="en-US" sz="2400" i="1" dirty="0" smtClean="0">
                <a:solidFill>
                  <a:srgbClr val="C00000"/>
                </a:solidFill>
              </a:rPr>
              <a:t>fine granularity</a:t>
            </a:r>
            <a:r>
              <a:rPr lang="en-US" sz="2400" dirty="0" smtClean="0"/>
              <a:t> such as </a:t>
            </a:r>
            <a:r>
              <a:rPr lang="en-US" sz="2400" u="sng" dirty="0" smtClean="0"/>
              <a:t>records</a:t>
            </a:r>
            <a:r>
              <a:rPr lang="en-US" sz="2400" dirty="0" smtClean="0"/>
              <a:t> or fields, or at an </a:t>
            </a:r>
            <a:r>
              <a:rPr lang="en-US" sz="2400" i="1" dirty="0" smtClean="0">
                <a:solidFill>
                  <a:srgbClr val="C00000"/>
                </a:solidFill>
              </a:rPr>
              <a:t>intermediate granularity</a:t>
            </a:r>
            <a:r>
              <a:rPr lang="en-US" sz="2400" dirty="0" smtClean="0"/>
              <a:t> such as </a:t>
            </a:r>
            <a:r>
              <a:rPr lang="en-US" sz="2400" u="sng" dirty="0" smtClean="0"/>
              <a:t>pages</a:t>
            </a:r>
            <a:r>
              <a:rPr lang="en-US" sz="2400" dirty="0" smtClean="0"/>
              <a:t>.</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Transactional Middleware Products</a:t>
            </a:r>
            <a:endParaRPr lang="en-US" dirty="0"/>
          </a:p>
        </p:txBody>
      </p:sp>
      <p:sp>
        <p:nvSpPr>
          <p:cNvPr id="3" name="Content Placeholder 2"/>
          <p:cNvSpPr>
            <a:spLocks noGrp="1"/>
          </p:cNvSpPr>
          <p:nvPr>
            <p:ph idx="1"/>
          </p:nvPr>
        </p:nvSpPr>
        <p:spPr/>
        <p:txBody>
          <a:bodyPr/>
          <a:lstStyle/>
          <a:p>
            <a:r>
              <a:rPr lang="en-US" sz="2400" dirty="0" smtClean="0"/>
              <a:t>Transactional middleware products provide a </a:t>
            </a:r>
            <a:r>
              <a:rPr lang="en-US" sz="2400" i="1" dirty="0" smtClean="0">
                <a:solidFill>
                  <a:srgbClr val="C00000"/>
                </a:solidFill>
              </a:rPr>
              <a:t>configurable deployment container</a:t>
            </a:r>
            <a:r>
              <a:rPr lang="en-US" sz="2400" dirty="0" smtClean="0"/>
              <a:t> for application objects.</a:t>
            </a:r>
          </a:p>
          <a:p>
            <a:r>
              <a:rPr lang="en-US" sz="2400" dirty="0" smtClean="0"/>
              <a:t>The goal of the container is to </a:t>
            </a:r>
            <a:r>
              <a:rPr lang="en-US" sz="2400" i="1" dirty="0" smtClean="0">
                <a:solidFill>
                  <a:srgbClr val="C00000"/>
                </a:solidFill>
              </a:rPr>
              <a:t>reduce complexity</a:t>
            </a:r>
            <a:r>
              <a:rPr lang="en-US" sz="2400" dirty="0" smtClean="0"/>
              <a:t> by packaging together system capabilities such as </a:t>
            </a:r>
            <a:r>
              <a:rPr lang="en-US" sz="2400" i="1" dirty="0" smtClean="0">
                <a:solidFill>
                  <a:srgbClr val="C00000"/>
                </a:solidFill>
              </a:rPr>
              <a:t>transaction control</a:t>
            </a:r>
            <a:r>
              <a:rPr lang="en-US" sz="2400" dirty="0" smtClean="0"/>
              <a:t>, </a:t>
            </a:r>
            <a:r>
              <a:rPr lang="en-US" sz="2400" i="1" dirty="0" smtClean="0">
                <a:solidFill>
                  <a:srgbClr val="C00000"/>
                </a:solidFill>
              </a:rPr>
              <a:t>threading</a:t>
            </a:r>
            <a:r>
              <a:rPr lang="en-US" sz="2400" dirty="0" smtClean="0"/>
              <a:t>, and </a:t>
            </a:r>
            <a:r>
              <a:rPr lang="en-US" sz="2400" i="1" dirty="0" smtClean="0">
                <a:solidFill>
                  <a:srgbClr val="C00000"/>
                </a:solidFill>
              </a:rPr>
              <a:t>persistence</a:t>
            </a:r>
            <a:r>
              <a:rPr lang="en-US" sz="2400" dirty="0" smtClean="0"/>
              <a:t>, and enabling a developer to customize them using configuration properties.</a:t>
            </a:r>
          </a:p>
          <a:p>
            <a:r>
              <a:rPr lang="en-US" sz="2400" i="1" dirty="0" smtClean="0">
                <a:solidFill>
                  <a:srgbClr val="C00000"/>
                </a:solidFill>
              </a:rPr>
              <a:t>Container-managed transactions (implicit programming model)</a:t>
            </a:r>
            <a:r>
              <a:rPr lang="en-US" sz="2400" dirty="0" smtClean="0"/>
              <a:t> is a model that allows an application developer to create TP programs that incorporate the business logic without describing transactional behavior (which parts of the code need to run as transactions). Transactional behavior is defined in another step using configuration properties.</a:t>
            </a:r>
            <a:endParaRPr lang="en-US"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Browsers and Multitier TP Architecture</a:t>
            </a:r>
            <a:endParaRPr lang="en-US" dirty="0"/>
          </a:p>
        </p:txBody>
      </p:sp>
      <p:sp>
        <p:nvSpPr>
          <p:cNvPr id="3" name="Content Placeholder 2"/>
          <p:cNvSpPr>
            <a:spLocks noGrp="1"/>
          </p:cNvSpPr>
          <p:nvPr>
            <p:ph idx="1"/>
          </p:nvPr>
        </p:nvSpPr>
        <p:spPr/>
        <p:txBody>
          <a:bodyPr/>
          <a:lstStyle/>
          <a:p>
            <a:r>
              <a:rPr lang="en-US" sz="2400" dirty="0" smtClean="0"/>
              <a:t>A web browser requires a web server to handle HTTP requests and replies.</a:t>
            </a:r>
          </a:p>
          <a:p>
            <a:r>
              <a:rPr lang="en-US" sz="2400" dirty="0" smtClean="0"/>
              <a:t>In the multitier architecture the web server may directly interact with the database or with one or more intermediate tiers created using transactional middleware components.</a:t>
            </a:r>
          </a:p>
          <a:p>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704850" y="3657600"/>
            <a:ext cx="7734300" cy="27432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Framework Components</a:t>
            </a:r>
            <a:endParaRPr lang="en-US" dirty="0"/>
          </a:p>
        </p:txBody>
      </p:sp>
      <p:sp>
        <p:nvSpPr>
          <p:cNvPr id="3" name="Content Placeholder 2"/>
          <p:cNvSpPr>
            <a:spLocks noGrp="1"/>
          </p:cNvSpPr>
          <p:nvPr>
            <p:ph idx="1"/>
          </p:nvPr>
        </p:nvSpPr>
        <p:spPr/>
        <p:txBody>
          <a:bodyPr/>
          <a:lstStyle/>
          <a:p>
            <a:r>
              <a:rPr lang="en-US" sz="2400" dirty="0" smtClean="0"/>
              <a:t>Windows Presentation Foundation (WPF), ASP.NET, and Silverlight for developing PC-based or browser-based </a:t>
            </a:r>
            <a:r>
              <a:rPr lang="en-US" sz="2400" i="1" dirty="0" smtClean="0">
                <a:solidFill>
                  <a:srgbClr val="C00000"/>
                </a:solidFill>
              </a:rPr>
              <a:t>front-end programs</a:t>
            </a:r>
            <a:r>
              <a:rPr lang="en-US" sz="2400" dirty="0" smtClean="0"/>
              <a:t>.</a:t>
            </a:r>
          </a:p>
          <a:p>
            <a:r>
              <a:rPr lang="en-US" sz="2400" dirty="0" smtClean="0"/>
              <a:t>Windows Communication Foundation (WCF) and the Internet Information Server (IIS) for developing and deploying </a:t>
            </a:r>
            <a:r>
              <a:rPr lang="en-US" sz="2400" i="1" dirty="0" smtClean="0">
                <a:solidFill>
                  <a:srgbClr val="C00000"/>
                </a:solidFill>
              </a:rPr>
              <a:t>request controllers and transaction servers</a:t>
            </a:r>
            <a:r>
              <a:rPr lang="en-US" sz="2400" dirty="0" smtClean="0"/>
              <a:t>.</a:t>
            </a:r>
          </a:p>
          <a:p>
            <a:r>
              <a:rPr lang="en-US" sz="2400" dirty="0" smtClean="0"/>
              <a:t>Host Integration Server (HIS) and BizTalk Server adapters for </a:t>
            </a:r>
            <a:r>
              <a:rPr lang="en-US" sz="2400" i="1" dirty="0" smtClean="0">
                <a:solidFill>
                  <a:srgbClr val="C00000"/>
                </a:solidFill>
              </a:rPr>
              <a:t>integration with legacy environments</a:t>
            </a:r>
            <a:r>
              <a:rPr lang="en-US" sz="2400" dirty="0" smtClean="0"/>
              <a:t>. </a:t>
            </a:r>
          </a:p>
          <a:p>
            <a:r>
              <a:rPr lang="en-US" sz="2400" dirty="0" smtClean="0"/>
              <a:t>Windows Workflow Foundation (WF) and WS-BPEL support in BizTalk Server for creating and executing </a:t>
            </a:r>
            <a:r>
              <a:rPr lang="en-US" sz="2400" i="1" dirty="0" smtClean="0">
                <a:solidFill>
                  <a:srgbClr val="C00000"/>
                </a:solidFill>
              </a:rPr>
              <a:t>business processes</a:t>
            </a:r>
            <a:r>
              <a:rPr lang="en-US" sz="2400" dirty="0" smtClean="0"/>
              <a:t>, including those that combine multiple services.</a:t>
            </a:r>
          </a:p>
          <a:p>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.NET Framework Multitier Transactional Middleware Architecture</a:t>
            </a:r>
            <a:endParaRPr lang="en-US" sz="4000"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endParaRPr lang="en-US" dirty="0" smtClean="0"/>
          </a:p>
          <a:p>
            <a:pPr lvl="1">
              <a:buNone/>
            </a:pPr>
            <a:endParaRPr lang="en-US" sz="2000" dirty="0"/>
          </a:p>
        </p:txBody>
      </p:sp>
      <p:pic>
        <p:nvPicPr>
          <p:cNvPr id="4" name="Picture 2"/>
          <p:cNvPicPr>
            <a:picLocks noChangeAspect="1" noChangeArrowheads="1"/>
          </p:cNvPicPr>
          <p:nvPr/>
        </p:nvPicPr>
        <p:blipFill>
          <a:blip r:embed="rId2" cstate="print"/>
          <a:srcRect/>
          <a:stretch>
            <a:fillRect/>
          </a:stretch>
        </p:blipFill>
        <p:spPr bwMode="auto">
          <a:xfrm>
            <a:off x="609600" y="1562100"/>
            <a:ext cx="7820025" cy="3086100"/>
          </a:xfrm>
          <a:prstGeom prst="rect">
            <a:avLst/>
          </a:prstGeom>
          <a:noFill/>
          <a:ln w="9525">
            <a:noFill/>
            <a:miter lim="800000"/>
            <a:headEnd/>
            <a:tailEnd/>
          </a:ln>
        </p:spPr>
      </p:pic>
      <p:pic>
        <p:nvPicPr>
          <p:cNvPr id="4098" name="Picture 2"/>
          <p:cNvPicPr>
            <a:picLocks noChangeAspect="1" noChangeArrowheads="1"/>
          </p:cNvPicPr>
          <p:nvPr/>
        </p:nvPicPr>
        <p:blipFill>
          <a:blip r:embed="rId3" cstate="print"/>
          <a:srcRect/>
          <a:stretch>
            <a:fillRect/>
          </a:stretch>
        </p:blipFill>
        <p:spPr bwMode="auto">
          <a:xfrm>
            <a:off x="2133600" y="5562600"/>
            <a:ext cx="5981700" cy="857250"/>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2057400" y="4648200"/>
            <a:ext cx="5019675" cy="619125"/>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Explicit Transaction Control</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914525" y="1676400"/>
            <a:ext cx="5314950" cy="483870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 Transaction Management</a:t>
            </a:r>
            <a:endParaRPr lang="en-US" dirty="0"/>
          </a:p>
        </p:txBody>
      </p:sp>
      <p:sp>
        <p:nvSpPr>
          <p:cNvPr id="3" name="Content Placeholder 2"/>
          <p:cNvSpPr>
            <a:spLocks noGrp="1"/>
          </p:cNvSpPr>
          <p:nvPr>
            <p:ph idx="1"/>
          </p:nvPr>
        </p:nvSpPr>
        <p:spPr/>
        <p:txBody>
          <a:bodyPr/>
          <a:lstStyle/>
          <a:p>
            <a:r>
              <a:rPr lang="en-US" sz="2400" i="1" dirty="0" smtClean="0">
                <a:solidFill>
                  <a:srgbClr val="C00000"/>
                </a:solidFill>
              </a:rPr>
              <a:t>The Microsoft Distributed Transaction Coordinator</a:t>
            </a:r>
            <a:r>
              <a:rPr lang="en-US" sz="2400" dirty="0" smtClean="0"/>
              <a:t> (DTC) that use multiple resource managers (RMs) is the general-purpose transaction manager for transactions.</a:t>
            </a:r>
          </a:p>
          <a:p>
            <a:r>
              <a:rPr lang="en-US" sz="2400" dirty="0" smtClean="0"/>
              <a:t>DTC supports any XA-compliant RM, such as Oracle Database and IBM’s DB2, and can include them within a DTC managed transaction.</a:t>
            </a:r>
          </a:p>
          <a:p>
            <a:endParaRPr lang="en-US" sz="2400" dirty="0" smtClean="0"/>
          </a:p>
          <a:p>
            <a:r>
              <a:rPr lang="en-US" sz="2400" i="1" dirty="0" smtClean="0">
                <a:solidFill>
                  <a:srgbClr val="C00000"/>
                </a:solidFill>
              </a:rPr>
              <a:t>The Lightweight Transaction Manager (LTM)</a:t>
            </a:r>
            <a:r>
              <a:rPr lang="en-US" sz="2400" dirty="0" smtClean="0"/>
              <a:t> can handle any number of volatile resources and at most one persistent resource. LTM is cheaper than DTC because it doesn’t require a log.</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EE Multitier Transactional Middleware Architecture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704850" y="1438275"/>
            <a:ext cx="7734300" cy="32099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1809750" y="4600575"/>
            <a:ext cx="6953250" cy="2028825"/>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Explicit Transaction Control</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285875" y="1990725"/>
            <a:ext cx="6572250" cy="372427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7027</TotalTime>
  <Words>2735</Words>
  <Application>Microsoft Office PowerPoint</Application>
  <PresentationFormat>On-screen Show (4:3)</PresentationFormat>
  <Paragraphs>209</Paragraphs>
  <Slides>53</Slides>
  <Notes>1</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Transactional Processing</vt:lpstr>
      <vt:lpstr>Objectives</vt:lpstr>
      <vt:lpstr>Contents</vt:lpstr>
      <vt:lpstr>References</vt:lpstr>
      <vt:lpstr>What is Business Transaction? [1]</vt:lpstr>
      <vt:lpstr>Transaction Processing Application</vt:lpstr>
      <vt:lpstr>Business Process</vt:lpstr>
      <vt:lpstr>Business Process Definition</vt:lpstr>
      <vt:lpstr>Transaction Processing System</vt:lpstr>
      <vt:lpstr>Multi-Tier TP Application Architecture</vt:lpstr>
      <vt:lpstr>Slide 11</vt:lpstr>
      <vt:lpstr>Database Transaction Example [2]</vt:lpstr>
      <vt:lpstr>What are ACID Properties?</vt:lpstr>
      <vt:lpstr>Transaction Termination</vt:lpstr>
      <vt:lpstr>Transaction Completion [3]</vt:lpstr>
      <vt:lpstr>Slide 16</vt:lpstr>
      <vt:lpstr>Atomicity Challenge [1]</vt:lpstr>
      <vt:lpstr>The Two-Phase Commit Protocol</vt:lpstr>
      <vt:lpstr>Transaction Bracketing</vt:lpstr>
      <vt:lpstr>Enabling Composability</vt:lpstr>
      <vt:lpstr>Transaction Bracketing in Object-Oriented Programming</vt:lpstr>
      <vt:lpstr>Multi-Programmed System</vt:lpstr>
      <vt:lpstr>Multithreaded Process</vt:lpstr>
      <vt:lpstr>Remote Procedure Call (RPC)</vt:lpstr>
      <vt:lpstr>Object-Oriented RPC</vt:lpstr>
      <vt:lpstr>RPC Implementation</vt:lpstr>
      <vt:lpstr>Sessions</vt:lpstr>
      <vt:lpstr>Retaining State in a Business Process</vt:lpstr>
      <vt:lpstr>Slide 29</vt:lpstr>
      <vt:lpstr>Savepoint</vt:lpstr>
      <vt:lpstr>Concurrent Subtransactions</vt:lpstr>
      <vt:lpstr>Problems with Direct TP</vt:lpstr>
      <vt:lpstr>Queued Transaction Model</vt:lpstr>
      <vt:lpstr>Running a Request as Three Transactions</vt:lpstr>
      <vt:lpstr>Broker-Based Architecture</vt:lpstr>
      <vt:lpstr>Bus-Based Architecture</vt:lpstr>
      <vt:lpstr>Slide 37</vt:lpstr>
      <vt:lpstr>Serializable Execution</vt:lpstr>
      <vt:lpstr>A Nonserializable Execution</vt:lpstr>
      <vt:lpstr>Locking</vt:lpstr>
      <vt:lpstr>Two-Phase Locking Theorem</vt:lpstr>
      <vt:lpstr>Transaction Handshakes</vt:lpstr>
      <vt:lpstr>Lock Managers</vt:lpstr>
      <vt:lpstr>Slide 44</vt:lpstr>
      <vt:lpstr>Transactional Middleware Products</vt:lpstr>
      <vt:lpstr>Web Browsers and Multitier TP Architecture</vt:lpstr>
      <vt:lpstr>.NET Framework Components</vt:lpstr>
      <vt:lpstr>.NET Framework Multitier Transactional Middleware Architecture</vt:lpstr>
      <vt:lpstr>.NET Explicit Transaction Control</vt:lpstr>
      <vt:lpstr>.NET Transaction Management</vt:lpstr>
      <vt:lpstr>Java EE Multitier Transactional Middleware Architecture</vt:lpstr>
      <vt:lpstr>Java Explicit Transaction Control</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2797</cp:revision>
  <dcterms:created xsi:type="dcterms:W3CDTF">2007-10-06T08:25:13Z</dcterms:created>
  <dcterms:modified xsi:type="dcterms:W3CDTF">2024-02-26T15:16:13Z</dcterms:modified>
</cp:coreProperties>
</file>