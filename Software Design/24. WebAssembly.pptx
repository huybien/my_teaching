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477" r:id="rId3"/>
    <p:sldId id="607" r:id="rId4"/>
    <p:sldId id="478" r:id="rId5"/>
    <p:sldId id="619" r:id="rId6"/>
    <p:sldId id="624" r:id="rId7"/>
    <p:sldId id="626" r:id="rId8"/>
    <p:sldId id="625" r:id="rId9"/>
    <p:sldId id="627" r:id="rId10"/>
    <p:sldId id="628" r:id="rId11"/>
    <p:sldId id="34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2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2649A-E8C2-4E63-847C-E3C12E2B593A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8EF7B-86DF-4AA6-9431-0AC4A373501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WebAssembly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WebAssembly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WebAssembly</a:t>
            </a:r>
            <a:r>
              <a:rPr lang="en-US" sz="2400" dirty="0" smtClean="0"/>
              <a:t>, commonly abbreviated as </a:t>
            </a:r>
            <a:r>
              <a:rPr lang="en-US" sz="2400" dirty="0" err="1" smtClean="0"/>
              <a:t>Wasm</a:t>
            </a:r>
            <a:r>
              <a:rPr lang="en-US" sz="2400" dirty="0" smtClean="0"/>
              <a:t>, is a construct that is akin to </a:t>
            </a:r>
            <a:r>
              <a:rPr lang="en-US" sz="2400" dirty="0" smtClean="0"/>
              <a:t>an instruction </a:t>
            </a:r>
            <a:r>
              <a:rPr lang="en-US" sz="2400" dirty="0" smtClean="0"/>
              <a:t>set architecture (ISA) like x86_64, aarch64 (also known as arm64), </a:t>
            </a:r>
            <a:r>
              <a:rPr lang="en-US" sz="2400" dirty="0" smtClean="0"/>
              <a:t>and others.</a:t>
            </a:r>
          </a:p>
          <a:p>
            <a:r>
              <a:rPr lang="en-US" sz="2400" dirty="0" smtClean="0"/>
              <a:t>In </a:t>
            </a:r>
            <a:r>
              <a:rPr lang="en-US" sz="2400" dirty="0" smtClean="0"/>
              <a:t>the same way you can compile your code to such architectures, you </a:t>
            </a:r>
            <a:r>
              <a:rPr lang="en-US" sz="2400" dirty="0" smtClean="0"/>
              <a:t>can compile </a:t>
            </a:r>
            <a:r>
              <a:rPr lang="en-US" sz="2400" dirty="0" smtClean="0"/>
              <a:t>your code to </a:t>
            </a:r>
            <a:r>
              <a:rPr lang="en-US" sz="2400" dirty="0" err="1" smtClean="0"/>
              <a:t>Wasm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810000"/>
            <a:ext cx="3997325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867400" y="4191000"/>
            <a:ext cx="243840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err="1" smtClean="0"/>
              <a:t>Wasm</a:t>
            </a:r>
            <a:r>
              <a:rPr lang="en-US" sz="2400" dirty="0" smtClean="0"/>
              <a:t> </a:t>
            </a:r>
            <a:r>
              <a:rPr lang="en-US" sz="2400" dirty="0" smtClean="0"/>
              <a:t>as an </a:t>
            </a:r>
            <a:r>
              <a:rPr lang="en-US" sz="2400" dirty="0" smtClean="0"/>
              <a:t>abstraction layer</a:t>
            </a:r>
          </a:p>
          <a:p>
            <a:r>
              <a:rPr lang="en-US" sz="2400" dirty="0" err="1" smtClean="0"/>
              <a:t>virtualizing</a:t>
            </a:r>
            <a:r>
              <a:rPr lang="en-US" sz="2400" dirty="0" smtClean="0"/>
              <a:t> </a:t>
            </a:r>
            <a:r>
              <a:rPr lang="en-US" sz="2400" dirty="0" smtClean="0"/>
              <a:t>over various kinds </a:t>
            </a:r>
            <a:r>
              <a:rPr lang="en-US" sz="2400" dirty="0" smtClean="0"/>
              <a:t>of hardware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WebAssembly</a:t>
            </a:r>
            <a:r>
              <a:rPr lang="en-US" dirty="0" smtClean="0"/>
              <a:t>?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</a:t>
            </a:r>
            <a:r>
              <a:rPr lang="en-US" sz="2400" dirty="0" smtClean="0"/>
              <a:t>was created to meet </a:t>
            </a:r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performance </a:t>
            </a:r>
            <a:r>
              <a:rPr lang="en-US" sz="2400" i="1" dirty="0" smtClean="0">
                <a:solidFill>
                  <a:srgbClr val="C00000"/>
                </a:solidFill>
              </a:rPr>
              <a:t>demand</a:t>
            </a:r>
            <a:r>
              <a:rPr lang="en-US" sz="2400" dirty="0" smtClean="0"/>
              <a:t> for increasingly hard computational tasks that people wanted </a:t>
            </a:r>
            <a:r>
              <a:rPr lang="en-US" sz="2400" dirty="0" smtClean="0"/>
              <a:t>to run </a:t>
            </a:r>
            <a:r>
              <a:rPr lang="en-US" sz="2400" dirty="0" smtClean="0"/>
              <a:t>in the browser, like 3D applications, audio and video software, and games, </a:t>
            </a:r>
            <a:r>
              <a:rPr lang="en-US" sz="2400" dirty="0" smtClean="0"/>
              <a:t>which JavaScript </a:t>
            </a:r>
            <a:r>
              <a:rPr lang="en-US" sz="2400" dirty="0" smtClean="0"/>
              <a:t>(i.e., the web’s only universally supported native programming </a:t>
            </a:r>
            <a:r>
              <a:rPr lang="en-US" sz="2400" dirty="0" smtClean="0"/>
              <a:t>language) could </a:t>
            </a:r>
            <a:r>
              <a:rPr lang="en-US" sz="2400" dirty="0" smtClean="0"/>
              <a:t>not handle due to its inconsistent performance and various other pitfalls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Unlike earlier attempts, such as Java applets—which also aimed to bring high-performance code to the browser but struggled with </a:t>
            </a:r>
            <a:r>
              <a:rPr lang="en-US" sz="2400" i="1" dirty="0" smtClean="0">
                <a:solidFill>
                  <a:srgbClr val="C00000"/>
                </a:solidFill>
              </a:rPr>
              <a:t>security vulnerabilities</a:t>
            </a:r>
            <a:r>
              <a:rPr lang="en-US" sz="2400" dirty="0" smtClean="0"/>
              <a:t>, </a:t>
            </a:r>
            <a:r>
              <a:rPr lang="en-US" sz="2400" dirty="0" err="1" smtClean="0"/>
              <a:t>plugin</a:t>
            </a:r>
            <a:r>
              <a:rPr lang="en-US" sz="2400" dirty="0" smtClean="0"/>
              <a:t> dependencies, and, still, inconsistent performance—</a:t>
            </a:r>
            <a:r>
              <a:rPr lang="en-US" sz="2400" dirty="0" err="1" smtClean="0"/>
              <a:t>Wasm</a:t>
            </a:r>
            <a:r>
              <a:rPr lang="en-US" sz="2400" dirty="0" smtClean="0"/>
              <a:t> offers a modern solution.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WebAssembly</a:t>
            </a:r>
            <a:r>
              <a:rPr lang="en-US" dirty="0" smtClean="0"/>
              <a:t>?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As </a:t>
            </a:r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W3C </a:t>
            </a:r>
            <a:r>
              <a:rPr lang="en-US" sz="2200" i="1" dirty="0" smtClean="0">
                <a:solidFill>
                  <a:srgbClr val="C00000"/>
                </a:solidFill>
              </a:rPr>
              <a:t>standard</a:t>
            </a:r>
            <a:r>
              <a:rPr lang="en-US" sz="2200" dirty="0" smtClean="0"/>
              <a:t>, </a:t>
            </a:r>
            <a:r>
              <a:rPr lang="en-US" sz="2200" dirty="0" err="1" smtClean="0"/>
              <a:t>Wasm</a:t>
            </a:r>
            <a:r>
              <a:rPr lang="en-US" sz="2200" dirty="0" smtClean="0"/>
              <a:t> </a:t>
            </a:r>
            <a:r>
              <a:rPr lang="en-US" sz="2200" dirty="0" smtClean="0"/>
              <a:t>is an official language of the web, alongside JS, HTML, and CSS. To </a:t>
            </a:r>
            <a:r>
              <a:rPr lang="en-US" sz="2200" dirty="0" smtClean="0"/>
              <a:t>address the </a:t>
            </a:r>
            <a:r>
              <a:rPr lang="en-US" sz="2200" dirty="0" smtClean="0"/>
              <a:t>web’s performance </a:t>
            </a:r>
            <a:r>
              <a:rPr lang="en-US" sz="2200" dirty="0" smtClean="0"/>
              <a:t>challenges, </a:t>
            </a:r>
            <a:r>
              <a:rPr lang="en-US" sz="2200" dirty="0" err="1" smtClean="0"/>
              <a:t>Wasm</a:t>
            </a:r>
            <a:r>
              <a:rPr lang="en-US" sz="2200" dirty="0" smtClean="0"/>
              <a:t> was designed </a:t>
            </a:r>
            <a:r>
              <a:rPr lang="en-US" sz="2200" dirty="0" smtClean="0"/>
              <a:t>to let </a:t>
            </a:r>
            <a:r>
              <a:rPr lang="en-US" sz="2200" dirty="0" smtClean="0"/>
              <a:t>developers </a:t>
            </a:r>
            <a:r>
              <a:rPr lang="en-US" sz="2200" i="1" dirty="0" smtClean="0">
                <a:solidFill>
                  <a:srgbClr val="C00000"/>
                </a:solidFill>
              </a:rPr>
              <a:t>compile code written</a:t>
            </a:r>
            <a:r>
              <a:rPr lang="en-US" sz="2200" dirty="0" smtClean="0"/>
              <a:t> in </a:t>
            </a:r>
            <a:r>
              <a:rPr lang="en-US" sz="2200" u="sng" dirty="0" smtClean="0"/>
              <a:t>high-performance languages</a:t>
            </a:r>
            <a:r>
              <a:rPr lang="en-US" sz="2200" dirty="0" smtClean="0"/>
              <a:t> like C, C++, </a:t>
            </a:r>
            <a:r>
              <a:rPr lang="en-US" sz="2200" dirty="0" smtClean="0"/>
              <a:t>Rust, and </a:t>
            </a:r>
            <a:r>
              <a:rPr lang="en-US" sz="2200" dirty="0" smtClean="0"/>
              <a:t>others to </a:t>
            </a:r>
            <a:r>
              <a:rPr lang="en-US" sz="2200" u="sng" dirty="0" smtClean="0"/>
              <a:t>run safely</a:t>
            </a:r>
            <a:r>
              <a:rPr lang="en-US" sz="2200" dirty="0" smtClean="0"/>
              <a:t> in the browser at near-native speeds.</a:t>
            </a:r>
            <a:endParaRPr lang="en-US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810000"/>
            <a:ext cx="3911600" cy="238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Server-Side </a:t>
            </a:r>
            <a:r>
              <a:rPr lang="en-US" dirty="0" err="1" smtClean="0"/>
              <a:t>WebAssembly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2019</a:t>
            </a:r>
            <a:r>
              <a:rPr lang="en-US" sz="2400" dirty="0" smtClean="0"/>
              <a:t>, the </a:t>
            </a:r>
            <a:r>
              <a:rPr lang="en-US" sz="2400" dirty="0" err="1" smtClean="0"/>
              <a:t>WebAssembly</a:t>
            </a:r>
            <a:r>
              <a:rPr lang="en-US" sz="2400" dirty="0" smtClean="0"/>
              <a:t> System Interface (WASI) was </a:t>
            </a:r>
            <a:r>
              <a:rPr lang="en-US" sz="2400" dirty="0" smtClean="0"/>
              <a:t>released.</a:t>
            </a:r>
          </a:p>
          <a:p>
            <a:r>
              <a:rPr lang="en-US" sz="2400" dirty="0" smtClean="0"/>
              <a:t>It </a:t>
            </a:r>
            <a:r>
              <a:rPr lang="en-US" sz="2400" dirty="0" smtClean="0"/>
              <a:t>defined an </a:t>
            </a:r>
            <a:r>
              <a:rPr lang="en-US" sz="2400" dirty="0" smtClean="0"/>
              <a:t>interface that </a:t>
            </a:r>
            <a:r>
              <a:rPr lang="en-US" sz="2400" i="1" dirty="0" err="1" smtClean="0">
                <a:solidFill>
                  <a:srgbClr val="C00000"/>
                </a:solidFill>
              </a:rPr>
              <a:t>Wasm</a:t>
            </a:r>
            <a:r>
              <a:rPr lang="en-US" sz="2400" i="1" dirty="0" smtClean="0">
                <a:solidFill>
                  <a:srgbClr val="C00000"/>
                </a:solidFill>
              </a:rPr>
              <a:t> runtimes</a:t>
            </a:r>
            <a:r>
              <a:rPr lang="en-US" sz="2400" dirty="0" smtClean="0"/>
              <a:t> can implement to enable </a:t>
            </a:r>
            <a:r>
              <a:rPr lang="en-US" sz="2400" dirty="0" err="1" smtClean="0"/>
              <a:t>Wasm</a:t>
            </a:r>
            <a:r>
              <a:rPr lang="en-US" sz="2400" dirty="0" smtClean="0"/>
              <a:t> to communicate with an </a:t>
            </a:r>
            <a:r>
              <a:rPr lang="en-US" sz="2400" dirty="0" smtClean="0"/>
              <a:t>operating system </a:t>
            </a:r>
            <a:r>
              <a:rPr lang="en-US" sz="2400" dirty="0" smtClean="0"/>
              <a:t>(OS) and run outside the </a:t>
            </a:r>
            <a:r>
              <a:rPr lang="en-US" sz="2400" dirty="0" smtClean="0"/>
              <a:t>web.</a:t>
            </a:r>
          </a:p>
          <a:p>
            <a:r>
              <a:rPr lang="en-US" sz="2400" dirty="0" smtClean="0"/>
              <a:t>In </a:t>
            </a:r>
            <a:r>
              <a:rPr lang="en-US" sz="2400" dirty="0" smtClean="0"/>
              <a:t>a browser, </a:t>
            </a:r>
            <a:r>
              <a:rPr lang="en-US" sz="2400" dirty="0" err="1" smtClean="0"/>
              <a:t>Wasm</a:t>
            </a:r>
            <a:r>
              <a:rPr lang="en-US" sz="2400" dirty="0" smtClean="0"/>
              <a:t> relies on the </a:t>
            </a:r>
            <a:r>
              <a:rPr lang="en-US" sz="2400" dirty="0" smtClean="0"/>
              <a:t>browser itself </a:t>
            </a:r>
            <a:r>
              <a:rPr lang="en-US" sz="2400" dirty="0" smtClean="0"/>
              <a:t>as </a:t>
            </a:r>
            <a:r>
              <a:rPr lang="en-US" sz="2400" dirty="0" smtClean="0"/>
              <a:t>its environment</a:t>
            </a:r>
            <a:r>
              <a:rPr lang="en-US" sz="2400" dirty="0" smtClean="0"/>
              <a:t>; </a:t>
            </a:r>
            <a:r>
              <a:rPr lang="en-US" sz="2400" u="sng" dirty="0" smtClean="0"/>
              <a:t>outside the browser</a:t>
            </a:r>
            <a:r>
              <a:rPr lang="en-US" sz="2400" dirty="0" smtClean="0"/>
              <a:t>, a </a:t>
            </a:r>
            <a:r>
              <a:rPr lang="en-US" sz="2400" i="1" dirty="0" err="1" smtClean="0">
                <a:solidFill>
                  <a:srgbClr val="C00000"/>
                </a:solidFill>
              </a:rPr>
              <a:t>Wasm</a:t>
            </a:r>
            <a:r>
              <a:rPr lang="en-US" sz="2400" i="1" dirty="0" smtClean="0">
                <a:solidFill>
                  <a:srgbClr val="C00000"/>
                </a:solidFill>
              </a:rPr>
              <a:t> runtime</a:t>
            </a:r>
            <a:r>
              <a:rPr lang="en-US" sz="2400" dirty="0" smtClean="0"/>
              <a:t>—often referred to as </a:t>
            </a:r>
            <a:r>
              <a:rPr lang="en-US" sz="2400" dirty="0" smtClean="0"/>
              <a:t>a host—serves </a:t>
            </a:r>
            <a:r>
              <a:rPr lang="en-US" sz="2400" dirty="0" smtClean="0"/>
              <a:t>the same role, providing the necessary system interactions.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</a:t>
            </a:r>
            <a:r>
              <a:rPr lang="en-US" dirty="0" smtClean="0"/>
              <a:t>and </a:t>
            </a:r>
            <a:r>
              <a:rPr lang="en-US" dirty="0" err="1" smtClean="0"/>
              <a:t>Wasm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sz="2400" dirty="0" smtClean="0"/>
              <a:t>Unlike the JVM, which requires a heavyweight </a:t>
            </a:r>
            <a:r>
              <a:rPr lang="en-US" sz="2400" dirty="0" smtClean="0"/>
              <a:t>VM, </a:t>
            </a:r>
            <a:r>
              <a:rPr lang="en-US" sz="2400" dirty="0" err="1" smtClean="0"/>
              <a:t>Wasm’s</a:t>
            </a:r>
            <a:r>
              <a:rPr lang="en-US" sz="2400" dirty="0" smtClean="0"/>
              <a:t> </a:t>
            </a:r>
            <a:r>
              <a:rPr lang="en-US" sz="2400" dirty="0" smtClean="0"/>
              <a:t>design avoids the need for a complex execution </a:t>
            </a:r>
            <a:r>
              <a:rPr lang="en-US" sz="2400" dirty="0" smtClean="0"/>
              <a:t>environment.</a:t>
            </a:r>
          </a:p>
          <a:p>
            <a:r>
              <a:rPr lang="en-US" sz="2400" dirty="0" err="1" smtClean="0"/>
              <a:t>Wasm</a:t>
            </a:r>
            <a:r>
              <a:rPr lang="en-US" sz="2400" dirty="0" smtClean="0"/>
              <a:t> is an open standard developed </a:t>
            </a:r>
            <a:r>
              <a:rPr lang="en-US" sz="2400" dirty="0" smtClean="0"/>
              <a:t>through the </a:t>
            </a:r>
            <a:r>
              <a:rPr lang="en-US" sz="2400" dirty="0" smtClean="0"/>
              <a:t>W3C with </a:t>
            </a:r>
            <a:r>
              <a:rPr lang="en-US" sz="2400" dirty="0" smtClean="0"/>
              <a:t>multivendor collaboration</a:t>
            </a:r>
            <a:r>
              <a:rPr lang="en-US" sz="2400" dirty="0" smtClean="0"/>
              <a:t>; it is not controlled by any single company.</a:t>
            </a:r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676400"/>
            <a:ext cx="3762375" cy="435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Security Model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981200"/>
            <a:ext cx="6702425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447800" y="5029200"/>
            <a:ext cx="601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A native (traditional) application </a:t>
            </a:r>
            <a:r>
              <a:rPr lang="en-US" dirty="0" smtClean="0"/>
              <a:t>security model </a:t>
            </a:r>
            <a:r>
              <a:rPr lang="en-US" dirty="0" smtClean="0"/>
              <a:t>versus </a:t>
            </a:r>
            <a:r>
              <a:rPr lang="en-US" dirty="0" err="1" smtClean="0"/>
              <a:t>Wasm’s</a:t>
            </a:r>
            <a:r>
              <a:rPr lang="en-US" dirty="0" smtClean="0"/>
              <a:t> </a:t>
            </a:r>
            <a:r>
              <a:rPr lang="en-US" dirty="0" smtClean="0"/>
              <a:t>capability-based security model.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9476</TotalTime>
  <Words>414</Words>
  <Application>Microsoft Office PowerPoint</Application>
  <PresentationFormat>On-screen Show (4:3)</PresentationFormat>
  <Paragraphs>30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WebAssembly</vt:lpstr>
      <vt:lpstr>Objectives</vt:lpstr>
      <vt:lpstr>Contents</vt:lpstr>
      <vt:lpstr>References</vt:lpstr>
      <vt:lpstr>What is WebAssembly?</vt:lpstr>
      <vt:lpstr>Why WebAssembly? (I)</vt:lpstr>
      <vt:lpstr>Why WebAssembly? (II)</vt:lpstr>
      <vt:lpstr>Server-Side WebAssembly</vt:lpstr>
      <vt:lpstr>Java and Wasm</vt:lpstr>
      <vt:lpstr>Security Model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3668</cp:revision>
  <dcterms:created xsi:type="dcterms:W3CDTF">2007-10-06T08:25:13Z</dcterms:created>
  <dcterms:modified xsi:type="dcterms:W3CDTF">2026-07-13T18:41:15Z</dcterms:modified>
</cp:coreProperties>
</file>