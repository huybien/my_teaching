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11"/>
  </p:notesMasterIdLst>
  <p:sldIdLst>
    <p:sldId id="256" r:id="rId2"/>
    <p:sldId id="477" r:id="rId3"/>
    <p:sldId id="607" r:id="rId4"/>
    <p:sldId id="478" r:id="rId5"/>
    <p:sldId id="608" r:id="rId6"/>
    <p:sldId id="650" r:id="rId7"/>
    <p:sldId id="623" r:id="rId8"/>
    <p:sldId id="651" r:id="rId9"/>
    <p:sldId id="343" r:id="rId10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606" autoAdjust="0"/>
    <p:restoredTop sz="94667" autoAdjust="0"/>
  </p:normalViewPr>
  <p:slideViewPr>
    <p:cSldViewPr>
      <p:cViewPr>
        <p:scale>
          <a:sx n="60" d="100"/>
          <a:sy n="60" d="100"/>
        </p:scale>
        <p:origin x="-1260" y="-18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276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912C56-9914-4E1B-8096-3F8D8B76373A}" type="datetimeFigureOut">
              <a:rPr lang="en-US" smtClean="0"/>
              <a:pPr/>
              <a:t>7/25/2026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7C85866-E1FF-45B8-BF0C-9A23A1C230E5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21B9AD-E267-41B8-AFB9-F339B3C6A571}" type="datetimeFigureOut">
              <a:rPr lang="en-US"/>
              <a:pPr>
                <a:defRPr/>
              </a:pPr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2FAA6B-5534-44A2-AEB6-C3AA6AD1372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3B7B48-E476-4875-A0CA-B0673732DFDD}" type="datetimeFigureOut">
              <a:rPr lang="en-US"/>
              <a:pPr>
                <a:defRPr/>
              </a:pPr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D0A623A-42AC-4D11-AF54-DB15196F08D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8F0A2C2-9A3C-44C4-9D1F-47B44EB3EF12}" type="datetimeFigureOut">
              <a:rPr lang="en-US"/>
              <a:pPr>
                <a:defRPr/>
              </a:pPr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38AB1B-E996-4ECC-822F-4BC1227516D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352965-9852-4C5D-9CFD-AA7D7C51A3F1}" type="datetimeFigureOut">
              <a:rPr lang="en-US"/>
              <a:pPr>
                <a:defRPr/>
              </a:pPr>
              <a:t>7/25/2026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C6D760F-B2EC-4EEB-B282-45333B11576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2ABA97A-E8D3-4153-8AD9-0AC754381ACA}" type="datetimeFigureOut">
              <a:rPr lang="en-US"/>
              <a:pPr>
                <a:defRPr/>
              </a:pPr>
              <a:t>7/25/2026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26E96F6-D03D-4FB0-942F-6504F81FF6F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F1E0C7-1AF5-43CF-B84A-415948674BE8}" type="datetimeFigureOut">
              <a:rPr lang="en-US"/>
              <a:pPr>
                <a:defRPr/>
              </a:pPr>
              <a:t>7/25/2026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0B45132-88B8-4DDF-85A7-99B030F49BC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F2F585-6AB3-4A98-8C00-3FB0F428366B}" type="datetimeFigureOut">
              <a:rPr lang="en-US"/>
              <a:pPr>
                <a:defRPr/>
              </a:pPr>
              <a:t>7/25/2026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DEE648-0B22-4684-A888-DEB1CE6260B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55A04C-D082-4B30-8565-236556BDD91C}" type="datetimeFigureOut">
              <a:rPr lang="en-US"/>
              <a:pPr>
                <a:defRPr/>
              </a:pPr>
              <a:t>7/25/2026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7D6D829-2DC4-4B7D-B12C-FDD216EF07F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43085A-46E4-429D-86C3-B3CDAC36DAFB}" type="datetimeFigureOut">
              <a:rPr lang="en-US"/>
              <a:pPr>
                <a:defRPr/>
              </a:pPr>
              <a:t>7/25/2026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7732C7-0A09-4095-98E8-F693C2579E3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0270D8-9F80-4CBC-9EEB-40BF8E1F9541}" type="datetimeFigureOut">
              <a:rPr lang="en-US"/>
              <a:pPr>
                <a:defRPr/>
              </a:pPr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6B142B-9F3F-466D-9D5E-77E7230DF7F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944C27D-6266-4BC5-9F9E-701F440BBF98}" type="datetimeFigureOut">
              <a:rPr lang="en-US"/>
              <a:pPr>
                <a:defRPr/>
              </a:pPr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EC74873-7D28-4297-9E3C-7A8D1F19C83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3A4E31BE-3B20-405B-8063-BB6777AF4DB8}" type="datetimeFigureOut">
              <a:rPr lang="en-US"/>
              <a:pPr>
                <a:defRPr/>
              </a:pPr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69667343-960E-49C7-A8DE-9C4E4237023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icrosoft/agent-framework/tree/main/dotnet/samples/02-agents/Harness" TargetMode="External"/><Relationship Id="rId2" Type="http://schemas.openxmlformats.org/officeDocument/2006/relationships/hyperlink" Target="https://devblogs.microsoft.com/agent-framework/the-microsoft-agent-framework-harness-is-now-released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microsoft/agent-framework/tree/main/python/samples/02-agents/harness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>
          <a:xfrm>
            <a:off x="304800" y="2130425"/>
            <a:ext cx="8534400" cy="1470025"/>
          </a:xfrm>
        </p:spPr>
        <p:txBody>
          <a:bodyPr/>
          <a:lstStyle/>
          <a:p>
            <a:r>
              <a:rPr lang="en-US" sz="6000" dirty="0" smtClean="0"/>
              <a:t>Generative AI Design Patterns</a:t>
            </a:r>
            <a:endParaRPr lang="en-US" sz="60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40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>
                <a:hlinkClick r:id="rId2"/>
              </a:rPr>
              <a:t>nhbien@fit.hcmus.edu.vn</a:t>
            </a:r>
            <a:endParaRPr lang="en-US" sz="4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905000"/>
            <a:ext cx="5410200" cy="3733800"/>
          </a:xfrm>
        </p:spPr>
        <p:txBody>
          <a:bodyPr/>
          <a:lstStyle/>
          <a:p>
            <a:pPr>
              <a:buFont typeface="Wingdings" pitchFamily="2" charset="2"/>
              <a:buChar char="Ø"/>
            </a:pPr>
            <a:endParaRPr lang="en-US" sz="2400" dirty="0" smtClean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791200" y="222885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0960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endParaRPr lang="en-US" sz="2800" dirty="0" smtClean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638800" cy="4525963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endParaRPr lang="en-US" sz="2400" dirty="0" smtClean="0"/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9600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Foundational Models [1]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3962400" cy="4525963"/>
          </a:xfrm>
        </p:spPr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Mixture of experts (</a:t>
            </a:r>
            <a:r>
              <a:rPr lang="en-US" sz="2400" i="1" dirty="0" err="1" smtClean="0">
                <a:solidFill>
                  <a:srgbClr val="C00000"/>
                </a:solidFill>
              </a:rPr>
              <a:t>MoE</a:t>
            </a:r>
            <a:r>
              <a:rPr lang="en-US" sz="2400" i="1" dirty="0" smtClean="0">
                <a:solidFill>
                  <a:srgbClr val="C00000"/>
                </a:solidFill>
              </a:rPr>
              <a:t>) model</a:t>
            </a:r>
            <a:r>
              <a:rPr lang="en-US" sz="2400" dirty="0" smtClean="0"/>
              <a:t>: an optimization that allows models to have a large number of parameters while activating only a fraction of them for each token.</a:t>
            </a:r>
            <a:endParaRPr lang="en-US" sz="2400" dirty="0">
              <a:solidFill>
                <a:srgbClr val="C00000"/>
              </a:solidFill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572000" y="1524000"/>
            <a:ext cx="3329940" cy="48869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Logits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err="1" smtClean="0">
                <a:solidFill>
                  <a:srgbClr val="C00000"/>
                </a:solidFill>
              </a:rPr>
              <a:t>Logits</a:t>
            </a:r>
            <a:r>
              <a:rPr lang="en-US" sz="2400" dirty="0" smtClean="0"/>
              <a:t> are the </a:t>
            </a:r>
            <a:r>
              <a:rPr lang="en-US" sz="2400" u="sng" dirty="0" smtClean="0"/>
              <a:t>raw</a:t>
            </a:r>
            <a:r>
              <a:rPr lang="en-US" sz="2400" dirty="0" smtClean="0"/>
              <a:t>, </a:t>
            </a:r>
            <a:r>
              <a:rPr lang="en-US" sz="2400" dirty="0" err="1" smtClean="0"/>
              <a:t>unnormalized</a:t>
            </a:r>
            <a:r>
              <a:rPr lang="en-US" sz="2400" dirty="0" smtClean="0"/>
              <a:t> </a:t>
            </a:r>
            <a:r>
              <a:rPr lang="en-US" sz="2400" u="sng" dirty="0" smtClean="0"/>
              <a:t>outputs</a:t>
            </a:r>
            <a:r>
              <a:rPr lang="en-US" sz="2400" dirty="0" smtClean="0"/>
              <a:t> from a language model’s final layer before they’re converted into probabilities.</a:t>
            </a:r>
          </a:p>
          <a:p>
            <a:r>
              <a:rPr lang="en-US" sz="2400" dirty="0" err="1" smtClean="0"/>
              <a:t>Logits</a:t>
            </a:r>
            <a:r>
              <a:rPr lang="en-US" sz="2400" dirty="0" smtClean="0"/>
              <a:t> represent the model’s assessment of how likely each token in its vocabulary is to be the next token in a sequence.</a:t>
            </a:r>
          </a:p>
          <a:p>
            <a:r>
              <a:rPr lang="en-US" sz="2400" dirty="0" smtClean="0"/>
              <a:t>The </a:t>
            </a:r>
            <a:r>
              <a:rPr lang="en-US" sz="2400" dirty="0" err="1" smtClean="0"/>
              <a:t>softmax</a:t>
            </a:r>
            <a:r>
              <a:rPr lang="en-US" sz="2400" dirty="0" smtClean="0"/>
              <a:t> of the </a:t>
            </a:r>
            <a:r>
              <a:rPr lang="en-US" sz="2400" dirty="0" err="1" smtClean="0"/>
              <a:t>logits</a:t>
            </a:r>
            <a:r>
              <a:rPr lang="en-US" sz="2400" dirty="0" smtClean="0"/>
              <a:t> gives you the probability of various continuations.</a:t>
            </a:r>
            <a:endParaRPr lang="en-US" sz="2400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62200" y="4162425"/>
            <a:ext cx="4572000" cy="2085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Agent Harness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https://devblogs.microsoft.com/agent-framework/the-microsoft-agent-framework-harness-is-now-released</a:t>
            </a:r>
            <a:r>
              <a:rPr lang="en-US" sz="2400" dirty="0" smtClean="0">
                <a:hlinkClick r:id="rId2"/>
              </a:rPr>
              <a:t>/</a:t>
            </a:r>
            <a:endParaRPr lang="en-US" sz="2400" dirty="0" smtClean="0"/>
          </a:p>
          <a:p>
            <a:r>
              <a:rPr lang="en-US" sz="2400" dirty="0" smtClean="0">
                <a:hlinkClick r:id="rId3"/>
              </a:rPr>
              <a:t>https://</a:t>
            </a:r>
            <a:r>
              <a:rPr lang="en-US" sz="2400" dirty="0" smtClean="0">
                <a:hlinkClick r:id="rId3"/>
              </a:rPr>
              <a:t>github.com/microsoft/agent-framework/tree/main/dotnet/samples/02-agents/Harness</a:t>
            </a:r>
            <a:endParaRPr lang="en-US" sz="2400" dirty="0" smtClean="0"/>
          </a:p>
          <a:p>
            <a:r>
              <a:rPr lang="en-US" sz="2400" dirty="0" smtClean="0">
                <a:hlinkClick r:id="rId4"/>
              </a:rPr>
              <a:t>https</a:t>
            </a:r>
            <a:r>
              <a:rPr lang="en-US" sz="2400" smtClean="0">
                <a:hlinkClick r:id="rId4"/>
              </a:rPr>
              <a:t>://</a:t>
            </a:r>
            <a:r>
              <a:rPr lang="en-US" sz="2400" smtClean="0">
                <a:hlinkClick r:id="rId4"/>
              </a:rPr>
              <a:t>github.com/microsoft/agent-framework/tree/main/python/samples/02-agents/harness</a:t>
            </a:r>
            <a:endParaRPr lang="en-US" sz="2400" smtClean="0"/>
          </a:p>
          <a:p>
            <a:endParaRPr lang="en-US" sz="2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11116</TotalTime>
  <Words>141</Words>
  <Application>Microsoft Office PowerPoint</Application>
  <PresentationFormat>On-screen Show (4:3)</PresentationFormat>
  <Paragraphs>21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Generative AI Design Patterns</vt:lpstr>
      <vt:lpstr>Objectives</vt:lpstr>
      <vt:lpstr>Contents</vt:lpstr>
      <vt:lpstr>References</vt:lpstr>
      <vt:lpstr>Foundational Models [1]</vt:lpstr>
      <vt:lpstr>Logits</vt:lpstr>
      <vt:lpstr>Slide 7</vt:lpstr>
      <vt:lpstr>Agent Harness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4291</cp:revision>
  <dcterms:created xsi:type="dcterms:W3CDTF">2007-10-06T08:25:13Z</dcterms:created>
  <dcterms:modified xsi:type="dcterms:W3CDTF">2026-07-24T19:12:41Z</dcterms:modified>
</cp:coreProperties>
</file>