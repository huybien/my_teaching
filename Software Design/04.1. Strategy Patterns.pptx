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86" r:id="rId3"/>
    <p:sldId id="489" r:id="rId4"/>
    <p:sldId id="498" r:id="rId5"/>
    <p:sldId id="490" r:id="rId6"/>
    <p:sldId id="480" r:id="rId7"/>
    <p:sldId id="499" r:id="rId8"/>
    <p:sldId id="505" r:id="rId9"/>
    <p:sldId id="501" r:id="rId10"/>
    <p:sldId id="502" r:id="rId11"/>
    <p:sldId id="503" r:id="rId12"/>
    <p:sldId id="491" r:id="rId13"/>
    <p:sldId id="492" r:id="rId14"/>
    <p:sldId id="504" r:id="rId15"/>
    <p:sldId id="497" r:id="rId16"/>
    <p:sldId id="494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176" autoAdjust="0"/>
    <p:restoredTop sz="94667" autoAdjust="0"/>
  </p:normalViewPr>
  <p:slideViewPr>
    <p:cSldViewPr>
      <p:cViewPr>
        <p:scale>
          <a:sx n="70" d="100"/>
          <a:sy n="70" d="100"/>
        </p:scale>
        <p:origin x="-896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hyperlink" Target="mailto:tdt@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2.doc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package" Target="../embeddings/Microsoft_Office_Word_Document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800" dirty="0" smtClean="0"/>
              <a:t>Extending the Strategy Pattern for Parameterized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r>
              <a:rPr lang="en-US" sz="2800" dirty="0" err="1" smtClean="0"/>
              <a:t>Trần</a:t>
            </a:r>
            <a:r>
              <a:rPr lang="en-US" sz="2800" dirty="0" smtClean="0"/>
              <a:t> </a:t>
            </a:r>
            <a:r>
              <a:rPr lang="en-US" sz="2800" dirty="0" err="1" smtClean="0"/>
              <a:t>Đan</a:t>
            </a:r>
            <a:r>
              <a:rPr lang="en-US" sz="2800" dirty="0" smtClean="0"/>
              <a:t> </a:t>
            </a:r>
            <a:r>
              <a:rPr lang="en-US" sz="2800" dirty="0" err="1" smtClean="0"/>
              <a:t>Thư</a:t>
            </a:r>
            <a:r>
              <a:rPr lang="en-US" sz="2800" dirty="0" smtClean="0"/>
              <a:t> and </a:t>
            </a:r>
            <a:r>
              <a:rPr lang="en-US" sz="2800" dirty="0" err="1" smtClean="0"/>
              <a:t>Ngô</a:t>
            </a:r>
            <a:r>
              <a:rPr lang="en-US" sz="2800" dirty="0" smtClean="0"/>
              <a:t> Huy </a:t>
            </a:r>
            <a:r>
              <a:rPr lang="en-US" sz="2800" dirty="0" err="1" smtClean="0"/>
              <a:t>Biên</a:t>
            </a:r>
            <a:endParaRPr lang="en-US" sz="2800" dirty="0" smtClean="0"/>
          </a:p>
          <a:p>
            <a:r>
              <a:rPr lang="en-US" sz="2800" i="1" dirty="0" smtClean="0"/>
              <a:t>The University of Natural Sciences – </a:t>
            </a:r>
            <a:r>
              <a:rPr lang="en-US" sz="2800" i="1" dirty="0" err="1" smtClean="0"/>
              <a:t>HoChiMinh</a:t>
            </a:r>
            <a:r>
              <a:rPr lang="en-US" sz="2800" i="1" dirty="0" smtClean="0"/>
              <a:t> City, Vietnam</a:t>
            </a:r>
          </a:p>
          <a:p>
            <a:r>
              <a:rPr lang="en-US" sz="2800" dirty="0" smtClean="0">
                <a:hlinkClick r:id="rId2"/>
              </a:rPr>
              <a:t>tdt@hcmus.edu.vn</a:t>
            </a:r>
            <a:r>
              <a:rPr lang="en-US" sz="2800" dirty="0" smtClean="0"/>
              <a:t>, </a:t>
            </a:r>
            <a:r>
              <a:rPr lang="en-US" sz="2800" dirty="0" smtClean="0">
                <a:hlinkClick r:id="rId3"/>
              </a:rPr>
              <a:t>nhbien@fit.hcmus.edu.vn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</a:p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Related Work</a:t>
            </a:r>
          </a:p>
          <a:p>
            <a:r>
              <a:rPr lang="en-US" dirty="0" smtClean="0"/>
              <a:t>Discussions</a:t>
            </a:r>
          </a:p>
          <a:p>
            <a:r>
              <a:rPr lang="en-US" dirty="0" smtClean="0"/>
              <a:t>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Pattern Theory</a:t>
            </a:r>
          </a:p>
          <a:p>
            <a:r>
              <a:rPr lang="en-US" dirty="0" smtClean="0"/>
              <a:t>Pattern Benefits</a:t>
            </a:r>
          </a:p>
          <a:p>
            <a:r>
              <a:rPr lang="en-US" dirty="0" smtClean="0"/>
              <a:t>Pattern Mining</a:t>
            </a:r>
          </a:p>
          <a:p>
            <a:r>
              <a:rPr lang="en-US" dirty="0" smtClean="0"/>
              <a:t>Pattern Description (aka Pattern Formalization)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Applying Patterns</a:t>
            </a:r>
          </a:p>
          <a:p>
            <a:r>
              <a:rPr lang="en-US" dirty="0" smtClean="0"/>
              <a:t>Pattern Automation (aka Pattern Tools)</a:t>
            </a:r>
          </a:p>
          <a:p>
            <a:pPr lvl="1"/>
            <a:r>
              <a:rPr lang="en-US" dirty="0" smtClean="0"/>
              <a:t>Pattern (Anti-Pattern)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Applying Patterns</a:t>
            </a:r>
          </a:p>
          <a:p>
            <a:pPr lvl="1"/>
            <a:r>
              <a:rPr lang="en-US" dirty="0" smtClean="0"/>
              <a:t>Using Existing Patterns in </a:t>
            </a:r>
            <a:r>
              <a:rPr lang="en-US" b="1" dirty="0" smtClean="0">
                <a:solidFill>
                  <a:srgbClr val="FF0000"/>
                </a:solidFill>
              </a:rPr>
              <a:t>different context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Shortcomings</a:t>
            </a:r>
            <a:r>
              <a:rPr lang="en-US" dirty="0" smtClean="0"/>
              <a:t> of Existing Patterns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</a:t>
            </a:r>
            <a:r>
              <a:rPr lang="en-US" b="1" dirty="0" smtClean="0">
                <a:solidFill>
                  <a:srgbClr val="FF0000"/>
                </a:solidFill>
              </a:rPr>
              <a:t>extend existing patterns</a:t>
            </a:r>
            <a:r>
              <a:rPr lang="en-US" dirty="0" smtClean="0"/>
              <a:t> to resolve problems in different contexts or overcome shortcomings of existing patterns?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Ognjen</a:t>
            </a:r>
            <a:r>
              <a:rPr lang="en-US" dirty="0" smtClean="0"/>
              <a:t> </a:t>
            </a:r>
            <a:r>
              <a:rPr lang="en-US" dirty="0" err="1" smtClean="0"/>
              <a:t>Sobajic</a:t>
            </a:r>
            <a:r>
              <a:rPr lang="en-US" dirty="0" smtClean="0"/>
              <a:t> et al.. </a:t>
            </a:r>
            <a:r>
              <a:rPr lang="en-US" i="1" dirty="0" smtClean="0"/>
              <a:t>Extending the Strategy Pattern for Parameterized Algorithms</a:t>
            </a:r>
            <a:r>
              <a:rPr lang="en-US" dirty="0" smtClean="0"/>
              <a:t>. 2010.</a:t>
            </a:r>
          </a:p>
          <a:p>
            <a:pPr lvl="1"/>
            <a:r>
              <a:rPr lang="en-US" dirty="0" smtClean="0"/>
              <a:t>Shortcomings of Strategy pattern</a:t>
            </a:r>
          </a:p>
          <a:p>
            <a:pPr lvl="2"/>
            <a:r>
              <a:rPr lang="en-US" dirty="0" smtClean="0"/>
              <a:t>Various algorithms with </a:t>
            </a:r>
            <a:r>
              <a:rPr lang="en-US" b="1" dirty="0" smtClean="0">
                <a:solidFill>
                  <a:srgbClr val="FF0000"/>
                </a:solidFill>
              </a:rPr>
              <a:t>different</a:t>
            </a:r>
            <a:r>
              <a:rPr lang="en-US" dirty="0" smtClean="0"/>
              <a:t> sets of </a:t>
            </a:r>
            <a:r>
              <a:rPr lang="en-US" b="1" dirty="0" smtClean="0">
                <a:solidFill>
                  <a:srgbClr val="FF0000"/>
                </a:solidFill>
              </a:rPr>
              <a:t>parameters</a:t>
            </a:r>
          </a:p>
          <a:p>
            <a:pPr lvl="2"/>
            <a:r>
              <a:rPr lang="en-US" dirty="0" smtClean="0"/>
              <a:t>Developing a context interface having the </a:t>
            </a:r>
            <a:r>
              <a:rPr lang="en-US" b="1" dirty="0" smtClean="0">
                <a:solidFill>
                  <a:srgbClr val="FF0000"/>
                </a:solidFill>
              </a:rPr>
              <a:t>union of all parameters</a:t>
            </a:r>
            <a:r>
              <a:rPr lang="en-US" dirty="0" smtClean="0"/>
              <a:t> needed by the different algorithms breaks the independence between client and the algorithm. Adding a new algorithm, whose parameters are not in the union of parameters requires some </a:t>
            </a:r>
            <a:r>
              <a:rPr lang="en-US" b="1" dirty="0" smtClean="0">
                <a:solidFill>
                  <a:srgbClr val="FF0000"/>
                </a:solidFill>
              </a:rPr>
              <a:t>changes</a:t>
            </a:r>
            <a:r>
              <a:rPr lang="en-US" dirty="0" smtClean="0"/>
              <a:t> to be made </a:t>
            </a:r>
            <a:r>
              <a:rPr lang="en-US" b="1" dirty="0" smtClean="0">
                <a:solidFill>
                  <a:srgbClr val="FF0000"/>
                </a:solidFill>
              </a:rPr>
              <a:t>on the client</a:t>
            </a:r>
            <a:r>
              <a:rPr lang="en-US" dirty="0" smtClean="0"/>
              <a:t>.</a:t>
            </a:r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2 SMS Service Providers with different method parameters</a:t>
            </a:r>
          </a:p>
          <a:p>
            <a:r>
              <a:rPr lang="en-US" dirty="0" err="1" smtClean="0"/>
              <a:t>SMSGateStrikeiron</a:t>
            </a:r>
            <a:endParaRPr lang="en-US" dirty="0" smtClean="0"/>
          </a:p>
          <a:p>
            <a:pPr lvl="1"/>
            <a:r>
              <a:rPr lang="en-US" sz="1800" dirty="0" smtClean="0"/>
              <a:t>Send(</a:t>
            </a:r>
            <a:r>
              <a:rPr lang="en-US" sz="1800" dirty="0" err="1" smtClean="0"/>
              <a:t>smsUserId</a:t>
            </a:r>
            <a:r>
              <a:rPr lang="en-US" sz="1800" dirty="0" smtClean="0"/>
              <a:t>, </a:t>
            </a:r>
            <a:r>
              <a:rPr lang="en-US" sz="1800" dirty="0" err="1" smtClean="0"/>
              <a:t>smsPassword</a:t>
            </a:r>
            <a:r>
              <a:rPr lang="en-US" sz="1800" dirty="0" smtClean="0"/>
              <a:t>, </a:t>
            </a:r>
            <a:r>
              <a:rPr lang="en-US" sz="1800" dirty="0" err="1" smtClean="0"/>
              <a:t>toNumber</a:t>
            </a:r>
            <a:r>
              <a:rPr lang="en-US" sz="1800" dirty="0" smtClean="0"/>
              <a:t>, </a:t>
            </a:r>
            <a:r>
              <a:rPr lang="en-US" sz="1800" dirty="0" err="1" smtClean="0"/>
              <a:t>fromNumber</a:t>
            </a:r>
            <a:r>
              <a:rPr lang="en-US" sz="1800" dirty="0" smtClean="0"/>
              <a:t>, </a:t>
            </a:r>
            <a:r>
              <a:rPr lang="en-US" sz="1800" dirty="0" err="1" smtClean="0"/>
              <a:t>fullName</a:t>
            </a:r>
            <a:r>
              <a:rPr lang="en-US" sz="1800" dirty="0" smtClean="0"/>
              <a:t>, message)</a:t>
            </a:r>
          </a:p>
          <a:p>
            <a:r>
              <a:rPr lang="en-US" dirty="0" err="1" smtClean="0"/>
              <a:t>SMSGateIntelliSMS</a:t>
            </a:r>
            <a:endParaRPr lang="en-US" dirty="0" smtClean="0"/>
          </a:p>
          <a:p>
            <a:pPr lvl="1"/>
            <a:r>
              <a:rPr lang="en-US" sz="1800" dirty="0" smtClean="0"/>
              <a:t>Send(</a:t>
            </a:r>
            <a:r>
              <a:rPr lang="en-US" sz="1800" dirty="0" err="1" smtClean="0"/>
              <a:t>smsUserKey</a:t>
            </a:r>
            <a:r>
              <a:rPr lang="en-US" sz="1800" dirty="0" smtClean="0"/>
              <a:t>, </a:t>
            </a:r>
            <a:r>
              <a:rPr lang="en-US" sz="1800" dirty="0" err="1" smtClean="0"/>
              <a:t>toNumber</a:t>
            </a:r>
            <a:r>
              <a:rPr lang="en-US" sz="1800" dirty="0" smtClean="0"/>
              <a:t>, </a:t>
            </a:r>
            <a:r>
              <a:rPr lang="en-US" sz="1800" dirty="0" err="1" smtClean="0"/>
              <a:t>fromNumber</a:t>
            </a:r>
            <a:r>
              <a:rPr lang="en-US" sz="1800" dirty="0" smtClean="0"/>
              <a:t>, message)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GoF</a:t>
            </a:r>
            <a:r>
              <a:rPr lang="en-US" dirty="0" smtClean="0"/>
              <a:t> Solution – Strategy Pattern</a:t>
            </a:r>
            <a:endParaRPr lang="en-US" dirty="0"/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0" y="1447800"/>
          <a:ext cx="5940425" cy="3678237"/>
        </p:xfrm>
        <a:graphic>
          <a:graphicData uri="http://schemas.openxmlformats.org/presentationml/2006/ole">
            <p:oleObj spid="_x0000_s30722" name="Document" r:id="rId3" imgW="5940848" imgH="3683393" progId="Word.Document.12">
              <p:embed/>
            </p:oleObj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3733800" y="1447800"/>
          <a:ext cx="5940425" cy="3960813"/>
        </p:xfrm>
        <a:graphic>
          <a:graphicData uri="http://schemas.openxmlformats.org/presentationml/2006/ole">
            <p:oleObj spid="_x0000_s30723" name="Document" r:id="rId4" imgW="5940848" imgH="4102674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Sobajic’s</a:t>
            </a:r>
            <a:r>
              <a:rPr lang="en-US" dirty="0" smtClean="0"/>
              <a:t>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Parameter class is an abstract class which is inherited by concrete parameter classes.</a:t>
            </a:r>
          </a:p>
          <a:p>
            <a:r>
              <a:rPr lang="en-US" sz="2400" dirty="0" smtClean="0"/>
              <a:t>Each of concrete parameter classes should represent a concrete parameter type applicable for the algorithms being used.</a:t>
            </a:r>
          </a:p>
          <a:p>
            <a:r>
              <a:rPr lang="en-US" sz="2400" dirty="0" smtClean="0"/>
              <a:t>Some of the examples are integer, floating-point number, Boolean value, string type etc.</a:t>
            </a:r>
            <a:endParaRPr lang="en-US" sz="24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038" y="4343400"/>
            <a:ext cx="77819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Resolved</a:t>
            </a:r>
            <a:endParaRPr lang="en-US" dirty="0"/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52400" y="2057400"/>
          <a:ext cx="5940425" cy="2971800"/>
        </p:xfrm>
        <a:graphic>
          <a:graphicData uri="http://schemas.openxmlformats.org/presentationml/2006/ole">
            <p:oleObj spid="_x0000_s27650" name="Document" r:id="rId3" imgW="5940848" imgH="2971013" progId="Word.Document.12">
              <p:embed/>
            </p:oleObj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886200" y="2025650"/>
          <a:ext cx="5940425" cy="3536950"/>
        </p:xfrm>
        <a:graphic>
          <a:graphicData uri="http://schemas.openxmlformats.org/presentationml/2006/ole">
            <p:oleObj spid="_x0000_s27651" name="Document" r:id="rId4" imgW="5940848" imgH="3536663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Resolved (cont.)</a:t>
            </a:r>
            <a:endParaRPr lang="en-US" dirty="0"/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601788" y="1743075"/>
          <a:ext cx="5940425" cy="3819525"/>
        </p:xfrm>
        <a:graphic>
          <a:graphicData uri="http://schemas.openxmlformats.org/presentationml/2006/ole">
            <p:oleObj spid="_x0000_s28676" name="Document" r:id="rId3" imgW="5940848" imgH="3819668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FF0000"/>
                </a:solidFill>
              </a:rPr>
              <a:t>Sobajic’s</a:t>
            </a:r>
            <a:r>
              <a:rPr lang="en-US" sz="2400" dirty="0" smtClean="0">
                <a:solidFill>
                  <a:srgbClr val="FF0000"/>
                </a:solidFill>
              </a:rPr>
              <a:t> solution does not eliminate the need to change Client when adding a new algorithm with different parameters. Supporting new parameter type requires adding new type class inheriting from Parameter, this makes the code more complex.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We can just use the old Strategy and define the parameters in </a:t>
            </a:r>
            <a:r>
              <a:rPr lang="en-US" sz="2400" dirty="0" err="1" smtClean="0">
                <a:solidFill>
                  <a:srgbClr val="FF0000"/>
                </a:solidFill>
              </a:rPr>
              <a:t>ConcreteStrategy</a:t>
            </a:r>
            <a:r>
              <a:rPr lang="en-US" sz="2400" dirty="0" smtClean="0">
                <a:solidFill>
                  <a:srgbClr val="FF0000"/>
                </a:solidFill>
              </a:rPr>
              <a:t> to support algorithms with different parameters. This solution is clearer and easier to add any new parameter type.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We can just use a list of ancestor in hierarchy objects in method parameter to support algorithms with different parameters. This solution is simpler and easier to add any new parameter type.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 1</a:t>
            </a:r>
            <a:endParaRPr lang="en-US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533400" y="1600200"/>
          <a:ext cx="5940425" cy="4668838"/>
        </p:xfrm>
        <a:graphic>
          <a:graphicData uri="http://schemas.openxmlformats.org/presentationml/2006/ole">
            <p:oleObj spid="_x0000_s6146" name="Document" r:id="rId3" imgW="5940848" imgH="4668684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495800" y="1371600"/>
            <a:ext cx="4419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We just use the old Strategy and define the parameters in </a:t>
            </a:r>
            <a:r>
              <a:rPr lang="en-US" sz="2400" dirty="0" err="1" smtClean="0">
                <a:solidFill>
                  <a:srgbClr val="FF0000"/>
                </a:solidFill>
                <a:latin typeface="+mj-lt"/>
              </a:rPr>
              <a:t>ConcreteStrategy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to support algorithms with different parameters. 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When we initialize new </a:t>
            </a:r>
            <a:r>
              <a:rPr lang="en-US" sz="2400" dirty="0" err="1" smtClean="0">
                <a:solidFill>
                  <a:srgbClr val="FF0000"/>
                </a:solidFill>
                <a:latin typeface="+mj-lt"/>
              </a:rPr>
              <a:t>ConcreteStrategy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instance we also set the parameters’ values for it.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This solution is clearer and easier to add any new parameter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 2</a:t>
            </a:r>
            <a:endParaRPr lang="en-US" dirty="0"/>
          </a:p>
        </p:txBody>
      </p:sp>
      <p:graphicFrame>
        <p:nvGraphicFramePr>
          <p:cNvPr id="6145" name="Object 1"/>
          <p:cNvGraphicFramePr>
            <a:graphicFrameLocks noChangeAspect="1"/>
          </p:cNvGraphicFramePr>
          <p:nvPr/>
        </p:nvGraphicFramePr>
        <p:xfrm>
          <a:off x="381000" y="1752600"/>
          <a:ext cx="5940425" cy="3819525"/>
        </p:xfrm>
        <a:graphic>
          <a:graphicData uri="http://schemas.openxmlformats.org/presentationml/2006/ole">
            <p:oleObj spid="_x0000_s29698" name="Document" r:id="rId3" imgW="5940848" imgH="3819668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4953000" y="1600200"/>
            <a:ext cx="3733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We just use the old Strategy and use a list of ancestor in hierarchy objects in method parameter to support algorithms with different parameters.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This solution is simpler and easier to add any new parameter type.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</a:t>
            </a:r>
            <a:r>
              <a:rPr lang="en-US" smtClean="0"/>
              <a:t>and 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Eric Gamma, Richard Helm, Ralph Johnson, and John </a:t>
            </a:r>
            <a:r>
              <a:rPr lang="en-US" dirty="0" err="1" smtClean="0"/>
              <a:t>Vlissides</a:t>
            </a:r>
            <a:r>
              <a:rPr lang="en-US" dirty="0" smtClean="0"/>
              <a:t>. </a:t>
            </a:r>
            <a:r>
              <a:rPr lang="en-US" i="1" dirty="0" smtClean="0"/>
              <a:t>Design Patterns: Elements of Reusable Object-Oriented Software</a:t>
            </a:r>
            <a:r>
              <a:rPr lang="en-US" dirty="0" smtClean="0"/>
              <a:t>. 1995.</a:t>
            </a:r>
            <a:endParaRPr lang="en-US" smtClean="0"/>
          </a:p>
          <a:p>
            <a:r>
              <a:rPr lang="en-US" smtClean="0"/>
              <a:t>Ognjen</a:t>
            </a:r>
            <a:r>
              <a:rPr lang="en-US" dirty="0" smtClean="0"/>
              <a:t> </a:t>
            </a:r>
            <a:r>
              <a:rPr lang="en-US" dirty="0" err="1" smtClean="0"/>
              <a:t>Sobajic</a:t>
            </a:r>
            <a:r>
              <a:rPr lang="en-US" dirty="0" smtClean="0"/>
              <a:t> et al.. </a:t>
            </a:r>
            <a:r>
              <a:rPr lang="en-US" i="1" dirty="0" smtClean="0"/>
              <a:t>Extending the Strategy Pattern for Parameterized Algorithms</a:t>
            </a:r>
            <a:r>
              <a:rPr lang="en-US" dirty="0" smtClean="0"/>
              <a:t>. 2010.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8922</TotalTime>
  <Words>514</Words>
  <Application>Microsoft Office PowerPoint</Application>
  <PresentationFormat>On-screen Show (4:3)</PresentationFormat>
  <Paragraphs>57</Paragraphs>
  <Slides>16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Document</vt:lpstr>
      <vt:lpstr>Extending the Strategy Pattern for Parameterized Algorithms</vt:lpstr>
      <vt:lpstr>Contents</vt:lpstr>
      <vt:lpstr>Context</vt:lpstr>
      <vt:lpstr>Context (cont.)</vt:lpstr>
      <vt:lpstr>Problem Statement</vt:lpstr>
      <vt:lpstr>Related Work</vt:lpstr>
      <vt:lpstr>Example of Problem</vt:lpstr>
      <vt:lpstr>GoF Solution – Strategy Pattern</vt:lpstr>
      <vt:lpstr>Sobajic’s Solution</vt:lpstr>
      <vt:lpstr>Example Resolved</vt:lpstr>
      <vt:lpstr>Example Resolved (cont.)</vt:lpstr>
      <vt:lpstr>Discussions</vt:lpstr>
      <vt:lpstr>Proposed Solution 1</vt:lpstr>
      <vt:lpstr>Proposed Solution 2</vt:lpstr>
      <vt:lpstr>Questions and Answers</vt:lpstr>
      <vt:lpstr>References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2665</cp:revision>
  <dcterms:created xsi:type="dcterms:W3CDTF">2007-10-06T08:25:13Z</dcterms:created>
  <dcterms:modified xsi:type="dcterms:W3CDTF">2023-04-20T19:51:52Z</dcterms:modified>
</cp:coreProperties>
</file>