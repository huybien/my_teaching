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6"/>
  </p:notesMasterIdLst>
  <p:handoutMasterIdLst>
    <p:handoutMasterId r:id="rId57"/>
  </p:handoutMasterIdLst>
  <p:sldIdLst>
    <p:sldId id="256" r:id="rId2"/>
    <p:sldId id="480" r:id="rId3"/>
    <p:sldId id="713" r:id="rId4"/>
    <p:sldId id="712" r:id="rId5"/>
    <p:sldId id="811" r:id="rId6"/>
    <p:sldId id="812" r:id="rId7"/>
    <p:sldId id="815" r:id="rId8"/>
    <p:sldId id="772" r:id="rId9"/>
    <p:sldId id="773" r:id="rId10"/>
    <p:sldId id="774" r:id="rId11"/>
    <p:sldId id="775" r:id="rId12"/>
    <p:sldId id="793" r:id="rId13"/>
    <p:sldId id="777" r:id="rId14"/>
    <p:sldId id="776" r:id="rId15"/>
    <p:sldId id="785" r:id="rId16"/>
    <p:sldId id="787" r:id="rId17"/>
    <p:sldId id="786" r:id="rId18"/>
    <p:sldId id="788" r:id="rId19"/>
    <p:sldId id="790" r:id="rId20"/>
    <p:sldId id="791" r:id="rId21"/>
    <p:sldId id="792" r:id="rId22"/>
    <p:sldId id="807" r:id="rId23"/>
    <p:sldId id="808" r:id="rId24"/>
    <p:sldId id="817" r:id="rId25"/>
    <p:sldId id="784" r:id="rId26"/>
    <p:sldId id="816" r:id="rId27"/>
    <p:sldId id="778" r:id="rId28"/>
    <p:sldId id="795" r:id="rId29"/>
    <p:sldId id="779" r:id="rId30"/>
    <p:sldId id="796" r:id="rId31"/>
    <p:sldId id="780" r:id="rId32"/>
    <p:sldId id="797" r:id="rId33"/>
    <p:sldId id="781" r:id="rId34"/>
    <p:sldId id="798" r:id="rId35"/>
    <p:sldId id="799" r:id="rId36"/>
    <p:sldId id="804" r:id="rId37"/>
    <p:sldId id="805" r:id="rId38"/>
    <p:sldId id="782" r:id="rId39"/>
    <p:sldId id="800" r:id="rId40"/>
    <p:sldId id="801" r:id="rId41"/>
    <p:sldId id="783" r:id="rId42"/>
    <p:sldId id="818" r:id="rId43"/>
    <p:sldId id="806" r:id="rId44"/>
    <p:sldId id="819" r:id="rId45"/>
    <p:sldId id="820" r:id="rId46"/>
    <p:sldId id="794" r:id="rId47"/>
    <p:sldId id="766" r:id="rId48"/>
    <p:sldId id="771" r:id="rId49"/>
    <p:sldId id="809" r:id="rId50"/>
    <p:sldId id="767" r:id="rId51"/>
    <p:sldId id="768" r:id="rId52"/>
    <p:sldId id="810" r:id="rId53"/>
    <p:sldId id="770" r:id="rId54"/>
    <p:sldId id="359" r:id="rId5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autoAdjust="0"/>
    <p:restoredTop sz="94667" autoAdjust="0"/>
  </p:normalViewPr>
  <p:slideViewPr>
    <p:cSldViewPr>
      <p:cViewPr>
        <p:scale>
          <a:sx n="50" d="100"/>
          <a:sy n="50" d="100"/>
        </p:scale>
        <p:origin x="-160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B5CE0D-E8F9-4F17-B1ED-147CA73C5D15}" type="datetimeFigureOut">
              <a:rPr lang="en-US" smtClean="0"/>
              <a:pPr/>
              <a:t>4/15/2025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6071A1A-C7CB-4206-B7C5-2991EE438890}"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4/15/2025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4/15/2025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4/15/2025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4/15/2025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Architecture Design Methods</a:t>
            </a:r>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6229350" y="2609850"/>
            <a:ext cx="2762250" cy="21145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6019800" cy="4648200"/>
          </a:xfrm>
        </p:spPr>
        <p:txBody>
          <a:bodyPr/>
          <a:lstStyle/>
          <a:p>
            <a:pPr marL="457200" indent="-457200">
              <a:buFont typeface="Wingdings" pitchFamily="2" charset="2"/>
              <a:buChar char="Ø"/>
            </a:pPr>
            <a:r>
              <a:rPr lang="en-US" sz="2400" dirty="0" smtClean="0"/>
              <a:t>To apply </a:t>
            </a:r>
            <a:r>
              <a:rPr lang="en-US" sz="2400" i="1" dirty="0" smtClean="0">
                <a:solidFill>
                  <a:srgbClr val="C00000"/>
                </a:solidFill>
              </a:rPr>
              <a:t>systematic methods</a:t>
            </a:r>
            <a:r>
              <a:rPr lang="en-US" sz="2400" dirty="0" smtClean="0"/>
              <a:t> to create a software architecture.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r>
              <a:rPr lang="en-US" sz="2400" dirty="0" smtClean="0"/>
              <a:t>The Attribute-Driven Design </a:t>
            </a:r>
            <a:br>
              <a:rPr lang="en-US" sz="2400" dirty="0" smtClean="0"/>
            </a:br>
            <a:r>
              <a:rPr lang="en-US" sz="2400" dirty="0" smtClean="0"/>
              <a:t>(ADD) Method.</a:t>
            </a:r>
          </a:p>
          <a:p>
            <a:pPr marL="571500" indent="-571500">
              <a:buFont typeface="+mj-lt"/>
              <a:buAutoNum type="romanUcPeriod"/>
            </a:pPr>
            <a:r>
              <a:rPr lang="en-US" sz="2400" dirty="0" smtClean="0"/>
              <a:t>Viewpoints and Perspectives.</a:t>
            </a:r>
          </a:p>
          <a:p>
            <a:pPr marL="571500" indent="-571500">
              <a:buFont typeface="+mj-lt"/>
              <a:buAutoNum type="romanUcPeriod"/>
            </a:pPr>
            <a:endParaRPr lang="en-US" sz="2400" dirty="0" smtClean="0"/>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6096000" cy="4525963"/>
          </a:xfrm>
        </p:spPr>
        <p:txBody>
          <a:bodyPr/>
          <a:lstStyle/>
          <a:p>
            <a:pPr marL="457200" lvl="0" indent="-457200">
              <a:buFont typeface="+mj-lt"/>
              <a:buAutoNum type="arabicPeriod"/>
            </a:pPr>
            <a:r>
              <a:rPr lang="en-US" sz="1800" dirty="0" smtClean="0"/>
              <a:t>Philippe </a:t>
            </a:r>
            <a:r>
              <a:rPr lang="en-US" sz="1800" dirty="0" err="1" smtClean="0"/>
              <a:t>Kruchten</a:t>
            </a:r>
            <a:r>
              <a:rPr lang="en-US" sz="1800" dirty="0" smtClean="0"/>
              <a:t> (1995). Mommy, Where Do Software Architectures Come From.</a:t>
            </a:r>
          </a:p>
          <a:p>
            <a:pPr marL="457200" lvl="0" indent="-457200">
              <a:buFont typeface="+mj-lt"/>
              <a:buAutoNum type="arabicPeriod"/>
            </a:pPr>
            <a:r>
              <a:rPr lang="en-US" sz="1800" dirty="0" err="1" smtClean="0"/>
              <a:t>Humberto</a:t>
            </a:r>
            <a:r>
              <a:rPr lang="en-US" sz="1800" dirty="0" smtClean="0"/>
              <a:t> Cervantes and Rick </a:t>
            </a:r>
            <a:r>
              <a:rPr lang="en-US" sz="1800" dirty="0" err="1" smtClean="0"/>
              <a:t>Kazman</a:t>
            </a:r>
            <a:r>
              <a:rPr lang="en-US" sz="1800" dirty="0" smtClean="0"/>
              <a:t> (2016). Designing Software Architectures - A Practical Approach. Addison-Wesley Professional.</a:t>
            </a:r>
          </a:p>
          <a:p>
            <a:pPr marL="457200" lvl="0" indent="-457200">
              <a:buFont typeface="+mj-lt"/>
              <a:buAutoNum type="arabicPeriod"/>
            </a:pPr>
            <a:r>
              <a:rPr lang="en-US" sz="1800" dirty="0" smtClean="0"/>
              <a:t>Christine </a:t>
            </a:r>
            <a:r>
              <a:rPr lang="en-US" sz="1800" dirty="0" err="1" smtClean="0"/>
              <a:t>Hofmeister</a:t>
            </a:r>
            <a:r>
              <a:rPr lang="en-US" sz="1800" dirty="0" smtClean="0"/>
              <a:t> et al. (2007). A General Model of Software Architecture Design Derived From Five Industrial Approaches.</a:t>
            </a:r>
          </a:p>
          <a:p>
            <a:pPr marL="457200" indent="-457200">
              <a:buFont typeface="+mj-lt"/>
              <a:buAutoNum type="arabicPeriod"/>
            </a:pPr>
            <a:r>
              <a:rPr lang="en-US" sz="1800" dirty="0" smtClean="0"/>
              <a:t>Nick </a:t>
            </a:r>
            <a:r>
              <a:rPr lang="en-US" sz="1800" dirty="0" err="1" smtClean="0"/>
              <a:t>Rozanski</a:t>
            </a:r>
            <a:r>
              <a:rPr lang="en-US" sz="1800" dirty="0" smtClean="0"/>
              <a:t> and </a:t>
            </a:r>
            <a:r>
              <a:rPr lang="en-US" sz="1800" dirty="0" err="1" smtClean="0"/>
              <a:t>Eoin</a:t>
            </a:r>
            <a:r>
              <a:rPr lang="en-US" sz="1800" dirty="0" smtClean="0"/>
              <a:t> Woods (2012). Software Systems Architecture: Working with Stakeholders Using Viewpoints and Perspectives. Addison-Wesley Professional.</a:t>
            </a:r>
          </a:p>
          <a:p>
            <a:pPr marL="457200" lvl="0" indent="-457200">
              <a:buFont typeface="+mj-lt"/>
              <a:buAutoNum type="arabicPeriod"/>
            </a:pPr>
            <a:r>
              <a:rPr lang="en-US" sz="1800" dirty="0" smtClean="0"/>
              <a:t>Daniel </a:t>
            </a:r>
            <a:r>
              <a:rPr lang="en-US" sz="1800" dirty="0" err="1" smtClean="0"/>
              <a:t>Perovich</a:t>
            </a:r>
            <a:r>
              <a:rPr lang="en-US" sz="1800" dirty="0" smtClean="0"/>
              <a:t> et al. (2009). Model-Driven Approach to Software Architecture Design.</a:t>
            </a:r>
          </a:p>
          <a:p>
            <a:pPr marL="457200" indent="-457200">
              <a:buFont typeface="+mj-lt"/>
              <a:buAutoNum type="arabicPeriod"/>
            </a:pPr>
            <a:r>
              <a:rPr lang="en-US" sz="1800" dirty="0" smtClean="0"/>
              <a:t>Jan Bosch and Peter </a:t>
            </a:r>
            <a:r>
              <a:rPr lang="en-US" sz="1800" dirty="0" err="1" smtClean="0"/>
              <a:t>Molin</a:t>
            </a:r>
            <a:r>
              <a:rPr lang="en-US" sz="1800" dirty="0" smtClean="0"/>
              <a:t> (1999). Software Architecture Design Evaluation and Transformation.</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781800" y="2286000"/>
            <a:ext cx="1997710" cy="303149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Sources [1]</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371600" y="2209800"/>
            <a:ext cx="6163945" cy="320071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Attribute-Driven Design (ADD) Method</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attribute-driven design (ADD) method</a:t>
            </a:r>
            <a:r>
              <a:rPr lang="en-US" sz="2400" dirty="0" smtClean="0"/>
              <a:t> can be used for creating</a:t>
            </a:r>
          </a:p>
          <a:p>
            <a:pPr lvl="1"/>
            <a:r>
              <a:rPr lang="en-US" sz="2000" dirty="0" smtClean="0"/>
              <a:t>the design of a </a:t>
            </a:r>
            <a:r>
              <a:rPr lang="en-US" sz="2000" i="1" dirty="0" err="1" smtClean="0">
                <a:solidFill>
                  <a:srgbClr val="C00000"/>
                </a:solidFill>
              </a:rPr>
              <a:t>greenfield</a:t>
            </a:r>
            <a:r>
              <a:rPr lang="en-US" sz="2000" dirty="0" smtClean="0"/>
              <a:t> system for a </a:t>
            </a:r>
            <a:r>
              <a:rPr lang="en-US" sz="2000" i="1" dirty="0" smtClean="0">
                <a:solidFill>
                  <a:srgbClr val="C00000"/>
                </a:solidFill>
              </a:rPr>
              <a:t>mature</a:t>
            </a:r>
            <a:r>
              <a:rPr lang="en-US" sz="2000" dirty="0" smtClean="0"/>
              <a:t> (i.e., well-known) domain.</a:t>
            </a:r>
          </a:p>
          <a:p>
            <a:pPr lvl="1"/>
            <a:r>
              <a:rPr lang="en-US" sz="2000" dirty="0" smtClean="0"/>
              <a:t>the design of a </a:t>
            </a:r>
            <a:r>
              <a:rPr lang="en-US" sz="2000" i="1" dirty="0" err="1" smtClean="0">
                <a:solidFill>
                  <a:srgbClr val="C00000"/>
                </a:solidFill>
              </a:rPr>
              <a:t>greenfield</a:t>
            </a:r>
            <a:r>
              <a:rPr lang="en-US" sz="2000" dirty="0" smtClean="0"/>
              <a:t> system for a domain that is </a:t>
            </a:r>
            <a:r>
              <a:rPr lang="en-US" sz="2000" i="1" dirty="0" smtClean="0">
                <a:solidFill>
                  <a:srgbClr val="C00000"/>
                </a:solidFill>
              </a:rPr>
              <a:t>novel</a:t>
            </a:r>
            <a:r>
              <a:rPr lang="en-US" sz="2000" dirty="0" smtClean="0"/>
              <a:t> (i.e., a domain that has a less established infrastructure and knowledge base)</a:t>
            </a:r>
          </a:p>
          <a:p>
            <a:pPr lvl="1"/>
            <a:r>
              <a:rPr lang="en-US" sz="2000" dirty="0" smtClean="0"/>
              <a:t>the design for making changes to an </a:t>
            </a:r>
            <a:r>
              <a:rPr lang="en-US" sz="2000" i="1" dirty="0" smtClean="0">
                <a:solidFill>
                  <a:srgbClr val="C00000"/>
                </a:solidFill>
              </a:rPr>
              <a:t>existing</a:t>
            </a:r>
            <a:r>
              <a:rPr lang="en-US" sz="2000" dirty="0" smtClean="0"/>
              <a:t> system (</a:t>
            </a:r>
            <a:r>
              <a:rPr lang="en-US" sz="2000" i="1" dirty="0" err="1" smtClean="0">
                <a:solidFill>
                  <a:srgbClr val="C00000"/>
                </a:solidFill>
              </a:rPr>
              <a:t>brownfield</a:t>
            </a:r>
            <a:r>
              <a:rPr lang="en-US" sz="2000" dirty="0" smtClean="0"/>
              <a:t>).</a:t>
            </a:r>
          </a:p>
          <a:p>
            <a:r>
              <a:rPr lang="en-US" sz="2400" dirty="0" smtClean="0"/>
              <a:t>Each one of these categories involves a </a:t>
            </a:r>
            <a:r>
              <a:rPr lang="en-US" sz="2400" i="1" dirty="0" smtClean="0">
                <a:solidFill>
                  <a:srgbClr val="C00000"/>
                </a:solidFill>
              </a:rPr>
              <a:t>different roadmap</a:t>
            </a:r>
            <a:r>
              <a:rPr lang="en-US" sz="2400" dirty="0" smtClean="0"/>
              <a:t> in terms of the sequence of goals that you should perform across the design iterations.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of Greenfield Systems for Mature Domains [2]</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600200" y="1828800"/>
            <a:ext cx="6118860" cy="462153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of Greenfield Systems for Novel Domains</a:t>
            </a:r>
            <a:endParaRPr lang="en-US" dirty="0"/>
          </a:p>
        </p:txBody>
      </p:sp>
      <p:sp>
        <p:nvSpPr>
          <p:cNvPr id="3" name="Content Placeholder 2"/>
          <p:cNvSpPr>
            <a:spLocks noGrp="1"/>
          </p:cNvSpPr>
          <p:nvPr>
            <p:ph idx="1"/>
          </p:nvPr>
        </p:nvSpPr>
        <p:spPr>
          <a:xfrm>
            <a:off x="457200" y="1600200"/>
            <a:ext cx="5562600" cy="4525963"/>
          </a:xfrm>
        </p:spPr>
        <p:txBody>
          <a:bodyPr/>
          <a:lstStyle/>
          <a:p>
            <a:r>
              <a:rPr lang="en-US" sz="2400" i="1" dirty="0" smtClean="0">
                <a:solidFill>
                  <a:srgbClr val="C00000"/>
                </a:solidFill>
              </a:rPr>
              <a:t>Reference architectures</a:t>
            </a:r>
            <a:r>
              <a:rPr lang="en-US" sz="2400" dirty="0" smtClean="0"/>
              <a:t> may </a:t>
            </a:r>
            <a:r>
              <a:rPr lang="en-US" sz="2400" u="sng" dirty="0" smtClean="0"/>
              <a:t>not</a:t>
            </a:r>
            <a:r>
              <a:rPr lang="en-US" sz="2400" dirty="0" smtClean="0"/>
              <a:t> exist and there may be </a:t>
            </a:r>
            <a:r>
              <a:rPr lang="en-US" sz="2400" u="sng" dirty="0" smtClean="0"/>
              <a:t>few</a:t>
            </a:r>
            <a:r>
              <a:rPr lang="en-US" sz="2400" dirty="0" smtClean="0"/>
              <a:t>, if any, </a:t>
            </a:r>
            <a:r>
              <a:rPr lang="en-US" sz="2400" i="1" dirty="0" smtClean="0">
                <a:solidFill>
                  <a:srgbClr val="C00000"/>
                </a:solidFill>
              </a:rPr>
              <a:t>externally developed components</a:t>
            </a:r>
            <a:r>
              <a:rPr lang="en-US" sz="2400" dirty="0" smtClean="0"/>
              <a:t>.</a:t>
            </a:r>
          </a:p>
          <a:p>
            <a:r>
              <a:rPr lang="en-US" sz="2400" dirty="0" smtClean="0"/>
              <a:t>General-purpose design concepts such as </a:t>
            </a:r>
            <a:r>
              <a:rPr lang="en-US" sz="2400" i="1" dirty="0" smtClean="0">
                <a:solidFill>
                  <a:srgbClr val="C00000"/>
                </a:solidFill>
              </a:rPr>
              <a:t>tactics</a:t>
            </a:r>
            <a:r>
              <a:rPr lang="en-US" sz="2400" dirty="0" smtClean="0"/>
              <a:t> and </a:t>
            </a:r>
            <a:r>
              <a:rPr lang="en-US" sz="2400" i="1" dirty="0" smtClean="0">
                <a:solidFill>
                  <a:srgbClr val="C00000"/>
                </a:solidFill>
              </a:rPr>
              <a:t>patterns</a:t>
            </a:r>
            <a:r>
              <a:rPr lang="en-US" sz="2400" dirty="0" smtClean="0"/>
              <a:t> can guide you.</a:t>
            </a:r>
          </a:p>
          <a:p>
            <a:r>
              <a:rPr lang="en-US" sz="2400" dirty="0" smtClean="0"/>
              <a:t>Your design goal will focus on </a:t>
            </a:r>
            <a:r>
              <a:rPr lang="en-US" sz="2400" i="1" dirty="0" smtClean="0">
                <a:solidFill>
                  <a:srgbClr val="C00000"/>
                </a:solidFill>
              </a:rPr>
              <a:t>the creation of prototypes</a:t>
            </a:r>
            <a:r>
              <a:rPr lang="en-US" sz="2400" dirty="0" smtClean="0"/>
              <a:t> so that you can explore possible solutions to the challenge that you are facing.</a:t>
            </a:r>
            <a:endParaRPr lang="en-US" sz="2400" dirty="0"/>
          </a:p>
        </p:txBody>
      </p:sp>
      <p:pic>
        <p:nvPicPr>
          <p:cNvPr id="2050" name="Picture 2" descr="https://researchdigest.files.wordpress.com/2019/09/gettyimages-1133176165.jpg"/>
          <p:cNvPicPr>
            <a:picLocks noChangeAspect="1" noChangeArrowheads="1"/>
          </p:cNvPicPr>
          <p:nvPr/>
        </p:nvPicPr>
        <p:blipFill>
          <a:blip r:embed="rId2" cstate="print"/>
          <a:srcRect/>
          <a:stretch>
            <a:fillRect/>
          </a:stretch>
        </p:blipFill>
        <p:spPr bwMode="auto">
          <a:xfrm>
            <a:off x="6096000" y="2438400"/>
            <a:ext cx="2248281" cy="237096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for an Existing System (Brownfield)</a:t>
            </a:r>
            <a:endParaRPr lang="en-US" dirty="0"/>
          </a:p>
        </p:txBody>
      </p:sp>
      <p:sp>
        <p:nvSpPr>
          <p:cNvPr id="3" name="Content Placeholder 2"/>
          <p:cNvSpPr>
            <a:spLocks noGrp="1"/>
          </p:cNvSpPr>
          <p:nvPr>
            <p:ph idx="1"/>
          </p:nvPr>
        </p:nvSpPr>
        <p:spPr/>
        <p:txBody>
          <a:bodyPr/>
          <a:lstStyle/>
          <a:p>
            <a:r>
              <a:rPr lang="en-US" sz="2400" dirty="0" smtClean="0"/>
              <a:t>You may also be making architectural changes to an existing system for the purpose of </a:t>
            </a:r>
            <a:r>
              <a:rPr lang="en-US" sz="2400" i="1" dirty="0" smtClean="0">
                <a:solidFill>
                  <a:srgbClr val="C00000"/>
                </a:solidFill>
              </a:rPr>
              <a:t>refactoring</a:t>
            </a:r>
            <a:r>
              <a:rPr lang="en-US" sz="2400" dirty="0" smtClean="0"/>
              <a:t>.</a:t>
            </a:r>
          </a:p>
          <a:p>
            <a:r>
              <a:rPr lang="en-US" sz="2400" dirty="0" smtClean="0"/>
              <a:t>When refactoring, you change the architecture of an existing system, </a:t>
            </a:r>
            <a:r>
              <a:rPr lang="en-US" sz="2400" i="1" dirty="0" smtClean="0">
                <a:solidFill>
                  <a:srgbClr val="C00000"/>
                </a:solidFill>
              </a:rPr>
              <a:t>without</a:t>
            </a:r>
            <a:r>
              <a:rPr lang="en-US" sz="2400" dirty="0" smtClean="0"/>
              <a:t> altering its functions, to reduce technical debt, to introduce technology updates, or to fix quality attribute problems.</a:t>
            </a:r>
            <a:endParaRPr lang="en-US" sz="2400" dirty="0"/>
          </a:p>
        </p:txBody>
      </p:sp>
      <p:pic>
        <p:nvPicPr>
          <p:cNvPr id="29698" name="Picture 2" descr="https://cdn.lynda.com/course/779755/779755-637286261849415609-16x9.jpg"/>
          <p:cNvPicPr>
            <a:picLocks noChangeAspect="1" noChangeArrowheads="1"/>
          </p:cNvPicPr>
          <p:nvPr/>
        </p:nvPicPr>
        <p:blipFill>
          <a:blip r:embed="rId2" cstate="print"/>
          <a:srcRect/>
          <a:stretch>
            <a:fillRect/>
          </a:stretch>
        </p:blipFill>
        <p:spPr bwMode="auto">
          <a:xfrm>
            <a:off x="2590800" y="4267200"/>
            <a:ext cx="3657600" cy="20574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solidFill>
                  <a:srgbClr val="C00000"/>
                </a:solidFill>
              </a:rPr>
              <a:t>Round 1</a:t>
            </a:r>
            <a:r>
              <a:rPr lang="en-US" dirty="0" smtClean="0"/>
              <a:t>: Inputs</a:t>
            </a:r>
            <a:endParaRPr lang="en-US" dirty="0"/>
          </a:p>
        </p:txBody>
      </p:sp>
      <p:sp>
        <p:nvSpPr>
          <p:cNvPr id="3" name="Content Placeholder 2"/>
          <p:cNvSpPr>
            <a:spLocks noGrp="1"/>
          </p:cNvSpPr>
          <p:nvPr>
            <p:ph idx="1"/>
          </p:nvPr>
        </p:nvSpPr>
        <p:spPr/>
        <p:txBody>
          <a:bodyPr/>
          <a:lstStyle/>
          <a:p>
            <a:r>
              <a:rPr lang="en-US" sz="2600" dirty="0" smtClean="0"/>
              <a:t>Business Cases</a:t>
            </a:r>
          </a:p>
          <a:p>
            <a:r>
              <a:rPr lang="en-US" sz="2600" dirty="0" smtClean="0"/>
              <a:t>System Requirements</a:t>
            </a:r>
          </a:p>
          <a:p>
            <a:pPr lvl="1"/>
            <a:r>
              <a:rPr lang="en-US" sz="2200" dirty="0" smtClean="0"/>
              <a:t>Use Case Model / User Stories / Story Map</a:t>
            </a:r>
          </a:p>
          <a:p>
            <a:pPr lvl="1"/>
            <a:r>
              <a:rPr lang="en-US" sz="2200" dirty="0" smtClean="0"/>
              <a:t>Quality Attribute Scenarios</a:t>
            </a:r>
          </a:p>
          <a:p>
            <a:pPr lvl="1"/>
            <a:r>
              <a:rPr lang="en-US" sz="2200" dirty="0" smtClean="0"/>
              <a:t>Constraints</a:t>
            </a:r>
          </a:p>
          <a:p>
            <a:pPr lvl="1"/>
            <a:r>
              <a:rPr lang="en-US" sz="2200" dirty="0" smtClean="0"/>
              <a:t>Architectural Concerns</a:t>
            </a:r>
          </a:p>
          <a:p>
            <a:pPr lvl="2"/>
            <a:r>
              <a:rPr lang="en-US" sz="2000" dirty="0" smtClean="0"/>
              <a:t>Languages and technologies.</a:t>
            </a:r>
          </a:p>
          <a:p>
            <a:pPr lvl="2"/>
            <a:r>
              <a:rPr lang="en-US" sz="2000" dirty="0" smtClean="0"/>
              <a:t>Initial system structure.</a:t>
            </a:r>
          </a:p>
          <a:p>
            <a:pPr lvl="2"/>
            <a:r>
              <a:rPr lang="en-US" sz="2000" dirty="0" smtClean="0"/>
              <a:t>Allocating work for members of development team.</a:t>
            </a:r>
            <a:endParaRPr lang="en-US" sz="2000" dirty="0"/>
          </a:p>
        </p:txBody>
      </p:sp>
      <p:pic>
        <p:nvPicPr>
          <p:cNvPr id="30722" name="Picture 2" descr="https://icons-for-free.com/iconfiles/png/512/inputs-131964753028125733.png"/>
          <p:cNvPicPr>
            <a:picLocks noChangeAspect="1" noChangeArrowheads="1"/>
          </p:cNvPicPr>
          <p:nvPr/>
        </p:nvPicPr>
        <p:blipFill>
          <a:blip r:embed="rId2" cstate="print"/>
          <a:srcRect/>
          <a:stretch>
            <a:fillRect/>
          </a:stretch>
        </p:blipFill>
        <p:spPr bwMode="auto">
          <a:xfrm>
            <a:off x="6324600" y="1905000"/>
            <a:ext cx="1950992" cy="195099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FCAPS System</a:t>
            </a:r>
            <a:endParaRPr lang="en-US" dirty="0"/>
          </a:p>
        </p:txBody>
      </p:sp>
      <p:pic>
        <p:nvPicPr>
          <p:cNvPr id="37890" name="Picture 2"/>
          <p:cNvPicPr>
            <a:picLocks noChangeAspect="1" noChangeArrowheads="1"/>
          </p:cNvPicPr>
          <p:nvPr/>
        </p:nvPicPr>
        <p:blipFill>
          <a:blip r:embed="rId2" cstate="print"/>
          <a:srcRect/>
          <a:stretch>
            <a:fillRect/>
          </a:stretch>
        </p:blipFill>
        <p:spPr bwMode="auto">
          <a:xfrm>
            <a:off x="685799" y="1676400"/>
            <a:ext cx="5848350" cy="4785360"/>
          </a:xfrm>
          <a:prstGeom prst="rect">
            <a:avLst/>
          </a:prstGeom>
          <a:noFill/>
          <a:ln w="9525">
            <a:noFill/>
            <a:miter lim="800000"/>
            <a:headEnd/>
            <a:tailEnd/>
          </a:ln>
        </p:spPr>
      </p:pic>
      <p:sp>
        <p:nvSpPr>
          <p:cNvPr id="5" name="Rectangle 4"/>
          <p:cNvSpPr/>
          <p:nvPr/>
        </p:nvSpPr>
        <p:spPr>
          <a:xfrm>
            <a:off x="6553200" y="1676400"/>
            <a:ext cx="1828800" cy="246221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200" b="1" dirty="0" smtClean="0"/>
              <a:t>FCAPS</a:t>
            </a:r>
            <a:r>
              <a:rPr lang="en-US" sz="2200" dirty="0" smtClean="0"/>
              <a:t> is an acronym for </a:t>
            </a:r>
            <a:r>
              <a:rPr lang="en-US" sz="2200" b="1" dirty="0" smtClean="0"/>
              <a:t>fault</a:t>
            </a:r>
            <a:r>
              <a:rPr lang="en-US" sz="2200" dirty="0" smtClean="0"/>
              <a:t>, </a:t>
            </a:r>
            <a:r>
              <a:rPr lang="en-US" sz="2200" b="1" dirty="0" smtClean="0"/>
              <a:t>configuration</a:t>
            </a:r>
            <a:r>
              <a:rPr lang="en-US" sz="2200" dirty="0" smtClean="0"/>
              <a:t>, </a:t>
            </a:r>
            <a:r>
              <a:rPr lang="en-US" sz="2200" b="1" dirty="0" smtClean="0"/>
              <a:t>accounting</a:t>
            </a:r>
            <a:r>
              <a:rPr lang="en-US" sz="2200" dirty="0" smtClean="0"/>
              <a:t>, </a:t>
            </a:r>
            <a:r>
              <a:rPr lang="en-US" sz="2200" b="1" dirty="0" smtClean="0"/>
              <a:t>performance</a:t>
            </a:r>
            <a:r>
              <a:rPr lang="en-US" sz="2200" dirty="0" smtClean="0"/>
              <a:t>, and </a:t>
            </a:r>
            <a:r>
              <a:rPr lang="en-US" sz="2200" b="1" dirty="0" smtClean="0"/>
              <a:t>security</a:t>
            </a:r>
            <a:r>
              <a:rPr lang="en-US" sz="2200" dirty="0" smtClean="0"/>
              <a: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Diagram</a:t>
            </a:r>
            <a:endParaRPr lang="en-US" dirty="0"/>
          </a:p>
        </p:txBody>
      </p:sp>
      <p:pic>
        <p:nvPicPr>
          <p:cNvPr id="32770" name="Picture 2"/>
          <p:cNvPicPr>
            <a:picLocks noChangeAspect="1" noChangeArrowheads="1"/>
          </p:cNvPicPr>
          <p:nvPr/>
        </p:nvPicPr>
        <p:blipFill>
          <a:blip r:embed="rId2" cstate="print"/>
          <a:srcRect/>
          <a:stretch>
            <a:fillRect/>
          </a:stretch>
        </p:blipFill>
        <p:spPr bwMode="auto">
          <a:xfrm>
            <a:off x="2576513" y="2433638"/>
            <a:ext cx="47892" cy="23889"/>
          </a:xfrm>
          <a:prstGeom prst="rect">
            <a:avLst/>
          </a:prstGeom>
          <a:noFill/>
          <a:ln w="9525">
            <a:noFill/>
            <a:miter lim="800000"/>
            <a:headEnd/>
            <a:tailEnd/>
          </a:ln>
        </p:spPr>
      </p:pic>
      <p:pic>
        <p:nvPicPr>
          <p:cNvPr id="32773" name="Picture 5"/>
          <p:cNvPicPr>
            <a:picLocks noChangeAspect="1" noChangeArrowheads="1"/>
          </p:cNvPicPr>
          <p:nvPr/>
        </p:nvPicPr>
        <p:blipFill>
          <a:blip r:embed="rId3" cstate="print"/>
          <a:srcRect/>
          <a:stretch>
            <a:fillRect/>
          </a:stretch>
        </p:blipFill>
        <p:spPr bwMode="auto">
          <a:xfrm>
            <a:off x="1600200" y="2186940"/>
            <a:ext cx="6015990" cy="299466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Overall System Structure</a:t>
            </a:r>
            <a:endParaRPr lang="en-US" dirty="0"/>
          </a:p>
        </p:txBody>
      </p:sp>
      <p:sp>
        <p:nvSpPr>
          <p:cNvPr id="3" name="Content Placeholder 2"/>
          <p:cNvSpPr>
            <a:spLocks noGrp="1"/>
          </p:cNvSpPr>
          <p:nvPr>
            <p:ph idx="1"/>
          </p:nvPr>
        </p:nvSpPr>
        <p:spPr/>
        <p:txBody>
          <a:bodyPr/>
          <a:lstStyle/>
          <a:p>
            <a:r>
              <a:rPr lang="en-US" sz="2600" dirty="0" smtClean="0"/>
              <a:t>Inputs:</a:t>
            </a:r>
          </a:p>
          <a:p>
            <a:pPr lvl="1"/>
            <a:r>
              <a:rPr lang="en-US" sz="2200" dirty="0" smtClean="0"/>
              <a:t>Architectural styles</a:t>
            </a:r>
          </a:p>
          <a:p>
            <a:pPr lvl="1"/>
            <a:r>
              <a:rPr lang="en-US" sz="2200" dirty="0" smtClean="0"/>
              <a:t>Reference architectures</a:t>
            </a:r>
          </a:p>
          <a:p>
            <a:pPr lvl="1"/>
            <a:r>
              <a:rPr lang="en-US" sz="2200" dirty="0" smtClean="0"/>
              <a:t>Programming languages</a:t>
            </a:r>
          </a:p>
          <a:p>
            <a:pPr lvl="1"/>
            <a:r>
              <a:rPr lang="en-US" sz="2200" dirty="0" smtClean="0"/>
              <a:t>Technologies</a:t>
            </a:r>
          </a:p>
          <a:p>
            <a:r>
              <a:rPr lang="en-US" sz="2600" dirty="0" smtClean="0"/>
              <a:t>Method: Decomposition</a:t>
            </a:r>
          </a:p>
        </p:txBody>
      </p:sp>
      <p:pic>
        <p:nvPicPr>
          <p:cNvPr id="31747" name="Picture 3"/>
          <p:cNvPicPr>
            <a:picLocks noChangeAspect="1" noChangeArrowheads="1"/>
          </p:cNvPicPr>
          <p:nvPr/>
        </p:nvPicPr>
        <p:blipFill>
          <a:blip r:embed="rId2" cstate="print"/>
          <a:srcRect/>
          <a:stretch>
            <a:fillRect/>
          </a:stretch>
        </p:blipFill>
        <p:spPr bwMode="auto">
          <a:xfrm>
            <a:off x="4800600" y="1447800"/>
            <a:ext cx="2420367" cy="502029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Diagram</a:t>
            </a:r>
            <a:endParaRPr lang="en-US" dirty="0"/>
          </a:p>
        </p:txBody>
      </p:sp>
      <p:sp>
        <p:nvSpPr>
          <p:cNvPr id="3" name="Content Placeholder 2"/>
          <p:cNvSpPr>
            <a:spLocks noGrp="1"/>
          </p:cNvSpPr>
          <p:nvPr>
            <p:ph idx="1"/>
          </p:nvPr>
        </p:nvSpPr>
        <p:spPr>
          <a:xfrm>
            <a:off x="457200" y="1600200"/>
            <a:ext cx="2438400" cy="4525963"/>
          </a:xfrm>
        </p:spPr>
        <p:txBody>
          <a:bodyPr/>
          <a:lstStyle/>
          <a:p>
            <a:r>
              <a:rPr lang="en-US" sz="2400" dirty="0" smtClean="0"/>
              <a:t>Decomposition</a:t>
            </a:r>
          </a:p>
          <a:p>
            <a:r>
              <a:rPr lang="en-US" sz="2400" dirty="0" smtClean="0"/>
              <a:t>Reference architectures</a:t>
            </a:r>
          </a:p>
          <a:p>
            <a:r>
              <a:rPr lang="en-US" sz="2400" dirty="0" smtClean="0"/>
              <a:t>Architectural styles</a:t>
            </a:r>
          </a:p>
          <a:p>
            <a:r>
              <a:rPr lang="en-US" sz="2400" dirty="0" smtClean="0"/>
              <a:t>Programming languages</a:t>
            </a:r>
          </a:p>
          <a:p>
            <a:r>
              <a:rPr lang="en-US" sz="2400" dirty="0" smtClean="0"/>
              <a:t>Technologies</a:t>
            </a:r>
          </a:p>
        </p:txBody>
      </p:sp>
      <p:pic>
        <p:nvPicPr>
          <p:cNvPr id="33794" name="Picture 2"/>
          <p:cNvPicPr>
            <a:picLocks noChangeAspect="1" noChangeArrowheads="1"/>
          </p:cNvPicPr>
          <p:nvPr/>
        </p:nvPicPr>
        <p:blipFill>
          <a:blip r:embed="rId2" cstate="print"/>
          <a:srcRect/>
          <a:stretch>
            <a:fillRect/>
          </a:stretch>
        </p:blipFill>
        <p:spPr bwMode="auto">
          <a:xfrm>
            <a:off x="2895600" y="1905000"/>
            <a:ext cx="5730875" cy="2501900"/>
          </a:xfrm>
          <a:prstGeom prst="rect">
            <a:avLst/>
          </a:prstGeom>
          <a:noFill/>
          <a:ln w="9525">
            <a:noFill/>
            <a:miter lim="800000"/>
            <a:headEnd/>
            <a:tailEnd/>
          </a:ln>
        </p:spPr>
      </p:pic>
      <p:pic>
        <p:nvPicPr>
          <p:cNvPr id="5" name="Picture 6"/>
          <p:cNvPicPr>
            <a:picLocks noChangeAspect="1" noChangeArrowheads="1"/>
          </p:cNvPicPr>
          <p:nvPr/>
        </p:nvPicPr>
        <p:blipFill>
          <a:blip r:embed="rId3" cstate="print"/>
          <a:srcRect/>
          <a:stretch>
            <a:fillRect/>
          </a:stretch>
        </p:blipFill>
        <p:spPr bwMode="auto">
          <a:xfrm>
            <a:off x="3276600" y="4648200"/>
            <a:ext cx="5083175" cy="15113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solidFill>
                  <a:srgbClr val="C00000"/>
                </a:solidFill>
              </a:rPr>
              <a:t>Round 2</a:t>
            </a:r>
            <a:r>
              <a:rPr lang="en-US" dirty="0" smtClean="0"/>
              <a:t>: Inputs</a:t>
            </a:r>
            <a:endParaRPr lang="en-US" dirty="0"/>
          </a:p>
        </p:txBody>
      </p:sp>
      <p:sp>
        <p:nvSpPr>
          <p:cNvPr id="3" name="Content Placeholder 2"/>
          <p:cNvSpPr>
            <a:spLocks noGrp="1"/>
          </p:cNvSpPr>
          <p:nvPr>
            <p:ph idx="1"/>
          </p:nvPr>
        </p:nvSpPr>
        <p:spPr/>
        <p:txBody>
          <a:bodyPr/>
          <a:lstStyle/>
          <a:p>
            <a:r>
              <a:rPr lang="en-US" sz="2400" dirty="0" smtClean="0"/>
              <a:t>Overall system structure.</a:t>
            </a:r>
          </a:p>
          <a:p>
            <a:r>
              <a:rPr lang="en-US" sz="2400" dirty="0" smtClean="0"/>
              <a:t>Deployment diagram.</a:t>
            </a:r>
          </a:p>
          <a:p>
            <a:r>
              <a:rPr lang="en-US" sz="2400" dirty="0" smtClean="0"/>
              <a:t>A primary workflow.</a:t>
            </a:r>
            <a:endParaRPr lang="en-US" sz="1600" dirty="0"/>
          </a:p>
        </p:txBody>
      </p:sp>
      <p:pic>
        <p:nvPicPr>
          <p:cNvPr id="30722" name="Picture 2" descr="https://icons-for-free.com/iconfiles/png/512/inputs-131964753028125733.png"/>
          <p:cNvPicPr>
            <a:picLocks noChangeAspect="1" noChangeArrowheads="1"/>
          </p:cNvPicPr>
          <p:nvPr/>
        </p:nvPicPr>
        <p:blipFill>
          <a:blip r:embed="rId2" cstate="print"/>
          <a:srcRect/>
          <a:stretch>
            <a:fillRect/>
          </a:stretch>
        </p:blipFill>
        <p:spPr bwMode="auto">
          <a:xfrm>
            <a:off x="5059408" y="1905000"/>
            <a:ext cx="1950992" cy="1950992"/>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Domain Model</a:t>
            </a:r>
            <a:endParaRPr lang="en-US" dirty="0"/>
          </a:p>
        </p:txBody>
      </p:sp>
      <p:pic>
        <p:nvPicPr>
          <p:cNvPr id="34819" name="Picture 3"/>
          <p:cNvPicPr>
            <a:picLocks noChangeAspect="1" noChangeArrowheads="1"/>
          </p:cNvPicPr>
          <p:nvPr/>
        </p:nvPicPr>
        <p:blipFill>
          <a:blip r:embed="rId2" cstate="print"/>
          <a:srcRect/>
          <a:stretch>
            <a:fillRect/>
          </a:stretch>
        </p:blipFill>
        <p:spPr bwMode="auto">
          <a:xfrm>
            <a:off x="1744663" y="1860550"/>
            <a:ext cx="5654675" cy="38544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4114800" cy="1143000"/>
          </a:xfrm>
        </p:spPr>
        <p:txBody>
          <a:bodyPr/>
          <a:lstStyle/>
          <a:p>
            <a:r>
              <a:rPr lang="en-US" dirty="0" smtClean="0"/>
              <a:t>Package Diagram for the Primary Workflow</a:t>
            </a:r>
            <a:endParaRPr lang="en-US" dirty="0"/>
          </a:p>
        </p:txBody>
      </p:sp>
      <p:pic>
        <p:nvPicPr>
          <p:cNvPr id="35844" name="Picture 4"/>
          <p:cNvPicPr>
            <a:picLocks noChangeAspect="1" noChangeArrowheads="1"/>
          </p:cNvPicPr>
          <p:nvPr/>
        </p:nvPicPr>
        <p:blipFill>
          <a:blip r:embed="rId2" cstate="print"/>
          <a:srcRect/>
          <a:stretch>
            <a:fillRect/>
          </a:stretch>
        </p:blipFill>
        <p:spPr bwMode="auto">
          <a:xfrm>
            <a:off x="4648200" y="228600"/>
            <a:ext cx="3957066" cy="6537960"/>
          </a:xfrm>
          <a:prstGeom prst="rect">
            <a:avLst/>
          </a:prstGeom>
          <a:noFill/>
          <a:ln w="9525">
            <a:noFill/>
            <a:miter lim="800000"/>
            <a:headEnd/>
            <a:tailEnd/>
          </a:ln>
        </p:spPr>
      </p:pic>
      <p:sp>
        <p:nvSpPr>
          <p:cNvPr id="4" name="Content Placeholder 2"/>
          <p:cNvSpPr>
            <a:spLocks noGrp="1"/>
          </p:cNvSpPr>
          <p:nvPr>
            <p:ph idx="1"/>
          </p:nvPr>
        </p:nvSpPr>
        <p:spPr>
          <a:xfrm>
            <a:off x="457200" y="3124200"/>
            <a:ext cx="8229600" cy="3001963"/>
          </a:xfrm>
        </p:spPr>
        <p:txBody>
          <a:bodyPr/>
          <a:lstStyle/>
          <a:p>
            <a:r>
              <a:rPr lang="en-US" sz="2400" dirty="0" smtClean="0"/>
              <a:t>Decomposition</a:t>
            </a:r>
          </a:p>
          <a:p>
            <a:r>
              <a:rPr lang="en-US" sz="2400" dirty="0" smtClean="0"/>
              <a:t>Reference architectures</a:t>
            </a:r>
          </a:p>
          <a:p>
            <a:pPr lvl="1"/>
            <a:r>
              <a:rPr lang="en-US" sz="2000" dirty="0" smtClean="0"/>
              <a:t>Clean architecture</a:t>
            </a:r>
          </a:p>
          <a:p>
            <a:r>
              <a:rPr lang="en-US" sz="2400" dirty="0" smtClean="0"/>
              <a:t>Architectural styles</a:t>
            </a:r>
          </a:p>
          <a:p>
            <a:r>
              <a:rPr lang="en-US" sz="2400" dirty="0" smtClean="0"/>
              <a:t>Programming languages</a:t>
            </a:r>
          </a:p>
          <a:p>
            <a:r>
              <a:rPr lang="en-US" sz="2400" dirty="0" smtClean="0"/>
              <a:t>Technologies</a:t>
            </a:r>
          </a:p>
          <a:p>
            <a:r>
              <a:rPr lang="en-US" sz="2400" dirty="0" smtClean="0"/>
              <a:t>Domain-driven design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0"/>
            <a:ext cx="2362200" cy="1143000"/>
          </a:xfrm>
        </p:spPr>
        <p:txBody>
          <a:bodyPr/>
          <a:lstStyle/>
          <a:p>
            <a:r>
              <a:rPr lang="en-US" sz="4000" dirty="0" smtClean="0"/>
              <a:t>Sequence Diagram for the Primary Workflow</a:t>
            </a:r>
            <a:endParaRPr lang="en-US" sz="4000" dirty="0"/>
          </a:p>
        </p:txBody>
      </p:sp>
      <p:pic>
        <p:nvPicPr>
          <p:cNvPr id="35843" name="Picture 3"/>
          <p:cNvPicPr>
            <a:picLocks noChangeAspect="1" noChangeArrowheads="1"/>
          </p:cNvPicPr>
          <p:nvPr/>
        </p:nvPicPr>
        <p:blipFill>
          <a:blip r:embed="rId2" cstate="print"/>
          <a:srcRect/>
          <a:stretch>
            <a:fillRect/>
          </a:stretch>
        </p:blipFill>
        <p:spPr bwMode="auto">
          <a:xfrm>
            <a:off x="2895600" y="914400"/>
            <a:ext cx="5810250" cy="51339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solidFill>
                  <a:srgbClr val="C00000"/>
                </a:solidFill>
              </a:rPr>
              <a:t>Round 3</a:t>
            </a:r>
            <a:r>
              <a:rPr lang="en-US" dirty="0" smtClean="0"/>
              <a:t>: Inputs</a:t>
            </a:r>
            <a:endParaRPr lang="en-US" dirty="0"/>
          </a:p>
        </p:txBody>
      </p:sp>
      <p:sp>
        <p:nvSpPr>
          <p:cNvPr id="3" name="Content Placeholder 2"/>
          <p:cNvSpPr>
            <a:spLocks noGrp="1"/>
          </p:cNvSpPr>
          <p:nvPr>
            <p:ph idx="1"/>
          </p:nvPr>
        </p:nvSpPr>
        <p:spPr/>
        <p:txBody>
          <a:bodyPr/>
          <a:lstStyle/>
          <a:p>
            <a:r>
              <a:rPr lang="en-US" sz="2400" dirty="0" smtClean="0"/>
              <a:t>Overall system structure</a:t>
            </a:r>
          </a:p>
          <a:p>
            <a:r>
              <a:rPr lang="en-US" sz="2400" dirty="0" smtClean="0"/>
              <a:t>Deployment diagram</a:t>
            </a:r>
          </a:p>
          <a:p>
            <a:r>
              <a:rPr lang="en-US" sz="2400" dirty="0" smtClean="0"/>
              <a:t>Package diagram</a:t>
            </a:r>
          </a:p>
          <a:p>
            <a:r>
              <a:rPr lang="en-US" sz="2400" dirty="0" smtClean="0"/>
              <a:t>Sequence diagrams</a:t>
            </a:r>
          </a:p>
          <a:p>
            <a:r>
              <a:rPr lang="en-US" sz="2400" dirty="0" smtClean="0"/>
              <a:t>A primary workflow</a:t>
            </a:r>
          </a:p>
          <a:p>
            <a:r>
              <a:rPr lang="en-US" sz="2400" dirty="0" smtClean="0"/>
              <a:t>A quality attribute scenarios associated with the primary workflow</a:t>
            </a:r>
            <a:endParaRPr lang="en-US" sz="1600" dirty="0"/>
          </a:p>
        </p:txBody>
      </p:sp>
      <p:pic>
        <p:nvPicPr>
          <p:cNvPr id="30722" name="Picture 2" descr="https://icons-for-free.com/iconfiles/png/512/inputs-131964753028125733.png"/>
          <p:cNvPicPr>
            <a:picLocks noChangeAspect="1" noChangeArrowheads="1"/>
          </p:cNvPicPr>
          <p:nvPr/>
        </p:nvPicPr>
        <p:blipFill>
          <a:blip r:embed="rId2" cstate="print"/>
          <a:srcRect/>
          <a:stretch>
            <a:fillRect/>
          </a:stretch>
        </p:blipFill>
        <p:spPr bwMode="auto">
          <a:xfrm>
            <a:off x="5059408" y="1752600"/>
            <a:ext cx="1950992" cy="1950992"/>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Refined Deployment Diagram</a:t>
            </a:r>
            <a:endParaRPr lang="en-US" dirty="0"/>
          </a:p>
        </p:txBody>
      </p:sp>
      <p:sp>
        <p:nvSpPr>
          <p:cNvPr id="3" name="Content Placeholder 2"/>
          <p:cNvSpPr>
            <a:spLocks noGrp="1"/>
          </p:cNvSpPr>
          <p:nvPr>
            <p:ph idx="1"/>
          </p:nvPr>
        </p:nvSpPr>
        <p:spPr>
          <a:xfrm>
            <a:off x="457200" y="1600200"/>
            <a:ext cx="2743200" cy="4525963"/>
          </a:xfrm>
        </p:spPr>
        <p:txBody>
          <a:bodyPr/>
          <a:lstStyle/>
          <a:p>
            <a:r>
              <a:rPr lang="en-US" sz="2400" dirty="0" smtClean="0"/>
              <a:t>Reference architectures</a:t>
            </a:r>
          </a:p>
          <a:p>
            <a:r>
              <a:rPr lang="en-US" sz="2400" dirty="0" smtClean="0"/>
              <a:t>Architectural styles</a:t>
            </a:r>
          </a:p>
          <a:p>
            <a:r>
              <a:rPr lang="en-US" sz="2400" dirty="0" smtClean="0"/>
              <a:t>Programming languages</a:t>
            </a:r>
          </a:p>
          <a:p>
            <a:r>
              <a:rPr lang="en-US" sz="2400" dirty="0" smtClean="0"/>
              <a:t>Technologies</a:t>
            </a:r>
          </a:p>
        </p:txBody>
      </p:sp>
      <p:pic>
        <p:nvPicPr>
          <p:cNvPr id="36867" name="Picture 3"/>
          <p:cNvPicPr>
            <a:picLocks noChangeAspect="1" noChangeArrowheads="1"/>
          </p:cNvPicPr>
          <p:nvPr/>
        </p:nvPicPr>
        <p:blipFill>
          <a:blip r:embed="rId2" cstate="print"/>
          <a:srcRect/>
          <a:stretch>
            <a:fillRect/>
          </a:stretch>
        </p:blipFill>
        <p:spPr bwMode="auto">
          <a:xfrm>
            <a:off x="2933700" y="1752600"/>
            <a:ext cx="5829300" cy="2708275"/>
          </a:xfrm>
          <a:prstGeom prst="rect">
            <a:avLst/>
          </a:prstGeom>
          <a:noFill/>
          <a:ln w="9525">
            <a:noFill/>
            <a:miter lim="800000"/>
            <a:headEnd/>
            <a:tailEnd/>
          </a:ln>
        </p:spPr>
      </p:pic>
      <p:pic>
        <p:nvPicPr>
          <p:cNvPr id="36868" name="Picture 4"/>
          <p:cNvPicPr>
            <a:picLocks noChangeAspect="1" noChangeArrowheads="1"/>
          </p:cNvPicPr>
          <p:nvPr/>
        </p:nvPicPr>
        <p:blipFill>
          <a:blip r:embed="rId3" cstate="print"/>
          <a:srcRect/>
          <a:stretch>
            <a:fillRect/>
          </a:stretch>
        </p:blipFill>
        <p:spPr bwMode="auto">
          <a:xfrm>
            <a:off x="2590800" y="4743450"/>
            <a:ext cx="6050280" cy="14287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Attribute-Driven Design </a:t>
            </a:r>
            <a:br>
              <a:rPr lang="en-US" dirty="0" smtClean="0"/>
            </a:br>
            <a:r>
              <a:rPr lang="en-US" dirty="0" smtClean="0"/>
              <a:t>(ADD) Method Steps (I) [3]</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57200" y="2590800"/>
            <a:ext cx="6229350" cy="3771900"/>
          </a:xfrm>
          <a:prstGeom prst="rect">
            <a:avLst/>
          </a:prstGeom>
          <a:noFill/>
          <a:ln w="9525">
            <a:noFill/>
            <a:miter lim="800000"/>
            <a:headEnd/>
            <a:tailEnd/>
          </a:ln>
        </p:spPr>
      </p:pic>
      <p:sp>
        <p:nvSpPr>
          <p:cNvPr id="5" name="Rectangle 4"/>
          <p:cNvSpPr/>
          <p:nvPr/>
        </p:nvSpPr>
        <p:spPr>
          <a:xfrm>
            <a:off x="4800600" y="1944231"/>
            <a:ext cx="4114800" cy="224676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b="1" dirty="0" smtClean="0">
                <a:latin typeface="+mj-lt"/>
              </a:rPr>
              <a:t>1. Choose the module to </a:t>
            </a:r>
            <a:r>
              <a:rPr lang="en-US" sz="2000" b="1" i="1" dirty="0" smtClean="0">
                <a:solidFill>
                  <a:srgbClr val="C00000"/>
                </a:solidFill>
                <a:latin typeface="+mj-lt"/>
              </a:rPr>
              <a:t>decompose</a:t>
            </a:r>
            <a:r>
              <a:rPr lang="en-US" sz="2000" b="1" dirty="0" smtClean="0">
                <a:latin typeface="+mj-lt"/>
              </a:rPr>
              <a:t>.</a:t>
            </a:r>
          </a:p>
          <a:p>
            <a:r>
              <a:rPr lang="en-US" sz="2000" dirty="0" smtClean="0">
                <a:latin typeface="+mj-lt"/>
              </a:rPr>
              <a:t>The module to start with is usually </a:t>
            </a:r>
            <a:r>
              <a:rPr lang="en-US" sz="2000" u="sng" dirty="0" smtClean="0">
                <a:latin typeface="+mj-lt"/>
              </a:rPr>
              <a:t>the whole system</a:t>
            </a:r>
            <a:r>
              <a:rPr lang="en-US" sz="2000" dirty="0" smtClean="0">
                <a:latin typeface="+mj-lt"/>
              </a:rPr>
              <a:t>.</a:t>
            </a:r>
          </a:p>
          <a:p>
            <a:r>
              <a:rPr lang="en-US" sz="2000" dirty="0" smtClean="0">
                <a:latin typeface="+mj-lt"/>
              </a:rPr>
              <a:t>All required </a:t>
            </a:r>
            <a:r>
              <a:rPr lang="en-US" sz="2000" i="1" dirty="0" smtClean="0">
                <a:solidFill>
                  <a:srgbClr val="C00000"/>
                </a:solidFill>
                <a:latin typeface="+mj-lt"/>
              </a:rPr>
              <a:t>inputs</a:t>
            </a:r>
            <a:r>
              <a:rPr lang="en-US" sz="2000" dirty="0" smtClean="0">
                <a:latin typeface="+mj-lt"/>
              </a:rPr>
              <a:t> for this module should be available (constraints, functional requirements, quality requirements)</a:t>
            </a:r>
            <a:endParaRPr lang="en-US" sz="2000" dirty="0">
              <a:latin typeface="+mj-lt"/>
            </a:endParaRPr>
          </a:p>
        </p:txBody>
      </p:sp>
      <p:sp>
        <p:nvSpPr>
          <p:cNvPr id="7" name="Rectangle 6"/>
          <p:cNvSpPr/>
          <p:nvPr/>
        </p:nvSpPr>
        <p:spPr>
          <a:xfrm>
            <a:off x="685800" y="2438400"/>
            <a:ext cx="2743200" cy="1524000"/>
          </a:xfrm>
          <a:prstGeom prst="rect">
            <a:avLst/>
          </a:prstGeom>
          <a:solidFill>
            <a:schemeClr val="tx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Attribute-Driven Design </a:t>
            </a:r>
            <a:br>
              <a:rPr lang="en-US" dirty="0" smtClean="0"/>
            </a:br>
            <a:r>
              <a:rPr lang="en-US" dirty="0" smtClean="0"/>
              <a:t>(ADD) Method Steps (II)</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57200" y="2590800"/>
            <a:ext cx="6229350" cy="3771900"/>
          </a:xfrm>
          <a:prstGeom prst="rect">
            <a:avLst/>
          </a:prstGeom>
          <a:noFill/>
          <a:ln w="9525">
            <a:noFill/>
            <a:miter lim="800000"/>
            <a:headEnd/>
            <a:tailEnd/>
          </a:ln>
        </p:spPr>
      </p:pic>
      <p:sp>
        <p:nvSpPr>
          <p:cNvPr id="5" name="Rectangle 4"/>
          <p:cNvSpPr/>
          <p:nvPr/>
        </p:nvSpPr>
        <p:spPr>
          <a:xfrm>
            <a:off x="4191000" y="1600200"/>
            <a:ext cx="4724400"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latin typeface="+mj-lt"/>
              </a:rPr>
              <a:t>2. Choose the </a:t>
            </a:r>
            <a:r>
              <a:rPr lang="en-US" b="1" i="1" dirty="0" smtClean="0">
                <a:solidFill>
                  <a:srgbClr val="C00000"/>
                </a:solidFill>
                <a:latin typeface="+mj-lt"/>
              </a:rPr>
              <a:t>architectural drivers</a:t>
            </a:r>
            <a:r>
              <a:rPr lang="en-US" b="1" dirty="0" smtClean="0">
                <a:latin typeface="+mj-lt"/>
              </a:rPr>
              <a:t> from the set of concrete quality scenarios and functional requirements.</a:t>
            </a:r>
            <a:r>
              <a:rPr lang="en-US" dirty="0" smtClean="0">
                <a:latin typeface="+mj-lt"/>
              </a:rPr>
              <a:t> This step determines what is important for this decomposition.</a:t>
            </a:r>
          </a:p>
          <a:p>
            <a:r>
              <a:rPr lang="en-US" b="1" dirty="0" smtClean="0">
                <a:latin typeface="+mj-lt"/>
              </a:rPr>
              <a:t>3. Choose an </a:t>
            </a:r>
            <a:r>
              <a:rPr lang="en-US" b="1" i="1" dirty="0" smtClean="0">
                <a:solidFill>
                  <a:srgbClr val="C00000"/>
                </a:solidFill>
                <a:latin typeface="+mj-lt"/>
              </a:rPr>
              <a:t>architectural pattern</a:t>
            </a:r>
            <a:r>
              <a:rPr lang="en-US" b="1" dirty="0" smtClean="0">
                <a:latin typeface="+mj-lt"/>
              </a:rPr>
              <a:t> that satisfies the drivers.</a:t>
            </a:r>
          </a:p>
          <a:p>
            <a:r>
              <a:rPr lang="en-US" dirty="0" smtClean="0">
                <a:latin typeface="+mj-lt"/>
              </a:rPr>
              <a:t>Create (or select) the pattern based on the tactics that can be used to achieve the drivers.</a:t>
            </a:r>
            <a:endParaRPr lang="en-US" dirty="0">
              <a:latin typeface="+mj-lt"/>
            </a:endParaRPr>
          </a:p>
        </p:txBody>
      </p:sp>
      <p:sp>
        <p:nvSpPr>
          <p:cNvPr id="7" name="Rectangle 6"/>
          <p:cNvSpPr/>
          <p:nvPr/>
        </p:nvSpPr>
        <p:spPr>
          <a:xfrm>
            <a:off x="228600" y="3886200"/>
            <a:ext cx="3124200" cy="2590800"/>
          </a:xfrm>
          <a:prstGeom prst="rect">
            <a:avLst/>
          </a:prstGeom>
          <a:solidFill>
            <a:schemeClr val="tx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Attribute-Driven Design </a:t>
            </a:r>
            <a:br>
              <a:rPr lang="en-US" dirty="0" smtClean="0"/>
            </a:br>
            <a:r>
              <a:rPr lang="en-US" dirty="0" smtClean="0"/>
              <a:t>(ADD) Method Steps (III)</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57200" y="2590800"/>
            <a:ext cx="6229350" cy="3771900"/>
          </a:xfrm>
          <a:prstGeom prst="rect">
            <a:avLst/>
          </a:prstGeom>
          <a:noFill/>
          <a:ln w="9525">
            <a:noFill/>
            <a:miter lim="800000"/>
            <a:headEnd/>
            <a:tailEnd/>
          </a:ln>
        </p:spPr>
      </p:pic>
      <p:sp>
        <p:nvSpPr>
          <p:cNvPr id="5" name="Rectangle 4"/>
          <p:cNvSpPr/>
          <p:nvPr/>
        </p:nvSpPr>
        <p:spPr>
          <a:xfrm>
            <a:off x="3505200" y="1730276"/>
            <a:ext cx="5410200"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4. Instantiate </a:t>
            </a:r>
            <a:r>
              <a:rPr lang="en-US" u="sng" dirty="0" smtClean="0"/>
              <a:t>modules</a:t>
            </a:r>
            <a:r>
              <a:rPr lang="en-US" dirty="0" smtClean="0"/>
              <a:t> and allocate functionality from use cases, and represent the results using </a:t>
            </a:r>
            <a:r>
              <a:rPr lang="en-US" i="1" dirty="0" smtClean="0">
                <a:solidFill>
                  <a:srgbClr val="C00000"/>
                </a:solidFill>
              </a:rPr>
              <a:t>multiple views</a:t>
            </a:r>
            <a:r>
              <a:rPr lang="en-US" dirty="0" smtClean="0"/>
              <a:t>.</a:t>
            </a:r>
          </a:p>
          <a:p>
            <a:r>
              <a:rPr lang="en-US" dirty="0" smtClean="0"/>
              <a:t>5. Define </a:t>
            </a:r>
            <a:r>
              <a:rPr lang="en-US" i="1" dirty="0" smtClean="0">
                <a:solidFill>
                  <a:srgbClr val="C00000"/>
                </a:solidFill>
              </a:rPr>
              <a:t>interfaces</a:t>
            </a:r>
            <a:r>
              <a:rPr lang="en-US" dirty="0" smtClean="0"/>
              <a:t> of the </a:t>
            </a:r>
            <a:r>
              <a:rPr lang="en-US" u="sng" dirty="0" smtClean="0"/>
              <a:t>child modules</a:t>
            </a:r>
            <a:r>
              <a:rPr lang="en-US" dirty="0" smtClean="0"/>
              <a:t>.</a:t>
            </a:r>
          </a:p>
          <a:p>
            <a:r>
              <a:rPr lang="en-US" dirty="0" smtClean="0"/>
              <a:t>6. Verify and </a:t>
            </a:r>
            <a:r>
              <a:rPr lang="en-US" i="1" dirty="0" smtClean="0">
                <a:solidFill>
                  <a:srgbClr val="C00000"/>
                </a:solidFill>
              </a:rPr>
              <a:t>refine</a:t>
            </a:r>
            <a:r>
              <a:rPr lang="en-US" dirty="0" smtClean="0"/>
              <a:t> the use cases and quality scenarios and make them constraints for the child modules.</a:t>
            </a:r>
          </a:p>
          <a:p>
            <a:r>
              <a:rPr lang="en-US" i="1" dirty="0" smtClean="0">
                <a:solidFill>
                  <a:srgbClr val="C00000"/>
                </a:solidFill>
              </a:rPr>
              <a:t>Repeat</a:t>
            </a:r>
            <a:r>
              <a:rPr lang="en-US" dirty="0" smtClean="0"/>
              <a:t> the steps above for every module that needs further decomposition.</a:t>
            </a:r>
            <a:endParaRPr lang="en-US" dirty="0">
              <a:latin typeface="+mj-lt"/>
            </a:endParaRPr>
          </a:p>
        </p:txBody>
      </p:sp>
      <p:sp>
        <p:nvSpPr>
          <p:cNvPr id="7" name="Rectangle 6"/>
          <p:cNvSpPr/>
          <p:nvPr/>
        </p:nvSpPr>
        <p:spPr>
          <a:xfrm>
            <a:off x="3124200" y="4191000"/>
            <a:ext cx="3733800" cy="2286000"/>
          </a:xfrm>
          <a:prstGeom prst="rect">
            <a:avLst/>
          </a:prstGeom>
          <a:solidFill>
            <a:schemeClr val="tx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Viewpoints and Perspectives Method: Activities [4]</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sz="2400" dirty="0" smtClean="0"/>
              <a:t>Agreeing on scope and context, constraints, and baseline architectural principles</a:t>
            </a:r>
          </a:p>
          <a:p>
            <a:pPr marL="457200" indent="-457200">
              <a:buFont typeface="+mj-lt"/>
              <a:buAutoNum type="arabicPeriod"/>
            </a:pPr>
            <a:r>
              <a:rPr lang="en-US" sz="2400" dirty="0" smtClean="0"/>
              <a:t>Identifying and engaging stakeholders</a:t>
            </a:r>
          </a:p>
          <a:p>
            <a:pPr marL="457200" indent="-457200">
              <a:buFont typeface="+mj-lt"/>
              <a:buAutoNum type="arabicPeriod"/>
            </a:pPr>
            <a:r>
              <a:rPr lang="en-US" sz="2400" dirty="0" smtClean="0"/>
              <a:t>Identifying and using architectural scenarios</a:t>
            </a:r>
          </a:p>
          <a:p>
            <a:pPr marL="457200" indent="-457200">
              <a:buFont typeface="+mj-lt"/>
              <a:buAutoNum type="arabicPeriod"/>
            </a:pPr>
            <a:r>
              <a:rPr lang="en-US" sz="2400" dirty="0" smtClean="0"/>
              <a:t>Using architectural styles and patterns</a:t>
            </a:r>
          </a:p>
          <a:p>
            <a:pPr marL="457200" indent="-457200">
              <a:buFont typeface="+mj-lt"/>
              <a:buAutoNum type="arabicPeriod"/>
            </a:pPr>
            <a:r>
              <a:rPr lang="en-US" sz="2400" dirty="0" smtClean="0"/>
              <a:t>Producing architectural models</a:t>
            </a:r>
          </a:p>
          <a:p>
            <a:pPr marL="457200" indent="-457200">
              <a:buFont typeface="+mj-lt"/>
              <a:buAutoNum type="arabicPeriod"/>
            </a:pPr>
            <a:r>
              <a:rPr lang="en-US" sz="2400" dirty="0" smtClean="0"/>
              <a:t>Documenting the architecture</a:t>
            </a:r>
          </a:p>
          <a:p>
            <a:pPr marL="457200" indent="-457200">
              <a:buFont typeface="+mj-lt"/>
              <a:buAutoNum type="arabicPeriod"/>
            </a:pPr>
            <a:r>
              <a:rPr lang="en-US" sz="2400" dirty="0" smtClean="0"/>
              <a:t>Validating the architecture</a:t>
            </a:r>
            <a:endParaRPr lang="en-US" sz="2400" dirty="0"/>
          </a:p>
        </p:txBody>
      </p:sp>
      <p:pic>
        <p:nvPicPr>
          <p:cNvPr id="3076" name="Picture 4" descr="https://cdn-icons-png.freepik.com/512/5810/5810302.png"/>
          <p:cNvPicPr>
            <a:picLocks noChangeAspect="1" noChangeArrowheads="1"/>
          </p:cNvPicPr>
          <p:nvPr/>
        </p:nvPicPr>
        <p:blipFill>
          <a:blip r:embed="rId2" cstate="print"/>
          <a:srcRect/>
          <a:stretch>
            <a:fillRect/>
          </a:stretch>
        </p:blipFill>
        <p:spPr bwMode="auto">
          <a:xfrm>
            <a:off x="6019800" y="3581400"/>
            <a:ext cx="2438096" cy="243809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Context Viewpoint</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Context view</a:t>
            </a:r>
            <a:r>
              <a:rPr lang="en-US" sz="2400" dirty="0" smtClean="0"/>
              <a:t> of a system defines the relationships, dependencies, and interactions between the system and its environment—the people, systems, and external entities with which it interacts.</a:t>
            </a:r>
          </a:p>
          <a:p>
            <a:r>
              <a:rPr lang="en-US" sz="2400" i="1" dirty="0" smtClean="0">
                <a:solidFill>
                  <a:srgbClr val="C00000"/>
                </a:solidFill>
              </a:rPr>
              <a:t>Concerns</a:t>
            </a:r>
            <a:r>
              <a:rPr lang="en-US" sz="2400" dirty="0" smtClean="0"/>
              <a:t>: System scope and responsibilities.</a:t>
            </a:r>
          </a:p>
          <a:p>
            <a:r>
              <a:rPr lang="en-US" sz="2400" i="1" dirty="0" smtClean="0">
                <a:solidFill>
                  <a:srgbClr val="C00000"/>
                </a:solidFill>
              </a:rPr>
              <a:t>Model</a:t>
            </a:r>
            <a:r>
              <a:rPr lang="en-US" sz="2400" dirty="0" smtClean="0"/>
              <a:t>: Context diagram.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View Example</a:t>
            </a:r>
            <a:endParaRPr lang="en-US" dirty="0"/>
          </a:p>
        </p:txBody>
      </p:sp>
      <p:pic>
        <p:nvPicPr>
          <p:cNvPr id="31745" name="Picture 1"/>
          <p:cNvPicPr>
            <a:picLocks noChangeAspect="1" noChangeArrowheads="1"/>
          </p:cNvPicPr>
          <p:nvPr/>
        </p:nvPicPr>
        <p:blipFill>
          <a:blip r:embed="rId2" cstate="print"/>
          <a:srcRect/>
          <a:stretch>
            <a:fillRect/>
          </a:stretch>
        </p:blipFill>
        <p:spPr bwMode="auto">
          <a:xfrm>
            <a:off x="1247775" y="1828800"/>
            <a:ext cx="6648450" cy="3314700"/>
          </a:xfrm>
          <a:prstGeom prst="rect">
            <a:avLst/>
          </a:prstGeom>
          <a:noFill/>
          <a:ln w="9525">
            <a:noFill/>
            <a:miter lim="800000"/>
            <a:headEnd/>
            <a:tailEnd/>
          </a:ln>
        </p:spPr>
      </p:pic>
      <p:sp>
        <p:nvSpPr>
          <p:cNvPr id="5" name="Rectangle 4"/>
          <p:cNvSpPr/>
          <p:nvPr/>
        </p:nvSpPr>
        <p:spPr>
          <a:xfrm>
            <a:off x="2057400" y="5638800"/>
            <a:ext cx="5181600" cy="4308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dirty="0" smtClean="0"/>
              <a:t>ONLINE RETAIL SYSTEM DEPENDENCIES</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Functional Viewpoint</a:t>
            </a:r>
            <a:endParaRPr lang="en-US" dirty="0"/>
          </a:p>
        </p:txBody>
      </p:sp>
      <p:sp>
        <p:nvSpPr>
          <p:cNvPr id="3" name="Content Placeholder 2"/>
          <p:cNvSpPr>
            <a:spLocks noGrp="1"/>
          </p:cNvSpPr>
          <p:nvPr>
            <p:ph idx="1"/>
          </p:nvPr>
        </p:nvSpPr>
        <p:spPr/>
        <p:txBody>
          <a:bodyPr/>
          <a:lstStyle/>
          <a:p>
            <a:r>
              <a:rPr lang="en-US" sz="2400" dirty="0" smtClean="0"/>
              <a:t>This view documents </a:t>
            </a:r>
            <a:r>
              <a:rPr lang="en-US" sz="2400" i="1" dirty="0" smtClean="0">
                <a:solidFill>
                  <a:srgbClr val="C00000"/>
                </a:solidFill>
              </a:rPr>
              <a:t>the system’s functional structure</a:t>
            </a:r>
            <a:r>
              <a:rPr lang="en-US" sz="2400" dirty="0" smtClean="0"/>
              <a:t>—including the key functional elements, their responsibilities, the interfaces they expose, and the interactions between them.</a:t>
            </a:r>
          </a:p>
          <a:p>
            <a:r>
              <a:rPr lang="en-US" sz="2400" i="1" dirty="0" smtClean="0">
                <a:solidFill>
                  <a:srgbClr val="C00000"/>
                </a:solidFill>
              </a:rPr>
              <a:t>Concerns</a:t>
            </a:r>
            <a:r>
              <a:rPr lang="en-US" sz="2400" dirty="0" smtClean="0"/>
              <a:t>: Functional capabilities, External Interfaces, Internal Structure, Functional Design Philosophy.</a:t>
            </a:r>
          </a:p>
          <a:p>
            <a:r>
              <a:rPr lang="en-US" sz="2400" i="1" dirty="0" smtClean="0">
                <a:solidFill>
                  <a:srgbClr val="C00000"/>
                </a:solidFill>
              </a:rPr>
              <a:t>Model</a:t>
            </a:r>
            <a:r>
              <a:rPr lang="en-US" sz="2400" dirty="0" smtClean="0"/>
              <a:t>: Functional structure model (UML component diagrams, Boxes-and-lines diagrams).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View Example</a:t>
            </a:r>
            <a:endParaRPr lang="en-US" dirty="0"/>
          </a:p>
        </p:txBody>
      </p:sp>
      <p:pic>
        <p:nvPicPr>
          <p:cNvPr id="29698" name="Picture 2"/>
          <p:cNvPicPr>
            <a:picLocks noChangeAspect="1" noChangeArrowheads="1"/>
          </p:cNvPicPr>
          <p:nvPr/>
        </p:nvPicPr>
        <p:blipFill>
          <a:blip r:embed="rId2" cstate="print"/>
          <a:srcRect/>
          <a:stretch>
            <a:fillRect/>
          </a:stretch>
        </p:blipFill>
        <p:spPr bwMode="auto">
          <a:xfrm>
            <a:off x="1212850" y="1676400"/>
            <a:ext cx="6718300" cy="3857625"/>
          </a:xfrm>
          <a:prstGeom prst="rect">
            <a:avLst/>
          </a:prstGeom>
          <a:noFill/>
          <a:ln w="9525">
            <a:noFill/>
            <a:miter lim="800000"/>
            <a:headEnd/>
            <a:tailEnd/>
          </a:ln>
        </p:spPr>
      </p:pic>
      <p:sp>
        <p:nvSpPr>
          <p:cNvPr id="6" name="Rectangle 5"/>
          <p:cNvSpPr/>
          <p:nvPr/>
        </p:nvSpPr>
        <p:spPr>
          <a:xfrm>
            <a:off x="2057400" y="5867400"/>
            <a:ext cx="5181600" cy="43088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dirty="0" smtClean="0"/>
              <a:t>Web Shop</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Information Viewpoint</a:t>
            </a:r>
            <a:endParaRPr lang="en-US" dirty="0"/>
          </a:p>
        </p:txBody>
      </p:sp>
      <p:sp>
        <p:nvSpPr>
          <p:cNvPr id="3" name="Content Placeholder 2"/>
          <p:cNvSpPr>
            <a:spLocks noGrp="1"/>
          </p:cNvSpPr>
          <p:nvPr>
            <p:ph idx="1"/>
          </p:nvPr>
        </p:nvSpPr>
        <p:spPr/>
        <p:txBody>
          <a:bodyPr/>
          <a:lstStyle/>
          <a:p>
            <a:r>
              <a:rPr lang="en-US" sz="2200" dirty="0" smtClean="0"/>
              <a:t>You use the </a:t>
            </a:r>
            <a:r>
              <a:rPr lang="en-US" sz="2200" i="1" dirty="0" smtClean="0">
                <a:solidFill>
                  <a:srgbClr val="C00000"/>
                </a:solidFill>
              </a:rPr>
              <a:t>Information view</a:t>
            </a:r>
            <a:r>
              <a:rPr lang="en-US" sz="2200" dirty="0" smtClean="0"/>
              <a:t> to answer, at an architectural level, questions about how your system will store, manipulate, manage, and distribute information.</a:t>
            </a:r>
            <a:endParaRPr lang="en-US" sz="2200" i="1" dirty="0" smtClean="0">
              <a:solidFill>
                <a:srgbClr val="C00000"/>
              </a:solidFill>
            </a:endParaRPr>
          </a:p>
          <a:p>
            <a:r>
              <a:rPr lang="en-US" sz="2200" i="1" dirty="0" smtClean="0">
                <a:solidFill>
                  <a:srgbClr val="C00000"/>
                </a:solidFill>
              </a:rPr>
              <a:t>Concerns</a:t>
            </a:r>
            <a:r>
              <a:rPr lang="en-US" sz="2200" dirty="0" smtClean="0"/>
              <a:t>: Information Structure and Content, Information Purpose and Usage, Information Ownership, Enterprise-Owned Information, Identifiers and Mappings, Volatility of Information Semantics, Information Storage Models, Information Flow, Information Consistency, Information Quality, Timeliness, Latency, and Age, Archiving and Information Retention.</a:t>
            </a:r>
          </a:p>
          <a:p>
            <a:r>
              <a:rPr lang="en-US" sz="2200" i="1" dirty="0" smtClean="0">
                <a:solidFill>
                  <a:srgbClr val="C00000"/>
                </a:solidFill>
              </a:rPr>
              <a:t>Model</a:t>
            </a:r>
            <a:r>
              <a:rPr lang="en-US" sz="2200" dirty="0" smtClean="0"/>
              <a:t>: Static information structure models (entity-relationship diagrams, UML class diagrams, data flow diagrams, UML state diagrams).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View Example</a:t>
            </a:r>
            <a:endParaRPr lang="en-US" dirty="0"/>
          </a:p>
        </p:txBody>
      </p:sp>
      <p:pic>
        <p:nvPicPr>
          <p:cNvPr id="27649" name="Picture 1"/>
          <p:cNvPicPr>
            <a:picLocks noChangeAspect="1" noChangeArrowheads="1"/>
          </p:cNvPicPr>
          <p:nvPr/>
        </p:nvPicPr>
        <p:blipFill>
          <a:blip r:embed="rId2" cstate="print"/>
          <a:srcRect/>
          <a:stretch>
            <a:fillRect/>
          </a:stretch>
        </p:blipFill>
        <p:spPr bwMode="auto">
          <a:xfrm>
            <a:off x="1612900" y="1876425"/>
            <a:ext cx="5918200" cy="3152775"/>
          </a:xfrm>
          <a:prstGeom prst="rect">
            <a:avLst/>
          </a:prstGeom>
          <a:noFill/>
          <a:ln w="9525">
            <a:noFill/>
            <a:miter lim="800000"/>
            <a:headEnd/>
            <a:tailEnd/>
          </a:ln>
        </p:spPr>
      </p:pic>
      <p:sp>
        <p:nvSpPr>
          <p:cNvPr id="5" name="Rectangle 4"/>
          <p:cNvSpPr/>
          <p:nvPr/>
        </p:nvSpPr>
        <p:spPr>
          <a:xfrm>
            <a:off x="1524000" y="5638800"/>
            <a:ext cx="61722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dirty="0" smtClean="0"/>
              <a:t>ENTITY-RELATIONSHIP DIAGRAM FOR LIBRARY</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Concurrency Viewpoint</a:t>
            </a:r>
            <a:endParaRPr lang="en-US" dirty="0"/>
          </a:p>
        </p:txBody>
      </p:sp>
      <p:sp>
        <p:nvSpPr>
          <p:cNvPr id="3" name="Content Placeholder 2"/>
          <p:cNvSpPr>
            <a:spLocks noGrp="1"/>
          </p:cNvSpPr>
          <p:nvPr>
            <p:ph idx="1"/>
          </p:nvPr>
        </p:nvSpPr>
        <p:spPr/>
        <p:txBody>
          <a:bodyPr/>
          <a:lstStyle/>
          <a:p>
            <a:r>
              <a:rPr lang="en-US" sz="1800" dirty="0" smtClean="0"/>
              <a:t>The </a:t>
            </a:r>
            <a:r>
              <a:rPr lang="en-US" sz="1800" i="1" dirty="0" smtClean="0">
                <a:solidFill>
                  <a:srgbClr val="C00000"/>
                </a:solidFill>
              </a:rPr>
              <a:t>Concurrency view</a:t>
            </a:r>
            <a:r>
              <a:rPr lang="en-US" sz="1800" dirty="0" smtClean="0"/>
              <a:t> is used to describe the system’s concurrency and state-related structure and constraints. This involves defining the parts of the system that </a:t>
            </a:r>
            <a:r>
              <a:rPr lang="en-US" sz="1800" u="sng" dirty="0" smtClean="0"/>
              <a:t>execute at the same time</a:t>
            </a:r>
            <a:r>
              <a:rPr lang="en-US" sz="1800" dirty="0" smtClean="0"/>
              <a:t> and how this is controlled.</a:t>
            </a:r>
          </a:p>
          <a:p>
            <a:r>
              <a:rPr lang="en-US" sz="1800" dirty="0" smtClean="0"/>
              <a:t>To do this, you need to create a </a:t>
            </a:r>
            <a:r>
              <a:rPr lang="en-US" sz="1800" i="1" dirty="0" smtClean="0">
                <a:solidFill>
                  <a:srgbClr val="C00000"/>
                </a:solidFill>
              </a:rPr>
              <a:t>process model</a:t>
            </a:r>
            <a:r>
              <a:rPr lang="en-US" sz="1800" dirty="0" smtClean="0"/>
              <a:t> and a </a:t>
            </a:r>
            <a:r>
              <a:rPr lang="en-US" sz="1800" i="1" dirty="0" smtClean="0">
                <a:solidFill>
                  <a:srgbClr val="C00000"/>
                </a:solidFill>
              </a:rPr>
              <a:t>state model</a:t>
            </a:r>
            <a:r>
              <a:rPr lang="en-US" sz="1800" dirty="0" smtClean="0"/>
              <a:t>: The process model shows the planned process, thread, and inter-process communication structure; the state model describes the set of states that runtime elements can be in and the valid transitions between those states.</a:t>
            </a:r>
          </a:p>
          <a:p>
            <a:r>
              <a:rPr lang="en-US" sz="1800" dirty="0" smtClean="0"/>
              <a:t>Some information systems have little concurrency. Others, while exhibiting concurrent behavior, </a:t>
            </a:r>
            <a:r>
              <a:rPr lang="en-US" sz="1800" i="1" dirty="0" smtClean="0">
                <a:solidFill>
                  <a:srgbClr val="C00000"/>
                </a:solidFill>
              </a:rPr>
              <a:t>use the facilities of underlying frameworks</a:t>
            </a:r>
            <a:r>
              <a:rPr lang="en-US" sz="1800" dirty="0" smtClean="0"/>
              <a:t> and containers (e.g., application servers and databases) to </a:t>
            </a:r>
            <a:r>
              <a:rPr lang="en-US" sz="1800" u="sng" dirty="0" smtClean="0"/>
              <a:t>hide the concurrency model</a:t>
            </a:r>
            <a:r>
              <a:rPr lang="en-US" sz="1800" dirty="0" smtClean="0"/>
              <a:t> in use.</a:t>
            </a:r>
          </a:p>
          <a:p>
            <a:r>
              <a:rPr lang="en-US" sz="1800" dirty="0" smtClean="0"/>
              <a:t>Many of today’s information systems are inherently event-driven, reactive, concurrent systems.</a:t>
            </a:r>
            <a:endParaRPr lang="en-US" sz="1800" i="1" dirty="0" smtClean="0">
              <a:solidFill>
                <a:srgbClr val="C00000"/>
              </a:solidFill>
            </a:endParaRPr>
          </a:p>
          <a:p>
            <a:r>
              <a:rPr lang="en-US" sz="1800" i="1" dirty="0" smtClean="0">
                <a:solidFill>
                  <a:srgbClr val="C00000"/>
                </a:solidFill>
              </a:rPr>
              <a:t>Concerns</a:t>
            </a:r>
            <a:r>
              <a:rPr lang="en-US" sz="1800" dirty="0" smtClean="0"/>
              <a:t>: Task (Process or Thread) Structure, Inter-process Communication, State Management, Synchronization and Integrity, Supporting Scalability, Task Failure, </a:t>
            </a:r>
          </a:p>
          <a:p>
            <a:r>
              <a:rPr lang="en-US" sz="1800" i="1" dirty="0" smtClean="0">
                <a:solidFill>
                  <a:srgbClr val="C00000"/>
                </a:solidFill>
              </a:rPr>
              <a:t>Model</a:t>
            </a:r>
            <a:r>
              <a:rPr lang="en-US" sz="1800" dirty="0" smtClean="0"/>
              <a:t>: System-Level Concurrency Models, State Models.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Picture 3"/>
          <p:cNvPicPr>
            <a:picLocks noChangeAspect="1" noChangeArrowheads="1"/>
          </p:cNvPicPr>
          <p:nvPr/>
        </p:nvPicPr>
        <p:blipFill>
          <a:blip r:embed="rId2" cstate="print"/>
          <a:srcRect/>
          <a:stretch>
            <a:fillRect/>
          </a:stretch>
        </p:blipFill>
        <p:spPr bwMode="auto">
          <a:xfrm>
            <a:off x="1493838" y="1524000"/>
            <a:ext cx="6156325" cy="40036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Concurrency View Example 1</a:t>
            </a:r>
            <a:endParaRPr lang="en-US" dirty="0"/>
          </a:p>
        </p:txBody>
      </p:sp>
      <p:cxnSp>
        <p:nvCxnSpPr>
          <p:cNvPr id="9" name="Straight Arrow Connector 8"/>
          <p:cNvCxnSpPr/>
          <p:nvPr/>
        </p:nvCxnSpPr>
        <p:spPr>
          <a:xfrm flipH="1">
            <a:off x="5105400" y="2403475"/>
            <a:ext cx="457200" cy="533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p:cNvCxnSpPr/>
          <p:nvPr/>
        </p:nvCxnSpPr>
        <p:spPr>
          <a:xfrm>
            <a:off x="4800600" y="3546475"/>
            <a:ext cx="228600" cy="533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Rectangle 11"/>
          <p:cNvSpPr/>
          <p:nvPr/>
        </p:nvSpPr>
        <p:spPr>
          <a:xfrm>
            <a:off x="685800" y="5678269"/>
            <a:ext cx="73914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dirty="0" smtClean="0"/>
              <a:t>The concurrent activity between the Statistics </a:t>
            </a:r>
            <a:r>
              <a:rPr lang="en-US" dirty="0" err="1" smtClean="0"/>
              <a:t>Accessor</a:t>
            </a:r>
            <a:r>
              <a:rPr lang="en-US" dirty="0" smtClean="0"/>
              <a:t> and Statistics Calculator components needs to be coordinated.</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Concurrency View Example 2</a:t>
            </a:r>
            <a:endParaRPr lang="en-US" dirty="0"/>
          </a:p>
        </p:txBody>
      </p:sp>
      <p:pic>
        <p:nvPicPr>
          <p:cNvPr id="24577" name="Picture 1"/>
          <p:cNvPicPr>
            <a:picLocks noChangeAspect="1" noChangeArrowheads="1"/>
          </p:cNvPicPr>
          <p:nvPr/>
        </p:nvPicPr>
        <p:blipFill>
          <a:blip r:embed="rId2" cstate="print"/>
          <a:srcRect/>
          <a:stretch>
            <a:fillRect/>
          </a:stretch>
        </p:blipFill>
        <p:spPr bwMode="auto">
          <a:xfrm>
            <a:off x="762000" y="1606550"/>
            <a:ext cx="5610225" cy="4718050"/>
          </a:xfrm>
          <a:prstGeom prst="rect">
            <a:avLst/>
          </a:prstGeom>
          <a:noFill/>
          <a:ln w="9525">
            <a:noFill/>
            <a:miter lim="800000"/>
            <a:headEnd/>
            <a:tailEnd/>
          </a:ln>
        </p:spPr>
      </p:pic>
      <p:sp>
        <p:nvSpPr>
          <p:cNvPr id="5" name="Rectangle 4"/>
          <p:cNvSpPr/>
          <p:nvPr/>
        </p:nvSpPr>
        <p:spPr>
          <a:xfrm>
            <a:off x="5638800" y="3048000"/>
            <a:ext cx="3124200"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itchFamily="34" charset="0"/>
              <a:buChar char="•"/>
            </a:pPr>
            <a:r>
              <a:rPr lang="en-US" dirty="0" smtClean="0"/>
              <a:t>The </a:t>
            </a:r>
            <a:r>
              <a:rPr lang="en-US" b="1" dirty="0" smtClean="0"/>
              <a:t>Calculating state</a:t>
            </a:r>
            <a:r>
              <a:rPr lang="en-US" dirty="0" smtClean="0"/>
              <a:t> is interesting because it is a concurrent state, as you can see from the dashed line that bisects it.</a:t>
            </a:r>
          </a:p>
          <a:p>
            <a:pPr marL="342900" indent="-342900">
              <a:buFont typeface="Arial" pitchFamily="34" charset="0"/>
              <a:buChar char="•"/>
            </a:pPr>
            <a:r>
              <a:rPr lang="en-US" dirty="0" smtClean="0"/>
              <a:t>This means that while in the </a:t>
            </a:r>
            <a:r>
              <a:rPr lang="en-US" b="1" dirty="0" smtClean="0"/>
              <a:t>Calculating state</a:t>
            </a:r>
            <a:r>
              <a:rPr lang="en-US" dirty="0" smtClean="0"/>
              <a:t>, the element is actually in two </a:t>
            </a:r>
            <a:r>
              <a:rPr lang="en-US" i="1" dirty="0" smtClean="0">
                <a:solidFill>
                  <a:srgbClr val="C00000"/>
                </a:solidFill>
              </a:rPr>
              <a:t>concurrent</a:t>
            </a:r>
            <a:r>
              <a:rPr lang="en-US" dirty="0" smtClean="0"/>
              <a:t> </a:t>
            </a:r>
            <a:r>
              <a:rPr lang="en-US" dirty="0" err="1" smtClean="0"/>
              <a:t>substates</a:t>
            </a:r>
            <a:r>
              <a:rPr lang="en-US" dirty="0" smtClean="0"/>
              <a:t> (Calculating Values and Calculating Risk).</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Development Viewpoint</a:t>
            </a:r>
            <a:endParaRPr lang="en-US" dirty="0"/>
          </a:p>
        </p:txBody>
      </p:sp>
      <p:sp>
        <p:nvSpPr>
          <p:cNvPr id="3" name="Content Placeholder 2"/>
          <p:cNvSpPr>
            <a:spLocks noGrp="1"/>
          </p:cNvSpPr>
          <p:nvPr>
            <p:ph idx="1"/>
          </p:nvPr>
        </p:nvSpPr>
        <p:spPr/>
        <p:txBody>
          <a:bodyPr/>
          <a:lstStyle/>
          <a:p>
            <a:r>
              <a:rPr lang="en-US" sz="2400" dirty="0" smtClean="0"/>
              <a:t>It is this view that addresses the specific concerns of the software </a:t>
            </a:r>
            <a:r>
              <a:rPr lang="en-US" sz="2400" i="1" dirty="0" smtClean="0">
                <a:solidFill>
                  <a:srgbClr val="C00000"/>
                </a:solidFill>
              </a:rPr>
              <a:t>developers</a:t>
            </a:r>
            <a:r>
              <a:rPr lang="en-US" sz="2400" dirty="0" smtClean="0"/>
              <a:t> and </a:t>
            </a:r>
            <a:r>
              <a:rPr lang="en-US" sz="2400" i="1" dirty="0" smtClean="0">
                <a:solidFill>
                  <a:srgbClr val="C00000"/>
                </a:solidFill>
              </a:rPr>
              <a:t>testers</a:t>
            </a:r>
            <a:r>
              <a:rPr lang="en-US" sz="2400" dirty="0" smtClean="0"/>
              <a:t>.</a:t>
            </a:r>
          </a:p>
          <a:p>
            <a:r>
              <a:rPr lang="en-US" sz="2400" dirty="0" smtClean="0"/>
              <a:t>The importance of this view depends on </a:t>
            </a:r>
            <a:r>
              <a:rPr lang="en-US" sz="2400" i="1" dirty="0" smtClean="0">
                <a:solidFill>
                  <a:srgbClr val="C00000"/>
                </a:solidFill>
              </a:rPr>
              <a:t>the complexity of the system</a:t>
            </a:r>
            <a:r>
              <a:rPr lang="en-US" sz="2400" dirty="0" smtClean="0"/>
              <a:t> being built, the expertise of the software developers, the maturity of </a:t>
            </a:r>
            <a:r>
              <a:rPr lang="en-US" sz="2400" i="1" dirty="0" smtClean="0">
                <a:solidFill>
                  <a:srgbClr val="C00000"/>
                </a:solidFill>
              </a:rPr>
              <a:t>the technologies used</a:t>
            </a:r>
            <a:r>
              <a:rPr lang="en-US" sz="2400" dirty="0" smtClean="0"/>
              <a:t>, and the familiarity that the whole team has with these technologies.</a:t>
            </a:r>
          </a:p>
          <a:p>
            <a:r>
              <a:rPr lang="en-US" sz="2400" i="1" dirty="0" smtClean="0">
                <a:solidFill>
                  <a:srgbClr val="C00000"/>
                </a:solidFill>
              </a:rPr>
              <a:t>Concerns</a:t>
            </a:r>
            <a:r>
              <a:rPr lang="en-US" sz="2400" dirty="0" smtClean="0"/>
              <a:t>: Module Organization, Common Processing, Standardization of Design, Standardization of Testing, Instrumentation, </a:t>
            </a:r>
            <a:r>
              <a:rPr lang="en-US" sz="2400" dirty="0" err="1" smtClean="0"/>
              <a:t>Codeline</a:t>
            </a:r>
            <a:r>
              <a:rPr lang="en-US" sz="2400" dirty="0" smtClean="0"/>
              <a:t> Organization.</a:t>
            </a:r>
          </a:p>
          <a:p>
            <a:r>
              <a:rPr lang="en-US" sz="2400" i="1" dirty="0" smtClean="0">
                <a:solidFill>
                  <a:srgbClr val="C00000"/>
                </a:solidFill>
              </a:rPr>
              <a:t>Model</a:t>
            </a:r>
            <a:r>
              <a:rPr lang="en-US" sz="2400" dirty="0" smtClean="0"/>
              <a:t>: Module Structure Models (UML package diagrams).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View Example</a:t>
            </a:r>
            <a:endParaRPr lang="en-US" dirty="0"/>
          </a:p>
        </p:txBody>
      </p:sp>
      <p:pic>
        <p:nvPicPr>
          <p:cNvPr id="22529" name="Picture 1"/>
          <p:cNvPicPr>
            <a:picLocks noChangeAspect="1" noChangeArrowheads="1"/>
          </p:cNvPicPr>
          <p:nvPr/>
        </p:nvPicPr>
        <p:blipFill>
          <a:blip r:embed="rId2" cstate="print"/>
          <a:srcRect/>
          <a:stretch>
            <a:fillRect/>
          </a:stretch>
        </p:blipFill>
        <p:spPr bwMode="auto">
          <a:xfrm>
            <a:off x="1820863" y="1638300"/>
            <a:ext cx="5502275" cy="46863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Deployment Viewpoint</a:t>
            </a:r>
            <a:endParaRPr lang="en-US" dirty="0"/>
          </a:p>
        </p:txBody>
      </p:sp>
      <p:sp>
        <p:nvSpPr>
          <p:cNvPr id="3" name="Content Placeholder 2"/>
          <p:cNvSpPr>
            <a:spLocks noGrp="1"/>
          </p:cNvSpPr>
          <p:nvPr>
            <p:ph idx="1"/>
          </p:nvPr>
        </p:nvSpPr>
        <p:spPr/>
        <p:txBody>
          <a:bodyPr/>
          <a:lstStyle/>
          <a:p>
            <a:r>
              <a:rPr lang="en-US" sz="2200" dirty="0" smtClean="0"/>
              <a:t>This view defines the </a:t>
            </a:r>
            <a:r>
              <a:rPr lang="en-US" sz="2200" i="1" dirty="0" smtClean="0">
                <a:solidFill>
                  <a:srgbClr val="C00000"/>
                </a:solidFill>
              </a:rPr>
              <a:t>physical environment in which the system is intended to run</a:t>
            </a:r>
            <a:r>
              <a:rPr lang="en-US" sz="2200" dirty="0" smtClean="0"/>
              <a:t>, including the hardware or hosting environment (e.g., processing nodes, network interconnections, and disk storage facilities), the technical environment requirements for each type of processing node in the system, and the mapping of your software elements to the runtime environment that will execute them.</a:t>
            </a:r>
          </a:p>
          <a:p>
            <a:r>
              <a:rPr lang="en-US" sz="2200" i="1" dirty="0" smtClean="0">
                <a:solidFill>
                  <a:srgbClr val="C00000"/>
                </a:solidFill>
              </a:rPr>
              <a:t>Concerns</a:t>
            </a:r>
            <a:r>
              <a:rPr lang="en-US" sz="2200" dirty="0" smtClean="0"/>
              <a:t>: Runtime Platform Required, Specification and Quantity of Hardware or Hosting Required, Third-Party Software Requirements, Technology Compatibility, Network Requirements, Network Capacity Required, Physical Constraints.</a:t>
            </a:r>
          </a:p>
          <a:p>
            <a:r>
              <a:rPr lang="en-US" sz="2200" i="1" dirty="0" smtClean="0">
                <a:solidFill>
                  <a:srgbClr val="C00000"/>
                </a:solidFill>
              </a:rPr>
              <a:t>Model</a:t>
            </a:r>
            <a:r>
              <a:rPr lang="en-US" sz="2200" dirty="0" smtClean="0"/>
              <a:t>: Runtime Platform Models, Network Models.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View Example 1</a:t>
            </a:r>
            <a:endParaRPr lang="en-US" dirty="0"/>
          </a:p>
        </p:txBody>
      </p:sp>
      <p:pic>
        <p:nvPicPr>
          <p:cNvPr id="20482" name="Picture 2"/>
          <p:cNvPicPr>
            <a:picLocks noChangeAspect="1" noChangeArrowheads="1"/>
          </p:cNvPicPr>
          <p:nvPr/>
        </p:nvPicPr>
        <p:blipFill>
          <a:blip r:embed="rId2" cstate="print"/>
          <a:srcRect/>
          <a:stretch>
            <a:fillRect/>
          </a:stretch>
        </p:blipFill>
        <p:spPr bwMode="auto">
          <a:xfrm>
            <a:off x="1143000" y="1524000"/>
            <a:ext cx="5095875" cy="4940300"/>
          </a:xfrm>
          <a:prstGeom prst="rect">
            <a:avLst/>
          </a:prstGeom>
          <a:noFill/>
          <a:ln w="9525">
            <a:noFill/>
            <a:miter lim="800000"/>
            <a:headEnd/>
            <a:tailEnd/>
          </a:ln>
        </p:spPr>
      </p:pic>
      <p:sp>
        <p:nvSpPr>
          <p:cNvPr id="6" name="Rectangle 5"/>
          <p:cNvSpPr/>
          <p:nvPr/>
        </p:nvSpPr>
        <p:spPr>
          <a:xfrm>
            <a:off x="5791200" y="4876800"/>
            <a:ext cx="250472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lgn="ctr"/>
            <a:r>
              <a:rPr lang="en-US" dirty="0" smtClean="0"/>
              <a:t>Runtime Platform Model</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View Example 2</a:t>
            </a:r>
            <a:endParaRPr lang="en-US" dirty="0"/>
          </a:p>
        </p:txBody>
      </p:sp>
      <p:pic>
        <p:nvPicPr>
          <p:cNvPr id="19458" name="Picture 2"/>
          <p:cNvPicPr>
            <a:picLocks noChangeAspect="1" noChangeArrowheads="1"/>
          </p:cNvPicPr>
          <p:nvPr/>
        </p:nvPicPr>
        <p:blipFill>
          <a:blip r:embed="rId2" cstate="print"/>
          <a:srcRect/>
          <a:stretch>
            <a:fillRect/>
          </a:stretch>
        </p:blipFill>
        <p:spPr bwMode="auto">
          <a:xfrm>
            <a:off x="1185863" y="1524000"/>
            <a:ext cx="6772275" cy="3971925"/>
          </a:xfrm>
          <a:prstGeom prst="rect">
            <a:avLst/>
          </a:prstGeom>
          <a:noFill/>
          <a:ln w="9525">
            <a:noFill/>
            <a:miter lim="800000"/>
            <a:headEnd/>
            <a:tailEnd/>
          </a:ln>
        </p:spPr>
      </p:pic>
      <p:sp>
        <p:nvSpPr>
          <p:cNvPr id="6" name="Rectangle 5"/>
          <p:cNvSpPr/>
          <p:nvPr/>
        </p:nvSpPr>
        <p:spPr>
          <a:xfrm>
            <a:off x="3581400" y="5867400"/>
            <a:ext cx="1982274" cy="430887"/>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lgn="ctr"/>
            <a:r>
              <a:rPr lang="en-US" sz="2200" dirty="0" smtClean="0"/>
              <a:t>Network Model</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Operational Viewpoint</a:t>
            </a:r>
            <a:endParaRPr lang="en-US" dirty="0"/>
          </a:p>
        </p:txBody>
      </p:sp>
      <p:sp>
        <p:nvSpPr>
          <p:cNvPr id="3" name="Content Placeholder 2"/>
          <p:cNvSpPr>
            <a:spLocks noGrp="1"/>
          </p:cNvSpPr>
          <p:nvPr>
            <p:ph idx="1"/>
          </p:nvPr>
        </p:nvSpPr>
        <p:spPr/>
        <p:txBody>
          <a:bodyPr/>
          <a:lstStyle/>
          <a:p>
            <a:r>
              <a:rPr lang="en-US" sz="2400" dirty="0" smtClean="0"/>
              <a:t>The aim of </a:t>
            </a:r>
            <a:r>
              <a:rPr lang="en-US" sz="2400" i="1" dirty="0" smtClean="0">
                <a:solidFill>
                  <a:srgbClr val="C00000"/>
                </a:solidFill>
              </a:rPr>
              <a:t>the Operational viewpoint</a:t>
            </a:r>
            <a:r>
              <a:rPr lang="en-US" sz="2400" dirty="0" smtClean="0"/>
              <a:t> is to identify a system-wide strategy for addressing the </a:t>
            </a:r>
            <a:r>
              <a:rPr lang="en-US" sz="2400" i="1" dirty="0" smtClean="0">
                <a:solidFill>
                  <a:srgbClr val="C00000"/>
                </a:solidFill>
              </a:rPr>
              <a:t>operational concerns</a:t>
            </a:r>
            <a:r>
              <a:rPr lang="en-US" sz="2400" dirty="0" smtClean="0"/>
              <a:t> of the system’s stakeholders and to identify solutions that address these.</a:t>
            </a:r>
            <a:endParaRPr lang="en-US" sz="2400" i="1" dirty="0" smtClean="0">
              <a:solidFill>
                <a:srgbClr val="C00000"/>
              </a:solidFill>
            </a:endParaRPr>
          </a:p>
          <a:p>
            <a:r>
              <a:rPr lang="en-US" sz="2400" i="1" dirty="0" smtClean="0">
                <a:solidFill>
                  <a:srgbClr val="C00000"/>
                </a:solidFill>
              </a:rPr>
              <a:t>Concerns</a:t>
            </a:r>
            <a:r>
              <a:rPr lang="en-US" sz="2400" dirty="0" smtClean="0"/>
              <a:t>: Installation and Upgrade, Functional Migration, Data Migration, Operational Monitoring and Control, Alerting, Configuration Management, Performance Monitoring, Support, Backup and Restore, Operation in Third-Party Environments.</a:t>
            </a:r>
          </a:p>
          <a:p>
            <a:r>
              <a:rPr lang="en-US" sz="2400" i="1" dirty="0" smtClean="0">
                <a:solidFill>
                  <a:srgbClr val="C00000"/>
                </a:solidFill>
              </a:rPr>
              <a:t>Model</a:t>
            </a:r>
            <a:r>
              <a:rPr lang="en-US" sz="2400" dirty="0" smtClean="0"/>
              <a:t>: Boxes-and-lines diagrams.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Operational View Example</a:t>
            </a:r>
            <a:endParaRPr lang="en-US" dirty="0"/>
          </a:p>
        </p:txBody>
      </p:sp>
      <p:sp>
        <p:nvSpPr>
          <p:cNvPr id="3" name="Content Placeholder 2"/>
          <p:cNvSpPr>
            <a:spLocks noGrp="1"/>
          </p:cNvSpPr>
          <p:nvPr>
            <p:ph idx="1"/>
          </p:nvPr>
        </p:nvSpPr>
        <p:spPr>
          <a:xfrm>
            <a:off x="457200" y="1600200"/>
            <a:ext cx="3657600" cy="4525963"/>
          </a:xfrm>
        </p:spPr>
        <p:txBody>
          <a:bodyPr/>
          <a:lstStyle/>
          <a:p>
            <a:r>
              <a:rPr lang="en-US" sz="2000" dirty="0" smtClean="0"/>
              <a:t>Data Migration Example.</a:t>
            </a:r>
          </a:p>
          <a:p>
            <a:r>
              <a:rPr lang="en-US" sz="2000" dirty="0" smtClean="0"/>
              <a:t>It will not be possible to halt the country’s tax-collection activities for two weeks while the data is migrated.</a:t>
            </a:r>
          </a:p>
          <a:p>
            <a:r>
              <a:rPr lang="en-US" sz="2000" dirty="0" smtClean="0"/>
              <a:t>Special code therefore has to be written to capture these updates as they occur and to apply them to the new system once the bulk of the data has been migrated into it, so that the extract is complete.</a:t>
            </a:r>
          </a:p>
        </p:txBody>
      </p:sp>
      <p:pic>
        <p:nvPicPr>
          <p:cNvPr id="70658" name="Picture 2"/>
          <p:cNvPicPr>
            <a:picLocks noChangeAspect="1" noChangeArrowheads="1"/>
          </p:cNvPicPr>
          <p:nvPr/>
        </p:nvPicPr>
        <p:blipFill>
          <a:blip r:embed="rId2" cstate="print"/>
          <a:srcRect/>
          <a:stretch>
            <a:fillRect/>
          </a:stretch>
        </p:blipFill>
        <p:spPr bwMode="auto">
          <a:xfrm>
            <a:off x="4343400" y="2286000"/>
            <a:ext cx="4349750" cy="287655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 Between Views</a:t>
            </a:r>
            <a:endParaRPr lang="en-US" dirty="0"/>
          </a:p>
        </p:txBody>
      </p:sp>
      <p:pic>
        <p:nvPicPr>
          <p:cNvPr id="15363" name="Picture 3"/>
          <p:cNvPicPr>
            <a:picLocks noChangeAspect="1" noChangeArrowheads="1"/>
          </p:cNvPicPr>
          <p:nvPr/>
        </p:nvPicPr>
        <p:blipFill>
          <a:blip r:embed="rId2" cstate="print"/>
          <a:srcRect/>
          <a:stretch>
            <a:fillRect/>
          </a:stretch>
        </p:blipFill>
        <p:spPr bwMode="auto">
          <a:xfrm>
            <a:off x="1214438" y="2279650"/>
            <a:ext cx="6715125" cy="290195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Perspectives</a:t>
            </a:r>
            <a:endParaRPr lang="en-US" dirty="0"/>
          </a:p>
        </p:txBody>
      </p:sp>
      <p:sp>
        <p:nvSpPr>
          <p:cNvPr id="3" name="Content Placeholder 2"/>
          <p:cNvSpPr>
            <a:spLocks noGrp="1"/>
          </p:cNvSpPr>
          <p:nvPr>
            <p:ph idx="1"/>
          </p:nvPr>
        </p:nvSpPr>
        <p:spPr/>
        <p:txBody>
          <a:bodyPr/>
          <a:lstStyle/>
          <a:p>
            <a:r>
              <a:rPr lang="en-US" sz="2400" dirty="0" smtClean="0"/>
              <a:t>Security.</a:t>
            </a:r>
          </a:p>
          <a:p>
            <a:r>
              <a:rPr lang="en-US" sz="2400" dirty="0" smtClean="0"/>
              <a:t>Performance and Scalability.</a:t>
            </a:r>
          </a:p>
          <a:p>
            <a:r>
              <a:rPr lang="en-US" sz="2400" dirty="0" smtClean="0"/>
              <a:t>Availability and Resilience.</a:t>
            </a:r>
          </a:p>
          <a:p>
            <a:r>
              <a:rPr lang="en-US" sz="2400" dirty="0" smtClean="0"/>
              <a:t>Evolution.</a:t>
            </a:r>
            <a:endParaRPr lang="en-US" sz="2400" dirty="0"/>
          </a:p>
        </p:txBody>
      </p:sp>
      <p:pic>
        <p:nvPicPr>
          <p:cNvPr id="71682" name="Picture 2" descr="https://miro.medium.com/v2/resize:fit:1400/0*Lp7BVHJA-mcGAMKS"/>
          <p:cNvPicPr>
            <a:picLocks noChangeAspect="1" noChangeArrowheads="1"/>
          </p:cNvPicPr>
          <p:nvPr/>
        </p:nvPicPr>
        <p:blipFill>
          <a:blip r:embed="rId2" cstate="print"/>
          <a:srcRect/>
          <a:stretch>
            <a:fillRect/>
          </a:stretch>
        </p:blipFill>
        <p:spPr bwMode="auto">
          <a:xfrm>
            <a:off x="2362200" y="4038600"/>
            <a:ext cx="4267200" cy="168021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Perspective Details</a:t>
            </a:r>
            <a:endParaRPr lang="en-US" dirty="0"/>
          </a:p>
        </p:txBody>
      </p:sp>
      <p:sp>
        <p:nvSpPr>
          <p:cNvPr id="3" name="Content Placeholder 2"/>
          <p:cNvSpPr>
            <a:spLocks noGrp="1"/>
          </p:cNvSpPr>
          <p:nvPr>
            <p:ph idx="1"/>
          </p:nvPr>
        </p:nvSpPr>
        <p:spPr/>
        <p:txBody>
          <a:bodyPr/>
          <a:lstStyle/>
          <a:p>
            <a:r>
              <a:rPr lang="en-US" sz="2200" dirty="0" smtClean="0"/>
              <a:t>The perspective’s </a:t>
            </a:r>
            <a:r>
              <a:rPr lang="en-US" sz="2200" i="1" dirty="0" smtClean="0">
                <a:solidFill>
                  <a:srgbClr val="C00000"/>
                </a:solidFill>
              </a:rPr>
              <a:t>applicability to views</a:t>
            </a:r>
            <a:r>
              <a:rPr lang="en-US" sz="2200" dirty="0" smtClean="0"/>
              <a:t>—that is, which of your views are most likely to be impacted by applying the perspective.</a:t>
            </a:r>
          </a:p>
          <a:p>
            <a:r>
              <a:rPr lang="en-US" sz="2200" dirty="0" smtClean="0"/>
              <a:t>The most important </a:t>
            </a:r>
            <a:r>
              <a:rPr lang="en-US" sz="2200" i="1" dirty="0" smtClean="0">
                <a:solidFill>
                  <a:srgbClr val="C00000"/>
                </a:solidFill>
              </a:rPr>
              <a:t>concerns</a:t>
            </a:r>
            <a:r>
              <a:rPr lang="en-US" sz="2200" dirty="0" smtClean="0"/>
              <a:t> the perspective addresses.</a:t>
            </a:r>
          </a:p>
          <a:p>
            <a:r>
              <a:rPr lang="en-US" sz="2200" dirty="0" smtClean="0"/>
              <a:t>A description of </a:t>
            </a:r>
            <a:r>
              <a:rPr lang="en-US" sz="2200" i="1" dirty="0" smtClean="0">
                <a:solidFill>
                  <a:srgbClr val="C00000"/>
                </a:solidFill>
              </a:rPr>
              <a:t>activities for applying the perspective</a:t>
            </a:r>
            <a:r>
              <a:rPr lang="en-US" sz="2200" dirty="0" smtClean="0"/>
              <a:t> to your architecture.</a:t>
            </a:r>
          </a:p>
          <a:p>
            <a:r>
              <a:rPr lang="en-US" sz="2200" dirty="0" smtClean="0"/>
              <a:t>The key </a:t>
            </a:r>
            <a:r>
              <a:rPr lang="en-US" sz="2200" i="1" dirty="0" smtClean="0">
                <a:solidFill>
                  <a:srgbClr val="C00000"/>
                </a:solidFill>
              </a:rPr>
              <a:t>architectural tactics</a:t>
            </a:r>
            <a:r>
              <a:rPr lang="en-US" sz="2200" dirty="0" smtClean="0"/>
              <a:t> to be considered as possible solutions when your architecture does not exhibit the required quality properties the perspective addresses.</a:t>
            </a:r>
          </a:p>
          <a:p>
            <a:r>
              <a:rPr lang="en-US" sz="2200" dirty="0" smtClean="0"/>
              <a:t>Some </a:t>
            </a:r>
            <a:r>
              <a:rPr lang="en-US" sz="2200" i="1" dirty="0" smtClean="0">
                <a:solidFill>
                  <a:srgbClr val="C00000"/>
                </a:solidFill>
              </a:rPr>
              <a:t>problems and pitfalls</a:t>
            </a:r>
            <a:r>
              <a:rPr lang="en-US" sz="2200" dirty="0" smtClean="0"/>
              <a:t> to be aware of and risk-reduction techniques for mitigating these.</a:t>
            </a:r>
          </a:p>
          <a:p>
            <a:r>
              <a:rPr lang="en-US" sz="2200" i="1" dirty="0" smtClean="0">
                <a:solidFill>
                  <a:srgbClr val="C00000"/>
                </a:solidFill>
              </a:rPr>
              <a:t>Checklists</a:t>
            </a:r>
            <a:r>
              <a:rPr lang="en-US" sz="2200" dirty="0" smtClean="0"/>
              <a:t> of things to consider when applying the perspective and when reviewing it, to help ensure correctness, completeness, and accuracy.</a:t>
            </a:r>
            <a:endParaRPr 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RUP’s Architectural Design Activities [3]</a:t>
            </a:r>
            <a:endParaRPr lang="en-US" sz="3800" dirty="0"/>
          </a:p>
        </p:txBody>
      </p:sp>
      <p:sp>
        <p:nvSpPr>
          <p:cNvPr id="3" name="Content Placeholder 2"/>
          <p:cNvSpPr>
            <a:spLocks noGrp="1"/>
          </p:cNvSpPr>
          <p:nvPr>
            <p:ph idx="1"/>
          </p:nvPr>
        </p:nvSpPr>
        <p:spPr/>
        <p:txBody>
          <a:bodyPr/>
          <a:lstStyle/>
          <a:p>
            <a:r>
              <a:rPr lang="en-US" sz="2200" dirty="0" smtClean="0"/>
              <a:t>Architectural design activities in RUP </a:t>
            </a:r>
            <a:r>
              <a:rPr lang="en-US" sz="2200" i="1" dirty="0" smtClean="0">
                <a:solidFill>
                  <a:srgbClr val="C00000"/>
                </a:solidFill>
              </a:rPr>
              <a:t>start with the following artifacts</a:t>
            </a:r>
            <a:r>
              <a:rPr lang="en-US" sz="2200" dirty="0" smtClean="0"/>
              <a:t>, which may not be finalized and still evolve during the architectural design:</a:t>
            </a:r>
          </a:p>
          <a:p>
            <a:pPr lvl="1"/>
            <a:r>
              <a:rPr lang="en-US" sz="1800" dirty="0" smtClean="0"/>
              <a:t>a vision document,</a:t>
            </a:r>
          </a:p>
          <a:p>
            <a:pPr lvl="1"/>
            <a:r>
              <a:rPr lang="en-US" sz="1800" dirty="0" smtClean="0"/>
              <a:t>a use case model (functional requirements) and</a:t>
            </a:r>
          </a:p>
          <a:p>
            <a:pPr lvl="1"/>
            <a:r>
              <a:rPr lang="en-US" sz="1800" dirty="0" smtClean="0"/>
              <a:t>supplementary specification (non-functional requirements, quality attributes).</a:t>
            </a:r>
          </a:p>
          <a:p>
            <a:r>
              <a:rPr lang="en-US" sz="2200" dirty="0" smtClean="0"/>
              <a:t>The three main groups of </a:t>
            </a:r>
            <a:r>
              <a:rPr lang="en-US" sz="2200" i="1" dirty="0" smtClean="0">
                <a:solidFill>
                  <a:srgbClr val="C00000"/>
                </a:solidFill>
              </a:rPr>
              <a:t>activities</a:t>
            </a:r>
            <a:r>
              <a:rPr lang="en-US" sz="2200" dirty="0" smtClean="0"/>
              <a:t> are:</a:t>
            </a:r>
          </a:p>
          <a:p>
            <a:pPr lvl="1"/>
            <a:r>
              <a:rPr lang="en-US" sz="1800" dirty="0" smtClean="0"/>
              <a:t>Define a </a:t>
            </a:r>
            <a:r>
              <a:rPr lang="en-US" sz="1800" i="1" dirty="0" smtClean="0">
                <a:solidFill>
                  <a:srgbClr val="C00000"/>
                </a:solidFill>
              </a:rPr>
              <a:t>candidate architecture</a:t>
            </a:r>
            <a:r>
              <a:rPr lang="en-US" sz="1800" dirty="0" smtClean="0"/>
              <a:t>. This usually starts with a use-case analysis, focusing on the use cases that are deemed architecturally significant, and with any </a:t>
            </a:r>
            <a:r>
              <a:rPr lang="en-US" sz="1800" i="1" dirty="0" smtClean="0">
                <a:solidFill>
                  <a:srgbClr val="C00000"/>
                </a:solidFill>
              </a:rPr>
              <a:t>reference architecture</a:t>
            </a:r>
            <a:r>
              <a:rPr lang="en-US" sz="1800" dirty="0" smtClean="0"/>
              <a:t> the organization may reuse.</a:t>
            </a:r>
          </a:p>
          <a:p>
            <a:pPr lvl="1"/>
            <a:r>
              <a:rPr lang="en-US" sz="1800" dirty="0" smtClean="0"/>
              <a:t>Perform Architectural Synthesis. Build an </a:t>
            </a:r>
            <a:r>
              <a:rPr lang="en-US" sz="1800" i="1" dirty="0" smtClean="0">
                <a:solidFill>
                  <a:srgbClr val="C00000"/>
                </a:solidFill>
              </a:rPr>
              <a:t>architectural proof-of-concept</a:t>
            </a:r>
            <a:r>
              <a:rPr lang="en-US" sz="1800" dirty="0" smtClean="0"/>
              <a:t>, and assess its viability, relative to functionality and to non-functional requirements.</a:t>
            </a:r>
          </a:p>
          <a:p>
            <a:pPr lvl="1"/>
            <a:r>
              <a:rPr lang="en-US" sz="1800" dirty="0" smtClean="0"/>
              <a:t>Refine the Architecture. Identify </a:t>
            </a:r>
            <a:r>
              <a:rPr lang="en-US" sz="1800" i="1" dirty="0" smtClean="0">
                <a:solidFill>
                  <a:srgbClr val="C00000"/>
                </a:solidFill>
              </a:rPr>
              <a:t>design elements</a:t>
            </a:r>
            <a:r>
              <a:rPr lang="en-US" sz="1800" dirty="0" smtClean="0"/>
              <a:t> (classes, processes, etc.)</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Application-Generic Knowledge: Patterns, Standards, Frameworks</a:t>
            </a:r>
            <a:endParaRPr lang="en-US" sz="4000" dirty="0"/>
          </a:p>
        </p:txBody>
      </p:sp>
      <p:sp>
        <p:nvSpPr>
          <p:cNvPr id="3" name="Content Placeholder 2"/>
          <p:cNvSpPr>
            <a:spLocks noGrp="1"/>
          </p:cNvSpPr>
          <p:nvPr>
            <p:ph idx="1"/>
          </p:nvPr>
        </p:nvSpPr>
        <p:spPr>
          <a:xfrm>
            <a:off x="457200" y="1981200"/>
            <a:ext cx="8229600" cy="4144963"/>
          </a:xfrm>
        </p:spPr>
        <p:txBody>
          <a:bodyPr/>
          <a:lstStyle/>
          <a:p>
            <a:r>
              <a:rPr lang="en-US" sz="2400" i="1" dirty="0" smtClean="0">
                <a:solidFill>
                  <a:srgbClr val="C00000"/>
                </a:solidFill>
              </a:rPr>
              <a:t>Patterns</a:t>
            </a:r>
          </a:p>
          <a:p>
            <a:pPr lvl="1"/>
            <a:r>
              <a:rPr lang="en-US" sz="2000" dirty="0" smtClean="0"/>
              <a:t>Gang of Four</a:t>
            </a:r>
          </a:p>
          <a:p>
            <a:pPr lvl="1"/>
            <a:r>
              <a:rPr lang="en-US" sz="2000" dirty="0" err="1" smtClean="0"/>
              <a:t>Buschmann</a:t>
            </a:r>
            <a:r>
              <a:rPr lang="en-US" sz="2000" dirty="0" smtClean="0"/>
              <a:t> and his Gang of Five.</a:t>
            </a:r>
          </a:p>
          <a:p>
            <a:r>
              <a:rPr lang="en-US" sz="2400" i="1" dirty="0" smtClean="0">
                <a:solidFill>
                  <a:srgbClr val="C00000"/>
                </a:solidFill>
              </a:rPr>
              <a:t>Standards</a:t>
            </a:r>
          </a:p>
          <a:p>
            <a:pPr lvl="1"/>
            <a:r>
              <a:rPr lang="en-US" sz="2000" dirty="0" smtClean="0"/>
              <a:t>TOGAF (The Open Group Architectural Framework)</a:t>
            </a:r>
          </a:p>
          <a:p>
            <a:pPr lvl="1"/>
            <a:r>
              <a:rPr lang="en-US" sz="2000" dirty="0" err="1" smtClean="0"/>
              <a:t>Zachman</a:t>
            </a:r>
            <a:r>
              <a:rPr lang="en-US" sz="2000" dirty="0" smtClean="0"/>
              <a:t> Framework</a:t>
            </a:r>
          </a:p>
          <a:p>
            <a:pPr lvl="1"/>
            <a:r>
              <a:rPr lang="en-US" sz="2000" dirty="0" smtClean="0"/>
              <a:t>ISO 19439 (FDIS), etc.</a:t>
            </a:r>
          </a:p>
          <a:p>
            <a:r>
              <a:rPr lang="en-US" sz="2400" i="1" dirty="0" smtClean="0">
                <a:solidFill>
                  <a:srgbClr val="C00000"/>
                </a:solidFill>
              </a:rPr>
              <a:t>Frameworks</a:t>
            </a:r>
          </a:p>
          <a:p>
            <a:pPr lvl="1"/>
            <a:r>
              <a:rPr lang="en-US" sz="2000" dirty="0" smtClean="0"/>
              <a:t>IEEE Std 1471</a:t>
            </a:r>
          </a:p>
          <a:p>
            <a:pPr lvl="1"/>
            <a:r>
              <a:rPr lang="en-US" sz="2000" dirty="0" smtClean="0"/>
              <a:t>ISO/IEC 42010, etc.</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Model-Driven Approach [5]</a:t>
            </a:r>
            <a:endParaRPr lang="en-US" dirty="0"/>
          </a:p>
        </p:txBody>
      </p:sp>
      <p:sp>
        <p:nvSpPr>
          <p:cNvPr id="3" name="Content Placeholder 2"/>
          <p:cNvSpPr>
            <a:spLocks noGrp="1"/>
          </p:cNvSpPr>
          <p:nvPr>
            <p:ph idx="1"/>
          </p:nvPr>
        </p:nvSpPr>
        <p:spPr>
          <a:xfrm>
            <a:off x="457200" y="1600200"/>
            <a:ext cx="4572000" cy="4525963"/>
          </a:xfrm>
        </p:spPr>
        <p:txBody>
          <a:bodyPr/>
          <a:lstStyle/>
          <a:p>
            <a:r>
              <a:rPr lang="en-US" sz="2000" dirty="0" smtClean="0"/>
              <a:t>A </a:t>
            </a:r>
            <a:r>
              <a:rPr lang="en-US" sz="2000" i="1" dirty="0" smtClean="0">
                <a:solidFill>
                  <a:srgbClr val="C00000"/>
                </a:solidFill>
              </a:rPr>
              <a:t>specialization of the ADD method</a:t>
            </a:r>
            <a:r>
              <a:rPr lang="en-US" sz="2000" dirty="0" smtClean="0"/>
              <a:t>, using Model-Driven Engineering techniques, that systematizes and assists the Decision Making activity.</a:t>
            </a:r>
          </a:p>
          <a:p>
            <a:r>
              <a:rPr lang="en-US" sz="2000" dirty="0" smtClean="0"/>
              <a:t>The architecture </a:t>
            </a:r>
            <a:r>
              <a:rPr lang="en-US" sz="2000" i="1" dirty="0" smtClean="0">
                <a:solidFill>
                  <a:srgbClr val="C00000"/>
                </a:solidFill>
              </a:rPr>
              <a:t>representation</a:t>
            </a:r>
            <a:r>
              <a:rPr lang="en-US" sz="2000" dirty="0" smtClean="0"/>
              <a:t> is precisely stated.</a:t>
            </a:r>
          </a:p>
          <a:p>
            <a:pPr lvl="1"/>
            <a:r>
              <a:rPr lang="en-US" sz="1600" dirty="0" smtClean="0"/>
              <a:t>six architectural viewpoints, each addressing a cohesive set of architectural concerns: </a:t>
            </a:r>
            <a:r>
              <a:rPr lang="en-US" sz="1600" i="1" dirty="0" smtClean="0">
                <a:solidFill>
                  <a:srgbClr val="C00000"/>
                </a:solidFill>
              </a:rPr>
              <a:t>Functional</a:t>
            </a:r>
            <a:r>
              <a:rPr lang="en-US" sz="1600" dirty="0" smtClean="0"/>
              <a:t>, </a:t>
            </a:r>
            <a:r>
              <a:rPr lang="en-US" sz="1600" i="1" dirty="0" smtClean="0">
                <a:solidFill>
                  <a:srgbClr val="C00000"/>
                </a:solidFill>
              </a:rPr>
              <a:t>Information</a:t>
            </a:r>
            <a:r>
              <a:rPr lang="en-US" sz="1600" dirty="0" smtClean="0"/>
              <a:t>, </a:t>
            </a:r>
            <a:r>
              <a:rPr lang="en-US" sz="1600" i="1" dirty="0" smtClean="0">
                <a:solidFill>
                  <a:srgbClr val="C00000"/>
                </a:solidFill>
              </a:rPr>
              <a:t>Concurrency</a:t>
            </a:r>
            <a:r>
              <a:rPr lang="en-US" sz="1600" dirty="0" smtClean="0"/>
              <a:t>, </a:t>
            </a:r>
            <a:r>
              <a:rPr lang="en-US" sz="1600" i="1" dirty="0" smtClean="0">
                <a:solidFill>
                  <a:srgbClr val="C00000"/>
                </a:solidFill>
              </a:rPr>
              <a:t>Development</a:t>
            </a:r>
            <a:r>
              <a:rPr lang="en-US" sz="1600" dirty="0" smtClean="0"/>
              <a:t>, </a:t>
            </a:r>
            <a:r>
              <a:rPr lang="en-US" sz="1600" i="1" dirty="0" smtClean="0">
                <a:solidFill>
                  <a:srgbClr val="C00000"/>
                </a:solidFill>
              </a:rPr>
              <a:t>Deployment</a:t>
            </a:r>
            <a:r>
              <a:rPr lang="en-US" sz="1600" dirty="0" smtClean="0"/>
              <a:t>, and </a:t>
            </a:r>
            <a:r>
              <a:rPr lang="en-US" sz="1600" i="1" dirty="0" smtClean="0">
                <a:solidFill>
                  <a:srgbClr val="C00000"/>
                </a:solidFill>
              </a:rPr>
              <a:t>Operational</a:t>
            </a:r>
            <a:r>
              <a:rPr lang="en-US" sz="1600" dirty="0" smtClean="0"/>
              <a:t>.</a:t>
            </a:r>
          </a:p>
          <a:p>
            <a:pPr lvl="1"/>
            <a:r>
              <a:rPr lang="en-US" sz="1600" dirty="0" smtClean="0"/>
              <a:t>use </a:t>
            </a:r>
            <a:r>
              <a:rPr lang="en-US" sz="1600" i="1" dirty="0" smtClean="0">
                <a:solidFill>
                  <a:srgbClr val="C00000"/>
                </a:solidFill>
              </a:rPr>
              <a:t>UML notation</a:t>
            </a:r>
            <a:r>
              <a:rPr lang="en-US" sz="1600" dirty="0" smtClean="0"/>
              <a:t> for depicting models, and somehow complement the </a:t>
            </a:r>
            <a:r>
              <a:rPr lang="en-US" sz="1600" i="1" dirty="0" smtClean="0">
                <a:solidFill>
                  <a:srgbClr val="C00000"/>
                </a:solidFill>
              </a:rPr>
              <a:t>language definitions</a:t>
            </a:r>
            <a:r>
              <a:rPr lang="en-US" sz="1600" dirty="0" smtClean="0"/>
              <a:t> provided by the view type approach.</a:t>
            </a:r>
          </a:p>
          <a:p>
            <a:pPr lvl="1"/>
            <a:r>
              <a:rPr lang="en-US" sz="1600" dirty="0" smtClean="0"/>
              <a:t>structure architectural views in </a:t>
            </a:r>
            <a:r>
              <a:rPr lang="en-US" sz="1600" i="1" dirty="0" smtClean="0">
                <a:solidFill>
                  <a:srgbClr val="C00000"/>
                </a:solidFill>
              </a:rPr>
              <a:t>three levels of abstraction</a:t>
            </a:r>
            <a:r>
              <a:rPr lang="en-US" sz="1600" dirty="0" smtClean="0"/>
              <a:t>.</a:t>
            </a:r>
          </a:p>
        </p:txBody>
      </p:sp>
      <p:pic>
        <p:nvPicPr>
          <p:cNvPr id="1026" name="Picture 2"/>
          <p:cNvPicPr>
            <a:picLocks noChangeAspect="1" noChangeArrowheads="1"/>
          </p:cNvPicPr>
          <p:nvPr/>
        </p:nvPicPr>
        <p:blipFill>
          <a:blip r:embed="rId2" cstate="print"/>
          <a:srcRect/>
          <a:stretch>
            <a:fillRect/>
          </a:stretch>
        </p:blipFill>
        <p:spPr bwMode="auto">
          <a:xfrm>
            <a:off x="5105400" y="2286000"/>
            <a:ext cx="3698875" cy="27844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Transformations</a:t>
            </a:r>
            <a:endParaRPr lang="en-US" dirty="0"/>
          </a:p>
        </p:txBody>
      </p:sp>
      <p:sp>
        <p:nvSpPr>
          <p:cNvPr id="3" name="Content Placeholder 2"/>
          <p:cNvSpPr>
            <a:spLocks noGrp="1"/>
          </p:cNvSpPr>
          <p:nvPr>
            <p:ph idx="1"/>
          </p:nvPr>
        </p:nvSpPr>
        <p:spPr/>
        <p:txBody>
          <a:bodyPr/>
          <a:lstStyle/>
          <a:p>
            <a:r>
              <a:rPr lang="en-US" sz="2200" dirty="0" smtClean="0"/>
              <a:t>The method is understood as the successive application of </a:t>
            </a:r>
            <a:r>
              <a:rPr lang="en-US" sz="2200" i="1" dirty="0" smtClean="0">
                <a:solidFill>
                  <a:srgbClr val="C00000"/>
                </a:solidFill>
              </a:rPr>
              <a:t>model transformations</a:t>
            </a:r>
            <a:r>
              <a:rPr lang="en-US" sz="2200" dirty="0" smtClean="0"/>
              <a:t>, starting from an empty representation and ending with the complete architecture representation.</a:t>
            </a:r>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990600" y="3097530"/>
            <a:ext cx="7120890" cy="337947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How to Create an Architecture? [6]</a:t>
            </a:r>
            <a:endParaRPr lang="en-US" sz="4000" dirty="0"/>
          </a:p>
        </p:txBody>
      </p:sp>
      <p:sp>
        <p:nvSpPr>
          <p:cNvPr id="3" name="Content Placeholder 2"/>
          <p:cNvSpPr>
            <a:spLocks noGrp="1"/>
          </p:cNvSpPr>
          <p:nvPr>
            <p:ph idx="1"/>
          </p:nvPr>
        </p:nvSpPr>
        <p:spPr/>
        <p:txBody>
          <a:bodyPr/>
          <a:lstStyle/>
          <a:p>
            <a:r>
              <a:rPr lang="en-US" sz="2400" dirty="0" smtClean="0"/>
              <a:t>Impose </a:t>
            </a:r>
            <a:r>
              <a:rPr lang="en-US" sz="2400" i="1" dirty="0" smtClean="0">
                <a:solidFill>
                  <a:srgbClr val="C00000"/>
                </a:solidFill>
              </a:rPr>
              <a:t>architectural style</a:t>
            </a:r>
          </a:p>
          <a:p>
            <a:r>
              <a:rPr lang="en-US" sz="2400" dirty="0" smtClean="0"/>
              <a:t>Impose </a:t>
            </a:r>
            <a:r>
              <a:rPr lang="en-US" sz="2400" i="1" dirty="0" smtClean="0">
                <a:solidFill>
                  <a:srgbClr val="C00000"/>
                </a:solidFill>
              </a:rPr>
              <a:t>architectural pattern</a:t>
            </a:r>
          </a:p>
          <a:p>
            <a:r>
              <a:rPr lang="en-US" sz="2400" dirty="0" smtClean="0"/>
              <a:t>Apply </a:t>
            </a:r>
            <a:r>
              <a:rPr lang="en-US" sz="2400" i="1" dirty="0" smtClean="0">
                <a:solidFill>
                  <a:srgbClr val="C00000"/>
                </a:solidFill>
              </a:rPr>
              <a:t>design pattern</a:t>
            </a:r>
          </a:p>
          <a:p>
            <a:r>
              <a:rPr lang="en-US" sz="2400" dirty="0" smtClean="0"/>
              <a:t>Convert NFRs to </a:t>
            </a:r>
            <a:r>
              <a:rPr lang="en-US" sz="2400" i="1" dirty="0" smtClean="0">
                <a:solidFill>
                  <a:srgbClr val="C00000"/>
                </a:solidFill>
              </a:rPr>
              <a:t>functionality</a:t>
            </a:r>
          </a:p>
          <a:p>
            <a:pPr lvl="1"/>
            <a:r>
              <a:rPr lang="en-US" sz="2200" u="sng" dirty="0" smtClean="0"/>
              <a:t>Exception handling</a:t>
            </a:r>
            <a:r>
              <a:rPr lang="en-US" sz="2200" dirty="0" smtClean="0"/>
              <a:t> is a well-known example that adds functionality to a component to increase the </a:t>
            </a:r>
            <a:r>
              <a:rPr lang="en-US" sz="2200" u="sng" dirty="0" smtClean="0"/>
              <a:t>fault-tolerance</a:t>
            </a:r>
            <a:r>
              <a:rPr lang="en-US" sz="2200" dirty="0" smtClean="0"/>
              <a:t> of the component.</a:t>
            </a:r>
          </a:p>
          <a:p>
            <a:r>
              <a:rPr lang="en-US" sz="2400" i="1" dirty="0" smtClean="0">
                <a:solidFill>
                  <a:srgbClr val="C00000"/>
                </a:solidFill>
              </a:rPr>
              <a:t>Distribute requirements</a:t>
            </a:r>
          </a:p>
          <a:p>
            <a:pPr lvl="1"/>
            <a:r>
              <a:rPr lang="en-US" sz="2200" dirty="0" smtClean="0"/>
              <a:t>The </a:t>
            </a:r>
            <a:r>
              <a:rPr lang="en-US" sz="2200" i="1" dirty="0" smtClean="0">
                <a:solidFill>
                  <a:srgbClr val="C00000"/>
                </a:solidFill>
              </a:rPr>
              <a:t>divide-and-conquer principle</a:t>
            </a:r>
            <a:r>
              <a:rPr lang="en-US" sz="2200" dirty="0" smtClean="0"/>
              <a:t>: a NFR at the system level is distributed to the subsystems or components that make up the system.</a:t>
            </a:r>
            <a:endParaRPr 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11746</TotalTime>
  <Words>2081</Words>
  <Application>Microsoft Office PowerPoint</Application>
  <PresentationFormat>On-screen Show (4:3)</PresentationFormat>
  <Paragraphs>209</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Software Architecture Design Methods</vt:lpstr>
      <vt:lpstr>Objectives</vt:lpstr>
      <vt:lpstr>Contents</vt:lpstr>
      <vt:lpstr>References</vt:lpstr>
      <vt:lpstr>Architecture Sources [1]</vt:lpstr>
      <vt:lpstr>Slide 6</vt:lpstr>
      <vt:lpstr>The Attribute-Driven Design (ADD) Method</vt:lpstr>
      <vt:lpstr>Design of Greenfield Systems for Mature Domains [2]</vt:lpstr>
      <vt:lpstr>Design of Greenfield Systems for Novel Domains</vt:lpstr>
      <vt:lpstr>Design for an Existing System (Brownfield)</vt:lpstr>
      <vt:lpstr>Round 1: Inputs</vt:lpstr>
      <vt:lpstr>FCAPS System</vt:lpstr>
      <vt:lpstr>Context Diagram</vt:lpstr>
      <vt:lpstr>Overall System Structure</vt:lpstr>
      <vt:lpstr>Deployment Diagram</vt:lpstr>
      <vt:lpstr>Round 2: Inputs</vt:lpstr>
      <vt:lpstr>Initial Domain Model</vt:lpstr>
      <vt:lpstr>Package Diagram for the Primary Workflow</vt:lpstr>
      <vt:lpstr>Sequence Diagram for the Primary Workflow</vt:lpstr>
      <vt:lpstr>Round 3: Inputs</vt:lpstr>
      <vt:lpstr>Refined Deployment Diagram</vt:lpstr>
      <vt:lpstr>The Attribute-Driven Design  (ADD) Method Steps (I) [3]</vt:lpstr>
      <vt:lpstr>The Attribute-Driven Design  (ADD) Method Steps (II)</vt:lpstr>
      <vt:lpstr>The Attribute-Driven Design  (ADD) Method Steps (III)</vt:lpstr>
      <vt:lpstr>Slide 25</vt:lpstr>
      <vt:lpstr>Viewpoints and Perspectives Method: Activities [4]</vt:lpstr>
      <vt:lpstr>The Context Viewpoint</vt:lpstr>
      <vt:lpstr>Context View Example</vt:lpstr>
      <vt:lpstr>The Functional Viewpoint</vt:lpstr>
      <vt:lpstr>Functional View Example</vt:lpstr>
      <vt:lpstr>The Information Viewpoint</vt:lpstr>
      <vt:lpstr>Information View Example</vt:lpstr>
      <vt:lpstr>The Concurrency Viewpoint</vt:lpstr>
      <vt:lpstr>Concurrency View Example 1</vt:lpstr>
      <vt:lpstr>Concurrency View Example 2</vt:lpstr>
      <vt:lpstr>The Development Viewpoint</vt:lpstr>
      <vt:lpstr>Development View Example</vt:lpstr>
      <vt:lpstr>The Deployment Viewpoint</vt:lpstr>
      <vt:lpstr>Deployment View Example 1</vt:lpstr>
      <vt:lpstr>Deployment View Example 2</vt:lpstr>
      <vt:lpstr>The Operational Viewpoint</vt:lpstr>
      <vt:lpstr>Operational View Example</vt:lpstr>
      <vt:lpstr>Dependencies Between Views</vt:lpstr>
      <vt:lpstr>Core Perspectives</vt:lpstr>
      <vt:lpstr>Perspective Details</vt:lpstr>
      <vt:lpstr>Slide 46</vt:lpstr>
      <vt:lpstr>RUP’s Architectural Design Activities [3]</vt:lpstr>
      <vt:lpstr>Application-Generic Knowledge: Patterns, Standards, Frameworks</vt:lpstr>
      <vt:lpstr>Slide 49</vt:lpstr>
      <vt:lpstr>Model-Driven Approach [5]</vt:lpstr>
      <vt:lpstr>Model Transformations</vt:lpstr>
      <vt:lpstr>Slide 52</vt:lpstr>
      <vt:lpstr>How to Create an Architecture? [6]</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4775</cp:revision>
  <dcterms:created xsi:type="dcterms:W3CDTF">2007-10-06T08:25:13Z</dcterms:created>
  <dcterms:modified xsi:type="dcterms:W3CDTF">2025-04-15T11:50:49Z</dcterms:modified>
</cp:coreProperties>
</file>