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477" r:id="rId3"/>
    <p:sldId id="607" r:id="rId4"/>
    <p:sldId id="478" r:id="rId5"/>
    <p:sldId id="608" r:id="rId6"/>
    <p:sldId id="609" r:id="rId7"/>
    <p:sldId id="619" r:id="rId8"/>
    <p:sldId id="620" r:id="rId9"/>
    <p:sldId id="621" r:id="rId10"/>
    <p:sldId id="623" r:id="rId11"/>
    <p:sldId id="624" r:id="rId12"/>
    <p:sldId id="625" r:id="rId13"/>
    <p:sldId id="626" r:id="rId14"/>
    <p:sldId id="627" r:id="rId15"/>
    <p:sldId id="628" r:id="rId16"/>
    <p:sldId id="629" r:id="rId17"/>
    <p:sldId id="622" r:id="rId18"/>
    <p:sldId id="610" r:id="rId19"/>
    <p:sldId id="615" r:id="rId20"/>
    <p:sldId id="616" r:id="rId21"/>
    <p:sldId id="630" r:id="rId22"/>
    <p:sldId id="612" r:id="rId23"/>
    <p:sldId id="613" r:id="rId24"/>
    <p:sldId id="614" r:id="rId25"/>
    <p:sldId id="618" r:id="rId26"/>
    <p:sldId id="343" r:id="rId2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58" autoAdjust="0"/>
    <p:restoredTop sz="94667" autoAdjust="0"/>
  </p:normalViewPr>
  <p:slideViewPr>
    <p:cSldViewPr>
      <p:cViewPr>
        <p:scale>
          <a:sx n="50" d="100"/>
          <a:sy n="50" d="100"/>
        </p:scale>
        <p:origin x="-154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5/19/2025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5/19/2025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5/19/2025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5/19/2025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5/19/2025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5/19/2025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5/19/2025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5/19/2025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5/19/2025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5/19/2025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5/19/2025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5/19/2025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martinfowler.com/articles/201701-event-driven.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cloudamqp.co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Event-Driven </a:t>
            </a:r>
            <a:r>
              <a:rPr lang="en-US" sz="6000" dirty="0" smtClean="0"/>
              <a:t>Architecture</a:t>
            </a:r>
            <a:endParaRPr lang="en-US" sz="6000" dirty="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0"/>
            <a:ext cx="5410200" cy="37338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791200" y="2228850"/>
            <a:ext cx="2762250" cy="21145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8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638800" cy="4525963"/>
          </a:xfrm>
        </p:spPr>
        <p:txBody>
          <a:bodyPr/>
          <a:lstStyle/>
          <a:p>
            <a:pPr marL="457200" indent="-457200">
              <a:buFont typeface="+mj-lt"/>
              <a:buAutoNum type="arabicPeriod"/>
            </a:pPr>
            <a:r>
              <a:rPr lang="en-US" sz="2400" dirty="0" smtClean="0">
                <a:latin typeface="+mj-lt"/>
              </a:rPr>
              <a:t>Brenda M. Michelson (2006). Event-Driven Architecture Overview.</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a:t>
            </a:r>
            <a:endParaRPr lang="en-US" dirty="0"/>
          </a:p>
        </p:txBody>
      </p:sp>
      <p:sp>
        <p:nvSpPr>
          <p:cNvPr id="3" name="Content Placeholder 2"/>
          <p:cNvSpPr>
            <a:spLocks noGrp="1"/>
          </p:cNvSpPr>
          <p:nvPr>
            <p:ph idx="1"/>
          </p:nvPr>
        </p:nvSpPr>
        <p:spPr/>
        <p:txBody>
          <a:bodyPr/>
          <a:lstStyle/>
          <a:p>
            <a:r>
              <a:rPr lang="en-US" sz="2400" dirty="0" smtClean="0"/>
              <a:t>A service may crash while processing a request.</a:t>
            </a:r>
          </a:p>
          <a:p>
            <a:r>
              <a:rPr lang="en-US" sz="2400" dirty="0" smtClean="0"/>
              <a:t>Fine grain scalability.</a:t>
            </a:r>
          </a:p>
          <a:p>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Concepts</a:t>
            </a:r>
            <a:endParaRPr lang="en-US" dirty="0"/>
          </a:p>
        </p:txBody>
      </p:sp>
      <p:sp>
        <p:nvSpPr>
          <p:cNvPr id="3" name="Content Placeholder 2"/>
          <p:cNvSpPr>
            <a:spLocks noGrp="1"/>
          </p:cNvSpPr>
          <p:nvPr>
            <p:ph idx="1"/>
          </p:nvPr>
        </p:nvSpPr>
        <p:spPr/>
        <p:txBody>
          <a:bodyPr/>
          <a:lstStyle/>
          <a:p>
            <a:r>
              <a:rPr lang="en-US" sz="2400" dirty="0" smtClean="0"/>
              <a:t>Events</a:t>
            </a:r>
          </a:p>
          <a:p>
            <a:r>
              <a:rPr lang="en-US" sz="2400" dirty="0" smtClean="0"/>
              <a:t>Producers</a:t>
            </a:r>
          </a:p>
          <a:p>
            <a:r>
              <a:rPr lang="en-US" sz="2400" dirty="0" smtClean="0"/>
              <a:t>Consumers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Events [1]</a:t>
            </a:r>
            <a:endParaRPr lang="en-US" dirty="0"/>
          </a:p>
        </p:txBody>
      </p:sp>
      <p:sp>
        <p:nvSpPr>
          <p:cNvPr id="3" name="Content Placeholder 2"/>
          <p:cNvSpPr>
            <a:spLocks noGrp="1"/>
          </p:cNvSpPr>
          <p:nvPr>
            <p:ph idx="1"/>
          </p:nvPr>
        </p:nvSpPr>
        <p:spPr/>
        <p:txBody>
          <a:bodyPr/>
          <a:lstStyle/>
          <a:p>
            <a:r>
              <a:rPr lang="en-US" sz="2200" dirty="0" smtClean="0"/>
              <a:t>An event is a notable thing that happens inside or outside your business. An event (business or system) may signify a problem or impending problem, an opportunity, a threshold, or a deviation.</a:t>
            </a:r>
          </a:p>
          <a:p>
            <a:r>
              <a:rPr lang="en-US" sz="2200" dirty="0" smtClean="0"/>
              <a:t>Each event occurrence has an event header and event body.</a:t>
            </a:r>
          </a:p>
          <a:p>
            <a:r>
              <a:rPr lang="en-US" sz="2200" dirty="0" smtClean="0"/>
              <a:t>The event header contains elements describing the event occurrence, such as the event specification ID, event type, event name, event timestamp, event occurrence number, and event creator. These elements are consistent, across event specifications.</a:t>
            </a:r>
          </a:p>
          <a:p>
            <a:r>
              <a:rPr lang="en-US" sz="2200" dirty="0" smtClean="0"/>
              <a:t>The event body must be fully described so any interested party can use the information without having to go back to the source system.</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Event-driven Architecture</a:t>
            </a:r>
            <a:endParaRPr lang="en-US" dirty="0"/>
          </a:p>
        </p:txBody>
      </p:sp>
      <p:sp>
        <p:nvSpPr>
          <p:cNvPr id="3" name="Content Placeholder 2"/>
          <p:cNvSpPr>
            <a:spLocks noGrp="1"/>
          </p:cNvSpPr>
          <p:nvPr>
            <p:ph idx="1"/>
          </p:nvPr>
        </p:nvSpPr>
        <p:spPr/>
        <p:txBody>
          <a:bodyPr/>
          <a:lstStyle/>
          <a:p>
            <a:r>
              <a:rPr lang="en-US" sz="2400" dirty="0" smtClean="0"/>
              <a:t>In an event-driven architecture, a notable thing happens inside or outside your business, which disseminates immediately to all interested parties (human or automated).</a:t>
            </a:r>
          </a:p>
          <a:p>
            <a:r>
              <a:rPr lang="en-US" sz="2400" dirty="0" smtClean="0"/>
              <a:t>The interested parties evaluate the event, and optionally take action.</a:t>
            </a:r>
          </a:p>
          <a:p>
            <a:r>
              <a:rPr lang="en-US" sz="2400" dirty="0" smtClean="0"/>
              <a:t>The event-driven action may include the invocation of a service, the triggering of a business process, and/or further information publication/syndication.</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Extreme Loose Coupling</a:t>
            </a:r>
            <a:endParaRPr lang="en-US" dirty="0"/>
          </a:p>
        </p:txBody>
      </p:sp>
      <p:sp>
        <p:nvSpPr>
          <p:cNvPr id="3" name="Content Placeholder 2"/>
          <p:cNvSpPr>
            <a:spLocks noGrp="1"/>
          </p:cNvSpPr>
          <p:nvPr>
            <p:ph idx="1"/>
          </p:nvPr>
        </p:nvSpPr>
        <p:spPr/>
        <p:txBody>
          <a:bodyPr/>
          <a:lstStyle/>
          <a:p>
            <a:r>
              <a:rPr lang="en-US" sz="2400" dirty="0" smtClean="0"/>
              <a:t>By its nature, an event-driven architecture is extremely loosely coupled, and highly distributed.</a:t>
            </a:r>
          </a:p>
          <a:p>
            <a:r>
              <a:rPr lang="en-US" sz="2400" dirty="0" smtClean="0"/>
              <a:t>The creator (source) of the event only knows the event transpired.</a:t>
            </a:r>
          </a:p>
          <a:p>
            <a:r>
              <a:rPr lang="en-US" sz="2400" dirty="0" smtClean="0"/>
              <a:t>The creator has no knowledge of the event’s subsequent processing, or the interested parties.</a:t>
            </a:r>
          </a:p>
          <a:p>
            <a:r>
              <a:rPr lang="en-US" sz="2400" dirty="0" smtClean="0"/>
              <a:t>Thus, event-driven architectures are best used for asynchronous flows of work and information.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Processing Styles</a:t>
            </a:r>
            <a:endParaRPr lang="en-US" dirty="0"/>
          </a:p>
        </p:txBody>
      </p:sp>
      <p:graphicFrame>
        <p:nvGraphicFramePr>
          <p:cNvPr id="4" name="Content Placeholder 3"/>
          <p:cNvGraphicFramePr>
            <a:graphicFrameLocks noGrp="1"/>
          </p:cNvGraphicFramePr>
          <p:nvPr>
            <p:ph idx="1"/>
          </p:nvPr>
        </p:nvGraphicFramePr>
        <p:xfrm>
          <a:off x="761998" y="1600200"/>
          <a:ext cx="7696204" cy="4753506"/>
        </p:xfrm>
        <a:graphic>
          <a:graphicData uri="http://schemas.openxmlformats.org/drawingml/2006/table">
            <a:tbl>
              <a:tblPr firstRow="1">
                <a:tableStyleId>{3C2FFA5D-87B4-456A-9821-1D502468CF0F}</a:tableStyleId>
              </a:tblPr>
              <a:tblGrid>
                <a:gridCol w="1924051"/>
                <a:gridCol w="1924051"/>
                <a:gridCol w="1924051"/>
                <a:gridCol w="1924051"/>
              </a:tblGrid>
              <a:tr h="433996">
                <a:tc>
                  <a:txBody>
                    <a:bodyPr/>
                    <a:lstStyle/>
                    <a:p>
                      <a:r>
                        <a:rPr lang="en-US" sz="1800" dirty="0"/>
                        <a:t>Type</a:t>
                      </a:r>
                    </a:p>
                  </a:txBody>
                  <a:tcPr marL="61999" marR="61999" marT="31000" marB="31000" anchor="ctr"/>
                </a:tc>
                <a:tc>
                  <a:txBody>
                    <a:bodyPr/>
                    <a:lstStyle/>
                    <a:p>
                      <a:r>
                        <a:rPr lang="en-US" sz="1800"/>
                        <a:t>Situation</a:t>
                      </a:r>
                    </a:p>
                  </a:txBody>
                  <a:tcPr marL="61999" marR="61999" marT="31000" marB="31000" anchor="ctr"/>
                </a:tc>
                <a:tc>
                  <a:txBody>
                    <a:bodyPr/>
                    <a:lstStyle/>
                    <a:p>
                      <a:r>
                        <a:rPr lang="en-US" sz="1800"/>
                        <a:t>System Reaction</a:t>
                      </a:r>
                    </a:p>
                  </a:txBody>
                  <a:tcPr marL="61999" marR="61999" marT="31000" marB="31000" anchor="ctr"/>
                </a:tc>
                <a:tc>
                  <a:txBody>
                    <a:bodyPr/>
                    <a:lstStyle/>
                    <a:p>
                      <a:r>
                        <a:rPr lang="en-US" sz="1800"/>
                        <a:t>Why It Fits</a:t>
                      </a:r>
                    </a:p>
                  </a:txBody>
                  <a:tcPr marL="61999" marR="61999" marT="31000" marB="31000" anchor="ctr"/>
                </a:tc>
              </a:tr>
              <a:tr h="1177990">
                <a:tc>
                  <a:txBody>
                    <a:bodyPr/>
                    <a:lstStyle/>
                    <a:p>
                      <a:r>
                        <a:rPr lang="en-US" sz="1800" dirty="0"/>
                        <a:t>Simple </a:t>
                      </a:r>
                      <a:r>
                        <a:rPr lang="en-US" sz="1800" dirty="0" smtClean="0"/>
                        <a:t>Event Processing</a:t>
                      </a:r>
                      <a:endParaRPr lang="en-US" sz="1800" dirty="0"/>
                    </a:p>
                  </a:txBody>
                  <a:tcPr marL="61999" marR="61999" marT="31000" marB="31000" anchor="ctr"/>
                </a:tc>
                <a:tc>
                  <a:txBody>
                    <a:bodyPr/>
                    <a:lstStyle/>
                    <a:p>
                      <a:r>
                        <a:rPr lang="en-US" sz="1800" dirty="0"/>
                        <a:t>A user clicks the "Submit" button on a form</a:t>
                      </a:r>
                    </a:p>
                  </a:txBody>
                  <a:tcPr marL="61999" marR="61999" marT="31000" marB="31000" anchor="ctr"/>
                </a:tc>
                <a:tc>
                  <a:txBody>
                    <a:bodyPr/>
                    <a:lstStyle/>
                    <a:p>
                      <a:r>
                        <a:rPr lang="en-US" sz="1800"/>
                        <a:t>The system saves the form data and shows a success message</a:t>
                      </a:r>
                    </a:p>
                  </a:txBody>
                  <a:tcPr marL="61999" marR="61999" marT="31000" marB="31000" anchor="ctr"/>
                </a:tc>
                <a:tc>
                  <a:txBody>
                    <a:bodyPr/>
                    <a:lstStyle/>
                    <a:p>
                      <a:r>
                        <a:rPr lang="en-US" sz="1800"/>
                        <a:t>Reacts to a single, isolated event</a:t>
                      </a:r>
                    </a:p>
                  </a:txBody>
                  <a:tcPr marL="61999" marR="61999" marT="31000" marB="31000" anchor="ctr"/>
                </a:tc>
              </a:tr>
              <a:tr h="1363989">
                <a:tc>
                  <a:txBody>
                    <a:bodyPr/>
                    <a:lstStyle/>
                    <a:p>
                      <a:r>
                        <a:rPr lang="en-US" sz="1800" dirty="0" smtClean="0"/>
                        <a:t>Stream Event </a:t>
                      </a:r>
                      <a:r>
                        <a:rPr lang="en-US" sz="1800" dirty="0"/>
                        <a:t>Processing</a:t>
                      </a:r>
                    </a:p>
                  </a:txBody>
                  <a:tcPr marL="61999" marR="61999" marT="31000" marB="31000" anchor="ctr"/>
                </a:tc>
                <a:tc>
                  <a:txBody>
                    <a:bodyPr/>
                    <a:lstStyle/>
                    <a:p>
                      <a:r>
                        <a:rPr lang="en-US" sz="1800"/>
                        <a:t>A temperature sensor sends data every second, rising steadily over 10 minutes</a:t>
                      </a:r>
                    </a:p>
                  </a:txBody>
                  <a:tcPr marL="61999" marR="61999" marT="31000" marB="31000" anchor="ctr"/>
                </a:tc>
                <a:tc>
                  <a:txBody>
                    <a:bodyPr/>
                    <a:lstStyle/>
                    <a:p>
                      <a:r>
                        <a:rPr lang="en-US" sz="1800"/>
                        <a:t>The system sends an alert when the average temperature &gt; 50°C</a:t>
                      </a:r>
                    </a:p>
                  </a:txBody>
                  <a:tcPr marL="61999" marR="61999" marT="31000" marB="31000" anchor="ctr"/>
                </a:tc>
                <a:tc>
                  <a:txBody>
                    <a:bodyPr/>
                    <a:lstStyle/>
                    <a:p>
                      <a:r>
                        <a:rPr lang="en-US" sz="1800"/>
                        <a:t>Monitors a flow of events over time</a:t>
                      </a:r>
                    </a:p>
                  </a:txBody>
                  <a:tcPr marL="61999" marR="61999" marT="31000" marB="31000" anchor="ctr"/>
                </a:tc>
              </a:tr>
              <a:tr h="1549987">
                <a:tc>
                  <a:txBody>
                    <a:bodyPr/>
                    <a:lstStyle/>
                    <a:p>
                      <a:r>
                        <a:rPr lang="en-US" sz="1800" dirty="0"/>
                        <a:t>Complex </a:t>
                      </a:r>
                      <a:r>
                        <a:rPr lang="en-US" sz="1800" dirty="0" smtClean="0"/>
                        <a:t>Event Processing</a:t>
                      </a:r>
                      <a:endParaRPr lang="en-US" sz="1800" dirty="0"/>
                    </a:p>
                  </a:txBody>
                  <a:tcPr marL="61999" marR="61999" marT="31000" marB="31000" anchor="ctr"/>
                </a:tc>
                <a:tc>
                  <a:txBody>
                    <a:bodyPr/>
                    <a:lstStyle/>
                    <a:p>
                      <a:r>
                        <a:rPr lang="en-US" sz="1800"/>
                        <a:t>A user logs in from a new device, disables 2FA, and makes a large transaction in 5 minutes</a:t>
                      </a:r>
                    </a:p>
                  </a:txBody>
                  <a:tcPr marL="61999" marR="61999" marT="31000" marB="31000" anchor="ctr"/>
                </a:tc>
                <a:tc>
                  <a:txBody>
                    <a:bodyPr/>
                    <a:lstStyle/>
                    <a:p>
                      <a:r>
                        <a:rPr lang="en-US" sz="1800"/>
                        <a:t>The system blocks the transaction and notifies security</a:t>
                      </a:r>
                    </a:p>
                  </a:txBody>
                  <a:tcPr marL="61999" marR="61999" marT="31000" marB="31000" anchor="ctr"/>
                </a:tc>
                <a:tc>
                  <a:txBody>
                    <a:bodyPr/>
                    <a:lstStyle/>
                    <a:p>
                      <a:r>
                        <a:rPr lang="en-US" sz="1800" dirty="0"/>
                        <a:t>Detects a suspicious sequence of events</a:t>
                      </a:r>
                    </a:p>
                  </a:txBody>
                  <a:tcPr marL="61999" marR="61999" marT="31000" marB="31000"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by Domain</a:t>
            </a:r>
            <a:endParaRPr lang="en-US" dirty="0"/>
          </a:p>
        </p:txBody>
      </p:sp>
      <p:graphicFrame>
        <p:nvGraphicFramePr>
          <p:cNvPr id="6" name="Content Placeholder 5"/>
          <p:cNvGraphicFramePr>
            <a:graphicFrameLocks noGrp="1"/>
          </p:cNvGraphicFramePr>
          <p:nvPr>
            <p:ph idx="1"/>
          </p:nvPr>
        </p:nvGraphicFramePr>
        <p:xfrm>
          <a:off x="685801" y="1547537"/>
          <a:ext cx="7924800" cy="4606215"/>
        </p:xfrm>
        <a:graphic>
          <a:graphicData uri="http://schemas.openxmlformats.org/drawingml/2006/table">
            <a:tbl>
              <a:tblPr firstRow="1">
                <a:tableStyleId>{3C2FFA5D-87B4-456A-9821-1D502468CF0F}</a:tableStyleId>
              </a:tblPr>
              <a:tblGrid>
                <a:gridCol w="1142999"/>
                <a:gridCol w="1776052"/>
                <a:gridCol w="2327406"/>
                <a:gridCol w="2678343"/>
              </a:tblGrid>
              <a:tr h="218119">
                <a:tc>
                  <a:txBody>
                    <a:bodyPr/>
                    <a:lstStyle/>
                    <a:p>
                      <a:r>
                        <a:rPr lang="en-US" sz="1600" dirty="0"/>
                        <a:t>Domain</a:t>
                      </a:r>
                    </a:p>
                  </a:txBody>
                  <a:tcPr marL="54530" marR="54530" marT="27265" marB="27265" anchor="ctr"/>
                </a:tc>
                <a:tc>
                  <a:txBody>
                    <a:bodyPr/>
                    <a:lstStyle/>
                    <a:p>
                      <a:r>
                        <a:rPr lang="en-US" sz="1600" dirty="0"/>
                        <a:t>Simple</a:t>
                      </a:r>
                    </a:p>
                  </a:txBody>
                  <a:tcPr marL="54530" marR="54530" marT="27265" marB="27265" anchor="ctr"/>
                </a:tc>
                <a:tc>
                  <a:txBody>
                    <a:bodyPr/>
                    <a:lstStyle/>
                    <a:p>
                      <a:r>
                        <a:rPr lang="en-US" sz="1600"/>
                        <a:t>Stream</a:t>
                      </a:r>
                    </a:p>
                  </a:txBody>
                  <a:tcPr marL="54530" marR="54530" marT="27265" marB="27265" anchor="ctr"/>
                </a:tc>
                <a:tc>
                  <a:txBody>
                    <a:bodyPr/>
                    <a:lstStyle/>
                    <a:p>
                      <a:r>
                        <a:rPr lang="en-US" sz="1600"/>
                        <a:t>Complex</a:t>
                      </a:r>
                    </a:p>
                  </a:txBody>
                  <a:tcPr marL="54530" marR="54530" marT="27265" marB="27265" anchor="ctr"/>
                </a:tc>
              </a:tr>
              <a:tr h="1036064">
                <a:tc>
                  <a:txBody>
                    <a:bodyPr/>
                    <a:lstStyle/>
                    <a:p>
                      <a:r>
                        <a:rPr lang="en-US" sz="1600"/>
                        <a:t>Home Automation</a:t>
                      </a:r>
                    </a:p>
                  </a:txBody>
                  <a:tcPr marL="54530" marR="54530" marT="27265" marB="27265" anchor="ctr"/>
                </a:tc>
                <a:tc>
                  <a:txBody>
                    <a:bodyPr/>
                    <a:lstStyle/>
                    <a:p>
                      <a:r>
                        <a:rPr lang="en-US" sz="1600" dirty="0"/>
                        <a:t>Door opens → turn on hallway light</a:t>
                      </a:r>
                    </a:p>
                  </a:txBody>
                  <a:tcPr marL="54530" marR="54530" marT="27265" marB="27265" anchor="ctr"/>
                </a:tc>
                <a:tc>
                  <a:txBody>
                    <a:bodyPr/>
                    <a:lstStyle/>
                    <a:p>
                      <a:r>
                        <a:rPr lang="en-US" sz="1600"/>
                        <a:t>Monitor room temperature → adjust fan speed every 10 seconds</a:t>
                      </a:r>
                    </a:p>
                  </a:txBody>
                  <a:tcPr marL="54530" marR="54530" marT="27265" marB="27265" anchor="ctr"/>
                </a:tc>
                <a:tc>
                  <a:txBody>
                    <a:bodyPr/>
                    <a:lstStyle/>
                    <a:p>
                      <a:r>
                        <a:rPr lang="en-US" sz="1600" dirty="0"/>
                        <a:t>Motion detected + glass break sound + door opens → trigger alarm</a:t>
                      </a:r>
                    </a:p>
                  </a:txBody>
                  <a:tcPr marL="54530" marR="54530" marT="27265" marB="27265" anchor="ctr"/>
                </a:tc>
              </a:tr>
              <a:tr h="1199653">
                <a:tc>
                  <a:txBody>
                    <a:bodyPr/>
                    <a:lstStyle/>
                    <a:p>
                      <a:r>
                        <a:rPr lang="en-US" sz="1600"/>
                        <a:t>Finance</a:t>
                      </a:r>
                    </a:p>
                  </a:txBody>
                  <a:tcPr marL="54530" marR="54530" marT="27265" marB="27265" anchor="ctr"/>
                </a:tc>
                <a:tc>
                  <a:txBody>
                    <a:bodyPr/>
                    <a:lstStyle/>
                    <a:p>
                      <a:r>
                        <a:rPr lang="en-US" sz="1600" dirty="0"/>
                        <a:t>Card swipe → process payment</a:t>
                      </a:r>
                    </a:p>
                  </a:txBody>
                  <a:tcPr marL="54530" marR="54530" marT="27265" marB="27265" anchor="ctr"/>
                </a:tc>
                <a:tc>
                  <a:txBody>
                    <a:bodyPr/>
                    <a:lstStyle/>
                    <a:p>
                      <a:r>
                        <a:rPr lang="en-US" sz="1600" dirty="0"/>
                        <a:t>Track trades per second → detect abnormal trading spikes</a:t>
                      </a:r>
                    </a:p>
                  </a:txBody>
                  <a:tcPr marL="54530" marR="54530" marT="27265" marB="27265" anchor="ctr"/>
                </a:tc>
                <a:tc>
                  <a:txBody>
                    <a:bodyPr/>
                    <a:lstStyle/>
                    <a:p>
                      <a:r>
                        <a:rPr lang="en-US" sz="1600"/>
                        <a:t>Login + password change + foreign IP transaction → trigger fraud alert</a:t>
                      </a:r>
                    </a:p>
                  </a:txBody>
                  <a:tcPr marL="54530" marR="54530" marT="27265" marB="27265" anchor="ctr"/>
                </a:tc>
              </a:tr>
              <a:tr h="872475">
                <a:tc>
                  <a:txBody>
                    <a:bodyPr/>
                    <a:lstStyle/>
                    <a:p>
                      <a:r>
                        <a:rPr lang="en-US" sz="1600"/>
                        <a:t>Web Analytics</a:t>
                      </a:r>
                    </a:p>
                  </a:txBody>
                  <a:tcPr marL="54530" marR="54530" marT="27265" marB="27265" anchor="ctr"/>
                </a:tc>
                <a:tc>
                  <a:txBody>
                    <a:bodyPr/>
                    <a:lstStyle/>
                    <a:p>
                      <a:r>
                        <a:rPr lang="en-US" sz="1600"/>
                        <a:t>Page visit → increase page view count</a:t>
                      </a:r>
                    </a:p>
                  </a:txBody>
                  <a:tcPr marL="54530" marR="54530" marT="27265" marB="27265" anchor="ctr"/>
                </a:tc>
                <a:tc>
                  <a:txBody>
                    <a:bodyPr/>
                    <a:lstStyle/>
                    <a:p>
                      <a:r>
                        <a:rPr lang="en-US" sz="1600"/>
                        <a:t>Track visit rate → notify if traffic drops 50% within 5 minutes</a:t>
                      </a:r>
                    </a:p>
                  </a:txBody>
                  <a:tcPr marL="54530" marR="54530" marT="27265" marB="27265" anchor="ctr"/>
                </a:tc>
                <a:tc>
                  <a:txBody>
                    <a:bodyPr/>
                    <a:lstStyle/>
                    <a:p>
                      <a:r>
                        <a:rPr lang="en-US" sz="1600"/>
                        <a:t>Series of bounces from ad campaigns → alert marketing</a:t>
                      </a:r>
                    </a:p>
                  </a:txBody>
                  <a:tcPr marL="54530" marR="54530" marT="27265" marB="27265" anchor="ctr"/>
                </a:tc>
              </a:tr>
              <a:tr h="1199653">
                <a:tc>
                  <a:txBody>
                    <a:bodyPr/>
                    <a:lstStyle/>
                    <a:p>
                      <a:r>
                        <a:rPr lang="en-US" sz="1600"/>
                        <a:t>Healthcare</a:t>
                      </a:r>
                    </a:p>
                  </a:txBody>
                  <a:tcPr marL="54530" marR="54530" marT="27265" marB="27265" anchor="ctr"/>
                </a:tc>
                <a:tc>
                  <a:txBody>
                    <a:bodyPr/>
                    <a:lstStyle/>
                    <a:p>
                      <a:r>
                        <a:rPr lang="en-US" sz="1600"/>
                        <a:t>Button press on nurse call → alert nurse</a:t>
                      </a:r>
                    </a:p>
                  </a:txBody>
                  <a:tcPr marL="54530" marR="54530" marT="27265" marB="27265" anchor="ctr"/>
                </a:tc>
                <a:tc>
                  <a:txBody>
                    <a:bodyPr/>
                    <a:lstStyle/>
                    <a:p>
                      <a:r>
                        <a:rPr lang="en-US" sz="1600"/>
                        <a:t>Monitor heart rate stream → alert if pulse &gt; 120 bpm for 2 minutes</a:t>
                      </a:r>
                    </a:p>
                  </a:txBody>
                  <a:tcPr marL="54530" marR="54530" marT="27265" marB="27265" anchor="ctr"/>
                </a:tc>
                <a:tc>
                  <a:txBody>
                    <a:bodyPr/>
                    <a:lstStyle/>
                    <a:p>
                      <a:r>
                        <a:rPr lang="en-US" sz="1600" dirty="0"/>
                        <a:t>Patient reports chest pain + ECG abnormal + low oxygen → trigger emergency</a:t>
                      </a:r>
                    </a:p>
                  </a:txBody>
                  <a:tcPr marL="54530" marR="54530" marT="27265" marB="27265"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Event Processing Flow</a:t>
            </a:r>
            <a:endParaRPr lang="en-US" dirty="0"/>
          </a:p>
        </p:txBody>
      </p:sp>
      <p:pic>
        <p:nvPicPr>
          <p:cNvPr id="33794" name="Picture 2"/>
          <p:cNvPicPr>
            <a:picLocks noChangeAspect="1" noChangeArrowheads="1"/>
          </p:cNvPicPr>
          <p:nvPr/>
        </p:nvPicPr>
        <p:blipFill>
          <a:blip r:embed="rId2" cstate="print"/>
          <a:srcRect/>
          <a:stretch>
            <a:fillRect/>
          </a:stretch>
        </p:blipFill>
        <p:spPr bwMode="auto">
          <a:xfrm>
            <a:off x="993775" y="2111375"/>
            <a:ext cx="7156450" cy="367982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Stream Event Processing Flow</a:t>
            </a:r>
            <a:endParaRPr lang="en-US" dirty="0"/>
          </a:p>
        </p:txBody>
      </p:sp>
      <p:pic>
        <p:nvPicPr>
          <p:cNvPr id="34818" name="Picture 2"/>
          <p:cNvPicPr>
            <a:picLocks noChangeAspect="1" noChangeArrowheads="1"/>
          </p:cNvPicPr>
          <p:nvPr/>
        </p:nvPicPr>
        <p:blipFill>
          <a:blip r:embed="rId2" cstate="print"/>
          <a:srcRect/>
          <a:stretch>
            <a:fillRect/>
          </a:stretch>
        </p:blipFill>
        <p:spPr bwMode="auto">
          <a:xfrm>
            <a:off x="873125" y="2047875"/>
            <a:ext cx="7397750" cy="32861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Complex Event Processing Flow</a:t>
            </a:r>
            <a:endParaRPr lang="en-US" dirty="0"/>
          </a:p>
        </p:txBody>
      </p:sp>
      <p:pic>
        <p:nvPicPr>
          <p:cNvPr id="35842" name="Picture 2"/>
          <p:cNvPicPr>
            <a:picLocks noChangeAspect="1" noChangeArrowheads="1"/>
          </p:cNvPicPr>
          <p:nvPr/>
        </p:nvPicPr>
        <p:blipFill>
          <a:blip r:embed="rId2" cstate="print"/>
          <a:srcRect/>
          <a:stretch>
            <a:fillRect/>
          </a:stretch>
        </p:blipFill>
        <p:spPr bwMode="auto">
          <a:xfrm>
            <a:off x="903288" y="2079625"/>
            <a:ext cx="7337425" cy="35591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Implementation Components</a:t>
            </a:r>
            <a:endParaRPr lang="en-US" dirty="0"/>
          </a:p>
        </p:txBody>
      </p:sp>
      <p:pic>
        <p:nvPicPr>
          <p:cNvPr id="36867" name="Picture 3"/>
          <p:cNvPicPr>
            <a:picLocks noChangeAspect="1" noChangeArrowheads="1"/>
          </p:cNvPicPr>
          <p:nvPr/>
        </p:nvPicPr>
        <p:blipFill>
          <a:blip r:embed="rId2" cstate="print"/>
          <a:srcRect/>
          <a:stretch>
            <a:fillRect/>
          </a:stretch>
        </p:blipFill>
        <p:spPr bwMode="auto">
          <a:xfrm>
            <a:off x="1422400" y="1647825"/>
            <a:ext cx="6299200" cy="46767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a:t>
            </a:r>
            <a:endParaRPr lang="en-US" dirty="0"/>
          </a:p>
        </p:txBody>
      </p:sp>
      <p:pic>
        <p:nvPicPr>
          <p:cNvPr id="1026" name="Picture 2" descr="https://d3c33hcgiwev3.cloudfront.net/imageAssetProxy.v1/FcENYmGaSnqVYtJzxJKF5w_6bf2ab68a14d4515880603e3f94d3ff1_image.png?expiry=1705795200000&amp;hmac=v89JwmN9zt5xAAvoU4ly-0O4-wQAwiEz-pMkjxOCDy0"/>
          <p:cNvPicPr>
            <a:picLocks noChangeAspect="1" noChangeArrowheads="1"/>
          </p:cNvPicPr>
          <p:nvPr/>
        </p:nvPicPr>
        <p:blipFill>
          <a:blip r:embed="rId2" cstate="print"/>
          <a:srcRect/>
          <a:stretch>
            <a:fillRect/>
          </a:stretch>
        </p:blipFill>
        <p:spPr bwMode="auto">
          <a:xfrm>
            <a:off x="1295400" y="1752600"/>
            <a:ext cx="6743700" cy="421767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Point-to-Point Communication</a:t>
            </a:r>
            <a:endParaRPr lang="en-US" dirty="0"/>
          </a:p>
        </p:txBody>
      </p:sp>
      <p:sp>
        <p:nvSpPr>
          <p:cNvPr id="3" name="Content Placeholder 2"/>
          <p:cNvSpPr>
            <a:spLocks noGrp="1"/>
          </p:cNvSpPr>
          <p:nvPr>
            <p:ph idx="1"/>
          </p:nvPr>
        </p:nvSpPr>
        <p:spPr/>
        <p:txBody>
          <a:bodyPr/>
          <a:lstStyle/>
          <a:p>
            <a:r>
              <a:rPr lang="en-US" sz="2400" dirty="0" smtClean="0"/>
              <a:t>One producer </a:t>
            </a:r>
            <a:r>
              <a:rPr lang="en-US" sz="2400" dirty="0" smtClean="0">
                <a:sym typeface="Wingdings" pitchFamily="2" charset="2"/>
              </a:rPr>
              <a:t> Event bus</a:t>
            </a:r>
            <a:r>
              <a:rPr lang="en-US" sz="2400" dirty="0" smtClean="0"/>
              <a:t> </a:t>
            </a:r>
            <a:r>
              <a:rPr lang="en-US" sz="2400" dirty="0" smtClean="0">
                <a:sym typeface="Wingdings" pitchFamily="2" charset="2"/>
              </a:rPr>
              <a:t> One consumer.</a:t>
            </a:r>
          </a:p>
          <a:p>
            <a:r>
              <a:rPr lang="en-US" sz="2400" dirty="0" smtClean="0">
                <a:sym typeface="Wingdings" pitchFamily="2" charset="2"/>
              </a:rPr>
              <a:t>Example event bus: Amazon SQS.</a:t>
            </a:r>
          </a:p>
          <a:p>
            <a:r>
              <a:rPr lang="en-US" sz="2400" dirty="0" smtClean="0">
                <a:sym typeface="Wingdings" pitchFamily="2" charset="2"/>
              </a:rPr>
              <a:t>Why don't producer just call consumer? - Leveraging </a:t>
            </a:r>
            <a:r>
              <a:rPr lang="en-US" sz="2400" i="1" dirty="0" smtClean="0">
                <a:solidFill>
                  <a:srgbClr val="C00000"/>
                </a:solidFill>
                <a:sym typeface="Wingdings" pitchFamily="2" charset="2"/>
              </a:rPr>
              <a:t>distributed reliable replicated storage</a:t>
            </a:r>
            <a:r>
              <a:rPr lang="en-US" sz="2400" dirty="0" smtClean="0">
                <a:sym typeface="Wingdings" pitchFamily="2" charset="2"/>
              </a:rPr>
              <a:t>.</a:t>
            </a:r>
          </a:p>
          <a:p>
            <a:endParaRPr lang="en-US" sz="2400" dirty="0" smtClean="0">
              <a:sym typeface="Wingdings" pitchFamily="2" charset="2"/>
            </a:endParaRPr>
          </a:p>
          <a:p>
            <a:endParaRPr lang="en-US" sz="2400" dirty="0" smtClean="0">
              <a:sym typeface="Wingdings" pitchFamily="2" charset="2"/>
            </a:endParaRPr>
          </a:p>
          <a:p>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Pub-Sub Communication</a:t>
            </a:r>
            <a:endParaRPr lang="en-US" dirty="0"/>
          </a:p>
        </p:txBody>
      </p:sp>
      <p:sp>
        <p:nvSpPr>
          <p:cNvPr id="3" name="Content Placeholder 2"/>
          <p:cNvSpPr>
            <a:spLocks noGrp="1"/>
          </p:cNvSpPr>
          <p:nvPr>
            <p:ph idx="1"/>
          </p:nvPr>
        </p:nvSpPr>
        <p:spPr/>
        <p:txBody>
          <a:bodyPr/>
          <a:lstStyle/>
          <a:p>
            <a:r>
              <a:rPr lang="en-US" sz="2400" dirty="0" smtClean="0"/>
              <a:t>Producers </a:t>
            </a:r>
            <a:r>
              <a:rPr lang="en-US" sz="2400" dirty="0" smtClean="0">
                <a:sym typeface="Wingdings" pitchFamily="2" charset="2"/>
              </a:rPr>
              <a:t> Event bus</a:t>
            </a:r>
            <a:r>
              <a:rPr lang="en-US" sz="2400" dirty="0" smtClean="0"/>
              <a:t> </a:t>
            </a:r>
            <a:r>
              <a:rPr lang="en-US" sz="2400" dirty="0" smtClean="0">
                <a:sym typeface="Wingdings" pitchFamily="2" charset="2"/>
              </a:rPr>
              <a:t> Consumers.</a:t>
            </a:r>
          </a:p>
          <a:p>
            <a:r>
              <a:rPr lang="en-US" sz="2400" dirty="0" smtClean="0">
                <a:sym typeface="Wingdings" pitchFamily="2" charset="2"/>
              </a:rPr>
              <a:t>Example event bus: Amazon SNS, Amazon </a:t>
            </a:r>
            <a:r>
              <a:rPr lang="en-US" sz="2400" dirty="0" err="1" smtClean="0">
                <a:sym typeface="Wingdings" pitchFamily="2" charset="2"/>
              </a:rPr>
              <a:t>EventBridge</a:t>
            </a:r>
            <a:r>
              <a:rPr lang="en-US" sz="2400" dirty="0" smtClean="0">
                <a:sym typeface="Wingdings" pitchFamily="2" charset="2"/>
              </a:rPr>
              <a:t>.</a:t>
            </a:r>
          </a:p>
          <a:p>
            <a:r>
              <a:rPr lang="en-US" sz="2400" dirty="0" smtClean="0">
                <a:sym typeface="Wingdings" pitchFamily="2" charset="2"/>
              </a:rPr>
              <a:t>Why don't producer just call consumer? - Leveraging </a:t>
            </a:r>
            <a:r>
              <a:rPr lang="en-US" sz="2400" i="1" dirty="0" smtClean="0">
                <a:solidFill>
                  <a:srgbClr val="C00000"/>
                </a:solidFill>
                <a:sym typeface="Wingdings" pitchFamily="2" charset="2"/>
              </a:rPr>
              <a:t>distributed reliable replicated storage</a:t>
            </a:r>
            <a:r>
              <a:rPr lang="en-US" sz="2400" dirty="0" smtClean="0">
                <a:sym typeface="Wingdings" pitchFamily="2" charset="2"/>
              </a:rPr>
              <a:t>.</a:t>
            </a:r>
          </a:p>
          <a:p>
            <a:endParaRPr lang="en-US" sz="2400" dirty="0" smtClean="0">
              <a:sym typeface="Wingdings" pitchFamily="2" charset="2"/>
            </a:endParaRPr>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a:t>
            </a:r>
            <a:endParaRPr lang="en-US" dirty="0"/>
          </a:p>
        </p:txBody>
      </p:sp>
      <p:sp>
        <p:nvSpPr>
          <p:cNvPr id="3" name="Content Placeholder 2"/>
          <p:cNvSpPr>
            <a:spLocks noGrp="1"/>
          </p:cNvSpPr>
          <p:nvPr>
            <p:ph idx="1"/>
          </p:nvPr>
        </p:nvSpPr>
        <p:spPr/>
        <p:txBody>
          <a:bodyPr/>
          <a:lstStyle/>
          <a:p>
            <a:r>
              <a:rPr lang="en-US" sz="2400" dirty="0" smtClean="0"/>
              <a:t>Producers </a:t>
            </a:r>
            <a:r>
              <a:rPr lang="en-US" sz="2400" dirty="0" smtClean="0">
                <a:sym typeface="Wingdings" pitchFamily="2" charset="2"/>
              </a:rPr>
              <a:t> Pipes</a:t>
            </a:r>
            <a:r>
              <a:rPr lang="en-US" sz="2400" dirty="0" smtClean="0"/>
              <a:t> </a:t>
            </a:r>
            <a:r>
              <a:rPr lang="en-US" sz="2400" dirty="0" smtClean="0">
                <a:sym typeface="Wingdings" pitchFamily="2" charset="2"/>
              </a:rPr>
              <a:t> Consumers.</a:t>
            </a:r>
          </a:p>
          <a:p>
            <a:r>
              <a:rPr lang="en-US" sz="2400" dirty="0" smtClean="0">
                <a:sym typeface="Wingdings" pitchFamily="2" charset="2"/>
              </a:rPr>
              <a:t>Example pipes: Amazon </a:t>
            </a:r>
            <a:r>
              <a:rPr lang="en-US" sz="2400" dirty="0" err="1" smtClean="0">
                <a:sym typeface="Wingdings" pitchFamily="2" charset="2"/>
              </a:rPr>
              <a:t>EventBridge</a:t>
            </a:r>
            <a:r>
              <a:rPr lang="en-US" sz="2400" dirty="0" smtClean="0">
                <a:sym typeface="Wingdings" pitchFamily="2" charset="2"/>
              </a:rPr>
              <a:t> Pipes.</a:t>
            </a:r>
          </a:p>
          <a:p>
            <a:r>
              <a:rPr lang="en-US" sz="2400" dirty="0" smtClean="0">
                <a:sym typeface="Wingdings" pitchFamily="2" charset="2"/>
              </a:rPr>
              <a:t>Why pipes? - </a:t>
            </a:r>
            <a:r>
              <a:rPr lang="en-US" sz="2400" i="1" dirty="0" smtClean="0">
                <a:solidFill>
                  <a:srgbClr val="C00000"/>
                </a:solidFill>
                <a:sym typeface="Wingdings" pitchFamily="2" charset="2"/>
              </a:rPr>
              <a:t>No code integration</a:t>
            </a:r>
            <a:r>
              <a:rPr lang="en-US" sz="2400" dirty="0" smtClean="0">
                <a:sym typeface="Wingdings" pitchFamily="2" charset="2"/>
              </a:rPr>
              <a:t>.</a:t>
            </a:r>
          </a:p>
          <a:p>
            <a:endParaRPr lang="en-US" sz="2400" dirty="0" smtClean="0">
              <a:sym typeface="Wingdings" pitchFamily="2" charset="2"/>
            </a:endParaRPr>
          </a:p>
          <a:p>
            <a:endParaRPr lang="en-US" sz="2400" dirty="0" smtClean="0">
              <a:sym typeface="Wingdings" pitchFamily="2" charset="2"/>
            </a:endParaRPr>
          </a:p>
          <a:p>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"Event-Driven" Meaning</a:t>
            </a:r>
            <a:endParaRPr lang="en-US" dirty="0"/>
          </a:p>
        </p:txBody>
      </p:sp>
      <p:sp>
        <p:nvSpPr>
          <p:cNvPr id="3" name="Content Placeholder 2"/>
          <p:cNvSpPr>
            <a:spLocks noGrp="1"/>
          </p:cNvSpPr>
          <p:nvPr>
            <p:ph idx="1"/>
          </p:nvPr>
        </p:nvSpPr>
        <p:spPr/>
        <p:txBody>
          <a:bodyPr/>
          <a:lstStyle/>
          <a:p>
            <a:r>
              <a:rPr lang="en-US" sz="2000" dirty="0" smtClean="0">
                <a:hlinkClick r:id="rId2"/>
              </a:rPr>
              <a:t>https://martinfowler.com/articles/201701-event-driven.html</a:t>
            </a:r>
            <a:endParaRPr lang="en-US" sz="2000" dirty="0" smtClean="0"/>
          </a:p>
          <a:p>
            <a:r>
              <a:rPr lang="en-US" sz="2000" b="1" dirty="0" smtClean="0"/>
              <a:t>Event Notification: </a:t>
            </a:r>
            <a:r>
              <a:rPr lang="en-US" sz="2000" dirty="0" smtClean="0"/>
              <a:t>This happens when a system sends event messages to notify other systems of a change in its domain.</a:t>
            </a:r>
          </a:p>
          <a:p>
            <a:pPr>
              <a:buNone/>
            </a:pPr>
            <a:r>
              <a:rPr lang="en-US" sz="2000" dirty="0" smtClean="0">
                <a:sym typeface="Wingdings" pitchFamily="2" charset="2"/>
              </a:rPr>
              <a:t>	 Communication.</a:t>
            </a:r>
            <a:endParaRPr lang="en-US" sz="2000" dirty="0" smtClean="0"/>
          </a:p>
          <a:p>
            <a:r>
              <a:rPr lang="en-US" sz="2000" b="1" dirty="0" smtClean="0"/>
              <a:t>Event-Carried State Transfer: </a:t>
            </a:r>
            <a:r>
              <a:rPr lang="en-US" sz="2000" dirty="0" smtClean="0"/>
              <a:t>This pattern shows up when you want to update clients of a system in such a way that they don't need to contact the source system in order to do further work.</a:t>
            </a:r>
          </a:p>
          <a:p>
            <a:pPr>
              <a:buNone/>
            </a:pPr>
            <a:r>
              <a:rPr lang="en-US" sz="2000" dirty="0" smtClean="0"/>
              <a:t>	</a:t>
            </a:r>
            <a:r>
              <a:rPr lang="en-US" sz="2000" dirty="0" smtClean="0">
                <a:sym typeface="Wingdings" pitchFamily="2" charset="2"/>
              </a:rPr>
              <a:t> Workflow</a:t>
            </a:r>
            <a:r>
              <a:rPr lang="en-US" sz="2000" smtClean="0">
                <a:sym typeface="Wingdings" pitchFamily="2" charset="2"/>
              </a:rPr>
              <a:t>, process.</a:t>
            </a:r>
            <a:endParaRPr lang="en-US" sz="2000" dirty="0" smtClean="0"/>
          </a:p>
          <a:p>
            <a:r>
              <a:rPr lang="en-US" sz="2000" b="1" dirty="0" smtClean="0"/>
              <a:t>Event-Sourcing:</a:t>
            </a:r>
            <a:r>
              <a:rPr lang="en-US" sz="2000" dirty="0" smtClean="0"/>
              <a:t> The core idea of event sourcing is that whenever we make a change to the state of a system, we record that state change as an event, and we can confidently rebuild the system state by reprocessing the events at any time in the future.</a:t>
            </a:r>
          </a:p>
          <a:p>
            <a:pPr>
              <a:buNone/>
            </a:pPr>
            <a:r>
              <a:rPr lang="en-US" sz="2000" dirty="0" smtClean="0"/>
              <a:t>	</a:t>
            </a:r>
            <a:r>
              <a:rPr lang="en-US" sz="2000" dirty="0" smtClean="0">
                <a:sym typeface="Wingdings" pitchFamily="2" charset="2"/>
              </a:rPr>
              <a:t> Storage.</a:t>
            </a:r>
            <a:endParaRPr lang="en-US" sz="20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is Request Complete?</a:t>
            </a:r>
            <a:endParaRPr lang="en-US" dirty="0"/>
          </a:p>
        </p:txBody>
      </p:sp>
      <p:sp>
        <p:nvSpPr>
          <p:cNvPr id="3" name="Content Placeholder 2"/>
          <p:cNvSpPr>
            <a:spLocks noGrp="1"/>
          </p:cNvSpPr>
          <p:nvPr>
            <p:ph idx="1"/>
          </p:nvPr>
        </p:nvSpPr>
        <p:spPr/>
        <p:txBody>
          <a:bodyPr/>
          <a:lstStyle/>
          <a:p>
            <a:r>
              <a:rPr lang="en-US" sz="2000" dirty="0" smtClean="0"/>
              <a:t>Let's say there's a service called "</a:t>
            </a:r>
            <a:r>
              <a:rPr lang="en-US" sz="2000" dirty="0" err="1" smtClean="0"/>
              <a:t>CreateOrder</a:t>
            </a:r>
            <a:r>
              <a:rPr lang="en-US" sz="2000" dirty="0" smtClean="0"/>
              <a:t>". Let's say as well that the service depends on "Inventory" service to check whether the items in the order are available, and also "Location" service that determines whether the shipping destination is within the supported area.</a:t>
            </a:r>
          </a:p>
          <a:p>
            <a:r>
              <a:rPr lang="en-US" sz="2000" dirty="0" smtClean="0"/>
              <a:t>In the classical approach it is easy. The client just call the "</a:t>
            </a:r>
            <a:r>
              <a:rPr lang="en-US" sz="2000" dirty="0" err="1" smtClean="0"/>
              <a:t>CreateOrder</a:t>
            </a:r>
            <a:r>
              <a:rPr lang="en-US" sz="2000" dirty="0" smtClean="0"/>
              <a:t>" service, then </a:t>
            </a:r>
            <a:r>
              <a:rPr lang="en-US" sz="2000" dirty="0" err="1" smtClean="0"/>
              <a:t>CreateOrder</a:t>
            </a:r>
            <a:r>
              <a:rPr lang="en-US" sz="2000" dirty="0" smtClean="0"/>
              <a:t> will call Inventory and Location services (either sequentially or parallel). Only then when both services returns "OK" that </a:t>
            </a:r>
            <a:r>
              <a:rPr lang="en-US" sz="2000" dirty="0" err="1" smtClean="0"/>
              <a:t>CreateOrder</a:t>
            </a:r>
            <a:r>
              <a:rPr lang="en-US" sz="2000" dirty="0" smtClean="0"/>
              <a:t> return successfully to the client with an </a:t>
            </a:r>
            <a:r>
              <a:rPr lang="en-US" sz="2000" dirty="0" err="1" smtClean="0"/>
              <a:t>OrderId</a:t>
            </a:r>
            <a:r>
              <a:rPr lang="en-US" sz="2000" dirty="0" smtClean="0"/>
              <a:t>, for example.</a:t>
            </a:r>
          </a:p>
          <a:p>
            <a:r>
              <a:rPr lang="en-US" sz="2000" dirty="0" smtClean="0"/>
              <a:t>How about the event driven approach?</a:t>
            </a:r>
          </a:p>
          <a:p>
            <a:pPr lvl="1"/>
            <a:r>
              <a:rPr lang="en-US" sz="1600" dirty="0" smtClean="0"/>
              <a:t>The client calls the </a:t>
            </a:r>
            <a:r>
              <a:rPr lang="en-US" sz="1600" dirty="0" err="1" smtClean="0"/>
              <a:t>CreateOrder</a:t>
            </a:r>
            <a:r>
              <a:rPr lang="en-US" sz="1600" dirty="0" smtClean="0"/>
              <a:t> service.</a:t>
            </a:r>
          </a:p>
          <a:p>
            <a:pPr lvl="1"/>
            <a:r>
              <a:rPr lang="en-US" sz="1600" dirty="0" smtClean="0"/>
              <a:t>Create order post the request into a message broker (let's say </a:t>
            </a:r>
            <a:r>
              <a:rPr lang="en-US" sz="1600" dirty="0" err="1" smtClean="0"/>
              <a:t>kafka</a:t>
            </a:r>
            <a:r>
              <a:rPr lang="en-US" sz="1600" dirty="0" smtClean="0"/>
              <a:t>) into a pre-defined topic (let's say "Inventory" and "Location" topics).</a:t>
            </a:r>
          </a:p>
          <a:p>
            <a:pPr lvl="1"/>
            <a:r>
              <a:rPr lang="en-US" sz="1600" dirty="0" smtClean="0"/>
              <a:t>The Inventory and Location service consume the event from the message broker and process the request.</a:t>
            </a:r>
          </a:p>
          <a:p>
            <a:r>
              <a:rPr lang="en-US" sz="2000" dirty="0" smtClean="0"/>
              <a:t>How the </a:t>
            </a:r>
            <a:r>
              <a:rPr lang="en-US" sz="2000" dirty="0" err="1" smtClean="0"/>
              <a:t>CreateOrder</a:t>
            </a:r>
            <a:r>
              <a:rPr lang="en-US" sz="2000" dirty="0" smtClean="0"/>
              <a:t> service get the result so it can get back to the client?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US" dirty="0"/>
          </a:p>
        </p:txBody>
      </p:sp>
      <p:sp>
        <p:nvSpPr>
          <p:cNvPr id="3" name="Content Placeholder 2"/>
          <p:cNvSpPr>
            <a:spLocks noGrp="1"/>
          </p:cNvSpPr>
          <p:nvPr>
            <p:ph idx="1"/>
          </p:nvPr>
        </p:nvSpPr>
        <p:spPr/>
        <p:txBody>
          <a:bodyPr/>
          <a:lstStyle/>
          <a:p>
            <a:r>
              <a:rPr lang="en-US" sz="2200" dirty="0" smtClean="0"/>
              <a:t>The Inventory and Location service can push an event to </a:t>
            </a:r>
            <a:r>
              <a:rPr lang="en-US" sz="2200" dirty="0" err="1" smtClean="0"/>
              <a:t>kafka</a:t>
            </a:r>
            <a:r>
              <a:rPr lang="en-US" sz="2200" dirty="0" smtClean="0"/>
              <a:t> again upon completion, which the </a:t>
            </a:r>
            <a:r>
              <a:rPr lang="en-US" sz="2200" dirty="0" err="1" smtClean="0"/>
              <a:t>CreateOrder</a:t>
            </a:r>
            <a:r>
              <a:rPr lang="en-US" sz="2200" dirty="0" smtClean="0"/>
              <a:t> service can subscribe to.</a:t>
            </a:r>
          </a:p>
          <a:p>
            <a:r>
              <a:rPr lang="en-US" sz="2200" dirty="0" smtClean="0"/>
              <a:t>The client should be able to be the one to decide whether it needs to and how often to check the order status.</a:t>
            </a:r>
          </a:p>
          <a:p>
            <a:r>
              <a:rPr lang="en-US" sz="2200" dirty="0" smtClean="0"/>
              <a:t>If that query load is problematic, CQRS again comes in handy: you can generally scale the read model (the portion of the system needed for queries) to an arbitrary degree and take advantage of things like in-memory caching and pre-computing expensive frequent queries.</a:t>
            </a:r>
          </a:p>
          <a:p>
            <a:r>
              <a:rPr lang="en-US" sz="2200" dirty="0" smtClean="0"/>
              <a:t>The system may use bidirectional protocols like </a:t>
            </a:r>
            <a:r>
              <a:rPr lang="en-US" sz="2200" dirty="0" err="1" smtClean="0"/>
              <a:t>websockets</a:t>
            </a:r>
            <a:r>
              <a:rPr lang="en-US" sz="2200" dirty="0" smtClean="0"/>
              <a:t> and </a:t>
            </a:r>
            <a:r>
              <a:rPr lang="en-US" sz="2200" dirty="0" err="1" smtClean="0"/>
              <a:t>gRPC</a:t>
            </a:r>
            <a:r>
              <a:rPr lang="en-US" sz="2200" dirty="0" smtClean="0"/>
              <a:t> not unidirectional message queues.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mtClean="0">
                <a:hlinkClick r:id="rId2"/>
              </a:rPr>
              <a:t>https://www.cloudamqp.com/</a:t>
            </a:r>
            <a:endParaRPr lang="en-US" smtClean="0"/>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10703</TotalTime>
  <Words>994</Words>
  <Application>Microsoft Office PowerPoint</Application>
  <PresentationFormat>On-screen Show (4:3)</PresentationFormat>
  <Paragraphs>112</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Event-Driven Architecture</vt:lpstr>
      <vt:lpstr>Objectives</vt:lpstr>
      <vt:lpstr>Contents</vt:lpstr>
      <vt:lpstr>References</vt:lpstr>
      <vt:lpstr>Problems</vt:lpstr>
      <vt:lpstr>Concepts</vt:lpstr>
      <vt:lpstr>Events [1]</vt:lpstr>
      <vt:lpstr>Event-driven Architecture</vt:lpstr>
      <vt:lpstr>Extreme Loose Coupling</vt:lpstr>
      <vt:lpstr>Event Processing Styles</vt:lpstr>
      <vt:lpstr>Examples by Domain</vt:lpstr>
      <vt:lpstr>Simple Event Processing Flow</vt:lpstr>
      <vt:lpstr>Stream Event Processing Flow</vt:lpstr>
      <vt:lpstr>Complex Event Processing Flow</vt:lpstr>
      <vt:lpstr>EDA Implementation Components</vt:lpstr>
      <vt:lpstr>Slide 16</vt:lpstr>
      <vt:lpstr>Architecture</vt:lpstr>
      <vt:lpstr>Point-to-Point Communication</vt:lpstr>
      <vt:lpstr>Pub-Sub Communication</vt:lpstr>
      <vt:lpstr>Integration</vt:lpstr>
      <vt:lpstr>Slide 21</vt:lpstr>
      <vt:lpstr>"Event-Driven" Meaning</vt:lpstr>
      <vt:lpstr>When is Request Complete?</vt:lpstr>
      <vt:lpstr>Solution</vt:lpstr>
      <vt:lpstr>Slide 25</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3917</cp:revision>
  <dcterms:created xsi:type="dcterms:W3CDTF">2007-10-06T08:25:13Z</dcterms:created>
  <dcterms:modified xsi:type="dcterms:W3CDTF">2025-05-18T19:22:07Z</dcterms:modified>
</cp:coreProperties>
</file>