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18"/>
  </p:notesMasterIdLst>
  <p:sldIdLst>
    <p:sldId id="500" r:id="rId2"/>
    <p:sldId id="501" r:id="rId3"/>
    <p:sldId id="502" r:id="rId4"/>
    <p:sldId id="503" r:id="rId5"/>
    <p:sldId id="488" r:id="rId6"/>
    <p:sldId id="489" r:id="rId7"/>
    <p:sldId id="495" r:id="rId8"/>
    <p:sldId id="490" r:id="rId9"/>
    <p:sldId id="491" r:id="rId10"/>
    <p:sldId id="496" r:id="rId11"/>
    <p:sldId id="497" r:id="rId12"/>
    <p:sldId id="498" r:id="rId13"/>
    <p:sldId id="499" r:id="rId14"/>
    <p:sldId id="485" r:id="rId15"/>
    <p:sldId id="487" r:id="rId16"/>
    <p:sldId id="504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76" autoAdjust="0"/>
    <p:restoredTop sz="94667" autoAdjust="0"/>
  </p:normalViewPr>
  <p:slideViewPr>
    <p:cSldViewPr>
      <p:cViewPr>
        <p:scale>
          <a:sx n="70" d="100"/>
          <a:sy n="70" d="100"/>
        </p:scale>
        <p:origin x="-948" y="-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0FECD3-716E-4733-B076-1D9D9FA4B95C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B5AEF1-D3D1-4644-82DB-FAB2F977CD6B}">
      <dgm:prSet phldrT="[Text]" custT="1"/>
      <dgm:spPr/>
      <dgm:t>
        <a:bodyPr/>
        <a:lstStyle/>
        <a:p>
          <a:r>
            <a:rPr lang="en-US" sz="2000" dirty="0" smtClean="0">
              <a:latin typeface="+mj-lt"/>
            </a:rPr>
            <a:t>In addition to technical responsibilities, developers spend too much time answering the concerns of managers and decision makers arising from controversial reports that criticize particular technologies.</a:t>
          </a:r>
          <a:endParaRPr lang="en-US" sz="2000" dirty="0"/>
        </a:p>
      </dgm:t>
    </dgm:pt>
    <dgm:pt modelId="{E8E870B0-3E70-43BE-9DD8-3D95983C82CF}" type="parTrans" cxnId="{5560C492-7B8A-4406-8B59-E51D29E95DB6}">
      <dgm:prSet/>
      <dgm:spPr/>
      <dgm:t>
        <a:bodyPr/>
        <a:lstStyle/>
        <a:p>
          <a:endParaRPr lang="en-US"/>
        </a:p>
      </dgm:t>
    </dgm:pt>
    <dgm:pt modelId="{194680D5-07F4-4903-853B-8C7BCDB48532}" type="sibTrans" cxnId="{5560C492-7B8A-4406-8B59-E51D29E95DB6}">
      <dgm:prSet/>
      <dgm:spPr/>
      <dgm:t>
        <a:bodyPr/>
        <a:lstStyle/>
        <a:p>
          <a:endParaRPr lang="en-US"/>
        </a:p>
      </dgm:t>
    </dgm:pt>
    <dgm:pt modelId="{6BF77178-A6ED-43E9-98EE-85BF660E4D36}">
      <dgm:prSet phldrT="[Text]" custT="1"/>
      <dgm:spPr/>
      <dgm:t>
        <a:bodyPr/>
        <a:lstStyle/>
        <a:p>
          <a:r>
            <a:rPr lang="en-US" sz="2000" dirty="0" smtClean="0">
              <a:latin typeface="+mj-lt"/>
            </a:rPr>
            <a:t>An in−house expert on each key technology</a:t>
          </a:r>
          <a:endParaRPr lang="en-US" sz="2000" dirty="0"/>
        </a:p>
      </dgm:t>
    </dgm:pt>
    <dgm:pt modelId="{125CE1FD-81F2-483D-96E3-2CC8A13C58E9}" type="parTrans" cxnId="{7A3A9CA4-E5F3-41C4-A5F6-F0A434860D38}">
      <dgm:prSet/>
      <dgm:spPr/>
      <dgm:t>
        <a:bodyPr/>
        <a:lstStyle/>
        <a:p>
          <a:endParaRPr lang="en-US"/>
        </a:p>
      </dgm:t>
    </dgm:pt>
    <dgm:pt modelId="{CD984159-705C-4AE6-884D-218DC46BB5BB}" type="sibTrans" cxnId="{7A3A9CA4-E5F3-41C4-A5F6-F0A434860D38}">
      <dgm:prSet/>
      <dgm:spPr/>
      <dgm:t>
        <a:bodyPr/>
        <a:lstStyle/>
        <a:p>
          <a:endParaRPr lang="en-US"/>
        </a:p>
      </dgm:t>
    </dgm:pt>
    <dgm:pt modelId="{50C431CE-923F-4425-88FF-BDF54BF74156}" type="pres">
      <dgm:prSet presAssocID="{8B0FECD3-716E-4733-B076-1D9D9FA4B95C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C56C40-A919-44F0-823D-1B0EFD86670B}" type="pres">
      <dgm:prSet presAssocID="{8B0FECD3-716E-4733-B076-1D9D9FA4B95C}" presName="divider" presStyleLbl="fgShp" presStyleIdx="0" presStyleCnt="1"/>
      <dgm:spPr>
        <a:solidFill>
          <a:schemeClr val="accent2"/>
        </a:solidFill>
      </dgm:spPr>
    </dgm:pt>
    <dgm:pt modelId="{B8AD1B99-20CF-46DE-87C4-D56E5E155241}" type="pres">
      <dgm:prSet presAssocID="{BEB5AEF1-D3D1-4644-82DB-FAB2F977CD6B}" presName="downArrow" presStyleLbl="node1" presStyleIdx="0" presStyleCnt="2"/>
      <dgm:spPr>
        <a:solidFill>
          <a:schemeClr val="accent2"/>
        </a:solidFill>
      </dgm:spPr>
    </dgm:pt>
    <dgm:pt modelId="{59A8CB2B-46C0-4DA2-B1A1-7E09BE1802E6}" type="pres">
      <dgm:prSet presAssocID="{BEB5AEF1-D3D1-4644-82DB-FAB2F977CD6B}" presName="downArrowText" presStyleLbl="revTx" presStyleIdx="0" presStyleCnt="2" custScaleX="15468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5DC7F5-7E45-4463-A5E7-7369582F758D}" type="pres">
      <dgm:prSet presAssocID="{6BF77178-A6ED-43E9-98EE-85BF660E4D36}" presName="upArrow" presStyleLbl="node1" presStyleIdx="1" presStyleCnt="2"/>
      <dgm:spPr>
        <a:solidFill>
          <a:schemeClr val="accent3"/>
        </a:solidFill>
      </dgm:spPr>
    </dgm:pt>
    <dgm:pt modelId="{8620B18C-522B-473D-81D3-476256BF39FF}" type="pres">
      <dgm:prSet presAssocID="{6BF77178-A6ED-43E9-98EE-85BF660E4D36}" presName="upArrow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5529FE9-BC47-41E0-9151-C188E186B01C}" type="presOf" srcId="{8B0FECD3-716E-4733-B076-1D9D9FA4B95C}" destId="{50C431CE-923F-4425-88FF-BDF54BF74156}" srcOrd="0" destOrd="0" presId="urn:microsoft.com/office/officeart/2005/8/layout/arrow3"/>
    <dgm:cxn modelId="{FFF2BF75-C99F-4D5F-BA5B-1149A0BDFFE8}" type="presOf" srcId="{BEB5AEF1-D3D1-4644-82DB-FAB2F977CD6B}" destId="{59A8CB2B-46C0-4DA2-B1A1-7E09BE1802E6}" srcOrd="0" destOrd="0" presId="urn:microsoft.com/office/officeart/2005/8/layout/arrow3"/>
    <dgm:cxn modelId="{5560C492-7B8A-4406-8B59-E51D29E95DB6}" srcId="{8B0FECD3-716E-4733-B076-1D9D9FA4B95C}" destId="{BEB5AEF1-D3D1-4644-82DB-FAB2F977CD6B}" srcOrd="0" destOrd="0" parTransId="{E8E870B0-3E70-43BE-9DD8-3D95983C82CF}" sibTransId="{194680D5-07F4-4903-853B-8C7BCDB48532}"/>
    <dgm:cxn modelId="{768318AA-FC0C-464A-800E-BC9FB2AC246B}" type="presOf" srcId="{6BF77178-A6ED-43E9-98EE-85BF660E4D36}" destId="{8620B18C-522B-473D-81D3-476256BF39FF}" srcOrd="0" destOrd="0" presId="urn:microsoft.com/office/officeart/2005/8/layout/arrow3"/>
    <dgm:cxn modelId="{7A3A9CA4-E5F3-41C4-A5F6-F0A434860D38}" srcId="{8B0FECD3-716E-4733-B076-1D9D9FA4B95C}" destId="{6BF77178-A6ED-43E9-98EE-85BF660E4D36}" srcOrd="1" destOrd="0" parTransId="{125CE1FD-81F2-483D-96E3-2CC8A13C58E9}" sibTransId="{CD984159-705C-4AE6-884D-218DC46BB5BB}"/>
    <dgm:cxn modelId="{B1BCB78E-85C5-4B05-8FA6-A3FB2D5F9D28}" type="presParOf" srcId="{50C431CE-923F-4425-88FF-BDF54BF74156}" destId="{66C56C40-A919-44F0-823D-1B0EFD86670B}" srcOrd="0" destOrd="0" presId="urn:microsoft.com/office/officeart/2005/8/layout/arrow3"/>
    <dgm:cxn modelId="{4D028E95-80EA-4AC8-A577-4110830AE2FC}" type="presParOf" srcId="{50C431CE-923F-4425-88FF-BDF54BF74156}" destId="{B8AD1B99-20CF-46DE-87C4-D56E5E155241}" srcOrd="1" destOrd="0" presId="urn:microsoft.com/office/officeart/2005/8/layout/arrow3"/>
    <dgm:cxn modelId="{DABCE8CD-F462-4244-B192-9DC883FF7C3B}" type="presParOf" srcId="{50C431CE-923F-4425-88FF-BDF54BF74156}" destId="{59A8CB2B-46C0-4DA2-B1A1-7E09BE1802E6}" srcOrd="2" destOrd="0" presId="urn:microsoft.com/office/officeart/2005/8/layout/arrow3"/>
    <dgm:cxn modelId="{41B7E038-B484-41A7-AEF0-DC95A1C2087C}" type="presParOf" srcId="{50C431CE-923F-4425-88FF-BDF54BF74156}" destId="{D95DC7F5-7E45-4463-A5E7-7369582F758D}" srcOrd="3" destOrd="0" presId="urn:microsoft.com/office/officeart/2005/8/layout/arrow3"/>
    <dgm:cxn modelId="{EC953B11-CFC3-44E4-8A93-E3B992FA223C}" type="presParOf" srcId="{50C431CE-923F-4425-88FF-BDF54BF74156}" destId="{8620B18C-522B-473D-81D3-476256BF39FF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0FECD3-716E-4733-B076-1D9D9FA4B95C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561EDB-D131-43AD-90CC-D72E67EC0F40}">
      <dgm:prSet phldrT="[Text]" custT="1"/>
      <dgm:spPr/>
      <dgm:t>
        <a:bodyPr/>
        <a:lstStyle/>
        <a:p>
          <a:r>
            <a:rPr lang="en-US" sz="2000" dirty="0" smtClean="0">
              <a:latin typeface="+mj-lt"/>
            </a:rPr>
            <a:t>Incremental development</a:t>
          </a:r>
          <a:endParaRPr lang="en-US" sz="2000" dirty="0"/>
        </a:p>
      </dgm:t>
    </dgm:pt>
    <dgm:pt modelId="{85194993-BAEA-4BF5-8305-92C9237BAF8F}" type="parTrans" cxnId="{CC15B6D9-B75D-4A51-ADB5-DEBE272C56ED}">
      <dgm:prSet/>
      <dgm:spPr/>
    </dgm:pt>
    <dgm:pt modelId="{C8194B2B-DF0C-40BF-86FE-EAEA3E80BC16}" type="sibTrans" cxnId="{CC15B6D9-B75D-4A51-ADB5-DEBE272C56ED}">
      <dgm:prSet/>
      <dgm:spPr/>
    </dgm:pt>
    <dgm:pt modelId="{F7535923-2E24-4463-B308-B2A2F3400608}">
      <dgm:prSet phldrT="[Text]" custT="1"/>
      <dgm:spPr/>
      <dgm:t>
        <a:bodyPr/>
        <a:lstStyle/>
        <a:p>
          <a:r>
            <a:rPr lang="en-US" sz="2000" dirty="0" smtClean="0">
              <a:latin typeface="+mj-lt"/>
            </a:rPr>
            <a:t>The complexity of the analysis models results in intricate implementations, making the system difficult to develop, document, and test.</a:t>
          </a:r>
          <a:endParaRPr lang="en-US" sz="2000" dirty="0"/>
        </a:p>
      </dgm:t>
    </dgm:pt>
    <dgm:pt modelId="{0406E54E-C49A-43FD-A8E5-9082098615C8}" type="parTrans" cxnId="{FB575B34-EEE7-4D57-B3A9-DE05923DA2C3}">
      <dgm:prSet/>
      <dgm:spPr/>
    </dgm:pt>
    <dgm:pt modelId="{7A11C555-0BF4-45E0-A5C4-087A0CAD3078}" type="sibTrans" cxnId="{FB575B34-EEE7-4D57-B3A9-DE05923DA2C3}">
      <dgm:prSet/>
      <dgm:spPr/>
    </dgm:pt>
    <dgm:pt modelId="{BBA6F234-C5C9-4B2F-9C3A-C1E8C1C8EA8E}">
      <dgm:prSet phldrT="[Text]" custT="1"/>
      <dgm:spPr/>
      <dgm:t>
        <a:bodyPr/>
        <a:lstStyle/>
        <a:p>
          <a:endParaRPr lang="en-US" sz="2000" dirty="0"/>
        </a:p>
      </dgm:t>
    </dgm:pt>
    <dgm:pt modelId="{2B3CA467-B449-4239-B384-A8251FD45BFC}" type="parTrans" cxnId="{55BF803F-9BA5-412E-A2B9-91BD52EEE201}">
      <dgm:prSet/>
      <dgm:spPr/>
    </dgm:pt>
    <dgm:pt modelId="{1CB479A0-EE25-498A-B112-EEC537752A7B}" type="sibTrans" cxnId="{55BF803F-9BA5-412E-A2B9-91BD52EEE201}">
      <dgm:prSet/>
      <dgm:spPr/>
    </dgm:pt>
    <dgm:pt modelId="{BEB5AEF1-D3D1-4644-82DB-FAB2F977CD6B}">
      <dgm:prSet phldrT="[Text]" custT="1"/>
      <dgm:spPr/>
      <dgm:t>
        <a:bodyPr/>
        <a:lstStyle/>
        <a:p>
          <a:r>
            <a:rPr lang="en-US" sz="2000" dirty="0" smtClean="0">
              <a:latin typeface="+mj-lt"/>
            </a:rPr>
            <a:t>Cost of analysis exceeds expectation without a predictable end point. </a:t>
          </a:r>
          <a:endParaRPr lang="en-US" sz="2000" dirty="0"/>
        </a:p>
      </dgm:t>
    </dgm:pt>
    <dgm:pt modelId="{194680D5-07F4-4903-853B-8C7BCDB48532}" type="sibTrans" cxnId="{5560C492-7B8A-4406-8B59-E51D29E95DB6}">
      <dgm:prSet/>
      <dgm:spPr/>
      <dgm:t>
        <a:bodyPr/>
        <a:lstStyle/>
        <a:p>
          <a:endParaRPr lang="en-US"/>
        </a:p>
      </dgm:t>
    </dgm:pt>
    <dgm:pt modelId="{E8E870B0-3E70-43BE-9DD8-3D95983C82CF}" type="parTrans" cxnId="{5560C492-7B8A-4406-8B59-E51D29E95DB6}">
      <dgm:prSet/>
      <dgm:spPr/>
      <dgm:t>
        <a:bodyPr/>
        <a:lstStyle/>
        <a:p>
          <a:endParaRPr lang="en-US"/>
        </a:p>
      </dgm:t>
    </dgm:pt>
    <dgm:pt modelId="{50C431CE-923F-4425-88FF-BDF54BF74156}" type="pres">
      <dgm:prSet presAssocID="{8B0FECD3-716E-4733-B076-1D9D9FA4B95C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C56C40-A919-44F0-823D-1B0EFD86670B}" type="pres">
      <dgm:prSet presAssocID="{8B0FECD3-716E-4733-B076-1D9D9FA4B95C}" presName="divider" presStyleLbl="fgShp" presStyleIdx="0" presStyleCnt="1"/>
      <dgm:spPr>
        <a:solidFill>
          <a:schemeClr val="accent2"/>
        </a:solidFill>
      </dgm:spPr>
    </dgm:pt>
    <dgm:pt modelId="{F90E37A2-D64E-42CF-A76C-61290EC75DFF}" type="pres">
      <dgm:prSet presAssocID="{BBA6F234-C5C9-4B2F-9C3A-C1E8C1C8EA8E}" presName="downArrow" presStyleLbl="node1" presStyleIdx="0" presStyleCnt="2"/>
      <dgm:spPr>
        <a:solidFill>
          <a:schemeClr val="accent2"/>
        </a:solidFill>
      </dgm:spPr>
    </dgm:pt>
    <dgm:pt modelId="{E32188FF-15F4-42CE-8BDB-966916C81EC9}" type="pres">
      <dgm:prSet presAssocID="{BBA6F234-C5C9-4B2F-9C3A-C1E8C1C8EA8E}" presName="downArrowText" presStyleLbl="revTx" presStyleIdx="0" presStyleCnt="2" custScaleX="16508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D4807E-1FE8-40A3-8E5E-785D8E52F6A3}" type="pres">
      <dgm:prSet presAssocID="{82561EDB-D131-43AD-90CC-D72E67EC0F40}" presName="upArrow" presStyleLbl="node1" presStyleIdx="1" presStyleCnt="2"/>
      <dgm:spPr>
        <a:solidFill>
          <a:schemeClr val="accent3"/>
        </a:solidFill>
      </dgm:spPr>
    </dgm:pt>
    <dgm:pt modelId="{DEDFD17C-D95C-4F54-AF25-4719F41D12F4}" type="pres">
      <dgm:prSet presAssocID="{82561EDB-D131-43AD-90CC-D72E67EC0F40}" presName="upArrow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83B76A0-7E18-4AA5-A738-C19BFB575AF0}" type="presOf" srcId="{BEB5AEF1-D3D1-4644-82DB-FAB2F977CD6B}" destId="{E32188FF-15F4-42CE-8BDB-966916C81EC9}" srcOrd="0" destOrd="1" presId="urn:microsoft.com/office/officeart/2005/8/layout/arrow3"/>
    <dgm:cxn modelId="{5560C492-7B8A-4406-8B59-E51D29E95DB6}" srcId="{BBA6F234-C5C9-4B2F-9C3A-C1E8C1C8EA8E}" destId="{BEB5AEF1-D3D1-4644-82DB-FAB2F977CD6B}" srcOrd="0" destOrd="0" parTransId="{E8E870B0-3E70-43BE-9DD8-3D95983C82CF}" sibTransId="{194680D5-07F4-4903-853B-8C7BCDB48532}"/>
    <dgm:cxn modelId="{D0716CFB-F574-4355-8879-4605A68B4AB1}" type="presOf" srcId="{82561EDB-D131-43AD-90CC-D72E67EC0F40}" destId="{DEDFD17C-D95C-4F54-AF25-4719F41D12F4}" srcOrd="0" destOrd="0" presId="urn:microsoft.com/office/officeart/2005/8/layout/arrow3"/>
    <dgm:cxn modelId="{4E2926E5-DAB4-4E89-92B4-E2BBF06ABB91}" type="presOf" srcId="{BBA6F234-C5C9-4B2F-9C3A-C1E8C1C8EA8E}" destId="{E32188FF-15F4-42CE-8BDB-966916C81EC9}" srcOrd="0" destOrd="0" presId="urn:microsoft.com/office/officeart/2005/8/layout/arrow3"/>
    <dgm:cxn modelId="{A6187BF0-DF8A-477E-A3D5-B03D4525C484}" type="presOf" srcId="{F7535923-2E24-4463-B308-B2A2F3400608}" destId="{E32188FF-15F4-42CE-8BDB-966916C81EC9}" srcOrd="0" destOrd="2" presId="urn:microsoft.com/office/officeart/2005/8/layout/arrow3"/>
    <dgm:cxn modelId="{FB575B34-EEE7-4D57-B3A9-DE05923DA2C3}" srcId="{BBA6F234-C5C9-4B2F-9C3A-C1E8C1C8EA8E}" destId="{F7535923-2E24-4463-B308-B2A2F3400608}" srcOrd="1" destOrd="0" parTransId="{0406E54E-C49A-43FD-A8E5-9082098615C8}" sibTransId="{7A11C555-0BF4-45E0-A5C4-087A0CAD3078}"/>
    <dgm:cxn modelId="{E9EC005B-9D6F-4E14-91F8-6149228F5650}" type="presOf" srcId="{8B0FECD3-716E-4733-B076-1D9D9FA4B95C}" destId="{50C431CE-923F-4425-88FF-BDF54BF74156}" srcOrd="0" destOrd="0" presId="urn:microsoft.com/office/officeart/2005/8/layout/arrow3"/>
    <dgm:cxn modelId="{CC15B6D9-B75D-4A51-ADB5-DEBE272C56ED}" srcId="{8B0FECD3-716E-4733-B076-1D9D9FA4B95C}" destId="{82561EDB-D131-43AD-90CC-D72E67EC0F40}" srcOrd="1" destOrd="0" parTransId="{85194993-BAEA-4BF5-8305-92C9237BAF8F}" sibTransId="{C8194B2B-DF0C-40BF-86FE-EAEA3E80BC16}"/>
    <dgm:cxn modelId="{55BF803F-9BA5-412E-A2B9-91BD52EEE201}" srcId="{8B0FECD3-716E-4733-B076-1D9D9FA4B95C}" destId="{BBA6F234-C5C9-4B2F-9C3A-C1E8C1C8EA8E}" srcOrd="0" destOrd="0" parTransId="{2B3CA467-B449-4239-B384-A8251FD45BFC}" sibTransId="{1CB479A0-EE25-498A-B112-EEC537752A7B}"/>
    <dgm:cxn modelId="{A145AA38-A2EF-45AE-B848-D9AC3C2478CD}" type="presParOf" srcId="{50C431CE-923F-4425-88FF-BDF54BF74156}" destId="{66C56C40-A919-44F0-823D-1B0EFD86670B}" srcOrd="0" destOrd="0" presId="urn:microsoft.com/office/officeart/2005/8/layout/arrow3"/>
    <dgm:cxn modelId="{024DD2B1-591C-4BFB-B8DF-2FEC5CBA7553}" type="presParOf" srcId="{50C431CE-923F-4425-88FF-BDF54BF74156}" destId="{F90E37A2-D64E-42CF-A76C-61290EC75DFF}" srcOrd="1" destOrd="0" presId="urn:microsoft.com/office/officeart/2005/8/layout/arrow3"/>
    <dgm:cxn modelId="{1186FA44-908A-455D-9393-7B5B393A0670}" type="presParOf" srcId="{50C431CE-923F-4425-88FF-BDF54BF74156}" destId="{E32188FF-15F4-42CE-8BDB-966916C81EC9}" srcOrd="2" destOrd="0" presId="urn:microsoft.com/office/officeart/2005/8/layout/arrow3"/>
    <dgm:cxn modelId="{71AF009E-9D9B-4620-B99F-BB23F890E031}" type="presParOf" srcId="{50C431CE-923F-4425-88FF-BDF54BF74156}" destId="{25D4807E-1FE8-40A3-8E5E-785D8E52F6A3}" srcOrd="3" destOrd="0" presId="urn:microsoft.com/office/officeart/2005/8/layout/arrow3"/>
    <dgm:cxn modelId="{07C2D029-CD11-4C9E-94D8-5EA13CB04A38}" type="presParOf" srcId="{50C431CE-923F-4425-88FF-BDF54BF74156}" destId="{DEDFD17C-D95C-4F54-AF25-4719F41D12F4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6C56C40-A919-44F0-823D-1B0EFD86670B}">
      <dsp:nvSpPr>
        <dsp:cNvPr id="0" name=""/>
        <dsp:cNvSpPr/>
      </dsp:nvSpPr>
      <dsp:spPr>
        <a:xfrm rot="21300000">
          <a:off x="25488" y="2029249"/>
          <a:ext cx="8254823" cy="945301"/>
        </a:xfrm>
        <a:prstGeom prst="mathMinus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AD1B99-20CF-46DE-87C4-D56E5E155241}">
      <dsp:nvSpPr>
        <dsp:cNvPr id="0" name=""/>
        <dsp:cNvSpPr/>
      </dsp:nvSpPr>
      <dsp:spPr>
        <a:xfrm>
          <a:off x="996696" y="250190"/>
          <a:ext cx="2491740" cy="2001520"/>
        </a:xfrm>
        <a:prstGeom prst="downArrow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8CB2B-46C0-4DA2-B1A1-7E09BE1802E6}">
      <dsp:nvSpPr>
        <dsp:cNvPr id="0" name=""/>
        <dsp:cNvSpPr/>
      </dsp:nvSpPr>
      <dsp:spPr>
        <a:xfrm>
          <a:off x="3675323" y="0"/>
          <a:ext cx="4111357" cy="210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</a:rPr>
            <a:t>In addition to technical responsibilities, developers spend too much time answering the concerns of managers and decision makers arising from controversial reports that criticize particular technologies.</a:t>
          </a:r>
          <a:endParaRPr lang="en-US" sz="2000" kern="1200" dirty="0"/>
        </a:p>
      </dsp:txBody>
      <dsp:txXfrm>
        <a:off x="3675323" y="0"/>
        <a:ext cx="4111357" cy="2101596"/>
      </dsp:txXfrm>
    </dsp:sp>
    <dsp:sp modelId="{D95DC7F5-7E45-4463-A5E7-7369582F758D}">
      <dsp:nvSpPr>
        <dsp:cNvPr id="0" name=""/>
        <dsp:cNvSpPr/>
      </dsp:nvSpPr>
      <dsp:spPr>
        <a:xfrm>
          <a:off x="4817363" y="2752090"/>
          <a:ext cx="2491740" cy="2001520"/>
        </a:xfrm>
        <a:prstGeom prst="upArrow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0B18C-522B-473D-81D3-476256BF39FF}">
      <dsp:nvSpPr>
        <dsp:cNvPr id="0" name=""/>
        <dsp:cNvSpPr/>
      </dsp:nvSpPr>
      <dsp:spPr>
        <a:xfrm>
          <a:off x="1245870" y="2902203"/>
          <a:ext cx="2657856" cy="210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</a:rPr>
            <a:t>An in−house expert on each key technology</a:t>
          </a:r>
          <a:endParaRPr lang="en-US" sz="2000" kern="1200" dirty="0"/>
        </a:p>
      </dsp:txBody>
      <dsp:txXfrm>
        <a:off x="1245870" y="2902203"/>
        <a:ext cx="2657856" cy="210159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6C56C40-A919-44F0-823D-1B0EFD86670B}">
      <dsp:nvSpPr>
        <dsp:cNvPr id="0" name=""/>
        <dsp:cNvSpPr/>
      </dsp:nvSpPr>
      <dsp:spPr>
        <a:xfrm rot="21300000">
          <a:off x="25488" y="2029249"/>
          <a:ext cx="8254823" cy="945301"/>
        </a:xfrm>
        <a:prstGeom prst="mathMinus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0E37A2-D64E-42CF-A76C-61290EC75DFF}">
      <dsp:nvSpPr>
        <dsp:cNvPr id="0" name=""/>
        <dsp:cNvSpPr/>
      </dsp:nvSpPr>
      <dsp:spPr>
        <a:xfrm>
          <a:off x="996696" y="250190"/>
          <a:ext cx="2491740" cy="2001520"/>
        </a:xfrm>
        <a:prstGeom prst="downArrow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188FF-15F4-42CE-8BDB-966916C81EC9}">
      <dsp:nvSpPr>
        <dsp:cNvPr id="0" name=""/>
        <dsp:cNvSpPr/>
      </dsp:nvSpPr>
      <dsp:spPr>
        <a:xfrm>
          <a:off x="3537207" y="0"/>
          <a:ext cx="4387588" cy="210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+mj-lt"/>
            </a:rPr>
            <a:t>Cost of analysis exceeds expectation without a predictable end point.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+mj-lt"/>
            </a:rPr>
            <a:t>The complexity of the analysis models results in intricate implementations, making the system difficult to develop, document, and test.</a:t>
          </a:r>
          <a:endParaRPr lang="en-US" sz="2000" kern="1200" dirty="0"/>
        </a:p>
      </dsp:txBody>
      <dsp:txXfrm>
        <a:off x="3537207" y="0"/>
        <a:ext cx="4387588" cy="2101596"/>
      </dsp:txXfrm>
    </dsp:sp>
    <dsp:sp modelId="{25D4807E-1FE8-40A3-8E5E-785D8E52F6A3}">
      <dsp:nvSpPr>
        <dsp:cNvPr id="0" name=""/>
        <dsp:cNvSpPr/>
      </dsp:nvSpPr>
      <dsp:spPr>
        <a:xfrm>
          <a:off x="4817363" y="2752090"/>
          <a:ext cx="2491740" cy="2001520"/>
        </a:xfrm>
        <a:prstGeom prst="upArrow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DFD17C-D95C-4F54-AF25-4719F41D12F4}">
      <dsp:nvSpPr>
        <dsp:cNvPr id="0" name=""/>
        <dsp:cNvSpPr/>
      </dsp:nvSpPr>
      <dsp:spPr>
        <a:xfrm>
          <a:off x="1245870" y="2902203"/>
          <a:ext cx="2657856" cy="210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</a:rPr>
            <a:t>Incremental development</a:t>
          </a:r>
          <a:endParaRPr lang="en-US" sz="2000" kern="1200" dirty="0"/>
        </a:p>
      </dsp:txBody>
      <dsp:txXfrm>
        <a:off x="1245870" y="2902203"/>
        <a:ext cx="2657856" cy="21015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79648-DD18-489E-A5AD-A830DE47708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AntiPatterns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None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 William J. Brown et al. (1998). </a:t>
            </a:r>
            <a:r>
              <a:rPr lang="en-US" sz="2400" dirty="0" err="1" smtClean="0"/>
              <a:t>AntiPatterns</a:t>
            </a:r>
            <a:r>
              <a:rPr lang="en-US" sz="2400" dirty="0" smtClean="0"/>
              <a:t> - Refactoring Software, Architectures, and Projects in </a:t>
            </a:r>
            <a:r>
              <a:rPr lang="en-US" sz="2400" dirty="0" smtClean="0"/>
              <a:t>Crisis.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</a:t>
            </a:r>
            <a:r>
              <a:rPr lang="en-US" smtClean="0"/>
              <a:t>Blob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General Form</a:t>
            </a:r>
          </a:p>
          <a:p>
            <a:pPr lvl="1"/>
            <a:r>
              <a:rPr lang="en-US" sz="3200" dirty="0" smtClean="0"/>
              <a:t>One class monopolizes the processing and other classes primarily encapsulate data.</a:t>
            </a:r>
          </a:p>
          <a:p>
            <a:pPr lvl="1"/>
            <a:r>
              <a:rPr lang="en-US" sz="3200" dirty="0" smtClean="0"/>
              <a:t>A class diagram composed of a </a:t>
            </a:r>
            <a:r>
              <a:rPr lang="en-US" sz="3200" b="1" dirty="0" smtClean="0">
                <a:solidFill>
                  <a:srgbClr val="FF0000"/>
                </a:solidFill>
              </a:rPr>
              <a:t>single complex controller</a:t>
            </a:r>
            <a:r>
              <a:rPr lang="en-US" sz="3200" dirty="0" smtClean="0"/>
              <a:t> class </a:t>
            </a:r>
            <a:r>
              <a:rPr lang="en-US" sz="3200" b="1" dirty="0" smtClean="0">
                <a:solidFill>
                  <a:srgbClr val="FF0000"/>
                </a:solidFill>
              </a:rPr>
              <a:t>surrounded by simple data classes</a:t>
            </a:r>
            <a:r>
              <a:rPr lang="en-US" sz="3200" dirty="0" smtClean="0"/>
              <a:t>.</a:t>
            </a:r>
          </a:p>
          <a:p>
            <a:pPr lvl="1"/>
            <a:r>
              <a:rPr lang="en-US" sz="3200" dirty="0" smtClean="0"/>
              <a:t>Majority of the responsibilities are allocated to a single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Blob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Symptoms</a:t>
            </a:r>
          </a:p>
          <a:p>
            <a:pPr lvl="1"/>
            <a:r>
              <a:rPr lang="en-US" dirty="0" smtClean="0"/>
              <a:t>Single class with a </a:t>
            </a:r>
            <a:r>
              <a:rPr lang="en-US" b="1" dirty="0" smtClean="0">
                <a:solidFill>
                  <a:srgbClr val="FF0000"/>
                </a:solidFill>
              </a:rPr>
              <a:t>large number of attributes, operations</a:t>
            </a:r>
            <a:r>
              <a:rPr lang="en-US" dirty="0" smtClean="0"/>
              <a:t>, or both.</a:t>
            </a:r>
          </a:p>
          <a:p>
            <a:pPr lvl="1"/>
            <a:r>
              <a:rPr lang="en-US" dirty="0" smtClean="0"/>
              <a:t>A disparate </a:t>
            </a:r>
            <a:r>
              <a:rPr lang="en-US" b="1" dirty="0" smtClean="0">
                <a:solidFill>
                  <a:srgbClr val="FF0000"/>
                </a:solidFill>
              </a:rPr>
              <a:t>collection of unrelated attributes and operations</a:t>
            </a:r>
            <a:r>
              <a:rPr lang="en-US" dirty="0" smtClean="0"/>
              <a:t> encapsulated in a single class.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>
                <a:solidFill>
                  <a:srgbClr val="FF0000"/>
                </a:solidFill>
              </a:rPr>
              <a:t>single controller</a:t>
            </a:r>
            <a:r>
              <a:rPr lang="en-US" dirty="0" smtClean="0"/>
              <a:t> class with associated </a:t>
            </a:r>
            <a:r>
              <a:rPr lang="en-US" b="1" dirty="0" smtClean="0">
                <a:solidFill>
                  <a:srgbClr val="FF0000"/>
                </a:solidFill>
              </a:rPr>
              <a:t>simple, data−object classes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 single controller class often nearly encapsulates the applications </a:t>
            </a:r>
            <a:r>
              <a:rPr lang="en-US" b="1" dirty="0" smtClean="0">
                <a:solidFill>
                  <a:srgbClr val="FF0000"/>
                </a:solidFill>
              </a:rPr>
              <a:t>entire functionality</a:t>
            </a:r>
            <a:r>
              <a:rPr lang="en-US" dirty="0" smtClean="0"/>
              <a:t>, much like a procedural main program.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Library Blob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3638" y="1619250"/>
            <a:ext cx="4276725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Blob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Primary Causes</a:t>
            </a:r>
          </a:p>
          <a:p>
            <a:pPr lvl="1"/>
            <a:r>
              <a:rPr lang="en-US" sz="2000" dirty="0" smtClean="0"/>
              <a:t>The designers may not have an adequate </a:t>
            </a:r>
            <a:r>
              <a:rPr lang="en-US" sz="2000" b="1" dirty="0" smtClean="0">
                <a:solidFill>
                  <a:srgbClr val="FF0000"/>
                </a:solidFill>
              </a:rPr>
              <a:t>understanding of object−oriented principles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The absence of definition of the system components, their interactions, and the specific use of the selected programming languages.</a:t>
            </a:r>
          </a:p>
          <a:p>
            <a:pPr lvl="1"/>
            <a:r>
              <a:rPr lang="en-US" sz="2000" dirty="0" smtClean="0"/>
              <a:t>This may be the result of </a:t>
            </a:r>
            <a:r>
              <a:rPr lang="en-US" sz="2000" b="1" dirty="0" smtClean="0">
                <a:solidFill>
                  <a:srgbClr val="FF0000"/>
                </a:solidFill>
              </a:rPr>
              <a:t>inadequate architectural review</a:t>
            </a:r>
            <a:r>
              <a:rPr lang="en-US" sz="2000" dirty="0" smtClean="0"/>
              <a:t> as development takes place.</a:t>
            </a:r>
          </a:p>
          <a:p>
            <a:pPr lvl="1"/>
            <a:r>
              <a:rPr lang="en-US" sz="2000" dirty="0" smtClean="0"/>
              <a:t>In iterative projects, developers tend to </a:t>
            </a:r>
            <a:r>
              <a:rPr lang="en-US" sz="2000" b="1" dirty="0" smtClean="0">
                <a:solidFill>
                  <a:srgbClr val="FF0000"/>
                </a:solidFill>
              </a:rPr>
              <a:t>add little pieces of functionality to existing working classes</a:t>
            </a:r>
            <a:r>
              <a:rPr lang="en-US" sz="2000" dirty="0" smtClean="0"/>
              <a:t>, rather than add new classes, or revise the class hierarchy for more effective allocation of responsibilities.</a:t>
            </a:r>
          </a:p>
          <a:p>
            <a:pPr lvl="1"/>
            <a:r>
              <a:rPr lang="en-US" sz="2000" dirty="0" smtClean="0"/>
              <a:t>If the requirements dictate a procedural solution, then architectural commitments may be made during requirements analysis that are </a:t>
            </a:r>
            <a:r>
              <a:rPr lang="en-US" sz="2000" b="1" dirty="0" smtClean="0">
                <a:solidFill>
                  <a:srgbClr val="FF0000"/>
                </a:solidFill>
              </a:rPr>
              <a:t>difficult to change</a:t>
            </a:r>
            <a:r>
              <a:rPr lang="en-US" sz="2000" dirty="0" smtClean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Blob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b="1" dirty="0" smtClean="0">
                <a:solidFill>
                  <a:srgbClr val="FF0000"/>
                </a:solidFill>
              </a:rPr>
              <a:t>Consequences</a:t>
            </a:r>
          </a:p>
          <a:p>
            <a:pPr lvl="1"/>
            <a:r>
              <a:rPr lang="en-US" sz="2600" b="1" dirty="0" smtClean="0">
                <a:solidFill>
                  <a:srgbClr val="FF0000"/>
                </a:solidFill>
              </a:rPr>
              <a:t>Modifications</a:t>
            </a:r>
            <a:r>
              <a:rPr lang="en-US" sz="2600" dirty="0" smtClean="0"/>
              <a:t> to the Blob affect the extensive software within the Blob’s encapsulation. Modifications to other objects in the system are also likely to have impact on the Blob’s software.</a:t>
            </a:r>
          </a:p>
          <a:p>
            <a:pPr lvl="1"/>
            <a:r>
              <a:rPr lang="en-US" sz="2600" dirty="0" smtClean="0"/>
              <a:t>The Blob Class is typically too complex for </a:t>
            </a:r>
            <a:r>
              <a:rPr lang="en-US" sz="2600" b="1" dirty="0" smtClean="0">
                <a:solidFill>
                  <a:srgbClr val="FF0000"/>
                </a:solidFill>
              </a:rPr>
              <a:t>reuse and testing</a:t>
            </a:r>
            <a:r>
              <a:rPr lang="en-US" sz="2600" dirty="0" smtClean="0"/>
              <a:t>.</a:t>
            </a:r>
          </a:p>
          <a:p>
            <a:pPr lvl="1"/>
            <a:r>
              <a:rPr lang="en-US" sz="2600" dirty="0" smtClean="0"/>
              <a:t>The Blob Class may be </a:t>
            </a:r>
            <a:r>
              <a:rPr lang="en-US" sz="2600" b="1" dirty="0" smtClean="0">
                <a:solidFill>
                  <a:srgbClr val="FF0000"/>
                </a:solidFill>
              </a:rPr>
              <a:t>expensive to load into memory</a:t>
            </a:r>
            <a:r>
              <a:rPr lang="en-US" sz="2600" dirty="0" smtClean="0"/>
              <a:t>, using excessive resources, even for simple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tx2"/>
                </a:solidFill>
              </a:rPr>
              <a:t>Refactored</a:t>
            </a:r>
            <a:r>
              <a:rPr lang="en-US" b="1" dirty="0" smtClean="0">
                <a:solidFill>
                  <a:schemeClr val="tx2"/>
                </a:solidFill>
              </a:rPr>
              <a:t> Solution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Regrouping the Blob by Contracts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8413" y="1457325"/>
            <a:ext cx="4067175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04800" y="5486400"/>
            <a:ext cx="8534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800" dirty="0" smtClean="0">
                <a:latin typeface="+mj-lt"/>
              </a:rPr>
              <a:t>Identify or categorize related attributes and operations according to contracts.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Migrating The Contracted Collections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600200"/>
            <a:ext cx="409575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8600" y="5798403"/>
            <a:ext cx="8610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400" dirty="0" smtClean="0">
                <a:latin typeface="+mj-lt"/>
              </a:rPr>
              <a:t>Look for “natural homes” for these contract−based collections of functionality and then migrate them there.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The Far Couplings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5798403"/>
            <a:ext cx="8610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400" dirty="0" smtClean="0">
                <a:latin typeface="+mj-lt"/>
              </a:rPr>
              <a:t>Remove all “far−coupled,” or redundant, indirect associations.</a:t>
            </a:r>
          </a:p>
          <a:p>
            <a:pPr lvl="1" algn="ctr"/>
            <a:r>
              <a:rPr lang="en-US" sz="2400" dirty="0" smtClean="0">
                <a:latin typeface="+mj-lt"/>
              </a:rPr>
              <a:t>Migrate associates to derived classes to a common base class.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4125" y="1619250"/>
            <a:ext cx="409575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RemovingTransient</a:t>
            </a:r>
            <a:r>
              <a:rPr lang="en-US" dirty="0" smtClean="0"/>
              <a:t> Associations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5798403"/>
            <a:ext cx="8610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400" dirty="0" smtClean="0">
                <a:latin typeface="+mj-lt"/>
              </a:rPr>
              <a:t>Remove all transient associations, replace them as appropriate with type </a:t>
            </a:r>
            <a:r>
              <a:rPr lang="en-US" sz="2400" dirty="0" err="1" smtClean="0">
                <a:latin typeface="+mj-lt"/>
              </a:rPr>
              <a:t>specifiers</a:t>
            </a:r>
            <a:r>
              <a:rPr lang="en-US" sz="2400" dirty="0" smtClean="0">
                <a:latin typeface="+mj-lt"/>
              </a:rPr>
              <a:t> to attributes and operations arguments.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4163" y="1366838"/>
            <a:ext cx="3495675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Blowhard Jamboree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04800" y="1397000"/>
          <a:ext cx="83058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Paralysis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04800" y="1397000"/>
          <a:ext cx="8305800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11701</TotalTime>
  <Words>519</Words>
  <Application>Microsoft Office PowerPoint</Application>
  <PresentationFormat>On-screen Show (4:3)</PresentationFormat>
  <Paragraphs>53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AntiPatterns</vt:lpstr>
      <vt:lpstr>Objectives</vt:lpstr>
      <vt:lpstr>Contents</vt:lpstr>
      <vt:lpstr>References</vt:lpstr>
      <vt:lpstr>The Blob [1]</vt:lpstr>
      <vt:lpstr>The Blob (cont.)</vt:lpstr>
      <vt:lpstr>The Library Blob</vt:lpstr>
      <vt:lpstr>The Blob (cont.)</vt:lpstr>
      <vt:lpstr>The Blob (cont.)</vt:lpstr>
      <vt:lpstr>Refactored Solution Regrouping the Blob by Contracts</vt:lpstr>
      <vt:lpstr>Migrating The Contracted Collections</vt:lpstr>
      <vt:lpstr>Removing The Far Couplings</vt:lpstr>
      <vt:lpstr>RemovingTransient Associations</vt:lpstr>
      <vt:lpstr>Blowhard Jamboree</vt:lpstr>
      <vt:lpstr>Analysis Paralysis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3760</cp:revision>
  <dcterms:created xsi:type="dcterms:W3CDTF">2007-10-06T08:25:13Z</dcterms:created>
  <dcterms:modified xsi:type="dcterms:W3CDTF">2025-10-20T11:36:36Z</dcterms:modified>
</cp:coreProperties>
</file>