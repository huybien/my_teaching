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handoutMasterIdLst>
    <p:handoutMasterId r:id="rId14"/>
  </p:handoutMasterIdLst>
  <p:sldIdLst>
    <p:sldId id="256" r:id="rId2"/>
    <p:sldId id="480" r:id="rId3"/>
    <p:sldId id="514" r:id="rId4"/>
    <p:sldId id="491" r:id="rId5"/>
    <p:sldId id="536" r:id="rId6"/>
    <p:sldId id="509" r:id="rId7"/>
    <p:sldId id="510" r:id="rId8"/>
    <p:sldId id="512" r:id="rId9"/>
    <p:sldId id="511" r:id="rId10"/>
    <p:sldId id="537" r:id="rId11"/>
    <p:sldId id="359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3" autoAdjust="0"/>
    <p:restoredTop sz="94667" autoAdjust="0"/>
  </p:normalViewPr>
  <p:slideViewPr>
    <p:cSldViewPr>
      <p:cViewPr>
        <p:scale>
          <a:sx n="50" d="100"/>
          <a:sy n="50" d="100"/>
        </p:scale>
        <p:origin x="-157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5CE0D-E8F9-4F17-B1ED-147CA73C5D15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71A1A-C7CB-4206-B7C5-2991EE43889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Functional Design</a:t>
            </a:r>
            <a:endParaRPr lang="en-US" sz="6000" dirty="0" smtClean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195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design software </a:t>
            </a:r>
            <a:r>
              <a:rPr lang="en-US" sz="2400" i="1" dirty="0" smtClean="0">
                <a:solidFill>
                  <a:srgbClr val="C00000"/>
                </a:solidFill>
              </a:rPr>
              <a:t>systematically</a:t>
            </a:r>
            <a:r>
              <a:rPr lang="en-US" sz="2400" dirty="0" smtClean="0"/>
              <a:t>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5336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Functional </a:t>
            </a:r>
            <a:r>
              <a:rPr lang="en-US" sz="2400" dirty="0" smtClean="0"/>
              <a:t>Design Methodology.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Design </a:t>
            </a:r>
            <a:r>
              <a:rPr lang="en-US" sz="2400" dirty="0" smtClean="0"/>
              <a:t>and Programming Relationship</a:t>
            </a:r>
            <a:r>
              <a:rPr lang="en-US" sz="2400" dirty="0" smtClean="0"/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Designing with Patterns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Robert C. Martin (2017). Clean Architecture - A Craftsman's Guide to Software Structure and Design. Pearson Education.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 smtClean="0"/>
              <a:t>David </a:t>
            </a:r>
            <a:r>
              <a:rPr lang="en-US" sz="2000" dirty="0" err="1" smtClean="0"/>
              <a:t>Budgen</a:t>
            </a:r>
            <a:r>
              <a:rPr lang="en-US" sz="2000" dirty="0" smtClean="0"/>
              <a:t> (2003). Software Design. Pearson</a:t>
            </a:r>
            <a:r>
              <a:rPr lang="en-US" sz="2000" dirty="0" smtClean="0"/>
              <a:t>.</a:t>
            </a:r>
            <a:endParaRPr lang="en-US" sz="20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Ideas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Notations</a:t>
            </a:r>
          </a:p>
          <a:p>
            <a:r>
              <a:rPr lang="en-US" sz="2400" dirty="0" smtClean="0"/>
              <a:t>Steps</a:t>
            </a:r>
          </a:p>
          <a:p>
            <a:r>
              <a:rPr lang="en-US" sz="2400" dirty="0" smtClean="0"/>
              <a:t>Templates</a:t>
            </a:r>
            <a:endParaRPr lang="en-US" sz="2400" dirty="0"/>
          </a:p>
        </p:txBody>
      </p:sp>
      <p:pic>
        <p:nvPicPr>
          <p:cNvPr id="1026" name="Picture 2" descr="https://t3.ftcdn.net/jpg/04/08/48/00/360_F_408480097_LIoFE7f34U722KFvdZFdvzAbCsksVq6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810000"/>
            <a:ext cx="5053584" cy="21945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</a:t>
            </a:r>
            <a:r>
              <a:rPr lang="en-US" dirty="0" smtClean="0"/>
              <a:t>Programming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200" b="1" dirty="0" smtClean="0">
                <a:latin typeface="Consolas" pitchFamily="49" charset="0"/>
              </a:rPr>
              <a:t>(</a:t>
            </a:r>
            <a:r>
              <a:rPr lang="en-US" sz="2200" b="1" dirty="0" err="1" smtClean="0">
                <a:latin typeface="Consolas" pitchFamily="49" charset="0"/>
              </a:rPr>
              <a:t>println</a:t>
            </a:r>
            <a:r>
              <a:rPr lang="en-US" sz="2200" b="1" dirty="0" smtClean="0">
                <a:latin typeface="Consolas" pitchFamily="49" charset="0"/>
              </a:rPr>
              <a:t> (take 25 (map (fn [x] (* x </a:t>
            </a:r>
            <a:r>
              <a:rPr lang="en-US" sz="2200" b="1" dirty="0" err="1" smtClean="0">
                <a:latin typeface="Consolas" pitchFamily="49" charset="0"/>
              </a:rPr>
              <a:t>x</a:t>
            </a:r>
            <a:r>
              <a:rPr lang="en-US" sz="2200" b="1" dirty="0" smtClean="0">
                <a:latin typeface="Consolas" pitchFamily="49" charset="0"/>
              </a:rPr>
              <a:t>)) (range))))</a:t>
            </a:r>
          </a:p>
          <a:p>
            <a:endParaRPr lang="en-US" sz="2400" dirty="0" smtClean="0"/>
          </a:p>
          <a:p>
            <a:r>
              <a:rPr lang="en-US" sz="2400" dirty="0" smtClean="0"/>
              <a:t>Variables in functional languages </a:t>
            </a:r>
            <a:r>
              <a:rPr lang="en-US" sz="2400" i="1" dirty="0" smtClean="0">
                <a:solidFill>
                  <a:srgbClr val="C00000"/>
                </a:solidFill>
              </a:rPr>
              <a:t>do not vary</a:t>
            </a:r>
            <a:r>
              <a:rPr lang="en-US" sz="2400" i="1" dirty="0" smtClean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FP &amp;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All race conditions, deadlock conditions, and concurrent update problems are due to </a:t>
            </a:r>
            <a:r>
              <a:rPr lang="en-US" sz="2000" i="1" dirty="0" smtClean="0">
                <a:solidFill>
                  <a:srgbClr val="C00000"/>
                </a:solidFill>
              </a:rPr>
              <a:t>mutable variables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All the problems that we face in </a:t>
            </a:r>
            <a:r>
              <a:rPr lang="en-US" sz="2000" i="1" dirty="0" smtClean="0">
                <a:solidFill>
                  <a:srgbClr val="C00000"/>
                </a:solidFill>
              </a:rPr>
              <a:t>concurrent applications</a:t>
            </a:r>
            <a:r>
              <a:rPr lang="en-US" sz="2000" dirty="0" smtClean="0"/>
              <a:t>—all the problems we face in applications that require multiple threads, and multiple processors—cannot happen if there are </a:t>
            </a:r>
            <a:r>
              <a:rPr lang="en-US" sz="2000" u="sng" dirty="0" smtClean="0"/>
              <a:t>no mutable variables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point is that well-structured applications will be segregated into those components that </a:t>
            </a:r>
            <a:r>
              <a:rPr lang="en-US" sz="2000" i="1" dirty="0" smtClean="0">
                <a:solidFill>
                  <a:srgbClr val="C00000"/>
                </a:solidFill>
              </a:rPr>
              <a:t>do not mutate variables</a:t>
            </a:r>
            <a:r>
              <a:rPr lang="en-US" sz="2000" dirty="0" smtClean="0"/>
              <a:t> and those that do.</a:t>
            </a:r>
            <a:endParaRPr lang="en-US" sz="2000" dirty="0"/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4191000"/>
            <a:ext cx="2857500" cy="1954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Sourcing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question you must be asking yourself, then, is whether </a:t>
            </a:r>
            <a:r>
              <a:rPr lang="en-US" sz="2400" i="1" dirty="0" smtClean="0">
                <a:solidFill>
                  <a:srgbClr val="C00000"/>
                </a:solidFill>
              </a:rPr>
              <a:t>immutability</a:t>
            </a:r>
            <a:r>
              <a:rPr lang="en-US" sz="2400" dirty="0" smtClean="0"/>
              <a:t> is </a:t>
            </a:r>
            <a:r>
              <a:rPr lang="en-US" sz="2400" u="sng" dirty="0" smtClean="0"/>
              <a:t>practicable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answer to that question is affirmative, if you have </a:t>
            </a:r>
            <a:r>
              <a:rPr lang="en-US" sz="2400" u="sng" dirty="0" smtClean="0"/>
              <a:t>infinite storage</a:t>
            </a:r>
            <a:r>
              <a:rPr lang="en-US" sz="2400" dirty="0" smtClean="0"/>
              <a:t> and </a:t>
            </a:r>
            <a:r>
              <a:rPr lang="en-US" sz="2400" u="sng" dirty="0" smtClean="0"/>
              <a:t>infinite processor speed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Event sourcing</a:t>
            </a:r>
            <a:r>
              <a:rPr lang="en-US" sz="2400" dirty="0" smtClean="0"/>
              <a:t> is a strategy wherein we </a:t>
            </a:r>
            <a:r>
              <a:rPr lang="en-US" sz="2400" u="sng" dirty="0" smtClean="0"/>
              <a:t>store the transactions</a:t>
            </a:r>
            <a:r>
              <a:rPr lang="en-US" sz="2400" dirty="0" smtClean="0"/>
              <a:t>, but </a:t>
            </a:r>
            <a:r>
              <a:rPr lang="en-US" sz="2400" u="sng" dirty="0" smtClean="0"/>
              <a:t>not the state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When state is required, we simply apply all the transactions from the beginning of time.</a:t>
            </a:r>
            <a:endParaRPr lang="en-US" sz="2400" dirty="0"/>
          </a:p>
        </p:txBody>
      </p:sp>
      <p:pic>
        <p:nvPicPr>
          <p:cNvPr id="47106" name="Picture 2" descr="https://ookami86.github.io/event-sourcing-in-practice/static/img/eventstrea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5181600"/>
            <a:ext cx="7685715" cy="9333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Structured programming</a:t>
            </a:r>
            <a:r>
              <a:rPr lang="en-US" sz="2400" dirty="0" smtClean="0"/>
              <a:t> imposes discipline on </a:t>
            </a:r>
            <a:r>
              <a:rPr lang="en-US" sz="2400" u="sng" dirty="0" smtClean="0"/>
              <a:t>direct transfer of control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Object-oriented programming</a:t>
            </a:r>
            <a:r>
              <a:rPr lang="en-US" sz="2400" dirty="0" smtClean="0"/>
              <a:t> imposes discipline on </a:t>
            </a:r>
            <a:r>
              <a:rPr lang="en-US" sz="2400" u="sng" dirty="0" smtClean="0"/>
              <a:t>indirect transfer of control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Functional programming</a:t>
            </a:r>
            <a:r>
              <a:rPr lang="en-US" sz="2400" dirty="0" smtClean="0"/>
              <a:t> imposes discipline upon </a:t>
            </a:r>
            <a:r>
              <a:rPr lang="en-US" sz="2400" u="sng" dirty="0" smtClean="0"/>
              <a:t>assignment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Each of these three paradigms has </a:t>
            </a:r>
            <a:r>
              <a:rPr lang="en-US" sz="2400" i="1" dirty="0" smtClean="0">
                <a:solidFill>
                  <a:srgbClr val="C00000"/>
                </a:solidFill>
              </a:rPr>
              <a:t>taken something away</a:t>
            </a:r>
            <a:r>
              <a:rPr lang="en-US" sz="2400" dirty="0" smtClean="0"/>
              <a:t> from us. What we have learned over the last half-century is </a:t>
            </a:r>
            <a:r>
              <a:rPr lang="en-US" sz="2400" i="1" dirty="0" smtClean="0">
                <a:solidFill>
                  <a:srgbClr val="C00000"/>
                </a:solidFill>
              </a:rPr>
              <a:t>what not to do</a:t>
            </a:r>
            <a:r>
              <a:rPr lang="en-US" sz="2400" i="1" dirty="0" smtClean="0"/>
              <a:t>.</a:t>
            </a:r>
          </a:p>
          <a:p>
            <a:r>
              <a:rPr lang="en-US" sz="2400" dirty="0" smtClean="0"/>
              <a:t>Software—the stuff of computer programs—is composed of sequence, selection, iteration, and indirection. Nothing more. Nothing less.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733800" cy="1143000"/>
          </a:xfrm>
        </p:spPr>
        <p:txBody>
          <a:bodyPr/>
          <a:lstStyle/>
          <a:p>
            <a:r>
              <a:rPr lang="en-US" dirty="0" smtClean="0"/>
              <a:t>Designing with Patterns </a:t>
            </a:r>
            <a:r>
              <a:rPr lang="en-US" dirty="0" smtClean="0"/>
              <a:t>[2]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76200"/>
            <a:ext cx="3632200" cy="667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10071</TotalTime>
  <Words>346</Words>
  <Application>Microsoft Office PowerPoint</Application>
  <PresentationFormat>On-screen Show (4:3)</PresentationFormat>
  <Paragraphs>41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Functional Design</vt:lpstr>
      <vt:lpstr>Objectives</vt:lpstr>
      <vt:lpstr>Contents</vt:lpstr>
      <vt:lpstr>References</vt:lpstr>
      <vt:lpstr>Key Ideas</vt:lpstr>
      <vt:lpstr>Functional Programming [1]</vt:lpstr>
      <vt:lpstr>FP &amp; Design</vt:lpstr>
      <vt:lpstr>Event Sourcing</vt:lpstr>
      <vt:lpstr>Review</vt:lpstr>
      <vt:lpstr>Designing with Patterns [2]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4005</cp:revision>
  <dcterms:created xsi:type="dcterms:W3CDTF">2007-10-06T08:25:13Z</dcterms:created>
  <dcterms:modified xsi:type="dcterms:W3CDTF">2024-04-16T19:00:13Z</dcterms:modified>
</cp:coreProperties>
</file>