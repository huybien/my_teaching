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7"/>
  </p:notesMasterIdLst>
  <p:sldIdLst>
    <p:sldId id="256" r:id="rId2"/>
    <p:sldId id="394" r:id="rId3"/>
    <p:sldId id="431" r:id="rId4"/>
    <p:sldId id="385" r:id="rId5"/>
    <p:sldId id="432" r:id="rId6"/>
    <p:sldId id="438" r:id="rId7"/>
    <p:sldId id="435" r:id="rId8"/>
    <p:sldId id="436" r:id="rId9"/>
    <p:sldId id="439" r:id="rId10"/>
    <p:sldId id="415" r:id="rId11"/>
    <p:sldId id="416" r:id="rId12"/>
    <p:sldId id="417" r:id="rId13"/>
    <p:sldId id="447" r:id="rId14"/>
    <p:sldId id="446" r:id="rId15"/>
    <p:sldId id="426" r:id="rId16"/>
    <p:sldId id="424" r:id="rId17"/>
    <p:sldId id="404" r:id="rId18"/>
    <p:sldId id="455" r:id="rId19"/>
    <p:sldId id="448" r:id="rId20"/>
    <p:sldId id="449" r:id="rId21"/>
    <p:sldId id="450" r:id="rId22"/>
    <p:sldId id="451" r:id="rId23"/>
    <p:sldId id="452" r:id="rId24"/>
    <p:sldId id="453" r:id="rId25"/>
    <p:sldId id="454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15" autoAdjust="0"/>
    <p:restoredTop sz="94667" autoAdjust="0"/>
  </p:normalViewPr>
  <p:slideViewPr>
    <p:cSldViewPr>
      <p:cViewPr>
        <p:scale>
          <a:sx n="50" d="100"/>
          <a:sy n="50" d="100"/>
        </p:scale>
        <p:origin x="-1542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6EAF5-5497-4E36-9AC6-23E218E1C14C}" type="datetimeFigureOut">
              <a:rPr lang="en-US" smtClean="0"/>
              <a:pPr/>
              <a:t>5/17/2025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CE2665-103D-49A0-B6D4-B2E4A076884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hbien@fit.hcmus.edu.v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nhbien@fit.hcmus.edu.v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jpe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5400" dirty="0" smtClean="0"/>
              <a:t>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Department of Software Engineering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Natural Sciences,  VNU HCMC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3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Lecturer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67450" y="2667000"/>
            <a:ext cx="2571750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477000" cy="4191000"/>
          </a:xfrm>
        </p:spPr>
        <p:txBody>
          <a:bodyPr/>
          <a:lstStyle/>
          <a:p>
            <a:r>
              <a:rPr lang="vi-VN" sz="2400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Ngô Huy Biên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PhD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Department of Software Engineering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Faculty of Information Technology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University of Natural Sciences,  VNU HCMC</a:t>
            </a:r>
          </a:p>
          <a:p>
            <a:r>
              <a:rPr lang="vi-VN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Email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vi-VN" sz="2400" dirty="0" smtClean="0">
                <a:latin typeface="Calibri" pitchFamily="34" charset="0"/>
                <a:cs typeface="Calibri" pitchFamily="34" charset="0"/>
                <a:hlinkClick r:id="rId4"/>
              </a:rPr>
              <a:t>nhbien@fit.hcmus.edu.vn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</a:t>
            </a: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location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I82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hours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Wednesday </a:t>
            </a:r>
            <a:r>
              <a:rPr lang="en-US" sz="2400" smtClean="0">
                <a:latin typeface="Calibri" pitchFamily="34" charset="0"/>
                <a:cs typeface="Calibri" pitchFamily="34" charset="0"/>
              </a:rPr>
              <a:t>&amp; </a:t>
            </a:r>
            <a:r>
              <a:rPr lang="en-US" sz="2400" smtClean="0">
                <a:latin typeface="Calibri" pitchFamily="34" charset="0"/>
                <a:cs typeface="Calibri" pitchFamily="34" charset="0"/>
              </a:rPr>
              <a:t>Friday: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13:30 p.m. – 17:10 p.m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181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decide whether to </a:t>
            </a:r>
            <a:r>
              <a:rPr lang="en-US" sz="2400" i="1" dirty="0" smtClean="0">
                <a:solidFill>
                  <a:srgbClr val="C00000"/>
                </a:solidFill>
              </a:rPr>
              <a:t>register</a:t>
            </a:r>
            <a:r>
              <a:rPr lang="en-US" sz="2400" dirty="0" smtClean="0"/>
              <a:t> for the course.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estimate an </a:t>
            </a:r>
            <a:r>
              <a:rPr lang="en-US" sz="2400" i="1" dirty="0" smtClean="0">
                <a:solidFill>
                  <a:srgbClr val="C00000"/>
                </a:solidFill>
              </a:rPr>
              <a:t>expected grade</a:t>
            </a:r>
            <a:r>
              <a:rPr lang="en-US" sz="2400" dirty="0" smtClean="0"/>
              <a:t> for yourself.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target learners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learning outcomes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contents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assessment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Teaching and learning </a:t>
            </a:r>
            <a:r>
              <a:rPr lang="en-US" sz="2400" i="1" dirty="0" smtClean="0">
                <a:solidFill>
                  <a:srgbClr val="C00000"/>
                </a:solidFill>
              </a:rPr>
              <a:t>methods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References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policies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971800"/>
            <a:ext cx="2434590" cy="21088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276600"/>
            <a:ext cx="1828800" cy="1508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s://encrypted-tbn3.gstatic.com/images?q=tbn:ANd9GcSHOzR7xsyO7vabfChNygfp53IhkVE6TqMQlVxCmE01VmAvSQGb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0" y="2971800"/>
            <a:ext cx="2047875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267200" y="5029200"/>
            <a:ext cx="449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How do I build a software system that can serve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million users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at the same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6800" y="5029200"/>
            <a:ext cx="28956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How do I build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complex software system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  <p:pic>
        <p:nvPicPr>
          <p:cNvPr id="20482" name="Picture 2" descr="https://images.techhive.com/images/article/2014/12/project_management_success-100537284-primary.idg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50160"/>
            <a:ext cx="3149600" cy="2098040"/>
          </a:xfrm>
          <a:prstGeom prst="rect">
            <a:avLst/>
          </a:prstGeom>
          <a:noFill/>
        </p:spPr>
      </p:pic>
      <p:pic>
        <p:nvPicPr>
          <p:cNvPr id="20484" name="Picture 4" descr="https://www.smilecrm.co.uk/images/growth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24400" y="2438400"/>
            <a:ext cx="3555556" cy="221460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3074" name="Picture 2" descr="https://www.greenbiz.com/sites/default/files/styles/gbz_article_primary_breakpoints_kalapicture_screen-md_1x/public/images/articles/featured/salary-tharakorn_arunothai-stock.jpg?itok=rlRQhXey&amp;timestamp=143923673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819400"/>
            <a:ext cx="3841750" cy="2332990"/>
          </a:xfrm>
          <a:prstGeom prst="rect">
            <a:avLst/>
          </a:prstGeom>
          <a:noFill/>
        </p:spPr>
      </p:pic>
      <p:sp>
        <p:nvSpPr>
          <p:cNvPr id="11" name="Cloud 10"/>
          <p:cNvSpPr/>
          <p:nvPr/>
        </p:nvSpPr>
        <p:spPr>
          <a:xfrm>
            <a:off x="4648200" y="2209800"/>
            <a:ext cx="4038600" cy="3429000"/>
          </a:xfrm>
          <a:prstGeom prst="cloud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/>
              <a:t>I want a higher salary because in addition to programming, I also know how to select, evaluate or learn new frameworks or technologies fast.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Developer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</a:p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09600" y="2209800"/>
            <a:ext cx="46482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Which technology stack should be used for my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start-up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product?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How can I design a software system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for others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to maintain.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smtClean="0">
                <a:latin typeface="Calibri" pitchFamily="34" charset="0"/>
                <a:cs typeface="Calibri" pitchFamily="34" charset="0"/>
              </a:rPr>
              <a:t>How can I 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become a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software architect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?</a:t>
            </a:r>
          </a:p>
        </p:txBody>
      </p:sp>
      <p:pic>
        <p:nvPicPr>
          <p:cNvPr id="47106" name="Picture 2" descr="https://staticwspieram.pl/upload/project/big/17858_project-e6f2405d9bf51bc56081656d8627fbf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1905000"/>
            <a:ext cx="2933700" cy="1920240"/>
          </a:xfrm>
          <a:prstGeom prst="rect">
            <a:avLst/>
          </a:prstGeom>
          <a:noFill/>
        </p:spPr>
      </p:pic>
      <p:pic>
        <p:nvPicPr>
          <p:cNvPr id="47108" name="Picture 4" descr="https://www.freelancermap.com/images/seo_landing/itfreelancer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1200" y="4114800"/>
            <a:ext cx="2606634" cy="1905434"/>
          </a:xfrm>
          <a:prstGeom prst="rect">
            <a:avLst/>
          </a:prstGeom>
          <a:noFill/>
        </p:spPr>
      </p:pic>
      <p:pic>
        <p:nvPicPr>
          <p:cNvPr id="47114" name="Picture 10" descr="https://pixfeeds.com/images/topic/8157/1200-8157-promotion-letters-photo3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648200"/>
            <a:ext cx="2743200" cy="1828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This Course is Not for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people who </a:t>
            </a:r>
            <a:r>
              <a:rPr lang="en-US" sz="2400" i="1" dirty="0" smtClean="0">
                <a:solidFill>
                  <a:srgbClr val="C00000"/>
                </a:solidFill>
              </a:rPr>
              <a:t>do not like</a:t>
            </a:r>
            <a:r>
              <a:rPr lang="en-US" sz="2400" dirty="0" smtClean="0"/>
              <a:t> programming.</a:t>
            </a:r>
          </a:p>
          <a:p>
            <a:r>
              <a:rPr lang="en-US" sz="2400" dirty="0" smtClean="0"/>
              <a:t>people who </a:t>
            </a:r>
            <a:r>
              <a:rPr lang="en-US" sz="2400" i="1" dirty="0" smtClean="0">
                <a:solidFill>
                  <a:srgbClr val="C00000"/>
                </a:solidFill>
              </a:rPr>
              <a:t>do not know</a:t>
            </a:r>
            <a:r>
              <a:rPr lang="en-US" sz="2400" dirty="0" smtClean="0"/>
              <a:t> how to program.</a:t>
            </a:r>
          </a:p>
          <a:p>
            <a:r>
              <a:rPr lang="en-US" sz="2400" dirty="0" smtClean="0"/>
              <a:t>people who do </a:t>
            </a:r>
            <a:r>
              <a:rPr lang="en-US" sz="2400" u="sng" dirty="0" smtClean="0"/>
              <a:t>not</a:t>
            </a:r>
            <a:r>
              <a:rPr lang="en-US" sz="2400" dirty="0" smtClean="0"/>
              <a:t> need to work with </a:t>
            </a:r>
            <a:r>
              <a:rPr lang="en-US" sz="2400" i="1" dirty="0" smtClean="0">
                <a:solidFill>
                  <a:srgbClr val="C00000"/>
                </a:solidFill>
              </a:rPr>
              <a:t>complex software systems</a:t>
            </a:r>
            <a:r>
              <a:rPr lang="en-US" sz="2400" dirty="0" smtClean="0"/>
              <a:t>.</a:t>
            </a:r>
          </a:p>
          <a:p>
            <a:endParaRPr lang="en-US" sz="2400" dirty="0" smtClean="0"/>
          </a:p>
          <a:p>
            <a:endParaRPr lang="en-US" sz="2400" dirty="0" smtClean="0"/>
          </a:p>
        </p:txBody>
      </p:sp>
      <p:pic>
        <p:nvPicPr>
          <p:cNvPr id="4" name="Picture 2" descr="https://www.in-com.com/wp-content/uploads/2022/05/software-complexi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4400" y="3733800"/>
            <a:ext cx="3291840" cy="1830462"/>
          </a:xfrm>
          <a:prstGeom prst="rect">
            <a:avLst/>
          </a:prstGeom>
          <a:noFill/>
        </p:spPr>
      </p:pic>
      <p:pic>
        <p:nvPicPr>
          <p:cNvPr id="17414" name="Picture 6" descr="https://media.geeksforgeeks.org/wp-content/cdn-uploads/20191004155205/I-don%E2%80%99t-like-Coding.-What-should-I-do-to-Get-a-Job-in-I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3733800"/>
            <a:ext cx="3048006" cy="178308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Prerequisites</a:t>
            </a:r>
            <a:endParaRPr lang="en-US" dirty="0"/>
          </a:p>
        </p:txBody>
      </p:sp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066800" y="1447802"/>
            <a:ext cx="784860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Prerequisites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: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Introduction to Software Engineering.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Object-Oriented Programming.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Prior-courses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Requirements.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Design.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Testing.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Web Application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Mobile Application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Game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Computer Networks.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Parallel 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itchFamily="49" charset="0"/>
              <a:buChar char="o"/>
              <a:tabLst>
                <a:tab pos="1371600" algn="l"/>
              </a:tabLst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Required</a:t>
            </a:r>
            <a:r>
              <a:rPr kumimoji="0" lang="en-US" sz="20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knowledge and skills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 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read English</a:t>
            </a:r>
            <a:r>
              <a:rPr kumimoji="0" lang="en-US" sz="20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books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write reports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cs typeface="Arial" pitchFamily="34" charset="0"/>
              </a:rPr>
              <a:t>The presentation skill.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75" y="16002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2971800"/>
            <a:ext cx="6858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4343400"/>
            <a:ext cx="98107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" y="54864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2" name="Picture 4" descr="http://www.velaction.com/lean-information/wp-content/uploads/2009/06/improvement-objectives-300x29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53200" y="1219200"/>
            <a:ext cx="2446554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Learning Outcomes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76400"/>
            <a:ext cx="6248400" cy="44958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Identify architectural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quality attributes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for a software system.</a:t>
            </a:r>
          </a:p>
          <a:p>
            <a:pPr>
              <a:buFont typeface="+mj-lt"/>
              <a:buAutoNum type="arabicPeriod"/>
            </a:pP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Design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document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and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communicate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software architecture that meets architectural quality requirements.</a:t>
            </a:r>
          </a:p>
          <a:p>
            <a:pPr>
              <a:buFont typeface="+mj-lt"/>
              <a:buAutoNum type="arabicPeriod"/>
            </a:pP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Evaluate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software architecture.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Use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tools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for designing, communicating and evaluating software architecture.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Explain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responsibility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and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ethics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of a software architect.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24600" y="3657600"/>
            <a:ext cx="2667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</a:rPr>
              <a:t>6. Engineer 14,000 lines of code software with a </a:t>
            </a:r>
            <a:r>
              <a:rPr lang="en-US" sz="2400" b="1" i="1" dirty="0" smtClean="0">
                <a:solidFill>
                  <a:srgbClr val="C00000"/>
                </a:solidFill>
                <a:latin typeface="Calibri" pitchFamily="34" charset="0"/>
              </a:rPr>
              <a:t>team</a:t>
            </a:r>
            <a:r>
              <a:rPr lang="en-US" sz="2400" b="1" dirty="0" smtClean="0">
                <a:latin typeface="Calibri" pitchFamily="34" charset="0"/>
              </a:rPr>
              <a:t> of 7 people</a:t>
            </a:r>
            <a:r>
              <a:rPr lang="vi-VN" sz="2400" b="1" dirty="0" smtClean="0">
                <a:latin typeface="Calibri" pitchFamily="34" charset="0"/>
              </a:rPr>
              <a:t>.</a:t>
            </a:r>
            <a:endParaRPr lang="en-US" sz="2400" b="1" dirty="0" smtClean="0">
              <a:latin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 (I)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54864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</a:t>
            </a:r>
            <a:r>
              <a:rPr lang="en-US" sz="2400" smtClean="0"/>
              <a:t>Architecture Concepts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Quality Attributes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Documenting Software Architectures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Architectural Styles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Architectural Patterns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Architecture Design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Architecture Evaluation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 (II)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54102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r>
              <a:rPr lang="en-US" sz="2400" dirty="0" smtClean="0"/>
              <a:t>, Containers, Service Mesh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SPA Framework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Frameworks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Domain-Driven Design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The Clean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Transactional Processing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CQRS and Event Sourcing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 (III)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54864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Message Brokers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 Streaming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Event-Driven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Serverless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Lambda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Integration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Schedule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14600"/>
          </a:xfrm>
        </p:spPr>
        <p:txBody>
          <a:bodyPr/>
          <a:lstStyle/>
          <a:p>
            <a:r>
              <a:rPr lang="en-US" sz="2600" dirty="0" smtClean="0">
                <a:latin typeface="+mj-lt"/>
              </a:rPr>
              <a:t>The number of credits:	4</a:t>
            </a:r>
          </a:p>
          <a:p>
            <a:r>
              <a:rPr lang="en-US" sz="2600" dirty="0" smtClean="0"/>
              <a:t>Theoretical lessons</a:t>
            </a:r>
            <a:r>
              <a:rPr lang="en-US" sz="2600" dirty="0" smtClean="0">
                <a:latin typeface="+mj-lt"/>
              </a:rPr>
              <a:t>: 	45</a:t>
            </a:r>
          </a:p>
          <a:p>
            <a:r>
              <a:rPr lang="en-US" sz="2600" dirty="0" smtClean="0">
                <a:latin typeface="+mj-lt"/>
              </a:rPr>
              <a:t>Practical lessons:		30</a:t>
            </a:r>
          </a:p>
          <a:p>
            <a:r>
              <a:rPr lang="vi-VN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Self- learning lessons:</a:t>
            </a:r>
            <a:r>
              <a:rPr lang="en-US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	</a:t>
            </a:r>
            <a:r>
              <a:rPr lang="vi-VN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120</a:t>
            </a:r>
            <a:endParaRPr lang="en-US" sz="2600" i="1" dirty="0">
              <a:solidFill>
                <a:srgbClr val="C00000"/>
              </a:solidFill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447800"/>
            <a:ext cx="2962275" cy="300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762000" y="4800600"/>
            <a:ext cx="7620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schedule: Refer to the course syllabus.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Classroom Leaders</a:t>
            </a:r>
            <a:endParaRPr lang="en-US" dirty="0"/>
          </a:p>
        </p:txBody>
      </p:sp>
      <p:pic>
        <p:nvPicPr>
          <p:cNvPr id="1028" name="Picture 4" descr="https://pbs.twimg.com/media/Ca6IvlnUYAATojU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619249"/>
            <a:ext cx="5715000" cy="4705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Assessment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1524000"/>
            <a:ext cx="6705600" cy="3505200"/>
          </a:xfrm>
        </p:spPr>
        <p:txBody>
          <a:bodyPr/>
          <a:lstStyle/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The final grade is combined of: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2 individual tests in classroom (20%)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4 individual labs (40%)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Final oral exam (40%)</a:t>
            </a:r>
          </a:p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Bonus points (up to 20%) for: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Students who actively answer questions in classroom correctly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Personnel board (1 class leader and 1 deputy class leader)</a:t>
            </a:r>
            <a:endParaRPr lang="en-US" sz="28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1143000" y="5334000"/>
            <a:ext cx="65532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assessment: Refer to the course syllabus.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752600"/>
            <a:ext cx="1190625" cy="159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3886200"/>
            <a:ext cx="13239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Individual Tests in Classroom (20%)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 smtClean="0"/>
              <a:t>Individual test #1: 10%</a:t>
            </a:r>
          </a:p>
          <a:p>
            <a:r>
              <a:rPr lang="en-US" sz="2400" dirty="0" smtClean="0"/>
              <a:t>Individual test #2: 10%</a:t>
            </a:r>
          </a:p>
          <a:p>
            <a:r>
              <a:rPr lang="en-US" sz="2400" dirty="0" smtClean="0"/>
              <a:t>Test date will not be noticed.</a:t>
            </a:r>
          </a:p>
          <a:p>
            <a:endParaRPr lang="en-US" sz="2400" dirty="0"/>
          </a:p>
        </p:txBody>
      </p:sp>
      <p:pic>
        <p:nvPicPr>
          <p:cNvPr id="4" name="Picture 2" descr="http://www.drandyroark.com/wp-content/uploads/bigstock-Students-at-classes-8829152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3657600"/>
            <a:ext cx="3429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Individual Labs (40%)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Microservices</a:t>
            </a:r>
            <a:r>
              <a:rPr lang="en-US" sz="2400" dirty="0" smtClean="0"/>
              <a:t> Architecture: 10%</a:t>
            </a:r>
          </a:p>
          <a:p>
            <a:r>
              <a:rPr lang="en-US" sz="2400" dirty="0" smtClean="0"/>
              <a:t>The Clean Architecture and Domain Driven Design: 10%</a:t>
            </a:r>
          </a:p>
          <a:p>
            <a:r>
              <a:rPr lang="en-US" sz="2400" dirty="0" smtClean="0"/>
              <a:t>CQRS and Event Sourcing: 10%</a:t>
            </a:r>
          </a:p>
          <a:p>
            <a:r>
              <a:rPr lang="en-US" sz="2400" dirty="0" smtClean="0"/>
              <a:t>Event-Driven Architecture, or Serverless Architecture, or Lambda Architecture: 10%</a:t>
            </a:r>
          </a:p>
        </p:txBody>
      </p:sp>
      <p:pic>
        <p:nvPicPr>
          <p:cNvPr id="8194" name="Picture 2" descr="https://programminglabs.com/imgs/compu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4343400"/>
            <a:ext cx="2567635" cy="181782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 Individual Oral Exam (40%)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629400" cy="990599"/>
          </a:xfrm>
        </p:spPr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Diagrams, source code</a:t>
            </a:r>
            <a:r>
              <a:rPr lang="en-US" sz="2800" dirty="0" smtClean="0"/>
              <a:t>, </a:t>
            </a:r>
            <a:r>
              <a:rPr lang="en-US" sz="2800" i="1" dirty="0" smtClean="0">
                <a:solidFill>
                  <a:srgbClr val="C00000"/>
                </a:solidFill>
              </a:rPr>
              <a:t>documents</a:t>
            </a:r>
            <a:r>
              <a:rPr lang="en-US" sz="2800" dirty="0" smtClean="0"/>
              <a:t>, videos and related resources.</a:t>
            </a:r>
            <a:endParaRPr lang="en-US" sz="2600" dirty="0" smtClean="0"/>
          </a:p>
        </p:txBody>
      </p:sp>
      <p:pic>
        <p:nvPicPr>
          <p:cNvPr id="5122" name="Picture 2" descr="https://2e8ram2s1li74atce18qz5y1-wpengine.netdna-ssl.com/wp-content/uploads/2018/09/Tech-Interviews-Tech-Pros-Dice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38600" y="3276600"/>
            <a:ext cx="4572000" cy="2857500"/>
          </a:xfrm>
          <a:prstGeom prst="rect">
            <a:avLst/>
          </a:prstGeom>
          <a:noFill/>
        </p:spPr>
      </p:pic>
      <p:pic>
        <p:nvPicPr>
          <p:cNvPr id="5" name="Picture 2" descr="http://4.bp.blogspot.com/_5xHBZqys6o8/TEB1A8EcgNI/AAAAAAAABO8/Uy0B8-abN2I/s1600/NoTextbook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3581400"/>
            <a:ext cx="2410464" cy="2366882"/>
          </a:xfrm>
          <a:prstGeom prst="rect">
            <a:avLst/>
          </a:prstGeom>
          <a:noFill/>
        </p:spPr>
      </p:pic>
      <p:pic>
        <p:nvPicPr>
          <p:cNvPr id="6" name="Picture 2" descr="http://www.18thtechnology.com/images/software_development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295400"/>
            <a:ext cx="876300" cy="880110"/>
          </a:xfrm>
          <a:prstGeom prst="rect">
            <a:avLst/>
          </a:prstGeom>
          <a:noFill/>
        </p:spPr>
      </p:pic>
      <p:pic>
        <p:nvPicPr>
          <p:cNvPr id="7" name="Picture 3" descr="http://www.prm.nau.edu/PRM346/images/paper%20icon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086600" y="2286000"/>
            <a:ext cx="609600" cy="609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Policies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905000"/>
            <a:ext cx="8763000" cy="4572000"/>
          </a:xfrm>
        </p:spPr>
        <p:txBody>
          <a:bodyPr/>
          <a:lstStyle/>
          <a:p>
            <a:r>
              <a:rPr lang="en-US" sz="1900" dirty="0" smtClean="0">
                <a:latin typeface="+mj-lt"/>
              </a:rPr>
              <a:t>Students who are </a:t>
            </a:r>
            <a:r>
              <a:rPr lang="en-US" sz="1900" u="sng" dirty="0" smtClean="0">
                <a:latin typeface="+mj-lt"/>
              </a:rPr>
              <a:t>absent</a:t>
            </a:r>
            <a:r>
              <a:rPr lang="en-US" sz="1900" dirty="0" smtClean="0">
                <a:latin typeface="+mj-lt"/>
              </a:rPr>
              <a:t> for more than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30% of the course time</a:t>
            </a:r>
            <a:r>
              <a:rPr lang="en-US" sz="1900" dirty="0" smtClean="0">
                <a:latin typeface="+mj-lt"/>
              </a:rPr>
              <a:t> shall not be allowed to take the exams and be </a:t>
            </a:r>
            <a:r>
              <a:rPr lang="en-US" sz="1900" dirty="0" smtClean="0"/>
              <a:t>graded </a:t>
            </a:r>
            <a:r>
              <a:rPr lang="en-US" sz="1900" i="1" dirty="0" smtClean="0">
                <a:solidFill>
                  <a:srgbClr val="C00000"/>
                </a:solidFill>
              </a:rPr>
              <a:t>0 </a:t>
            </a:r>
            <a:r>
              <a:rPr lang="en-US" sz="1900" dirty="0" smtClean="0"/>
              <a:t>for the whole course</a:t>
            </a:r>
            <a:r>
              <a:rPr lang="en-US" sz="1900" dirty="0" smtClean="0">
                <a:latin typeface="+mj-lt"/>
              </a:rPr>
              <a:t>.</a:t>
            </a:r>
          </a:p>
          <a:p>
            <a:r>
              <a:rPr lang="en-US" sz="1900" dirty="0" smtClean="0">
                <a:latin typeface="+mj-lt"/>
              </a:rPr>
              <a:t>Students who are graded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0 </a:t>
            </a:r>
            <a:r>
              <a:rPr lang="en-US" sz="1900" dirty="0" smtClean="0">
                <a:latin typeface="+mj-lt"/>
              </a:rPr>
              <a:t>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course project</a:t>
            </a:r>
            <a:r>
              <a:rPr lang="en-US" sz="1900" dirty="0" smtClean="0">
                <a:latin typeface="+mj-lt"/>
              </a:rPr>
              <a:t> or 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total score of the individual tests </a:t>
            </a:r>
            <a:r>
              <a:rPr lang="en-US" sz="1900" dirty="0" smtClean="0">
                <a:latin typeface="+mj-lt"/>
              </a:rPr>
              <a:t>shall not be allowed to take the exams.</a:t>
            </a:r>
          </a:p>
          <a:p>
            <a:r>
              <a:rPr lang="en-US" sz="1900" dirty="0" smtClean="0"/>
              <a:t>Students who are absent during a test or lab session will receive </a:t>
            </a:r>
            <a:r>
              <a:rPr lang="en-US" sz="1900" i="1" dirty="0" smtClean="0">
                <a:solidFill>
                  <a:srgbClr val="C00000"/>
                </a:solidFill>
              </a:rPr>
              <a:t>a grade of 0</a:t>
            </a:r>
            <a:r>
              <a:rPr lang="en-US" sz="1900" dirty="0" smtClean="0"/>
              <a:t> for the test or the lab. The exception will only apply to students who have a </a:t>
            </a:r>
            <a:r>
              <a:rPr lang="en-US" sz="1900" u="sng" dirty="0" smtClean="0"/>
              <a:t>medical certificate</a:t>
            </a:r>
            <a:r>
              <a:rPr lang="en-US" sz="1900" dirty="0" smtClean="0"/>
              <a:t> from a hospital or evidence of a </a:t>
            </a:r>
            <a:r>
              <a:rPr lang="en-US" sz="1900" u="sng" dirty="0" smtClean="0"/>
              <a:t>family emergency</a:t>
            </a:r>
            <a:r>
              <a:rPr lang="en-US" sz="1900" dirty="0" smtClean="0"/>
              <a:t>.</a:t>
            </a:r>
            <a:endParaRPr lang="en-US" sz="1900" smtClean="0"/>
          </a:p>
          <a:p>
            <a:r>
              <a:rPr lang="en-US" sz="1900" smtClean="0">
                <a:latin typeface="+mj-lt"/>
              </a:rPr>
              <a:t>Students </a:t>
            </a:r>
            <a:r>
              <a:rPr lang="en-US" sz="1900" dirty="0" smtClean="0">
                <a:latin typeface="+mj-lt"/>
              </a:rPr>
              <a:t>who does a classroom test or homework or project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for their friends</a:t>
            </a:r>
            <a:r>
              <a:rPr lang="en-US" sz="1900" dirty="0" smtClean="0">
                <a:latin typeface="+mj-lt"/>
              </a:rPr>
              <a:t> will be graded 0 for the course.</a:t>
            </a:r>
          </a:p>
          <a:p>
            <a:r>
              <a:rPr lang="en-US" sz="1900" dirty="0" smtClean="0">
                <a:latin typeface="+mj-lt"/>
              </a:rPr>
              <a:t>Students who do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plagiarism</a:t>
            </a:r>
            <a:r>
              <a:rPr lang="en-US" sz="1900" dirty="0" smtClean="0">
                <a:latin typeface="+mj-lt"/>
              </a:rPr>
              <a:t> for their exercises or projects will be graded 0 for the course. This also applies to cases in which the lecturers find out later when students will have already completed the course.</a:t>
            </a:r>
          </a:p>
          <a:p>
            <a:r>
              <a:rPr lang="en-US" sz="1900" dirty="0" smtClean="0">
                <a:latin typeface="+mj-lt"/>
              </a:rPr>
              <a:t>Students who have proof of their friends’ cheating or plagiarism but do not notify the lecturers will be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deducted 50%</a:t>
            </a:r>
            <a:r>
              <a:rPr lang="en-US" sz="1900" dirty="0" smtClean="0">
                <a:latin typeface="+mj-lt"/>
              </a:rPr>
              <a:t> of the total grade that they will have achieved.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28600"/>
            <a:ext cx="2152650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Lectures &amp; Slides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Lectures contain the </a:t>
            </a:r>
            <a:r>
              <a:rPr lang="en-US" sz="2400" i="1" dirty="0" smtClean="0">
                <a:solidFill>
                  <a:srgbClr val="C00000"/>
                </a:solidFill>
              </a:rPr>
              <a:t>core</a:t>
            </a:r>
            <a:r>
              <a:rPr lang="en-US" sz="2400" dirty="0" smtClean="0"/>
              <a:t> knowledge with </a:t>
            </a:r>
            <a:r>
              <a:rPr lang="en-US" sz="2400" i="1" dirty="0" smtClean="0">
                <a:solidFill>
                  <a:srgbClr val="C00000"/>
                </a:solidFill>
              </a:rPr>
              <a:t>specific</a:t>
            </a:r>
            <a:r>
              <a:rPr lang="en-US" sz="2400" dirty="0" smtClean="0"/>
              <a:t> examples.</a:t>
            </a:r>
          </a:p>
          <a:p>
            <a:r>
              <a:rPr lang="en-US" sz="2400" dirty="0" smtClean="0"/>
              <a:t>Slides present </a:t>
            </a:r>
            <a:r>
              <a:rPr lang="en-US" sz="2400" i="1" dirty="0" smtClean="0">
                <a:solidFill>
                  <a:srgbClr val="C00000"/>
                </a:solidFill>
              </a:rPr>
              <a:t>general</a:t>
            </a:r>
            <a:r>
              <a:rPr lang="en-US" sz="2400" dirty="0" smtClean="0"/>
              <a:t> knowledge and provide </a:t>
            </a:r>
            <a:r>
              <a:rPr lang="en-US" sz="2400" i="1" dirty="0" smtClean="0">
                <a:solidFill>
                  <a:srgbClr val="C00000"/>
                </a:solidFill>
              </a:rPr>
              <a:t>details</a:t>
            </a:r>
            <a:r>
              <a:rPr lang="en-US" sz="2400" dirty="0" smtClean="0"/>
              <a:t> to lectures.</a:t>
            </a:r>
          </a:p>
          <a:p>
            <a:r>
              <a:rPr lang="en-US" sz="2400" dirty="0" smtClean="0"/>
              <a:t>Lectures &amp; Slides are not necessarily </a:t>
            </a:r>
            <a:r>
              <a:rPr lang="en-US" sz="2400" i="1" dirty="0" smtClean="0">
                <a:solidFill>
                  <a:srgbClr val="C00000"/>
                </a:solidFill>
              </a:rPr>
              <a:t>the same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Writing summary for lectures as articles </a:t>
            </a:r>
            <a:r>
              <a:rPr lang="en-US" sz="2400" dirty="0" smtClean="0">
                <a:sym typeface="Wingdings" pitchFamily="2" charset="2"/>
              </a:rPr>
              <a:t> Bonus points.</a:t>
            </a:r>
          </a:p>
          <a:p>
            <a:r>
              <a:rPr lang="en-US" sz="2400" dirty="0" smtClean="0">
                <a:sym typeface="Wingdings" pitchFamily="2" charset="2"/>
              </a:rPr>
              <a:t>Lecture recordings  Privacy and intellectual properties.</a:t>
            </a:r>
            <a:endParaRPr lang="en-US" sz="2400" dirty="0" smtClean="0"/>
          </a:p>
        </p:txBody>
      </p:sp>
      <p:pic>
        <p:nvPicPr>
          <p:cNvPr id="1026" name="Picture 2" descr="https://images1.whatuni.com/commimg/myhotcourses/blog/post/myhc_69446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495800"/>
            <a:ext cx="3264408" cy="1810512"/>
          </a:xfrm>
          <a:prstGeom prst="rect">
            <a:avLst/>
          </a:prstGeom>
          <a:noFill/>
        </p:spPr>
      </p:pic>
      <p:pic>
        <p:nvPicPr>
          <p:cNvPr id="1030" name="Picture 6" descr="Cách làm trò chơi Lucky Number trên PowerPoint 201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57800" y="4495800"/>
            <a:ext cx="3086100" cy="17373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324600" cy="4525963"/>
          </a:xfrm>
        </p:spPr>
        <p:txBody>
          <a:bodyPr/>
          <a:lstStyle/>
          <a:p>
            <a:pPr lvl="0"/>
            <a:r>
              <a:rPr lang="en-US" sz="2200" dirty="0" smtClean="0"/>
              <a:t>Len Bass, Paul Clements and Rick </a:t>
            </a:r>
            <a:r>
              <a:rPr lang="en-US" sz="2200" dirty="0" err="1" smtClean="0"/>
              <a:t>Kazman</a:t>
            </a:r>
            <a:r>
              <a:rPr lang="en-US" sz="2200" dirty="0" smtClean="0"/>
              <a:t> (2021). Software Architecture in Practice. Addison-Wesley.</a:t>
            </a:r>
          </a:p>
          <a:p>
            <a:pPr lvl="0"/>
            <a:r>
              <a:rPr lang="en-US" sz="2200" dirty="0" smtClean="0"/>
              <a:t>Mark Richards and Neal Ford (2020). Fundamentals of Software Architecture. An Engineering Approach. O'Reilly Media.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1600200"/>
            <a:ext cx="1809750" cy="180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1219200" y="5029200"/>
            <a:ext cx="6705600" cy="8382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latin typeface="Calibri" pitchFamily="34" charset="0"/>
                <a:cs typeface="Calibri" pitchFamily="34" charset="0"/>
              </a:rPr>
              <a:t>Specific materials for each course topic: Refer to the course slides.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itchFamily="34" charset="0"/>
              <a:ea typeface="+mn-ea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and Answers</a:t>
            </a:r>
            <a:endParaRPr lang="en-US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19488" y="2233613"/>
            <a:ext cx="210502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10972</TotalTime>
  <Words>926</Words>
  <Application>Microsoft Office PowerPoint</Application>
  <PresentationFormat>On-screen Show (4:3)</PresentationFormat>
  <Paragraphs>142</Paragraphs>
  <Slides>25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Course Introduction</vt:lpstr>
      <vt:lpstr>Lecturer</vt:lpstr>
      <vt:lpstr>Objectives</vt:lpstr>
      <vt:lpstr>Contents</vt:lpstr>
      <vt:lpstr>I am a Student</vt:lpstr>
      <vt:lpstr>I am a Student</vt:lpstr>
      <vt:lpstr>I am a Student</vt:lpstr>
      <vt:lpstr>I am a Developer</vt:lpstr>
      <vt:lpstr>This Course is Not for</vt:lpstr>
      <vt:lpstr>Course Prerequisites</vt:lpstr>
      <vt:lpstr>Course Learning Outcomes</vt:lpstr>
      <vt:lpstr>Course Contents (I)</vt:lpstr>
      <vt:lpstr>Course Contents (II)</vt:lpstr>
      <vt:lpstr>Course Contents (III)</vt:lpstr>
      <vt:lpstr>Course Schedule</vt:lpstr>
      <vt:lpstr>Classroom Leaders</vt:lpstr>
      <vt:lpstr>Course Assessment</vt:lpstr>
      <vt:lpstr>Individual Tests in Classroom (20%)</vt:lpstr>
      <vt:lpstr>Individual Labs (40%)</vt:lpstr>
      <vt:lpstr>Final Individual Oral Exam (40%)</vt:lpstr>
      <vt:lpstr>Course Policies</vt:lpstr>
      <vt:lpstr>Lectures &amp; Slides</vt:lpstr>
      <vt:lpstr>References</vt:lpstr>
      <vt:lpstr>Questions and Answers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5162</cp:revision>
  <dcterms:created xsi:type="dcterms:W3CDTF">2007-10-06T08:25:13Z</dcterms:created>
  <dcterms:modified xsi:type="dcterms:W3CDTF">2025-05-16T18:28:54Z</dcterms:modified>
</cp:coreProperties>
</file>