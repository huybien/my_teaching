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6"/>
  </p:notesMasterIdLst>
  <p:handoutMasterIdLst>
    <p:handoutMasterId r:id="rId57"/>
  </p:handoutMasterIdLst>
  <p:sldIdLst>
    <p:sldId id="256" r:id="rId2"/>
    <p:sldId id="480" r:id="rId3"/>
    <p:sldId id="713" r:id="rId4"/>
    <p:sldId id="712" r:id="rId5"/>
    <p:sldId id="734" r:id="rId6"/>
    <p:sldId id="735" r:id="rId7"/>
    <p:sldId id="736" r:id="rId8"/>
    <p:sldId id="737" r:id="rId9"/>
    <p:sldId id="738" r:id="rId10"/>
    <p:sldId id="739" r:id="rId11"/>
    <p:sldId id="740" r:id="rId12"/>
    <p:sldId id="741" r:id="rId13"/>
    <p:sldId id="742" r:id="rId14"/>
    <p:sldId id="743" r:id="rId15"/>
    <p:sldId id="744" r:id="rId16"/>
    <p:sldId id="745" r:id="rId17"/>
    <p:sldId id="746" r:id="rId18"/>
    <p:sldId id="801" r:id="rId19"/>
    <p:sldId id="748" r:id="rId20"/>
    <p:sldId id="749" r:id="rId21"/>
    <p:sldId id="791" r:id="rId22"/>
    <p:sldId id="795" r:id="rId23"/>
    <p:sldId id="812" r:id="rId24"/>
    <p:sldId id="751" r:id="rId25"/>
    <p:sldId id="796" r:id="rId26"/>
    <p:sldId id="797" r:id="rId27"/>
    <p:sldId id="803" r:id="rId28"/>
    <p:sldId id="798" r:id="rId29"/>
    <p:sldId id="804" r:id="rId30"/>
    <p:sldId id="799" r:id="rId31"/>
    <p:sldId id="806" r:id="rId32"/>
    <p:sldId id="800" r:id="rId33"/>
    <p:sldId id="807" r:id="rId34"/>
    <p:sldId id="810" r:id="rId35"/>
    <p:sldId id="808" r:id="rId36"/>
    <p:sldId id="811" r:id="rId37"/>
    <p:sldId id="809" r:id="rId38"/>
    <p:sldId id="781" r:id="rId39"/>
    <p:sldId id="790" r:id="rId40"/>
    <p:sldId id="789" r:id="rId41"/>
    <p:sldId id="786" r:id="rId42"/>
    <p:sldId id="785" r:id="rId43"/>
    <p:sldId id="813" r:id="rId44"/>
    <p:sldId id="757" r:id="rId45"/>
    <p:sldId id="758" r:id="rId46"/>
    <p:sldId id="794" r:id="rId47"/>
    <p:sldId id="759" r:id="rId48"/>
    <p:sldId id="776" r:id="rId49"/>
    <p:sldId id="787" r:id="rId50"/>
    <p:sldId id="760" r:id="rId51"/>
    <p:sldId id="761" r:id="rId52"/>
    <p:sldId id="769" r:id="rId53"/>
    <p:sldId id="802" r:id="rId54"/>
    <p:sldId id="359" r:id="rId5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 autoAdjust="0"/>
    <p:restoredTop sz="94667" autoAdjust="0"/>
  </p:normalViewPr>
  <p:slideViewPr>
    <p:cSldViewPr>
      <p:cViewPr>
        <p:scale>
          <a:sx n="50" d="100"/>
          <a:sy n="50" d="100"/>
        </p:scale>
        <p:origin x="-160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5CE0D-E8F9-4F17-B1ED-147CA73C5D1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1A1A-C7CB-4206-B7C5-2991EE4388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" TargetMode="External"/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smtClean="0"/>
              <a:t>Introduction to </a:t>
            </a:r>
            <a:r>
              <a:rPr lang="en-US" sz="6000" dirty="0" smtClean="0"/>
              <a:t>Software Architecture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93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19800" cy="4648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explain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software architecture is.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explain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software architecture is important.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communicate</a:t>
            </a:r>
            <a:r>
              <a:rPr lang="en-US" sz="2400" dirty="0" smtClean="0"/>
              <a:t> in the field of software architecture.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Architectural Representation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Architecture Design </a:t>
            </a:r>
            <a:r>
              <a:rPr lang="en-US" sz="2400" dirty="0" smtClean="0"/>
              <a:t>Method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Architecture </a:t>
            </a:r>
            <a:r>
              <a:rPr lang="en-US" sz="2400" dirty="0" smtClean="0"/>
              <a:t>Reconstruction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Architecture Benefits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Architecture Evaluation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Frank </a:t>
            </a:r>
            <a:r>
              <a:rPr lang="en-US" sz="1400" dirty="0" err="1" smtClean="0"/>
              <a:t>Buschmann</a:t>
            </a:r>
            <a:r>
              <a:rPr lang="en-US" sz="1400" dirty="0" smtClean="0"/>
              <a:t> et al. (1996). Pattern-Oriented Software Architecture: A System Of Patterns. John Wiley &amp; Sons Ltd book.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David </a:t>
            </a:r>
            <a:r>
              <a:rPr lang="en-US" sz="1400" dirty="0" err="1" smtClean="0"/>
              <a:t>Garlan</a:t>
            </a:r>
            <a:r>
              <a:rPr lang="en-US" sz="1400" dirty="0" smtClean="0"/>
              <a:t> and Mary Shaw (1994). An Introduction to Software Architecture.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Klaus Pohl et al. (2005). Software Product Line Engineering - Foundations, Principles, and Techniques.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Len Bass, Paul Clements and Rick </a:t>
            </a:r>
            <a:r>
              <a:rPr lang="en-US" sz="1400" dirty="0" err="1" smtClean="0"/>
              <a:t>Kazman</a:t>
            </a:r>
            <a:r>
              <a:rPr lang="en-US" sz="1400" dirty="0" smtClean="0"/>
              <a:t> (2021). Software Architecture in Practice. Addison-Wesley.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Robert </a:t>
            </a:r>
            <a:r>
              <a:rPr lang="en-US" sz="1400" dirty="0" err="1" smtClean="0"/>
              <a:t>Cloutier</a:t>
            </a:r>
            <a:r>
              <a:rPr lang="en-US" sz="1400" dirty="0" smtClean="0"/>
              <a:t> et al. (2010). The Concept of Reference Architectures.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Philippe </a:t>
            </a:r>
            <a:r>
              <a:rPr lang="en-US" sz="1400" dirty="0" err="1" smtClean="0"/>
              <a:t>Kruchten</a:t>
            </a:r>
            <a:r>
              <a:rPr lang="en-US" sz="1400" dirty="0" smtClean="0"/>
              <a:t> (2009). Documentation of Software Architecture from a Knowledge Management Perspective – Design Representation.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Philippe </a:t>
            </a:r>
            <a:r>
              <a:rPr lang="en-US" sz="1400" dirty="0" err="1" smtClean="0"/>
              <a:t>Kruchten</a:t>
            </a:r>
            <a:r>
              <a:rPr lang="en-US" sz="1400" dirty="0" smtClean="0"/>
              <a:t> (1995). Architectural Blueprints - The 4+1 View Model of Software Architecture.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Craig </a:t>
            </a:r>
            <a:r>
              <a:rPr lang="en-US" sz="1400" dirty="0" err="1" smtClean="0"/>
              <a:t>Larman</a:t>
            </a:r>
            <a:r>
              <a:rPr lang="en-US" sz="1400" dirty="0" smtClean="0"/>
              <a:t> (2004). Applying UML And Patterns. 3rd Edition. Prentice Hall.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Nick </a:t>
            </a:r>
            <a:r>
              <a:rPr lang="en-US" sz="1400" dirty="0" err="1" smtClean="0"/>
              <a:t>Rozanski</a:t>
            </a:r>
            <a:r>
              <a:rPr lang="en-US" sz="1400" dirty="0" smtClean="0"/>
              <a:t> and </a:t>
            </a:r>
            <a:r>
              <a:rPr lang="en-US" sz="1400" dirty="0" err="1" smtClean="0"/>
              <a:t>Eoin</a:t>
            </a:r>
            <a:r>
              <a:rPr lang="en-US" sz="1400" dirty="0" smtClean="0"/>
              <a:t> Woods (2012). Software Systems Architecture: Working with Stakeholders Using Viewpoints and Perspectives. Addison-Wesley Professional.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Robert C. Martin (2017). Clean Architecture: A Craftsman’s Guide to Software Structure and Design. Pearson Education.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2286000"/>
            <a:ext cx="1997710" cy="30314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Software Architecture?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1"/>
            <a:ext cx="5105400" cy="4267200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software architecture</a:t>
            </a:r>
            <a:r>
              <a:rPr lang="en-US" sz="2400" dirty="0" smtClean="0"/>
              <a:t> is a </a:t>
            </a:r>
            <a:r>
              <a:rPr lang="en-US" sz="2400" u="sng" dirty="0" smtClean="0"/>
              <a:t>description</a:t>
            </a:r>
            <a:r>
              <a:rPr lang="en-US" sz="2400" dirty="0" smtClean="0"/>
              <a:t> of the subsystems and </a:t>
            </a:r>
            <a:r>
              <a:rPr lang="en-US" sz="2400" u="sng" dirty="0" smtClean="0"/>
              <a:t>components</a:t>
            </a:r>
            <a:r>
              <a:rPr lang="en-US" sz="2400" dirty="0" smtClean="0"/>
              <a:t> of a software system and the </a:t>
            </a:r>
            <a:r>
              <a:rPr lang="en-US" sz="2400" u="sng" dirty="0" smtClean="0"/>
              <a:t>relationships</a:t>
            </a:r>
            <a:r>
              <a:rPr lang="en-US" sz="2400" dirty="0" smtClean="0"/>
              <a:t> between them.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software architecture</a:t>
            </a:r>
            <a:r>
              <a:rPr lang="en-US" sz="2400" dirty="0" smtClean="0"/>
              <a:t> of a system is an </a:t>
            </a:r>
            <a:r>
              <a:rPr lang="en-US" sz="2400" u="sng" dirty="0" smtClean="0"/>
              <a:t>artifact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It is the result of the </a:t>
            </a:r>
            <a:r>
              <a:rPr lang="en-US" sz="2000" u="sng" dirty="0" smtClean="0"/>
              <a:t>software design activity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It is a </a:t>
            </a:r>
            <a:r>
              <a:rPr lang="en-US" sz="2000" u="sng" dirty="0" smtClean="0"/>
              <a:t>solution</a:t>
            </a:r>
            <a:r>
              <a:rPr lang="en-US" sz="2000" dirty="0" smtClean="0"/>
              <a:t> to a </a:t>
            </a:r>
            <a:r>
              <a:rPr lang="en-US" sz="2000" u="sng" dirty="0" smtClean="0"/>
              <a:t>problem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Therefore we need a </a:t>
            </a:r>
            <a:r>
              <a:rPr lang="en-US" sz="2000" i="1" dirty="0" smtClean="0">
                <a:solidFill>
                  <a:srgbClr val="C00000"/>
                </a:solidFill>
              </a:rPr>
              <a:t>problem</a:t>
            </a:r>
            <a:r>
              <a:rPr lang="en-US" sz="2000" dirty="0" smtClean="0"/>
              <a:t> first.</a:t>
            </a:r>
          </a:p>
          <a:p>
            <a:pPr lvl="1">
              <a:buNone/>
            </a:pPr>
            <a:r>
              <a:rPr lang="en-US" sz="2000" dirty="0" smtClean="0">
                <a:sym typeface="Wingdings" pitchFamily="2" charset="2"/>
              </a:rPr>
              <a:t>	 </a:t>
            </a:r>
            <a:r>
              <a:rPr lang="en-US" sz="2000" i="1" dirty="0" smtClean="0">
                <a:solidFill>
                  <a:srgbClr val="C00000"/>
                </a:solidFill>
                <a:sym typeface="Wingdings" pitchFamily="2" charset="2"/>
              </a:rPr>
              <a:t>Functionality</a:t>
            </a:r>
            <a:r>
              <a:rPr lang="en-US" sz="2000" dirty="0" smtClean="0">
                <a:sym typeface="Wingdings" pitchFamily="2" charset="2"/>
              </a:rPr>
              <a:t>, </a:t>
            </a:r>
            <a:r>
              <a:rPr lang="en-US" sz="2000" i="1" dirty="0" smtClean="0">
                <a:solidFill>
                  <a:srgbClr val="C00000"/>
                </a:solidFill>
                <a:sym typeface="Wingdings" pitchFamily="2" charset="2"/>
              </a:rPr>
              <a:t>quality attributes</a:t>
            </a:r>
            <a:r>
              <a:rPr lang="en-US" sz="2000" dirty="0" smtClean="0">
                <a:sym typeface="Wingdings" pitchFamily="2" charset="2"/>
              </a:rPr>
              <a:t>.</a:t>
            </a:r>
            <a:endParaRPr lang="en-US" sz="2000" dirty="0" smtClean="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33975" y="2286000"/>
            <a:ext cx="3781425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52400" y="4800600"/>
            <a:ext cx="8686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2362200"/>
            <a:ext cx="38862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component</a:t>
            </a:r>
            <a:r>
              <a:rPr lang="en-US" sz="2400" dirty="0" smtClean="0"/>
              <a:t> is an </a:t>
            </a:r>
            <a:r>
              <a:rPr lang="en-US" sz="2400" u="sng" dirty="0" smtClean="0"/>
              <a:t>encapsulated part</a:t>
            </a:r>
            <a:r>
              <a:rPr lang="en-US" sz="2400" dirty="0" smtClean="0"/>
              <a:t> of a software system.</a:t>
            </a:r>
          </a:p>
          <a:p>
            <a:endParaRPr lang="en-US" sz="2400" dirty="0" smtClean="0"/>
          </a:p>
          <a:p>
            <a:r>
              <a:rPr lang="en-US" sz="2400" dirty="0" smtClean="0"/>
              <a:t>A component has an </a:t>
            </a:r>
            <a:r>
              <a:rPr lang="en-US" sz="2400" i="1" dirty="0" smtClean="0">
                <a:solidFill>
                  <a:srgbClr val="C00000"/>
                </a:solidFill>
              </a:rPr>
              <a:t>interface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Components serve as the </a:t>
            </a:r>
            <a:r>
              <a:rPr lang="en-US" sz="2400" i="1" dirty="0" smtClean="0">
                <a:solidFill>
                  <a:srgbClr val="C00000"/>
                </a:solidFill>
              </a:rPr>
              <a:t>building blocks</a:t>
            </a:r>
            <a:r>
              <a:rPr lang="en-US" sz="2400" dirty="0" smtClean="0"/>
              <a:t> for the structure of a system.</a:t>
            </a:r>
          </a:p>
          <a:p>
            <a:endParaRPr lang="en-US" sz="2400" dirty="0" smtClean="0"/>
          </a:p>
          <a:p>
            <a:r>
              <a:rPr lang="en-US" sz="2400" dirty="0" smtClean="0"/>
              <a:t>At a </a:t>
            </a:r>
            <a:r>
              <a:rPr lang="en-US" sz="2400" i="1" dirty="0" smtClean="0">
                <a:solidFill>
                  <a:srgbClr val="C00000"/>
                </a:solidFill>
              </a:rPr>
              <a:t>programming-language level</a:t>
            </a:r>
            <a:r>
              <a:rPr lang="en-US" sz="2400" dirty="0" smtClean="0"/>
              <a:t>, components may be represented as </a:t>
            </a:r>
            <a:r>
              <a:rPr lang="en-US" sz="2400" u="sng" dirty="0" smtClean="0"/>
              <a:t>modules</a:t>
            </a:r>
            <a:r>
              <a:rPr lang="en-US" sz="2400" dirty="0" smtClean="0"/>
              <a:t>, </a:t>
            </a:r>
            <a:r>
              <a:rPr lang="en-US" sz="2400" u="sng" dirty="0" smtClean="0"/>
              <a:t>classes</a:t>
            </a:r>
            <a:r>
              <a:rPr lang="en-US" sz="2400" dirty="0" smtClean="0"/>
              <a:t>, </a:t>
            </a:r>
            <a:r>
              <a:rPr lang="en-US" sz="2400" u="sng" dirty="0" smtClean="0"/>
              <a:t>objects</a:t>
            </a:r>
            <a:r>
              <a:rPr lang="en-US" sz="2400" dirty="0" smtClean="0"/>
              <a:t> or a set of related </a:t>
            </a:r>
            <a:r>
              <a:rPr lang="en-US" sz="2400" u="sng" dirty="0" smtClean="0"/>
              <a:t>functions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98637"/>
            <a:ext cx="5562600" cy="4525963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relationship</a:t>
            </a:r>
            <a:r>
              <a:rPr lang="en-US" sz="2400" dirty="0" smtClean="0"/>
              <a:t> denotes a connection between components.</a:t>
            </a:r>
          </a:p>
          <a:p>
            <a:r>
              <a:rPr lang="en-US" sz="2400" dirty="0" smtClean="0"/>
              <a:t>A relationship may be </a:t>
            </a:r>
            <a:r>
              <a:rPr lang="en-US" sz="2400" i="1" dirty="0" smtClean="0">
                <a:solidFill>
                  <a:srgbClr val="C00000"/>
                </a:solidFill>
              </a:rPr>
              <a:t>static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dynamic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Static relationships show directly in </a:t>
            </a:r>
            <a:r>
              <a:rPr lang="en-US" sz="2400" i="1" dirty="0" smtClean="0">
                <a:solidFill>
                  <a:srgbClr val="C00000"/>
                </a:solidFill>
              </a:rPr>
              <a:t>source code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They deal with </a:t>
            </a:r>
            <a:r>
              <a:rPr lang="en-US" sz="2000" i="1" dirty="0" smtClean="0">
                <a:solidFill>
                  <a:srgbClr val="C00000"/>
                </a:solidFill>
              </a:rPr>
              <a:t>the placement</a:t>
            </a:r>
            <a:r>
              <a:rPr lang="en-US" sz="2000" dirty="0" smtClean="0"/>
              <a:t> of components within an architecture.</a:t>
            </a:r>
          </a:p>
          <a:p>
            <a:r>
              <a:rPr lang="en-US" sz="2400" dirty="0" smtClean="0"/>
              <a:t>Dynamic relationships deal with temporal connections and </a:t>
            </a:r>
            <a:r>
              <a:rPr lang="en-US" sz="2400" i="1" dirty="0" smtClean="0">
                <a:solidFill>
                  <a:srgbClr val="C00000"/>
                </a:solidFill>
              </a:rPr>
              <a:t>dynamic interaction</a:t>
            </a:r>
            <a:r>
              <a:rPr lang="en-US" sz="2400" dirty="0" smtClean="0"/>
              <a:t> between components.</a:t>
            </a:r>
          </a:p>
          <a:p>
            <a:pPr lvl="1"/>
            <a:r>
              <a:rPr lang="en-US" sz="2000" dirty="0" smtClean="0"/>
              <a:t>They may </a:t>
            </a:r>
            <a:r>
              <a:rPr lang="en-US" sz="2000" i="1" dirty="0" smtClean="0">
                <a:solidFill>
                  <a:srgbClr val="C00000"/>
                </a:solidFill>
              </a:rPr>
              <a:t>not be easily visible</a:t>
            </a:r>
            <a:r>
              <a:rPr lang="en-US" sz="2000" dirty="0" smtClean="0"/>
              <a:t> from the static structure of source code.</a:t>
            </a:r>
            <a:endParaRPr lang="en-US" sz="2000" dirty="0"/>
          </a:p>
        </p:txBody>
      </p:sp>
      <p:pic>
        <p:nvPicPr>
          <p:cNvPr id="32772" name="Picture 4" descr="https://raw.github.com/wiki/marcric/ror3gangsclock/general_mvc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14825" y="1323975"/>
            <a:ext cx="4752975" cy="36290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Software Architecture? [2]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architecture</a:t>
            </a:r>
            <a:r>
              <a:rPr lang="en-US" sz="2400" dirty="0" smtClean="0"/>
              <a:t> of a specific system is a collection of computational components — or simply </a:t>
            </a:r>
            <a:r>
              <a:rPr lang="en-US" sz="2400" u="sng" dirty="0" smtClean="0"/>
              <a:t>components</a:t>
            </a:r>
            <a:r>
              <a:rPr lang="en-US" sz="2400" dirty="0" smtClean="0"/>
              <a:t> — together with a description of the interactions between these components — the </a:t>
            </a:r>
            <a:r>
              <a:rPr lang="en-US" sz="2400" u="sng" dirty="0" smtClean="0"/>
              <a:t>connectors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leads to a view of an abstract architectural description as </a:t>
            </a:r>
            <a:r>
              <a:rPr lang="en-US" sz="2400" i="1" dirty="0" smtClean="0">
                <a:solidFill>
                  <a:srgbClr val="C00000"/>
                </a:solidFill>
              </a:rPr>
              <a:t>a graph</a:t>
            </a:r>
            <a:r>
              <a:rPr lang="en-US" sz="2400" dirty="0" smtClean="0"/>
              <a:t> in which the </a:t>
            </a:r>
            <a:r>
              <a:rPr lang="en-US" sz="2400" u="sng" dirty="0" smtClean="0"/>
              <a:t>nodes</a:t>
            </a:r>
            <a:r>
              <a:rPr lang="en-US" sz="2400" dirty="0" smtClean="0"/>
              <a:t> represent the components and the </a:t>
            </a:r>
            <a:r>
              <a:rPr lang="en-US" sz="2400" u="sng" dirty="0" smtClean="0"/>
              <a:t>arcs</a:t>
            </a:r>
            <a:r>
              <a:rPr lang="en-US" sz="2400" dirty="0" smtClean="0"/>
              <a:t> represent the connectors.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Connectors</a:t>
            </a:r>
            <a:r>
              <a:rPr lang="en-US" sz="2400" dirty="0" smtClean="0"/>
              <a:t> can represent interactions as varied as </a:t>
            </a:r>
            <a:r>
              <a:rPr lang="en-US" sz="2400" u="sng" dirty="0" smtClean="0"/>
              <a:t>procedure call</a:t>
            </a:r>
            <a:r>
              <a:rPr lang="en-US" sz="2400" dirty="0" smtClean="0"/>
              <a:t>, </a:t>
            </a:r>
            <a:r>
              <a:rPr lang="en-US" sz="2400" u="sng" dirty="0" smtClean="0"/>
              <a:t>event broadcast</a:t>
            </a:r>
            <a:r>
              <a:rPr lang="en-US" sz="2400" dirty="0" smtClean="0"/>
              <a:t>, </a:t>
            </a:r>
            <a:r>
              <a:rPr lang="en-US" sz="2400" u="sng" dirty="0" smtClean="0"/>
              <a:t>database queries</a:t>
            </a:r>
            <a:r>
              <a:rPr lang="en-US" sz="2400" dirty="0" smtClean="0"/>
              <a:t>, and </a:t>
            </a:r>
            <a:r>
              <a:rPr lang="en-US" sz="2400" u="sng" dirty="0" smtClean="0"/>
              <a:t>pipes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Software Architecture?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pPr lvl="0">
              <a:buFont typeface="Arial" pitchFamily="34" charset="0"/>
              <a:buChar char="•"/>
              <a:defRPr/>
            </a:pPr>
            <a:r>
              <a:rPr lang="en-US" sz="2400" i="1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architectural structure</a:t>
            </a:r>
            <a:r>
              <a:rPr lang="en-US" sz="2400" dirty="0" smtClean="0"/>
              <a:t> is the </a:t>
            </a:r>
            <a:r>
              <a:rPr lang="en-US" sz="2400" u="sng" dirty="0" smtClean="0"/>
              <a:t>decomposition</a:t>
            </a:r>
            <a:r>
              <a:rPr lang="en-US" sz="2400" dirty="0" smtClean="0"/>
              <a:t> of a software system into </a:t>
            </a:r>
            <a:r>
              <a:rPr lang="en-US" sz="2400" u="sng" dirty="0" smtClean="0"/>
              <a:t>parts</a:t>
            </a:r>
            <a:r>
              <a:rPr lang="en-US" sz="2400" dirty="0" smtClean="0"/>
              <a:t> and </a:t>
            </a:r>
            <a:r>
              <a:rPr lang="en-US" sz="2400" u="sng" dirty="0" smtClean="0"/>
              <a:t>relationships</a:t>
            </a:r>
            <a:r>
              <a:rPr lang="en-US" sz="2400" dirty="0" smtClean="0"/>
              <a:t>.</a:t>
            </a:r>
          </a:p>
          <a:p>
            <a:pPr lvl="0">
              <a:buFont typeface="Arial" pitchFamily="34" charset="0"/>
              <a:buChar char="•"/>
              <a:defRPr/>
            </a:pPr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architectural texture</a:t>
            </a:r>
            <a:r>
              <a:rPr lang="en-US" sz="2400" dirty="0" smtClean="0"/>
              <a:t> is the collection of common </a:t>
            </a:r>
            <a:r>
              <a:rPr lang="en-US" sz="2400" u="sng" dirty="0" smtClean="0"/>
              <a:t>development rules</a:t>
            </a:r>
            <a:r>
              <a:rPr lang="en-US" sz="2400" dirty="0" smtClean="0"/>
              <a:t> for realizing the system.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3352800"/>
            <a:ext cx="4334256" cy="3223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762000" y="3886200"/>
            <a:ext cx="3124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Structure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in Home Automation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Texture</a:t>
            </a:r>
            <a:r>
              <a:rPr lang="en-US" dirty="0" smtClean="0"/>
              <a:t> in Home Automation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The use of layering</a:t>
            </a:r>
            <a:r>
              <a:rPr lang="en-US" sz="2400" dirty="0" smtClean="0"/>
              <a:t> in the structure, as described in Structure.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The use of a hierarchy of layers</a:t>
            </a:r>
            <a:r>
              <a:rPr lang="en-US" sz="2400" dirty="0" smtClean="0"/>
              <a:t>, subsystems, and components as described in Structure.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The facade pattern</a:t>
            </a:r>
            <a:r>
              <a:rPr lang="en-US" sz="2400" dirty="0" smtClean="0"/>
              <a:t> that demands a single interface at subsystem level.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The observer pattern</a:t>
            </a:r>
            <a:r>
              <a:rPr lang="en-US" sz="2400" dirty="0" smtClean="0"/>
              <a:t>, which decouples user interface issues from the data.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The presence of an initialization interface</a:t>
            </a:r>
            <a:r>
              <a:rPr lang="en-US" sz="2400" dirty="0" smtClean="0"/>
              <a:t> with a prescribed set of functions at each component.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The use of high-priority processes for user interface</a:t>
            </a:r>
            <a:r>
              <a:rPr lang="en-US" sz="2400" dirty="0" smtClean="0"/>
              <a:t> handling an medium-priority processes for user functions.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Software Architecture? [4]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software architecture</a:t>
            </a:r>
            <a:r>
              <a:rPr lang="en-US" sz="2400" dirty="0" smtClean="0"/>
              <a:t> of a program or computing system is the structure or </a:t>
            </a:r>
            <a:r>
              <a:rPr lang="en-US" sz="2400" u="sng" dirty="0" smtClean="0"/>
              <a:t>structures of the system</a:t>
            </a:r>
            <a:r>
              <a:rPr lang="en-US" sz="2400" dirty="0" smtClean="0"/>
              <a:t>, which comprise </a:t>
            </a:r>
            <a:r>
              <a:rPr lang="en-US" sz="2400" u="sng" dirty="0" smtClean="0"/>
              <a:t>software elements</a:t>
            </a:r>
            <a:r>
              <a:rPr lang="en-US" sz="2400" dirty="0" smtClean="0"/>
              <a:t>, the externally visible properties of those elements, and the </a:t>
            </a:r>
            <a:r>
              <a:rPr lang="en-US" sz="2400" u="sng" dirty="0" smtClean="0"/>
              <a:t>relationships</a:t>
            </a:r>
            <a:r>
              <a:rPr lang="en-US" sz="2400" dirty="0" smtClean="0"/>
              <a:t> among them.</a:t>
            </a:r>
          </a:p>
          <a:p>
            <a:pPr lvl="1"/>
            <a:r>
              <a:rPr lang="en-US" sz="2000" dirty="0" smtClean="0"/>
              <a:t>An architecture is foremost an </a:t>
            </a:r>
            <a:r>
              <a:rPr lang="en-US" sz="2000" i="1" dirty="0" smtClean="0">
                <a:solidFill>
                  <a:srgbClr val="C00000"/>
                </a:solidFill>
              </a:rPr>
              <a:t>abstraction</a:t>
            </a:r>
            <a:r>
              <a:rPr lang="en-US" sz="2000" dirty="0" smtClean="0"/>
              <a:t> of a system that suppresses details of elements that do not affect how they use, are used by, relate to, or interact with other elements.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Every computing system with software has a software architecture.</a:t>
            </a:r>
          </a:p>
          <a:p>
            <a:pPr lvl="1"/>
            <a:r>
              <a:rPr lang="en-US" sz="2000" dirty="0" smtClean="0"/>
              <a:t>An architecture can exist </a:t>
            </a:r>
            <a:r>
              <a:rPr lang="en-US" sz="2000" i="1" dirty="0" smtClean="0">
                <a:solidFill>
                  <a:srgbClr val="C00000"/>
                </a:solidFill>
              </a:rPr>
              <a:t>independently</a:t>
            </a:r>
            <a:r>
              <a:rPr lang="en-US" sz="2000" dirty="0" smtClean="0"/>
              <a:t> of its description or specification.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behavior</a:t>
            </a:r>
            <a:r>
              <a:rPr lang="en-US" sz="2000" dirty="0" smtClean="0"/>
              <a:t> of each element is part of the architecture.</a:t>
            </a:r>
          </a:p>
          <a:p>
            <a:pPr lvl="1"/>
            <a:r>
              <a:rPr lang="en-US" sz="2000" dirty="0" smtClean="0"/>
              <a:t>The definition is indifferent as to whether the architecture for a system is a </a:t>
            </a:r>
            <a:r>
              <a:rPr lang="en-US" sz="2000" i="1" dirty="0" smtClean="0">
                <a:solidFill>
                  <a:srgbClr val="C00000"/>
                </a:solidFill>
              </a:rPr>
              <a:t>good</a:t>
            </a:r>
            <a:r>
              <a:rPr lang="en-US" sz="2000" dirty="0" smtClean="0"/>
              <a:t> one or a </a:t>
            </a:r>
            <a:r>
              <a:rPr lang="en-US" sz="2000" i="1" dirty="0" smtClean="0">
                <a:solidFill>
                  <a:srgbClr val="C00000"/>
                </a:solidFill>
              </a:rPr>
              <a:t>bad</a:t>
            </a:r>
            <a:r>
              <a:rPr lang="en-US" sz="2000" dirty="0" smtClean="0"/>
              <a:t> one.</a:t>
            </a:r>
            <a:endParaRPr lang="en-US" sz="2000" dirty="0"/>
          </a:p>
        </p:txBody>
      </p:sp>
      <p:pic>
        <p:nvPicPr>
          <p:cNvPr id="31746" name="Picture 2" descr="http://kaporcenter.org/wp-content/uploads/2010/01/green_globe_exclamation_point_57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962400"/>
            <a:ext cx="682752" cy="6827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Points of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Architecture is </a:t>
            </a:r>
            <a:r>
              <a:rPr lang="en-US" sz="2400" i="1" dirty="0" smtClean="0">
                <a:solidFill>
                  <a:srgbClr val="C00000"/>
                </a:solidFill>
              </a:rPr>
              <a:t>high-level design</a:t>
            </a:r>
            <a:r>
              <a:rPr lang="en-US" sz="2400" dirty="0" smtClean="0"/>
              <a:t>.</a:t>
            </a:r>
          </a:p>
          <a:p>
            <a:pPr lvl="1"/>
            <a:r>
              <a:rPr lang="en-US" sz="1600" dirty="0" smtClean="0"/>
              <a:t>Other tasks associated with design are not architectural, such as deciding on important </a:t>
            </a:r>
            <a:r>
              <a:rPr lang="en-US" sz="1600" u="sng" dirty="0" smtClean="0"/>
              <a:t>data structures</a:t>
            </a:r>
            <a:r>
              <a:rPr lang="en-US" sz="1600" dirty="0" smtClean="0"/>
              <a:t> that will be encapsulated.</a:t>
            </a:r>
          </a:p>
          <a:p>
            <a:r>
              <a:rPr lang="en-US" sz="2400" dirty="0" smtClean="0"/>
              <a:t>Architecture is the </a:t>
            </a:r>
            <a:r>
              <a:rPr lang="en-US" sz="2400" i="1" dirty="0" smtClean="0">
                <a:solidFill>
                  <a:srgbClr val="C00000"/>
                </a:solidFill>
              </a:rPr>
              <a:t>overall structure</a:t>
            </a:r>
            <a:r>
              <a:rPr lang="en-US" sz="2400" dirty="0" smtClean="0"/>
              <a:t> of the system.</a:t>
            </a:r>
          </a:p>
          <a:p>
            <a:pPr lvl="1"/>
            <a:r>
              <a:rPr lang="en-US" sz="1600" dirty="0" smtClean="0"/>
              <a:t>The multiplicity of structures in an architecture lies at the heart of the concept.</a:t>
            </a:r>
          </a:p>
          <a:p>
            <a:r>
              <a:rPr lang="en-US" sz="2400" dirty="0" smtClean="0"/>
              <a:t>Architecture is the </a:t>
            </a:r>
            <a:r>
              <a:rPr lang="en-US" sz="2400" i="1" dirty="0" smtClean="0">
                <a:solidFill>
                  <a:srgbClr val="C00000"/>
                </a:solidFill>
              </a:rPr>
              <a:t>structure of the components</a:t>
            </a:r>
            <a:r>
              <a:rPr lang="en-US" sz="2400" dirty="0" smtClean="0"/>
              <a:t> of a program or system, their </a:t>
            </a:r>
            <a:r>
              <a:rPr lang="en-US" sz="2400" i="1" dirty="0" smtClean="0">
                <a:solidFill>
                  <a:srgbClr val="C00000"/>
                </a:solidFill>
              </a:rPr>
              <a:t>interrelationships</a:t>
            </a:r>
            <a:r>
              <a:rPr lang="en-US" sz="2400" dirty="0" smtClean="0"/>
              <a:t>, and the </a:t>
            </a:r>
            <a:r>
              <a:rPr lang="en-US" sz="2400" i="1" dirty="0" smtClean="0">
                <a:solidFill>
                  <a:srgbClr val="C00000"/>
                </a:solidFill>
              </a:rPr>
              <a:t>principles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guidelines</a:t>
            </a:r>
            <a:r>
              <a:rPr lang="en-US" sz="2400" dirty="0" smtClean="0"/>
              <a:t> governing their design and evolution over time.</a:t>
            </a:r>
          </a:p>
          <a:p>
            <a:pPr lvl="1"/>
            <a:r>
              <a:rPr lang="en-US" sz="1600" dirty="0" smtClean="0"/>
              <a:t>Any system has an architecture that can be discovered and analyzed independently of any knowledge of the process by which the architecture was designed or evolved.</a:t>
            </a:r>
          </a:p>
          <a:p>
            <a:r>
              <a:rPr lang="en-US" sz="2400" dirty="0" smtClean="0"/>
              <a:t>Architecture is </a:t>
            </a:r>
            <a:r>
              <a:rPr lang="en-US" sz="2400" i="1" dirty="0" smtClean="0">
                <a:solidFill>
                  <a:srgbClr val="C00000"/>
                </a:solidFill>
              </a:rPr>
              <a:t>components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connectors</a:t>
            </a:r>
            <a:r>
              <a:rPr lang="en-US" sz="2400" dirty="0" smtClean="0"/>
              <a:t>.</a:t>
            </a:r>
          </a:p>
          <a:p>
            <a:pPr lvl="1"/>
            <a:r>
              <a:rPr lang="en-US" sz="1600" dirty="0" smtClean="0"/>
              <a:t>Connectors imply a runtime mechanism.</a:t>
            </a:r>
          </a:p>
          <a:p>
            <a:pPr lvl="1"/>
            <a:r>
              <a:rPr lang="en-US" sz="1600" dirty="0" smtClean="0"/>
              <a:t>When we speak of "relationships" among elements, we intend to capture both runtime and non-runtime relationships.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reference model</a:t>
            </a:r>
            <a:r>
              <a:rPr lang="en-US" sz="2400" dirty="0" smtClean="0"/>
              <a:t> is a </a:t>
            </a:r>
            <a:r>
              <a:rPr lang="en-US" sz="2400" u="sng" dirty="0" smtClean="0"/>
              <a:t>division of functionality</a:t>
            </a:r>
            <a:r>
              <a:rPr lang="en-US" sz="2400" dirty="0" smtClean="0"/>
              <a:t> together with </a:t>
            </a:r>
            <a:r>
              <a:rPr lang="en-US" sz="2400" u="sng" dirty="0" smtClean="0"/>
              <a:t>data flow</a:t>
            </a:r>
            <a:r>
              <a:rPr lang="en-US" sz="2400" dirty="0" smtClean="0"/>
              <a:t> between the pieces.</a:t>
            </a:r>
          </a:p>
          <a:p>
            <a:r>
              <a:rPr lang="en-US" sz="2400" dirty="0" smtClean="0"/>
              <a:t>A reference model is a </a:t>
            </a:r>
            <a:r>
              <a:rPr lang="en-US" sz="2400" i="1" dirty="0" smtClean="0">
                <a:solidFill>
                  <a:srgbClr val="C00000"/>
                </a:solidFill>
              </a:rPr>
              <a:t>standard decomposition</a:t>
            </a:r>
            <a:r>
              <a:rPr lang="en-US" sz="2400" dirty="0" smtClean="0"/>
              <a:t> of a </a:t>
            </a:r>
            <a:r>
              <a:rPr lang="en-US" sz="2400" u="sng" dirty="0" smtClean="0"/>
              <a:t>known problem</a:t>
            </a:r>
            <a:r>
              <a:rPr lang="en-US" sz="2400" dirty="0" smtClean="0"/>
              <a:t> into parts that cooperatively solve the problem.</a:t>
            </a:r>
          </a:p>
          <a:p>
            <a:r>
              <a:rPr lang="en-US" sz="2400" dirty="0" smtClean="0"/>
              <a:t>Arising from experience, reference models are a characteristic of </a:t>
            </a:r>
            <a:r>
              <a:rPr lang="en-US" sz="2400" i="1" dirty="0" smtClean="0">
                <a:solidFill>
                  <a:srgbClr val="C00000"/>
                </a:solidFill>
              </a:rPr>
              <a:t>mature domains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Can you name the </a:t>
            </a:r>
            <a:r>
              <a:rPr lang="en-US" sz="2000" i="1" dirty="0" smtClean="0">
                <a:solidFill>
                  <a:srgbClr val="C00000"/>
                </a:solidFill>
              </a:rPr>
              <a:t>standard parts</a:t>
            </a:r>
            <a:r>
              <a:rPr lang="en-US" sz="2000" dirty="0" smtClean="0"/>
              <a:t> of a compiler or a database management system?</a:t>
            </a:r>
          </a:p>
          <a:p>
            <a:pPr lvl="1"/>
            <a:r>
              <a:rPr lang="en-US" sz="2000" dirty="0" smtClean="0"/>
              <a:t>Can you explain in </a:t>
            </a:r>
            <a:r>
              <a:rPr lang="en-US" sz="2000" i="1" dirty="0" smtClean="0">
                <a:solidFill>
                  <a:srgbClr val="C00000"/>
                </a:solidFill>
              </a:rPr>
              <a:t>broad terms</a:t>
            </a:r>
            <a:r>
              <a:rPr lang="en-US" sz="2000" dirty="0" smtClean="0"/>
              <a:t> how the parts work together to accomplish their collective purpose?</a:t>
            </a:r>
          </a:p>
          <a:p>
            <a:pPr lvl="1"/>
            <a:r>
              <a:rPr lang="en-US" sz="2000" dirty="0" smtClean="0"/>
              <a:t>If so, it is because you have been taught a </a:t>
            </a:r>
            <a:r>
              <a:rPr lang="en-US" sz="2000" i="1" dirty="0" smtClean="0">
                <a:solidFill>
                  <a:srgbClr val="C00000"/>
                </a:solidFill>
              </a:rPr>
              <a:t>reference model</a:t>
            </a:r>
            <a:r>
              <a:rPr lang="en-US" sz="2000" dirty="0" smtClean="0"/>
              <a:t> of these applications.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reference architecture</a:t>
            </a:r>
            <a:r>
              <a:rPr lang="en-US" sz="2400" dirty="0" smtClean="0"/>
              <a:t> is a </a:t>
            </a:r>
            <a:r>
              <a:rPr lang="en-US" sz="2400" u="sng" dirty="0" smtClean="0"/>
              <a:t>reference model</a:t>
            </a:r>
            <a:r>
              <a:rPr lang="en-US" sz="2400" dirty="0" smtClean="0"/>
              <a:t> mapped onto </a:t>
            </a:r>
            <a:r>
              <a:rPr lang="en-US" sz="2400" u="sng" dirty="0" smtClean="0"/>
              <a:t>software elements</a:t>
            </a:r>
            <a:r>
              <a:rPr lang="en-US" sz="2400" dirty="0" smtClean="0"/>
              <a:t> (that cooperatively implement the functionality defined in the reference model) and the </a:t>
            </a:r>
            <a:r>
              <a:rPr lang="en-US" sz="2400" u="sng" dirty="0" smtClean="0"/>
              <a:t>data flows</a:t>
            </a:r>
            <a:r>
              <a:rPr lang="en-US" sz="2400" dirty="0" smtClean="0"/>
              <a:t> between them.</a:t>
            </a:r>
          </a:p>
          <a:p>
            <a:r>
              <a:rPr lang="en-US" sz="2400" dirty="0" smtClean="0"/>
              <a:t>Whereas a </a:t>
            </a:r>
            <a:r>
              <a:rPr lang="en-US" sz="2400" i="1" dirty="0" smtClean="0">
                <a:solidFill>
                  <a:srgbClr val="C00000"/>
                </a:solidFill>
              </a:rPr>
              <a:t>reference model</a:t>
            </a:r>
            <a:r>
              <a:rPr lang="en-US" sz="2400" dirty="0" smtClean="0"/>
              <a:t> divides the </a:t>
            </a:r>
            <a:r>
              <a:rPr lang="en-US" sz="2400" u="sng" dirty="0" smtClean="0"/>
              <a:t>functionality</a:t>
            </a:r>
            <a:r>
              <a:rPr lang="en-US" sz="2400" dirty="0" smtClean="0"/>
              <a:t>, a </a:t>
            </a:r>
            <a:r>
              <a:rPr lang="en-US" sz="2400" i="1" dirty="0" smtClean="0">
                <a:solidFill>
                  <a:srgbClr val="C00000"/>
                </a:solidFill>
              </a:rPr>
              <a:t>reference architecture</a:t>
            </a:r>
            <a:r>
              <a:rPr lang="en-US" sz="2400" dirty="0" smtClean="0"/>
              <a:t> is the </a:t>
            </a:r>
            <a:r>
              <a:rPr lang="en-US" sz="2400" u="sng" dirty="0" smtClean="0"/>
              <a:t>mapping</a:t>
            </a:r>
            <a:r>
              <a:rPr lang="en-US" sz="2400" dirty="0" smtClean="0"/>
              <a:t> of that </a:t>
            </a:r>
            <a:r>
              <a:rPr lang="en-US" sz="2400" u="sng" dirty="0" smtClean="0"/>
              <a:t>functionality</a:t>
            </a:r>
            <a:r>
              <a:rPr lang="en-US" sz="2400" dirty="0" smtClean="0"/>
              <a:t> onto a </a:t>
            </a:r>
            <a:r>
              <a:rPr lang="en-US" sz="2400" u="sng" dirty="0" smtClean="0"/>
              <a:t>system decomposition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mapping may be, but by no means necessarily is, </a:t>
            </a:r>
            <a:r>
              <a:rPr lang="en-US" sz="2400" i="1" dirty="0" smtClean="0">
                <a:solidFill>
                  <a:srgbClr val="C00000"/>
                </a:solidFill>
              </a:rPr>
              <a:t>one to one</a:t>
            </a:r>
            <a:r>
              <a:rPr lang="en-US" sz="2400" dirty="0" smtClean="0"/>
              <a:t>. A software element may implement </a:t>
            </a:r>
            <a:r>
              <a:rPr lang="en-US" sz="2400" u="sng" dirty="0" smtClean="0"/>
              <a:t>part</a:t>
            </a:r>
            <a:r>
              <a:rPr lang="en-US" sz="2400" dirty="0" smtClean="0"/>
              <a:t> of a function or several functions.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Reference Architecture? [5]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199"/>
          </a:xfrm>
        </p:spPr>
        <p:txBody>
          <a:bodyPr/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reference architecture</a:t>
            </a:r>
            <a:r>
              <a:rPr lang="en-US" sz="2200" dirty="0" smtClean="0"/>
              <a:t> is an elaboration of company (or consortium) mission, vision, and strategy.</a:t>
            </a:r>
          </a:p>
          <a:p>
            <a:r>
              <a:rPr lang="en-US" sz="2200" dirty="0" smtClean="0"/>
              <a:t>Such reference architecture facilitates </a:t>
            </a:r>
            <a:r>
              <a:rPr lang="en-US" sz="2200" i="1" dirty="0" smtClean="0">
                <a:solidFill>
                  <a:srgbClr val="C00000"/>
                </a:solidFill>
              </a:rPr>
              <a:t>a shared understanding</a:t>
            </a:r>
            <a:r>
              <a:rPr lang="en-US" sz="2200" dirty="0" smtClean="0"/>
              <a:t> across </a:t>
            </a:r>
            <a:r>
              <a:rPr lang="en-US" sz="2200" u="sng" dirty="0" smtClean="0"/>
              <a:t>multiple products</a:t>
            </a:r>
            <a:r>
              <a:rPr lang="en-US" sz="2200" dirty="0" smtClean="0"/>
              <a:t>, </a:t>
            </a:r>
            <a:r>
              <a:rPr lang="en-US" sz="2200" u="sng" dirty="0" smtClean="0"/>
              <a:t>organizations</a:t>
            </a:r>
            <a:r>
              <a:rPr lang="en-US" sz="2200" dirty="0" smtClean="0"/>
              <a:t>, and </a:t>
            </a:r>
            <a:r>
              <a:rPr lang="en-US" sz="2200" u="sng" dirty="0" smtClean="0"/>
              <a:t>disciplines</a:t>
            </a:r>
            <a:r>
              <a:rPr lang="en-US" sz="2200" dirty="0" smtClean="0"/>
              <a:t> about the </a:t>
            </a:r>
            <a:r>
              <a:rPr lang="en-US" sz="2200" u="sng" dirty="0" smtClean="0"/>
              <a:t>current architecture</a:t>
            </a:r>
            <a:r>
              <a:rPr lang="en-US" sz="2200" dirty="0" smtClean="0"/>
              <a:t> and the vision on the </a:t>
            </a:r>
            <a:r>
              <a:rPr lang="en-US" sz="2200" u="sng" dirty="0" smtClean="0"/>
              <a:t>future direction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8438" y="3810000"/>
            <a:ext cx="366712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Architecture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95600"/>
          </a:xfrm>
        </p:spPr>
        <p:txBody>
          <a:bodyPr/>
          <a:lstStyle/>
          <a:p>
            <a:r>
              <a:rPr lang="en-US" sz="2000" dirty="0" smtClean="0"/>
              <a:t>Reference architecture is largely </a:t>
            </a:r>
            <a:r>
              <a:rPr lang="en-US" sz="2000" i="1" dirty="0" smtClean="0">
                <a:solidFill>
                  <a:srgbClr val="C00000"/>
                </a:solidFill>
              </a:rPr>
              <a:t>based on</a:t>
            </a:r>
            <a:r>
              <a:rPr lang="en-US" sz="2000" dirty="0" smtClean="0"/>
              <a:t> the explicit understanding of the relations between the </a:t>
            </a:r>
            <a:r>
              <a:rPr lang="en-US" sz="2000" u="sng" dirty="0" smtClean="0"/>
              <a:t>business architecture</a:t>
            </a:r>
            <a:r>
              <a:rPr lang="en-US" sz="2000" dirty="0" smtClean="0"/>
              <a:t>, the </a:t>
            </a:r>
            <a:r>
              <a:rPr lang="en-US" sz="2000" u="sng" dirty="0" smtClean="0"/>
              <a:t>technical architecture</a:t>
            </a:r>
            <a:r>
              <a:rPr lang="en-US" sz="2000" dirty="0" smtClean="0"/>
              <a:t>, and the </a:t>
            </a:r>
            <a:r>
              <a:rPr lang="en-US" sz="2000" u="sng" dirty="0" smtClean="0"/>
              <a:t>customer context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In practice, </a:t>
            </a:r>
            <a:r>
              <a:rPr lang="en-US" sz="2000" i="1" dirty="0" smtClean="0">
                <a:solidFill>
                  <a:srgbClr val="C00000"/>
                </a:solidFill>
              </a:rPr>
              <a:t>business architecture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customer context</a:t>
            </a:r>
            <a:r>
              <a:rPr lang="en-US" sz="2000" dirty="0" smtClean="0"/>
              <a:t> are often missing. As a consequence, these technical Reference Architectures represent solutions for </a:t>
            </a:r>
            <a:r>
              <a:rPr lang="en-US" sz="2000" u="sng" dirty="0" smtClean="0"/>
              <a:t>unspecified problems</a:t>
            </a:r>
            <a:r>
              <a:rPr lang="en-US" sz="2000" dirty="0" smtClean="0"/>
              <a:t> in </a:t>
            </a:r>
            <a:r>
              <a:rPr lang="en-US" sz="2000" u="sng" dirty="0" smtClean="0"/>
              <a:t>unspecified contexts</a:t>
            </a:r>
            <a:r>
              <a:rPr lang="en-US" sz="2000" dirty="0" smtClean="0"/>
              <a:t>.</a:t>
            </a:r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810000"/>
            <a:ext cx="400367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Left Arrow 9"/>
          <p:cNvSpPr/>
          <p:nvPr/>
        </p:nvSpPr>
        <p:spPr>
          <a:xfrm>
            <a:off x="5029200" y="3886200"/>
            <a:ext cx="3810000" cy="2362200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Business architecture, technical architecture and customer</a:t>
            </a:r>
          </a:p>
          <a:p>
            <a:r>
              <a:rPr lang="en-US" dirty="0" smtClean="0"/>
              <a:t>context together form the Reference Architecture.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Reference Architecture Abstraction Level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313" y="1952625"/>
            <a:ext cx="642937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Reference models, architectural patterns, and reference architectures are not architectures; they are useful </a:t>
            </a:r>
            <a:r>
              <a:rPr lang="en-US" sz="2200" dirty="0" smtClean="0">
                <a:solidFill>
                  <a:srgbClr val="C00000"/>
                </a:solidFill>
              </a:rPr>
              <a:t>concepts</a:t>
            </a:r>
            <a:r>
              <a:rPr lang="en-US" sz="2200" dirty="0" smtClean="0"/>
              <a:t> that capture elements of an architecture.</a:t>
            </a:r>
          </a:p>
          <a:p>
            <a:r>
              <a:rPr lang="en-US" sz="2200" dirty="0" smtClean="0"/>
              <a:t>Each is the outcome of </a:t>
            </a:r>
            <a:r>
              <a:rPr lang="en-US" sz="2200" i="1" dirty="0" smtClean="0">
                <a:solidFill>
                  <a:srgbClr val="C00000"/>
                </a:solidFill>
              </a:rPr>
              <a:t>early design decisions</a:t>
            </a:r>
            <a:r>
              <a:rPr lang="en-US" sz="2200" dirty="0" smtClean="0"/>
              <a:t>.</a:t>
            </a:r>
          </a:p>
          <a:p>
            <a:endParaRPr lang="en-US" sz="2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352800"/>
            <a:ext cx="476250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62000" y="4953000"/>
            <a:ext cx="7772400" cy="1446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b="1" dirty="0" smtClean="0">
                <a:latin typeface="+mj-lt"/>
              </a:rPr>
              <a:t>The relationships of reference models, architectural patterns, reference architectures, and software architectures.</a:t>
            </a:r>
          </a:p>
          <a:p>
            <a:pPr algn="ctr"/>
            <a:r>
              <a:rPr lang="en-US" sz="2200" b="1" dirty="0" smtClean="0">
                <a:latin typeface="+mj-lt"/>
              </a:rPr>
              <a:t>(The arrows indicate that subsequent concepts contain more design elements.)</a:t>
            </a:r>
            <a:endParaRPr lang="en-US" sz="2200" b="1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Architectural Representation I: Boxes and Arrows [6]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u="sng" dirty="0" smtClean="0"/>
              <a:t>Not much precise</a:t>
            </a:r>
            <a:r>
              <a:rPr lang="en-US" sz="2200" dirty="0" smtClean="0"/>
              <a:t> semantics behind the boxes and the arrows.</a:t>
            </a:r>
          </a:p>
          <a:p>
            <a:r>
              <a:rPr lang="en-US" sz="2200" dirty="0" smtClean="0"/>
              <a:t>Still very valuable in </a:t>
            </a:r>
            <a:r>
              <a:rPr lang="en-US" sz="2200" u="sng" dirty="0" smtClean="0"/>
              <a:t>bridging the gaps</a:t>
            </a:r>
            <a:r>
              <a:rPr lang="en-US" sz="2200" dirty="0" smtClean="0"/>
              <a:t> between various groups of stakeholders.</a:t>
            </a:r>
          </a:p>
        </p:txBody>
      </p:sp>
      <p:pic>
        <p:nvPicPr>
          <p:cNvPr id="25602" name="Picture 2" descr="https://www.nicepng.com/png/full/380-3805106_monolithic-architecture-of-uber-microservice-architec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124200"/>
            <a:ext cx="3511296" cy="33364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Architectural Representation II: Architecture Description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ADLs have in common is that they are able to </a:t>
            </a:r>
          </a:p>
          <a:p>
            <a:pPr lvl="1"/>
            <a:r>
              <a:rPr lang="en-US" sz="2000" dirty="0" smtClean="0"/>
              <a:t>denote essential </a:t>
            </a:r>
            <a:r>
              <a:rPr lang="en-US" sz="2000" i="1" dirty="0" smtClean="0">
                <a:solidFill>
                  <a:srgbClr val="C00000"/>
                </a:solidFill>
              </a:rPr>
              <a:t>elements</a:t>
            </a:r>
            <a:r>
              <a:rPr lang="en-US" sz="2000" dirty="0" smtClean="0"/>
              <a:t> of an architecture – components, package, </a:t>
            </a:r>
          </a:p>
          <a:p>
            <a:pPr lvl="1"/>
            <a:r>
              <a:rPr lang="en-US" sz="2000" dirty="0" smtClean="0"/>
              <a:t>as well as the </a:t>
            </a:r>
            <a:r>
              <a:rPr lang="en-US" sz="2000" i="1" dirty="0" smtClean="0">
                <a:solidFill>
                  <a:srgbClr val="C00000"/>
                </a:solidFill>
              </a:rPr>
              <a:t>relationship</a:t>
            </a:r>
            <a:r>
              <a:rPr lang="en-US" sz="2000" dirty="0" smtClean="0"/>
              <a:t> between these components: connectors, interfaces, and</a:t>
            </a:r>
          </a:p>
          <a:p>
            <a:pPr lvl="1"/>
            <a:r>
              <a:rPr lang="en-US" sz="2000" dirty="0" smtClean="0"/>
              <a:t>to a certain extent some of the </a:t>
            </a:r>
            <a:r>
              <a:rPr lang="en-US" sz="2000" i="1" dirty="0" smtClean="0">
                <a:solidFill>
                  <a:srgbClr val="C00000"/>
                </a:solidFill>
              </a:rPr>
              <a:t>characteristics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behavior</a:t>
            </a:r>
            <a:r>
              <a:rPr lang="en-US" sz="2000" dirty="0" smtClean="0"/>
              <a:t> of these components and connectors – </a:t>
            </a:r>
          </a:p>
          <a:p>
            <a:pPr lvl="1"/>
            <a:r>
              <a:rPr lang="en-US" sz="2000" u="sng" dirty="0" smtClean="0"/>
              <a:t>so that</a:t>
            </a:r>
            <a:r>
              <a:rPr lang="en-US" sz="2000" dirty="0" smtClean="0"/>
              <a:t> some form of analysis, verification, and reasoning can occur, to derive or assess completeness, consistency, ambiguity, performance, and other qualities.</a:t>
            </a:r>
          </a:p>
          <a:p>
            <a:r>
              <a:rPr lang="en-US" sz="2400" dirty="0" smtClean="0"/>
              <a:t>ADLs often offer both a </a:t>
            </a:r>
            <a:r>
              <a:rPr lang="en-US" sz="2400" i="1" dirty="0" smtClean="0">
                <a:solidFill>
                  <a:srgbClr val="C00000"/>
                </a:solidFill>
              </a:rPr>
              <a:t>textual</a:t>
            </a:r>
            <a:r>
              <a:rPr lang="en-US" sz="2400" dirty="0" smtClean="0"/>
              <a:t> and a </a:t>
            </a:r>
            <a:r>
              <a:rPr lang="en-US" sz="2400" i="1" dirty="0" smtClean="0">
                <a:solidFill>
                  <a:srgbClr val="C00000"/>
                </a:solidFill>
              </a:rPr>
              <a:t>graphical notation</a:t>
            </a:r>
            <a:r>
              <a:rPr lang="en-US" sz="2400" dirty="0" smtClean="0"/>
              <a:t>, the intention being to have them readable by both humans and machines.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Architectural Representation III: UML</a:t>
            </a:r>
            <a:endParaRPr lang="en-US" sz="42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133600"/>
            <a:ext cx="5556250" cy="325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and View [1, 6]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0100" y="3962400"/>
            <a:ext cx="7543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1000" y="1447800"/>
            <a:ext cx="8382000" cy="2246769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A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model</a:t>
            </a: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 is a </a:t>
            </a:r>
            <a:r>
              <a:rPr lang="en-US" sz="2000" u="sng" dirty="0" smtClean="0">
                <a:solidFill>
                  <a:schemeClr val="tx1"/>
                </a:solidFill>
                <a:latin typeface="+mj-lt"/>
              </a:rPr>
              <a:t>simplification</a:t>
            </a: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 of reality, an </a:t>
            </a:r>
            <a:r>
              <a:rPr lang="en-US" sz="2000" u="sng" dirty="0" smtClean="0">
                <a:solidFill>
                  <a:schemeClr val="tx1"/>
                </a:solidFill>
                <a:latin typeface="+mj-lt"/>
              </a:rPr>
              <a:t>abstraction</a:t>
            </a: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 of a system, created to better understand the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A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view</a:t>
            </a: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 represents a </a:t>
            </a:r>
            <a:r>
              <a:rPr lang="en-US" sz="2000" u="sng" dirty="0" smtClean="0">
                <a:latin typeface="+mj-lt"/>
              </a:rPr>
              <a:t>partial aspect</a:t>
            </a:r>
            <a:r>
              <a:rPr lang="en-US" sz="2000" dirty="0" smtClean="0">
                <a:latin typeface="+mj-lt"/>
              </a:rPr>
              <a:t> of a software architecture that shows specific properties of a software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A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view</a:t>
            </a: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 is </a:t>
            </a:r>
            <a:r>
              <a:rPr lang="en-US" sz="2000" u="sng" dirty="0" smtClean="0">
                <a:solidFill>
                  <a:schemeClr val="tx1"/>
                </a:solidFill>
                <a:latin typeface="+mj-lt"/>
              </a:rPr>
              <a:t>a projection of a model</a:t>
            </a: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, which </a:t>
            </a:r>
            <a:r>
              <a:rPr lang="en-US" sz="2000" dirty="0" smtClean="0">
                <a:latin typeface="+mj-lt"/>
              </a:rPr>
              <a:t>is seen from </a:t>
            </a:r>
            <a:r>
              <a:rPr lang="en-US" sz="2000" u="sng" dirty="0" smtClean="0">
                <a:latin typeface="+mj-lt"/>
              </a:rPr>
              <a:t>one perspective</a:t>
            </a:r>
            <a:r>
              <a:rPr lang="en-US" sz="2000" dirty="0" smtClean="0">
                <a:latin typeface="+mj-lt"/>
              </a:rPr>
              <a:t> or vantage point and omits entities that are not relevant to this perspective.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Views</a:t>
            </a:r>
            <a:r>
              <a:rPr lang="en-US" sz="2000" dirty="0" smtClean="0">
                <a:latin typeface="+mj-lt"/>
              </a:rPr>
              <a:t> represent the interests of </a:t>
            </a:r>
            <a:r>
              <a:rPr lang="en-US" sz="2000" u="sng" dirty="0" smtClean="0">
                <a:latin typeface="+mj-lt"/>
              </a:rPr>
              <a:t>different stakeholders</a:t>
            </a:r>
            <a:r>
              <a:rPr lang="en-US" sz="2000" dirty="0" smtClean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4+1 View Model [7]</a:t>
            </a:r>
            <a:endParaRPr lang="en-US" dirty="0"/>
          </a:p>
        </p:txBody>
      </p:sp>
      <p:pic>
        <p:nvPicPr>
          <p:cNvPr id="4" name="Picture 6" descr="http://bembibre.files.wordpress.com/2008/01/41dekru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362200"/>
            <a:ext cx="5638800" cy="32004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572000" y="5638800"/>
            <a:ext cx="365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Physical view</a:t>
            </a:r>
            <a:r>
              <a:rPr lang="en-US" dirty="0" smtClean="0">
                <a:latin typeface="+mj-lt"/>
              </a:rPr>
              <a:t> considers how software is mapped to hardware.</a:t>
            </a:r>
            <a:endParaRPr lang="en-US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5638800"/>
            <a:ext cx="419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Process view</a:t>
            </a:r>
            <a:r>
              <a:rPr lang="en-US" dirty="0" smtClean="0">
                <a:latin typeface="+mj-lt"/>
              </a:rPr>
              <a:t> shows a system’s performance, scalability, workflow rules.</a:t>
            </a:r>
            <a:endParaRPr lang="en-US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1600200"/>
            <a:ext cx="426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Logical view</a:t>
            </a:r>
            <a:r>
              <a:rPr lang="en-US" dirty="0" smtClean="0">
                <a:latin typeface="+mj-lt"/>
              </a:rPr>
              <a:t> represents </a:t>
            </a:r>
            <a:r>
              <a:rPr lang="en-US" u="sng" dirty="0" smtClean="0">
                <a:latin typeface="+mj-lt"/>
              </a:rPr>
              <a:t>functional</a:t>
            </a:r>
            <a:r>
              <a:rPr lang="en-US" dirty="0" smtClean="0">
                <a:latin typeface="+mj-lt"/>
              </a:rPr>
              <a:t> components and their relationships.</a:t>
            </a:r>
            <a:endParaRPr lang="en-US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1600200"/>
            <a:ext cx="441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Development view</a:t>
            </a:r>
            <a:r>
              <a:rPr lang="en-US" dirty="0" smtClean="0">
                <a:latin typeface="+mj-lt"/>
              </a:rPr>
              <a:t> focuses on </a:t>
            </a:r>
            <a:r>
              <a:rPr lang="en-US" u="sng" dirty="0" smtClean="0">
                <a:latin typeface="+mj-lt"/>
              </a:rPr>
              <a:t>software</a:t>
            </a:r>
            <a:r>
              <a:rPr lang="en-US" dirty="0" smtClean="0">
                <a:latin typeface="+mj-lt"/>
              </a:rPr>
              <a:t> modules, packages, and environments used.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Logical View [8]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logical architecture</a:t>
            </a:r>
            <a:r>
              <a:rPr lang="en-US" sz="2000" dirty="0" smtClean="0"/>
              <a:t> is the large-scale organization of the software classes into packages (or namespaces), subsystems, and layers.</a:t>
            </a:r>
          </a:p>
          <a:p>
            <a:r>
              <a:rPr lang="en-US" sz="2000" dirty="0" smtClean="0"/>
              <a:t>This view is called </a:t>
            </a:r>
            <a:r>
              <a:rPr lang="en-US" sz="2000" u="sng" dirty="0" smtClean="0"/>
              <a:t>functional view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It describes the </a:t>
            </a:r>
            <a:r>
              <a:rPr lang="en-US" sz="2000" u="sng" dirty="0" smtClean="0"/>
              <a:t>functional characteristics</a:t>
            </a:r>
            <a:r>
              <a:rPr lang="en-US" sz="2000" dirty="0" smtClean="0"/>
              <a:t> of the software.</a:t>
            </a:r>
          </a:p>
          <a:p>
            <a:endParaRPr lang="en-US" sz="2000" dirty="0"/>
          </a:p>
        </p:txBody>
      </p:sp>
      <p:pic>
        <p:nvPicPr>
          <p:cNvPr id="4" name="Picture 2" descr="Image result for &quot;Logical Architecture&quot; + UM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4667" y="3276600"/>
            <a:ext cx="4373333" cy="31666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are the components and subcomponents?</a:t>
            </a:r>
          </a:p>
          <a:p>
            <a:r>
              <a:rPr lang="en-US" sz="2400" dirty="0" smtClean="0"/>
              <a:t>What are the relationships between the components?</a:t>
            </a:r>
          </a:p>
          <a:p>
            <a:r>
              <a:rPr lang="en-US" sz="2400" dirty="0" smtClean="0"/>
              <a:t>Which languages and technologies will be used to implement each component?</a:t>
            </a:r>
            <a:endParaRPr lang="en-US" sz="2400" dirty="0"/>
          </a:p>
        </p:txBody>
      </p:sp>
      <p:sp>
        <p:nvSpPr>
          <p:cNvPr id="3074" name="AutoShape 2" descr="https://chatgpt.com/backend-api/estuary/content?id=file_000000002cc0720bbbfdcc27df9b0b56&amp;ts=491777&amp;p=fs&amp;cid=1&amp;sig=2fd9e2eb6fbaff1bc0de344d71c7c23789e6724c5c87a8fda4bfd889f95ac238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0938" y="3736975"/>
            <a:ext cx="4302125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Development View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1542871"/>
            <a:ext cx="5105400" cy="1200329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This view describes how the software is organized into </a:t>
            </a:r>
            <a:r>
              <a:rPr lang="en-US" sz="2400" u="sng" dirty="0" smtClean="0">
                <a:solidFill>
                  <a:schemeClr val="tx1"/>
                </a:solidFill>
                <a:latin typeface="+mj-lt"/>
              </a:rPr>
              <a:t>modules</a:t>
            </a:r>
            <a:r>
              <a:rPr lang="en-US" sz="2400" dirty="0" smtClean="0">
                <a:latin typeface="+mj-lt"/>
              </a:rPr>
              <a:t> or </a:t>
            </a:r>
            <a:r>
              <a:rPr lang="en-US" sz="2400" u="sng" dirty="0" smtClean="0">
                <a:solidFill>
                  <a:schemeClr val="tx1"/>
                </a:solidFill>
                <a:latin typeface="+mj-lt"/>
              </a:rPr>
              <a:t>compilation units</a:t>
            </a:r>
            <a:r>
              <a:rPr lang="en-US" sz="2400" dirty="0" smtClean="0">
                <a:latin typeface="+mj-lt"/>
              </a:rPr>
              <a:t> during the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development process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495425"/>
            <a:ext cx="3409950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086100"/>
            <a:ext cx="361950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source code folders and files correspond to each component and subcomponent?</a:t>
            </a:r>
          </a:p>
          <a:p>
            <a:r>
              <a:rPr lang="en-US" sz="2400" dirty="0" smtClean="0"/>
              <a:t>What are the steps to build the source code?</a:t>
            </a:r>
          </a:p>
          <a:p>
            <a:r>
              <a:rPr lang="en-US" sz="2400" dirty="0" smtClean="0"/>
              <a:t>What are the steps to run the source code?</a:t>
            </a:r>
            <a:endParaRPr lang="en-US" sz="2400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0938" y="3736975"/>
            <a:ext cx="4302125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Deployment View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0350" y="2057400"/>
            <a:ext cx="619125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04800" y="1443335"/>
            <a:ext cx="8458200" cy="46166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The software's static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organization</a:t>
            </a:r>
            <a:r>
              <a:rPr lang="en-US" sz="2400" dirty="0" smtClean="0">
                <a:latin typeface="+mj-lt"/>
              </a:rPr>
              <a:t> in its deployment environment.</a:t>
            </a:r>
            <a:endParaRPr lang="en-US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2715161"/>
            <a:ext cx="4800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+mj-lt"/>
              </a:rPr>
              <a:t>This view shows the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deployment of software elements</a:t>
            </a:r>
            <a:r>
              <a:rPr lang="en-US" sz="2000" dirty="0" smtClean="0">
                <a:latin typeface="+mj-lt"/>
              </a:rPr>
              <a:t> to the physical architecture and the communication (usually on a network) between physical elements. </a:t>
            </a:r>
            <a:endParaRPr lang="en-US" sz="20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5229761"/>
            <a:ext cx="4876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+mj-lt"/>
              </a:rPr>
              <a:t>A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deployment diagram</a:t>
            </a:r>
            <a:r>
              <a:rPr lang="en-US" sz="2000" dirty="0" smtClean="0">
                <a:latin typeface="+mj-lt"/>
              </a:rPr>
              <a:t> shows the assignment of concrete software artifacts (such as executable files) to computational nodes (something with processing services).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 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deployment artifacts are produced?</a:t>
            </a:r>
          </a:p>
          <a:p>
            <a:r>
              <a:rPr lang="en-US" sz="2400" dirty="0" smtClean="0"/>
              <a:t>How is each component deployed?</a:t>
            </a:r>
          </a:p>
          <a:p>
            <a:r>
              <a:rPr lang="en-US" sz="2400" dirty="0" smtClean="0"/>
              <a:t>What outputs are generated by the deployment of each component?</a:t>
            </a:r>
          </a:p>
          <a:p>
            <a:r>
              <a:rPr lang="en-US" sz="2400" dirty="0" smtClean="0"/>
              <a:t>How are the components integrated with one another?</a:t>
            </a:r>
            <a:endParaRPr lang="en-US" sz="2400" dirty="0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0938" y="3965575"/>
            <a:ext cx="4302125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Process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/>
              <a:t>The process architecture takes into account some non-functional requirements, such as </a:t>
            </a:r>
            <a:r>
              <a:rPr lang="en-US" sz="1600" i="1" dirty="0" smtClean="0">
                <a:solidFill>
                  <a:srgbClr val="C00000"/>
                </a:solidFill>
              </a:rPr>
              <a:t>performance</a:t>
            </a:r>
            <a:r>
              <a:rPr lang="en-US" sz="1600" dirty="0" smtClean="0"/>
              <a:t> and </a:t>
            </a:r>
            <a:r>
              <a:rPr lang="en-US" sz="1600" i="1" dirty="0" smtClean="0">
                <a:solidFill>
                  <a:srgbClr val="C00000"/>
                </a:solidFill>
              </a:rPr>
              <a:t>availability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It addresses issues of </a:t>
            </a:r>
            <a:r>
              <a:rPr lang="en-US" sz="1600" i="1" dirty="0" smtClean="0">
                <a:solidFill>
                  <a:srgbClr val="C00000"/>
                </a:solidFill>
              </a:rPr>
              <a:t>concurrency</a:t>
            </a:r>
            <a:r>
              <a:rPr lang="en-US" sz="1600" dirty="0" smtClean="0"/>
              <a:t> and </a:t>
            </a:r>
            <a:r>
              <a:rPr lang="en-US" sz="1600" i="1" dirty="0" smtClean="0">
                <a:solidFill>
                  <a:srgbClr val="C00000"/>
                </a:solidFill>
              </a:rPr>
              <a:t>distribution</a:t>
            </a:r>
            <a:r>
              <a:rPr lang="en-US" sz="1600" dirty="0" smtClean="0"/>
              <a:t>, of system’s integrity, of fault-tolerance, and how the main abstractions from the logical view fit within the process architecture — on which thread of control is an operation for an object </a:t>
            </a:r>
            <a:r>
              <a:rPr lang="en-US" sz="1600" u="sng" dirty="0" smtClean="0"/>
              <a:t>actually executed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At the highest level, the process architecture can be viewed as a set of independently executing logical networks of </a:t>
            </a:r>
            <a:r>
              <a:rPr lang="en-US" sz="1600" i="1" dirty="0" smtClean="0">
                <a:solidFill>
                  <a:srgbClr val="C00000"/>
                </a:solidFill>
              </a:rPr>
              <a:t>communicating programs</a:t>
            </a:r>
            <a:r>
              <a:rPr lang="en-US" sz="1600" dirty="0" smtClean="0"/>
              <a:t> (called “processes”), </a:t>
            </a:r>
            <a:r>
              <a:rPr lang="en-US" sz="1600" u="sng" dirty="0" smtClean="0"/>
              <a:t>distributed</a:t>
            </a:r>
            <a:r>
              <a:rPr lang="en-US" sz="1600" dirty="0" smtClean="0"/>
              <a:t> across a set of hardware resources connected by a LAN or a WAN.</a:t>
            </a: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962400"/>
            <a:ext cx="378714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Which components are involved in feature X?</a:t>
            </a:r>
          </a:p>
          <a:p>
            <a:r>
              <a:rPr lang="en-US" sz="2400" dirty="0" smtClean="0"/>
              <a:t>What are the inputs and outputs of each communication step?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0938" y="3581400"/>
            <a:ext cx="4302125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View</a:t>
            </a:r>
            <a:endParaRPr lang="en-US" dirty="0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6050" y="2311400"/>
            <a:ext cx="3771900" cy="271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Which components are responsible for security concerns?</a:t>
            </a:r>
          </a:p>
          <a:p>
            <a:r>
              <a:rPr lang="en-US" sz="2400" dirty="0" smtClean="0"/>
              <a:t>Which languages and technologies are used to implement each component?</a:t>
            </a:r>
          </a:p>
          <a:p>
            <a:r>
              <a:rPr lang="en-US" sz="2400" dirty="0" smtClean="0"/>
              <a:t>What checkpoints are defined for authentication and authorization?</a:t>
            </a:r>
            <a:endParaRPr lang="en-US" sz="2400" dirty="0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0938" y="3889375"/>
            <a:ext cx="4302125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Persistence View</a:t>
            </a:r>
            <a:endParaRPr lang="en-US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6213" y="2403475"/>
            <a:ext cx="3711575" cy="205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Persistence 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Which data must be saved, and what are their meanings?</a:t>
            </a:r>
          </a:p>
          <a:p>
            <a:r>
              <a:rPr lang="en-US" sz="2400" dirty="0" smtClean="0"/>
              <a:t>What are the tables, objects, or files, and what are their relationships?</a:t>
            </a:r>
          </a:p>
          <a:p>
            <a:r>
              <a:rPr lang="en-US" sz="2400" dirty="0" smtClean="0"/>
              <a:t>What are the table columns or object fields?</a:t>
            </a:r>
            <a:endParaRPr lang="en-US" sz="2400" dirty="0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0938" y="3657600"/>
            <a:ext cx="4302125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Viewpoints [9]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It would be hard work if every time you were </a:t>
            </a:r>
            <a:r>
              <a:rPr lang="en-US" sz="2200" i="1" dirty="0" smtClean="0">
                <a:solidFill>
                  <a:srgbClr val="C00000"/>
                </a:solidFill>
              </a:rPr>
              <a:t>creating a view</a:t>
            </a:r>
            <a:r>
              <a:rPr lang="en-US" sz="2200" dirty="0" smtClean="0"/>
              <a:t> of your architecture you had to go back to first principles to define </a:t>
            </a:r>
            <a:r>
              <a:rPr lang="en-US" sz="2200" u="sng" dirty="0" smtClean="0"/>
              <a:t>what should go into it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viewpoint</a:t>
            </a:r>
            <a:r>
              <a:rPr lang="en-US" sz="2200" dirty="0" smtClean="0"/>
              <a:t> is a collection of </a:t>
            </a:r>
            <a:r>
              <a:rPr lang="en-US" sz="2200" u="sng" dirty="0" smtClean="0"/>
              <a:t>patterns</a:t>
            </a:r>
            <a:r>
              <a:rPr lang="en-US" sz="2200" dirty="0" smtClean="0"/>
              <a:t>, </a:t>
            </a:r>
            <a:r>
              <a:rPr lang="en-US" sz="2200" u="sng" dirty="0" smtClean="0"/>
              <a:t>templates</a:t>
            </a:r>
            <a:r>
              <a:rPr lang="en-US" sz="2200" dirty="0" smtClean="0"/>
              <a:t>, and </a:t>
            </a:r>
            <a:r>
              <a:rPr lang="en-US" sz="2200" u="sng" dirty="0" smtClean="0"/>
              <a:t>conventions</a:t>
            </a:r>
            <a:r>
              <a:rPr lang="en-US" sz="2200" dirty="0" smtClean="0"/>
              <a:t> for </a:t>
            </a:r>
            <a:r>
              <a:rPr lang="en-US" sz="2200" u="sng" dirty="0" smtClean="0"/>
              <a:t>constructing one type of view</a:t>
            </a:r>
            <a:r>
              <a:rPr lang="en-US" sz="2200" dirty="0" smtClean="0"/>
              <a:t>. It defines the </a:t>
            </a:r>
            <a:r>
              <a:rPr lang="en-US" sz="2200" u="sng" dirty="0" smtClean="0"/>
              <a:t>stakeholders</a:t>
            </a:r>
            <a:r>
              <a:rPr lang="en-US" sz="2200" dirty="0" smtClean="0"/>
              <a:t> whose concerns are reflected in the viewpoint and the guidelines, principles, and template models for constructing its views.</a:t>
            </a:r>
          </a:p>
          <a:p>
            <a:endParaRPr lang="en-US" sz="22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331970"/>
            <a:ext cx="3604260" cy="214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Architecture: {Elements, Form, Rationale} [6]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Architecture = {Elements, Form, Rationale}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elements</a:t>
            </a:r>
            <a:r>
              <a:rPr lang="en-US" sz="2400" dirty="0" smtClean="0"/>
              <a:t> are the main constituents of any architectural description in terms of </a:t>
            </a:r>
            <a:r>
              <a:rPr lang="en-US" sz="2400" u="sng" dirty="0" smtClean="0"/>
              <a:t>components</a:t>
            </a:r>
            <a:r>
              <a:rPr lang="en-US" sz="2400" dirty="0" smtClean="0"/>
              <a:t> and </a:t>
            </a:r>
            <a:r>
              <a:rPr lang="en-US" sz="2400" u="sng" dirty="0" smtClean="0"/>
              <a:t>connectors</a:t>
            </a:r>
            <a:r>
              <a:rPr lang="en-US" sz="2400" dirty="0" smtClean="0"/>
              <a:t>, while the </a:t>
            </a:r>
            <a:r>
              <a:rPr lang="en-US" sz="2400" u="sng" dirty="0" smtClean="0"/>
              <a:t>nonfunctional properties</a:t>
            </a:r>
            <a:r>
              <a:rPr lang="en-US" sz="2400" dirty="0" smtClean="0"/>
              <a:t> guide the </a:t>
            </a:r>
            <a:r>
              <a:rPr lang="en-US" sz="2400" i="1" dirty="0" smtClean="0">
                <a:solidFill>
                  <a:srgbClr val="C00000"/>
                </a:solidFill>
              </a:rPr>
              <a:t>final shape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form</a:t>
            </a:r>
            <a:r>
              <a:rPr lang="en-US" sz="2400" dirty="0" smtClean="0"/>
              <a:t> of the architecture.</a:t>
            </a:r>
          </a:p>
          <a:p>
            <a:r>
              <a:rPr lang="en-US" sz="2400" dirty="0" smtClean="0"/>
              <a:t>There are several benefits of using </a:t>
            </a:r>
            <a:r>
              <a:rPr lang="en-US" sz="2400" i="1" dirty="0" smtClean="0">
                <a:solidFill>
                  <a:srgbClr val="C00000"/>
                </a:solidFill>
              </a:rPr>
              <a:t>design rationales</a:t>
            </a:r>
            <a:r>
              <a:rPr lang="en-US" sz="2400" dirty="0" smtClean="0"/>
              <a:t> in architecture as a mean to </a:t>
            </a:r>
            <a:r>
              <a:rPr lang="en-US" sz="2400" u="sng" dirty="0" smtClean="0"/>
              <a:t>explain why</a:t>
            </a:r>
            <a:r>
              <a:rPr lang="en-US" sz="2400" dirty="0" smtClean="0"/>
              <a:t> a particular design choice is made or to know which </a:t>
            </a:r>
            <a:r>
              <a:rPr lang="en-US" sz="2400" u="sng" dirty="0" smtClean="0"/>
              <a:t>design alternatives</a:t>
            </a:r>
            <a:r>
              <a:rPr lang="en-US" sz="2400" dirty="0" smtClean="0"/>
              <a:t> have been evaluated before the right or the optimal design choices are made.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Documenting Architecture: Architectural Knowledge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Architectural Knowledge</a:t>
            </a:r>
            <a:r>
              <a:rPr lang="en-US" sz="2400" dirty="0" smtClean="0"/>
              <a:t> = Architectural Design + Architectural Design Decisions</a:t>
            </a:r>
          </a:p>
          <a:p>
            <a:pPr lvl="1"/>
            <a:r>
              <a:rPr lang="en-US" sz="2000" dirty="0" smtClean="0"/>
              <a:t>Architectural Design</a:t>
            </a:r>
          </a:p>
          <a:p>
            <a:pPr lvl="2"/>
            <a:r>
              <a:rPr lang="en-US" sz="1600" dirty="0" smtClean="0"/>
              <a:t>Viewpoints and Views</a:t>
            </a:r>
          </a:p>
          <a:p>
            <a:pPr lvl="2"/>
            <a:r>
              <a:rPr lang="en-US" sz="1600" dirty="0" smtClean="0"/>
              <a:t>Architecture Description Languages</a:t>
            </a:r>
          </a:p>
          <a:p>
            <a:pPr lvl="2"/>
            <a:r>
              <a:rPr lang="en-US" sz="1600" dirty="0" smtClean="0"/>
              <a:t>Application-Generic Knowledge: Patterns, Standards, Frameworks</a:t>
            </a:r>
          </a:p>
          <a:p>
            <a:pPr lvl="1"/>
            <a:r>
              <a:rPr lang="en-US" sz="2000" dirty="0" smtClean="0"/>
              <a:t>Architectural Design Decisions</a:t>
            </a:r>
          </a:p>
          <a:p>
            <a:pPr lvl="2"/>
            <a:r>
              <a:rPr lang="en-US" sz="1600" i="1" dirty="0" smtClean="0">
                <a:solidFill>
                  <a:srgbClr val="C00000"/>
                </a:solidFill>
              </a:rPr>
              <a:t>Epitome</a:t>
            </a:r>
            <a:r>
              <a:rPr lang="en-US" sz="1600" dirty="0" smtClean="0"/>
              <a:t> (or the Decision itself). This is a short textual statement of the design decision, a few words or a one liner. This text serves to summarize the decisions, to list them, to label them in diagrams.</a:t>
            </a:r>
          </a:p>
          <a:p>
            <a:pPr lvl="2"/>
            <a:r>
              <a:rPr lang="en-US" sz="1600" i="1" dirty="0" smtClean="0">
                <a:solidFill>
                  <a:srgbClr val="C00000"/>
                </a:solidFill>
              </a:rPr>
              <a:t>Rationale</a:t>
            </a:r>
            <a:r>
              <a:rPr lang="en-US" sz="1600" dirty="0" smtClean="0"/>
              <a:t>. This is a textual explanation of the “why” of the decision, its justification. If the rationale is expressed in a complete external document, for example, a </a:t>
            </a:r>
            <a:r>
              <a:rPr lang="en-US" sz="1600" u="sng" dirty="0" smtClean="0"/>
              <a:t>tradeoff analysis</a:t>
            </a:r>
            <a:r>
              <a:rPr lang="en-US" sz="1600" dirty="0" smtClean="0"/>
              <a:t>, then the rationale points to this document.</a:t>
            </a:r>
          </a:p>
          <a:p>
            <a:pPr lvl="2"/>
            <a:r>
              <a:rPr lang="en-US" sz="1600" i="1" dirty="0" smtClean="0">
                <a:solidFill>
                  <a:srgbClr val="C00000"/>
                </a:solidFill>
              </a:rPr>
              <a:t>Scope</a:t>
            </a:r>
            <a:r>
              <a:rPr lang="en-US" sz="1600" dirty="0" smtClean="0"/>
              <a:t>. Some decisions may have limited scope, in time, in the organizations, or in the design and implementation.</a:t>
            </a:r>
          </a:p>
          <a:p>
            <a:pPr lvl="2"/>
            <a:endParaRPr lang="en-US" sz="1600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Architecture Design Method [4]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System Context Diagram, System Decomposition</a:t>
            </a:r>
          </a:p>
          <a:p>
            <a:r>
              <a:rPr lang="en-US" sz="2400" dirty="0" smtClean="0"/>
              <a:t>Designing to </a:t>
            </a:r>
            <a:r>
              <a:rPr lang="en-US" sz="2400" i="1" dirty="0" smtClean="0">
                <a:solidFill>
                  <a:srgbClr val="C00000"/>
                </a:solidFill>
              </a:rPr>
              <a:t>Architecturally Significant Requirements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Generate and Test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Where</a:t>
            </a:r>
            <a:r>
              <a:rPr lang="en-US" sz="2400" dirty="0" smtClean="0"/>
              <a:t> does the initial hypothesis come from?</a:t>
            </a:r>
          </a:p>
          <a:p>
            <a:pPr lvl="1"/>
            <a:r>
              <a:rPr lang="en-US" sz="2000" dirty="0" smtClean="0"/>
              <a:t>Styles, Patterns, Standards, and Frameworks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124200"/>
            <a:ext cx="4773930" cy="1805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Reconstruction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Software Architecture?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5334000" cy="3200399"/>
          </a:xfrm>
        </p:spPr>
        <p:txBody>
          <a:bodyPr/>
          <a:lstStyle/>
          <a:p>
            <a:r>
              <a:rPr lang="en-US" sz="2400" dirty="0" smtClean="0"/>
              <a:t>Simpler version of </a:t>
            </a:r>
            <a:r>
              <a:rPr lang="en-US" sz="2400" i="1" dirty="0" smtClean="0">
                <a:solidFill>
                  <a:srgbClr val="C00000"/>
                </a:solidFill>
              </a:rPr>
              <a:t>resolution of a problem</a:t>
            </a:r>
            <a:r>
              <a:rPr lang="en-US" sz="2400" dirty="0" smtClean="0"/>
              <a:t> (</a:t>
            </a:r>
            <a:r>
              <a:rPr lang="en-US" sz="2800" b="1" dirty="0" smtClean="0"/>
              <a:t>modularization</a:t>
            </a:r>
            <a:r>
              <a:rPr lang="en-US" sz="2400" dirty="0" smtClean="0"/>
              <a:t> and </a:t>
            </a:r>
            <a:r>
              <a:rPr lang="en-US" sz="2800" b="1" dirty="0" smtClean="0"/>
              <a:t>information hiding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A vehicle for </a:t>
            </a:r>
            <a:r>
              <a:rPr lang="en-US" sz="2400" i="1" dirty="0" smtClean="0">
                <a:solidFill>
                  <a:srgbClr val="C00000"/>
                </a:solidFill>
              </a:rPr>
              <a:t>communication</a:t>
            </a:r>
            <a:r>
              <a:rPr lang="en-US" sz="2400" dirty="0" smtClean="0"/>
              <a:t> among the system’s stakeholders.</a:t>
            </a:r>
          </a:p>
          <a:p>
            <a:r>
              <a:rPr lang="en-US" sz="2400" dirty="0" smtClean="0"/>
              <a:t>Analysis of suitability of design </a:t>
            </a:r>
            <a:r>
              <a:rPr lang="en-US" sz="2400" i="1" dirty="0" smtClean="0">
                <a:solidFill>
                  <a:srgbClr val="C00000"/>
                </a:solidFill>
              </a:rPr>
              <a:t>decisions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Reusable</a:t>
            </a:r>
            <a:r>
              <a:rPr lang="en-US" sz="2400" dirty="0" smtClean="0"/>
              <a:t>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0" y="1676400"/>
            <a:ext cx="6781800" cy="7078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+mj-lt"/>
              </a:rPr>
              <a:t>Every computing system with software has an architecture.</a:t>
            </a:r>
          </a:p>
          <a:p>
            <a:pPr algn="ctr"/>
            <a:r>
              <a:rPr lang="en-US" sz="2000" b="1" dirty="0" smtClean="0">
                <a:latin typeface="+mj-lt"/>
              </a:rPr>
              <a:t>The code is the truth, but it is often too complicated.</a:t>
            </a:r>
          </a:p>
        </p:txBody>
      </p:sp>
      <p:pic>
        <p:nvPicPr>
          <p:cNvPr id="111618" name="Picture 2" descr="http://kaporcenter.org/wp-content/uploads/2010/01/green_globe_exclamation_point_57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975360" cy="975360"/>
          </a:xfrm>
          <a:prstGeom prst="rect">
            <a:avLst/>
          </a:prstGeom>
          <a:noFill/>
        </p:spPr>
      </p:pic>
      <p:pic>
        <p:nvPicPr>
          <p:cNvPr id="16388" name="Picture 4" descr="https://cdn.shrm.org/image/upload/c_crop%2Ch_1000%2Cw_1778%2Cx_391%2Cy_0/c_fit%2Cf_auto%2Cq_auto%2Cw_767/v1/Magazine/onleadership_art_forweb_zxv7ya?databtoa=eyIxNng5Ijp7IngiOjM5MSwieSI6MCwieDIiOjIxNjksInkyIjoxMDAwLCJ3IjoxNzc4LCJoIjoxMDAwfX0%3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3505200"/>
            <a:ext cx="2922270" cy="16421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Software Architecture?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Your money, not that of investors.</a:t>
            </a:r>
            <a:endParaRPr lang="en-US" sz="2400" b="1" dirty="0"/>
          </a:p>
        </p:txBody>
      </p:sp>
      <p:pic>
        <p:nvPicPr>
          <p:cNvPr id="4" name="Picture 2" descr="Build vs Buy - How it applies to Enterprise Softwa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310825"/>
            <a:ext cx="3380740" cy="3055620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>
            <a:off x="5334000" y="2234625"/>
            <a:ext cx="3352800" cy="3429000"/>
          </a:xfrm>
          <a:prstGeom prst="ellipse">
            <a:avLst/>
          </a:prstGeom>
          <a:solidFill>
            <a:srgbClr val="C00000">
              <a:alpha val="5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https://www.lpcentre.com/wp-content/uploads/2019/11/cost-estimation-for-house-flipping-800x4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042285"/>
            <a:ext cx="4572000" cy="2291715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943600" y="5816025"/>
            <a:ext cx="22892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+mj-lt"/>
              </a:rPr>
              <a:t>Buy vs. 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749" y="5511225"/>
            <a:ext cx="27861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smtClean="0">
                <a:latin typeface="+mj-lt"/>
              </a:rPr>
              <a:t>Cost Estimation</a:t>
            </a:r>
            <a:endParaRPr lang="en-US" sz="3200" dirty="0">
              <a:latin typeface="+mj-lt"/>
            </a:endParaRPr>
          </a:p>
        </p:txBody>
      </p:sp>
      <p:pic>
        <p:nvPicPr>
          <p:cNvPr id="9" name="Picture 2" descr="https://www.investopedia.com/thmb/aqxryEXDlWznpQaij72CpAkxqZk=/1500x0/filters:no_upscale():max_bytes(150000):strip_icc()/GettyImages-1030831244-4279d87f1272423288e24a9ed9925c8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0" y="2222500"/>
            <a:ext cx="2381250" cy="158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But, Actually Why Software Architecture? [10]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1524000"/>
          </a:xfrm>
        </p:spPr>
        <p:txBody>
          <a:bodyPr/>
          <a:lstStyle/>
          <a:p>
            <a:r>
              <a:rPr lang="en-US" sz="2600" dirty="0" smtClean="0"/>
              <a:t>The </a:t>
            </a:r>
            <a:r>
              <a:rPr lang="en-US" sz="2600" i="1" dirty="0" smtClean="0">
                <a:solidFill>
                  <a:srgbClr val="C00000"/>
                </a:solidFill>
              </a:rPr>
              <a:t>size</a:t>
            </a:r>
            <a:r>
              <a:rPr lang="en-US" sz="2600" dirty="0" smtClean="0"/>
              <a:t> and </a:t>
            </a:r>
            <a:r>
              <a:rPr lang="en-US" sz="2600" i="1" dirty="0" smtClean="0">
                <a:solidFill>
                  <a:srgbClr val="C00000"/>
                </a:solidFill>
              </a:rPr>
              <a:t>complexity</a:t>
            </a:r>
            <a:r>
              <a:rPr lang="en-US" sz="2600" dirty="0" smtClean="0"/>
              <a:t> of software systems increase.</a:t>
            </a:r>
          </a:p>
          <a:p>
            <a:r>
              <a:rPr lang="en-US" sz="2600" dirty="0" smtClean="0"/>
              <a:t>The models are much </a:t>
            </a:r>
            <a:r>
              <a:rPr lang="en-US" sz="2600" i="1" dirty="0" smtClean="0">
                <a:solidFill>
                  <a:srgbClr val="C00000"/>
                </a:solidFill>
              </a:rPr>
              <a:t>cheaper</a:t>
            </a:r>
            <a:r>
              <a:rPr lang="en-US" sz="2600" dirty="0" smtClean="0"/>
              <a:t> than the real thing we are building.</a:t>
            </a:r>
          </a:p>
        </p:txBody>
      </p:sp>
      <p:pic>
        <p:nvPicPr>
          <p:cNvPr id="68610" name="Picture 2" descr="http://ayende.com/Blog/images/ayende_com/Blog/WindowsLiveWriter/MaintainabilityCodeSizeCodeComplexity_9FD6/image_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657600"/>
            <a:ext cx="2762250" cy="2466975"/>
          </a:xfrm>
          <a:prstGeom prst="rect">
            <a:avLst/>
          </a:prstGeom>
          <a:noFill/>
        </p:spPr>
      </p:pic>
      <p:pic>
        <p:nvPicPr>
          <p:cNvPr id="5" name="Picture 4" descr="https://media.licdn.com/media-proxy/ext?w=800&amp;h=800&amp;hash=Zs5IpubC4NMGRaDVJtJ0z9pJj9c%3D&amp;ora=1%2CaFBCTXdkRmpGL2lvQUFBPQ%2CxAVta9Er0Vinkhwfjw8177yE41y87UNCVordEGXyD3u0qYrdfyK_KJaKK-TzuVRHeygclFA1KvL5R2TmD8XvLdi9dIpyipHmco24ZxUBbFI8lWx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3276600"/>
            <a:ext cx="3657600" cy="2523744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5384643" y="5791200"/>
            <a:ext cx="22276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smtClean="0">
                <a:latin typeface="+mj-lt"/>
              </a:rPr>
              <a:t>Human lives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Cost of Wrong Architecture</a:t>
            </a:r>
            <a:endParaRPr lang="en-US" dirty="0"/>
          </a:p>
        </p:txBody>
      </p:sp>
      <p:sp>
        <p:nvSpPr>
          <p:cNvPr id="1026" name="AutoShape 2" descr="Image result for Intangib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https://static.wixstatic.com/media/eb1173_8434a234df4d444e95843035c51b8144~mv2.jpg/v1/fill/w_630,h_420,al_c,q_80,usm_0.66_1.00_0.01/eb1173_8434a234df4d444e95843035c51b8144~mv2.webp"/>
          <p:cNvSpPr>
            <a:spLocks noChangeAspect="1" noChangeArrowheads="1"/>
          </p:cNvSpPr>
          <p:nvPr/>
        </p:nvSpPr>
        <p:spPr bwMode="auto">
          <a:xfrm>
            <a:off x="155575" y="-1919288"/>
            <a:ext cx="6000750" cy="40005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static.wixstatic.com/media/eb1173_8434a234df4d444e95843035c51b8144~mv2.jpg/v1/fill/w_630,h_420,al_c,q_80,usm_0.66_1.00_0.01/eb1173_8434a234df4d444e95843035c51b8144~mv2.webp"/>
          <p:cNvSpPr>
            <a:spLocks noChangeAspect="1" noChangeArrowheads="1"/>
          </p:cNvSpPr>
          <p:nvPr/>
        </p:nvSpPr>
        <p:spPr bwMode="auto">
          <a:xfrm>
            <a:off x="155575" y="-1919288"/>
            <a:ext cx="6000750" cy="40005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5058" name="Picture 2" descr="https://assets.deepsource.io/5fab4c9/images/blog/cost-of-fixing-bugs/char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371725"/>
            <a:ext cx="6223635" cy="3114675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6477000" y="2981325"/>
            <a:ext cx="236220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Exponential cost of fixing bugs (Source: NIST).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Development time</a:t>
            </a:r>
            <a:r>
              <a:rPr lang="en-US" sz="2400" dirty="0" smtClean="0"/>
              <a:t> reduction</a:t>
            </a:r>
          </a:p>
          <a:p>
            <a:pPr lvl="1"/>
            <a:r>
              <a:rPr lang="en-US" sz="2000" dirty="0" smtClean="0"/>
              <a:t>Implementable (business cases support).</a:t>
            </a:r>
          </a:p>
          <a:p>
            <a:pPr lvl="1"/>
            <a:r>
              <a:rPr lang="en-US" sz="2000" dirty="0" smtClean="0"/>
              <a:t>Understandability</a:t>
            </a:r>
          </a:p>
          <a:p>
            <a:pPr lvl="2"/>
            <a:r>
              <a:rPr lang="en-US" sz="1600" dirty="0" smtClean="0"/>
              <a:t>Screaming (expressing its core business purpose)</a:t>
            </a:r>
          </a:p>
          <a:p>
            <a:pPr lvl="1"/>
            <a:r>
              <a:rPr lang="en-US" sz="2000" dirty="0" smtClean="0"/>
              <a:t>Modular.</a:t>
            </a:r>
          </a:p>
          <a:p>
            <a:pPr lvl="2"/>
            <a:r>
              <a:rPr lang="en-US" sz="1600" dirty="0" smtClean="0"/>
              <a:t>Independent UI. The UI can change easily.</a:t>
            </a:r>
          </a:p>
          <a:p>
            <a:pPr lvl="2"/>
            <a:r>
              <a:rPr lang="en-US" sz="1600" dirty="0" smtClean="0"/>
              <a:t>Independent of any external agency.</a:t>
            </a:r>
          </a:p>
          <a:p>
            <a:pPr lvl="2"/>
            <a:r>
              <a:rPr lang="en-US" sz="1600" dirty="0" smtClean="0"/>
              <a:t>Independent of the database and frameworks.</a:t>
            </a:r>
          </a:p>
          <a:p>
            <a:pPr lvl="2"/>
            <a:r>
              <a:rPr lang="en-US" sz="1600" dirty="0" smtClean="0"/>
              <a:t>The business rules can be tested without the UI, </a:t>
            </a:r>
          </a:p>
          <a:p>
            <a:pPr lvl="2">
              <a:buNone/>
            </a:pPr>
            <a:r>
              <a:rPr lang="en-US" sz="1600" dirty="0" smtClean="0"/>
              <a:t>	database, web server, or any other external element.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Deployment time</a:t>
            </a:r>
            <a:r>
              <a:rPr lang="en-US" sz="2400" dirty="0" smtClean="0"/>
              <a:t> reduction</a:t>
            </a:r>
          </a:p>
          <a:p>
            <a:pPr lvl="1"/>
            <a:r>
              <a:rPr lang="en-US" sz="2000" dirty="0" smtClean="0"/>
              <a:t>Units of deployment (DLLs, JARs, PHP files, gem files) are </a:t>
            </a:r>
            <a:r>
              <a:rPr lang="en-US" sz="2000" u="sng" dirty="0" smtClean="0"/>
              <a:t>few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Deployed with a </a:t>
            </a:r>
            <a:r>
              <a:rPr lang="en-US" sz="2000" u="sng" dirty="0" smtClean="0"/>
              <a:t>single action</a:t>
            </a:r>
            <a:r>
              <a:rPr lang="en-US" sz="2000" dirty="0" smtClean="0"/>
              <a:t>.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034540"/>
            <a:ext cx="2369820" cy="223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“Good” Architecture (I)</a:t>
            </a:r>
            <a:endParaRPr lang="en-US" dirty="0"/>
          </a:p>
        </p:txBody>
      </p:sp>
      <p:sp>
        <p:nvSpPr>
          <p:cNvPr id="2050" name="AutoShape 2" descr="data:image/png;base64,iVBORw0KGgoAAAANSUhEUgAAANwAAADlCAMAAAAP8WnWAAAA9lBMVEX+/v4OdLz8/////fwPdLoNdroAc8E5fKv9/v8RdLb///3//f79//7///oAc7/5//9HiLgAbrlbmMMAabD///cQdbUJdsEAZqvP6O////MAa7cAbboAbrUAZ7Dz//+QutUAZqiy1eeUvtkAZ7YHebYAZagAdsYAaqkZcaxCjL/C5O/q//8AaaQAbsBloMhxpMmZvdMqgbxKlMJopsOTvc2109zd7vKZyODT8Ph5pcFypcxJhLlzq8PG6fG01edWjLSny+aGstFdlbmty9s/i8YNeKuArs+WuM1uqdBNk8NMibLn8fLY5/E0eKUAZ5punr9UhqrB3PD9Dq3ZAAAODUlEQVR4nO2d+1saORfHc6WTzGSGYS5yGUZQBASx0FbEtmurrrbV7vr2//9n3mS8bNu12zCgTHj8/qCCj5qPyeSck8s5ACxZgnuOEF51vD9hhESTV6/fHEw9LmzLEV4qxLL/3pPK4YKDg/L2KCGUEAhJQpJWVDmcgRAIjKxVt28hedxJr+vduK/AWMQocd1SoxS0yodDHmJ71e1bSA5Py/WIwpgSKsUY60hFEMJG//UMYGBy32F0JPtNDslsUMYxhK7ryk4k8o2k9XYKasJCtu2sup25xAc7XfiwGCP+3iESIcd41c3MqbLstwfZ1DBlpP5uJmwhbCMfvkEQs/jXcAmkrY/IMxTuxO/0u7/sOjnTlGDvDcDCuIfOsjD40/3FE/edgiMvdBCy+KobPI8sG6e937NBf++9h7FhVgHZfLajA0d7mwgLjlbd4HmEMP9j4/dsRDqdzWMPmwVnYz7bgOTh6eQ7OCqtezIVnkmTCreBGLaUK6IzND8gbtIzx7kl0gn5fdcpRfUzYRach0ElyYbdb0Xj/tCk4I4LCXeSxIRpwMXM36ytusXz6jiAkQYblAFfL1VdbdLYnLaIFhyJ4voYCKMmFYD6VAuOyni248mBaVL0I/a1HjmootntQegJk+D42I8eDnl+gpMWo/SW29wo73lQjzQCg0xuPzUrrLOvAq1hqRRvDMzqOEt0oI6HksH5mxybNF06YtfVhYPupWMUHAdvfV02SvdSo5ZpOTip68IR0qsaBrdV1zEFGRz0D1bd3rnE+cdAGy4evVl1e+eSJdpN7QmFlS4MMwXtQBsuciurbu9cmg+udLnq9s6leeBiZhgcknC6HRezbnnV7Z1L88yWMZVwZnkoW9oeCjRtWApwog8XlT6sur1ziYN9fw5TsG+YndvVDnkoHG0Ck9bUgYi0VpyVmDs64ybBzROJU7c+MOpcg/1Nfw2Fwp2hbdI+Fh83tFa/lIjb8YyCE5US09kIUXJHL81aQ/H2YqbtWzbbZsFVN+AvzqE8ANebmrW0N07kDK87LF8BbAodd2wMdqGeDaeQscZhiGxD9goU3FTnqEYGRwkMhjVkGQIHHIzeJLpwLPZfgtCciMfBXlmTDcI+3KgCxE2hs3g40DkdlYlE8B0CnjF+M8LhZ+1YjsSNLUMmyhvhYUvXxGVGzqSjGhhsJtqxHCmdApPgeNqHkXYsV2/XTPGZbeQIMC5Frq53whIPmPLM2ZYQ6d8j7VEJk8/KDpghCYfes5GvPSxbA2CMGeCcz3qEUd1QDjIBhLfqVmvKE6jiwkiTLSbuZ4GMOaGORbup22lqHT048Bxuis8cDvu682R2sWdviIAp0Q5IT33t5UpII/cUYNuYWyGHTdLXnkxoNBpzM+BsywsHWg8cYZG6akYhCarhqputJxSKmVavyXFLog513T6JhoYYcCQ8CjWW0AmTJiBgrRbsjsqmnCHlwy+JzlUCIsdkr51ODzbLG0erbrSOpBlG6Iuvtwwr+/cyFUIOyOGVJz87BY8K7LRmXepG3zSGvT88IMJQcOSp6+Srbv5/ysJ8+kLXeBMKY7h3+ulgCpRHo7Tq9v+38B/+qKMLxyTdaOQnvej6rOpxhAo8LNWaXHuP6HtdVNJFHfl8ltwk6H9uT+/MAecqbuX3v1bOpPhe6j356UfT8ZhzrW3LCcEKvTcb+qdib7uP3MWzfr1Oytcn47PjwVQqTb8LgPh3unmV0Ysw45RzmMr18Fj9btuO59WG+3X9bntIbrc72m7U682g10uU60KiyWTy56tXlf3KvV69Ui9evz7ZHJ99qw5TxLn84x54tLvmCMjJoN339RfyHhQ9P+90SHb5X/YoU1KvfN9vJORWiXwlffIkcV3X95s7/fLF2VfA5Yz7WD3nYHt41JLt0faVf9V3pa7rxnFMb5UN2ZuvSPaB3H2Hskh6pt1YOQN7/f12uvRFCsvC2PIEFuAsKlH9GOcXIrcYhLjxzavsHdf9bg3NvXvllqQok/9PtzQaBedjzxZ8iTvqiiwNQ9sblDf017keQUQCBv0BCJ0lRk2OfJhDNPjQo3o3AB9NlI66tPcRLPHBQ9IAeMeveqOkr7sU9Ehi0lyS0t6xvZiToyZcOwua1VfDrUnPb8hnhNCV9pxbop0I+uez3IchlFMg7aeDLMtypK+bHl+3GotZtqWqy9wKB16uaxcWQpYcicjJPITp2X7L73ZJf5UTyY+KWbxT5ThX5+FQYOm8c46uDk7eBUECaUQjrTubTyN1ZfsU5NwrkgNxOGuP91/s9Uh8my0JLuiULFNMxhnBrJbmmVQscNHvB0FdGU8XKusZxwVCy26G0sZhPmtgg4r+SadVqVQBOe9xVVZrqXUU76VibeFga1Zzctm6y+LDkWRQyxMeOKDsFh9u9BHkGZZGwLHReJ3hPq0z3Br3HCy9yXWcxQw4v22vLRzxq7n8LyPgWDCt5YtXXxQfjiYoFxxGL0pa+clWKXcf5EofZgRccphvcdYEOHdvir08mwZGwL1CawoXM3fjGORb3Cs8HCHxizQPmQlwUdwa5F1xLjwc9Y9y7x8XCo7EUG04x1I3m1oJIfXdFOc9bFsgODfpbdSDZrPZ6u31+ufn55PJ7u7u/lDkPklcILjkcDCofp3NhkqeksO5UAvieQ//FQcuueBhraZO5aj9Jgc5jvqa14CXO+duceD8/QdyPnseAjh3foDiwMHeyzfjT582Ly4+7+9XvnyRz9tk0mHvrmq5710UCC6GiZ/cKDv+TaDaJkwuvTDvtnGB4CSeC+9Optwf6YCjce498QLBMUgYi6Sygzh3cMTtDc2fLaHrxt+dwcnGpRTpN7bCnHviBYJ7WLRfeqEWLfPMmMWHi7rNGQC5FmULD8dI7G+pgyRrCQcZOwXWesKptk2Qg/MY8sLDKSUewms5oSg1r9YYrv4V5YrpjIDblnB5XDBD4LxnODPhrtZ4WPpX+a6bFx4ujmj8V8pznf0qPByJoPsBYbyWw5Kw2N8EGKwpHOkNZDS3lsPSZezvIV/TkAdSeJ2Dywy4CAZrvIUVv8i1ZWwEXLfZzl18sMhwhEKXdj/kC3eKDqfqbbG9Wf68pkWGI3E37lUBttcA7t+tcJO/qg7Glvlw7qhZrwd3qgcbzY3yeLhQbeviwCXX1UH1H02ns1nKw4WuUhcHjkon6zaxrg1snCXmEOFC6WKKA8emNZWKQ+2DZ1f+kWwbQgulRJNwbjHgYHnrVie3msoHbsGcHMU5Kev/oCT4DBYuHlwcuO+lcjj0hvmtwK2KeYA7ywB9mPfaXMHhoohAt4LWE07lhCC9NFwo4VuR7xWw4Gu4UGLyIsPR+hl31hWO+GPgLOKiFBqudLS+cJRUwEIFrYsN92V94Qgpry/cwj0njXhcoBwaP4iUXi5EVmy40dGiOekKDNcYA7SucLR5INBinvMXt6hwJBgKazG44mbViN8BvmAa6OLCJe+Bs7Y916ra3oLLDIWFcyfIThecLQsKF8XNNsh1QKP4cJTG7/Le5iw8HIE7gyWkXC0mHAw2cx09+RlOJ9/7U+j+bhIlMK5X0rz3QP6RBU5LxdgqUCnlo+y+i/IqK8MlJMu1wNvCwHW7VCUJdkejnZPU8xa03xncy4LASVeSdc5f7O5e/u/6D14T3oImrlBwyelQDFOk9uRUimqwhOoiNnhZkKig/i0MbzYfgcdznUAsMFzy3su2UZHFnSVV1C0OHOldZjp/DcSS8sHb4KIgcLBUgrQ0Go22Z9jzllLCAYMTn6lkpLHrxpBJKxrfJnF/6uzbRBXxZp2o02tjTyyl6I1w3jddotLPM8ai7MKoyvugfIVV5TuujznPlU/pX8Lh8fujyu4kYq2NJGm4NIrUjd/SytAg9D9xZzlwcs7lIpQjPJ1+/XZ2cr3Lmk2/UZJO0MpyizfGS4NzOEaqxAy/Od6CvGH1ePNlub8RaJeKXbLq7aXBqfoEKo8/QMiyOMfZ6R2AvKuDkz9baqDCDpGDVbe6y6KKo2hj5j1a9YxMCKvqJ2n783mvMUq0S9ovQZT0U1X55BHhHBsLB4lazf52fc663SebXlgML8AjFyoSli0fQsdLHY6utvpN+ESzS9wnG6oW06PSCZUN37YxtjC2OWpP6jFjysDrlyHNBxeRisrE/4SF6zBP2+fNUiwN/SOf8HPp3tenLZ6FQFgTqN3p9ekj+y2k28qXGje/5MTsebgmDjtB/MirSck1yJklPa/kvCwEElykB+Xg/p+8PKKbvCfq4/Y1sp++CCbmQJl47lWPkmZCbmo23BYkolH2MsfTKH8PUzWI5A+ziLndnc0F9xoXkZw+LS89OJrsBH6pK+eXSOXVodnFFBUmzQtHs2w8VAVYcbfbLA9WWSsYOdL9lH8fDQfjow8Ttj3yfT92VbCUranO3XUwq5DFWKOx098/9lZaB9lxHFWgUkYRqlYcT6eDs82j00kSbI9arcT1fVd/Ms3qlflBq9VsTfZPzqopEHiJRa/ml8oTJ0068qSPDSy1AndjbNPp9Pjj1snbyofyhCTN7WaQXe5Ikh+PZAfyPVWHrlkPWOfdZeXtyfh4UB2i2zJ7jmXlynryyLpvEvJS4aTptFodHLQPDs4ODw+3NjNtyS/PDs7aB4Pq12maSqfcQz/9cLGVhYSqNJPqAOvu+sO9stKd0ttXASRCQuU/XHWL55CMeeWUc1ejUtWf+lGeZMI8+6ZaTS50Ic9/KSuppWYdNfFw5073tVbv3lfVqRzl+BgyIn/Wry87LHoN4lnPetaznvWsZz3rWc961rOe9axnrVT/B9V/Y1023f8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ata:image/png;base64,iVBORw0KGgoAAAANSUhEUgAAANwAAADlCAMAAAAP8WnWAAAA9lBMVEX+/v4OdLz8/////fwPdLoNdroAc8E5fKv9/v8RdLb///3//f79//7///oAc7/5//9HiLgAbrlbmMMAabD///cQdbUJdsEAZqvP6O////MAa7cAbboAbrUAZ7Dz//+QutUAZqiy1eeUvtkAZ7YHebYAZagAdsYAaqkZcaxCjL/C5O/q//8AaaQAbsBloMhxpMmZvdMqgbxKlMJopsOTvc2109zd7vKZyODT8Ph5pcFypcxJhLlzq8PG6fG01edWjLSny+aGstFdlbmty9s/i8YNeKuArs+WuM1uqdBNk8NMibLn8fLY5/E0eKUAZ5punr9UhqrB3PD9Dq3ZAAAODUlEQVR4nO2d+1saORfHc6WTzGSGYS5yGUZQBASx0FbEtmurrrbV7vr2//9n3mS8bNu12zCgTHj8/qCCj5qPyeSck8s5ACxZgnuOEF51vD9hhESTV6/fHEw9LmzLEV4qxLL/3pPK4YKDg/L2KCGUEAhJQpJWVDmcgRAIjKxVt28hedxJr+vduK/AWMQocd1SoxS0yodDHmJ71e1bSA5Py/WIwpgSKsUY60hFEMJG//UMYGBy32F0JPtNDslsUMYxhK7ryk4k8o2k9XYKasJCtu2sup25xAc7XfiwGCP+3iESIcd41c3MqbLstwfZ1DBlpP5uJmwhbCMfvkEQs/jXcAmkrY/IMxTuxO/0u7/sOjnTlGDvDcDCuIfOsjD40/3FE/edgiMvdBCy+KobPI8sG6e937NBf++9h7FhVgHZfLajA0d7mwgLjlbd4HmEMP9j4/dsRDqdzWMPmwVnYz7bgOTh6eQ7OCqtezIVnkmTCreBGLaUK6IzND8gbtIzx7kl0gn5fdcpRfUzYRach0ElyYbdb0Xj/tCk4I4LCXeSxIRpwMXM36ytusXz6jiAkQYblAFfL1VdbdLYnLaIFhyJ4voYCKMmFYD6VAuOyni248mBaVL0I/a1HjmootntQegJk+D42I8eDnl+gpMWo/SW29wo73lQjzQCg0xuPzUrrLOvAq1hqRRvDMzqOEt0oI6HksH5mxybNF06YtfVhYPupWMUHAdvfV02SvdSo5ZpOTip68IR0qsaBrdV1zEFGRz0D1bd3rnE+cdAGy4evVl1e+eSJdpN7QmFlS4MMwXtQBsuciurbu9cmg+udLnq9s6leeBiZhgcknC6HRezbnnV7Z1L88yWMZVwZnkoW9oeCjRtWApwog8XlT6sur1ziYN9fw5TsG+YndvVDnkoHG0Ck9bUgYi0VpyVmDs64ybBzROJU7c+MOpcg/1Nfw2Fwp2hbdI+Fh83tFa/lIjb8YyCE5US09kIUXJHL81aQ/H2YqbtWzbbZsFVN+AvzqE8ANebmrW0N07kDK87LF8BbAodd2wMdqGeDaeQscZhiGxD9goU3FTnqEYGRwkMhjVkGQIHHIzeJLpwLPZfgtCciMfBXlmTDcI+3KgCxE2hs3g40DkdlYlE8B0CnjF+M8LhZ+1YjsSNLUMmyhvhYUvXxGVGzqSjGhhsJtqxHCmdApPgeNqHkXYsV2/XTPGZbeQIMC5Frq53whIPmPLM2ZYQ6d8j7VEJk8/KDpghCYfes5GvPSxbA2CMGeCcz3qEUd1QDjIBhLfqVmvKE6jiwkiTLSbuZ4GMOaGORbup22lqHT048Bxuis8cDvu682R2sWdviIAp0Q5IT33t5UpII/cUYNuYWyGHTdLXnkxoNBpzM+BsywsHWg8cYZG6akYhCarhqputJxSKmVavyXFLog513T6JhoYYcCQ8CjWW0AmTJiBgrRbsjsqmnCHlwy+JzlUCIsdkr51ODzbLG0erbrSOpBlG6Iuvtwwr+/cyFUIOyOGVJz87BY8K7LRmXepG3zSGvT88IMJQcOSp6+Srbv5/ysJ8+kLXeBMKY7h3+ulgCpRHo7Tq9v+38B/+qKMLxyTdaOQnvej6rOpxhAo8LNWaXHuP6HtdVNJFHfl8ltwk6H9uT+/MAecqbuX3v1bOpPhe6j356UfT8ZhzrW3LCcEKvTcb+qdib7uP3MWzfr1Oytcn47PjwVQqTb8LgPh3unmV0Ysw45RzmMr18Fj9btuO59WG+3X9bntIbrc72m7U682g10uU60KiyWTy56tXlf3KvV69Ui9evz7ZHJ99qw5TxLn84x54tLvmCMjJoN339RfyHhQ9P+90SHb5X/YoU1KvfN9vJORWiXwlffIkcV3X95s7/fLF2VfA5Yz7WD3nYHt41JLt0faVf9V3pa7rxnFMb5UN2ZuvSPaB3H2Hskh6pt1YOQN7/f12uvRFCsvC2PIEFuAsKlH9GOcXIrcYhLjxzavsHdf9bg3NvXvllqQok/9PtzQaBedjzxZ8iTvqiiwNQ9sblDf017keQUQCBv0BCJ0lRk2OfJhDNPjQo3o3AB9NlI66tPcRLPHBQ9IAeMeveqOkr7sU9Ehi0lyS0t6xvZiToyZcOwua1VfDrUnPb8hnhNCV9pxbop0I+uez3IchlFMg7aeDLMtypK+bHl+3GotZtqWqy9wKB16uaxcWQpYcicjJPITp2X7L73ZJf5UTyY+KWbxT5ThX5+FQYOm8c46uDk7eBUECaUQjrTubTyN1ZfsU5NwrkgNxOGuP91/s9Uh8my0JLuiULFNMxhnBrJbmmVQscNHvB0FdGU8XKusZxwVCy26G0sZhPmtgg4r+SadVqVQBOe9xVVZrqXUU76VibeFga1Zzctm6y+LDkWRQyxMeOKDsFh9u9BHkGZZGwLHReJ3hPq0z3Br3HCy9yXWcxQw4v22vLRzxq7n8LyPgWDCt5YtXXxQfjiYoFxxGL0pa+clWKXcf5EofZgRccphvcdYEOHdvir08mwZGwL1CawoXM3fjGORb3Cs8HCHxizQPmQlwUdwa5F1xLjwc9Y9y7x8XCo7EUG04x1I3m1oJIfXdFOc9bFsgODfpbdSDZrPZ6u31+ufn55PJ7u7u/lDkPklcILjkcDCofp3NhkqeksO5UAvieQ//FQcuueBhraZO5aj9Jgc5jvqa14CXO+duceD8/QdyPnseAjh3foDiwMHeyzfjT582Ly4+7+9XvnyRz9tk0mHvrmq5710UCC6GiZ/cKDv+TaDaJkwuvTDvtnGB4CSeC+9Optwf6YCjce498QLBMUgYi6Sygzh3cMTtDc2fLaHrxt+dwcnGpRTpN7bCnHviBYJ7WLRfeqEWLfPMmMWHi7rNGQC5FmULD8dI7G+pgyRrCQcZOwXWesKptk2Qg/MY8sLDKSUewms5oSg1r9YYrv4V5YrpjIDblnB5XDBD4LxnODPhrtZ4WPpX+a6bFx4ujmj8V8pznf0qPByJoPsBYbyWw5Kw2N8EGKwpHOkNZDS3lsPSZezvIV/TkAdSeJ2Dywy4CAZrvIUVv8i1ZWwEXLfZzl18sMhwhEKXdj/kC3eKDqfqbbG9Wf68pkWGI3E37lUBttcA7t+tcJO/qg7Glvlw7qhZrwd3qgcbzY3yeLhQbeviwCXX1UH1H02ns1nKw4WuUhcHjkon6zaxrg1snCXmEOFC6WKKA8emNZWKQ+2DZ1f+kWwbQgulRJNwbjHgYHnrVie3msoHbsGcHMU5Kev/oCT4DBYuHlwcuO+lcjj0hvmtwK2KeYA7ywB9mPfaXMHhoohAt4LWE07lhCC9NFwo4VuR7xWw4Gu4UGLyIsPR+hl31hWO+GPgLOKiFBqudLS+cJRUwEIFrYsN92V94Qgpry/cwj0njXhcoBwaP4iUXi5EVmy40dGiOekKDNcYA7SucLR5INBinvMXt6hwJBgKazG44mbViN8BvmAa6OLCJe+Bs7Y916ra3oLLDIWFcyfIThecLQsKF8XNNsh1QKP4cJTG7/Le5iw8HIE7gyWkXC0mHAw2cx09+RlOJ9/7U+j+bhIlMK5X0rz3QP6RBU5LxdgqUCnlo+y+i/IqK8MlJMu1wNvCwHW7VCUJdkejnZPU8xa03xncy4LASVeSdc5f7O5e/u/6D14T3oImrlBwyelQDFOk9uRUimqwhOoiNnhZkKig/i0MbzYfgcdznUAsMFzy3su2UZHFnSVV1C0OHOldZjp/DcSS8sHb4KIgcLBUgrQ0Go22Z9jzllLCAYMTn6lkpLHrxpBJKxrfJnF/6uzbRBXxZp2o02tjTyyl6I1w3jddotLPM8ai7MKoyvugfIVV5TuujznPlU/pX8Lh8fujyu4kYq2NJGm4NIrUjd/SytAg9D9xZzlwcs7lIpQjPJ1+/XZ2cr3Lmk2/UZJO0MpyizfGS4NzOEaqxAy/Od6CvGH1ePNlub8RaJeKXbLq7aXBqfoEKo8/QMiyOMfZ6R2AvKuDkz9baqDCDpGDVbe6y6KKo2hj5j1a9YxMCKvqJ2n783mvMUq0S9ovQZT0U1X55BHhHBsLB4lazf52fc663SebXlgML8AjFyoSli0fQsdLHY6utvpN+ESzS9wnG6oW06PSCZUN37YxtjC2OWpP6jFjysDrlyHNBxeRisrE/4SF6zBP2+fNUiwN/SOf8HPp3tenLZ6FQFgTqN3p9ekj+y2k28qXGje/5MTsebgmDjtB/MirSck1yJklPa/kvCwEElykB+Xg/p+8PKKbvCfq4/Y1sp++CCbmQJl47lWPkmZCbmo23BYkolH2MsfTKH8PUzWI5A+ziLndnc0F9xoXkZw+LS89OJrsBH6pK+eXSOXVodnFFBUmzQtHs2w8VAVYcbfbLA9WWSsYOdL9lH8fDQfjow8Ttj3yfT92VbCUranO3XUwq5DFWKOx098/9lZaB9lxHFWgUkYRqlYcT6eDs82j00kSbI9arcT1fVd/Ms3qlflBq9VsTfZPzqopEHiJRa/ml8oTJ0068qSPDSy1AndjbNPp9Pjj1snbyofyhCTN7WaQXe5Ikh+PZAfyPVWHrlkPWOfdZeXtyfh4UB2i2zJ7jmXlynryyLpvEvJS4aTptFodHLQPDs4ODw+3NjNtyS/PDs7aB4Pq12maSqfcQz/9cLGVhYSqNJPqAOvu+sO9stKd0ttXASRCQuU/XHWL55CMeeWUc1ejUtWf+lGeZMI8+6ZaTS50Ic9/KSuppWYdNfFw5073tVbv3lfVqRzl+BgyIn/Wry87LHoN4lnPetaznvWsZz3rWc961rOe9axnrVT/B9V/Y1023f8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“Good” Architecture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Maintenance time</a:t>
            </a:r>
            <a:r>
              <a:rPr lang="en-US" sz="2400" dirty="0" smtClean="0"/>
              <a:t> reduction (changes and extensibility effort reduction)</a:t>
            </a:r>
          </a:p>
          <a:p>
            <a:pPr lvl="1"/>
            <a:r>
              <a:rPr lang="en-US" sz="2000" dirty="0" smtClean="0"/>
              <a:t>Independent of frameworks.</a:t>
            </a:r>
          </a:p>
          <a:p>
            <a:pPr lvl="1"/>
            <a:r>
              <a:rPr lang="en-US" sz="2000" dirty="0" smtClean="0"/>
              <a:t>Independent of any external agency.</a:t>
            </a:r>
          </a:p>
          <a:p>
            <a:pPr lvl="1"/>
            <a:r>
              <a:rPr lang="en-US" sz="2000" dirty="0" smtClean="0"/>
              <a:t>Independent of the database.</a:t>
            </a:r>
          </a:p>
          <a:p>
            <a:pPr lvl="1"/>
            <a:r>
              <a:rPr lang="en-US" sz="2000" dirty="0" smtClean="0"/>
              <a:t>Plug-in architecture</a:t>
            </a:r>
          </a:p>
          <a:p>
            <a:pPr lvl="1"/>
            <a:r>
              <a:rPr lang="en-US" sz="2000" dirty="0" smtClean="0"/>
              <a:t>Understandability</a:t>
            </a:r>
          </a:p>
          <a:p>
            <a:pPr lvl="2"/>
            <a:r>
              <a:rPr lang="en-US" sz="1600" dirty="0" smtClean="0"/>
              <a:t>Screaming (expressing its core business purpose)</a:t>
            </a:r>
          </a:p>
          <a:p>
            <a:r>
              <a:rPr lang="en-US" sz="2400" dirty="0" smtClean="0"/>
              <a:t>(Optional) Operational feasibility</a:t>
            </a:r>
          </a:p>
          <a:p>
            <a:pPr lvl="1"/>
            <a:r>
              <a:rPr lang="en-US" sz="2000" dirty="0" smtClean="0"/>
              <a:t>Scalability</a:t>
            </a:r>
          </a:p>
          <a:p>
            <a:pPr lvl="1"/>
            <a:endParaRPr lang="en-US" sz="2000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667000"/>
            <a:ext cx="2369820" cy="223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Evaluate an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How to map </a:t>
            </a:r>
            <a:r>
              <a:rPr lang="en-US" sz="2200" i="1" dirty="0" smtClean="0">
                <a:solidFill>
                  <a:srgbClr val="C00000"/>
                </a:solidFill>
              </a:rPr>
              <a:t>requirements</a:t>
            </a:r>
            <a:r>
              <a:rPr lang="en-US" sz="2200" dirty="0" smtClean="0"/>
              <a:t> to components?</a:t>
            </a:r>
          </a:p>
          <a:p>
            <a:r>
              <a:rPr lang="en-US" sz="2200" dirty="0" smtClean="0"/>
              <a:t>How to </a:t>
            </a:r>
            <a:r>
              <a:rPr lang="en-US" sz="2200" i="1" dirty="0" smtClean="0">
                <a:solidFill>
                  <a:srgbClr val="C00000"/>
                </a:solidFill>
              </a:rPr>
              <a:t>construct</a:t>
            </a:r>
            <a:r>
              <a:rPr lang="en-US" sz="2200" dirty="0" smtClean="0"/>
              <a:t> each component? Which </a:t>
            </a:r>
            <a:r>
              <a:rPr lang="en-US" sz="2200" i="1" dirty="0" smtClean="0">
                <a:solidFill>
                  <a:srgbClr val="C00000"/>
                </a:solidFill>
              </a:rPr>
              <a:t>technology</a:t>
            </a:r>
            <a:r>
              <a:rPr lang="en-US" sz="2200" dirty="0" smtClean="0"/>
              <a:t> can be used to construct each component?</a:t>
            </a:r>
          </a:p>
          <a:p>
            <a:r>
              <a:rPr lang="en-US" sz="2200" dirty="0" smtClean="0"/>
              <a:t>How to organize, build and </a:t>
            </a:r>
            <a:r>
              <a:rPr lang="en-US" sz="2200" i="1" dirty="0" smtClean="0">
                <a:solidFill>
                  <a:srgbClr val="C00000"/>
                </a:solidFill>
              </a:rPr>
              <a:t>integrate</a:t>
            </a:r>
            <a:r>
              <a:rPr lang="en-US" sz="2200" dirty="0" smtClean="0"/>
              <a:t> components?</a:t>
            </a:r>
          </a:p>
          <a:p>
            <a:r>
              <a:rPr lang="en-US" sz="2200" dirty="0" smtClean="0"/>
              <a:t>How to </a:t>
            </a:r>
            <a:r>
              <a:rPr lang="en-US" sz="2200" i="1" dirty="0" smtClean="0">
                <a:solidFill>
                  <a:srgbClr val="C00000"/>
                </a:solidFill>
              </a:rPr>
              <a:t>implement scenarios</a:t>
            </a:r>
            <a:r>
              <a:rPr lang="en-US" sz="2200" dirty="0" smtClean="0"/>
              <a:t> based on the proposed components?</a:t>
            </a:r>
          </a:p>
          <a:p>
            <a:r>
              <a:rPr lang="en-US" sz="2200" dirty="0" smtClean="0"/>
              <a:t>How to </a:t>
            </a:r>
            <a:r>
              <a:rPr lang="en-US" sz="2200" i="1" dirty="0" smtClean="0">
                <a:solidFill>
                  <a:srgbClr val="C00000"/>
                </a:solidFill>
              </a:rPr>
              <a:t>deploy</a:t>
            </a:r>
            <a:r>
              <a:rPr lang="en-US" sz="2200" dirty="0" smtClean="0"/>
              <a:t>, </a:t>
            </a:r>
            <a:r>
              <a:rPr lang="en-US" sz="2200" i="1" dirty="0" smtClean="0">
                <a:solidFill>
                  <a:srgbClr val="C00000"/>
                </a:solidFill>
              </a:rPr>
              <a:t>operate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replace</a:t>
            </a:r>
            <a:r>
              <a:rPr lang="en-US" sz="2200" dirty="0" smtClean="0"/>
              <a:t> a component?</a:t>
            </a:r>
          </a:p>
          <a:p>
            <a:r>
              <a:rPr lang="en-US" sz="2200" dirty="0" smtClean="0"/>
              <a:t>How to </a:t>
            </a:r>
            <a:r>
              <a:rPr lang="en-US" sz="2200" i="1" dirty="0" smtClean="0">
                <a:solidFill>
                  <a:srgbClr val="C00000"/>
                </a:solidFill>
              </a:rPr>
              <a:t>scale</a:t>
            </a:r>
            <a:r>
              <a:rPr lang="en-US" sz="2200" dirty="0" smtClean="0"/>
              <a:t> a component?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648200"/>
            <a:ext cx="2286000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>
                <a:hlinkClick r:id="rId2"/>
              </a:rPr>
              <a:t>https://app.diagrams.net/</a:t>
            </a:r>
            <a:endParaRPr lang="en-US" sz="2600" dirty="0" smtClean="0"/>
          </a:p>
          <a:p>
            <a:r>
              <a:rPr lang="en-US" sz="2600" dirty="0" smtClean="0">
                <a:hlinkClick r:id="rId3"/>
              </a:rPr>
              <a:t>https://lucid.app/</a:t>
            </a:r>
            <a:endParaRPr lang="en-US" sz="2600" dirty="0" smtClean="0"/>
          </a:p>
          <a:p>
            <a:endParaRPr lang="en-US" sz="2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32063" y="3108325"/>
            <a:ext cx="4079875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11924</TotalTime>
  <Words>2685</Words>
  <Application>Microsoft Office PowerPoint</Application>
  <PresentationFormat>On-screen Show (4:3)</PresentationFormat>
  <Paragraphs>249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Office Theme</vt:lpstr>
      <vt:lpstr>Introduction to Software Architecture</vt:lpstr>
      <vt:lpstr>Objectives</vt:lpstr>
      <vt:lpstr>Contents</vt:lpstr>
      <vt:lpstr>References</vt:lpstr>
      <vt:lpstr>What is Software Architecture? [1]</vt:lpstr>
      <vt:lpstr>Component</vt:lpstr>
      <vt:lpstr>Relationship</vt:lpstr>
      <vt:lpstr>What is Software Architecture? [2]</vt:lpstr>
      <vt:lpstr>What is Software Architecture? [3]</vt:lpstr>
      <vt:lpstr>Texture in Home Automation</vt:lpstr>
      <vt:lpstr>What is Software Architecture? [4]</vt:lpstr>
      <vt:lpstr>Other Points of View</vt:lpstr>
      <vt:lpstr>Reference Models</vt:lpstr>
      <vt:lpstr>Reference Architecture</vt:lpstr>
      <vt:lpstr>What is Reference Architecture? [5]</vt:lpstr>
      <vt:lpstr>Reference Architecture Elements</vt:lpstr>
      <vt:lpstr>Reference Architecture Abstraction Level</vt:lpstr>
      <vt:lpstr>Relationship [4]</vt:lpstr>
      <vt:lpstr>Slide 19</vt:lpstr>
      <vt:lpstr>Architectural Representation I: Boxes and Arrows [6]</vt:lpstr>
      <vt:lpstr>Architectural Representation II: Architecture Description Languages</vt:lpstr>
      <vt:lpstr>Architectural Representation III: UML</vt:lpstr>
      <vt:lpstr>Slide 23</vt:lpstr>
      <vt:lpstr>Model and View [1, 6]</vt:lpstr>
      <vt:lpstr>The 4+1 View Model [7]</vt:lpstr>
      <vt:lpstr>The Logical View [8]</vt:lpstr>
      <vt:lpstr>Logical View Questions</vt:lpstr>
      <vt:lpstr>The Development View</vt:lpstr>
      <vt:lpstr>Development View Questions</vt:lpstr>
      <vt:lpstr>The Deployment View</vt:lpstr>
      <vt:lpstr>Deployment View Questions</vt:lpstr>
      <vt:lpstr>The Process View</vt:lpstr>
      <vt:lpstr>Process View Questions</vt:lpstr>
      <vt:lpstr>Security View</vt:lpstr>
      <vt:lpstr>Security View Questions</vt:lpstr>
      <vt:lpstr>Persistence View</vt:lpstr>
      <vt:lpstr>Persistence View Questions</vt:lpstr>
      <vt:lpstr>Viewpoints [9]</vt:lpstr>
      <vt:lpstr>Documenting Architecture: {Elements, Form, Rationale} [6]</vt:lpstr>
      <vt:lpstr>Documenting Architecture: Architectural Knowledge</vt:lpstr>
      <vt:lpstr>Slide 41</vt:lpstr>
      <vt:lpstr>Architecture Design Method [4]</vt:lpstr>
      <vt:lpstr>Architecture Reconstruction</vt:lpstr>
      <vt:lpstr>Slide 44</vt:lpstr>
      <vt:lpstr>Why Software Architecture?</vt:lpstr>
      <vt:lpstr>Why Software Architecture?</vt:lpstr>
      <vt:lpstr>But, Actually Why Software Architecture? [10]</vt:lpstr>
      <vt:lpstr>The Cost of Wrong Architecture</vt:lpstr>
      <vt:lpstr>Slide 49</vt:lpstr>
      <vt:lpstr>“Good” Architecture (I)</vt:lpstr>
      <vt:lpstr>“Good” Architecture (II)</vt:lpstr>
      <vt:lpstr>Evaluate an Architecture</vt:lpstr>
      <vt:lpstr>Tools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4663</cp:revision>
  <dcterms:created xsi:type="dcterms:W3CDTF">2007-10-06T08:25:13Z</dcterms:created>
  <dcterms:modified xsi:type="dcterms:W3CDTF">2026-05-19T14:40:30Z</dcterms:modified>
</cp:coreProperties>
</file>