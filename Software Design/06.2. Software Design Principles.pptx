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Default Extension="vml" ContentType="application/vnd.openxmlformats-officedocument.vmlDrawing"/>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handoutMasterIdLst>
    <p:handoutMasterId r:id="rId43"/>
  </p:handoutMasterIdLst>
  <p:sldIdLst>
    <p:sldId id="256" r:id="rId2"/>
    <p:sldId id="597" r:id="rId3"/>
    <p:sldId id="598" r:id="rId4"/>
    <p:sldId id="411" r:id="rId5"/>
    <p:sldId id="479" r:id="rId6"/>
    <p:sldId id="560" r:id="rId7"/>
    <p:sldId id="600" r:id="rId8"/>
    <p:sldId id="571" r:id="rId9"/>
    <p:sldId id="599" r:id="rId10"/>
    <p:sldId id="572" r:id="rId11"/>
    <p:sldId id="573" r:id="rId12"/>
    <p:sldId id="580" r:id="rId13"/>
    <p:sldId id="581" r:id="rId14"/>
    <p:sldId id="582" r:id="rId15"/>
    <p:sldId id="583" r:id="rId16"/>
    <p:sldId id="591" r:id="rId17"/>
    <p:sldId id="584" r:id="rId18"/>
    <p:sldId id="469" r:id="rId19"/>
    <p:sldId id="470" r:id="rId20"/>
    <p:sldId id="485" r:id="rId21"/>
    <p:sldId id="592" r:id="rId22"/>
    <p:sldId id="585" r:id="rId23"/>
    <p:sldId id="471" r:id="rId24"/>
    <p:sldId id="488" r:id="rId25"/>
    <p:sldId id="590" r:id="rId26"/>
    <p:sldId id="586" r:id="rId27"/>
    <p:sldId id="476" r:id="rId28"/>
    <p:sldId id="589" r:id="rId29"/>
    <p:sldId id="561" r:id="rId30"/>
    <p:sldId id="587" r:id="rId31"/>
    <p:sldId id="574" r:id="rId32"/>
    <p:sldId id="575" r:id="rId33"/>
    <p:sldId id="576" r:id="rId34"/>
    <p:sldId id="594" r:id="rId35"/>
    <p:sldId id="595" r:id="rId36"/>
    <p:sldId id="596" r:id="rId37"/>
    <p:sldId id="500" r:id="rId38"/>
    <p:sldId id="577" r:id="rId39"/>
    <p:sldId id="578" r:id="rId40"/>
    <p:sldId id="579" r:id="rId41"/>
    <p:sldId id="343" r:id="rId4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12" autoAdjust="0"/>
    <p:restoredTop sz="94667" autoAdjust="0"/>
  </p:normalViewPr>
  <p:slideViewPr>
    <p:cSldViewPr>
      <p:cViewPr>
        <p:scale>
          <a:sx n="50" d="100"/>
          <a:sy n="50" d="100"/>
        </p:scale>
        <p:origin x="-1488"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64F87F-EA59-48A1-833A-2651D94B23F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F6D8B5B-C614-44D9-8613-6698113D5BAF}">
      <dgm:prSet phldrT="[Text]" custT="1"/>
      <dgm:spPr/>
      <dgm:t>
        <a:bodyPr/>
        <a:lstStyle/>
        <a:p>
          <a:r>
            <a:rPr lang="en-US" sz="2200" b="0" dirty="0" smtClean="0"/>
            <a:t>Model real-world objects</a:t>
          </a:r>
          <a:endParaRPr lang="en-US" sz="2200" b="0" dirty="0"/>
        </a:p>
      </dgm:t>
    </dgm:pt>
    <dgm:pt modelId="{ABA32068-9074-48C0-B747-986780F65FAA}" type="parTrans" cxnId="{878C6D48-DFFA-48DA-9A0A-040B72E936D4}">
      <dgm:prSet/>
      <dgm:spPr/>
      <dgm:t>
        <a:bodyPr/>
        <a:lstStyle/>
        <a:p>
          <a:endParaRPr lang="en-US"/>
        </a:p>
      </dgm:t>
    </dgm:pt>
    <dgm:pt modelId="{D4DCBAE9-FFE2-4DA5-A6CD-D16369FE96A4}" type="sibTrans" cxnId="{878C6D48-DFFA-48DA-9A0A-040B72E936D4}">
      <dgm:prSet/>
      <dgm:spPr/>
      <dgm:t>
        <a:bodyPr/>
        <a:lstStyle/>
        <a:p>
          <a:endParaRPr lang="en-US"/>
        </a:p>
      </dgm:t>
    </dgm:pt>
    <dgm:pt modelId="{1D929E3D-0D3A-4925-9709-9E5505B53D99}">
      <dgm:prSet phldrT="[Text]" custT="1"/>
      <dgm:spPr>
        <a:solidFill>
          <a:schemeClr val="accent2"/>
        </a:solidFill>
      </dgm:spPr>
      <dgm:t>
        <a:bodyPr/>
        <a:lstStyle/>
        <a:p>
          <a:r>
            <a:rPr lang="en-US" sz="2200" b="0" dirty="0" smtClean="0"/>
            <a:t>Model abstract objects</a:t>
          </a:r>
          <a:endParaRPr lang="en-US" sz="2200" b="0" dirty="0"/>
        </a:p>
      </dgm:t>
    </dgm:pt>
    <dgm:pt modelId="{EAC01C64-488D-4BAA-8774-0BBFE97DB963}" type="parTrans" cxnId="{6C0BF904-972F-4809-A660-AD5DE88DF92A}">
      <dgm:prSet/>
      <dgm:spPr/>
      <dgm:t>
        <a:bodyPr/>
        <a:lstStyle/>
        <a:p>
          <a:endParaRPr lang="en-US"/>
        </a:p>
      </dgm:t>
    </dgm:pt>
    <dgm:pt modelId="{D875EE91-27CA-4785-8219-7894816FDF58}" type="sibTrans" cxnId="{6C0BF904-972F-4809-A660-AD5DE88DF92A}">
      <dgm:prSet/>
      <dgm:spPr/>
      <dgm:t>
        <a:bodyPr/>
        <a:lstStyle/>
        <a:p>
          <a:endParaRPr lang="en-US"/>
        </a:p>
      </dgm:t>
    </dgm:pt>
    <dgm:pt modelId="{3AB74E8F-44D5-426F-BE51-BFBAAB644F8C}">
      <dgm:prSet phldrT="[Text]" custT="1"/>
      <dgm:spPr>
        <a:solidFill>
          <a:schemeClr val="accent3"/>
        </a:solidFill>
      </dgm:spPr>
      <dgm:t>
        <a:bodyPr/>
        <a:lstStyle/>
        <a:p>
          <a:r>
            <a:rPr lang="en-US" sz="2200" b="0" dirty="0" smtClean="0"/>
            <a:t>Reduce complexity</a:t>
          </a:r>
          <a:endParaRPr lang="en-US" sz="2200" b="0" dirty="0"/>
        </a:p>
      </dgm:t>
    </dgm:pt>
    <dgm:pt modelId="{04B993FE-8D46-40B4-ABDA-2AE0CFBDC434}" type="parTrans" cxnId="{81BDA73B-B95B-4391-9FA8-E62B93F0A0B9}">
      <dgm:prSet/>
      <dgm:spPr/>
      <dgm:t>
        <a:bodyPr/>
        <a:lstStyle/>
        <a:p>
          <a:endParaRPr lang="en-US"/>
        </a:p>
      </dgm:t>
    </dgm:pt>
    <dgm:pt modelId="{A4DDF7A3-FEC0-45FE-8B93-9F6C5C577847}" type="sibTrans" cxnId="{81BDA73B-B95B-4391-9FA8-E62B93F0A0B9}">
      <dgm:prSet/>
      <dgm:spPr/>
      <dgm:t>
        <a:bodyPr/>
        <a:lstStyle/>
        <a:p>
          <a:endParaRPr lang="en-US"/>
        </a:p>
      </dgm:t>
    </dgm:pt>
    <dgm:pt modelId="{B719CA02-F4C5-4206-9C2B-9A0F8B507F7B}">
      <dgm:prSet phldrT="[Text]" custT="1"/>
      <dgm:spPr>
        <a:solidFill>
          <a:schemeClr val="accent4"/>
        </a:solidFill>
      </dgm:spPr>
      <dgm:t>
        <a:bodyPr/>
        <a:lstStyle/>
        <a:p>
          <a:r>
            <a:rPr lang="en-US" sz="2200" b="0" dirty="0" smtClean="0"/>
            <a:t>Isolate complexity</a:t>
          </a:r>
          <a:endParaRPr lang="en-US" sz="2200" b="0" dirty="0"/>
        </a:p>
      </dgm:t>
    </dgm:pt>
    <dgm:pt modelId="{808C0D28-42C2-4FC4-B63E-9AAC2DC2DB11}" type="parTrans" cxnId="{1F0DCC00-7752-45D3-B931-93DFF0B669E3}">
      <dgm:prSet/>
      <dgm:spPr/>
      <dgm:t>
        <a:bodyPr/>
        <a:lstStyle/>
        <a:p>
          <a:endParaRPr lang="en-US"/>
        </a:p>
      </dgm:t>
    </dgm:pt>
    <dgm:pt modelId="{8E3415ED-F6CD-4EFD-9527-73ADCD741987}" type="sibTrans" cxnId="{1F0DCC00-7752-45D3-B931-93DFF0B669E3}">
      <dgm:prSet/>
      <dgm:spPr/>
      <dgm:t>
        <a:bodyPr/>
        <a:lstStyle/>
        <a:p>
          <a:endParaRPr lang="en-US"/>
        </a:p>
      </dgm:t>
    </dgm:pt>
    <dgm:pt modelId="{734C3414-70D1-4ACF-B9A8-917543B1D3DF}">
      <dgm:prSet phldrT="[Text]" custT="1"/>
      <dgm:spPr>
        <a:solidFill>
          <a:schemeClr val="accent5"/>
        </a:solidFill>
      </dgm:spPr>
      <dgm:t>
        <a:bodyPr/>
        <a:lstStyle/>
        <a:p>
          <a:r>
            <a:rPr lang="en-US" sz="2200" b="0" dirty="0" smtClean="0"/>
            <a:t>Hide implementation details</a:t>
          </a:r>
          <a:endParaRPr lang="en-US" sz="2200" b="0" dirty="0"/>
        </a:p>
      </dgm:t>
    </dgm:pt>
    <dgm:pt modelId="{106E0706-3BFF-497F-AC37-52BD2C48B366}" type="parTrans" cxnId="{6E9F8086-64C6-472E-B09C-5F4A4D52880C}">
      <dgm:prSet/>
      <dgm:spPr/>
      <dgm:t>
        <a:bodyPr/>
        <a:lstStyle/>
        <a:p>
          <a:endParaRPr lang="en-US"/>
        </a:p>
      </dgm:t>
    </dgm:pt>
    <dgm:pt modelId="{8EBA923A-B63E-41AF-8BE5-30A270366ACD}" type="sibTrans" cxnId="{6E9F8086-64C6-472E-B09C-5F4A4D52880C}">
      <dgm:prSet/>
      <dgm:spPr/>
      <dgm:t>
        <a:bodyPr/>
        <a:lstStyle/>
        <a:p>
          <a:endParaRPr lang="en-US"/>
        </a:p>
      </dgm:t>
    </dgm:pt>
    <dgm:pt modelId="{9AE33B24-5B58-40DE-8E18-6B7ADB48A649}">
      <dgm:prSet phldrT="[Text]" custT="1"/>
      <dgm:spPr>
        <a:solidFill>
          <a:schemeClr val="accent6"/>
        </a:solidFill>
      </dgm:spPr>
      <dgm:t>
        <a:bodyPr/>
        <a:lstStyle/>
        <a:p>
          <a:r>
            <a:rPr lang="en-US" sz="2200" b="0" dirty="0" smtClean="0"/>
            <a:t>Limit effects of changes</a:t>
          </a:r>
          <a:endParaRPr lang="en-US" sz="2200" b="0" dirty="0"/>
        </a:p>
      </dgm:t>
    </dgm:pt>
    <dgm:pt modelId="{BF3AB7AD-D937-4816-B3EF-9A48FBBBAE4F}" type="parTrans" cxnId="{50EB880D-CD6C-4579-B6AD-2DD2926497B8}">
      <dgm:prSet/>
      <dgm:spPr/>
      <dgm:t>
        <a:bodyPr/>
        <a:lstStyle/>
        <a:p>
          <a:endParaRPr lang="en-US"/>
        </a:p>
      </dgm:t>
    </dgm:pt>
    <dgm:pt modelId="{436C0AC3-280C-4C89-AFFD-D1F00330261F}" type="sibTrans" cxnId="{50EB880D-CD6C-4579-B6AD-2DD2926497B8}">
      <dgm:prSet/>
      <dgm:spPr/>
      <dgm:t>
        <a:bodyPr/>
        <a:lstStyle/>
        <a:p>
          <a:endParaRPr lang="en-US"/>
        </a:p>
      </dgm:t>
    </dgm:pt>
    <dgm:pt modelId="{5EA18E7F-BD6C-4A31-95A7-80017EABD97A}">
      <dgm:prSet phldrT="[Text]" custT="1"/>
      <dgm:spPr>
        <a:solidFill>
          <a:schemeClr val="accent5"/>
        </a:solidFill>
      </dgm:spPr>
      <dgm:t>
        <a:bodyPr/>
        <a:lstStyle/>
        <a:p>
          <a:r>
            <a:rPr lang="en-US" sz="2200" b="0" dirty="0" smtClean="0"/>
            <a:t>Streamline parameter passing</a:t>
          </a:r>
          <a:endParaRPr lang="en-US" sz="2200" b="0" dirty="0"/>
        </a:p>
      </dgm:t>
    </dgm:pt>
    <dgm:pt modelId="{375B99EC-9930-491D-AACE-091A57819AEA}" type="parTrans" cxnId="{EFD5154F-F199-4B45-A396-8D3B1CCF3C3F}">
      <dgm:prSet/>
      <dgm:spPr/>
      <dgm:t>
        <a:bodyPr/>
        <a:lstStyle/>
        <a:p>
          <a:endParaRPr lang="en-US"/>
        </a:p>
      </dgm:t>
    </dgm:pt>
    <dgm:pt modelId="{695C7FAB-717A-4178-A351-28DD9E29D55F}" type="sibTrans" cxnId="{EFD5154F-F199-4B45-A396-8D3B1CCF3C3F}">
      <dgm:prSet/>
      <dgm:spPr/>
      <dgm:t>
        <a:bodyPr/>
        <a:lstStyle/>
        <a:p>
          <a:endParaRPr lang="en-US"/>
        </a:p>
      </dgm:t>
    </dgm:pt>
    <dgm:pt modelId="{AD0A253F-0952-4C6A-962C-8FDCBBCC20A5}">
      <dgm:prSet phldrT="[Text]" custT="1"/>
      <dgm:spPr>
        <a:solidFill>
          <a:schemeClr val="accent4"/>
        </a:solidFill>
      </dgm:spPr>
      <dgm:t>
        <a:bodyPr/>
        <a:lstStyle/>
        <a:p>
          <a:r>
            <a:rPr lang="en-US" sz="2200" b="0" dirty="0" smtClean="0"/>
            <a:t>Facilitate reusable code</a:t>
          </a:r>
          <a:endParaRPr lang="en-US" sz="2200" b="0" dirty="0"/>
        </a:p>
      </dgm:t>
    </dgm:pt>
    <dgm:pt modelId="{B7A25E8C-A946-4C52-B11F-79A507546227}" type="parTrans" cxnId="{3892880A-C42E-467E-B162-4015FB683AFD}">
      <dgm:prSet/>
      <dgm:spPr/>
      <dgm:t>
        <a:bodyPr/>
        <a:lstStyle/>
        <a:p>
          <a:endParaRPr lang="en-US"/>
        </a:p>
      </dgm:t>
    </dgm:pt>
    <dgm:pt modelId="{87C233A5-DB47-421A-BB45-41D647B97CE6}" type="sibTrans" cxnId="{3892880A-C42E-467E-B162-4015FB683AFD}">
      <dgm:prSet/>
      <dgm:spPr/>
      <dgm:t>
        <a:bodyPr/>
        <a:lstStyle/>
        <a:p>
          <a:endParaRPr lang="en-US"/>
        </a:p>
      </dgm:t>
    </dgm:pt>
    <dgm:pt modelId="{F9EB037A-AF3F-46C3-981A-22A8B37C5688}" type="pres">
      <dgm:prSet presAssocID="{7E64F87F-EA59-48A1-833A-2651D94B23FF}" presName="linear" presStyleCnt="0">
        <dgm:presLayoutVars>
          <dgm:dir/>
          <dgm:animLvl val="lvl"/>
          <dgm:resizeHandles val="exact"/>
        </dgm:presLayoutVars>
      </dgm:prSet>
      <dgm:spPr/>
      <dgm:t>
        <a:bodyPr/>
        <a:lstStyle/>
        <a:p>
          <a:endParaRPr lang="en-US"/>
        </a:p>
      </dgm:t>
    </dgm:pt>
    <dgm:pt modelId="{C88F66EA-BB47-4A9C-8771-E7983E5CC23C}" type="pres">
      <dgm:prSet presAssocID="{1F6D8B5B-C614-44D9-8613-6698113D5BAF}" presName="parentLin" presStyleCnt="0"/>
      <dgm:spPr/>
    </dgm:pt>
    <dgm:pt modelId="{C4A130ED-DD57-4BD7-A593-F99274ABF393}" type="pres">
      <dgm:prSet presAssocID="{1F6D8B5B-C614-44D9-8613-6698113D5BAF}" presName="parentLeftMargin" presStyleLbl="node1" presStyleIdx="0" presStyleCnt="8"/>
      <dgm:spPr/>
      <dgm:t>
        <a:bodyPr/>
        <a:lstStyle/>
        <a:p>
          <a:endParaRPr lang="en-US"/>
        </a:p>
      </dgm:t>
    </dgm:pt>
    <dgm:pt modelId="{1C224A46-CFCE-484F-8644-5FEDC0B95F5E}" type="pres">
      <dgm:prSet presAssocID="{1F6D8B5B-C614-44D9-8613-6698113D5BAF}" presName="parentText" presStyleLbl="node1" presStyleIdx="0" presStyleCnt="8" custScaleX="127950">
        <dgm:presLayoutVars>
          <dgm:chMax val="0"/>
          <dgm:bulletEnabled val="1"/>
        </dgm:presLayoutVars>
      </dgm:prSet>
      <dgm:spPr/>
      <dgm:t>
        <a:bodyPr/>
        <a:lstStyle/>
        <a:p>
          <a:endParaRPr lang="en-US"/>
        </a:p>
      </dgm:t>
    </dgm:pt>
    <dgm:pt modelId="{08019919-2DEC-4C7C-9C1E-D87DDFF8BEFB}" type="pres">
      <dgm:prSet presAssocID="{1F6D8B5B-C614-44D9-8613-6698113D5BAF}" presName="negativeSpace" presStyleCnt="0"/>
      <dgm:spPr/>
    </dgm:pt>
    <dgm:pt modelId="{973ED907-62B2-468E-B083-ADEF7F6CFF87}" type="pres">
      <dgm:prSet presAssocID="{1F6D8B5B-C614-44D9-8613-6698113D5BAF}" presName="childText" presStyleLbl="conFgAcc1" presStyleIdx="0" presStyleCnt="8">
        <dgm:presLayoutVars>
          <dgm:bulletEnabled val="1"/>
        </dgm:presLayoutVars>
      </dgm:prSet>
      <dgm:spPr/>
    </dgm:pt>
    <dgm:pt modelId="{64ED613B-7FFF-459F-A8E3-06350E224E55}" type="pres">
      <dgm:prSet presAssocID="{D4DCBAE9-FFE2-4DA5-A6CD-D16369FE96A4}" presName="spaceBetweenRectangles" presStyleCnt="0"/>
      <dgm:spPr/>
    </dgm:pt>
    <dgm:pt modelId="{3D36DE79-87B4-4AD8-939D-8F74D079477E}" type="pres">
      <dgm:prSet presAssocID="{1D929E3D-0D3A-4925-9709-9E5505B53D99}" presName="parentLin" presStyleCnt="0"/>
      <dgm:spPr/>
    </dgm:pt>
    <dgm:pt modelId="{F121DCAF-C420-4558-913A-196A669ADA89}" type="pres">
      <dgm:prSet presAssocID="{1D929E3D-0D3A-4925-9709-9E5505B53D99}" presName="parentLeftMargin" presStyleLbl="node1" presStyleIdx="0" presStyleCnt="8"/>
      <dgm:spPr/>
      <dgm:t>
        <a:bodyPr/>
        <a:lstStyle/>
        <a:p>
          <a:endParaRPr lang="en-US"/>
        </a:p>
      </dgm:t>
    </dgm:pt>
    <dgm:pt modelId="{B36E3A61-CF61-4DA4-8C0F-A7A3F35B6F7B}" type="pres">
      <dgm:prSet presAssocID="{1D929E3D-0D3A-4925-9709-9E5505B53D99}" presName="parentText" presStyleLbl="node1" presStyleIdx="1" presStyleCnt="8" custScaleX="127950">
        <dgm:presLayoutVars>
          <dgm:chMax val="0"/>
          <dgm:bulletEnabled val="1"/>
        </dgm:presLayoutVars>
      </dgm:prSet>
      <dgm:spPr/>
      <dgm:t>
        <a:bodyPr/>
        <a:lstStyle/>
        <a:p>
          <a:endParaRPr lang="en-US"/>
        </a:p>
      </dgm:t>
    </dgm:pt>
    <dgm:pt modelId="{7125B6A1-B0B0-461C-BC37-57F2193B601E}" type="pres">
      <dgm:prSet presAssocID="{1D929E3D-0D3A-4925-9709-9E5505B53D99}" presName="negativeSpace" presStyleCnt="0"/>
      <dgm:spPr/>
    </dgm:pt>
    <dgm:pt modelId="{6C61BFDB-7567-434D-89F8-401B2B25FA9A}" type="pres">
      <dgm:prSet presAssocID="{1D929E3D-0D3A-4925-9709-9E5505B53D99}" presName="childText" presStyleLbl="conFgAcc1" presStyleIdx="1" presStyleCnt="8">
        <dgm:presLayoutVars>
          <dgm:bulletEnabled val="1"/>
        </dgm:presLayoutVars>
      </dgm:prSet>
      <dgm:spPr/>
    </dgm:pt>
    <dgm:pt modelId="{D2CDEE58-4D25-4F66-8EE7-039D07FE658E}" type="pres">
      <dgm:prSet presAssocID="{D875EE91-27CA-4785-8219-7894816FDF58}" presName="spaceBetweenRectangles" presStyleCnt="0"/>
      <dgm:spPr/>
    </dgm:pt>
    <dgm:pt modelId="{D4F4277A-CACE-42BA-8C9F-244F20FBB47D}" type="pres">
      <dgm:prSet presAssocID="{3AB74E8F-44D5-426F-BE51-BFBAAB644F8C}" presName="parentLin" presStyleCnt="0"/>
      <dgm:spPr/>
    </dgm:pt>
    <dgm:pt modelId="{33EE6811-0AF2-4E81-8294-8F9A1B29B0C8}" type="pres">
      <dgm:prSet presAssocID="{3AB74E8F-44D5-426F-BE51-BFBAAB644F8C}" presName="parentLeftMargin" presStyleLbl="node1" presStyleIdx="1" presStyleCnt="8"/>
      <dgm:spPr/>
      <dgm:t>
        <a:bodyPr/>
        <a:lstStyle/>
        <a:p>
          <a:endParaRPr lang="en-US"/>
        </a:p>
      </dgm:t>
    </dgm:pt>
    <dgm:pt modelId="{BE7021AF-4A52-4A43-ADFB-6CBD95142473}" type="pres">
      <dgm:prSet presAssocID="{3AB74E8F-44D5-426F-BE51-BFBAAB644F8C}" presName="parentText" presStyleLbl="node1" presStyleIdx="2" presStyleCnt="8" custScaleX="127950">
        <dgm:presLayoutVars>
          <dgm:chMax val="0"/>
          <dgm:bulletEnabled val="1"/>
        </dgm:presLayoutVars>
      </dgm:prSet>
      <dgm:spPr/>
      <dgm:t>
        <a:bodyPr/>
        <a:lstStyle/>
        <a:p>
          <a:endParaRPr lang="en-US"/>
        </a:p>
      </dgm:t>
    </dgm:pt>
    <dgm:pt modelId="{65AB02A2-B98E-41F7-86F4-786D0A679BF0}" type="pres">
      <dgm:prSet presAssocID="{3AB74E8F-44D5-426F-BE51-BFBAAB644F8C}" presName="negativeSpace" presStyleCnt="0"/>
      <dgm:spPr/>
    </dgm:pt>
    <dgm:pt modelId="{F630B2EA-73D6-4AA7-B4AD-EB0F01ED384B}" type="pres">
      <dgm:prSet presAssocID="{3AB74E8F-44D5-426F-BE51-BFBAAB644F8C}" presName="childText" presStyleLbl="conFgAcc1" presStyleIdx="2" presStyleCnt="8">
        <dgm:presLayoutVars>
          <dgm:bulletEnabled val="1"/>
        </dgm:presLayoutVars>
      </dgm:prSet>
      <dgm:spPr/>
    </dgm:pt>
    <dgm:pt modelId="{0C52911A-C37A-4060-B156-A8361F90F9B2}" type="pres">
      <dgm:prSet presAssocID="{A4DDF7A3-FEC0-45FE-8B93-9F6C5C577847}" presName="spaceBetweenRectangles" presStyleCnt="0"/>
      <dgm:spPr/>
    </dgm:pt>
    <dgm:pt modelId="{2D5E54BB-46BC-41C1-ADA7-62713A5E7F47}" type="pres">
      <dgm:prSet presAssocID="{B719CA02-F4C5-4206-9C2B-9A0F8B507F7B}" presName="parentLin" presStyleCnt="0"/>
      <dgm:spPr/>
    </dgm:pt>
    <dgm:pt modelId="{8C9ED357-123D-4896-9E89-86ED6FE59322}" type="pres">
      <dgm:prSet presAssocID="{B719CA02-F4C5-4206-9C2B-9A0F8B507F7B}" presName="parentLeftMargin" presStyleLbl="node1" presStyleIdx="2" presStyleCnt="8"/>
      <dgm:spPr/>
      <dgm:t>
        <a:bodyPr/>
        <a:lstStyle/>
        <a:p>
          <a:endParaRPr lang="en-US"/>
        </a:p>
      </dgm:t>
    </dgm:pt>
    <dgm:pt modelId="{9531E4AC-F787-4BEF-B7AF-1350E3E4BE06}" type="pres">
      <dgm:prSet presAssocID="{B719CA02-F4C5-4206-9C2B-9A0F8B507F7B}" presName="parentText" presStyleLbl="node1" presStyleIdx="3" presStyleCnt="8" custScaleX="127950">
        <dgm:presLayoutVars>
          <dgm:chMax val="0"/>
          <dgm:bulletEnabled val="1"/>
        </dgm:presLayoutVars>
      </dgm:prSet>
      <dgm:spPr/>
      <dgm:t>
        <a:bodyPr/>
        <a:lstStyle/>
        <a:p>
          <a:endParaRPr lang="en-US"/>
        </a:p>
      </dgm:t>
    </dgm:pt>
    <dgm:pt modelId="{F048EA53-F8A7-432F-BD24-3828E11CD6CA}" type="pres">
      <dgm:prSet presAssocID="{B719CA02-F4C5-4206-9C2B-9A0F8B507F7B}" presName="negativeSpace" presStyleCnt="0"/>
      <dgm:spPr/>
    </dgm:pt>
    <dgm:pt modelId="{9DB1DBF4-5798-42CF-916E-AFCD2A536F11}" type="pres">
      <dgm:prSet presAssocID="{B719CA02-F4C5-4206-9C2B-9A0F8B507F7B}" presName="childText" presStyleLbl="conFgAcc1" presStyleIdx="3" presStyleCnt="8">
        <dgm:presLayoutVars>
          <dgm:bulletEnabled val="1"/>
        </dgm:presLayoutVars>
      </dgm:prSet>
      <dgm:spPr/>
    </dgm:pt>
    <dgm:pt modelId="{85CC1697-88B8-49CE-8137-7E7030AA0F74}" type="pres">
      <dgm:prSet presAssocID="{8E3415ED-F6CD-4EFD-9527-73ADCD741987}" presName="spaceBetweenRectangles" presStyleCnt="0"/>
      <dgm:spPr/>
    </dgm:pt>
    <dgm:pt modelId="{AE93DA73-AD47-4227-AF23-A3099E65521E}" type="pres">
      <dgm:prSet presAssocID="{734C3414-70D1-4ACF-B9A8-917543B1D3DF}" presName="parentLin" presStyleCnt="0"/>
      <dgm:spPr/>
    </dgm:pt>
    <dgm:pt modelId="{4FF69776-C300-4B82-B81A-63764FFCA29E}" type="pres">
      <dgm:prSet presAssocID="{734C3414-70D1-4ACF-B9A8-917543B1D3DF}" presName="parentLeftMargin" presStyleLbl="node1" presStyleIdx="3" presStyleCnt="8"/>
      <dgm:spPr/>
      <dgm:t>
        <a:bodyPr/>
        <a:lstStyle/>
        <a:p>
          <a:endParaRPr lang="en-US"/>
        </a:p>
      </dgm:t>
    </dgm:pt>
    <dgm:pt modelId="{F0D66FF0-A094-45F5-9814-C8BFE1CE9B99}" type="pres">
      <dgm:prSet presAssocID="{734C3414-70D1-4ACF-B9A8-917543B1D3DF}" presName="parentText" presStyleLbl="node1" presStyleIdx="4" presStyleCnt="8" custScaleX="127950">
        <dgm:presLayoutVars>
          <dgm:chMax val="0"/>
          <dgm:bulletEnabled val="1"/>
        </dgm:presLayoutVars>
      </dgm:prSet>
      <dgm:spPr/>
      <dgm:t>
        <a:bodyPr/>
        <a:lstStyle/>
        <a:p>
          <a:endParaRPr lang="en-US"/>
        </a:p>
      </dgm:t>
    </dgm:pt>
    <dgm:pt modelId="{321B634D-B73E-4AF7-943C-F0FB0575137C}" type="pres">
      <dgm:prSet presAssocID="{734C3414-70D1-4ACF-B9A8-917543B1D3DF}" presName="negativeSpace" presStyleCnt="0"/>
      <dgm:spPr/>
    </dgm:pt>
    <dgm:pt modelId="{8676D504-C1C2-4AB0-8B76-19CD8700F43A}" type="pres">
      <dgm:prSet presAssocID="{734C3414-70D1-4ACF-B9A8-917543B1D3DF}" presName="childText" presStyleLbl="conFgAcc1" presStyleIdx="4" presStyleCnt="8">
        <dgm:presLayoutVars>
          <dgm:bulletEnabled val="1"/>
        </dgm:presLayoutVars>
      </dgm:prSet>
      <dgm:spPr/>
    </dgm:pt>
    <dgm:pt modelId="{11036490-E4E8-4D3B-931A-79A8A23B8228}" type="pres">
      <dgm:prSet presAssocID="{8EBA923A-B63E-41AF-8BE5-30A270366ACD}" presName="spaceBetweenRectangles" presStyleCnt="0"/>
      <dgm:spPr/>
    </dgm:pt>
    <dgm:pt modelId="{84909EC9-CED7-44C5-A998-9807E9CCE33D}" type="pres">
      <dgm:prSet presAssocID="{9AE33B24-5B58-40DE-8E18-6B7ADB48A649}" presName="parentLin" presStyleCnt="0"/>
      <dgm:spPr/>
    </dgm:pt>
    <dgm:pt modelId="{4D1C942C-2536-4E1D-AF29-9992423D62C8}" type="pres">
      <dgm:prSet presAssocID="{9AE33B24-5B58-40DE-8E18-6B7ADB48A649}" presName="parentLeftMargin" presStyleLbl="node1" presStyleIdx="4" presStyleCnt="8"/>
      <dgm:spPr/>
      <dgm:t>
        <a:bodyPr/>
        <a:lstStyle/>
        <a:p>
          <a:endParaRPr lang="en-US"/>
        </a:p>
      </dgm:t>
    </dgm:pt>
    <dgm:pt modelId="{A231B5A0-2D33-40EC-AC82-A7AC7A325738}" type="pres">
      <dgm:prSet presAssocID="{9AE33B24-5B58-40DE-8E18-6B7ADB48A649}" presName="parentText" presStyleLbl="node1" presStyleIdx="5" presStyleCnt="8" custScaleX="127950">
        <dgm:presLayoutVars>
          <dgm:chMax val="0"/>
          <dgm:bulletEnabled val="1"/>
        </dgm:presLayoutVars>
      </dgm:prSet>
      <dgm:spPr/>
      <dgm:t>
        <a:bodyPr/>
        <a:lstStyle/>
        <a:p>
          <a:endParaRPr lang="en-US"/>
        </a:p>
      </dgm:t>
    </dgm:pt>
    <dgm:pt modelId="{55F1D306-18F3-4C45-9A7F-A7565D90DA1F}" type="pres">
      <dgm:prSet presAssocID="{9AE33B24-5B58-40DE-8E18-6B7ADB48A649}" presName="negativeSpace" presStyleCnt="0"/>
      <dgm:spPr/>
    </dgm:pt>
    <dgm:pt modelId="{DCDA988F-B06C-4A1F-933F-25F8550D7FEC}" type="pres">
      <dgm:prSet presAssocID="{9AE33B24-5B58-40DE-8E18-6B7ADB48A649}" presName="childText" presStyleLbl="conFgAcc1" presStyleIdx="5" presStyleCnt="8">
        <dgm:presLayoutVars>
          <dgm:bulletEnabled val="1"/>
        </dgm:presLayoutVars>
      </dgm:prSet>
      <dgm:spPr/>
    </dgm:pt>
    <dgm:pt modelId="{C0B8C697-0C81-4561-8EF6-9054FB5E8D38}" type="pres">
      <dgm:prSet presAssocID="{436C0AC3-280C-4C89-AFFD-D1F00330261F}" presName="spaceBetweenRectangles" presStyleCnt="0"/>
      <dgm:spPr/>
    </dgm:pt>
    <dgm:pt modelId="{CF2D6150-48FC-4DBF-A19E-8F7BB6A92694}" type="pres">
      <dgm:prSet presAssocID="{5EA18E7F-BD6C-4A31-95A7-80017EABD97A}" presName="parentLin" presStyleCnt="0"/>
      <dgm:spPr/>
    </dgm:pt>
    <dgm:pt modelId="{8F5C3F8E-40AE-4012-B8EF-45B2A1AC9487}" type="pres">
      <dgm:prSet presAssocID="{5EA18E7F-BD6C-4A31-95A7-80017EABD97A}" presName="parentLeftMargin" presStyleLbl="node1" presStyleIdx="5" presStyleCnt="8"/>
      <dgm:spPr/>
      <dgm:t>
        <a:bodyPr/>
        <a:lstStyle/>
        <a:p>
          <a:endParaRPr lang="en-US"/>
        </a:p>
      </dgm:t>
    </dgm:pt>
    <dgm:pt modelId="{6D99E22F-8E37-4097-ADB1-A4C970D3D563}" type="pres">
      <dgm:prSet presAssocID="{5EA18E7F-BD6C-4A31-95A7-80017EABD97A}" presName="parentText" presStyleLbl="node1" presStyleIdx="6" presStyleCnt="8" custScaleX="127950">
        <dgm:presLayoutVars>
          <dgm:chMax val="0"/>
          <dgm:bulletEnabled val="1"/>
        </dgm:presLayoutVars>
      </dgm:prSet>
      <dgm:spPr/>
      <dgm:t>
        <a:bodyPr/>
        <a:lstStyle/>
        <a:p>
          <a:endParaRPr lang="en-US"/>
        </a:p>
      </dgm:t>
    </dgm:pt>
    <dgm:pt modelId="{0AA5DEBA-895A-48B2-9787-5450E9AE1830}" type="pres">
      <dgm:prSet presAssocID="{5EA18E7F-BD6C-4A31-95A7-80017EABD97A}" presName="negativeSpace" presStyleCnt="0"/>
      <dgm:spPr/>
    </dgm:pt>
    <dgm:pt modelId="{1F3747BF-0CF0-4C2C-B295-A8236F629698}" type="pres">
      <dgm:prSet presAssocID="{5EA18E7F-BD6C-4A31-95A7-80017EABD97A}" presName="childText" presStyleLbl="conFgAcc1" presStyleIdx="6" presStyleCnt="8">
        <dgm:presLayoutVars>
          <dgm:bulletEnabled val="1"/>
        </dgm:presLayoutVars>
      </dgm:prSet>
      <dgm:spPr/>
    </dgm:pt>
    <dgm:pt modelId="{090B054B-34A5-4C2F-B1B9-D34E7D335431}" type="pres">
      <dgm:prSet presAssocID="{695C7FAB-717A-4178-A351-28DD9E29D55F}" presName="spaceBetweenRectangles" presStyleCnt="0"/>
      <dgm:spPr/>
    </dgm:pt>
    <dgm:pt modelId="{72C04B3A-65E0-4C51-8DB4-B5B4F3A15733}" type="pres">
      <dgm:prSet presAssocID="{AD0A253F-0952-4C6A-962C-8FDCBBCC20A5}" presName="parentLin" presStyleCnt="0"/>
      <dgm:spPr/>
    </dgm:pt>
    <dgm:pt modelId="{44ED36FE-B351-4898-954F-90CBEAF19318}" type="pres">
      <dgm:prSet presAssocID="{AD0A253F-0952-4C6A-962C-8FDCBBCC20A5}" presName="parentLeftMargin" presStyleLbl="node1" presStyleIdx="6" presStyleCnt="8"/>
      <dgm:spPr/>
      <dgm:t>
        <a:bodyPr/>
        <a:lstStyle/>
        <a:p>
          <a:endParaRPr lang="en-US"/>
        </a:p>
      </dgm:t>
    </dgm:pt>
    <dgm:pt modelId="{214AB947-E1B8-43FD-A18F-0480D7B9941F}" type="pres">
      <dgm:prSet presAssocID="{AD0A253F-0952-4C6A-962C-8FDCBBCC20A5}" presName="parentText" presStyleLbl="node1" presStyleIdx="7" presStyleCnt="8" custScaleX="127950">
        <dgm:presLayoutVars>
          <dgm:chMax val="0"/>
          <dgm:bulletEnabled val="1"/>
        </dgm:presLayoutVars>
      </dgm:prSet>
      <dgm:spPr/>
      <dgm:t>
        <a:bodyPr/>
        <a:lstStyle/>
        <a:p>
          <a:endParaRPr lang="en-US"/>
        </a:p>
      </dgm:t>
    </dgm:pt>
    <dgm:pt modelId="{F0B28726-9FEB-41EB-BC9D-0ACF1AB2A8E9}" type="pres">
      <dgm:prSet presAssocID="{AD0A253F-0952-4C6A-962C-8FDCBBCC20A5}" presName="negativeSpace" presStyleCnt="0"/>
      <dgm:spPr/>
    </dgm:pt>
    <dgm:pt modelId="{8B1AADBA-B7FA-4130-BE57-BA0FCE2B1DE5}" type="pres">
      <dgm:prSet presAssocID="{AD0A253F-0952-4C6A-962C-8FDCBBCC20A5}" presName="childText" presStyleLbl="conFgAcc1" presStyleIdx="7" presStyleCnt="8">
        <dgm:presLayoutVars>
          <dgm:bulletEnabled val="1"/>
        </dgm:presLayoutVars>
      </dgm:prSet>
      <dgm:spPr/>
    </dgm:pt>
  </dgm:ptLst>
  <dgm:cxnLst>
    <dgm:cxn modelId="{BCCC2DB6-7691-4BB7-BEA4-A56FB371949F}" type="presOf" srcId="{9AE33B24-5B58-40DE-8E18-6B7ADB48A649}" destId="{A231B5A0-2D33-40EC-AC82-A7AC7A325738}" srcOrd="1" destOrd="0" presId="urn:microsoft.com/office/officeart/2005/8/layout/list1"/>
    <dgm:cxn modelId="{EFD5154F-F199-4B45-A396-8D3B1CCF3C3F}" srcId="{7E64F87F-EA59-48A1-833A-2651D94B23FF}" destId="{5EA18E7F-BD6C-4A31-95A7-80017EABD97A}" srcOrd="6" destOrd="0" parTransId="{375B99EC-9930-491D-AACE-091A57819AEA}" sibTransId="{695C7FAB-717A-4178-A351-28DD9E29D55F}"/>
    <dgm:cxn modelId="{C31D2E01-2FCF-4C9E-B1C3-B6B39A7611DE}" type="presOf" srcId="{5EA18E7F-BD6C-4A31-95A7-80017EABD97A}" destId="{8F5C3F8E-40AE-4012-B8EF-45B2A1AC9487}" srcOrd="0" destOrd="0" presId="urn:microsoft.com/office/officeart/2005/8/layout/list1"/>
    <dgm:cxn modelId="{ACE33A16-1DD4-434A-9829-537BED2488EE}" type="presOf" srcId="{1F6D8B5B-C614-44D9-8613-6698113D5BAF}" destId="{1C224A46-CFCE-484F-8644-5FEDC0B95F5E}" srcOrd="1" destOrd="0" presId="urn:microsoft.com/office/officeart/2005/8/layout/list1"/>
    <dgm:cxn modelId="{6C0BF904-972F-4809-A660-AD5DE88DF92A}" srcId="{7E64F87F-EA59-48A1-833A-2651D94B23FF}" destId="{1D929E3D-0D3A-4925-9709-9E5505B53D99}" srcOrd="1" destOrd="0" parTransId="{EAC01C64-488D-4BAA-8774-0BBFE97DB963}" sibTransId="{D875EE91-27CA-4785-8219-7894816FDF58}"/>
    <dgm:cxn modelId="{3892880A-C42E-467E-B162-4015FB683AFD}" srcId="{7E64F87F-EA59-48A1-833A-2651D94B23FF}" destId="{AD0A253F-0952-4C6A-962C-8FDCBBCC20A5}" srcOrd="7" destOrd="0" parTransId="{B7A25E8C-A946-4C52-B11F-79A507546227}" sibTransId="{87C233A5-DB47-421A-BB45-41D647B97CE6}"/>
    <dgm:cxn modelId="{97744698-C879-4068-B30B-DA305A002548}" type="presOf" srcId="{7E64F87F-EA59-48A1-833A-2651D94B23FF}" destId="{F9EB037A-AF3F-46C3-981A-22A8B37C5688}" srcOrd="0" destOrd="0" presId="urn:microsoft.com/office/officeart/2005/8/layout/list1"/>
    <dgm:cxn modelId="{C9307112-1CCB-42DC-841E-94364FC64196}" type="presOf" srcId="{B719CA02-F4C5-4206-9C2B-9A0F8B507F7B}" destId="{9531E4AC-F787-4BEF-B7AF-1350E3E4BE06}" srcOrd="1" destOrd="0" presId="urn:microsoft.com/office/officeart/2005/8/layout/list1"/>
    <dgm:cxn modelId="{9DE09B5C-C242-4F4B-B1B2-D09BB0FF7F34}" type="presOf" srcId="{734C3414-70D1-4ACF-B9A8-917543B1D3DF}" destId="{F0D66FF0-A094-45F5-9814-C8BFE1CE9B99}" srcOrd="1" destOrd="0" presId="urn:microsoft.com/office/officeart/2005/8/layout/list1"/>
    <dgm:cxn modelId="{C979F68B-40DC-4205-A34F-B082B5473FD9}" type="presOf" srcId="{1D929E3D-0D3A-4925-9709-9E5505B53D99}" destId="{F121DCAF-C420-4558-913A-196A669ADA89}" srcOrd="0" destOrd="0" presId="urn:microsoft.com/office/officeart/2005/8/layout/list1"/>
    <dgm:cxn modelId="{7D8CE3F7-8CCC-4596-B32A-86B26C11FF84}" type="presOf" srcId="{AD0A253F-0952-4C6A-962C-8FDCBBCC20A5}" destId="{44ED36FE-B351-4898-954F-90CBEAF19318}" srcOrd="0" destOrd="0" presId="urn:microsoft.com/office/officeart/2005/8/layout/list1"/>
    <dgm:cxn modelId="{9A33A5EB-8DE2-4C81-9938-6C42CB5B1D07}" type="presOf" srcId="{1D929E3D-0D3A-4925-9709-9E5505B53D99}" destId="{B36E3A61-CF61-4DA4-8C0F-A7A3F35B6F7B}" srcOrd="1" destOrd="0" presId="urn:microsoft.com/office/officeart/2005/8/layout/list1"/>
    <dgm:cxn modelId="{83D5943C-5E13-4C70-ACF5-0EE9B666BA6C}" type="presOf" srcId="{AD0A253F-0952-4C6A-962C-8FDCBBCC20A5}" destId="{214AB947-E1B8-43FD-A18F-0480D7B9941F}" srcOrd="1" destOrd="0" presId="urn:microsoft.com/office/officeart/2005/8/layout/list1"/>
    <dgm:cxn modelId="{B06C759E-9B73-4DA1-AB46-5240EFE9D14A}" type="presOf" srcId="{734C3414-70D1-4ACF-B9A8-917543B1D3DF}" destId="{4FF69776-C300-4B82-B81A-63764FFCA29E}" srcOrd="0" destOrd="0" presId="urn:microsoft.com/office/officeart/2005/8/layout/list1"/>
    <dgm:cxn modelId="{50EB880D-CD6C-4579-B6AD-2DD2926497B8}" srcId="{7E64F87F-EA59-48A1-833A-2651D94B23FF}" destId="{9AE33B24-5B58-40DE-8E18-6B7ADB48A649}" srcOrd="5" destOrd="0" parTransId="{BF3AB7AD-D937-4816-B3EF-9A48FBBBAE4F}" sibTransId="{436C0AC3-280C-4C89-AFFD-D1F00330261F}"/>
    <dgm:cxn modelId="{6E9F8086-64C6-472E-B09C-5F4A4D52880C}" srcId="{7E64F87F-EA59-48A1-833A-2651D94B23FF}" destId="{734C3414-70D1-4ACF-B9A8-917543B1D3DF}" srcOrd="4" destOrd="0" parTransId="{106E0706-3BFF-497F-AC37-52BD2C48B366}" sibTransId="{8EBA923A-B63E-41AF-8BE5-30A270366ACD}"/>
    <dgm:cxn modelId="{32B1F045-8409-41A7-AF1E-A983B5158238}" type="presOf" srcId="{3AB74E8F-44D5-426F-BE51-BFBAAB644F8C}" destId="{BE7021AF-4A52-4A43-ADFB-6CBD95142473}" srcOrd="1" destOrd="0" presId="urn:microsoft.com/office/officeart/2005/8/layout/list1"/>
    <dgm:cxn modelId="{DAB78F33-9F64-4C57-AF2A-7D33C73E5E74}" type="presOf" srcId="{B719CA02-F4C5-4206-9C2B-9A0F8B507F7B}" destId="{8C9ED357-123D-4896-9E89-86ED6FE59322}" srcOrd="0" destOrd="0" presId="urn:microsoft.com/office/officeart/2005/8/layout/list1"/>
    <dgm:cxn modelId="{81BDA73B-B95B-4391-9FA8-E62B93F0A0B9}" srcId="{7E64F87F-EA59-48A1-833A-2651D94B23FF}" destId="{3AB74E8F-44D5-426F-BE51-BFBAAB644F8C}" srcOrd="2" destOrd="0" parTransId="{04B993FE-8D46-40B4-ABDA-2AE0CFBDC434}" sibTransId="{A4DDF7A3-FEC0-45FE-8B93-9F6C5C577847}"/>
    <dgm:cxn modelId="{899F9531-441D-4930-826B-26436F9E5717}" type="presOf" srcId="{3AB74E8F-44D5-426F-BE51-BFBAAB644F8C}" destId="{33EE6811-0AF2-4E81-8294-8F9A1B29B0C8}" srcOrd="0" destOrd="0" presId="urn:microsoft.com/office/officeart/2005/8/layout/list1"/>
    <dgm:cxn modelId="{188A523F-644D-45C1-8324-D73B9B983771}" type="presOf" srcId="{1F6D8B5B-C614-44D9-8613-6698113D5BAF}" destId="{C4A130ED-DD57-4BD7-A593-F99274ABF393}" srcOrd="0" destOrd="0" presId="urn:microsoft.com/office/officeart/2005/8/layout/list1"/>
    <dgm:cxn modelId="{63180E71-74E2-4C78-BA65-7AC6B1B9042D}" type="presOf" srcId="{9AE33B24-5B58-40DE-8E18-6B7ADB48A649}" destId="{4D1C942C-2536-4E1D-AF29-9992423D62C8}" srcOrd="0" destOrd="0" presId="urn:microsoft.com/office/officeart/2005/8/layout/list1"/>
    <dgm:cxn modelId="{878C6D48-DFFA-48DA-9A0A-040B72E936D4}" srcId="{7E64F87F-EA59-48A1-833A-2651D94B23FF}" destId="{1F6D8B5B-C614-44D9-8613-6698113D5BAF}" srcOrd="0" destOrd="0" parTransId="{ABA32068-9074-48C0-B747-986780F65FAA}" sibTransId="{D4DCBAE9-FFE2-4DA5-A6CD-D16369FE96A4}"/>
    <dgm:cxn modelId="{1F0DCC00-7752-45D3-B931-93DFF0B669E3}" srcId="{7E64F87F-EA59-48A1-833A-2651D94B23FF}" destId="{B719CA02-F4C5-4206-9C2B-9A0F8B507F7B}" srcOrd="3" destOrd="0" parTransId="{808C0D28-42C2-4FC4-B63E-9AAC2DC2DB11}" sibTransId="{8E3415ED-F6CD-4EFD-9527-73ADCD741987}"/>
    <dgm:cxn modelId="{929C3563-EAED-4F82-B754-30C8C808334E}" type="presOf" srcId="{5EA18E7F-BD6C-4A31-95A7-80017EABD97A}" destId="{6D99E22F-8E37-4097-ADB1-A4C970D3D563}" srcOrd="1" destOrd="0" presId="urn:microsoft.com/office/officeart/2005/8/layout/list1"/>
    <dgm:cxn modelId="{7E472088-84B2-4D94-AA24-0D9E12F624D5}" type="presParOf" srcId="{F9EB037A-AF3F-46C3-981A-22A8B37C5688}" destId="{C88F66EA-BB47-4A9C-8771-E7983E5CC23C}" srcOrd="0" destOrd="0" presId="urn:microsoft.com/office/officeart/2005/8/layout/list1"/>
    <dgm:cxn modelId="{ECB61956-77E1-4A10-BAEB-84AB6C949524}" type="presParOf" srcId="{C88F66EA-BB47-4A9C-8771-E7983E5CC23C}" destId="{C4A130ED-DD57-4BD7-A593-F99274ABF393}" srcOrd="0" destOrd="0" presId="urn:microsoft.com/office/officeart/2005/8/layout/list1"/>
    <dgm:cxn modelId="{51BA1856-2CDE-4199-89A6-125C6428A86D}" type="presParOf" srcId="{C88F66EA-BB47-4A9C-8771-E7983E5CC23C}" destId="{1C224A46-CFCE-484F-8644-5FEDC0B95F5E}" srcOrd="1" destOrd="0" presId="urn:microsoft.com/office/officeart/2005/8/layout/list1"/>
    <dgm:cxn modelId="{AAF8A50F-14E9-416F-BB3B-F6B6261F3F41}" type="presParOf" srcId="{F9EB037A-AF3F-46C3-981A-22A8B37C5688}" destId="{08019919-2DEC-4C7C-9C1E-D87DDFF8BEFB}" srcOrd="1" destOrd="0" presId="urn:microsoft.com/office/officeart/2005/8/layout/list1"/>
    <dgm:cxn modelId="{A16AEDD4-58DC-46E4-B3A3-7424197DDCE7}" type="presParOf" srcId="{F9EB037A-AF3F-46C3-981A-22A8B37C5688}" destId="{973ED907-62B2-468E-B083-ADEF7F6CFF87}" srcOrd="2" destOrd="0" presId="urn:microsoft.com/office/officeart/2005/8/layout/list1"/>
    <dgm:cxn modelId="{13536B26-93F8-4A1A-BAD3-37A24EEF6FC6}" type="presParOf" srcId="{F9EB037A-AF3F-46C3-981A-22A8B37C5688}" destId="{64ED613B-7FFF-459F-A8E3-06350E224E55}" srcOrd="3" destOrd="0" presId="urn:microsoft.com/office/officeart/2005/8/layout/list1"/>
    <dgm:cxn modelId="{AAE91D3D-4515-4BAF-AB0B-C02ABA776AA7}" type="presParOf" srcId="{F9EB037A-AF3F-46C3-981A-22A8B37C5688}" destId="{3D36DE79-87B4-4AD8-939D-8F74D079477E}" srcOrd="4" destOrd="0" presId="urn:microsoft.com/office/officeart/2005/8/layout/list1"/>
    <dgm:cxn modelId="{49146239-287A-471A-B99E-181CFEEBF089}" type="presParOf" srcId="{3D36DE79-87B4-4AD8-939D-8F74D079477E}" destId="{F121DCAF-C420-4558-913A-196A669ADA89}" srcOrd="0" destOrd="0" presId="urn:microsoft.com/office/officeart/2005/8/layout/list1"/>
    <dgm:cxn modelId="{A1A7EF51-C195-433B-AFDE-9028D4DEA0D6}" type="presParOf" srcId="{3D36DE79-87B4-4AD8-939D-8F74D079477E}" destId="{B36E3A61-CF61-4DA4-8C0F-A7A3F35B6F7B}" srcOrd="1" destOrd="0" presId="urn:microsoft.com/office/officeart/2005/8/layout/list1"/>
    <dgm:cxn modelId="{5FF4E07A-07DB-4724-B6EA-F1917A4A717B}" type="presParOf" srcId="{F9EB037A-AF3F-46C3-981A-22A8B37C5688}" destId="{7125B6A1-B0B0-461C-BC37-57F2193B601E}" srcOrd="5" destOrd="0" presId="urn:microsoft.com/office/officeart/2005/8/layout/list1"/>
    <dgm:cxn modelId="{0424FCC8-C04B-45B4-A713-29AC76F310DC}" type="presParOf" srcId="{F9EB037A-AF3F-46C3-981A-22A8B37C5688}" destId="{6C61BFDB-7567-434D-89F8-401B2B25FA9A}" srcOrd="6" destOrd="0" presId="urn:microsoft.com/office/officeart/2005/8/layout/list1"/>
    <dgm:cxn modelId="{5E8B692D-7E7C-440F-BAB6-8B4112DFA4B4}" type="presParOf" srcId="{F9EB037A-AF3F-46C3-981A-22A8B37C5688}" destId="{D2CDEE58-4D25-4F66-8EE7-039D07FE658E}" srcOrd="7" destOrd="0" presId="urn:microsoft.com/office/officeart/2005/8/layout/list1"/>
    <dgm:cxn modelId="{B0A045A2-D501-437D-96A9-4169A3254120}" type="presParOf" srcId="{F9EB037A-AF3F-46C3-981A-22A8B37C5688}" destId="{D4F4277A-CACE-42BA-8C9F-244F20FBB47D}" srcOrd="8" destOrd="0" presId="urn:microsoft.com/office/officeart/2005/8/layout/list1"/>
    <dgm:cxn modelId="{7B2C6B82-DC13-4287-B703-FE70C70E86AF}" type="presParOf" srcId="{D4F4277A-CACE-42BA-8C9F-244F20FBB47D}" destId="{33EE6811-0AF2-4E81-8294-8F9A1B29B0C8}" srcOrd="0" destOrd="0" presId="urn:microsoft.com/office/officeart/2005/8/layout/list1"/>
    <dgm:cxn modelId="{2E263FAB-FE7A-4FC0-92D7-B1ACA3736FE0}" type="presParOf" srcId="{D4F4277A-CACE-42BA-8C9F-244F20FBB47D}" destId="{BE7021AF-4A52-4A43-ADFB-6CBD95142473}" srcOrd="1" destOrd="0" presId="urn:microsoft.com/office/officeart/2005/8/layout/list1"/>
    <dgm:cxn modelId="{0839E750-E49A-4003-A96F-4B7932FDF06C}" type="presParOf" srcId="{F9EB037A-AF3F-46C3-981A-22A8B37C5688}" destId="{65AB02A2-B98E-41F7-86F4-786D0A679BF0}" srcOrd="9" destOrd="0" presId="urn:microsoft.com/office/officeart/2005/8/layout/list1"/>
    <dgm:cxn modelId="{CDEF8A50-58A1-459F-A2FE-48E625727E6C}" type="presParOf" srcId="{F9EB037A-AF3F-46C3-981A-22A8B37C5688}" destId="{F630B2EA-73D6-4AA7-B4AD-EB0F01ED384B}" srcOrd="10" destOrd="0" presId="urn:microsoft.com/office/officeart/2005/8/layout/list1"/>
    <dgm:cxn modelId="{5B2196A8-96DE-4060-A4F8-2E2D3501533E}" type="presParOf" srcId="{F9EB037A-AF3F-46C3-981A-22A8B37C5688}" destId="{0C52911A-C37A-4060-B156-A8361F90F9B2}" srcOrd="11" destOrd="0" presId="urn:microsoft.com/office/officeart/2005/8/layout/list1"/>
    <dgm:cxn modelId="{461EE9AD-7456-4A84-9BBE-F58CF3D0360C}" type="presParOf" srcId="{F9EB037A-AF3F-46C3-981A-22A8B37C5688}" destId="{2D5E54BB-46BC-41C1-ADA7-62713A5E7F47}" srcOrd="12" destOrd="0" presId="urn:microsoft.com/office/officeart/2005/8/layout/list1"/>
    <dgm:cxn modelId="{DA0585A3-F021-4A8F-B59A-21FC3DBEB5DE}" type="presParOf" srcId="{2D5E54BB-46BC-41C1-ADA7-62713A5E7F47}" destId="{8C9ED357-123D-4896-9E89-86ED6FE59322}" srcOrd="0" destOrd="0" presId="urn:microsoft.com/office/officeart/2005/8/layout/list1"/>
    <dgm:cxn modelId="{90638BA9-6DAC-42F9-9603-195E86273DF4}" type="presParOf" srcId="{2D5E54BB-46BC-41C1-ADA7-62713A5E7F47}" destId="{9531E4AC-F787-4BEF-B7AF-1350E3E4BE06}" srcOrd="1" destOrd="0" presId="urn:microsoft.com/office/officeart/2005/8/layout/list1"/>
    <dgm:cxn modelId="{032EE740-F2D5-4708-8703-5755EDEED0A8}" type="presParOf" srcId="{F9EB037A-AF3F-46C3-981A-22A8B37C5688}" destId="{F048EA53-F8A7-432F-BD24-3828E11CD6CA}" srcOrd="13" destOrd="0" presId="urn:microsoft.com/office/officeart/2005/8/layout/list1"/>
    <dgm:cxn modelId="{81A497FC-D436-435B-9B4E-806298382310}" type="presParOf" srcId="{F9EB037A-AF3F-46C3-981A-22A8B37C5688}" destId="{9DB1DBF4-5798-42CF-916E-AFCD2A536F11}" srcOrd="14" destOrd="0" presId="urn:microsoft.com/office/officeart/2005/8/layout/list1"/>
    <dgm:cxn modelId="{B82030B2-024B-4214-98ED-B4EA5A978535}" type="presParOf" srcId="{F9EB037A-AF3F-46C3-981A-22A8B37C5688}" destId="{85CC1697-88B8-49CE-8137-7E7030AA0F74}" srcOrd="15" destOrd="0" presId="urn:microsoft.com/office/officeart/2005/8/layout/list1"/>
    <dgm:cxn modelId="{EE1D1545-3EB1-4E74-99F5-2E0538B3CD68}" type="presParOf" srcId="{F9EB037A-AF3F-46C3-981A-22A8B37C5688}" destId="{AE93DA73-AD47-4227-AF23-A3099E65521E}" srcOrd="16" destOrd="0" presId="urn:microsoft.com/office/officeart/2005/8/layout/list1"/>
    <dgm:cxn modelId="{C319C08C-67BB-4B28-B1AC-D91A1293BD6C}" type="presParOf" srcId="{AE93DA73-AD47-4227-AF23-A3099E65521E}" destId="{4FF69776-C300-4B82-B81A-63764FFCA29E}" srcOrd="0" destOrd="0" presId="urn:microsoft.com/office/officeart/2005/8/layout/list1"/>
    <dgm:cxn modelId="{6BC2AD54-178A-470B-81BF-B1AEEDC9B5CF}" type="presParOf" srcId="{AE93DA73-AD47-4227-AF23-A3099E65521E}" destId="{F0D66FF0-A094-45F5-9814-C8BFE1CE9B99}" srcOrd="1" destOrd="0" presId="urn:microsoft.com/office/officeart/2005/8/layout/list1"/>
    <dgm:cxn modelId="{6935A432-E5B5-4B54-B5A4-C3842D496619}" type="presParOf" srcId="{F9EB037A-AF3F-46C3-981A-22A8B37C5688}" destId="{321B634D-B73E-4AF7-943C-F0FB0575137C}" srcOrd="17" destOrd="0" presId="urn:microsoft.com/office/officeart/2005/8/layout/list1"/>
    <dgm:cxn modelId="{DE5C619B-AB86-4E56-9CB2-66680C1B0E98}" type="presParOf" srcId="{F9EB037A-AF3F-46C3-981A-22A8B37C5688}" destId="{8676D504-C1C2-4AB0-8B76-19CD8700F43A}" srcOrd="18" destOrd="0" presId="urn:microsoft.com/office/officeart/2005/8/layout/list1"/>
    <dgm:cxn modelId="{A7789D20-E4A6-499C-BD1A-43740294EDFF}" type="presParOf" srcId="{F9EB037A-AF3F-46C3-981A-22A8B37C5688}" destId="{11036490-E4E8-4D3B-931A-79A8A23B8228}" srcOrd="19" destOrd="0" presId="urn:microsoft.com/office/officeart/2005/8/layout/list1"/>
    <dgm:cxn modelId="{E9E91DF6-32ED-4B55-9373-C43C3A973018}" type="presParOf" srcId="{F9EB037A-AF3F-46C3-981A-22A8B37C5688}" destId="{84909EC9-CED7-44C5-A998-9807E9CCE33D}" srcOrd="20" destOrd="0" presId="urn:microsoft.com/office/officeart/2005/8/layout/list1"/>
    <dgm:cxn modelId="{7B7D0FC6-95CF-447C-BE02-0733E3EDC956}" type="presParOf" srcId="{84909EC9-CED7-44C5-A998-9807E9CCE33D}" destId="{4D1C942C-2536-4E1D-AF29-9992423D62C8}" srcOrd="0" destOrd="0" presId="urn:microsoft.com/office/officeart/2005/8/layout/list1"/>
    <dgm:cxn modelId="{BD4D73F5-71F9-43F5-87C0-051A51981794}" type="presParOf" srcId="{84909EC9-CED7-44C5-A998-9807E9CCE33D}" destId="{A231B5A0-2D33-40EC-AC82-A7AC7A325738}" srcOrd="1" destOrd="0" presId="urn:microsoft.com/office/officeart/2005/8/layout/list1"/>
    <dgm:cxn modelId="{1821C56A-86EA-4E21-9A1B-C1628F148D5B}" type="presParOf" srcId="{F9EB037A-AF3F-46C3-981A-22A8B37C5688}" destId="{55F1D306-18F3-4C45-9A7F-A7565D90DA1F}" srcOrd="21" destOrd="0" presId="urn:microsoft.com/office/officeart/2005/8/layout/list1"/>
    <dgm:cxn modelId="{C19DE051-882F-4F5F-A5AA-582E24E44F1A}" type="presParOf" srcId="{F9EB037A-AF3F-46C3-981A-22A8B37C5688}" destId="{DCDA988F-B06C-4A1F-933F-25F8550D7FEC}" srcOrd="22" destOrd="0" presId="urn:microsoft.com/office/officeart/2005/8/layout/list1"/>
    <dgm:cxn modelId="{7DDD7065-AB91-402C-9F3C-0FD7A2370EDD}" type="presParOf" srcId="{F9EB037A-AF3F-46C3-981A-22A8B37C5688}" destId="{C0B8C697-0C81-4561-8EF6-9054FB5E8D38}" srcOrd="23" destOrd="0" presId="urn:microsoft.com/office/officeart/2005/8/layout/list1"/>
    <dgm:cxn modelId="{40CAF476-FA45-4B80-846F-8B9B2EC6CFE8}" type="presParOf" srcId="{F9EB037A-AF3F-46C3-981A-22A8B37C5688}" destId="{CF2D6150-48FC-4DBF-A19E-8F7BB6A92694}" srcOrd="24" destOrd="0" presId="urn:microsoft.com/office/officeart/2005/8/layout/list1"/>
    <dgm:cxn modelId="{776D0FC4-5A74-4B9C-80E1-3452E29DB6EE}" type="presParOf" srcId="{CF2D6150-48FC-4DBF-A19E-8F7BB6A92694}" destId="{8F5C3F8E-40AE-4012-B8EF-45B2A1AC9487}" srcOrd="0" destOrd="0" presId="urn:microsoft.com/office/officeart/2005/8/layout/list1"/>
    <dgm:cxn modelId="{0F0CF876-F330-4EF5-97A4-44D5F356E609}" type="presParOf" srcId="{CF2D6150-48FC-4DBF-A19E-8F7BB6A92694}" destId="{6D99E22F-8E37-4097-ADB1-A4C970D3D563}" srcOrd="1" destOrd="0" presId="urn:microsoft.com/office/officeart/2005/8/layout/list1"/>
    <dgm:cxn modelId="{46C41334-FD6F-4510-97E0-908FBFD9832F}" type="presParOf" srcId="{F9EB037A-AF3F-46C3-981A-22A8B37C5688}" destId="{0AA5DEBA-895A-48B2-9787-5450E9AE1830}" srcOrd="25" destOrd="0" presId="urn:microsoft.com/office/officeart/2005/8/layout/list1"/>
    <dgm:cxn modelId="{5A5C262F-B9C0-4D7E-81C6-5CF260940EDD}" type="presParOf" srcId="{F9EB037A-AF3F-46C3-981A-22A8B37C5688}" destId="{1F3747BF-0CF0-4C2C-B295-A8236F629698}" srcOrd="26" destOrd="0" presId="urn:microsoft.com/office/officeart/2005/8/layout/list1"/>
    <dgm:cxn modelId="{57F351C0-2B05-4D5B-8E0A-DBDFEC865BB3}" type="presParOf" srcId="{F9EB037A-AF3F-46C3-981A-22A8B37C5688}" destId="{090B054B-34A5-4C2F-B1B9-D34E7D335431}" srcOrd="27" destOrd="0" presId="urn:microsoft.com/office/officeart/2005/8/layout/list1"/>
    <dgm:cxn modelId="{838F57BC-CA30-4BFA-9CD7-711590B8EF07}" type="presParOf" srcId="{F9EB037A-AF3F-46C3-981A-22A8B37C5688}" destId="{72C04B3A-65E0-4C51-8DB4-B5B4F3A15733}" srcOrd="28" destOrd="0" presId="urn:microsoft.com/office/officeart/2005/8/layout/list1"/>
    <dgm:cxn modelId="{741C5594-66C0-410B-B246-4CE438B3BDF4}" type="presParOf" srcId="{72C04B3A-65E0-4C51-8DB4-B5B4F3A15733}" destId="{44ED36FE-B351-4898-954F-90CBEAF19318}" srcOrd="0" destOrd="0" presId="urn:microsoft.com/office/officeart/2005/8/layout/list1"/>
    <dgm:cxn modelId="{4DF7CB13-B847-480F-BB63-870F93F9E933}" type="presParOf" srcId="{72C04B3A-65E0-4C51-8DB4-B5B4F3A15733}" destId="{214AB947-E1B8-43FD-A18F-0480D7B9941F}" srcOrd="1" destOrd="0" presId="urn:microsoft.com/office/officeart/2005/8/layout/list1"/>
    <dgm:cxn modelId="{337E632A-ECA9-4486-89D8-09A514AB7152}" type="presParOf" srcId="{F9EB037A-AF3F-46C3-981A-22A8B37C5688}" destId="{F0B28726-9FEB-41EB-BC9D-0ACF1AB2A8E9}" srcOrd="29" destOrd="0" presId="urn:microsoft.com/office/officeart/2005/8/layout/list1"/>
    <dgm:cxn modelId="{2FC479BD-44BF-4790-82BA-8A7252A3BC34}" type="presParOf" srcId="{F9EB037A-AF3F-46C3-981A-22A8B37C5688}" destId="{8B1AADBA-B7FA-4130-BE57-BA0FCE2B1DE5}" srcOrd="30" destOrd="0" presId="urn:microsoft.com/office/officeart/2005/8/layout/lis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73ED907-62B2-468E-B083-ADEF7F6CFF87}">
      <dsp:nvSpPr>
        <dsp:cNvPr id="0" name=""/>
        <dsp:cNvSpPr/>
      </dsp:nvSpPr>
      <dsp:spPr>
        <a:xfrm>
          <a:off x="0" y="333180"/>
          <a:ext cx="4876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C224A46-CFCE-484F-8644-5FEDC0B95F5E}">
      <dsp:nvSpPr>
        <dsp:cNvPr id="0" name=""/>
        <dsp:cNvSpPr/>
      </dsp:nvSpPr>
      <dsp:spPr>
        <a:xfrm>
          <a:off x="243840" y="126540"/>
          <a:ext cx="4367905"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032" tIns="0" rIns="129032" bIns="0" numCol="1" spcCol="1270" anchor="ctr" anchorCtr="0">
          <a:noAutofit/>
        </a:bodyPr>
        <a:lstStyle/>
        <a:p>
          <a:pPr lvl="0" algn="l" defTabSz="977900">
            <a:lnSpc>
              <a:spcPct val="90000"/>
            </a:lnSpc>
            <a:spcBef>
              <a:spcPct val="0"/>
            </a:spcBef>
            <a:spcAft>
              <a:spcPct val="35000"/>
            </a:spcAft>
          </a:pPr>
          <a:r>
            <a:rPr lang="en-US" sz="2200" b="0" kern="1200" dirty="0" smtClean="0"/>
            <a:t>Model real-world objects</a:t>
          </a:r>
          <a:endParaRPr lang="en-US" sz="2200" b="0" kern="1200" dirty="0"/>
        </a:p>
      </dsp:txBody>
      <dsp:txXfrm>
        <a:off x="243840" y="126540"/>
        <a:ext cx="4367905" cy="413280"/>
      </dsp:txXfrm>
    </dsp:sp>
    <dsp:sp modelId="{6C61BFDB-7567-434D-89F8-401B2B25FA9A}">
      <dsp:nvSpPr>
        <dsp:cNvPr id="0" name=""/>
        <dsp:cNvSpPr/>
      </dsp:nvSpPr>
      <dsp:spPr>
        <a:xfrm>
          <a:off x="0" y="968220"/>
          <a:ext cx="4876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36E3A61-CF61-4DA4-8C0F-A7A3F35B6F7B}">
      <dsp:nvSpPr>
        <dsp:cNvPr id="0" name=""/>
        <dsp:cNvSpPr/>
      </dsp:nvSpPr>
      <dsp:spPr>
        <a:xfrm>
          <a:off x="243840" y="761580"/>
          <a:ext cx="4367905" cy="41328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032" tIns="0" rIns="129032" bIns="0" numCol="1" spcCol="1270" anchor="ctr" anchorCtr="0">
          <a:noAutofit/>
        </a:bodyPr>
        <a:lstStyle/>
        <a:p>
          <a:pPr lvl="0" algn="l" defTabSz="977900">
            <a:lnSpc>
              <a:spcPct val="90000"/>
            </a:lnSpc>
            <a:spcBef>
              <a:spcPct val="0"/>
            </a:spcBef>
            <a:spcAft>
              <a:spcPct val="35000"/>
            </a:spcAft>
          </a:pPr>
          <a:r>
            <a:rPr lang="en-US" sz="2200" b="0" kern="1200" dirty="0" smtClean="0"/>
            <a:t>Model abstract objects</a:t>
          </a:r>
          <a:endParaRPr lang="en-US" sz="2200" b="0" kern="1200" dirty="0"/>
        </a:p>
      </dsp:txBody>
      <dsp:txXfrm>
        <a:off x="243840" y="761580"/>
        <a:ext cx="4367905" cy="413280"/>
      </dsp:txXfrm>
    </dsp:sp>
    <dsp:sp modelId="{F630B2EA-73D6-4AA7-B4AD-EB0F01ED384B}">
      <dsp:nvSpPr>
        <dsp:cNvPr id="0" name=""/>
        <dsp:cNvSpPr/>
      </dsp:nvSpPr>
      <dsp:spPr>
        <a:xfrm>
          <a:off x="0" y="1603260"/>
          <a:ext cx="4876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E7021AF-4A52-4A43-ADFB-6CBD95142473}">
      <dsp:nvSpPr>
        <dsp:cNvPr id="0" name=""/>
        <dsp:cNvSpPr/>
      </dsp:nvSpPr>
      <dsp:spPr>
        <a:xfrm>
          <a:off x="243840" y="1396620"/>
          <a:ext cx="4367905" cy="413280"/>
        </a:xfrm>
        <a:prstGeom prst="round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032" tIns="0" rIns="129032" bIns="0" numCol="1" spcCol="1270" anchor="ctr" anchorCtr="0">
          <a:noAutofit/>
        </a:bodyPr>
        <a:lstStyle/>
        <a:p>
          <a:pPr lvl="0" algn="l" defTabSz="977900">
            <a:lnSpc>
              <a:spcPct val="90000"/>
            </a:lnSpc>
            <a:spcBef>
              <a:spcPct val="0"/>
            </a:spcBef>
            <a:spcAft>
              <a:spcPct val="35000"/>
            </a:spcAft>
          </a:pPr>
          <a:r>
            <a:rPr lang="en-US" sz="2200" b="0" kern="1200" dirty="0" smtClean="0"/>
            <a:t>Reduce complexity</a:t>
          </a:r>
          <a:endParaRPr lang="en-US" sz="2200" b="0" kern="1200" dirty="0"/>
        </a:p>
      </dsp:txBody>
      <dsp:txXfrm>
        <a:off x="243840" y="1396620"/>
        <a:ext cx="4367905" cy="413280"/>
      </dsp:txXfrm>
    </dsp:sp>
    <dsp:sp modelId="{9DB1DBF4-5798-42CF-916E-AFCD2A536F11}">
      <dsp:nvSpPr>
        <dsp:cNvPr id="0" name=""/>
        <dsp:cNvSpPr/>
      </dsp:nvSpPr>
      <dsp:spPr>
        <a:xfrm>
          <a:off x="0" y="2238300"/>
          <a:ext cx="4876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31E4AC-F787-4BEF-B7AF-1350E3E4BE06}">
      <dsp:nvSpPr>
        <dsp:cNvPr id="0" name=""/>
        <dsp:cNvSpPr/>
      </dsp:nvSpPr>
      <dsp:spPr>
        <a:xfrm>
          <a:off x="243840" y="2031660"/>
          <a:ext cx="4367905" cy="413280"/>
        </a:xfrm>
        <a:prstGeom prst="roundRect">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032" tIns="0" rIns="129032" bIns="0" numCol="1" spcCol="1270" anchor="ctr" anchorCtr="0">
          <a:noAutofit/>
        </a:bodyPr>
        <a:lstStyle/>
        <a:p>
          <a:pPr lvl="0" algn="l" defTabSz="977900">
            <a:lnSpc>
              <a:spcPct val="90000"/>
            </a:lnSpc>
            <a:spcBef>
              <a:spcPct val="0"/>
            </a:spcBef>
            <a:spcAft>
              <a:spcPct val="35000"/>
            </a:spcAft>
          </a:pPr>
          <a:r>
            <a:rPr lang="en-US" sz="2200" b="0" kern="1200" dirty="0" smtClean="0"/>
            <a:t>Isolate complexity</a:t>
          </a:r>
          <a:endParaRPr lang="en-US" sz="2200" b="0" kern="1200" dirty="0"/>
        </a:p>
      </dsp:txBody>
      <dsp:txXfrm>
        <a:off x="243840" y="2031660"/>
        <a:ext cx="4367905" cy="413280"/>
      </dsp:txXfrm>
    </dsp:sp>
    <dsp:sp modelId="{8676D504-C1C2-4AB0-8B76-19CD8700F43A}">
      <dsp:nvSpPr>
        <dsp:cNvPr id="0" name=""/>
        <dsp:cNvSpPr/>
      </dsp:nvSpPr>
      <dsp:spPr>
        <a:xfrm>
          <a:off x="0" y="2873340"/>
          <a:ext cx="4876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0D66FF0-A094-45F5-9814-C8BFE1CE9B99}">
      <dsp:nvSpPr>
        <dsp:cNvPr id="0" name=""/>
        <dsp:cNvSpPr/>
      </dsp:nvSpPr>
      <dsp:spPr>
        <a:xfrm>
          <a:off x="243840" y="2666700"/>
          <a:ext cx="4367905" cy="413280"/>
        </a:xfrm>
        <a:prstGeom prst="round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032" tIns="0" rIns="129032" bIns="0" numCol="1" spcCol="1270" anchor="ctr" anchorCtr="0">
          <a:noAutofit/>
        </a:bodyPr>
        <a:lstStyle/>
        <a:p>
          <a:pPr lvl="0" algn="l" defTabSz="977900">
            <a:lnSpc>
              <a:spcPct val="90000"/>
            </a:lnSpc>
            <a:spcBef>
              <a:spcPct val="0"/>
            </a:spcBef>
            <a:spcAft>
              <a:spcPct val="35000"/>
            </a:spcAft>
          </a:pPr>
          <a:r>
            <a:rPr lang="en-US" sz="2200" b="0" kern="1200" dirty="0" smtClean="0"/>
            <a:t>Hide implementation details</a:t>
          </a:r>
          <a:endParaRPr lang="en-US" sz="2200" b="0" kern="1200" dirty="0"/>
        </a:p>
      </dsp:txBody>
      <dsp:txXfrm>
        <a:off x="243840" y="2666700"/>
        <a:ext cx="4367905" cy="413280"/>
      </dsp:txXfrm>
    </dsp:sp>
    <dsp:sp modelId="{DCDA988F-B06C-4A1F-933F-25F8550D7FEC}">
      <dsp:nvSpPr>
        <dsp:cNvPr id="0" name=""/>
        <dsp:cNvSpPr/>
      </dsp:nvSpPr>
      <dsp:spPr>
        <a:xfrm>
          <a:off x="0" y="3508380"/>
          <a:ext cx="4876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231B5A0-2D33-40EC-AC82-A7AC7A325738}">
      <dsp:nvSpPr>
        <dsp:cNvPr id="0" name=""/>
        <dsp:cNvSpPr/>
      </dsp:nvSpPr>
      <dsp:spPr>
        <a:xfrm>
          <a:off x="243840" y="3301740"/>
          <a:ext cx="4367905" cy="413280"/>
        </a:xfrm>
        <a:prstGeom prst="round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032" tIns="0" rIns="129032" bIns="0" numCol="1" spcCol="1270" anchor="ctr" anchorCtr="0">
          <a:noAutofit/>
        </a:bodyPr>
        <a:lstStyle/>
        <a:p>
          <a:pPr lvl="0" algn="l" defTabSz="977900">
            <a:lnSpc>
              <a:spcPct val="90000"/>
            </a:lnSpc>
            <a:spcBef>
              <a:spcPct val="0"/>
            </a:spcBef>
            <a:spcAft>
              <a:spcPct val="35000"/>
            </a:spcAft>
          </a:pPr>
          <a:r>
            <a:rPr lang="en-US" sz="2200" b="0" kern="1200" dirty="0" smtClean="0"/>
            <a:t>Limit effects of changes</a:t>
          </a:r>
          <a:endParaRPr lang="en-US" sz="2200" b="0" kern="1200" dirty="0"/>
        </a:p>
      </dsp:txBody>
      <dsp:txXfrm>
        <a:off x="243840" y="3301740"/>
        <a:ext cx="4367905" cy="413280"/>
      </dsp:txXfrm>
    </dsp:sp>
    <dsp:sp modelId="{1F3747BF-0CF0-4C2C-B295-A8236F629698}">
      <dsp:nvSpPr>
        <dsp:cNvPr id="0" name=""/>
        <dsp:cNvSpPr/>
      </dsp:nvSpPr>
      <dsp:spPr>
        <a:xfrm>
          <a:off x="0" y="4143420"/>
          <a:ext cx="4876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D99E22F-8E37-4097-ADB1-A4C970D3D563}">
      <dsp:nvSpPr>
        <dsp:cNvPr id="0" name=""/>
        <dsp:cNvSpPr/>
      </dsp:nvSpPr>
      <dsp:spPr>
        <a:xfrm>
          <a:off x="243840" y="3936780"/>
          <a:ext cx="4367905" cy="413280"/>
        </a:xfrm>
        <a:prstGeom prst="round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032" tIns="0" rIns="129032" bIns="0" numCol="1" spcCol="1270" anchor="ctr" anchorCtr="0">
          <a:noAutofit/>
        </a:bodyPr>
        <a:lstStyle/>
        <a:p>
          <a:pPr lvl="0" algn="l" defTabSz="977900">
            <a:lnSpc>
              <a:spcPct val="90000"/>
            </a:lnSpc>
            <a:spcBef>
              <a:spcPct val="0"/>
            </a:spcBef>
            <a:spcAft>
              <a:spcPct val="35000"/>
            </a:spcAft>
          </a:pPr>
          <a:r>
            <a:rPr lang="en-US" sz="2200" b="0" kern="1200" dirty="0" smtClean="0"/>
            <a:t>Streamline parameter passing</a:t>
          </a:r>
          <a:endParaRPr lang="en-US" sz="2200" b="0" kern="1200" dirty="0"/>
        </a:p>
      </dsp:txBody>
      <dsp:txXfrm>
        <a:off x="243840" y="3936780"/>
        <a:ext cx="4367905" cy="413280"/>
      </dsp:txXfrm>
    </dsp:sp>
    <dsp:sp modelId="{8B1AADBA-B7FA-4130-BE57-BA0FCE2B1DE5}">
      <dsp:nvSpPr>
        <dsp:cNvPr id="0" name=""/>
        <dsp:cNvSpPr/>
      </dsp:nvSpPr>
      <dsp:spPr>
        <a:xfrm>
          <a:off x="0" y="4778460"/>
          <a:ext cx="4876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14AB947-E1B8-43FD-A18F-0480D7B9941F}">
      <dsp:nvSpPr>
        <dsp:cNvPr id="0" name=""/>
        <dsp:cNvSpPr/>
      </dsp:nvSpPr>
      <dsp:spPr>
        <a:xfrm>
          <a:off x="243840" y="4571820"/>
          <a:ext cx="4367905" cy="413280"/>
        </a:xfrm>
        <a:prstGeom prst="roundRect">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032" tIns="0" rIns="129032" bIns="0" numCol="1" spcCol="1270" anchor="ctr" anchorCtr="0">
          <a:noAutofit/>
        </a:bodyPr>
        <a:lstStyle/>
        <a:p>
          <a:pPr lvl="0" algn="l" defTabSz="977900">
            <a:lnSpc>
              <a:spcPct val="90000"/>
            </a:lnSpc>
            <a:spcBef>
              <a:spcPct val="0"/>
            </a:spcBef>
            <a:spcAft>
              <a:spcPct val="35000"/>
            </a:spcAft>
          </a:pPr>
          <a:r>
            <a:rPr lang="en-US" sz="2200" b="0" kern="1200" dirty="0" smtClean="0"/>
            <a:t>Facilitate reusable code</a:t>
          </a:r>
          <a:endParaRPr lang="en-US" sz="2200" b="0" kern="1200" dirty="0"/>
        </a:p>
      </dsp:txBody>
      <dsp:txXfrm>
        <a:off x="243840" y="4571820"/>
        <a:ext cx="4367905" cy="41328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F10497B-5798-422F-BCA5-837460096250}" type="datetimeFigureOut">
              <a:rPr lang="en-US" smtClean="0"/>
              <a:pPr/>
              <a:t>4/27/2023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8FE158B-9637-4A1B-846B-D85FF16BCDB2}"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fld id="{0721B9AD-E267-41B8-AFB9-F339B3C6A571}" type="datetimeFigureOut">
              <a:rPr lang="en-US" smtClean="0"/>
              <a:pPr>
                <a:defRPr/>
              </a:pPr>
              <a:t>4/27/2023</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12FAA6B-5534-44A2-AEB6-C3AA6AD13725}"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D03B7B48-E476-4875-A0CA-B0673732DFDD}" type="datetimeFigureOut">
              <a:rPr lang="en-US" smtClean="0"/>
              <a:pPr>
                <a:defRPr/>
              </a:pPr>
              <a:t>4/27/2023</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D0A623A-42AC-4D11-AF54-DB15196F08D6}"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E8F0A2C2-9A3C-44C4-9D1F-47B44EB3EF12}" type="datetimeFigureOut">
              <a:rPr lang="en-US" smtClean="0"/>
              <a:pPr>
                <a:defRPr/>
              </a:pPr>
              <a:t>4/27/2023</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738AB1B-E996-4ECC-822F-4BC1227516D2}"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fld id="{6E352965-9852-4C5D-9CFD-AA7D7C51A3F1}" type="datetimeFigureOut">
              <a:rPr lang="en-US" smtClean="0"/>
              <a:pPr>
                <a:defRPr/>
              </a:pPr>
              <a:t>4/27/2023</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C6D760F-B2EC-4EEB-B282-45333B115766}"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fld id="{A2ABA97A-E8D3-4153-8AD9-0AC754381ACA}" type="datetimeFigureOut">
              <a:rPr lang="en-US" smtClean="0"/>
              <a:pPr>
                <a:defRPr/>
              </a:pPr>
              <a:t>4/27/2023</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D26E96F6-D03D-4FB0-942F-6504F81FF6F0}"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fld id="{60F1E0C7-1AF5-43CF-B84A-415948674BE8}" type="datetimeFigureOut">
              <a:rPr lang="en-US" smtClean="0"/>
              <a:pPr>
                <a:defRPr/>
              </a:pPr>
              <a:t>4/27/2023</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10B45132-88B8-4DDF-85A7-99B030F49BCA}"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3FF2F585-6AB3-4A98-8C00-3FB0F428366B}" type="datetimeFigureOut">
              <a:rPr lang="en-US" smtClean="0"/>
              <a:pPr>
                <a:defRPr/>
              </a:pPr>
              <a:t>4/27/2023</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BBDEE648-0B22-4684-A888-DEB1CE6260BA}"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A955A04C-D082-4B30-8565-236556BDD91C}" type="datetimeFigureOut">
              <a:rPr lang="en-US" smtClean="0"/>
              <a:pPr>
                <a:defRPr/>
              </a:pPr>
              <a:t>4/27/2023</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7D6D829-2DC4-4B7D-B12C-FDD216EF07FE}"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6E43085A-46E4-429D-86C3-B3CDAC36DAFB}" type="datetimeFigureOut">
              <a:rPr lang="en-US" smtClean="0"/>
              <a:pPr>
                <a:defRPr/>
              </a:pPr>
              <a:t>4/27/2023</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17732C7-0A09-4095-98E8-F693C2579E3C}"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9B0270D8-9F80-4CBC-9EEB-40BF8E1F9541}" type="datetimeFigureOut">
              <a:rPr lang="en-US" smtClean="0"/>
              <a:pPr>
                <a:defRPr/>
              </a:pPr>
              <a:t>4/27/2023</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46B142B-9F3F-466D-9D5E-77E7230DF7FC}"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0944C27D-6266-4BC5-9F9E-701F440BBF98}" type="datetimeFigureOut">
              <a:rPr lang="en-US" smtClean="0"/>
              <a:pPr>
                <a:defRPr/>
              </a:pPr>
              <a:t>4/27/2023</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EC74873-7D28-4297-9E3C-7A8D1F19C832}"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smtClean="0"/>
              <a:pPr>
                <a:defRPr/>
              </a:pPr>
              <a:t>4/27/2023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15.gif"/></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r>
              <a:rPr lang="en-US" sz="6000" dirty="0" smtClean="0"/>
              <a:t>Software Design Principles</a:t>
            </a:r>
          </a:p>
        </p:txBody>
      </p:sp>
      <p:sp>
        <p:nvSpPr>
          <p:cNvPr id="3" name="Subtitle 2"/>
          <p:cNvSpPr>
            <a:spLocks noGrp="1"/>
          </p:cNvSpPr>
          <p:nvPr>
            <p:ph type="subTitle" idx="1"/>
          </p:nvPr>
        </p:nvSpPr>
        <p:spPr/>
        <p:txBody>
          <a:bodyPr rtlCol="0">
            <a:normAutofit fontScale="47500" lnSpcReduction="20000"/>
          </a:bodyPr>
          <a:lstStyle/>
          <a:p>
            <a:pPr>
              <a:defRPr/>
            </a:pPr>
            <a:r>
              <a:rPr lang="en-US" sz="4400" dirty="0" smtClean="0"/>
              <a:t>Lecturer: Ngo Huy Bien</a:t>
            </a:r>
          </a:p>
          <a:p>
            <a:pPr>
              <a:defRPr/>
            </a:pPr>
            <a:r>
              <a:rPr lang="en-US" sz="3600" dirty="0" smtClean="0"/>
              <a:t>Software Engineering Department</a:t>
            </a:r>
          </a:p>
          <a:p>
            <a:pPr>
              <a:defRPr/>
            </a:pPr>
            <a:r>
              <a:rPr lang="en-US" sz="3600" dirty="0" smtClean="0"/>
              <a:t>Faculty of Information Technology</a:t>
            </a:r>
          </a:p>
          <a:p>
            <a:pPr>
              <a:defRPr/>
            </a:pPr>
            <a:r>
              <a:rPr lang="en-US" sz="3600" dirty="0" smtClean="0"/>
              <a:t>VNUHCM - University of Science</a:t>
            </a:r>
          </a:p>
          <a:p>
            <a:pPr>
              <a:defRPr/>
            </a:pPr>
            <a:r>
              <a:rPr lang="en-US" sz="3600" dirty="0" smtClean="0"/>
              <a:t>Ho Chi Minh City, Vietnam</a:t>
            </a:r>
          </a:p>
          <a:p>
            <a:pPr>
              <a:defRPr/>
            </a:pPr>
            <a:r>
              <a:rPr lang="en-US" sz="3600" dirty="0" smtClean="0">
                <a:hlinkClick r:id="rId2"/>
              </a:rPr>
              <a:t>nhbien@fit.hcmus.edu.vn</a:t>
            </a:r>
            <a:endParaRPr lang="en-US" sz="36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4495799"/>
          </a:xfrm>
        </p:spPr>
        <p:txBody>
          <a:bodyPr/>
          <a:lstStyle/>
          <a:p>
            <a:pPr>
              <a:buFont typeface="Wingdings" pitchFamily="2" charset="2"/>
              <a:buChar char="Ø"/>
            </a:pPr>
            <a:r>
              <a:rPr lang="en-US" sz="2400" dirty="0" smtClean="0"/>
              <a:t>To use software design principles to </a:t>
            </a:r>
            <a:r>
              <a:rPr lang="en-US" sz="2400" i="1" dirty="0" smtClean="0">
                <a:solidFill>
                  <a:srgbClr val="C00000"/>
                </a:solidFill>
              </a:rPr>
              <a:t>evaluate</a:t>
            </a:r>
            <a:r>
              <a:rPr lang="en-US" sz="2400" dirty="0" smtClean="0"/>
              <a:t> a design.</a:t>
            </a: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5867400" y="2819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Object Creation.</a:t>
            </a:r>
          </a:p>
          <a:p>
            <a:pPr marL="571500" indent="-571500">
              <a:buFont typeface="+mj-lt"/>
              <a:buAutoNum type="romanUcPeriod"/>
            </a:pPr>
            <a:r>
              <a:rPr lang="en-US" sz="2400" dirty="0" smtClean="0"/>
              <a:t>The Single Responsibility </a:t>
            </a:r>
            <a:r>
              <a:rPr lang="en-US" sz="2400" dirty="0" smtClean="0"/>
              <a:t>Principle.</a:t>
            </a:r>
          </a:p>
          <a:p>
            <a:pPr marL="571500" indent="-571500">
              <a:buFont typeface="+mj-lt"/>
              <a:buAutoNum type="romanUcPeriod"/>
            </a:pPr>
            <a:r>
              <a:rPr lang="en-US" sz="2400" dirty="0" smtClean="0"/>
              <a:t>The Open/Closed </a:t>
            </a:r>
            <a:r>
              <a:rPr lang="en-US" sz="2400" dirty="0" smtClean="0"/>
              <a:t>Principle.</a:t>
            </a:r>
          </a:p>
          <a:p>
            <a:pPr marL="571500" indent="-571500">
              <a:buFont typeface="+mj-lt"/>
              <a:buAutoNum type="romanUcPeriod"/>
            </a:pPr>
            <a:r>
              <a:rPr lang="en-US" sz="2400" dirty="0" smtClean="0"/>
              <a:t>The </a:t>
            </a:r>
            <a:r>
              <a:rPr lang="en-US" sz="2400" dirty="0" err="1" smtClean="0"/>
              <a:t>Liskov</a:t>
            </a:r>
            <a:r>
              <a:rPr lang="en-US" sz="2400" dirty="0" smtClean="0"/>
              <a:t> Substitution </a:t>
            </a:r>
            <a:r>
              <a:rPr lang="en-US" sz="2400" dirty="0" smtClean="0"/>
              <a:t>Principle.</a:t>
            </a:r>
          </a:p>
          <a:p>
            <a:pPr marL="571500" indent="-571500">
              <a:buFont typeface="+mj-lt"/>
              <a:buAutoNum type="romanUcPeriod"/>
            </a:pPr>
            <a:r>
              <a:rPr lang="en-US" sz="2400" dirty="0" smtClean="0"/>
              <a:t>The Dependency Inversion </a:t>
            </a:r>
            <a:r>
              <a:rPr lang="en-US" sz="2400" dirty="0" smtClean="0"/>
              <a:t>Principle.</a:t>
            </a:r>
          </a:p>
          <a:p>
            <a:pPr marL="571500" indent="-571500">
              <a:buFont typeface="+mj-lt"/>
              <a:buAutoNum type="romanUcPeriod"/>
            </a:pPr>
            <a:r>
              <a:rPr lang="en-US" sz="2400" dirty="0" smtClean="0"/>
              <a:t>The Law of Demeter </a:t>
            </a:r>
            <a:r>
              <a:rPr lang="en-US" sz="2400" dirty="0" smtClean="0"/>
              <a:t>Principle.</a:t>
            </a:r>
          </a:p>
          <a:p>
            <a:pPr marL="571500" indent="-571500">
              <a:buFont typeface="+mj-lt"/>
              <a:buAutoNum type="romanUcPeriod"/>
            </a:pPr>
            <a:r>
              <a:rPr lang="en-US" sz="2400" dirty="0" smtClean="0"/>
              <a:t>GRASP.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sp>
        <p:nvSpPr>
          <p:cNvPr id="3" name="Content Placeholder 2"/>
          <p:cNvSpPr>
            <a:spLocks noGrp="1"/>
          </p:cNvSpPr>
          <p:nvPr>
            <p:ph idx="1"/>
          </p:nvPr>
        </p:nvSpPr>
        <p:spPr>
          <a:xfrm>
            <a:off x="457200" y="1600200"/>
            <a:ext cx="5410200" cy="4525963"/>
          </a:xfrm>
        </p:spPr>
        <p:txBody>
          <a:bodyPr>
            <a:noAutofit/>
          </a:bodyPr>
          <a:lstStyle/>
          <a:p>
            <a:pPr marL="457200" indent="-457200">
              <a:buFont typeface="+mj-lt"/>
              <a:buAutoNum type="arabicPeriod"/>
            </a:pPr>
            <a:r>
              <a:rPr lang="en-US" sz="1600" dirty="0" smtClean="0"/>
              <a:t>Robert C. Martin (2000). Design Principles and Design Patterns.</a:t>
            </a:r>
          </a:p>
          <a:p>
            <a:pPr marL="457200" indent="-457200">
              <a:buFont typeface="+mj-lt"/>
              <a:buAutoNum type="arabicPeriod"/>
            </a:pPr>
            <a:r>
              <a:rPr lang="en-US" sz="1600" dirty="0" smtClean="0"/>
              <a:t>Steve McConnell (2004). Code Complete, Second Edition.</a:t>
            </a:r>
          </a:p>
          <a:p>
            <a:pPr marL="457200" indent="-457200">
              <a:buFont typeface="+mj-lt"/>
              <a:buAutoNum type="arabicPeriod"/>
            </a:pPr>
            <a:r>
              <a:rPr lang="en-US" sz="1600" dirty="0" smtClean="0"/>
              <a:t>Robert C. Martin (2003). Agile Software Development: Principles, Patterns, and Practices. Pearson.</a:t>
            </a:r>
          </a:p>
          <a:p>
            <a:pPr marL="457200" indent="-457200">
              <a:buFont typeface="+mj-lt"/>
              <a:buAutoNum type="arabicPeriod"/>
            </a:pPr>
            <a:r>
              <a:rPr lang="en-US" sz="1600" dirty="0" smtClean="0"/>
              <a:t>Robert C. Martin (2017). Clean Architecture - A Craftsman’s Guide to Software Structure and Design. Pearson Education.</a:t>
            </a:r>
          </a:p>
          <a:p>
            <a:pPr marL="457200" indent="-457200">
              <a:buFont typeface="+mj-lt"/>
              <a:buAutoNum type="arabicPeriod"/>
            </a:pPr>
            <a:r>
              <a:rPr lang="en-US" sz="1600" dirty="0" smtClean="0"/>
              <a:t>Gary McLean Hall (2014). Adaptive Code via C#: Agile Coding with Design Patterns and SOLID Principles. Microsoft Press.</a:t>
            </a:r>
          </a:p>
          <a:p>
            <a:pPr marL="457200" indent="-457200">
              <a:buFont typeface="+mj-lt"/>
              <a:buAutoNum type="arabicPeriod"/>
            </a:pPr>
            <a:r>
              <a:rPr lang="en-US" sz="1600" dirty="0" smtClean="0"/>
              <a:t>Craig </a:t>
            </a:r>
            <a:r>
              <a:rPr lang="en-US" sz="1600" dirty="0" err="1" smtClean="0"/>
              <a:t>Larman</a:t>
            </a:r>
            <a:r>
              <a:rPr lang="en-US" sz="1600" dirty="0" smtClean="0"/>
              <a:t> (2004). Applying UML And Patterns. 3rd Edition. Prentice Hall.</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Software Design Principles?</a:t>
            </a:r>
            <a:endParaRPr lang="en-US" dirty="0"/>
          </a:p>
        </p:txBody>
      </p:sp>
      <p:pic>
        <p:nvPicPr>
          <p:cNvPr id="69635" name="Picture 3"/>
          <p:cNvPicPr>
            <a:picLocks noChangeAspect="1" noChangeArrowheads="1"/>
          </p:cNvPicPr>
          <p:nvPr/>
        </p:nvPicPr>
        <p:blipFill>
          <a:blip r:embed="rId2" cstate="print"/>
          <a:srcRect/>
          <a:stretch>
            <a:fillRect/>
          </a:stretch>
        </p:blipFill>
        <p:spPr bwMode="auto">
          <a:xfrm>
            <a:off x="1052513" y="1552575"/>
            <a:ext cx="7038975" cy="469582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Symptoms of Rotting Design [1]</a:t>
            </a:r>
            <a:endParaRPr lang="en-US" dirty="0"/>
          </a:p>
        </p:txBody>
      </p:sp>
      <p:sp>
        <p:nvSpPr>
          <p:cNvPr id="3" name="Content Placeholder 2"/>
          <p:cNvSpPr>
            <a:spLocks noGrp="1"/>
          </p:cNvSpPr>
          <p:nvPr>
            <p:ph idx="1"/>
          </p:nvPr>
        </p:nvSpPr>
        <p:spPr/>
        <p:txBody>
          <a:bodyPr>
            <a:normAutofit/>
          </a:bodyPr>
          <a:lstStyle/>
          <a:p>
            <a:r>
              <a:rPr lang="en-US" sz="2400" i="1" dirty="0" smtClean="0">
                <a:solidFill>
                  <a:srgbClr val="C00000"/>
                </a:solidFill>
              </a:rPr>
              <a:t>Rigidity</a:t>
            </a:r>
            <a:r>
              <a:rPr lang="en-US" sz="2400" dirty="0" smtClean="0"/>
              <a:t> is the tendency for software to be </a:t>
            </a:r>
            <a:r>
              <a:rPr lang="en-US" sz="2400" u="sng" dirty="0" smtClean="0"/>
              <a:t>difficult to change</a:t>
            </a:r>
            <a:r>
              <a:rPr lang="en-US" sz="2400" dirty="0" smtClean="0"/>
              <a:t>, even in simple ways.</a:t>
            </a:r>
          </a:p>
          <a:p>
            <a:r>
              <a:rPr lang="en-US" sz="2400" i="1" dirty="0" smtClean="0">
                <a:solidFill>
                  <a:srgbClr val="C00000"/>
                </a:solidFill>
              </a:rPr>
              <a:t>Fragility</a:t>
            </a:r>
            <a:r>
              <a:rPr lang="en-US" sz="2400" dirty="0" smtClean="0"/>
              <a:t> is the tendency of the software to </a:t>
            </a:r>
            <a:r>
              <a:rPr lang="en-US" sz="2400" u="sng" dirty="0" smtClean="0"/>
              <a:t>break</a:t>
            </a:r>
            <a:r>
              <a:rPr lang="en-US" sz="2400" dirty="0" smtClean="0"/>
              <a:t> in many places every time it is changed.</a:t>
            </a:r>
          </a:p>
          <a:p>
            <a:r>
              <a:rPr lang="en-US" sz="2400" i="1" dirty="0" smtClean="0">
                <a:solidFill>
                  <a:srgbClr val="C00000"/>
                </a:solidFill>
              </a:rPr>
              <a:t>Immobility</a:t>
            </a:r>
            <a:r>
              <a:rPr lang="en-US" sz="2400" dirty="0" smtClean="0"/>
              <a:t> is the </a:t>
            </a:r>
            <a:r>
              <a:rPr lang="en-US" sz="2400" u="sng" dirty="0" smtClean="0"/>
              <a:t>inability to reuse</a:t>
            </a:r>
            <a:r>
              <a:rPr lang="en-US" sz="2400" dirty="0" smtClean="0"/>
              <a:t> software from other projects or from parts of the same project.</a:t>
            </a:r>
          </a:p>
          <a:p>
            <a:r>
              <a:rPr lang="en-US" sz="2400" dirty="0" smtClean="0"/>
              <a:t>When the design preserving methods are </a:t>
            </a:r>
            <a:r>
              <a:rPr lang="en-US" sz="2400" u="sng" dirty="0" smtClean="0"/>
              <a:t>harder to employ than the hacks</a:t>
            </a:r>
            <a:r>
              <a:rPr lang="en-US" sz="2400" dirty="0" smtClean="0"/>
              <a:t>, then the </a:t>
            </a:r>
            <a:r>
              <a:rPr lang="en-US" sz="2400" i="1" dirty="0" smtClean="0">
                <a:solidFill>
                  <a:srgbClr val="C00000"/>
                </a:solidFill>
              </a:rPr>
              <a:t>viscosity of the design</a:t>
            </a:r>
            <a:r>
              <a:rPr lang="en-US" sz="2400" dirty="0" smtClean="0"/>
              <a:t> is high.</a:t>
            </a:r>
          </a:p>
          <a:p>
            <a:r>
              <a:rPr lang="en-US" sz="2400" i="1" dirty="0" smtClean="0">
                <a:solidFill>
                  <a:srgbClr val="C00000"/>
                </a:solidFill>
              </a:rPr>
              <a:t>Viscosity of environment</a:t>
            </a:r>
            <a:r>
              <a:rPr lang="en-US" sz="2400" dirty="0" smtClean="0"/>
              <a:t> comes about when the </a:t>
            </a:r>
            <a:r>
              <a:rPr lang="en-US" sz="2400" u="sng" dirty="0" smtClean="0"/>
              <a:t>development environment is slow</a:t>
            </a:r>
            <a:r>
              <a:rPr lang="en-US" sz="2400" dirty="0" smtClean="0"/>
              <a:t> and inefficient.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to Create a New Class? [2]</a:t>
            </a:r>
            <a:endParaRPr lang="en-US" dirty="0"/>
          </a:p>
        </p:txBody>
      </p:sp>
      <p:graphicFrame>
        <p:nvGraphicFramePr>
          <p:cNvPr id="5" name="Diagram 4"/>
          <p:cNvGraphicFramePr/>
          <p:nvPr/>
        </p:nvGraphicFramePr>
        <p:xfrm>
          <a:off x="228600" y="1371600"/>
          <a:ext cx="48768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148" name="Picture 4"/>
          <p:cNvPicPr>
            <a:picLocks noChangeAspect="1" noChangeArrowheads="1"/>
          </p:cNvPicPr>
          <p:nvPr/>
        </p:nvPicPr>
        <p:blipFill>
          <a:blip r:embed="rId7" cstate="print"/>
          <a:srcRect/>
          <a:stretch>
            <a:fillRect/>
          </a:stretch>
        </p:blipFill>
        <p:spPr bwMode="auto">
          <a:xfrm>
            <a:off x="5257800" y="2971800"/>
            <a:ext cx="3732190" cy="24765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sz="4000" dirty="0" smtClean="0"/>
              <a:t>The Single Responsibility Principle [3]</a:t>
            </a:r>
            <a:endParaRPr lang="en-US" sz="4000" dirty="0"/>
          </a:p>
        </p:txBody>
      </p:sp>
      <p:sp>
        <p:nvSpPr>
          <p:cNvPr id="7" name="Rounded Rectangle 4"/>
          <p:cNvSpPr/>
          <p:nvPr/>
        </p:nvSpPr>
        <p:spPr>
          <a:xfrm>
            <a:off x="1676400" y="1600200"/>
            <a:ext cx="6019801" cy="533400"/>
          </a:xfrm>
          <a:prstGeom prst="rect">
            <a:avLst/>
          </a:prstGeom>
          <a:solidFill>
            <a:schemeClr val="accent1"/>
          </a:solidFill>
        </p:spPr>
        <p:style>
          <a:lnRef idx="0">
            <a:scrgbClr r="0" g="0" b="0"/>
          </a:lnRef>
          <a:fillRef idx="0">
            <a:scrgbClr r="0" g="0" b="0"/>
          </a:fillRef>
          <a:effectRef idx="0">
            <a:scrgbClr r="0" g="0" b="0"/>
          </a:effectRef>
          <a:fontRef idx="minor">
            <a:schemeClr val="lt1"/>
          </a:fontRef>
        </p:style>
        <p:txBody>
          <a:bodyPr spcFirstLastPara="0" vert="horz" wrap="square" lIns="213709" tIns="0" rIns="213709" bIns="0" numCol="1" spcCol="1270" anchor="ctr" anchorCtr="0">
            <a:noAutofit/>
          </a:bodyPr>
          <a:lstStyle/>
          <a:p>
            <a:pPr lvl="0" algn="ctr" defTabSz="800100">
              <a:lnSpc>
                <a:spcPct val="90000"/>
              </a:lnSpc>
              <a:spcAft>
                <a:spcPct val="35000"/>
              </a:spcAft>
            </a:pPr>
            <a:r>
              <a:rPr lang="en-US" sz="2200" dirty="0" smtClean="0"/>
              <a:t>A class should have only </a:t>
            </a:r>
            <a:r>
              <a:rPr lang="en-US" sz="2200" u="sng" dirty="0" smtClean="0"/>
              <a:t>one reason to change</a:t>
            </a:r>
            <a:r>
              <a:rPr lang="en-US" sz="2200" dirty="0" smtClean="0"/>
              <a:t>.</a:t>
            </a:r>
            <a:endParaRPr lang="en-US" sz="2200" dirty="0"/>
          </a:p>
        </p:txBody>
      </p:sp>
      <p:sp>
        <p:nvSpPr>
          <p:cNvPr id="35842" name="AutoShape 2" descr="mk:@MSITStore:G:\Agile%20Principles,%20Patterns,%20and%20Practices%20in%20CSharp.chm::/0131857258/images/8_1_alt.jp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5845" name="Picture 5"/>
          <p:cNvPicPr>
            <a:picLocks noChangeAspect="1" noChangeArrowheads="1"/>
          </p:cNvPicPr>
          <p:nvPr/>
        </p:nvPicPr>
        <p:blipFill>
          <a:blip r:embed="rId2" cstate="print"/>
          <a:srcRect/>
          <a:stretch>
            <a:fillRect/>
          </a:stretch>
        </p:blipFill>
        <p:spPr bwMode="auto">
          <a:xfrm>
            <a:off x="6934200" y="2590800"/>
            <a:ext cx="2000250" cy="2000250"/>
          </a:xfrm>
          <a:prstGeom prst="rect">
            <a:avLst/>
          </a:prstGeom>
          <a:noFill/>
          <a:ln w="9525">
            <a:noFill/>
            <a:miter lim="800000"/>
            <a:headEnd/>
            <a:tailEnd/>
          </a:ln>
          <a:effectLst/>
        </p:spPr>
      </p:pic>
      <p:pic>
        <p:nvPicPr>
          <p:cNvPr id="9" name="Picture 4"/>
          <p:cNvPicPr>
            <a:picLocks noChangeAspect="1" noChangeArrowheads="1"/>
          </p:cNvPicPr>
          <p:nvPr/>
        </p:nvPicPr>
        <p:blipFill>
          <a:blip r:embed="rId3" cstate="print"/>
          <a:srcRect/>
          <a:stretch>
            <a:fillRect/>
          </a:stretch>
        </p:blipFill>
        <p:spPr bwMode="auto">
          <a:xfrm>
            <a:off x="304800" y="2438400"/>
            <a:ext cx="6486525" cy="2085975"/>
          </a:xfrm>
          <a:prstGeom prst="rect">
            <a:avLst/>
          </a:prstGeom>
          <a:noFill/>
          <a:ln w="9525">
            <a:noFill/>
            <a:miter lim="800000"/>
            <a:headEnd/>
            <a:tailEnd/>
          </a:ln>
        </p:spPr>
      </p:pic>
      <p:sp>
        <p:nvSpPr>
          <p:cNvPr id="10" name="Content Placeholder 2"/>
          <p:cNvSpPr txBox="1">
            <a:spLocks/>
          </p:cNvSpPr>
          <p:nvPr/>
        </p:nvSpPr>
        <p:spPr>
          <a:xfrm>
            <a:off x="304800" y="4724400"/>
            <a:ext cx="8229600" cy="1752600"/>
          </a:xfrm>
          <a:prstGeom prst="rect">
            <a:avLst/>
          </a:prstGeom>
        </p:spPr>
        <p:txBody>
          <a:bodyPr>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first responsibility is to provide a </a:t>
            </a:r>
            <a:r>
              <a:rPr kumimoji="0" lang="en-US" sz="2400" b="0" i="1" u="none" strike="noStrike" kern="1200" cap="none" spc="0" normalizeH="0" baseline="0" noProof="0" dirty="0" smtClean="0">
                <a:ln>
                  <a:noFill/>
                </a:ln>
                <a:solidFill>
                  <a:srgbClr val="C00000"/>
                </a:solidFill>
                <a:effectLst/>
                <a:uLnTx/>
                <a:uFillTx/>
                <a:latin typeface="+mn-lt"/>
                <a:ea typeface="+mn-ea"/>
                <a:cs typeface="+mn-cs"/>
              </a:rPr>
              <a:t>mathematical model</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of </a:t>
            </a:r>
            <a:r>
              <a:rPr kumimoji="0" lang="en-US" sz="2400" b="0" i="0" u="sng" strike="noStrike" kern="1200" cap="none" spc="0" normalizeH="0" baseline="0" noProof="0" dirty="0" smtClean="0">
                <a:ln>
                  <a:noFill/>
                </a:ln>
                <a:solidFill>
                  <a:schemeClr val="tx1"/>
                </a:solidFill>
                <a:effectLst/>
                <a:uLnTx/>
                <a:uFillTx/>
                <a:latin typeface="+mn-lt"/>
                <a:ea typeface="+mn-ea"/>
                <a:cs typeface="+mn-cs"/>
              </a:rPr>
              <a:t>the geometry</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of a rectangle.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second responsibility is to </a:t>
            </a:r>
            <a:r>
              <a:rPr kumimoji="0" lang="en-US" sz="2400" b="0" i="1" u="none" strike="noStrike" kern="1200" cap="none" spc="0" normalizeH="0" baseline="0" noProof="0" dirty="0" smtClean="0">
                <a:ln>
                  <a:noFill/>
                </a:ln>
                <a:solidFill>
                  <a:srgbClr val="C00000"/>
                </a:solidFill>
                <a:effectLst/>
                <a:uLnTx/>
                <a:uFillTx/>
                <a:latin typeface="+mn-lt"/>
                <a:ea typeface="+mn-ea"/>
                <a:cs typeface="+mn-cs"/>
              </a:rPr>
              <a:t>render</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the rectangle on a </a:t>
            </a:r>
            <a:r>
              <a:rPr kumimoji="0" lang="en-US" sz="2400" b="0" i="0" u="sng" strike="noStrike" kern="1200" cap="none" spc="0" normalizeH="0" baseline="0" noProof="0" dirty="0" smtClean="0">
                <a:ln>
                  <a:noFill/>
                </a:ln>
                <a:solidFill>
                  <a:schemeClr val="tx1"/>
                </a:solidFill>
                <a:effectLst/>
                <a:uLnTx/>
                <a:uFillTx/>
                <a:latin typeface="+mn-lt"/>
                <a:ea typeface="+mn-ea"/>
                <a:cs typeface="+mn-cs"/>
              </a:rPr>
              <a:t>graphical user interface</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a:t>
            </a:r>
          </a:p>
        </p:txBody>
      </p:sp>
      <p:cxnSp>
        <p:nvCxnSpPr>
          <p:cNvPr id="13" name="Straight Arrow Connector 12"/>
          <p:cNvCxnSpPr/>
          <p:nvPr/>
        </p:nvCxnSpPr>
        <p:spPr>
          <a:xfrm>
            <a:off x="1524000" y="3200400"/>
            <a:ext cx="1600200" cy="762000"/>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pic>
        <p:nvPicPr>
          <p:cNvPr id="116738" name="Picture 2" descr="https://upload.wikimedia.org/wikipedia/commons/thumb/b/bc/Commons-emblem-issue.svg/1000px-Commons-emblem-issue.svg.png"/>
          <p:cNvPicPr>
            <a:picLocks noChangeAspect="1" noChangeArrowheads="1"/>
          </p:cNvPicPr>
          <p:nvPr/>
        </p:nvPicPr>
        <p:blipFill>
          <a:blip r:embed="rId4" cstate="print"/>
          <a:srcRect/>
          <a:stretch>
            <a:fillRect/>
          </a:stretch>
        </p:blipFill>
        <p:spPr bwMode="auto">
          <a:xfrm>
            <a:off x="1600201" y="3200401"/>
            <a:ext cx="1200831" cy="1200831"/>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a:t>
            </a:r>
            <a:endParaRPr lang="en-US" dirty="0"/>
          </a:p>
        </p:txBody>
      </p:sp>
      <p:sp>
        <p:nvSpPr>
          <p:cNvPr id="3" name="Content Placeholder 2"/>
          <p:cNvSpPr>
            <a:spLocks noGrp="1"/>
          </p:cNvSpPr>
          <p:nvPr>
            <p:ph idx="1"/>
          </p:nvPr>
        </p:nvSpPr>
        <p:spPr>
          <a:xfrm>
            <a:off x="457200" y="1524000"/>
            <a:ext cx="8229600" cy="2743200"/>
          </a:xfrm>
        </p:spPr>
        <p:txBody>
          <a:bodyPr>
            <a:noAutofit/>
          </a:bodyPr>
          <a:lstStyle/>
          <a:p>
            <a:r>
              <a:rPr lang="en-US" sz="2400" dirty="0" smtClean="0"/>
              <a:t>We must </a:t>
            </a:r>
            <a:r>
              <a:rPr lang="en-US" sz="2400" i="1" dirty="0" smtClean="0">
                <a:solidFill>
                  <a:srgbClr val="C00000"/>
                </a:solidFill>
              </a:rPr>
              <a:t>include the GUI</a:t>
            </a:r>
            <a:r>
              <a:rPr lang="en-US" sz="2400" dirty="0" smtClean="0"/>
              <a:t> in the computational geometry application.</a:t>
            </a:r>
          </a:p>
          <a:p>
            <a:r>
              <a:rPr lang="en-US" sz="2400" dirty="0" smtClean="0"/>
              <a:t>If a </a:t>
            </a:r>
            <a:r>
              <a:rPr lang="en-US" sz="2400" i="1" dirty="0" smtClean="0">
                <a:solidFill>
                  <a:srgbClr val="C00000"/>
                </a:solidFill>
              </a:rPr>
              <a:t>change to the Graphical Application</a:t>
            </a:r>
            <a:r>
              <a:rPr lang="en-US" sz="2400" dirty="0" smtClean="0"/>
              <a:t> causes the Rectangle to change for some reason, that change may force us to rebuild, retest, and redeploy the Computational Geometry Application. If we forget to do this, that application may break in unpredictable ways.</a:t>
            </a:r>
          </a:p>
        </p:txBody>
      </p:sp>
      <p:pic>
        <p:nvPicPr>
          <p:cNvPr id="5" name="Picture 4"/>
          <p:cNvPicPr>
            <a:picLocks noChangeAspect="1" noChangeArrowheads="1"/>
          </p:cNvPicPr>
          <p:nvPr/>
        </p:nvPicPr>
        <p:blipFill>
          <a:blip r:embed="rId2" cstate="print"/>
          <a:srcRect/>
          <a:stretch>
            <a:fillRect/>
          </a:stretch>
        </p:blipFill>
        <p:spPr bwMode="auto">
          <a:xfrm>
            <a:off x="1371600" y="4343400"/>
            <a:ext cx="6486525" cy="2085975"/>
          </a:xfrm>
          <a:prstGeom prst="rect">
            <a:avLst/>
          </a:prstGeom>
          <a:noFill/>
          <a:ln w="9525">
            <a:noFill/>
            <a:miter lim="800000"/>
            <a:headEnd/>
            <a:tailEnd/>
          </a:ln>
        </p:spPr>
      </p:pic>
      <p:cxnSp>
        <p:nvCxnSpPr>
          <p:cNvPr id="6" name="Straight Arrow Connector 5"/>
          <p:cNvCxnSpPr/>
          <p:nvPr/>
        </p:nvCxnSpPr>
        <p:spPr>
          <a:xfrm>
            <a:off x="2590800" y="5105400"/>
            <a:ext cx="1600200" cy="762000"/>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pic>
        <p:nvPicPr>
          <p:cNvPr id="7" name="Picture 2" descr="https://upload.wikimedia.org/wikipedia/commons/thumb/b/bc/Commons-emblem-issue.svg/1000px-Commons-emblem-issue.svg.png"/>
          <p:cNvPicPr>
            <a:picLocks noChangeAspect="1" noChangeArrowheads="1"/>
          </p:cNvPicPr>
          <p:nvPr/>
        </p:nvPicPr>
        <p:blipFill>
          <a:blip r:embed="rId3" cstate="print"/>
          <a:srcRect/>
          <a:stretch>
            <a:fillRect/>
          </a:stretch>
        </p:blipFill>
        <p:spPr bwMode="auto">
          <a:xfrm>
            <a:off x="2667001" y="5105401"/>
            <a:ext cx="1200831" cy="1200831"/>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Solution</a:t>
            </a:r>
            <a:endParaRPr lang="en-US" dirty="0"/>
          </a:p>
        </p:txBody>
      </p:sp>
      <p:sp>
        <p:nvSpPr>
          <p:cNvPr id="3" name="Content Placeholder 2"/>
          <p:cNvSpPr>
            <a:spLocks noGrp="1"/>
          </p:cNvSpPr>
          <p:nvPr>
            <p:ph idx="1"/>
          </p:nvPr>
        </p:nvSpPr>
        <p:spPr>
          <a:xfrm>
            <a:off x="457200" y="1524000"/>
            <a:ext cx="8229600" cy="2743200"/>
          </a:xfrm>
        </p:spPr>
        <p:txBody>
          <a:bodyPr>
            <a:noAutofit/>
          </a:bodyPr>
          <a:lstStyle/>
          <a:p>
            <a:r>
              <a:rPr lang="en-US" sz="2400" dirty="0" smtClean="0"/>
              <a:t>We must </a:t>
            </a:r>
            <a:r>
              <a:rPr lang="en-US" sz="2400" i="1" dirty="0" smtClean="0">
                <a:solidFill>
                  <a:srgbClr val="C00000"/>
                </a:solidFill>
              </a:rPr>
              <a:t>include the GUI</a:t>
            </a:r>
            <a:r>
              <a:rPr lang="en-US" sz="2400" dirty="0" smtClean="0"/>
              <a:t> in the computational geometry application.</a:t>
            </a:r>
          </a:p>
          <a:p>
            <a:r>
              <a:rPr lang="en-US" sz="2400" dirty="0" smtClean="0"/>
              <a:t>If a </a:t>
            </a:r>
            <a:r>
              <a:rPr lang="en-US" sz="2400" i="1" dirty="0" smtClean="0">
                <a:solidFill>
                  <a:srgbClr val="C00000"/>
                </a:solidFill>
              </a:rPr>
              <a:t>change to the Graphical Application</a:t>
            </a:r>
            <a:r>
              <a:rPr lang="en-US" sz="2400" dirty="0" smtClean="0"/>
              <a:t> causes the Rectangle to change for some reason, that change may force us to rebuild, retest, and redeploy the Computational Geometry Application. If we forget to do this, that application may break in unpredictable ways.</a:t>
            </a:r>
          </a:p>
        </p:txBody>
      </p:sp>
      <p:pic>
        <p:nvPicPr>
          <p:cNvPr id="82947" name="Picture 3"/>
          <p:cNvPicPr>
            <a:picLocks noChangeAspect="1" noChangeArrowheads="1"/>
          </p:cNvPicPr>
          <p:nvPr/>
        </p:nvPicPr>
        <p:blipFill>
          <a:blip r:embed="rId2" cstate="print"/>
          <a:srcRect/>
          <a:stretch>
            <a:fillRect/>
          </a:stretch>
        </p:blipFill>
        <p:spPr bwMode="auto">
          <a:xfrm>
            <a:off x="2057400" y="4400550"/>
            <a:ext cx="5181600" cy="222885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Another Version of the SRP [4]</a:t>
            </a:r>
            <a:endParaRPr lang="en-US" dirty="0"/>
          </a:p>
        </p:txBody>
      </p:sp>
      <p:sp>
        <p:nvSpPr>
          <p:cNvPr id="3" name="Content Placeholder 2"/>
          <p:cNvSpPr>
            <a:spLocks noGrp="1"/>
          </p:cNvSpPr>
          <p:nvPr>
            <p:ph idx="1"/>
          </p:nvPr>
        </p:nvSpPr>
        <p:spPr/>
        <p:txBody>
          <a:bodyPr>
            <a:normAutofit/>
          </a:bodyPr>
          <a:lstStyle/>
          <a:p>
            <a:r>
              <a:rPr lang="en-US" sz="2400" dirty="0" smtClean="0"/>
              <a:t>A module should be responsible to </a:t>
            </a:r>
            <a:r>
              <a:rPr lang="en-US" sz="2400" i="1" dirty="0" smtClean="0">
                <a:solidFill>
                  <a:srgbClr val="C00000"/>
                </a:solidFill>
              </a:rPr>
              <a:t>one</a:t>
            </a:r>
            <a:r>
              <a:rPr lang="en-US" sz="2400" dirty="0" smtClean="0"/>
              <a:t>, and </a:t>
            </a:r>
            <a:r>
              <a:rPr lang="en-US" sz="2400" i="1" dirty="0" smtClean="0">
                <a:solidFill>
                  <a:srgbClr val="C00000"/>
                </a:solidFill>
              </a:rPr>
              <a:t>only one</a:t>
            </a:r>
            <a:r>
              <a:rPr lang="en-US" sz="2400" dirty="0" smtClean="0"/>
              <a:t>, </a:t>
            </a:r>
            <a:r>
              <a:rPr lang="en-US" sz="2400" i="1" dirty="0" smtClean="0">
                <a:solidFill>
                  <a:srgbClr val="C00000"/>
                </a:solidFill>
              </a:rPr>
              <a:t>actor</a:t>
            </a:r>
            <a:r>
              <a:rPr lang="en-US" sz="2400" dirty="0" smtClean="0"/>
              <a:t>.</a:t>
            </a:r>
            <a:endParaRPr lang="en-US" sz="2400" dirty="0"/>
          </a:p>
        </p:txBody>
      </p:sp>
      <p:pic>
        <p:nvPicPr>
          <p:cNvPr id="144386" name="Picture 2"/>
          <p:cNvPicPr>
            <a:picLocks noChangeAspect="1" noChangeArrowheads="1"/>
          </p:cNvPicPr>
          <p:nvPr/>
        </p:nvPicPr>
        <p:blipFill>
          <a:blip r:embed="rId2" cstate="print"/>
          <a:srcRect/>
          <a:stretch>
            <a:fillRect/>
          </a:stretch>
        </p:blipFill>
        <p:spPr bwMode="auto">
          <a:xfrm>
            <a:off x="533400" y="2590800"/>
            <a:ext cx="4438650" cy="3025140"/>
          </a:xfrm>
          <a:prstGeom prst="rect">
            <a:avLst/>
          </a:prstGeom>
          <a:noFill/>
          <a:ln w="9525">
            <a:noFill/>
            <a:miter lim="800000"/>
            <a:headEnd/>
            <a:tailEnd/>
          </a:ln>
        </p:spPr>
      </p:pic>
      <p:sp>
        <p:nvSpPr>
          <p:cNvPr id="5" name="Rectangle 4"/>
          <p:cNvSpPr/>
          <p:nvPr/>
        </p:nvSpPr>
        <p:spPr>
          <a:xfrm>
            <a:off x="4876800" y="2286000"/>
            <a:ext cx="3962400" cy="424731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342900" indent="-342900">
              <a:buFont typeface="Arial" pitchFamily="34" charset="0"/>
              <a:buChar char="•"/>
            </a:pPr>
            <a:r>
              <a:rPr lang="en-US" dirty="0" smtClean="0"/>
              <a:t>This class violates the SRP because those three methods are responsible to three very different actors.</a:t>
            </a:r>
          </a:p>
          <a:p>
            <a:pPr marL="800100" lvl="1" indent="-342900">
              <a:buFont typeface="Arial" pitchFamily="34" charset="0"/>
              <a:buChar char="•"/>
            </a:pPr>
            <a:r>
              <a:rPr lang="en-US" dirty="0" smtClean="0"/>
              <a:t>The </a:t>
            </a:r>
            <a:r>
              <a:rPr lang="en-US" b="1" dirty="0" err="1" smtClean="0">
                <a:latin typeface="Consolas" pitchFamily="49" charset="0"/>
              </a:rPr>
              <a:t>calculatePay</a:t>
            </a:r>
            <a:r>
              <a:rPr lang="en-US" b="1" dirty="0" smtClean="0">
                <a:latin typeface="Consolas" pitchFamily="49" charset="0"/>
              </a:rPr>
              <a:t>()</a:t>
            </a:r>
            <a:r>
              <a:rPr lang="en-US" dirty="0" smtClean="0"/>
              <a:t> method is specified by the accounting department, which reports to the CFO.</a:t>
            </a:r>
          </a:p>
          <a:p>
            <a:pPr marL="800100" lvl="1" indent="-342900">
              <a:buFont typeface="Arial" pitchFamily="34" charset="0"/>
              <a:buChar char="•"/>
            </a:pPr>
            <a:r>
              <a:rPr lang="en-US" dirty="0" smtClean="0"/>
              <a:t>The </a:t>
            </a:r>
            <a:r>
              <a:rPr lang="en-US" b="1" dirty="0" err="1" smtClean="0">
                <a:latin typeface="Consolas" pitchFamily="49" charset="0"/>
              </a:rPr>
              <a:t>reportHours</a:t>
            </a:r>
            <a:r>
              <a:rPr lang="en-US" b="1" dirty="0" smtClean="0">
                <a:latin typeface="Consolas" pitchFamily="49" charset="0"/>
              </a:rPr>
              <a:t>()</a:t>
            </a:r>
            <a:r>
              <a:rPr lang="en-US" dirty="0" smtClean="0"/>
              <a:t> method is specified and used by the human resources department, which reports to the COO.</a:t>
            </a:r>
          </a:p>
          <a:p>
            <a:pPr marL="800100" lvl="1" indent="-342900">
              <a:buFont typeface="Arial" pitchFamily="34" charset="0"/>
              <a:buChar char="•"/>
            </a:pPr>
            <a:r>
              <a:rPr lang="en-US" dirty="0" smtClean="0"/>
              <a:t>The </a:t>
            </a:r>
            <a:r>
              <a:rPr lang="en-US" b="1" dirty="0" smtClean="0">
                <a:latin typeface="Consolas" pitchFamily="49" charset="0"/>
              </a:rPr>
              <a:t>save()</a:t>
            </a:r>
            <a:r>
              <a:rPr lang="en-US" dirty="0" smtClean="0"/>
              <a:t> method is specified by the database administrators (DBAs), who report to the CTO.</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Solution</a:t>
            </a:r>
            <a:endParaRPr lang="en-US" dirty="0"/>
          </a:p>
        </p:txBody>
      </p:sp>
      <p:sp>
        <p:nvSpPr>
          <p:cNvPr id="3" name="Content Placeholder 2"/>
          <p:cNvSpPr>
            <a:spLocks noGrp="1"/>
          </p:cNvSpPr>
          <p:nvPr>
            <p:ph idx="1"/>
          </p:nvPr>
        </p:nvSpPr>
        <p:spPr/>
        <p:txBody>
          <a:bodyPr>
            <a:normAutofit/>
          </a:bodyPr>
          <a:lstStyle/>
          <a:p>
            <a:r>
              <a:rPr lang="en-US" sz="2400" dirty="0" smtClean="0"/>
              <a:t>This can be done by keeping the most important method in the original </a:t>
            </a:r>
            <a:r>
              <a:rPr lang="en-US" sz="2400" b="1" dirty="0" smtClean="0">
                <a:latin typeface="Consolas" pitchFamily="49" charset="0"/>
              </a:rPr>
              <a:t>Employee</a:t>
            </a:r>
            <a:r>
              <a:rPr lang="en-US" sz="2400" dirty="0" smtClean="0"/>
              <a:t> class and then using that class as a Facade for the lesser functions.</a:t>
            </a:r>
            <a:endParaRPr lang="en-US" sz="2400" dirty="0"/>
          </a:p>
        </p:txBody>
      </p:sp>
      <p:pic>
        <p:nvPicPr>
          <p:cNvPr id="145410" name="Picture 2"/>
          <p:cNvPicPr>
            <a:picLocks noChangeAspect="1" noChangeArrowheads="1"/>
          </p:cNvPicPr>
          <p:nvPr/>
        </p:nvPicPr>
        <p:blipFill>
          <a:blip r:embed="rId2" cstate="print"/>
          <a:srcRect/>
          <a:stretch>
            <a:fillRect/>
          </a:stretch>
        </p:blipFill>
        <p:spPr bwMode="auto">
          <a:xfrm>
            <a:off x="2133600" y="3429000"/>
            <a:ext cx="4301490" cy="160401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Another Example [5]</a:t>
            </a:r>
            <a:endParaRPr lang="en-US" dirty="0"/>
          </a:p>
        </p:txBody>
      </p:sp>
      <p:sp>
        <p:nvSpPr>
          <p:cNvPr id="3" name="Content Placeholder 2"/>
          <p:cNvSpPr>
            <a:spLocks noGrp="1"/>
          </p:cNvSpPr>
          <p:nvPr>
            <p:ph idx="1"/>
          </p:nvPr>
        </p:nvSpPr>
        <p:spPr/>
        <p:txBody>
          <a:bodyPr>
            <a:normAutofit/>
          </a:bodyPr>
          <a:lstStyle/>
          <a:p>
            <a:pPr>
              <a:buNone/>
            </a:pPr>
            <a:r>
              <a:rPr lang="en-US" sz="2000" dirty="0" smtClean="0">
                <a:latin typeface="Consolas" pitchFamily="49" charset="0"/>
              </a:rPr>
              <a:t>public void </a:t>
            </a:r>
            <a:r>
              <a:rPr lang="en-US" sz="2000" dirty="0" err="1" smtClean="0">
                <a:latin typeface="Consolas" pitchFamily="49" charset="0"/>
              </a:rPr>
              <a:t>ProcessTrades</a:t>
            </a:r>
            <a:r>
              <a:rPr lang="en-US" sz="2000" dirty="0" smtClean="0">
                <a:latin typeface="Consolas" pitchFamily="49" charset="0"/>
              </a:rPr>
              <a:t>(</a:t>
            </a:r>
            <a:r>
              <a:rPr lang="en-US" sz="2000" dirty="0" err="1" smtClean="0">
                <a:latin typeface="Consolas" pitchFamily="49" charset="0"/>
              </a:rPr>
              <a:t>System.IO.Stream</a:t>
            </a:r>
            <a:r>
              <a:rPr lang="en-US" sz="2000" dirty="0" smtClean="0">
                <a:latin typeface="Consolas" pitchFamily="49" charset="0"/>
              </a:rPr>
              <a:t> stream)</a:t>
            </a:r>
          </a:p>
          <a:p>
            <a:pPr>
              <a:buNone/>
            </a:pPr>
            <a:r>
              <a:rPr lang="en-US" sz="2000" dirty="0" smtClean="0">
                <a:latin typeface="Consolas" pitchFamily="49" charset="0"/>
              </a:rPr>
              <a:t>{</a:t>
            </a:r>
          </a:p>
          <a:p>
            <a:pPr lvl="1">
              <a:buNone/>
            </a:pPr>
            <a:r>
              <a:rPr lang="en-US" sz="2000" dirty="0" err="1" smtClean="0">
                <a:latin typeface="Consolas" pitchFamily="49" charset="0"/>
              </a:rPr>
              <a:t>var</a:t>
            </a:r>
            <a:r>
              <a:rPr lang="en-US" sz="2000" dirty="0" smtClean="0">
                <a:latin typeface="Consolas" pitchFamily="49" charset="0"/>
              </a:rPr>
              <a:t> lines = </a:t>
            </a:r>
            <a:r>
              <a:rPr lang="en-US" sz="2000" dirty="0" err="1" smtClean="0">
                <a:latin typeface="Consolas" pitchFamily="49" charset="0"/>
              </a:rPr>
              <a:t>ReadTradeData</a:t>
            </a:r>
            <a:r>
              <a:rPr lang="en-US" sz="2000" dirty="0" smtClean="0">
                <a:latin typeface="Consolas" pitchFamily="49" charset="0"/>
              </a:rPr>
              <a:t>(stream);</a:t>
            </a:r>
          </a:p>
          <a:p>
            <a:pPr lvl="1">
              <a:buNone/>
            </a:pPr>
            <a:r>
              <a:rPr lang="en-US" sz="2000" dirty="0" err="1" smtClean="0">
                <a:latin typeface="Consolas" pitchFamily="49" charset="0"/>
              </a:rPr>
              <a:t>var</a:t>
            </a:r>
            <a:r>
              <a:rPr lang="en-US" sz="2000" dirty="0" smtClean="0">
                <a:latin typeface="Consolas" pitchFamily="49" charset="0"/>
              </a:rPr>
              <a:t> trades = </a:t>
            </a:r>
            <a:r>
              <a:rPr lang="en-US" sz="2000" dirty="0" err="1" smtClean="0">
                <a:latin typeface="Consolas" pitchFamily="49" charset="0"/>
              </a:rPr>
              <a:t>ParseTrades</a:t>
            </a:r>
            <a:r>
              <a:rPr lang="en-US" sz="2000" dirty="0" smtClean="0">
                <a:latin typeface="Consolas" pitchFamily="49" charset="0"/>
              </a:rPr>
              <a:t>(lines);</a:t>
            </a:r>
          </a:p>
          <a:p>
            <a:pPr lvl="1">
              <a:buNone/>
            </a:pPr>
            <a:r>
              <a:rPr lang="en-US" sz="2000" dirty="0" err="1" smtClean="0">
                <a:latin typeface="Consolas" pitchFamily="49" charset="0"/>
              </a:rPr>
              <a:t>StoreTrades</a:t>
            </a:r>
            <a:r>
              <a:rPr lang="en-US" sz="2000" dirty="0" smtClean="0">
                <a:latin typeface="Consolas" pitchFamily="49" charset="0"/>
              </a:rPr>
              <a:t>(trades);</a:t>
            </a:r>
          </a:p>
          <a:p>
            <a:pPr>
              <a:buNone/>
            </a:pPr>
            <a:r>
              <a:rPr lang="en-US" sz="2000" dirty="0" smtClean="0">
                <a:latin typeface="Consolas" pitchFamily="49" charset="0"/>
              </a:rPr>
              <a:t>}</a:t>
            </a:r>
            <a:endParaRPr lang="en-US" sz="2000" dirty="0">
              <a:latin typeface="Consolas" pitchFamily="49" charset="0"/>
            </a:endParaRPr>
          </a:p>
        </p:txBody>
      </p:sp>
      <p:pic>
        <p:nvPicPr>
          <p:cNvPr id="146434" name="Picture 2"/>
          <p:cNvPicPr>
            <a:picLocks noChangeAspect="1" noChangeArrowheads="1"/>
          </p:cNvPicPr>
          <p:nvPr/>
        </p:nvPicPr>
        <p:blipFill>
          <a:blip r:embed="rId2" cstate="print"/>
          <a:srcRect/>
          <a:stretch>
            <a:fillRect/>
          </a:stretch>
        </p:blipFill>
        <p:spPr bwMode="auto">
          <a:xfrm>
            <a:off x="1981200" y="3733800"/>
            <a:ext cx="4861560" cy="243078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Follow the SRP?</a:t>
            </a:r>
            <a:endParaRPr lang="en-US" dirty="0"/>
          </a:p>
        </p:txBody>
      </p:sp>
      <p:sp>
        <p:nvSpPr>
          <p:cNvPr id="3" name="Content Placeholder 2"/>
          <p:cNvSpPr>
            <a:spLocks noGrp="1"/>
          </p:cNvSpPr>
          <p:nvPr>
            <p:ph idx="1"/>
          </p:nvPr>
        </p:nvSpPr>
        <p:spPr/>
        <p:txBody>
          <a:bodyPr>
            <a:normAutofit/>
          </a:bodyPr>
          <a:lstStyle/>
          <a:p>
            <a:r>
              <a:rPr lang="en-US" sz="2400" dirty="0" smtClean="0"/>
              <a:t>Helps make changing an object easier.</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txBox="1">
            <a:spLocks/>
          </p:cNvSpPr>
          <p:nvPr/>
        </p:nvSpPr>
        <p:spPr>
          <a:xfrm>
            <a:off x="457200" y="2438400"/>
            <a:ext cx="4191000" cy="3581400"/>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open-closed principle says that you should design modules that </a:t>
            </a:r>
            <a:r>
              <a:rPr kumimoji="0" lang="en-US" sz="2400" b="0" i="1" u="none" strike="noStrike" kern="1200" cap="none" spc="0" normalizeH="0" baseline="0" noProof="0" dirty="0" smtClean="0">
                <a:ln>
                  <a:noFill/>
                </a:ln>
                <a:solidFill>
                  <a:srgbClr val="C00000"/>
                </a:solidFill>
                <a:effectLst/>
                <a:uLnTx/>
                <a:uFillTx/>
                <a:latin typeface="+mn-lt"/>
                <a:ea typeface="+mn-ea"/>
                <a:cs typeface="+mn-cs"/>
              </a:rPr>
              <a:t>never change</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When requirements change, you extend the behavior of such modules by </a:t>
            </a:r>
            <a:r>
              <a:rPr kumimoji="0" lang="en-US" sz="2400" b="0" i="1" u="none" strike="noStrike" kern="1200" cap="none" spc="0" normalizeH="0" baseline="0" noProof="0" dirty="0" smtClean="0">
                <a:ln>
                  <a:noFill/>
                </a:ln>
                <a:solidFill>
                  <a:srgbClr val="C00000"/>
                </a:solidFill>
                <a:effectLst/>
                <a:uLnTx/>
                <a:uFillTx/>
                <a:latin typeface="+mn-lt"/>
                <a:ea typeface="+mn-ea"/>
                <a:cs typeface="+mn-cs"/>
              </a:rPr>
              <a:t>adding new code</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400" b="0" i="0" u="sng" strike="noStrike" kern="1200" cap="none" spc="0" normalizeH="0" baseline="0" noProof="0" dirty="0" smtClean="0">
                <a:ln>
                  <a:noFill/>
                </a:ln>
                <a:solidFill>
                  <a:schemeClr val="tx1"/>
                </a:solidFill>
                <a:effectLst/>
                <a:uLnTx/>
                <a:uFillTx/>
                <a:latin typeface="+mn-lt"/>
                <a:ea typeface="+mn-ea"/>
                <a:cs typeface="+mn-cs"/>
              </a:rPr>
              <a:t>not by changing old code</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that already works.</a:t>
            </a:r>
          </a:p>
        </p:txBody>
      </p:sp>
      <p:sp>
        <p:nvSpPr>
          <p:cNvPr id="2" name="Title 1"/>
          <p:cNvSpPr>
            <a:spLocks noGrp="1"/>
          </p:cNvSpPr>
          <p:nvPr>
            <p:ph type="title"/>
          </p:nvPr>
        </p:nvSpPr>
        <p:spPr/>
        <p:txBody>
          <a:bodyPr>
            <a:normAutofit/>
          </a:bodyPr>
          <a:lstStyle/>
          <a:p>
            <a:pPr lvl="0"/>
            <a:r>
              <a:rPr lang="en-US" dirty="0" smtClean="0"/>
              <a:t>The Open/Closed Principle</a:t>
            </a:r>
            <a:endParaRPr lang="en-US" dirty="0"/>
          </a:p>
        </p:txBody>
      </p:sp>
      <p:sp>
        <p:nvSpPr>
          <p:cNvPr id="3" name="Rounded Rectangle 4"/>
          <p:cNvSpPr/>
          <p:nvPr/>
        </p:nvSpPr>
        <p:spPr>
          <a:xfrm>
            <a:off x="305719" y="1228022"/>
            <a:ext cx="8533481" cy="1057978"/>
          </a:xfrm>
          <a:prstGeom prst="rect">
            <a:avLst/>
          </a:prstGeom>
          <a:solidFill>
            <a:schemeClr val="accent1"/>
          </a:solidFill>
        </p:spPr>
        <p:style>
          <a:lnRef idx="0">
            <a:scrgbClr r="0" g="0" b="0"/>
          </a:lnRef>
          <a:fillRef idx="0">
            <a:scrgbClr r="0" g="0" b="0"/>
          </a:fillRef>
          <a:effectRef idx="0">
            <a:scrgbClr r="0" g="0" b="0"/>
          </a:effectRef>
          <a:fontRef idx="minor">
            <a:schemeClr val="lt1"/>
          </a:fontRef>
        </p:style>
        <p:txBody>
          <a:bodyPr spcFirstLastPara="0" vert="horz" wrap="square" lIns="213709" tIns="0" rIns="213709" bIns="0" numCol="1" spcCol="1270" anchor="ctr" anchorCtr="0">
            <a:noAutofit/>
          </a:bodyPr>
          <a:lstStyle/>
          <a:p>
            <a:pPr lvl="0" algn="ctr"/>
            <a:r>
              <a:rPr lang="en-US" sz="2200" i="1" dirty="0" smtClean="0"/>
              <a:t>Software entities (classes, modules, etc) should be </a:t>
            </a:r>
            <a:r>
              <a:rPr lang="en-US" sz="2200" i="1" u="sng" dirty="0" smtClean="0"/>
              <a:t>open</a:t>
            </a:r>
            <a:r>
              <a:rPr lang="en-US" sz="2200" i="1" dirty="0" smtClean="0"/>
              <a:t> for extension, but </a:t>
            </a:r>
            <a:r>
              <a:rPr lang="en-US" sz="2200" i="1" u="sng" dirty="0" smtClean="0"/>
              <a:t>closed</a:t>
            </a:r>
            <a:r>
              <a:rPr lang="en-US" sz="2200" i="1" dirty="0" smtClean="0"/>
              <a:t> for modification. (Add new functionality with minimal modification to existing code. Use plug-ins.)</a:t>
            </a:r>
            <a:endParaRPr lang="en-US" sz="2200" i="1" dirty="0"/>
          </a:p>
        </p:txBody>
      </p:sp>
      <p:sp>
        <p:nvSpPr>
          <p:cNvPr id="29700" name="AutoShape 4" descr="mk:@MSITStore:G:\Agile%20Principles,%20Patterns,%20and%20Practices%20in%20CSharp.chm::/0131857258/images/unnum_9_1.jpg"/>
          <p:cNvSpPr>
            <a:spLocks noChangeAspect="1" noChangeArrowheads="1"/>
          </p:cNvSpPr>
          <p:nvPr/>
        </p:nvSpPr>
        <p:spPr bwMode="auto">
          <a:xfrm>
            <a:off x="155575" y="-1119188"/>
            <a:ext cx="2619375" cy="234315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2232" name="Picture 8" descr="http://3.bp.blogspot.com/-LWw3gACGJHk/Tiwzvg8uYgI/AAAAAAAAA9I/qcdami1h6lw/s400/withoutOpenClosed.png"/>
          <p:cNvPicPr>
            <a:picLocks noChangeAspect="1" noChangeArrowheads="1"/>
          </p:cNvPicPr>
          <p:nvPr/>
        </p:nvPicPr>
        <p:blipFill>
          <a:blip r:embed="rId2" cstate="print"/>
          <a:srcRect/>
          <a:stretch>
            <a:fillRect/>
          </a:stretch>
        </p:blipFill>
        <p:spPr bwMode="auto">
          <a:xfrm>
            <a:off x="5029200" y="3514724"/>
            <a:ext cx="3810000" cy="1743076"/>
          </a:xfrm>
          <a:prstGeom prst="rect">
            <a:avLst/>
          </a:prstGeom>
          <a:noFill/>
        </p:spPr>
      </p:pic>
      <p:pic>
        <p:nvPicPr>
          <p:cNvPr id="52230" name="Picture 6" descr="http://www.777icons.com/libs/basic-vista/delete-icon.gif"/>
          <p:cNvPicPr>
            <a:picLocks noChangeAspect="1" noChangeArrowheads="1"/>
          </p:cNvPicPr>
          <p:nvPr/>
        </p:nvPicPr>
        <p:blipFill>
          <a:blip r:embed="rId3" cstate="print"/>
          <a:srcRect/>
          <a:stretch>
            <a:fillRect/>
          </a:stretch>
        </p:blipFill>
        <p:spPr bwMode="auto">
          <a:xfrm>
            <a:off x="4724400" y="4591049"/>
            <a:ext cx="895350" cy="895351"/>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smtClean="0"/>
              <a:t>Program </a:t>
            </a:r>
            <a:r>
              <a:rPr lang="en-US" dirty="0" smtClean="0"/>
              <a:t>to an </a:t>
            </a:r>
            <a:r>
              <a:rPr lang="en-US" dirty="0" smtClean="0"/>
              <a:t>Interface</a:t>
            </a:r>
            <a:endParaRPr lang="en-US" dirty="0"/>
          </a:p>
        </p:txBody>
      </p:sp>
      <p:grpSp>
        <p:nvGrpSpPr>
          <p:cNvPr id="3" name="Group 3"/>
          <p:cNvGrpSpPr/>
          <p:nvPr/>
        </p:nvGrpSpPr>
        <p:grpSpPr>
          <a:xfrm>
            <a:off x="2286000" y="1295400"/>
            <a:ext cx="6362700" cy="533400"/>
            <a:chOff x="400050" y="75439"/>
            <a:chExt cx="5600700" cy="826560"/>
          </a:xfrm>
        </p:grpSpPr>
        <p:sp>
          <p:nvSpPr>
            <p:cNvPr id="5" name="Rounded Rectangle 4"/>
            <p:cNvSpPr/>
            <p:nvPr/>
          </p:nvSpPr>
          <p:spPr>
            <a:xfrm>
              <a:off x="400050" y="75439"/>
              <a:ext cx="560070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 name="Rounded Rectangle 4"/>
            <p:cNvSpPr/>
            <p:nvPr/>
          </p:nvSpPr>
          <p:spPr>
            <a:xfrm>
              <a:off x="440399" y="115788"/>
              <a:ext cx="5520002" cy="7458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11693" tIns="0" rIns="211693" bIns="0" numCol="1" spcCol="1270" anchor="ctr" anchorCtr="0">
              <a:noAutofit/>
            </a:bodyPr>
            <a:lstStyle/>
            <a:p>
              <a:pPr lvl="0" algn="l" defTabSz="800100">
                <a:lnSpc>
                  <a:spcPct val="90000"/>
                </a:lnSpc>
                <a:spcBef>
                  <a:spcPct val="0"/>
                </a:spcBef>
                <a:spcAft>
                  <a:spcPct val="35000"/>
                </a:spcAft>
              </a:pPr>
              <a:r>
                <a:rPr lang="en-US" sz="2200" kern="1200" dirty="0" smtClean="0"/>
                <a:t>Program To An </a:t>
              </a:r>
              <a:r>
                <a:rPr lang="en-US" sz="2200" u="sng" kern="1200" dirty="0" smtClean="0"/>
                <a:t>Interface</a:t>
              </a:r>
              <a:r>
                <a:rPr lang="en-US" sz="2200" kern="1200" dirty="0" smtClean="0"/>
                <a:t>, Not An Implementation.</a:t>
              </a:r>
              <a:endParaRPr lang="en-US" sz="2200" kern="1200" dirty="0"/>
            </a:p>
          </p:txBody>
        </p:sp>
      </p:grpSp>
      <p:pic>
        <p:nvPicPr>
          <p:cNvPr id="53255" name="Picture 7" descr="http://1.bp.blogspot.com/-M01ajBmLSlg/TixAYzm_eyI/AAAAAAAAA9Y/g0qLrJfFCMA/s1600/OpenClosed.png"/>
          <p:cNvPicPr>
            <a:picLocks noChangeAspect="1" noChangeArrowheads="1"/>
          </p:cNvPicPr>
          <p:nvPr/>
        </p:nvPicPr>
        <p:blipFill>
          <a:blip r:embed="rId2" cstate="print"/>
          <a:srcRect/>
          <a:stretch>
            <a:fillRect/>
          </a:stretch>
        </p:blipFill>
        <p:spPr bwMode="auto">
          <a:xfrm>
            <a:off x="857250" y="1981200"/>
            <a:ext cx="7677150" cy="4686300"/>
          </a:xfrm>
          <a:prstGeom prst="rect">
            <a:avLst/>
          </a:prstGeom>
          <a:noFill/>
        </p:spPr>
      </p:pic>
      <p:sp>
        <p:nvSpPr>
          <p:cNvPr id="11" name="Rectangle 10"/>
          <p:cNvSpPr/>
          <p:nvPr/>
        </p:nvSpPr>
        <p:spPr>
          <a:xfrm>
            <a:off x="3925499" y="2133600"/>
            <a:ext cx="4374980" cy="400110"/>
          </a:xfrm>
          <a:prstGeom prst="rect">
            <a:avLst/>
          </a:prstGeom>
          <a:solidFill>
            <a:schemeClr val="accent2"/>
          </a:solidFill>
        </p:spPr>
        <p:txBody>
          <a:bodyPr wrap="none">
            <a:spAutoFit/>
          </a:bodyPr>
          <a:lstStyle/>
          <a:p>
            <a:pPr marL="342900" indent="-342900" algn="ctr"/>
            <a:r>
              <a:rPr lang="en-US" sz="2000" dirty="0" smtClean="0">
                <a:solidFill>
                  <a:schemeClr val="bg1"/>
                </a:solidFill>
                <a:latin typeface="+mj-lt"/>
              </a:rPr>
              <a:t>Using </a:t>
            </a:r>
            <a:r>
              <a:rPr lang="en-US" sz="2000" u="sng" dirty="0" smtClean="0">
                <a:solidFill>
                  <a:schemeClr val="bg1"/>
                </a:solidFill>
                <a:latin typeface="+mj-lt"/>
              </a:rPr>
              <a:t>abstraction</a:t>
            </a:r>
            <a:r>
              <a:rPr lang="en-US" sz="2000" dirty="0" smtClean="0">
                <a:solidFill>
                  <a:schemeClr val="bg1"/>
                </a:solidFill>
                <a:latin typeface="+mj-lt"/>
              </a:rPr>
              <a:t> to gain explicit closure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342900" indent="-342900"/>
            <a:r>
              <a:rPr lang="en-US" dirty="0" smtClean="0"/>
              <a:t>Using a Data-Driven Approach to Achieve Closure</a:t>
            </a:r>
            <a:endParaRPr lang="en-US" dirty="0"/>
          </a:p>
        </p:txBody>
      </p:sp>
      <p:pic>
        <p:nvPicPr>
          <p:cNvPr id="77827" name="Picture 3"/>
          <p:cNvPicPr>
            <a:picLocks noChangeAspect="1" noChangeArrowheads="1"/>
          </p:cNvPicPr>
          <p:nvPr/>
        </p:nvPicPr>
        <p:blipFill>
          <a:blip r:embed="rId2" cstate="print"/>
          <a:srcRect/>
          <a:stretch>
            <a:fillRect/>
          </a:stretch>
        </p:blipFill>
        <p:spPr bwMode="auto">
          <a:xfrm>
            <a:off x="381000" y="1981200"/>
            <a:ext cx="4333875" cy="4200525"/>
          </a:xfrm>
          <a:prstGeom prst="rect">
            <a:avLst/>
          </a:prstGeom>
          <a:noFill/>
          <a:ln w="9525">
            <a:noFill/>
            <a:miter lim="800000"/>
            <a:headEnd/>
            <a:tailEnd/>
          </a:ln>
        </p:spPr>
      </p:pic>
      <p:sp>
        <p:nvSpPr>
          <p:cNvPr id="8" name="Rectangle 7"/>
          <p:cNvSpPr/>
          <p:nvPr/>
        </p:nvSpPr>
        <p:spPr>
          <a:xfrm>
            <a:off x="5029200" y="2438400"/>
            <a:ext cx="3581400" cy="1938992"/>
          </a:xfrm>
          <a:prstGeom prst="rect">
            <a:avLst/>
          </a:prstGeom>
        </p:spPr>
        <p:txBody>
          <a:bodyPr wrap="square">
            <a:spAutoFit/>
          </a:bodyPr>
          <a:lstStyle/>
          <a:p>
            <a:r>
              <a:rPr lang="en-US" sz="2400" b="1" dirty="0" smtClean="0">
                <a:latin typeface="Consolas" pitchFamily="49" charset="0"/>
              </a:rPr>
              <a:t>What kind of code would we write to ensure that Circles were drawn </a:t>
            </a:r>
            <a:r>
              <a:rPr lang="en-US" sz="2400" b="1" i="1" dirty="0" smtClean="0">
                <a:solidFill>
                  <a:srgbClr val="C00000"/>
                </a:solidFill>
                <a:latin typeface="Consolas" pitchFamily="49" charset="0"/>
              </a:rPr>
              <a:t>before</a:t>
            </a:r>
            <a:r>
              <a:rPr lang="en-US" sz="2400" b="1" dirty="0" smtClean="0">
                <a:latin typeface="Consolas" pitchFamily="49" charset="0"/>
              </a:rPr>
              <a:t> Squares?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Follow the OCP?</a:t>
            </a:r>
            <a:endParaRPr lang="en-US" dirty="0"/>
          </a:p>
        </p:txBody>
      </p:sp>
      <p:sp>
        <p:nvSpPr>
          <p:cNvPr id="3" name="Content Placeholder 2"/>
          <p:cNvSpPr>
            <a:spLocks noGrp="1"/>
          </p:cNvSpPr>
          <p:nvPr>
            <p:ph idx="1"/>
          </p:nvPr>
        </p:nvSpPr>
        <p:spPr/>
        <p:txBody>
          <a:bodyPr>
            <a:normAutofit/>
          </a:bodyPr>
          <a:lstStyle/>
          <a:p>
            <a:r>
              <a:rPr lang="en-US" sz="2400" dirty="0" smtClean="0"/>
              <a:t>Helps ensure that objects are easy to extend without requiring change to the original object.</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smtClean="0"/>
              <a:t>The </a:t>
            </a:r>
            <a:r>
              <a:rPr lang="en-US" dirty="0" err="1" smtClean="0"/>
              <a:t>Liskov</a:t>
            </a:r>
            <a:r>
              <a:rPr lang="en-US" dirty="0" smtClean="0"/>
              <a:t> Substitution Principle</a:t>
            </a:r>
            <a:endParaRPr lang="en-US" dirty="0"/>
          </a:p>
        </p:txBody>
      </p:sp>
      <p:sp>
        <p:nvSpPr>
          <p:cNvPr id="9" name="Rounded Rectangle 4"/>
          <p:cNvSpPr/>
          <p:nvPr/>
        </p:nvSpPr>
        <p:spPr>
          <a:xfrm>
            <a:off x="1120587" y="1347477"/>
            <a:ext cx="7512424" cy="96264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11693" tIns="0" rIns="211693" bIns="0" numCol="1" spcCol="1270" anchor="ctr" anchorCtr="0">
            <a:noAutofit/>
          </a:bodyPr>
          <a:lstStyle/>
          <a:p>
            <a:pPr lvl="0" algn="l" defTabSz="800100">
              <a:lnSpc>
                <a:spcPct val="90000"/>
              </a:lnSpc>
              <a:spcBef>
                <a:spcPct val="0"/>
              </a:spcBef>
              <a:spcAft>
                <a:spcPct val="35000"/>
              </a:spcAft>
            </a:pPr>
            <a:endParaRPr lang="en-US" sz="2000" i="1" kern="1200" dirty="0"/>
          </a:p>
        </p:txBody>
      </p:sp>
      <p:pic>
        <p:nvPicPr>
          <p:cNvPr id="54276" name="Picture 4"/>
          <p:cNvPicPr>
            <a:picLocks noChangeAspect="1" noChangeArrowheads="1"/>
          </p:cNvPicPr>
          <p:nvPr/>
        </p:nvPicPr>
        <p:blipFill>
          <a:blip r:embed="rId2" cstate="print"/>
          <a:srcRect/>
          <a:stretch>
            <a:fillRect/>
          </a:stretch>
        </p:blipFill>
        <p:spPr bwMode="auto">
          <a:xfrm>
            <a:off x="7467600" y="2590800"/>
            <a:ext cx="1533525" cy="2990850"/>
          </a:xfrm>
          <a:prstGeom prst="rect">
            <a:avLst/>
          </a:prstGeom>
          <a:noFill/>
          <a:ln w="9525">
            <a:noFill/>
            <a:miter lim="800000"/>
            <a:headEnd/>
            <a:tailEnd/>
          </a:ln>
        </p:spPr>
      </p:pic>
      <p:sp>
        <p:nvSpPr>
          <p:cNvPr id="54278" name="Rectangle 6"/>
          <p:cNvSpPr>
            <a:spLocks noChangeArrowheads="1"/>
          </p:cNvSpPr>
          <p:nvPr/>
        </p:nvSpPr>
        <p:spPr bwMode="auto">
          <a:xfrm>
            <a:off x="152400" y="2005548"/>
            <a:ext cx="4419600" cy="378565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class</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2B91AF"/>
                </a:solidFill>
                <a:effectLst/>
                <a:latin typeface="Consolas" pitchFamily="49" charset="0"/>
                <a:ea typeface="Calibri" pitchFamily="34" charset="0"/>
                <a:cs typeface="Consolas" pitchFamily="49" charset="0"/>
              </a:rPr>
              <a:t>Rectangle</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   public</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virtual</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int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Width</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      get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return</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this</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.width</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set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this</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.width</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value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   private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int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width;</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   public</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virtual</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int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Height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get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return</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this</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.height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set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this</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.height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value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private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int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height;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p:txBody>
      </p:sp>
      <p:sp>
        <p:nvSpPr>
          <p:cNvPr id="54279" name="Rectangle 7"/>
          <p:cNvSpPr>
            <a:spLocks noChangeArrowheads="1"/>
          </p:cNvSpPr>
          <p:nvPr/>
        </p:nvSpPr>
        <p:spPr bwMode="auto">
          <a:xfrm>
            <a:off x="3810000" y="2012007"/>
            <a:ext cx="4191000" cy="477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class</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2B91AF"/>
                </a:solidFill>
                <a:effectLst/>
                <a:latin typeface="Consolas" pitchFamily="49" charset="0"/>
                <a:ea typeface="Calibri" pitchFamily="34" charset="0"/>
                <a:cs typeface="Consolas" pitchFamily="49" charset="0"/>
              </a:rPr>
              <a:t>Square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 </a:t>
            </a:r>
            <a:r>
              <a:rPr kumimoji="0" lang="en-US" sz="1600" b="0" i="0" u="none" strike="noStrike" cap="none" normalizeH="0" baseline="0" dirty="0" smtClean="0">
                <a:ln>
                  <a:noFill/>
                </a:ln>
                <a:solidFill>
                  <a:srgbClr val="2B91AF"/>
                </a:solidFill>
                <a:effectLst/>
                <a:latin typeface="Consolas" pitchFamily="49" charset="0"/>
                <a:ea typeface="Calibri" pitchFamily="34" charset="0"/>
                <a:cs typeface="Consolas" pitchFamily="49" charset="0"/>
              </a:rPr>
              <a:t>Rectangle</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   public</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override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int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Width</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get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return</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base</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.Width</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set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base</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.Width</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value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base</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.Height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value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public</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override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int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Height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get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return</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base</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.Height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set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base</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.Width</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value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base</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.Height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value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1600" b="0" i="0" u="none" strike="noStrike" cap="none" normalizeH="0" baseline="0" dirty="0" smtClean="0">
              <a:ln>
                <a:noFill/>
              </a:ln>
              <a:solidFill>
                <a:schemeClr val="tx1"/>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r>
              <a:rPr kumimoji="0" lang="en-US" sz="1600" b="0" i="0" u="none" strike="noStrike" cap="none" normalizeH="0" baseline="0" dirty="0" smtClean="0">
                <a:ln>
                  <a:noFill/>
                </a:ln>
                <a:solidFill>
                  <a:schemeClr val="tx1"/>
                </a:solidFill>
                <a:effectLst/>
                <a:latin typeface="Consolas" pitchFamily="49" charset="0"/>
                <a:cs typeface="Consolas" pitchFamily="49" charset="0"/>
              </a:rPr>
              <a:t> </a:t>
            </a:r>
          </a:p>
        </p:txBody>
      </p:sp>
      <p:sp>
        <p:nvSpPr>
          <p:cNvPr id="13" name="Rectangle 12"/>
          <p:cNvSpPr/>
          <p:nvPr/>
        </p:nvSpPr>
        <p:spPr>
          <a:xfrm>
            <a:off x="457200" y="1295400"/>
            <a:ext cx="8153400" cy="646331"/>
          </a:xfrm>
          <a:prstGeom prst="rect">
            <a:avLst/>
          </a:prstGeom>
          <a:solidFill>
            <a:schemeClr val="accent1"/>
          </a:solidFill>
        </p:spPr>
        <p:txBody>
          <a:bodyPr wrap="square">
            <a:spAutoFit/>
          </a:bodyPr>
          <a:lstStyle/>
          <a:p>
            <a:pPr lvl="0" algn="ctr" defTabSz="800100">
              <a:lnSpc>
                <a:spcPct val="90000"/>
              </a:lnSpc>
              <a:spcAft>
                <a:spcPct val="35000"/>
              </a:spcAft>
            </a:pPr>
            <a:r>
              <a:rPr lang="en-US" sz="2000" i="1" dirty="0" smtClean="0">
                <a:solidFill>
                  <a:schemeClr val="bg1"/>
                </a:solidFill>
                <a:latin typeface="+mj-lt"/>
              </a:rPr>
              <a:t>Derived classes must be usable through the base class interface </a:t>
            </a:r>
            <a:r>
              <a:rPr lang="en-US" sz="2000" i="1" u="sng" dirty="0" smtClean="0">
                <a:solidFill>
                  <a:schemeClr val="bg1"/>
                </a:solidFill>
                <a:latin typeface="+mj-lt"/>
              </a:rPr>
              <a:t>without</a:t>
            </a:r>
            <a:r>
              <a:rPr lang="en-US" sz="2000" i="1" dirty="0" smtClean="0">
                <a:solidFill>
                  <a:schemeClr val="bg1"/>
                </a:solidFill>
                <a:latin typeface="+mj-lt"/>
              </a:rPr>
              <a:t> the need for the user to know the difference.</a:t>
            </a:r>
            <a:endParaRPr lang="en-US" sz="2000" i="1" dirty="0">
              <a:solidFill>
                <a:schemeClr val="bg1"/>
              </a:solidFill>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smtClean="0"/>
              <a:t>?</a:t>
            </a:r>
            <a:endParaRPr lang="en-US" dirty="0"/>
          </a:p>
        </p:txBody>
      </p:sp>
      <p:sp>
        <p:nvSpPr>
          <p:cNvPr id="10" name="Rectangle 9"/>
          <p:cNvSpPr/>
          <p:nvPr/>
        </p:nvSpPr>
        <p:spPr>
          <a:xfrm>
            <a:off x="6096000" y="1676400"/>
            <a:ext cx="2743200" cy="1323439"/>
          </a:xfrm>
          <a:prstGeom prst="rect">
            <a:avLst/>
          </a:prstGeom>
          <a:solidFill>
            <a:schemeClr val="accent6"/>
          </a:solidFill>
        </p:spPr>
        <p:txBody>
          <a:bodyPr wrap="square">
            <a:spAutoFit/>
          </a:bodyPr>
          <a:lstStyle/>
          <a:p>
            <a:pPr algn="ctr"/>
            <a:r>
              <a:rPr lang="en-US" sz="2000" dirty="0" smtClean="0">
                <a:solidFill>
                  <a:schemeClr val="bg1"/>
                </a:solidFill>
                <a:latin typeface="+mj-lt"/>
              </a:rPr>
              <a:t>The LSP makes clear that in OOD the I SA relationship pertains to </a:t>
            </a:r>
            <a:r>
              <a:rPr lang="en-US" sz="2000" u="sng" dirty="0" smtClean="0">
                <a:solidFill>
                  <a:schemeClr val="bg1"/>
                </a:solidFill>
                <a:latin typeface="+mj-lt"/>
              </a:rPr>
              <a:t>behavior</a:t>
            </a:r>
            <a:r>
              <a:rPr lang="en-US" sz="2000" dirty="0" smtClean="0">
                <a:solidFill>
                  <a:schemeClr val="bg1"/>
                </a:solidFill>
                <a:latin typeface="+mj-lt"/>
              </a:rPr>
              <a:t>.</a:t>
            </a:r>
            <a:endParaRPr lang="en-US" sz="2000" dirty="0">
              <a:solidFill>
                <a:schemeClr val="bg1"/>
              </a:solidFill>
              <a:latin typeface="+mj-lt"/>
            </a:endParaRPr>
          </a:p>
        </p:txBody>
      </p:sp>
      <p:sp>
        <p:nvSpPr>
          <p:cNvPr id="83973" name="Rectangle 5"/>
          <p:cNvSpPr>
            <a:spLocks noChangeArrowheads="1"/>
          </p:cNvSpPr>
          <p:nvPr/>
        </p:nvSpPr>
        <p:spPr bwMode="auto">
          <a:xfrm>
            <a:off x="228600" y="1295400"/>
            <a:ext cx="8686800" cy="501675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class</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2B91AF"/>
                </a:solidFill>
                <a:effectLst/>
                <a:latin typeface="Consolas" pitchFamily="49" charset="0"/>
                <a:ea typeface="Calibri" pitchFamily="34" charset="0"/>
                <a:cs typeface="Consolas" pitchFamily="49" charset="0"/>
              </a:rPr>
              <a:t>ShapeCalculator</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   public</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0000FF"/>
                </a:solidFill>
                <a:effectLst/>
                <a:latin typeface="Consolas" pitchFamily="49" charset="0"/>
                <a:ea typeface="Calibri" pitchFamily="34" charset="0"/>
                <a:cs typeface="Consolas" pitchFamily="49" charset="0"/>
              </a:rPr>
              <a:t>int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GetArea</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r>
              <a:rPr kumimoji="0" lang="en-US" sz="1600" b="0" i="0" u="none" strike="noStrike" cap="none" normalizeH="0" baseline="0" dirty="0" smtClean="0">
                <a:ln>
                  <a:noFill/>
                </a:ln>
                <a:solidFill>
                  <a:srgbClr val="2B91AF"/>
                </a:solidFill>
                <a:effectLst/>
                <a:latin typeface="Consolas" pitchFamily="49" charset="0"/>
                <a:ea typeface="Calibri" pitchFamily="34" charset="0"/>
                <a:cs typeface="Consolas" pitchFamily="49" charset="0"/>
              </a:rPr>
              <a:t>Rectangle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rectangle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rectangle.Width</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 5;</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rectangle.Height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 4;</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return</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rectangle.Width</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 </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rectangle.Height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class</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2B91AF"/>
                </a:solidFill>
                <a:effectLst/>
                <a:latin typeface="Consolas" pitchFamily="49" charset="0"/>
                <a:ea typeface="Calibri" pitchFamily="34" charset="0"/>
                <a:cs typeface="Consolas" pitchFamily="49" charset="0"/>
              </a:rPr>
              <a:t>Program</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static</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void</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Main(</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string</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args</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2B91AF"/>
                </a:solidFill>
                <a:effectLst/>
                <a:latin typeface="Consolas" pitchFamily="49" charset="0"/>
                <a:ea typeface="Calibri" pitchFamily="34" charset="0"/>
                <a:cs typeface="Consolas" pitchFamily="49" charset="0"/>
              </a:rPr>
              <a:t>Rectangle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rectangle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new</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2B91AF"/>
                </a:solidFill>
                <a:effectLst/>
                <a:latin typeface="Consolas" pitchFamily="49" charset="0"/>
                <a:ea typeface="Calibri" pitchFamily="34" charset="0"/>
                <a:cs typeface="Consolas" pitchFamily="49" charset="0"/>
              </a:rPr>
              <a:t>Rectangle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2B91AF"/>
                </a:solidFill>
                <a:effectLst/>
                <a:latin typeface="Consolas" pitchFamily="49" charset="0"/>
                <a:ea typeface="Calibri" pitchFamily="34" charset="0"/>
                <a:cs typeface="Consolas" pitchFamily="49" charset="0"/>
              </a:rPr>
              <a:t>ShapeCalculator</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shapeCalculator</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new</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2B91AF"/>
                </a:solidFill>
                <a:effectLst/>
                <a:latin typeface="Consolas" pitchFamily="49" charset="0"/>
                <a:ea typeface="Calibri" pitchFamily="34" charset="0"/>
                <a:cs typeface="Consolas" pitchFamily="49" charset="0"/>
              </a:rPr>
              <a:t>ShapeCalculator</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2B91AF"/>
                </a:solidFill>
                <a:effectLst/>
                <a:latin typeface="Consolas" pitchFamily="49" charset="0"/>
                <a:ea typeface="Calibri" pitchFamily="34" charset="0"/>
                <a:cs typeface="Consolas" pitchFamily="49" charset="0"/>
              </a:rPr>
              <a:t>Debug</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.Assert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shapeCalculator.GetArea</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(rectangle) == 20);</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2B91AF"/>
                </a:solidFill>
                <a:effectLst/>
                <a:latin typeface="Consolas" pitchFamily="49" charset="0"/>
                <a:ea typeface="Calibri" pitchFamily="34" charset="0"/>
                <a:cs typeface="Consolas" pitchFamily="49" charset="0"/>
              </a:rPr>
              <a:t>Square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square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 </a:t>
            </a:r>
            <a:r>
              <a:rPr kumimoji="0" lang="en-US" sz="1600" b="0" i="0" u="none" strike="noStrike" cap="none" normalizeH="0" baseline="0" dirty="0" smtClean="0">
                <a:ln>
                  <a:noFill/>
                </a:ln>
                <a:solidFill>
                  <a:srgbClr val="0000FF"/>
                </a:solidFill>
                <a:effectLst/>
                <a:latin typeface="Consolas" pitchFamily="49" charset="0"/>
                <a:ea typeface="Calibri" pitchFamily="34" charset="0"/>
                <a:cs typeface="Consolas" pitchFamily="49" charset="0"/>
              </a:rPr>
              <a:t>new</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smtClean="0">
                <a:ln>
                  <a:noFill/>
                </a:ln>
                <a:solidFill>
                  <a:srgbClr val="2B91AF"/>
                </a:solidFill>
                <a:effectLst/>
                <a:latin typeface="Consolas" pitchFamily="49" charset="0"/>
                <a:ea typeface="Calibri" pitchFamily="34" charset="0"/>
                <a:cs typeface="Consolas" pitchFamily="49" charset="0"/>
              </a:rPr>
              <a:t>Square</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smtClean="0">
                <a:ln>
                  <a:noFill/>
                </a:ln>
                <a:solidFill>
                  <a:srgbClr val="2B91AF"/>
                </a:solidFill>
                <a:effectLst/>
                <a:latin typeface="Consolas" pitchFamily="49" charset="0"/>
                <a:ea typeface="Calibri" pitchFamily="34" charset="0"/>
                <a:cs typeface="Consolas" pitchFamily="49" charset="0"/>
              </a:rPr>
              <a:t>Debug</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.Assert</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r>
              <a:rPr kumimoji="0" lang="en-US" sz="1600" b="0" i="0" u="none" strike="noStrike" cap="none" normalizeH="0" baseline="0" dirty="0" err="1" smtClean="0">
                <a:ln>
                  <a:noFill/>
                </a:ln>
                <a:solidFill>
                  <a:schemeClr val="tx1"/>
                </a:solidFill>
                <a:effectLst/>
                <a:latin typeface="Consolas" pitchFamily="49" charset="0"/>
                <a:ea typeface="Calibri" pitchFamily="34" charset="0"/>
                <a:cs typeface="Consolas" pitchFamily="49" charset="0"/>
              </a:rPr>
              <a:t>shapeCalculator.GetArea</a:t>
            </a: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(square) == 20);</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nsolas" pitchFamily="49" charset="0"/>
                <a:ea typeface="Calibri" pitchFamily="34" charset="0"/>
                <a:cs typeface="Consolas" pitchFamily="49" charset="0"/>
              </a:rPr>
              <a:t>}</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Follow the LSP?</a:t>
            </a:r>
            <a:endParaRPr lang="en-US" dirty="0"/>
          </a:p>
        </p:txBody>
      </p:sp>
      <p:sp>
        <p:nvSpPr>
          <p:cNvPr id="3" name="Content Placeholder 2"/>
          <p:cNvSpPr>
            <a:spLocks noGrp="1"/>
          </p:cNvSpPr>
          <p:nvPr>
            <p:ph idx="1"/>
          </p:nvPr>
        </p:nvSpPr>
        <p:spPr/>
        <p:txBody>
          <a:bodyPr/>
          <a:lstStyle/>
          <a:p>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Dependency Inversion Principle</a:t>
            </a:r>
            <a:endParaRPr lang="en-US" dirty="0"/>
          </a:p>
        </p:txBody>
      </p:sp>
      <p:sp>
        <p:nvSpPr>
          <p:cNvPr id="3" name="Rounded Rectangle 4"/>
          <p:cNvSpPr/>
          <p:nvPr/>
        </p:nvSpPr>
        <p:spPr>
          <a:xfrm>
            <a:off x="4724400" y="1447800"/>
            <a:ext cx="4113881" cy="2590800"/>
          </a:xfrm>
          <a:prstGeom prst="rect">
            <a:avLst/>
          </a:prstGeom>
          <a:solidFill>
            <a:schemeClr val="accent1"/>
          </a:solidFill>
        </p:spPr>
        <p:style>
          <a:lnRef idx="0">
            <a:scrgbClr r="0" g="0" b="0"/>
          </a:lnRef>
          <a:fillRef idx="0">
            <a:scrgbClr r="0" g="0" b="0"/>
          </a:fillRef>
          <a:effectRef idx="0">
            <a:scrgbClr r="0" g="0" b="0"/>
          </a:effectRef>
          <a:fontRef idx="minor">
            <a:schemeClr val="lt1"/>
          </a:fontRef>
        </p:style>
        <p:txBody>
          <a:bodyPr spcFirstLastPara="0" vert="horz" wrap="square" lIns="213709" tIns="0" rIns="213709" bIns="0" numCol="1" spcCol="1270" anchor="ctr" anchorCtr="0">
            <a:noAutofit/>
          </a:bodyPr>
          <a:lstStyle/>
          <a:p>
            <a:pPr marL="457200" lvl="0" indent="-457200" defTabSz="800100">
              <a:lnSpc>
                <a:spcPct val="90000"/>
              </a:lnSpc>
              <a:spcAft>
                <a:spcPct val="35000"/>
              </a:spcAft>
              <a:buFont typeface="+mj-lt"/>
              <a:buAutoNum type="arabicPeriod"/>
            </a:pPr>
            <a:r>
              <a:rPr lang="en-US" sz="2000" u="sng" dirty="0" smtClean="0"/>
              <a:t>High-level</a:t>
            </a:r>
            <a:r>
              <a:rPr lang="en-US" sz="2000" dirty="0" smtClean="0"/>
              <a:t> modules should not depend on </a:t>
            </a:r>
            <a:r>
              <a:rPr lang="en-US" sz="2000" u="sng" dirty="0" smtClean="0"/>
              <a:t>low-level</a:t>
            </a:r>
            <a:r>
              <a:rPr lang="en-US" sz="2000" dirty="0" smtClean="0"/>
              <a:t> modules.</a:t>
            </a:r>
          </a:p>
          <a:p>
            <a:pPr marL="457200" lvl="0" indent="-457200" defTabSz="800100">
              <a:lnSpc>
                <a:spcPct val="90000"/>
              </a:lnSpc>
              <a:spcAft>
                <a:spcPct val="35000"/>
              </a:spcAft>
              <a:buFont typeface="+mj-lt"/>
              <a:buAutoNum type="arabicPeriod"/>
            </a:pPr>
            <a:r>
              <a:rPr lang="en-US" sz="2000" dirty="0" smtClean="0"/>
              <a:t>Both should depend on </a:t>
            </a:r>
            <a:r>
              <a:rPr lang="en-US" sz="2000" u="sng" dirty="0" smtClean="0"/>
              <a:t>abstractions</a:t>
            </a:r>
            <a:r>
              <a:rPr lang="en-US" sz="2000" dirty="0" smtClean="0"/>
              <a:t>.</a:t>
            </a:r>
          </a:p>
          <a:p>
            <a:pPr marL="457200" lvl="0" indent="-457200" defTabSz="800100">
              <a:lnSpc>
                <a:spcPct val="90000"/>
              </a:lnSpc>
              <a:spcAft>
                <a:spcPct val="35000"/>
              </a:spcAft>
              <a:buFont typeface="+mj-lt"/>
              <a:buAutoNum type="arabicPeriod"/>
            </a:pPr>
            <a:r>
              <a:rPr lang="en-US" sz="2000" u="sng" dirty="0" smtClean="0"/>
              <a:t>Details</a:t>
            </a:r>
            <a:r>
              <a:rPr lang="en-US" sz="2000" dirty="0" smtClean="0"/>
              <a:t> should depend upon abstractions. Abstractions should not depend upon details.</a:t>
            </a:r>
            <a:endParaRPr lang="en-US" sz="2000" dirty="0"/>
          </a:p>
        </p:txBody>
      </p:sp>
      <p:pic>
        <p:nvPicPr>
          <p:cNvPr id="57347" name="Picture 3"/>
          <p:cNvPicPr>
            <a:picLocks noChangeAspect="1" noChangeArrowheads="1"/>
          </p:cNvPicPr>
          <p:nvPr/>
        </p:nvPicPr>
        <p:blipFill>
          <a:blip r:embed="rId2" cstate="print"/>
          <a:srcRect/>
          <a:stretch>
            <a:fillRect/>
          </a:stretch>
        </p:blipFill>
        <p:spPr bwMode="auto">
          <a:xfrm>
            <a:off x="381000" y="1371600"/>
            <a:ext cx="4105275" cy="2714625"/>
          </a:xfrm>
          <a:prstGeom prst="rect">
            <a:avLst/>
          </a:prstGeom>
          <a:noFill/>
          <a:ln w="9525">
            <a:noFill/>
            <a:miter lim="800000"/>
            <a:headEnd/>
            <a:tailEnd/>
          </a:ln>
        </p:spPr>
      </p:pic>
      <p:pic>
        <p:nvPicPr>
          <p:cNvPr id="57349" name="Picture 5" descr="http://1.bp.blogspot.com/_DopKblQ_3tA/SB8l2gTVB0I/AAAAAAAABiY/YBI1Sb1uw90/s400/Dependency+Inversion.png"/>
          <p:cNvPicPr>
            <a:picLocks noChangeAspect="1" noChangeArrowheads="1"/>
          </p:cNvPicPr>
          <p:nvPr/>
        </p:nvPicPr>
        <p:blipFill>
          <a:blip r:embed="rId3" cstate="print"/>
          <a:srcRect/>
          <a:stretch>
            <a:fillRect/>
          </a:stretch>
        </p:blipFill>
        <p:spPr bwMode="auto">
          <a:xfrm>
            <a:off x="381000" y="4343400"/>
            <a:ext cx="3810000" cy="2266951"/>
          </a:xfrm>
          <a:prstGeom prst="rect">
            <a:avLst/>
          </a:prstGeom>
          <a:noFill/>
        </p:spPr>
      </p:pic>
      <p:pic>
        <p:nvPicPr>
          <p:cNvPr id="57352" name="Picture 8"/>
          <p:cNvPicPr>
            <a:picLocks noChangeAspect="1" noChangeArrowheads="1"/>
          </p:cNvPicPr>
          <p:nvPr/>
        </p:nvPicPr>
        <p:blipFill>
          <a:blip r:embed="rId4" cstate="print"/>
          <a:srcRect/>
          <a:stretch>
            <a:fillRect/>
          </a:stretch>
        </p:blipFill>
        <p:spPr bwMode="auto">
          <a:xfrm>
            <a:off x="5638800" y="4238625"/>
            <a:ext cx="2457450" cy="254317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Follow the DIP?</a:t>
            </a:r>
            <a:endParaRPr lang="en-US" dirty="0"/>
          </a:p>
        </p:txBody>
      </p:sp>
      <p:sp>
        <p:nvSpPr>
          <p:cNvPr id="3" name="Content Placeholder 2"/>
          <p:cNvSpPr>
            <a:spLocks noGrp="1"/>
          </p:cNvSpPr>
          <p:nvPr>
            <p:ph idx="1"/>
          </p:nvPr>
        </p:nvSpPr>
        <p:spPr/>
        <p:txBody>
          <a:bodyPr>
            <a:normAutofit/>
          </a:bodyPr>
          <a:lstStyle/>
          <a:p>
            <a:r>
              <a:rPr lang="en-US" sz="2400" dirty="0" smtClean="0"/>
              <a:t>Helps ensure that objects are highly reusable.</a:t>
            </a:r>
          </a:p>
          <a:p>
            <a:r>
              <a:rPr lang="en-US" sz="2400" b="1" dirty="0" smtClean="0"/>
              <a:t>High-level policies and business processes (for example a Domain Model) is what we want to reuse.</a:t>
            </a:r>
          </a:p>
          <a:p>
            <a:r>
              <a:rPr lang="en-US" sz="2400" dirty="0" smtClean="0"/>
              <a:t>If high-level modules depend on the low-level modules changes to the lower level details will force high-level modules to be tested again/to be changed. Additionally, it becomes harder if not practically impossible to use them in other contexts.</a:t>
            </a:r>
          </a:p>
          <a:p>
            <a:r>
              <a:rPr lang="en-US" sz="2400" dirty="0" smtClean="0"/>
              <a:t>It is the high-level modules that should influence the low-level details.</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The Acyclic Dependencies Principle [1]</a:t>
            </a:r>
            <a:endParaRPr lang="en-US" sz="4000" dirty="0"/>
          </a:p>
        </p:txBody>
      </p:sp>
      <p:pic>
        <p:nvPicPr>
          <p:cNvPr id="81923" name="Picture 3"/>
          <p:cNvPicPr>
            <a:picLocks noChangeAspect="1" noChangeArrowheads="1"/>
          </p:cNvPicPr>
          <p:nvPr/>
        </p:nvPicPr>
        <p:blipFill>
          <a:blip r:embed="rId2" cstate="print"/>
          <a:srcRect/>
          <a:stretch>
            <a:fillRect/>
          </a:stretch>
        </p:blipFill>
        <p:spPr bwMode="auto">
          <a:xfrm>
            <a:off x="502920" y="2188845"/>
            <a:ext cx="3840480" cy="2840355"/>
          </a:xfrm>
          <a:prstGeom prst="rect">
            <a:avLst/>
          </a:prstGeom>
          <a:noFill/>
          <a:ln w="9525">
            <a:noFill/>
            <a:miter lim="800000"/>
            <a:headEnd/>
            <a:tailEnd/>
          </a:ln>
        </p:spPr>
      </p:pic>
      <p:pic>
        <p:nvPicPr>
          <p:cNvPr id="81924" name="Picture 4"/>
          <p:cNvPicPr>
            <a:picLocks noChangeAspect="1" noChangeArrowheads="1"/>
          </p:cNvPicPr>
          <p:nvPr/>
        </p:nvPicPr>
        <p:blipFill>
          <a:blip r:embed="rId3" cstate="print"/>
          <a:srcRect/>
          <a:stretch>
            <a:fillRect/>
          </a:stretch>
        </p:blipFill>
        <p:spPr bwMode="auto">
          <a:xfrm>
            <a:off x="4572000" y="2133600"/>
            <a:ext cx="4057650" cy="2851785"/>
          </a:xfrm>
          <a:prstGeom prst="rect">
            <a:avLst/>
          </a:prstGeom>
          <a:noFill/>
          <a:ln w="9525">
            <a:noFill/>
            <a:miter lim="800000"/>
            <a:headEnd/>
            <a:tailEnd/>
          </a:ln>
        </p:spPr>
      </p:pic>
      <p:pic>
        <p:nvPicPr>
          <p:cNvPr id="7" name="Picture 6" descr="http://www.777icons.com/libs/basic-vista/delete-icon.gif"/>
          <p:cNvPicPr>
            <a:picLocks noChangeAspect="1" noChangeArrowheads="1"/>
          </p:cNvPicPr>
          <p:nvPr/>
        </p:nvPicPr>
        <p:blipFill>
          <a:blip r:embed="rId4" cstate="print"/>
          <a:srcRect/>
          <a:stretch>
            <a:fillRect/>
          </a:stretch>
        </p:blipFill>
        <p:spPr bwMode="auto">
          <a:xfrm>
            <a:off x="7258050" y="1752600"/>
            <a:ext cx="895350" cy="895351"/>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The Law of Demeter Principle</a:t>
            </a:r>
            <a:endParaRPr lang="en-US" dirty="0"/>
          </a:p>
        </p:txBody>
      </p:sp>
      <p:sp>
        <p:nvSpPr>
          <p:cNvPr id="5" name="Rectangle 3"/>
          <p:cNvSpPr>
            <a:spLocks noChangeArrowheads="1"/>
          </p:cNvSpPr>
          <p:nvPr/>
        </p:nvSpPr>
        <p:spPr bwMode="auto">
          <a:xfrm>
            <a:off x="3733800" y="3810000"/>
            <a:ext cx="1295400" cy="838200"/>
          </a:xfrm>
          <a:prstGeom prst="rect">
            <a:avLst/>
          </a:prstGeom>
          <a:solidFill>
            <a:srgbClr val="CC3300"/>
          </a:solidFill>
          <a:ln w="76200">
            <a:solidFill>
              <a:schemeClr val="tx1"/>
            </a:solidFill>
            <a:miter lim="800000"/>
            <a:headEnd/>
            <a:tailEnd/>
          </a:ln>
          <a:effectLst/>
        </p:spPr>
        <p:txBody>
          <a:bodyPr wrap="none" anchor="ctr"/>
          <a:lstStyle/>
          <a:p>
            <a:pPr algn="ctr"/>
            <a:r>
              <a:rPr lang="en-US" dirty="0" smtClean="0">
                <a:latin typeface="+mj-lt"/>
              </a:rPr>
              <a:t>Object O</a:t>
            </a:r>
          </a:p>
          <a:p>
            <a:pPr algn="ctr"/>
            <a:r>
              <a:rPr lang="en-US" dirty="0" smtClean="0">
                <a:latin typeface="+mj-lt"/>
              </a:rPr>
              <a:t>Method M</a:t>
            </a:r>
            <a:endParaRPr lang="en-US" dirty="0">
              <a:latin typeface="+mj-lt"/>
            </a:endParaRPr>
          </a:p>
        </p:txBody>
      </p:sp>
      <p:sp>
        <p:nvSpPr>
          <p:cNvPr id="6" name="Rectangle 4"/>
          <p:cNvSpPr>
            <a:spLocks noChangeArrowheads="1"/>
          </p:cNvSpPr>
          <p:nvPr/>
        </p:nvSpPr>
        <p:spPr bwMode="auto">
          <a:xfrm>
            <a:off x="1524000" y="3124200"/>
            <a:ext cx="914400" cy="914400"/>
          </a:xfrm>
          <a:prstGeom prst="rect">
            <a:avLst/>
          </a:prstGeom>
          <a:solidFill>
            <a:schemeClr val="accent1"/>
          </a:solidFill>
          <a:ln w="9525">
            <a:solidFill>
              <a:schemeClr val="tx1"/>
            </a:solidFill>
            <a:miter lim="800000"/>
            <a:headEnd/>
            <a:tailEnd/>
          </a:ln>
          <a:effectLst/>
        </p:spPr>
        <p:txBody>
          <a:bodyPr wrap="none" anchor="ctr"/>
          <a:lstStyle/>
          <a:p>
            <a:endParaRPr lang="en-US">
              <a:latin typeface="+mj-lt"/>
            </a:endParaRPr>
          </a:p>
        </p:txBody>
      </p:sp>
      <p:sp>
        <p:nvSpPr>
          <p:cNvPr id="7" name="Rectangle 5"/>
          <p:cNvSpPr>
            <a:spLocks noChangeArrowheads="1"/>
          </p:cNvSpPr>
          <p:nvPr/>
        </p:nvSpPr>
        <p:spPr bwMode="auto">
          <a:xfrm>
            <a:off x="2209800" y="4495800"/>
            <a:ext cx="914400" cy="914400"/>
          </a:xfrm>
          <a:prstGeom prst="rect">
            <a:avLst/>
          </a:prstGeom>
          <a:solidFill>
            <a:srgbClr val="CC3300"/>
          </a:solidFill>
          <a:ln w="9525">
            <a:solidFill>
              <a:schemeClr val="tx1"/>
            </a:solidFill>
            <a:miter lim="800000"/>
            <a:headEnd/>
            <a:tailEnd/>
          </a:ln>
          <a:effectLst/>
        </p:spPr>
        <p:txBody>
          <a:bodyPr wrap="none" anchor="ctr"/>
          <a:lstStyle/>
          <a:p>
            <a:pPr algn="ctr"/>
            <a:r>
              <a:rPr lang="en-US" dirty="0" smtClean="0">
                <a:latin typeface="+mj-lt"/>
              </a:rPr>
              <a:t>F5</a:t>
            </a:r>
            <a:endParaRPr lang="en-US" dirty="0">
              <a:latin typeface="+mj-lt"/>
            </a:endParaRPr>
          </a:p>
        </p:txBody>
      </p:sp>
      <p:sp>
        <p:nvSpPr>
          <p:cNvPr id="8" name="Rectangle 6"/>
          <p:cNvSpPr>
            <a:spLocks noChangeArrowheads="1"/>
          </p:cNvSpPr>
          <p:nvPr/>
        </p:nvSpPr>
        <p:spPr bwMode="auto">
          <a:xfrm>
            <a:off x="304800" y="5029200"/>
            <a:ext cx="914400" cy="914400"/>
          </a:xfrm>
          <a:prstGeom prst="rect">
            <a:avLst/>
          </a:prstGeom>
          <a:solidFill>
            <a:schemeClr val="accent1"/>
          </a:solidFill>
          <a:ln w="9525">
            <a:solidFill>
              <a:schemeClr val="tx1"/>
            </a:solidFill>
            <a:miter lim="800000"/>
            <a:headEnd/>
            <a:tailEnd/>
          </a:ln>
          <a:effectLst/>
        </p:spPr>
        <p:txBody>
          <a:bodyPr wrap="none" anchor="ctr"/>
          <a:lstStyle/>
          <a:p>
            <a:endParaRPr lang="en-US">
              <a:latin typeface="+mj-lt"/>
            </a:endParaRPr>
          </a:p>
        </p:txBody>
      </p:sp>
      <p:sp>
        <p:nvSpPr>
          <p:cNvPr id="9" name="Rectangle 7"/>
          <p:cNvSpPr>
            <a:spLocks noChangeArrowheads="1"/>
          </p:cNvSpPr>
          <p:nvPr/>
        </p:nvSpPr>
        <p:spPr bwMode="auto">
          <a:xfrm>
            <a:off x="5334000" y="4648200"/>
            <a:ext cx="914400" cy="914400"/>
          </a:xfrm>
          <a:prstGeom prst="rect">
            <a:avLst/>
          </a:prstGeom>
          <a:solidFill>
            <a:srgbClr val="CC3300"/>
          </a:solidFill>
          <a:ln w="9525">
            <a:solidFill>
              <a:schemeClr val="tx1"/>
            </a:solidFill>
            <a:miter lim="800000"/>
            <a:headEnd/>
            <a:tailEnd/>
          </a:ln>
          <a:effectLst/>
        </p:spPr>
        <p:txBody>
          <a:bodyPr wrap="none" anchor="ctr"/>
          <a:lstStyle/>
          <a:p>
            <a:pPr algn="ctr"/>
            <a:r>
              <a:rPr lang="en-US" dirty="0" smtClean="0">
                <a:latin typeface="+mj-lt"/>
              </a:rPr>
              <a:t>F3</a:t>
            </a:r>
            <a:endParaRPr lang="en-US" dirty="0">
              <a:latin typeface="+mj-lt"/>
            </a:endParaRPr>
          </a:p>
        </p:txBody>
      </p:sp>
      <p:sp>
        <p:nvSpPr>
          <p:cNvPr id="10" name="Rectangle 8"/>
          <p:cNvSpPr>
            <a:spLocks noChangeArrowheads="1"/>
          </p:cNvSpPr>
          <p:nvPr/>
        </p:nvSpPr>
        <p:spPr bwMode="auto">
          <a:xfrm>
            <a:off x="7467600" y="4572000"/>
            <a:ext cx="914400" cy="914400"/>
          </a:xfrm>
          <a:prstGeom prst="rect">
            <a:avLst/>
          </a:prstGeom>
          <a:solidFill>
            <a:schemeClr val="accent1"/>
          </a:solidFill>
          <a:ln w="9525">
            <a:solidFill>
              <a:schemeClr val="tx1"/>
            </a:solidFill>
            <a:miter lim="800000"/>
            <a:headEnd/>
            <a:tailEnd/>
          </a:ln>
          <a:effectLst/>
        </p:spPr>
        <p:txBody>
          <a:bodyPr wrap="none" anchor="ctr"/>
          <a:lstStyle/>
          <a:p>
            <a:endParaRPr lang="en-US">
              <a:latin typeface="+mj-lt"/>
            </a:endParaRPr>
          </a:p>
        </p:txBody>
      </p:sp>
      <p:sp>
        <p:nvSpPr>
          <p:cNvPr id="11" name="Rectangle 9"/>
          <p:cNvSpPr>
            <a:spLocks noChangeArrowheads="1"/>
          </p:cNvSpPr>
          <p:nvPr/>
        </p:nvSpPr>
        <p:spPr bwMode="auto">
          <a:xfrm>
            <a:off x="3810000" y="5486400"/>
            <a:ext cx="914400" cy="914400"/>
          </a:xfrm>
          <a:prstGeom prst="rect">
            <a:avLst/>
          </a:prstGeom>
          <a:solidFill>
            <a:srgbClr val="CC3300"/>
          </a:solidFill>
          <a:ln w="9525">
            <a:solidFill>
              <a:schemeClr val="tx1"/>
            </a:solidFill>
            <a:miter lim="800000"/>
            <a:headEnd/>
            <a:tailEnd/>
          </a:ln>
          <a:effectLst/>
        </p:spPr>
        <p:txBody>
          <a:bodyPr wrap="none" anchor="ctr"/>
          <a:lstStyle/>
          <a:p>
            <a:pPr algn="ctr"/>
            <a:r>
              <a:rPr lang="en-US" dirty="0" smtClean="0">
                <a:latin typeface="+mj-lt"/>
              </a:rPr>
              <a:t>F4</a:t>
            </a:r>
            <a:endParaRPr lang="en-US" dirty="0">
              <a:latin typeface="+mj-lt"/>
            </a:endParaRPr>
          </a:p>
        </p:txBody>
      </p:sp>
      <p:sp>
        <p:nvSpPr>
          <p:cNvPr id="12" name="Line 10"/>
          <p:cNvSpPr>
            <a:spLocks noChangeShapeType="1"/>
          </p:cNvSpPr>
          <p:nvPr/>
        </p:nvSpPr>
        <p:spPr bwMode="auto">
          <a:xfrm>
            <a:off x="4343400" y="4648200"/>
            <a:ext cx="0" cy="838200"/>
          </a:xfrm>
          <a:prstGeom prst="line">
            <a:avLst/>
          </a:prstGeom>
          <a:noFill/>
          <a:ln w="9525">
            <a:solidFill>
              <a:schemeClr val="tx1"/>
            </a:solidFill>
            <a:miter lim="800000"/>
            <a:headEnd/>
            <a:tailEnd type="triangle" w="med" len="med"/>
          </a:ln>
          <a:effectLst/>
        </p:spPr>
        <p:txBody>
          <a:bodyPr wrap="none" anchor="ctr"/>
          <a:lstStyle/>
          <a:p>
            <a:endParaRPr lang="en-US">
              <a:latin typeface="+mj-lt"/>
            </a:endParaRPr>
          </a:p>
        </p:txBody>
      </p:sp>
      <p:sp>
        <p:nvSpPr>
          <p:cNvPr id="13" name="Rectangle 11"/>
          <p:cNvSpPr>
            <a:spLocks noChangeArrowheads="1"/>
          </p:cNvSpPr>
          <p:nvPr/>
        </p:nvSpPr>
        <p:spPr bwMode="auto">
          <a:xfrm>
            <a:off x="5715000" y="2743200"/>
            <a:ext cx="914400" cy="914400"/>
          </a:xfrm>
          <a:prstGeom prst="rect">
            <a:avLst/>
          </a:prstGeom>
          <a:solidFill>
            <a:srgbClr val="CC3300"/>
          </a:solidFill>
          <a:ln w="9525">
            <a:solidFill>
              <a:schemeClr val="tx1"/>
            </a:solidFill>
            <a:miter lim="800000"/>
            <a:headEnd/>
            <a:tailEnd/>
          </a:ln>
          <a:effectLst/>
        </p:spPr>
        <p:txBody>
          <a:bodyPr wrap="none" anchor="ctr"/>
          <a:lstStyle/>
          <a:p>
            <a:pPr algn="ctr"/>
            <a:r>
              <a:rPr lang="en-US" dirty="0" smtClean="0">
                <a:latin typeface="+mj-lt"/>
              </a:rPr>
              <a:t>F2</a:t>
            </a:r>
            <a:endParaRPr lang="en-US" dirty="0">
              <a:latin typeface="+mj-lt"/>
            </a:endParaRPr>
          </a:p>
        </p:txBody>
      </p:sp>
      <p:sp>
        <p:nvSpPr>
          <p:cNvPr id="14" name="Rectangle 12"/>
          <p:cNvSpPr>
            <a:spLocks noChangeArrowheads="1"/>
          </p:cNvSpPr>
          <p:nvPr/>
        </p:nvSpPr>
        <p:spPr bwMode="auto">
          <a:xfrm>
            <a:off x="7315200" y="2667000"/>
            <a:ext cx="914400" cy="914400"/>
          </a:xfrm>
          <a:prstGeom prst="rect">
            <a:avLst/>
          </a:prstGeom>
          <a:solidFill>
            <a:schemeClr val="accent1"/>
          </a:solidFill>
          <a:ln w="9525">
            <a:solidFill>
              <a:schemeClr val="tx1"/>
            </a:solidFill>
            <a:miter lim="800000"/>
            <a:headEnd/>
            <a:tailEnd/>
          </a:ln>
          <a:effectLst/>
        </p:spPr>
        <p:txBody>
          <a:bodyPr wrap="none" anchor="ctr"/>
          <a:lstStyle/>
          <a:p>
            <a:endParaRPr lang="en-US">
              <a:latin typeface="+mj-lt"/>
            </a:endParaRPr>
          </a:p>
        </p:txBody>
      </p:sp>
      <p:sp>
        <p:nvSpPr>
          <p:cNvPr id="16" name="Rectangle 14"/>
          <p:cNvSpPr>
            <a:spLocks noChangeArrowheads="1"/>
          </p:cNvSpPr>
          <p:nvPr/>
        </p:nvSpPr>
        <p:spPr bwMode="auto">
          <a:xfrm>
            <a:off x="3276600" y="2362200"/>
            <a:ext cx="914400" cy="914400"/>
          </a:xfrm>
          <a:prstGeom prst="rect">
            <a:avLst/>
          </a:prstGeom>
          <a:solidFill>
            <a:srgbClr val="CC3300"/>
          </a:solidFill>
          <a:ln w="9525">
            <a:solidFill>
              <a:schemeClr val="tx1"/>
            </a:solidFill>
            <a:miter lim="800000"/>
            <a:headEnd/>
            <a:tailEnd/>
          </a:ln>
          <a:effectLst/>
        </p:spPr>
        <p:txBody>
          <a:bodyPr wrap="none" anchor="ctr"/>
          <a:lstStyle/>
          <a:p>
            <a:pPr algn="ctr"/>
            <a:r>
              <a:rPr lang="en-US" dirty="0" smtClean="0">
                <a:latin typeface="+mj-lt"/>
              </a:rPr>
              <a:t>F1</a:t>
            </a:r>
            <a:endParaRPr kumimoji="0" lang="en-US" dirty="0">
              <a:latin typeface="+mj-lt"/>
            </a:endParaRPr>
          </a:p>
        </p:txBody>
      </p:sp>
      <p:sp>
        <p:nvSpPr>
          <p:cNvPr id="17" name="Rectangle 15"/>
          <p:cNvSpPr>
            <a:spLocks noChangeArrowheads="1"/>
          </p:cNvSpPr>
          <p:nvPr/>
        </p:nvSpPr>
        <p:spPr bwMode="auto">
          <a:xfrm>
            <a:off x="457200" y="2362200"/>
            <a:ext cx="914400" cy="914400"/>
          </a:xfrm>
          <a:prstGeom prst="rect">
            <a:avLst/>
          </a:prstGeom>
          <a:solidFill>
            <a:schemeClr val="accent1"/>
          </a:solidFill>
          <a:ln w="9525">
            <a:solidFill>
              <a:schemeClr val="tx1"/>
            </a:solidFill>
            <a:miter lim="800000"/>
            <a:headEnd/>
            <a:tailEnd/>
          </a:ln>
          <a:effectLst/>
        </p:spPr>
        <p:txBody>
          <a:bodyPr wrap="none" anchor="ctr"/>
          <a:lstStyle/>
          <a:p>
            <a:endParaRPr lang="en-US">
              <a:latin typeface="+mj-lt"/>
            </a:endParaRPr>
          </a:p>
        </p:txBody>
      </p:sp>
      <p:sp>
        <p:nvSpPr>
          <p:cNvPr id="19" name="Line 18"/>
          <p:cNvSpPr>
            <a:spLocks noChangeShapeType="1"/>
          </p:cNvSpPr>
          <p:nvPr/>
        </p:nvSpPr>
        <p:spPr bwMode="auto">
          <a:xfrm flipV="1">
            <a:off x="5029200" y="3048000"/>
            <a:ext cx="685800" cy="762000"/>
          </a:xfrm>
          <a:prstGeom prst="line">
            <a:avLst/>
          </a:prstGeom>
          <a:noFill/>
          <a:ln w="9525">
            <a:solidFill>
              <a:schemeClr val="tx1"/>
            </a:solidFill>
            <a:miter lim="800000"/>
            <a:headEnd/>
            <a:tailEnd type="triangle" w="med" len="med"/>
          </a:ln>
          <a:effectLst/>
        </p:spPr>
        <p:txBody>
          <a:bodyPr wrap="none" anchor="ctr"/>
          <a:lstStyle/>
          <a:p>
            <a:endParaRPr lang="en-US">
              <a:latin typeface="+mj-lt"/>
            </a:endParaRPr>
          </a:p>
        </p:txBody>
      </p:sp>
      <p:sp>
        <p:nvSpPr>
          <p:cNvPr id="20" name="Line 19"/>
          <p:cNvSpPr>
            <a:spLocks noChangeShapeType="1"/>
          </p:cNvSpPr>
          <p:nvPr/>
        </p:nvSpPr>
        <p:spPr bwMode="auto">
          <a:xfrm flipH="1" flipV="1">
            <a:off x="3962400" y="3276600"/>
            <a:ext cx="152400" cy="533400"/>
          </a:xfrm>
          <a:prstGeom prst="line">
            <a:avLst/>
          </a:prstGeom>
          <a:noFill/>
          <a:ln w="9525">
            <a:solidFill>
              <a:schemeClr val="tx1"/>
            </a:solidFill>
            <a:miter lim="800000"/>
            <a:headEnd/>
            <a:tailEnd type="triangle" w="med" len="med"/>
          </a:ln>
          <a:effectLst/>
        </p:spPr>
        <p:txBody>
          <a:bodyPr wrap="none" anchor="ctr"/>
          <a:lstStyle/>
          <a:p>
            <a:endParaRPr lang="en-US">
              <a:latin typeface="+mj-lt"/>
            </a:endParaRPr>
          </a:p>
        </p:txBody>
      </p:sp>
      <p:sp>
        <p:nvSpPr>
          <p:cNvPr id="22" name="Line 21"/>
          <p:cNvSpPr>
            <a:spLocks noChangeShapeType="1"/>
          </p:cNvSpPr>
          <p:nvPr/>
        </p:nvSpPr>
        <p:spPr bwMode="auto">
          <a:xfrm flipH="1">
            <a:off x="3124200" y="4343400"/>
            <a:ext cx="609600" cy="533400"/>
          </a:xfrm>
          <a:prstGeom prst="line">
            <a:avLst/>
          </a:prstGeom>
          <a:noFill/>
          <a:ln w="9525">
            <a:solidFill>
              <a:schemeClr val="tx1"/>
            </a:solidFill>
            <a:miter lim="800000"/>
            <a:headEnd/>
            <a:tailEnd type="triangle" w="med" len="med"/>
          </a:ln>
          <a:effectLst/>
        </p:spPr>
        <p:txBody>
          <a:bodyPr wrap="none" anchor="ctr"/>
          <a:lstStyle/>
          <a:p>
            <a:endParaRPr lang="en-US">
              <a:latin typeface="+mj-lt"/>
            </a:endParaRPr>
          </a:p>
        </p:txBody>
      </p:sp>
      <p:sp>
        <p:nvSpPr>
          <p:cNvPr id="23" name="Line 22"/>
          <p:cNvSpPr>
            <a:spLocks noChangeShapeType="1"/>
          </p:cNvSpPr>
          <p:nvPr/>
        </p:nvSpPr>
        <p:spPr bwMode="auto">
          <a:xfrm>
            <a:off x="5029200" y="4191000"/>
            <a:ext cx="457200" cy="457200"/>
          </a:xfrm>
          <a:prstGeom prst="line">
            <a:avLst/>
          </a:prstGeom>
          <a:noFill/>
          <a:ln w="9525">
            <a:solidFill>
              <a:schemeClr val="tx1"/>
            </a:solidFill>
            <a:miter lim="800000"/>
            <a:headEnd/>
            <a:tailEnd type="triangle" w="med" len="med"/>
          </a:ln>
          <a:effectLst/>
        </p:spPr>
        <p:txBody>
          <a:bodyPr wrap="none" anchor="ctr"/>
          <a:lstStyle/>
          <a:p>
            <a:endParaRPr lang="en-US">
              <a:latin typeface="+mj-lt"/>
            </a:endParaRPr>
          </a:p>
        </p:txBody>
      </p:sp>
      <p:sp>
        <p:nvSpPr>
          <p:cNvPr id="24" name="Line 23"/>
          <p:cNvSpPr>
            <a:spLocks noChangeShapeType="1"/>
          </p:cNvSpPr>
          <p:nvPr/>
        </p:nvSpPr>
        <p:spPr bwMode="auto">
          <a:xfrm>
            <a:off x="6248400" y="5105400"/>
            <a:ext cx="1219200" cy="0"/>
          </a:xfrm>
          <a:prstGeom prst="line">
            <a:avLst/>
          </a:prstGeom>
          <a:noFill/>
          <a:ln w="9525">
            <a:solidFill>
              <a:schemeClr val="tx1"/>
            </a:solidFill>
            <a:miter lim="800000"/>
            <a:headEnd/>
            <a:tailEnd type="triangle" w="med" len="med"/>
          </a:ln>
          <a:effectLst/>
        </p:spPr>
        <p:txBody>
          <a:bodyPr wrap="none" anchor="ctr"/>
          <a:lstStyle/>
          <a:p>
            <a:endParaRPr lang="en-US">
              <a:latin typeface="+mj-lt"/>
            </a:endParaRPr>
          </a:p>
        </p:txBody>
      </p:sp>
      <p:sp>
        <p:nvSpPr>
          <p:cNvPr id="25" name="Line 24"/>
          <p:cNvSpPr>
            <a:spLocks noChangeShapeType="1"/>
          </p:cNvSpPr>
          <p:nvPr/>
        </p:nvSpPr>
        <p:spPr bwMode="auto">
          <a:xfrm flipV="1">
            <a:off x="7772400" y="3581400"/>
            <a:ext cx="0" cy="990600"/>
          </a:xfrm>
          <a:prstGeom prst="line">
            <a:avLst/>
          </a:prstGeom>
          <a:noFill/>
          <a:ln w="9525">
            <a:solidFill>
              <a:schemeClr val="tx1"/>
            </a:solidFill>
            <a:miter lim="800000"/>
            <a:headEnd/>
            <a:tailEnd type="triangle" w="med" len="med"/>
          </a:ln>
          <a:effectLst/>
        </p:spPr>
        <p:txBody>
          <a:bodyPr wrap="none" anchor="ctr"/>
          <a:lstStyle/>
          <a:p>
            <a:endParaRPr lang="en-US">
              <a:latin typeface="+mj-lt"/>
            </a:endParaRPr>
          </a:p>
        </p:txBody>
      </p:sp>
      <p:sp>
        <p:nvSpPr>
          <p:cNvPr id="27" name="Line 26"/>
          <p:cNvSpPr>
            <a:spLocks noChangeShapeType="1"/>
          </p:cNvSpPr>
          <p:nvPr/>
        </p:nvSpPr>
        <p:spPr bwMode="auto">
          <a:xfrm>
            <a:off x="6629400" y="2895600"/>
            <a:ext cx="685800" cy="0"/>
          </a:xfrm>
          <a:prstGeom prst="line">
            <a:avLst/>
          </a:prstGeom>
          <a:noFill/>
          <a:ln w="9525">
            <a:solidFill>
              <a:schemeClr val="tx1"/>
            </a:solidFill>
            <a:miter lim="800000"/>
            <a:headEnd/>
            <a:tailEnd type="triangle" w="med" len="med"/>
          </a:ln>
          <a:effectLst/>
        </p:spPr>
        <p:txBody>
          <a:bodyPr wrap="none" anchor="ctr"/>
          <a:lstStyle/>
          <a:p>
            <a:endParaRPr lang="en-US">
              <a:latin typeface="+mj-lt"/>
            </a:endParaRPr>
          </a:p>
        </p:txBody>
      </p:sp>
      <p:sp>
        <p:nvSpPr>
          <p:cNvPr id="28" name="Line 27"/>
          <p:cNvSpPr>
            <a:spLocks noChangeShapeType="1"/>
          </p:cNvSpPr>
          <p:nvPr/>
        </p:nvSpPr>
        <p:spPr bwMode="auto">
          <a:xfrm flipH="1">
            <a:off x="1219200" y="4876800"/>
            <a:ext cx="990600" cy="838200"/>
          </a:xfrm>
          <a:prstGeom prst="line">
            <a:avLst/>
          </a:prstGeom>
          <a:noFill/>
          <a:ln w="9525">
            <a:solidFill>
              <a:schemeClr val="tx1"/>
            </a:solidFill>
            <a:miter lim="800000"/>
            <a:headEnd/>
            <a:tailEnd type="triangle" w="med" len="med"/>
          </a:ln>
          <a:effectLst/>
        </p:spPr>
        <p:txBody>
          <a:bodyPr wrap="none" anchor="ctr"/>
          <a:lstStyle/>
          <a:p>
            <a:endParaRPr lang="en-US">
              <a:latin typeface="+mj-lt"/>
            </a:endParaRPr>
          </a:p>
        </p:txBody>
      </p:sp>
      <p:sp>
        <p:nvSpPr>
          <p:cNvPr id="29" name="Line 28"/>
          <p:cNvSpPr>
            <a:spLocks noChangeShapeType="1"/>
          </p:cNvSpPr>
          <p:nvPr/>
        </p:nvSpPr>
        <p:spPr bwMode="auto">
          <a:xfrm flipH="1" flipV="1">
            <a:off x="2209800" y="4038600"/>
            <a:ext cx="228600" cy="457200"/>
          </a:xfrm>
          <a:prstGeom prst="line">
            <a:avLst/>
          </a:prstGeom>
          <a:noFill/>
          <a:ln w="9525">
            <a:solidFill>
              <a:schemeClr val="tx1"/>
            </a:solidFill>
            <a:miter lim="800000"/>
            <a:headEnd/>
            <a:tailEnd type="triangle" w="med" len="med"/>
          </a:ln>
          <a:effectLst/>
        </p:spPr>
        <p:txBody>
          <a:bodyPr wrap="none" anchor="ctr"/>
          <a:lstStyle/>
          <a:p>
            <a:endParaRPr lang="en-US">
              <a:latin typeface="+mj-lt"/>
            </a:endParaRPr>
          </a:p>
        </p:txBody>
      </p:sp>
      <p:sp>
        <p:nvSpPr>
          <p:cNvPr id="30" name="Line 29"/>
          <p:cNvSpPr>
            <a:spLocks noChangeShapeType="1"/>
          </p:cNvSpPr>
          <p:nvPr/>
        </p:nvSpPr>
        <p:spPr bwMode="auto">
          <a:xfrm flipH="1">
            <a:off x="1371600" y="2819400"/>
            <a:ext cx="1905000" cy="0"/>
          </a:xfrm>
          <a:prstGeom prst="line">
            <a:avLst/>
          </a:prstGeom>
          <a:noFill/>
          <a:ln w="9525">
            <a:solidFill>
              <a:schemeClr val="tx1"/>
            </a:solidFill>
            <a:miter lim="800000"/>
            <a:headEnd/>
            <a:tailEnd type="triangle" w="med" len="med"/>
          </a:ln>
          <a:effectLst/>
        </p:spPr>
        <p:txBody>
          <a:bodyPr wrap="none" anchor="ctr"/>
          <a:lstStyle/>
          <a:p>
            <a:endParaRPr lang="en-US">
              <a:latin typeface="+mj-lt"/>
            </a:endParaRPr>
          </a:p>
        </p:txBody>
      </p:sp>
      <p:sp>
        <p:nvSpPr>
          <p:cNvPr id="31" name="Text Box 30"/>
          <p:cNvSpPr txBox="1">
            <a:spLocks noChangeArrowheads="1"/>
          </p:cNvSpPr>
          <p:nvPr/>
        </p:nvSpPr>
        <p:spPr bwMode="auto">
          <a:xfrm>
            <a:off x="4495800" y="2667000"/>
            <a:ext cx="982961" cy="369332"/>
          </a:xfrm>
          <a:prstGeom prst="rect">
            <a:avLst/>
          </a:prstGeom>
          <a:noFill/>
          <a:ln w="9525">
            <a:noFill/>
            <a:miter lim="800000"/>
            <a:headEnd/>
            <a:tailEnd/>
          </a:ln>
          <a:effectLst/>
        </p:spPr>
        <p:txBody>
          <a:bodyPr wrap="none">
            <a:spAutoFit/>
          </a:bodyPr>
          <a:lstStyle/>
          <a:p>
            <a:pPr>
              <a:buFontTx/>
              <a:buNone/>
            </a:pPr>
            <a:r>
              <a:rPr kumimoji="0" lang="en-US" dirty="0">
                <a:solidFill>
                  <a:srgbClr val="CC3300"/>
                </a:solidFill>
                <a:latin typeface="+mj-lt"/>
              </a:rPr>
              <a:t>FRIENDS</a:t>
            </a:r>
          </a:p>
        </p:txBody>
      </p:sp>
      <p:sp>
        <p:nvSpPr>
          <p:cNvPr id="32" name="Rectangle 31"/>
          <p:cNvSpPr>
            <a:spLocks noChangeArrowheads="1"/>
          </p:cNvSpPr>
          <p:nvPr/>
        </p:nvSpPr>
        <p:spPr bwMode="auto">
          <a:xfrm>
            <a:off x="6553200" y="5867400"/>
            <a:ext cx="914400" cy="914400"/>
          </a:xfrm>
          <a:prstGeom prst="rect">
            <a:avLst/>
          </a:prstGeom>
          <a:solidFill>
            <a:schemeClr val="accent1"/>
          </a:solidFill>
          <a:ln w="9525">
            <a:solidFill>
              <a:schemeClr val="tx1"/>
            </a:solidFill>
            <a:miter lim="800000"/>
            <a:headEnd/>
            <a:tailEnd/>
          </a:ln>
          <a:effectLst/>
        </p:spPr>
        <p:txBody>
          <a:bodyPr wrap="none" anchor="ctr"/>
          <a:lstStyle/>
          <a:p>
            <a:endParaRPr lang="en-US">
              <a:latin typeface="+mj-lt"/>
            </a:endParaRPr>
          </a:p>
        </p:txBody>
      </p:sp>
      <p:sp>
        <p:nvSpPr>
          <p:cNvPr id="33" name="Rectangle 32"/>
          <p:cNvSpPr>
            <a:spLocks noChangeArrowheads="1"/>
          </p:cNvSpPr>
          <p:nvPr/>
        </p:nvSpPr>
        <p:spPr bwMode="auto">
          <a:xfrm>
            <a:off x="2133600" y="5867400"/>
            <a:ext cx="914400" cy="914400"/>
          </a:xfrm>
          <a:prstGeom prst="rect">
            <a:avLst/>
          </a:prstGeom>
          <a:solidFill>
            <a:schemeClr val="accent1"/>
          </a:solidFill>
          <a:ln w="9525">
            <a:solidFill>
              <a:schemeClr val="tx1"/>
            </a:solidFill>
            <a:miter lim="800000"/>
            <a:headEnd/>
            <a:tailEnd/>
          </a:ln>
          <a:effectLst/>
        </p:spPr>
        <p:txBody>
          <a:bodyPr wrap="none" anchor="ctr"/>
          <a:lstStyle/>
          <a:p>
            <a:endParaRPr lang="en-US">
              <a:latin typeface="+mj-lt"/>
            </a:endParaRPr>
          </a:p>
        </p:txBody>
      </p:sp>
      <p:sp>
        <p:nvSpPr>
          <p:cNvPr id="34" name="Line 33"/>
          <p:cNvSpPr>
            <a:spLocks noChangeShapeType="1"/>
          </p:cNvSpPr>
          <p:nvPr/>
        </p:nvSpPr>
        <p:spPr bwMode="auto">
          <a:xfrm>
            <a:off x="2667000" y="5410200"/>
            <a:ext cx="0" cy="457200"/>
          </a:xfrm>
          <a:prstGeom prst="line">
            <a:avLst/>
          </a:prstGeom>
          <a:noFill/>
          <a:ln w="9525">
            <a:solidFill>
              <a:schemeClr val="tx1"/>
            </a:solidFill>
            <a:miter lim="800000"/>
            <a:headEnd/>
            <a:tailEnd type="triangle" w="med" len="med"/>
          </a:ln>
          <a:effectLst/>
        </p:spPr>
        <p:txBody>
          <a:bodyPr wrap="none" anchor="ctr"/>
          <a:lstStyle/>
          <a:p>
            <a:endParaRPr lang="en-US">
              <a:latin typeface="+mj-lt"/>
            </a:endParaRPr>
          </a:p>
        </p:txBody>
      </p:sp>
      <p:sp>
        <p:nvSpPr>
          <p:cNvPr id="35" name="Line 34"/>
          <p:cNvSpPr>
            <a:spLocks noChangeShapeType="1"/>
          </p:cNvSpPr>
          <p:nvPr/>
        </p:nvSpPr>
        <p:spPr bwMode="auto">
          <a:xfrm>
            <a:off x="6248400" y="5562600"/>
            <a:ext cx="762000" cy="304800"/>
          </a:xfrm>
          <a:prstGeom prst="line">
            <a:avLst/>
          </a:prstGeom>
          <a:noFill/>
          <a:ln w="9525">
            <a:solidFill>
              <a:schemeClr val="tx1"/>
            </a:solidFill>
            <a:miter lim="800000"/>
            <a:headEnd/>
            <a:tailEnd type="triangle" w="med" len="med"/>
          </a:ln>
          <a:effectLst/>
        </p:spPr>
        <p:txBody>
          <a:bodyPr wrap="none" anchor="ctr"/>
          <a:lstStyle/>
          <a:p>
            <a:endParaRPr lang="en-US">
              <a:latin typeface="+mj-lt"/>
            </a:endParaRPr>
          </a:p>
        </p:txBody>
      </p:sp>
      <p:graphicFrame>
        <p:nvGraphicFramePr>
          <p:cNvPr id="26626" name="Object 2"/>
          <p:cNvGraphicFramePr>
            <a:graphicFrameLocks noChangeAspect="1"/>
          </p:cNvGraphicFramePr>
          <p:nvPr/>
        </p:nvGraphicFramePr>
        <p:xfrm>
          <a:off x="6553200" y="4267200"/>
          <a:ext cx="742950" cy="1238250"/>
        </p:xfrm>
        <a:graphic>
          <a:graphicData uri="http://schemas.openxmlformats.org/presentationml/2006/ole">
            <p:oleObj spid="_x0000_s107522" name="Clip" r:id="rId3" imgW="2033280" imgH="3390840" progId="">
              <p:embed/>
            </p:oleObj>
          </a:graphicData>
        </a:graphic>
      </p:graphicFrame>
      <p:graphicFrame>
        <p:nvGraphicFramePr>
          <p:cNvPr id="26627" name="Object 3"/>
          <p:cNvGraphicFramePr>
            <a:graphicFrameLocks noChangeAspect="1"/>
          </p:cNvGraphicFramePr>
          <p:nvPr/>
        </p:nvGraphicFramePr>
        <p:xfrm>
          <a:off x="2362200" y="2362200"/>
          <a:ext cx="742950" cy="1238250"/>
        </p:xfrm>
        <a:graphic>
          <a:graphicData uri="http://schemas.openxmlformats.org/presentationml/2006/ole">
            <p:oleObj spid="_x0000_s107523" name="Clip" r:id="rId4" imgW="2033280" imgH="3390840" progId="">
              <p:embed/>
            </p:oleObj>
          </a:graphicData>
        </a:graphic>
      </p:graphicFrame>
      <p:sp>
        <p:nvSpPr>
          <p:cNvPr id="36" name="Rectangle 35"/>
          <p:cNvSpPr/>
          <p:nvPr/>
        </p:nvSpPr>
        <p:spPr>
          <a:xfrm>
            <a:off x="228600" y="1219200"/>
            <a:ext cx="8686800" cy="923330"/>
          </a:xfrm>
          <a:prstGeom prst="rect">
            <a:avLst/>
          </a:prstGeom>
          <a:solidFill>
            <a:schemeClr val="accent1"/>
          </a:solidFill>
        </p:spPr>
        <p:txBody>
          <a:bodyPr wrap="square">
            <a:spAutoFit/>
          </a:bodyPr>
          <a:lstStyle/>
          <a:p>
            <a:pPr lvl="0" defTabSz="800100">
              <a:lnSpc>
                <a:spcPct val="90000"/>
              </a:lnSpc>
              <a:spcAft>
                <a:spcPct val="35000"/>
              </a:spcAft>
            </a:pPr>
            <a:r>
              <a:rPr lang="en-US" sz="2000" i="1" dirty="0" smtClean="0">
                <a:solidFill>
                  <a:schemeClr val="bg1"/>
                </a:solidFill>
                <a:latin typeface="+mj-lt"/>
              </a:rPr>
              <a:t>A method "M" of an object "O" should invoke only the methods of the following kinds of objects: O itself; M’s parameters; any objects M creates/instantiates; O’s direct component objects; a global variable, accessible by O, in the scope of M.</a:t>
            </a:r>
            <a:endParaRPr lang="en-US" sz="2000" i="1" dirty="0">
              <a:solidFill>
                <a:schemeClr val="bg1"/>
              </a:solidFill>
              <a:latin typeface="+mj-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ChangeArrowheads="1"/>
          </p:cNvSpPr>
          <p:nvPr>
            <p:ph type="title"/>
          </p:nvPr>
        </p:nvSpPr>
        <p:spPr>
          <a:xfrm>
            <a:off x="609600" y="152400"/>
            <a:ext cx="7772400" cy="1143000"/>
          </a:xfrm>
        </p:spPr>
        <p:txBody>
          <a:bodyPr/>
          <a:lstStyle/>
          <a:p>
            <a:r>
              <a:rPr lang="en-US" dirty="0" smtClean="0"/>
              <a:t>Violations: Dataflow Diagram</a:t>
            </a:r>
          </a:p>
        </p:txBody>
      </p:sp>
      <p:sp>
        <p:nvSpPr>
          <p:cNvPr id="28678" name="Rectangle 3"/>
          <p:cNvSpPr>
            <a:spLocks noChangeArrowheads="1"/>
          </p:cNvSpPr>
          <p:nvPr/>
        </p:nvSpPr>
        <p:spPr bwMode="auto">
          <a:xfrm>
            <a:off x="1295400" y="3200400"/>
            <a:ext cx="1066800" cy="1219200"/>
          </a:xfrm>
          <a:prstGeom prst="rect">
            <a:avLst/>
          </a:prstGeom>
          <a:solidFill>
            <a:srgbClr val="CC3300"/>
          </a:solidFill>
          <a:ln w="38100">
            <a:solidFill>
              <a:schemeClr val="tx1"/>
            </a:solidFill>
            <a:miter lim="800000"/>
            <a:headEnd/>
            <a:tailEnd/>
          </a:ln>
        </p:spPr>
        <p:txBody>
          <a:bodyPr wrap="none" anchor="ctr"/>
          <a:lstStyle/>
          <a:p>
            <a:endParaRPr lang="en-US" sz="2400">
              <a:latin typeface="+mj-lt"/>
            </a:endParaRPr>
          </a:p>
        </p:txBody>
      </p:sp>
      <p:sp>
        <p:nvSpPr>
          <p:cNvPr id="28679" name="Rectangle 4"/>
          <p:cNvSpPr>
            <a:spLocks noChangeArrowheads="1"/>
          </p:cNvSpPr>
          <p:nvPr/>
        </p:nvSpPr>
        <p:spPr bwMode="auto">
          <a:xfrm>
            <a:off x="3352800" y="4876800"/>
            <a:ext cx="1066800" cy="838200"/>
          </a:xfrm>
          <a:prstGeom prst="rect">
            <a:avLst/>
          </a:prstGeom>
          <a:solidFill>
            <a:srgbClr val="CC3300"/>
          </a:solidFill>
          <a:ln w="38100">
            <a:solidFill>
              <a:schemeClr val="tx1"/>
            </a:solidFill>
            <a:miter lim="800000"/>
            <a:headEnd/>
            <a:tailEnd/>
          </a:ln>
        </p:spPr>
        <p:txBody>
          <a:bodyPr wrap="none" anchor="ctr"/>
          <a:lstStyle/>
          <a:p>
            <a:endParaRPr lang="en-US" sz="2400">
              <a:latin typeface="+mj-lt"/>
            </a:endParaRPr>
          </a:p>
        </p:txBody>
      </p:sp>
      <p:sp>
        <p:nvSpPr>
          <p:cNvPr id="28680" name="Rectangle 5"/>
          <p:cNvSpPr>
            <a:spLocks noChangeArrowheads="1"/>
          </p:cNvSpPr>
          <p:nvPr/>
        </p:nvSpPr>
        <p:spPr bwMode="auto">
          <a:xfrm>
            <a:off x="6019800" y="2286000"/>
            <a:ext cx="1066800" cy="838200"/>
          </a:xfrm>
          <a:prstGeom prst="rect">
            <a:avLst/>
          </a:prstGeom>
          <a:solidFill>
            <a:schemeClr val="accent1"/>
          </a:solidFill>
          <a:ln w="38100">
            <a:solidFill>
              <a:schemeClr val="tx1"/>
            </a:solidFill>
            <a:miter lim="800000"/>
            <a:headEnd/>
            <a:tailEnd/>
          </a:ln>
        </p:spPr>
        <p:txBody>
          <a:bodyPr wrap="none" anchor="ctr"/>
          <a:lstStyle/>
          <a:p>
            <a:endParaRPr lang="en-US" sz="2400">
              <a:latin typeface="+mj-lt"/>
            </a:endParaRPr>
          </a:p>
        </p:txBody>
      </p:sp>
      <p:sp>
        <p:nvSpPr>
          <p:cNvPr id="28681" name="Rectangle 6"/>
          <p:cNvSpPr>
            <a:spLocks noChangeArrowheads="1"/>
          </p:cNvSpPr>
          <p:nvPr/>
        </p:nvSpPr>
        <p:spPr bwMode="auto">
          <a:xfrm>
            <a:off x="6096000" y="4876800"/>
            <a:ext cx="1066800" cy="838200"/>
          </a:xfrm>
          <a:prstGeom prst="rect">
            <a:avLst/>
          </a:prstGeom>
          <a:solidFill>
            <a:schemeClr val="accent1"/>
          </a:solidFill>
          <a:ln w="38100">
            <a:solidFill>
              <a:schemeClr val="tx1"/>
            </a:solidFill>
            <a:miter lim="800000"/>
            <a:headEnd/>
            <a:tailEnd/>
          </a:ln>
        </p:spPr>
        <p:txBody>
          <a:bodyPr wrap="none" anchor="ctr"/>
          <a:lstStyle/>
          <a:p>
            <a:endParaRPr lang="en-US" sz="2400">
              <a:latin typeface="+mj-lt"/>
            </a:endParaRPr>
          </a:p>
        </p:txBody>
      </p:sp>
      <p:sp>
        <p:nvSpPr>
          <p:cNvPr id="28682" name="Rectangle 7"/>
          <p:cNvSpPr>
            <a:spLocks noChangeArrowheads="1"/>
          </p:cNvSpPr>
          <p:nvPr/>
        </p:nvSpPr>
        <p:spPr bwMode="auto">
          <a:xfrm>
            <a:off x="3352800" y="2286000"/>
            <a:ext cx="1066800" cy="838200"/>
          </a:xfrm>
          <a:prstGeom prst="rect">
            <a:avLst/>
          </a:prstGeom>
          <a:solidFill>
            <a:srgbClr val="CC3300"/>
          </a:solidFill>
          <a:ln w="38100">
            <a:solidFill>
              <a:schemeClr val="tx1"/>
            </a:solidFill>
            <a:miter lim="800000"/>
            <a:headEnd/>
            <a:tailEnd/>
          </a:ln>
        </p:spPr>
        <p:txBody>
          <a:bodyPr wrap="none" anchor="ctr"/>
          <a:lstStyle/>
          <a:p>
            <a:endParaRPr lang="en-US" sz="2400">
              <a:latin typeface="+mj-lt"/>
            </a:endParaRPr>
          </a:p>
        </p:txBody>
      </p:sp>
      <p:sp>
        <p:nvSpPr>
          <p:cNvPr id="28683" name="Line 8"/>
          <p:cNvSpPr>
            <a:spLocks noChangeShapeType="1"/>
          </p:cNvSpPr>
          <p:nvPr/>
        </p:nvSpPr>
        <p:spPr bwMode="auto">
          <a:xfrm flipV="1">
            <a:off x="2362200" y="2667000"/>
            <a:ext cx="990600" cy="1295400"/>
          </a:xfrm>
          <a:prstGeom prst="line">
            <a:avLst/>
          </a:prstGeom>
          <a:noFill/>
          <a:ln w="9525">
            <a:solidFill>
              <a:schemeClr val="tx1"/>
            </a:solidFill>
            <a:round/>
            <a:headEnd/>
            <a:tailEnd type="triangle" w="med" len="med"/>
          </a:ln>
        </p:spPr>
        <p:txBody>
          <a:bodyPr wrap="none" anchor="ctr"/>
          <a:lstStyle/>
          <a:p>
            <a:endParaRPr lang="en-US" sz="2400">
              <a:latin typeface="+mj-lt"/>
            </a:endParaRPr>
          </a:p>
        </p:txBody>
      </p:sp>
      <p:sp>
        <p:nvSpPr>
          <p:cNvPr id="28684" name="Line 9"/>
          <p:cNvSpPr>
            <a:spLocks noChangeShapeType="1"/>
          </p:cNvSpPr>
          <p:nvPr/>
        </p:nvSpPr>
        <p:spPr bwMode="auto">
          <a:xfrm>
            <a:off x="2362200" y="3962400"/>
            <a:ext cx="990600" cy="1371600"/>
          </a:xfrm>
          <a:prstGeom prst="line">
            <a:avLst/>
          </a:prstGeom>
          <a:noFill/>
          <a:ln w="9525">
            <a:solidFill>
              <a:schemeClr val="tx1"/>
            </a:solidFill>
            <a:round/>
            <a:headEnd/>
            <a:tailEnd type="triangle" w="med" len="med"/>
          </a:ln>
        </p:spPr>
        <p:txBody>
          <a:bodyPr wrap="none" anchor="ctr"/>
          <a:lstStyle/>
          <a:p>
            <a:endParaRPr lang="en-US" sz="2400">
              <a:latin typeface="+mj-lt"/>
            </a:endParaRPr>
          </a:p>
        </p:txBody>
      </p:sp>
      <p:sp>
        <p:nvSpPr>
          <p:cNvPr id="28685" name="Line 10"/>
          <p:cNvSpPr>
            <a:spLocks noChangeShapeType="1"/>
          </p:cNvSpPr>
          <p:nvPr/>
        </p:nvSpPr>
        <p:spPr bwMode="auto">
          <a:xfrm flipV="1">
            <a:off x="4419600" y="2743200"/>
            <a:ext cx="1600200" cy="0"/>
          </a:xfrm>
          <a:prstGeom prst="line">
            <a:avLst/>
          </a:prstGeom>
          <a:noFill/>
          <a:ln w="9525">
            <a:solidFill>
              <a:schemeClr val="tx1"/>
            </a:solidFill>
            <a:round/>
            <a:headEnd/>
            <a:tailEnd type="triangle" w="med" len="med"/>
          </a:ln>
        </p:spPr>
        <p:txBody>
          <a:bodyPr wrap="none" anchor="ctr"/>
          <a:lstStyle/>
          <a:p>
            <a:endParaRPr lang="en-US" sz="2400">
              <a:latin typeface="+mj-lt"/>
            </a:endParaRPr>
          </a:p>
        </p:txBody>
      </p:sp>
      <p:sp>
        <p:nvSpPr>
          <p:cNvPr id="28686" name="Line 11"/>
          <p:cNvSpPr>
            <a:spLocks noChangeShapeType="1"/>
          </p:cNvSpPr>
          <p:nvPr/>
        </p:nvSpPr>
        <p:spPr bwMode="auto">
          <a:xfrm flipV="1">
            <a:off x="4419600" y="5257800"/>
            <a:ext cx="1676400" cy="0"/>
          </a:xfrm>
          <a:prstGeom prst="line">
            <a:avLst/>
          </a:prstGeom>
          <a:noFill/>
          <a:ln w="9525">
            <a:solidFill>
              <a:schemeClr val="tx1"/>
            </a:solidFill>
            <a:round/>
            <a:headEnd/>
            <a:tailEnd type="triangle" w="med" len="med"/>
          </a:ln>
        </p:spPr>
        <p:txBody>
          <a:bodyPr wrap="none" anchor="ctr"/>
          <a:lstStyle/>
          <a:p>
            <a:endParaRPr lang="en-US" sz="2400">
              <a:latin typeface="+mj-lt"/>
            </a:endParaRPr>
          </a:p>
        </p:txBody>
      </p:sp>
      <p:sp>
        <p:nvSpPr>
          <p:cNvPr id="28687" name="Text Box 12"/>
          <p:cNvSpPr txBox="1">
            <a:spLocks noChangeArrowheads="1"/>
          </p:cNvSpPr>
          <p:nvPr/>
        </p:nvSpPr>
        <p:spPr bwMode="auto">
          <a:xfrm>
            <a:off x="762000" y="3505200"/>
            <a:ext cx="362600" cy="461665"/>
          </a:xfrm>
          <a:prstGeom prst="rect">
            <a:avLst/>
          </a:prstGeom>
          <a:noFill/>
          <a:ln w="9525">
            <a:noFill/>
            <a:miter lim="800000"/>
            <a:headEnd/>
            <a:tailEnd/>
          </a:ln>
        </p:spPr>
        <p:txBody>
          <a:bodyPr wrap="none">
            <a:spAutoFit/>
          </a:bodyPr>
          <a:lstStyle/>
          <a:p>
            <a:pPr>
              <a:spcBef>
                <a:spcPct val="0"/>
              </a:spcBef>
              <a:buFontTx/>
              <a:buNone/>
            </a:pPr>
            <a:r>
              <a:rPr lang="en-US" sz="2400" dirty="0">
                <a:latin typeface="+mj-lt"/>
              </a:rPr>
              <a:t>A</a:t>
            </a:r>
          </a:p>
        </p:txBody>
      </p:sp>
      <p:sp>
        <p:nvSpPr>
          <p:cNvPr id="28688" name="Text Box 13"/>
          <p:cNvSpPr txBox="1">
            <a:spLocks noChangeArrowheads="1"/>
          </p:cNvSpPr>
          <p:nvPr/>
        </p:nvSpPr>
        <p:spPr bwMode="auto">
          <a:xfrm>
            <a:off x="3657600" y="3276600"/>
            <a:ext cx="351378" cy="461665"/>
          </a:xfrm>
          <a:prstGeom prst="rect">
            <a:avLst/>
          </a:prstGeom>
          <a:noFill/>
          <a:ln w="9525">
            <a:noFill/>
            <a:miter lim="800000"/>
            <a:headEnd/>
            <a:tailEnd/>
          </a:ln>
        </p:spPr>
        <p:txBody>
          <a:bodyPr wrap="none">
            <a:spAutoFit/>
          </a:bodyPr>
          <a:lstStyle/>
          <a:p>
            <a:pPr>
              <a:spcBef>
                <a:spcPct val="0"/>
              </a:spcBef>
              <a:buFontTx/>
              <a:buNone/>
            </a:pPr>
            <a:r>
              <a:rPr lang="en-US" sz="2400">
                <a:latin typeface="+mj-lt"/>
              </a:rPr>
              <a:t>B</a:t>
            </a:r>
          </a:p>
        </p:txBody>
      </p:sp>
      <p:sp>
        <p:nvSpPr>
          <p:cNvPr id="28689" name="Text Box 14"/>
          <p:cNvSpPr txBox="1">
            <a:spLocks noChangeArrowheads="1"/>
          </p:cNvSpPr>
          <p:nvPr/>
        </p:nvSpPr>
        <p:spPr bwMode="auto">
          <a:xfrm>
            <a:off x="6400800" y="3276600"/>
            <a:ext cx="348172" cy="461665"/>
          </a:xfrm>
          <a:prstGeom prst="rect">
            <a:avLst/>
          </a:prstGeom>
          <a:noFill/>
          <a:ln w="9525">
            <a:noFill/>
            <a:miter lim="800000"/>
            <a:headEnd/>
            <a:tailEnd/>
          </a:ln>
        </p:spPr>
        <p:txBody>
          <a:bodyPr wrap="none">
            <a:spAutoFit/>
          </a:bodyPr>
          <a:lstStyle/>
          <a:p>
            <a:pPr>
              <a:spcBef>
                <a:spcPct val="0"/>
              </a:spcBef>
              <a:buFontTx/>
              <a:buNone/>
            </a:pPr>
            <a:r>
              <a:rPr lang="en-US" sz="2400">
                <a:latin typeface="+mj-lt"/>
              </a:rPr>
              <a:t>C</a:t>
            </a:r>
          </a:p>
        </p:txBody>
      </p:sp>
      <p:sp>
        <p:nvSpPr>
          <p:cNvPr id="28690" name="Text Box 15"/>
          <p:cNvSpPr txBox="1">
            <a:spLocks noChangeArrowheads="1"/>
          </p:cNvSpPr>
          <p:nvPr/>
        </p:nvSpPr>
        <p:spPr bwMode="auto">
          <a:xfrm>
            <a:off x="2667000" y="2286000"/>
            <a:ext cx="606256" cy="461665"/>
          </a:xfrm>
          <a:prstGeom prst="rect">
            <a:avLst/>
          </a:prstGeom>
          <a:noFill/>
          <a:ln w="9525">
            <a:noFill/>
            <a:miter lim="800000"/>
            <a:headEnd/>
            <a:tailEnd/>
          </a:ln>
        </p:spPr>
        <p:txBody>
          <a:bodyPr wrap="none">
            <a:spAutoFit/>
          </a:bodyPr>
          <a:lstStyle/>
          <a:p>
            <a:pPr>
              <a:spcBef>
                <a:spcPct val="0"/>
              </a:spcBef>
              <a:buFontTx/>
              <a:buNone/>
            </a:pPr>
            <a:r>
              <a:rPr lang="en-US" sz="2400" dirty="0" smtClean="0">
                <a:latin typeface="+mj-lt"/>
              </a:rPr>
              <a:t>A:b</a:t>
            </a:r>
            <a:endParaRPr lang="en-US" sz="2400" dirty="0">
              <a:latin typeface="+mj-lt"/>
            </a:endParaRPr>
          </a:p>
        </p:txBody>
      </p:sp>
      <p:sp>
        <p:nvSpPr>
          <p:cNvPr id="28691" name="Text Box 16"/>
          <p:cNvSpPr txBox="1">
            <a:spLocks noChangeArrowheads="1"/>
          </p:cNvSpPr>
          <p:nvPr/>
        </p:nvSpPr>
        <p:spPr bwMode="auto">
          <a:xfrm>
            <a:off x="5410200" y="2209800"/>
            <a:ext cx="562975" cy="461665"/>
          </a:xfrm>
          <a:prstGeom prst="rect">
            <a:avLst/>
          </a:prstGeom>
          <a:noFill/>
          <a:ln w="9525">
            <a:noFill/>
            <a:miter lim="800000"/>
            <a:headEnd/>
            <a:tailEnd/>
          </a:ln>
        </p:spPr>
        <p:txBody>
          <a:bodyPr wrap="none">
            <a:spAutoFit/>
          </a:bodyPr>
          <a:lstStyle/>
          <a:p>
            <a:pPr>
              <a:spcBef>
                <a:spcPct val="0"/>
              </a:spcBef>
              <a:buFontTx/>
              <a:buNone/>
            </a:pPr>
            <a:r>
              <a:rPr lang="en-US" sz="2400" dirty="0" smtClean="0">
                <a:latin typeface="+mj-lt"/>
              </a:rPr>
              <a:t>B:c</a:t>
            </a:r>
            <a:endParaRPr lang="en-US" sz="2400" dirty="0">
              <a:latin typeface="+mj-lt"/>
            </a:endParaRPr>
          </a:p>
        </p:txBody>
      </p:sp>
      <p:sp>
        <p:nvSpPr>
          <p:cNvPr id="28692" name="Text Box 17"/>
          <p:cNvSpPr txBox="1">
            <a:spLocks noChangeArrowheads="1"/>
          </p:cNvSpPr>
          <p:nvPr/>
        </p:nvSpPr>
        <p:spPr bwMode="auto">
          <a:xfrm>
            <a:off x="3733800" y="5791200"/>
            <a:ext cx="343364" cy="461665"/>
          </a:xfrm>
          <a:prstGeom prst="rect">
            <a:avLst/>
          </a:prstGeom>
          <a:noFill/>
          <a:ln w="9525">
            <a:noFill/>
            <a:miter lim="800000"/>
            <a:headEnd/>
            <a:tailEnd/>
          </a:ln>
        </p:spPr>
        <p:txBody>
          <a:bodyPr wrap="none">
            <a:spAutoFit/>
          </a:bodyPr>
          <a:lstStyle/>
          <a:p>
            <a:pPr>
              <a:spcBef>
                <a:spcPct val="0"/>
              </a:spcBef>
              <a:buFontTx/>
              <a:buNone/>
            </a:pPr>
            <a:r>
              <a:rPr lang="en-US" sz="2400">
                <a:latin typeface="+mj-lt"/>
              </a:rPr>
              <a:t>P</a:t>
            </a:r>
          </a:p>
        </p:txBody>
      </p:sp>
      <p:sp>
        <p:nvSpPr>
          <p:cNvPr id="28693" name="Text Box 18"/>
          <p:cNvSpPr txBox="1">
            <a:spLocks noChangeArrowheads="1"/>
          </p:cNvSpPr>
          <p:nvPr/>
        </p:nvSpPr>
        <p:spPr bwMode="auto">
          <a:xfrm>
            <a:off x="6477000" y="5791200"/>
            <a:ext cx="391454" cy="461665"/>
          </a:xfrm>
          <a:prstGeom prst="rect">
            <a:avLst/>
          </a:prstGeom>
          <a:noFill/>
          <a:ln w="9525">
            <a:noFill/>
            <a:miter lim="800000"/>
            <a:headEnd/>
            <a:tailEnd/>
          </a:ln>
        </p:spPr>
        <p:txBody>
          <a:bodyPr wrap="none">
            <a:spAutoFit/>
          </a:bodyPr>
          <a:lstStyle/>
          <a:p>
            <a:pPr>
              <a:spcBef>
                <a:spcPct val="0"/>
              </a:spcBef>
              <a:buFontTx/>
              <a:buNone/>
            </a:pPr>
            <a:r>
              <a:rPr lang="en-US" sz="2400">
                <a:latin typeface="+mj-lt"/>
              </a:rPr>
              <a:t>Q</a:t>
            </a:r>
          </a:p>
        </p:txBody>
      </p:sp>
      <p:sp>
        <p:nvSpPr>
          <p:cNvPr id="28694" name="Text Box 19"/>
          <p:cNvSpPr txBox="1">
            <a:spLocks noChangeArrowheads="1"/>
          </p:cNvSpPr>
          <p:nvPr/>
        </p:nvSpPr>
        <p:spPr bwMode="auto">
          <a:xfrm>
            <a:off x="2438400" y="5257800"/>
            <a:ext cx="606256" cy="461665"/>
          </a:xfrm>
          <a:prstGeom prst="rect">
            <a:avLst/>
          </a:prstGeom>
          <a:noFill/>
          <a:ln w="9525">
            <a:noFill/>
            <a:miter lim="800000"/>
            <a:headEnd/>
            <a:tailEnd/>
          </a:ln>
        </p:spPr>
        <p:txBody>
          <a:bodyPr wrap="none">
            <a:spAutoFit/>
          </a:bodyPr>
          <a:lstStyle/>
          <a:p>
            <a:pPr>
              <a:spcBef>
                <a:spcPct val="0"/>
              </a:spcBef>
              <a:buFontTx/>
              <a:buNone/>
            </a:pPr>
            <a:r>
              <a:rPr lang="en-US" sz="2400" dirty="0" smtClean="0">
                <a:latin typeface="+mj-lt"/>
              </a:rPr>
              <a:t>A:p</a:t>
            </a:r>
            <a:endParaRPr lang="en-US" sz="2400" dirty="0">
              <a:latin typeface="+mj-lt"/>
            </a:endParaRPr>
          </a:p>
        </p:txBody>
      </p:sp>
      <p:sp>
        <p:nvSpPr>
          <p:cNvPr id="28695" name="Text Box 20"/>
          <p:cNvSpPr txBox="1">
            <a:spLocks noChangeArrowheads="1"/>
          </p:cNvSpPr>
          <p:nvPr/>
        </p:nvSpPr>
        <p:spPr bwMode="auto">
          <a:xfrm>
            <a:off x="5257800" y="4572000"/>
            <a:ext cx="587020" cy="461665"/>
          </a:xfrm>
          <a:prstGeom prst="rect">
            <a:avLst/>
          </a:prstGeom>
          <a:noFill/>
          <a:ln w="9525">
            <a:noFill/>
            <a:miter lim="800000"/>
            <a:headEnd/>
            <a:tailEnd/>
          </a:ln>
        </p:spPr>
        <p:txBody>
          <a:bodyPr wrap="none">
            <a:spAutoFit/>
          </a:bodyPr>
          <a:lstStyle/>
          <a:p>
            <a:pPr>
              <a:spcBef>
                <a:spcPct val="0"/>
              </a:spcBef>
              <a:buFontTx/>
              <a:buNone/>
            </a:pPr>
            <a:r>
              <a:rPr lang="en-US" sz="2400" dirty="0" smtClean="0">
                <a:latin typeface="+mj-lt"/>
              </a:rPr>
              <a:t>P:q</a:t>
            </a:r>
            <a:endParaRPr lang="en-US" sz="2400" dirty="0">
              <a:latin typeface="+mj-lt"/>
            </a:endParaRPr>
          </a:p>
        </p:txBody>
      </p:sp>
      <p:sp>
        <p:nvSpPr>
          <p:cNvPr id="28696" name="Line 21"/>
          <p:cNvSpPr>
            <a:spLocks noChangeShapeType="1"/>
          </p:cNvSpPr>
          <p:nvPr/>
        </p:nvSpPr>
        <p:spPr bwMode="auto">
          <a:xfrm flipV="1">
            <a:off x="7086600" y="2743200"/>
            <a:ext cx="1600200" cy="0"/>
          </a:xfrm>
          <a:prstGeom prst="line">
            <a:avLst/>
          </a:prstGeom>
          <a:noFill/>
          <a:ln w="9525">
            <a:solidFill>
              <a:schemeClr val="tx1"/>
            </a:solidFill>
            <a:round/>
            <a:headEnd/>
            <a:tailEnd type="triangle" w="med" len="med"/>
          </a:ln>
        </p:spPr>
        <p:txBody>
          <a:bodyPr wrap="none" anchor="ctr"/>
          <a:lstStyle/>
          <a:p>
            <a:endParaRPr lang="en-US" sz="2400">
              <a:latin typeface="+mj-lt"/>
            </a:endParaRPr>
          </a:p>
        </p:txBody>
      </p:sp>
      <p:sp>
        <p:nvSpPr>
          <p:cNvPr id="28697" name="Line 22"/>
          <p:cNvSpPr>
            <a:spLocks noChangeShapeType="1"/>
          </p:cNvSpPr>
          <p:nvPr/>
        </p:nvSpPr>
        <p:spPr bwMode="auto">
          <a:xfrm flipV="1">
            <a:off x="7162800" y="5257800"/>
            <a:ext cx="1676400" cy="0"/>
          </a:xfrm>
          <a:prstGeom prst="line">
            <a:avLst/>
          </a:prstGeom>
          <a:noFill/>
          <a:ln w="9525">
            <a:solidFill>
              <a:schemeClr val="tx1"/>
            </a:solidFill>
            <a:round/>
            <a:headEnd/>
            <a:tailEnd type="triangle" w="med" len="med"/>
          </a:ln>
        </p:spPr>
        <p:txBody>
          <a:bodyPr wrap="none" anchor="ctr"/>
          <a:lstStyle/>
          <a:p>
            <a:endParaRPr lang="en-US" sz="2400">
              <a:latin typeface="+mj-lt"/>
            </a:endParaRPr>
          </a:p>
        </p:txBody>
      </p:sp>
      <p:sp>
        <p:nvSpPr>
          <p:cNvPr id="28698" name="Text Box 23"/>
          <p:cNvSpPr txBox="1">
            <a:spLocks noChangeArrowheads="1"/>
          </p:cNvSpPr>
          <p:nvPr/>
        </p:nvSpPr>
        <p:spPr bwMode="auto">
          <a:xfrm>
            <a:off x="8061325" y="2174875"/>
            <a:ext cx="782522" cy="461665"/>
          </a:xfrm>
          <a:prstGeom prst="rect">
            <a:avLst/>
          </a:prstGeom>
          <a:noFill/>
          <a:ln w="9525">
            <a:noFill/>
            <a:miter lim="800000"/>
            <a:headEnd/>
            <a:tailEnd/>
          </a:ln>
        </p:spPr>
        <p:txBody>
          <a:bodyPr wrap="none">
            <a:spAutoFit/>
          </a:bodyPr>
          <a:lstStyle/>
          <a:p>
            <a:pPr>
              <a:spcBef>
                <a:spcPct val="0"/>
              </a:spcBef>
              <a:buFontTx/>
              <a:buNone/>
            </a:pPr>
            <a:r>
              <a:rPr lang="en-US" sz="2400" dirty="0" err="1">
                <a:latin typeface="+mj-lt"/>
              </a:rPr>
              <a:t>foo</a:t>
            </a:r>
            <a:r>
              <a:rPr lang="en-US" sz="2400" dirty="0">
                <a:latin typeface="+mj-lt"/>
              </a:rPr>
              <a:t>()</a:t>
            </a:r>
          </a:p>
        </p:txBody>
      </p:sp>
      <p:sp>
        <p:nvSpPr>
          <p:cNvPr id="28699" name="Text Box 24"/>
          <p:cNvSpPr txBox="1">
            <a:spLocks noChangeArrowheads="1"/>
          </p:cNvSpPr>
          <p:nvPr/>
        </p:nvSpPr>
        <p:spPr bwMode="auto">
          <a:xfrm>
            <a:off x="8077200" y="4724400"/>
            <a:ext cx="787395" cy="461665"/>
          </a:xfrm>
          <a:prstGeom prst="rect">
            <a:avLst/>
          </a:prstGeom>
          <a:noFill/>
          <a:ln w="9525">
            <a:noFill/>
            <a:miter lim="800000"/>
            <a:headEnd/>
            <a:tailEnd/>
          </a:ln>
        </p:spPr>
        <p:txBody>
          <a:bodyPr wrap="none">
            <a:spAutoFit/>
          </a:bodyPr>
          <a:lstStyle/>
          <a:p>
            <a:pPr>
              <a:spcBef>
                <a:spcPct val="0"/>
              </a:spcBef>
              <a:buFontTx/>
              <a:buNone/>
            </a:pPr>
            <a:r>
              <a:rPr lang="en-US" sz="2400">
                <a:latin typeface="+mj-lt"/>
              </a:rPr>
              <a:t>bar()</a:t>
            </a:r>
          </a:p>
        </p:txBody>
      </p:sp>
      <p:sp>
        <p:nvSpPr>
          <p:cNvPr id="28700" name="Freeform 25"/>
          <p:cNvSpPr>
            <a:spLocks/>
          </p:cNvSpPr>
          <p:nvPr/>
        </p:nvSpPr>
        <p:spPr bwMode="auto">
          <a:xfrm>
            <a:off x="1371600" y="1828800"/>
            <a:ext cx="5257800" cy="1371600"/>
          </a:xfrm>
          <a:custGeom>
            <a:avLst/>
            <a:gdLst>
              <a:gd name="T0" fmla="*/ 168 w 3192"/>
              <a:gd name="T1" fmla="*/ 1232 h 1232"/>
              <a:gd name="T2" fmla="*/ 312 w 3192"/>
              <a:gd name="T3" fmla="*/ 224 h 1232"/>
              <a:gd name="T4" fmla="*/ 2040 w 3192"/>
              <a:gd name="T5" fmla="*/ 32 h 1232"/>
              <a:gd name="T6" fmla="*/ 3192 w 3192"/>
              <a:gd name="T7" fmla="*/ 416 h 1232"/>
              <a:gd name="T8" fmla="*/ 0 60000 65536"/>
              <a:gd name="T9" fmla="*/ 0 60000 65536"/>
              <a:gd name="T10" fmla="*/ 0 60000 65536"/>
              <a:gd name="T11" fmla="*/ 0 60000 65536"/>
              <a:gd name="T12" fmla="*/ 0 w 3192"/>
              <a:gd name="T13" fmla="*/ 0 h 1232"/>
              <a:gd name="T14" fmla="*/ 3192 w 3192"/>
              <a:gd name="T15" fmla="*/ 1232 h 1232"/>
            </a:gdLst>
            <a:ahLst/>
            <a:cxnLst>
              <a:cxn ang="T8">
                <a:pos x="T0" y="T1"/>
              </a:cxn>
              <a:cxn ang="T9">
                <a:pos x="T2" y="T3"/>
              </a:cxn>
              <a:cxn ang="T10">
                <a:pos x="T4" y="T5"/>
              </a:cxn>
              <a:cxn ang="T11">
                <a:pos x="T6" y="T7"/>
              </a:cxn>
            </a:cxnLst>
            <a:rect l="T12" t="T13" r="T14" b="T15"/>
            <a:pathLst>
              <a:path w="3192" h="1232">
                <a:moveTo>
                  <a:pt x="168" y="1232"/>
                </a:moveTo>
                <a:cubicBezTo>
                  <a:pt x="84" y="828"/>
                  <a:pt x="0" y="424"/>
                  <a:pt x="312" y="224"/>
                </a:cubicBezTo>
                <a:cubicBezTo>
                  <a:pt x="624" y="24"/>
                  <a:pt x="1560" y="0"/>
                  <a:pt x="2040" y="32"/>
                </a:cubicBezTo>
                <a:cubicBezTo>
                  <a:pt x="2520" y="64"/>
                  <a:pt x="2856" y="240"/>
                  <a:pt x="3192" y="416"/>
                </a:cubicBezTo>
              </a:path>
            </a:pathLst>
          </a:custGeom>
          <a:noFill/>
          <a:ln w="76200" cmpd="sng">
            <a:solidFill>
              <a:srgbClr val="CC3300"/>
            </a:solidFill>
            <a:round/>
            <a:headEnd type="none" w="med" len="med"/>
            <a:tailEnd type="triangle" w="med" len="med"/>
          </a:ln>
        </p:spPr>
        <p:txBody>
          <a:bodyPr wrap="none" anchor="ctr"/>
          <a:lstStyle/>
          <a:p>
            <a:endParaRPr lang="en-US" sz="2400">
              <a:latin typeface="+mj-lt"/>
            </a:endParaRPr>
          </a:p>
        </p:txBody>
      </p:sp>
      <p:sp>
        <p:nvSpPr>
          <p:cNvPr id="28701" name="Freeform 26"/>
          <p:cNvSpPr>
            <a:spLocks/>
          </p:cNvSpPr>
          <p:nvPr/>
        </p:nvSpPr>
        <p:spPr bwMode="auto">
          <a:xfrm>
            <a:off x="1143000" y="4419600"/>
            <a:ext cx="4953000" cy="1828800"/>
          </a:xfrm>
          <a:custGeom>
            <a:avLst/>
            <a:gdLst>
              <a:gd name="T0" fmla="*/ 432 w 3456"/>
              <a:gd name="T1" fmla="*/ 0 h 1264"/>
              <a:gd name="T2" fmla="*/ 288 w 3456"/>
              <a:gd name="T3" fmla="*/ 912 h 1264"/>
              <a:gd name="T4" fmla="*/ 2160 w 3456"/>
              <a:gd name="T5" fmla="*/ 1248 h 1264"/>
              <a:gd name="T6" fmla="*/ 3456 w 3456"/>
              <a:gd name="T7" fmla="*/ 816 h 1264"/>
              <a:gd name="T8" fmla="*/ 0 60000 65536"/>
              <a:gd name="T9" fmla="*/ 0 60000 65536"/>
              <a:gd name="T10" fmla="*/ 0 60000 65536"/>
              <a:gd name="T11" fmla="*/ 0 60000 65536"/>
              <a:gd name="T12" fmla="*/ 0 w 3456"/>
              <a:gd name="T13" fmla="*/ 0 h 1264"/>
              <a:gd name="T14" fmla="*/ 3456 w 3456"/>
              <a:gd name="T15" fmla="*/ 1264 h 1264"/>
            </a:gdLst>
            <a:ahLst/>
            <a:cxnLst>
              <a:cxn ang="T8">
                <a:pos x="T0" y="T1"/>
              </a:cxn>
              <a:cxn ang="T9">
                <a:pos x="T2" y="T3"/>
              </a:cxn>
              <a:cxn ang="T10">
                <a:pos x="T4" y="T5"/>
              </a:cxn>
              <a:cxn ang="T11">
                <a:pos x="T6" y="T7"/>
              </a:cxn>
            </a:cxnLst>
            <a:rect l="T12" t="T13" r="T14" b="T15"/>
            <a:pathLst>
              <a:path w="3456" h="1264">
                <a:moveTo>
                  <a:pt x="432" y="0"/>
                </a:moveTo>
                <a:cubicBezTo>
                  <a:pt x="216" y="352"/>
                  <a:pt x="0" y="704"/>
                  <a:pt x="288" y="912"/>
                </a:cubicBezTo>
                <a:cubicBezTo>
                  <a:pt x="576" y="1120"/>
                  <a:pt x="1632" y="1264"/>
                  <a:pt x="2160" y="1248"/>
                </a:cubicBezTo>
                <a:cubicBezTo>
                  <a:pt x="2688" y="1232"/>
                  <a:pt x="3072" y="1024"/>
                  <a:pt x="3456" y="816"/>
                </a:cubicBezTo>
              </a:path>
            </a:pathLst>
          </a:custGeom>
          <a:noFill/>
          <a:ln w="76200" cmpd="sng">
            <a:solidFill>
              <a:srgbClr val="CC3300"/>
            </a:solidFill>
            <a:round/>
            <a:headEnd type="none" w="med" len="med"/>
            <a:tailEnd type="triangle" w="med" len="med"/>
          </a:ln>
        </p:spPr>
        <p:txBody>
          <a:bodyPr wrap="none" anchor="ctr"/>
          <a:lstStyle/>
          <a:p>
            <a:endParaRPr lang="en-US" sz="2400">
              <a:latin typeface="+mj-lt"/>
            </a:endParaRPr>
          </a:p>
        </p:txBody>
      </p:sp>
      <p:sp>
        <p:nvSpPr>
          <p:cNvPr id="28702" name="Line 27"/>
          <p:cNvSpPr>
            <a:spLocks noChangeShapeType="1"/>
          </p:cNvSpPr>
          <p:nvPr/>
        </p:nvSpPr>
        <p:spPr bwMode="auto">
          <a:xfrm>
            <a:off x="1219200" y="1828800"/>
            <a:ext cx="762000" cy="990600"/>
          </a:xfrm>
          <a:prstGeom prst="line">
            <a:avLst/>
          </a:prstGeom>
          <a:noFill/>
          <a:ln w="76200">
            <a:solidFill>
              <a:srgbClr val="CC3300"/>
            </a:solidFill>
            <a:round/>
            <a:headEnd/>
            <a:tailEnd/>
          </a:ln>
        </p:spPr>
        <p:txBody>
          <a:bodyPr wrap="none" anchor="ctr"/>
          <a:lstStyle/>
          <a:p>
            <a:endParaRPr lang="en-US" sz="2400">
              <a:latin typeface="+mj-lt"/>
            </a:endParaRPr>
          </a:p>
        </p:txBody>
      </p:sp>
      <p:sp>
        <p:nvSpPr>
          <p:cNvPr id="28703" name="Line 28"/>
          <p:cNvSpPr>
            <a:spLocks noChangeShapeType="1"/>
          </p:cNvSpPr>
          <p:nvPr/>
        </p:nvSpPr>
        <p:spPr bwMode="auto">
          <a:xfrm flipH="1">
            <a:off x="1371600" y="1828800"/>
            <a:ext cx="533400" cy="1066800"/>
          </a:xfrm>
          <a:prstGeom prst="line">
            <a:avLst/>
          </a:prstGeom>
          <a:noFill/>
          <a:ln w="76200">
            <a:solidFill>
              <a:srgbClr val="CC3300"/>
            </a:solidFill>
            <a:round/>
            <a:headEnd/>
            <a:tailEnd/>
          </a:ln>
        </p:spPr>
        <p:txBody>
          <a:bodyPr wrap="none" anchor="ctr"/>
          <a:lstStyle/>
          <a:p>
            <a:endParaRPr lang="en-US" sz="2400">
              <a:latin typeface="+mj-lt"/>
            </a:endParaRPr>
          </a:p>
        </p:txBody>
      </p:sp>
      <p:sp>
        <p:nvSpPr>
          <p:cNvPr id="28704" name="Line 29"/>
          <p:cNvSpPr>
            <a:spLocks noChangeShapeType="1"/>
          </p:cNvSpPr>
          <p:nvPr/>
        </p:nvSpPr>
        <p:spPr bwMode="auto">
          <a:xfrm>
            <a:off x="990600" y="5029200"/>
            <a:ext cx="762000" cy="990600"/>
          </a:xfrm>
          <a:prstGeom prst="line">
            <a:avLst/>
          </a:prstGeom>
          <a:noFill/>
          <a:ln w="76200">
            <a:solidFill>
              <a:srgbClr val="CC3300"/>
            </a:solidFill>
            <a:round/>
            <a:headEnd/>
            <a:tailEnd/>
          </a:ln>
        </p:spPr>
        <p:txBody>
          <a:bodyPr wrap="none" anchor="ctr"/>
          <a:lstStyle/>
          <a:p>
            <a:endParaRPr lang="en-US" sz="2400">
              <a:latin typeface="+mj-lt"/>
            </a:endParaRPr>
          </a:p>
        </p:txBody>
      </p:sp>
      <p:sp>
        <p:nvSpPr>
          <p:cNvPr id="28705" name="Line 30"/>
          <p:cNvSpPr>
            <a:spLocks noChangeShapeType="1"/>
          </p:cNvSpPr>
          <p:nvPr/>
        </p:nvSpPr>
        <p:spPr bwMode="auto">
          <a:xfrm flipH="1">
            <a:off x="1143000" y="5029200"/>
            <a:ext cx="533400" cy="1066800"/>
          </a:xfrm>
          <a:prstGeom prst="line">
            <a:avLst/>
          </a:prstGeom>
          <a:noFill/>
          <a:ln w="76200">
            <a:solidFill>
              <a:srgbClr val="CC3300"/>
            </a:solidFill>
            <a:round/>
            <a:headEnd/>
            <a:tailEnd/>
          </a:ln>
        </p:spPr>
        <p:txBody>
          <a:bodyPr wrap="none" anchor="ctr"/>
          <a:lstStyle/>
          <a:p>
            <a:endParaRPr lang="en-US" sz="2400">
              <a:latin typeface="+mj-lt"/>
            </a:endParaRPr>
          </a:p>
        </p:txBody>
      </p:sp>
      <p:sp>
        <p:nvSpPr>
          <p:cNvPr id="37" name="Text Box 23"/>
          <p:cNvSpPr txBox="1">
            <a:spLocks noChangeArrowheads="1"/>
          </p:cNvSpPr>
          <p:nvPr/>
        </p:nvSpPr>
        <p:spPr bwMode="auto">
          <a:xfrm>
            <a:off x="762000" y="1371600"/>
            <a:ext cx="1222129" cy="461665"/>
          </a:xfrm>
          <a:prstGeom prst="rect">
            <a:avLst/>
          </a:prstGeom>
          <a:noFill/>
          <a:ln w="9525">
            <a:noFill/>
            <a:miter lim="800000"/>
            <a:headEnd/>
            <a:tailEnd/>
          </a:ln>
        </p:spPr>
        <p:txBody>
          <a:bodyPr wrap="none">
            <a:spAutoFit/>
          </a:bodyPr>
          <a:lstStyle/>
          <a:p>
            <a:pPr>
              <a:spcBef>
                <a:spcPct val="0"/>
              </a:spcBef>
              <a:buFontTx/>
              <a:buNone/>
            </a:pPr>
            <a:r>
              <a:rPr lang="en-US" sz="2400" dirty="0" err="1" smtClean="0">
                <a:latin typeface="+mj-lt"/>
              </a:rPr>
              <a:t>b.c.foo</a:t>
            </a:r>
            <a:r>
              <a:rPr lang="en-US" sz="2400" dirty="0">
                <a:latin typeface="+mj-lt"/>
              </a:rPr>
              <a:t>()</a:t>
            </a:r>
          </a:p>
        </p:txBody>
      </p:sp>
      <p:sp>
        <p:nvSpPr>
          <p:cNvPr id="38" name="Text Box 23"/>
          <p:cNvSpPr txBox="1">
            <a:spLocks noChangeArrowheads="1"/>
          </p:cNvSpPr>
          <p:nvPr/>
        </p:nvSpPr>
        <p:spPr bwMode="auto">
          <a:xfrm>
            <a:off x="914400" y="6172200"/>
            <a:ext cx="1334020" cy="461665"/>
          </a:xfrm>
          <a:prstGeom prst="rect">
            <a:avLst/>
          </a:prstGeom>
          <a:noFill/>
          <a:ln w="9525">
            <a:noFill/>
            <a:miter lim="800000"/>
            <a:headEnd/>
            <a:tailEnd/>
          </a:ln>
        </p:spPr>
        <p:txBody>
          <a:bodyPr wrap="none">
            <a:spAutoFit/>
          </a:bodyPr>
          <a:lstStyle/>
          <a:p>
            <a:pPr>
              <a:spcBef>
                <a:spcPct val="0"/>
              </a:spcBef>
              <a:buFontTx/>
              <a:buNone/>
            </a:pPr>
            <a:r>
              <a:rPr lang="en-US" sz="2400" dirty="0" err="1" smtClean="0">
                <a:latin typeface="+mj-lt"/>
              </a:rPr>
              <a:t>p.q.bar</a:t>
            </a:r>
            <a:r>
              <a:rPr lang="en-US" sz="2400" dirty="0" smtClean="0">
                <a:latin typeface="+mj-lt"/>
              </a:rPr>
              <a:t> ()</a:t>
            </a:r>
            <a:endParaRPr lang="en-US" sz="2400" dirty="0">
              <a:latin typeface="+mj-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a:xfrm>
            <a:off x="609600" y="152400"/>
            <a:ext cx="7772400" cy="1143000"/>
          </a:xfrm>
        </p:spPr>
        <p:txBody>
          <a:bodyPr/>
          <a:lstStyle/>
          <a:p>
            <a:r>
              <a:rPr lang="en-US" dirty="0" smtClean="0"/>
              <a:t>OO Following of </a:t>
            </a:r>
            <a:r>
              <a:rPr lang="en-US" dirty="0" err="1" smtClean="0"/>
              <a:t>LoD</a:t>
            </a:r>
            <a:endParaRPr lang="en-US" dirty="0" smtClean="0"/>
          </a:p>
        </p:txBody>
      </p:sp>
      <p:sp>
        <p:nvSpPr>
          <p:cNvPr id="29702" name="Rectangle 3"/>
          <p:cNvSpPr>
            <a:spLocks noChangeArrowheads="1"/>
          </p:cNvSpPr>
          <p:nvPr/>
        </p:nvSpPr>
        <p:spPr bwMode="auto">
          <a:xfrm>
            <a:off x="1295400" y="3200400"/>
            <a:ext cx="1066800" cy="1219200"/>
          </a:xfrm>
          <a:prstGeom prst="rect">
            <a:avLst/>
          </a:prstGeom>
          <a:noFill/>
          <a:ln w="38100">
            <a:solidFill>
              <a:schemeClr val="tx1"/>
            </a:solidFill>
            <a:miter lim="800000"/>
            <a:headEnd/>
            <a:tailEnd/>
          </a:ln>
        </p:spPr>
        <p:txBody>
          <a:bodyPr wrap="none" anchor="ctr"/>
          <a:lstStyle/>
          <a:p>
            <a:endParaRPr lang="en-US" sz="2400">
              <a:latin typeface="+mj-lt"/>
            </a:endParaRPr>
          </a:p>
        </p:txBody>
      </p:sp>
      <p:sp>
        <p:nvSpPr>
          <p:cNvPr id="29703" name="Rectangle 4"/>
          <p:cNvSpPr>
            <a:spLocks noChangeArrowheads="1"/>
          </p:cNvSpPr>
          <p:nvPr/>
        </p:nvSpPr>
        <p:spPr bwMode="auto">
          <a:xfrm>
            <a:off x="3352800" y="4876800"/>
            <a:ext cx="1066800" cy="838200"/>
          </a:xfrm>
          <a:prstGeom prst="rect">
            <a:avLst/>
          </a:prstGeom>
          <a:noFill/>
          <a:ln w="38100">
            <a:solidFill>
              <a:schemeClr val="tx1"/>
            </a:solidFill>
            <a:miter lim="800000"/>
            <a:headEnd/>
            <a:tailEnd/>
          </a:ln>
        </p:spPr>
        <p:txBody>
          <a:bodyPr wrap="none" anchor="ctr"/>
          <a:lstStyle/>
          <a:p>
            <a:endParaRPr lang="en-US" sz="2400">
              <a:latin typeface="+mj-lt"/>
            </a:endParaRPr>
          </a:p>
        </p:txBody>
      </p:sp>
      <p:sp>
        <p:nvSpPr>
          <p:cNvPr id="29704" name="Rectangle 5"/>
          <p:cNvSpPr>
            <a:spLocks noChangeArrowheads="1"/>
          </p:cNvSpPr>
          <p:nvPr/>
        </p:nvSpPr>
        <p:spPr bwMode="auto">
          <a:xfrm>
            <a:off x="6019800" y="2286000"/>
            <a:ext cx="1066800" cy="838200"/>
          </a:xfrm>
          <a:prstGeom prst="rect">
            <a:avLst/>
          </a:prstGeom>
          <a:noFill/>
          <a:ln w="38100">
            <a:solidFill>
              <a:schemeClr val="tx1"/>
            </a:solidFill>
            <a:miter lim="800000"/>
            <a:headEnd/>
            <a:tailEnd/>
          </a:ln>
        </p:spPr>
        <p:txBody>
          <a:bodyPr wrap="none" anchor="ctr"/>
          <a:lstStyle/>
          <a:p>
            <a:endParaRPr lang="en-US" sz="2400">
              <a:latin typeface="+mj-lt"/>
            </a:endParaRPr>
          </a:p>
        </p:txBody>
      </p:sp>
      <p:sp>
        <p:nvSpPr>
          <p:cNvPr id="29705" name="Rectangle 6"/>
          <p:cNvSpPr>
            <a:spLocks noChangeArrowheads="1"/>
          </p:cNvSpPr>
          <p:nvPr/>
        </p:nvSpPr>
        <p:spPr bwMode="auto">
          <a:xfrm>
            <a:off x="6096000" y="4876800"/>
            <a:ext cx="1066800" cy="838200"/>
          </a:xfrm>
          <a:prstGeom prst="rect">
            <a:avLst/>
          </a:prstGeom>
          <a:noFill/>
          <a:ln w="38100">
            <a:solidFill>
              <a:schemeClr val="tx1"/>
            </a:solidFill>
            <a:miter lim="800000"/>
            <a:headEnd/>
            <a:tailEnd/>
          </a:ln>
        </p:spPr>
        <p:txBody>
          <a:bodyPr wrap="none" anchor="ctr"/>
          <a:lstStyle/>
          <a:p>
            <a:endParaRPr lang="en-US" sz="2400">
              <a:latin typeface="+mj-lt"/>
            </a:endParaRPr>
          </a:p>
        </p:txBody>
      </p:sp>
      <p:sp>
        <p:nvSpPr>
          <p:cNvPr id="29706" name="Rectangle 7"/>
          <p:cNvSpPr>
            <a:spLocks noChangeArrowheads="1"/>
          </p:cNvSpPr>
          <p:nvPr/>
        </p:nvSpPr>
        <p:spPr bwMode="auto">
          <a:xfrm>
            <a:off x="3352800" y="2286000"/>
            <a:ext cx="1066800" cy="838200"/>
          </a:xfrm>
          <a:prstGeom prst="rect">
            <a:avLst/>
          </a:prstGeom>
          <a:noFill/>
          <a:ln w="38100">
            <a:solidFill>
              <a:schemeClr val="tx1"/>
            </a:solidFill>
            <a:miter lim="800000"/>
            <a:headEnd/>
            <a:tailEnd/>
          </a:ln>
        </p:spPr>
        <p:txBody>
          <a:bodyPr wrap="none" anchor="ctr"/>
          <a:lstStyle/>
          <a:p>
            <a:endParaRPr lang="en-US" sz="2400">
              <a:latin typeface="+mj-lt"/>
            </a:endParaRPr>
          </a:p>
        </p:txBody>
      </p:sp>
      <p:sp>
        <p:nvSpPr>
          <p:cNvPr id="29707" name="Line 8"/>
          <p:cNvSpPr>
            <a:spLocks noChangeShapeType="1"/>
          </p:cNvSpPr>
          <p:nvPr/>
        </p:nvSpPr>
        <p:spPr bwMode="auto">
          <a:xfrm flipV="1">
            <a:off x="2362200" y="3124200"/>
            <a:ext cx="990600" cy="838200"/>
          </a:xfrm>
          <a:prstGeom prst="line">
            <a:avLst/>
          </a:prstGeom>
          <a:noFill/>
          <a:ln w="9525">
            <a:solidFill>
              <a:schemeClr val="tx1"/>
            </a:solidFill>
            <a:round/>
            <a:headEnd/>
            <a:tailEnd type="triangle" w="med" len="med"/>
          </a:ln>
        </p:spPr>
        <p:txBody>
          <a:bodyPr wrap="none" anchor="ctr"/>
          <a:lstStyle/>
          <a:p>
            <a:endParaRPr lang="en-US" sz="2400">
              <a:latin typeface="+mj-lt"/>
            </a:endParaRPr>
          </a:p>
        </p:txBody>
      </p:sp>
      <p:sp>
        <p:nvSpPr>
          <p:cNvPr id="29708" name="Line 9"/>
          <p:cNvSpPr>
            <a:spLocks noChangeShapeType="1"/>
          </p:cNvSpPr>
          <p:nvPr/>
        </p:nvSpPr>
        <p:spPr bwMode="auto">
          <a:xfrm>
            <a:off x="2362200" y="3962400"/>
            <a:ext cx="990600" cy="914400"/>
          </a:xfrm>
          <a:prstGeom prst="line">
            <a:avLst/>
          </a:prstGeom>
          <a:noFill/>
          <a:ln w="9525">
            <a:solidFill>
              <a:schemeClr val="tx1"/>
            </a:solidFill>
            <a:round/>
            <a:headEnd/>
            <a:tailEnd type="triangle" w="med" len="med"/>
          </a:ln>
        </p:spPr>
        <p:txBody>
          <a:bodyPr wrap="none" anchor="ctr"/>
          <a:lstStyle/>
          <a:p>
            <a:endParaRPr lang="en-US" sz="2400">
              <a:latin typeface="+mj-lt"/>
            </a:endParaRPr>
          </a:p>
        </p:txBody>
      </p:sp>
      <p:sp>
        <p:nvSpPr>
          <p:cNvPr id="29709" name="Line 10"/>
          <p:cNvSpPr>
            <a:spLocks noChangeShapeType="1"/>
          </p:cNvSpPr>
          <p:nvPr/>
        </p:nvSpPr>
        <p:spPr bwMode="auto">
          <a:xfrm flipV="1">
            <a:off x="4419600" y="2743200"/>
            <a:ext cx="1600200" cy="0"/>
          </a:xfrm>
          <a:prstGeom prst="line">
            <a:avLst/>
          </a:prstGeom>
          <a:noFill/>
          <a:ln w="9525">
            <a:solidFill>
              <a:srgbClr val="CC3300"/>
            </a:solidFill>
            <a:round/>
            <a:headEnd/>
            <a:tailEnd type="triangle" w="med" len="med"/>
          </a:ln>
        </p:spPr>
        <p:txBody>
          <a:bodyPr wrap="none" anchor="ctr"/>
          <a:lstStyle/>
          <a:p>
            <a:endParaRPr lang="en-US" sz="2400">
              <a:latin typeface="+mj-lt"/>
            </a:endParaRPr>
          </a:p>
        </p:txBody>
      </p:sp>
      <p:sp>
        <p:nvSpPr>
          <p:cNvPr id="29710" name="Line 11"/>
          <p:cNvSpPr>
            <a:spLocks noChangeShapeType="1"/>
          </p:cNvSpPr>
          <p:nvPr/>
        </p:nvSpPr>
        <p:spPr bwMode="auto">
          <a:xfrm flipV="1">
            <a:off x="4419600" y="5257800"/>
            <a:ext cx="1676400" cy="0"/>
          </a:xfrm>
          <a:prstGeom prst="line">
            <a:avLst/>
          </a:prstGeom>
          <a:noFill/>
          <a:ln w="9525">
            <a:solidFill>
              <a:srgbClr val="CC3300"/>
            </a:solidFill>
            <a:round/>
            <a:headEnd/>
            <a:tailEnd type="triangle" w="med" len="med"/>
          </a:ln>
        </p:spPr>
        <p:txBody>
          <a:bodyPr wrap="none" anchor="ctr"/>
          <a:lstStyle/>
          <a:p>
            <a:endParaRPr lang="en-US" sz="2400">
              <a:latin typeface="+mj-lt"/>
            </a:endParaRPr>
          </a:p>
        </p:txBody>
      </p:sp>
      <p:sp>
        <p:nvSpPr>
          <p:cNvPr id="29711" name="Text Box 12"/>
          <p:cNvSpPr txBox="1">
            <a:spLocks noChangeArrowheads="1"/>
          </p:cNvSpPr>
          <p:nvPr/>
        </p:nvSpPr>
        <p:spPr bwMode="auto">
          <a:xfrm>
            <a:off x="762000" y="3505200"/>
            <a:ext cx="362600" cy="461665"/>
          </a:xfrm>
          <a:prstGeom prst="rect">
            <a:avLst/>
          </a:prstGeom>
          <a:noFill/>
          <a:ln w="9525">
            <a:noFill/>
            <a:miter lim="800000"/>
            <a:headEnd/>
            <a:tailEnd/>
          </a:ln>
        </p:spPr>
        <p:txBody>
          <a:bodyPr wrap="none">
            <a:spAutoFit/>
          </a:bodyPr>
          <a:lstStyle/>
          <a:p>
            <a:pPr>
              <a:spcBef>
                <a:spcPct val="0"/>
              </a:spcBef>
              <a:buFontTx/>
              <a:buNone/>
            </a:pPr>
            <a:r>
              <a:rPr lang="en-US" sz="2400">
                <a:latin typeface="+mj-lt"/>
              </a:rPr>
              <a:t>A</a:t>
            </a:r>
          </a:p>
        </p:txBody>
      </p:sp>
      <p:sp>
        <p:nvSpPr>
          <p:cNvPr id="29712" name="Text Box 13"/>
          <p:cNvSpPr txBox="1">
            <a:spLocks noChangeArrowheads="1"/>
          </p:cNvSpPr>
          <p:nvPr/>
        </p:nvSpPr>
        <p:spPr bwMode="auto">
          <a:xfrm>
            <a:off x="3733800" y="3200400"/>
            <a:ext cx="351378" cy="461665"/>
          </a:xfrm>
          <a:prstGeom prst="rect">
            <a:avLst/>
          </a:prstGeom>
          <a:noFill/>
          <a:ln w="9525">
            <a:noFill/>
            <a:miter lim="800000"/>
            <a:headEnd/>
            <a:tailEnd/>
          </a:ln>
        </p:spPr>
        <p:txBody>
          <a:bodyPr wrap="none">
            <a:spAutoFit/>
          </a:bodyPr>
          <a:lstStyle/>
          <a:p>
            <a:pPr>
              <a:spcBef>
                <a:spcPct val="0"/>
              </a:spcBef>
              <a:buFontTx/>
              <a:buNone/>
            </a:pPr>
            <a:r>
              <a:rPr lang="en-US" sz="2400">
                <a:latin typeface="+mj-lt"/>
              </a:rPr>
              <a:t>B</a:t>
            </a:r>
          </a:p>
        </p:txBody>
      </p:sp>
      <p:sp>
        <p:nvSpPr>
          <p:cNvPr id="29713" name="Text Box 14"/>
          <p:cNvSpPr txBox="1">
            <a:spLocks noChangeArrowheads="1"/>
          </p:cNvSpPr>
          <p:nvPr/>
        </p:nvSpPr>
        <p:spPr bwMode="auto">
          <a:xfrm>
            <a:off x="6400800" y="3200400"/>
            <a:ext cx="348172" cy="461665"/>
          </a:xfrm>
          <a:prstGeom prst="rect">
            <a:avLst/>
          </a:prstGeom>
          <a:noFill/>
          <a:ln w="9525">
            <a:noFill/>
            <a:miter lim="800000"/>
            <a:headEnd/>
            <a:tailEnd/>
          </a:ln>
        </p:spPr>
        <p:txBody>
          <a:bodyPr wrap="none">
            <a:spAutoFit/>
          </a:bodyPr>
          <a:lstStyle/>
          <a:p>
            <a:pPr>
              <a:spcBef>
                <a:spcPct val="0"/>
              </a:spcBef>
              <a:buFontTx/>
              <a:buNone/>
            </a:pPr>
            <a:r>
              <a:rPr lang="en-US" sz="2400">
                <a:latin typeface="+mj-lt"/>
              </a:rPr>
              <a:t>C</a:t>
            </a:r>
          </a:p>
        </p:txBody>
      </p:sp>
      <p:sp>
        <p:nvSpPr>
          <p:cNvPr id="29714" name="Text Box 15"/>
          <p:cNvSpPr txBox="1">
            <a:spLocks noChangeArrowheads="1"/>
          </p:cNvSpPr>
          <p:nvPr/>
        </p:nvSpPr>
        <p:spPr bwMode="auto">
          <a:xfrm>
            <a:off x="2514600" y="2286000"/>
            <a:ext cx="606256" cy="461665"/>
          </a:xfrm>
          <a:prstGeom prst="rect">
            <a:avLst/>
          </a:prstGeom>
          <a:noFill/>
          <a:ln w="9525">
            <a:noFill/>
            <a:miter lim="800000"/>
            <a:headEnd/>
            <a:tailEnd/>
          </a:ln>
        </p:spPr>
        <p:txBody>
          <a:bodyPr wrap="none">
            <a:spAutoFit/>
          </a:bodyPr>
          <a:lstStyle/>
          <a:p>
            <a:pPr>
              <a:spcBef>
                <a:spcPct val="0"/>
              </a:spcBef>
              <a:buFontTx/>
              <a:buNone/>
            </a:pPr>
            <a:r>
              <a:rPr lang="en-US" sz="2400" dirty="0" smtClean="0">
                <a:latin typeface="+mj-lt"/>
              </a:rPr>
              <a:t>A:b</a:t>
            </a:r>
            <a:endParaRPr lang="en-US" sz="2400" dirty="0">
              <a:latin typeface="+mj-lt"/>
            </a:endParaRPr>
          </a:p>
        </p:txBody>
      </p:sp>
      <p:sp>
        <p:nvSpPr>
          <p:cNvPr id="29715" name="Text Box 16"/>
          <p:cNvSpPr txBox="1">
            <a:spLocks noChangeArrowheads="1"/>
          </p:cNvSpPr>
          <p:nvPr/>
        </p:nvSpPr>
        <p:spPr bwMode="auto">
          <a:xfrm>
            <a:off x="5410200" y="2209800"/>
            <a:ext cx="562975" cy="461665"/>
          </a:xfrm>
          <a:prstGeom prst="rect">
            <a:avLst/>
          </a:prstGeom>
          <a:noFill/>
          <a:ln w="9525">
            <a:noFill/>
            <a:miter lim="800000"/>
            <a:headEnd/>
            <a:tailEnd/>
          </a:ln>
        </p:spPr>
        <p:txBody>
          <a:bodyPr wrap="none">
            <a:spAutoFit/>
          </a:bodyPr>
          <a:lstStyle/>
          <a:p>
            <a:pPr>
              <a:spcBef>
                <a:spcPct val="0"/>
              </a:spcBef>
              <a:buFontTx/>
              <a:buNone/>
            </a:pPr>
            <a:r>
              <a:rPr lang="en-US" sz="2400" dirty="0" smtClean="0">
                <a:latin typeface="+mj-lt"/>
              </a:rPr>
              <a:t>B:c</a:t>
            </a:r>
            <a:endParaRPr lang="en-US" sz="2400" dirty="0">
              <a:latin typeface="+mj-lt"/>
            </a:endParaRPr>
          </a:p>
        </p:txBody>
      </p:sp>
      <p:sp>
        <p:nvSpPr>
          <p:cNvPr id="29716" name="Text Box 17"/>
          <p:cNvSpPr txBox="1">
            <a:spLocks noChangeArrowheads="1"/>
          </p:cNvSpPr>
          <p:nvPr/>
        </p:nvSpPr>
        <p:spPr bwMode="auto">
          <a:xfrm>
            <a:off x="3733800" y="5638800"/>
            <a:ext cx="354013" cy="457200"/>
          </a:xfrm>
          <a:prstGeom prst="rect">
            <a:avLst/>
          </a:prstGeom>
          <a:noFill/>
          <a:ln w="9525">
            <a:noFill/>
            <a:miter lim="800000"/>
            <a:headEnd/>
            <a:tailEnd/>
          </a:ln>
        </p:spPr>
        <p:txBody>
          <a:bodyPr wrap="none">
            <a:spAutoFit/>
          </a:bodyPr>
          <a:lstStyle/>
          <a:p>
            <a:pPr>
              <a:spcBef>
                <a:spcPct val="0"/>
              </a:spcBef>
              <a:buFontTx/>
              <a:buNone/>
            </a:pPr>
            <a:r>
              <a:rPr lang="en-US" sz="2400">
                <a:latin typeface="+mj-lt"/>
              </a:rPr>
              <a:t>P</a:t>
            </a:r>
          </a:p>
        </p:txBody>
      </p:sp>
      <p:sp>
        <p:nvSpPr>
          <p:cNvPr id="29717" name="Text Box 18"/>
          <p:cNvSpPr txBox="1">
            <a:spLocks noChangeArrowheads="1"/>
          </p:cNvSpPr>
          <p:nvPr/>
        </p:nvSpPr>
        <p:spPr bwMode="auto">
          <a:xfrm>
            <a:off x="6477000" y="5638800"/>
            <a:ext cx="404813" cy="457200"/>
          </a:xfrm>
          <a:prstGeom prst="rect">
            <a:avLst/>
          </a:prstGeom>
          <a:noFill/>
          <a:ln w="9525">
            <a:noFill/>
            <a:miter lim="800000"/>
            <a:headEnd/>
            <a:tailEnd/>
          </a:ln>
        </p:spPr>
        <p:txBody>
          <a:bodyPr wrap="none">
            <a:spAutoFit/>
          </a:bodyPr>
          <a:lstStyle/>
          <a:p>
            <a:pPr>
              <a:spcBef>
                <a:spcPct val="0"/>
              </a:spcBef>
              <a:buFontTx/>
              <a:buNone/>
            </a:pPr>
            <a:r>
              <a:rPr lang="en-US" sz="2400">
                <a:latin typeface="+mj-lt"/>
              </a:rPr>
              <a:t>Q</a:t>
            </a:r>
          </a:p>
        </p:txBody>
      </p:sp>
      <p:sp>
        <p:nvSpPr>
          <p:cNvPr id="29718" name="Text Box 19"/>
          <p:cNvSpPr txBox="1">
            <a:spLocks noChangeArrowheads="1"/>
          </p:cNvSpPr>
          <p:nvPr/>
        </p:nvSpPr>
        <p:spPr bwMode="auto">
          <a:xfrm>
            <a:off x="2209800" y="5257800"/>
            <a:ext cx="792205" cy="461665"/>
          </a:xfrm>
          <a:prstGeom prst="rect">
            <a:avLst/>
          </a:prstGeom>
          <a:noFill/>
          <a:ln w="9525">
            <a:noFill/>
            <a:miter lim="800000"/>
            <a:headEnd/>
            <a:tailEnd/>
          </a:ln>
        </p:spPr>
        <p:txBody>
          <a:bodyPr wrap="none">
            <a:spAutoFit/>
          </a:bodyPr>
          <a:lstStyle/>
          <a:p>
            <a:pPr>
              <a:spcBef>
                <a:spcPct val="0"/>
              </a:spcBef>
              <a:buFontTx/>
              <a:buNone/>
            </a:pPr>
            <a:r>
              <a:rPr lang="en-US" sz="2400" dirty="0" smtClean="0">
                <a:latin typeface="+mj-lt"/>
              </a:rPr>
              <a:t>A:p</a:t>
            </a:r>
            <a:r>
              <a:rPr lang="en-US" sz="2400" dirty="0">
                <a:latin typeface="+mj-lt"/>
              </a:rPr>
              <a:t>()</a:t>
            </a:r>
          </a:p>
        </p:txBody>
      </p:sp>
      <p:sp>
        <p:nvSpPr>
          <p:cNvPr id="29719" name="Text Box 20"/>
          <p:cNvSpPr txBox="1">
            <a:spLocks noChangeArrowheads="1"/>
          </p:cNvSpPr>
          <p:nvPr/>
        </p:nvSpPr>
        <p:spPr bwMode="auto">
          <a:xfrm>
            <a:off x="5257800" y="5334000"/>
            <a:ext cx="595035" cy="461665"/>
          </a:xfrm>
          <a:prstGeom prst="rect">
            <a:avLst/>
          </a:prstGeom>
          <a:noFill/>
          <a:ln w="9525">
            <a:noFill/>
            <a:miter lim="800000"/>
            <a:headEnd/>
            <a:tailEnd/>
          </a:ln>
        </p:spPr>
        <p:txBody>
          <a:bodyPr wrap="none">
            <a:spAutoFit/>
          </a:bodyPr>
          <a:lstStyle/>
          <a:p>
            <a:pPr>
              <a:spcBef>
                <a:spcPct val="0"/>
              </a:spcBef>
              <a:buFontTx/>
              <a:buNone/>
            </a:pPr>
            <a:r>
              <a:rPr lang="en-US" sz="2400" dirty="0" smtClean="0">
                <a:latin typeface="+mj-lt"/>
              </a:rPr>
              <a:t>P:q</a:t>
            </a:r>
            <a:endParaRPr lang="en-US" sz="2400" dirty="0">
              <a:latin typeface="+mj-lt"/>
            </a:endParaRPr>
          </a:p>
        </p:txBody>
      </p:sp>
      <p:sp>
        <p:nvSpPr>
          <p:cNvPr id="29720" name="Line 21"/>
          <p:cNvSpPr>
            <a:spLocks noChangeShapeType="1"/>
          </p:cNvSpPr>
          <p:nvPr/>
        </p:nvSpPr>
        <p:spPr bwMode="auto">
          <a:xfrm flipV="1">
            <a:off x="7086600" y="2743200"/>
            <a:ext cx="1600200" cy="0"/>
          </a:xfrm>
          <a:prstGeom prst="line">
            <a:avLst/>
          </a:prstGeom>
          <a:noFill/>
          <a:ln w="9525">
            <a:solidFill>
              <a:schemeClr val="tx1"/>
            </a:solidFill>
            <a:round/>
            <a:headEnd/>
            <a:tailEnd type="triangle" w="med" len="med"/>
          </a:ln>
        </p:spPr>
        <p:txBody>
          <a:bodyPr wrap="none" anchor="ctr"/>
          <a:lstStyle/>
          <a:p>
            <a:endParaRPr lang="en-US" sz="2400">
              <a:latin typeface="+mj-lt"/>
            </a:endParaRPr>
          </a:p>
        </p:txBody>
      </p:sp>
      <p:sp>
        <p:nvSpPr>
          <p:cNvPr id="29721" name="Line 22"/>
          <p:cNvSpPr>
            <a:spLocks noChangeShapeType="1"/>
          </p:cNvSpPr>
          <p:nvPr/>
        </p:nvSpPr>
        <p:spPr bwMode="auto">
          <a:xfrm flipV="1">
            <a:off x="7162800" y="5257800"/>
            <a:ext cx="1676400" cy="0"/>
          </a:xfrm>
          <a:prstGeom prst="line">
            <a:avLst/>
          </a:prstGeom>
          <a:noFill/>
          <a:ln w="9525">
            <a:solidFill>
              <a:schemeClr val="tx1"/>
            </a:solidFill>
            <a:round/>
            <a:headEnd/>
            <a:tailEnd type="triangle" w="med" len="med"/>
          </a:ln>
        </p:spPr>
        <p:txBody>
          <a:bodyPr wrap="none" anchor="ctr"/>
          <a:lstStyle/>
          <a:p>
            <a:endParaRPr lang="en-US" sz="2400">
              <a:latin typeface="+mj-lt"/>
            </a:endParaRPr>
          </a:p>
        </p:txBody>
      </p:sp>
      <p:sp>
        <p:nvSpPr>
          <p:cNvPr id="29722" name="Text Box 23"/>
          <p:cNvSpPr txBox="1">
            <a:spLocks noChangeArrowheads="1"/>
          </p:cNvSpPr>
          <p:nvPr/>
        </p:nvSpPr>
        <p:spPr bwMode="auto">
          <a:xfrm>
            <a:off x="8061325" y="2174875"/>
            <a:ext cx="793750" cy="457200"/>
          </a:xfrm>
          <a:prstGeom prst="rect">
            <a:avLst/>
          </a:prstGeom>
          <a:noFill/>
          <a:ln w="9525">
            <a:noFill/>
            <a:miter lim="800000"/>
            <a:headEnd/>
            <a:tailEnd/>
          </a:ln>
        </p:spPr>
        <p:txBody>
          <a:bodyPr wrap="none">
            <a:spAutoFit/>
          </a:bodyPr>
          <a:lstStyle/>
          <a:p>
            <a:pPr>
              <a:spcBef>
                <a:spcPct val="0"/>
              </a:spcBef>
              <a:buFontTx/>
              <a:buNone/>
            </a:pPr>
            <a:r>
              <a:rPr lang="en-US" sz="2400">
                <a:latin typeface="+mj-lt"/>
              </a:rPr>
              <a:t>foo()</a:t>
            </a:r>
          </a:p>
        </p:txBody>
      </p:sp>
      <p:sp>
        <p:nvSpPr>
          <p:cNvPr id="29723" name="Text Box 24"/>
          <p:cNvSpPr txBox="1">
            <a:spLocks noChangeArrowheads="1"/>
          </p:cNvSpPr>
          <p:nvPr/>
        </p:nvSpPr>
        <p:spPr bwMode="auto">
          <a:xfrm>
            <a:off x="8077200" y="4724400"/>
            <a:ext cx="787395" cy="461665"/>
          </a:xfrm>
          <a:prstGeom prst="rect">
            <a:avLst/>
          </a:prstGeom>
          <a:noFill/>
          <a:ln w="9525">
            <a:noFill/>
            <a:miter lim="800000"/>
            <a:headEnd/>
            <a:tailEnd/>
          </a:ln>
        </p:spPr>
        <p:txBody>
          <a:bodyPr wrap="none">
            <a:spAutoFit/>
          </a:bodyPr>
          <a:lstStyle/>
          <a:p>
            <a:pPr>
              <a:spcBef>
                <a:spcPct val="0"/>
              </a:spcBef>
              <a:buFontTx/>
              <a:buNone/>
            </a:pPr>
            <a:r>
              <a:rPr lang="en-US" sz="2400">
                <a:latin typeface="+mj-lt"/>
              </a:rPr>
              <a:t>bar()</a:t>
            </a:r>
          </a:p>
        </p:txBody>
      </p:sp>
      <p:sp>
        <p:nvSpPr>
          <p:cNvPr id="29724" name="Rectangle 25"/>
          <p:cNvSpPr>
            <a:spLocks noChangeArrowheads="1"/>
          </p:cNvSpPr>
          <p:nvPr/>
        </p:nvSpPr>
        <p:spPr bwMode="auto">
          <a:xfrm>
            <a:off x="609600" y="1524000"/>
            <a:ext cx="4648200" cy="4724400"/>
          </a:xfrm>
          <a:prstGeom prst="rect">
            <a:avLst/>
          </a:prstGeom>
          <a:noFill/>
          <a:ln w="76200">
            <a:solidFill>
              <a:schemeClr val="tx1"/>
            </a:solidFill>
            <a:miter lim="800000"/>
            <a:headEnd/>
            <a:tailEnd/>
          </a:ln>
        </p:spPr>
        <p:txBody>
          <a:bodyPr wrap="none" anchor="ctr"/>
          <a:lstStyle/>
          <a:p>
            <a:endParaRPr lang="en-US" sz="2400">
              <a:latin typeface="+mj-lt"/>
            </a:endParaRPr>
          </a:p>
        </p:txBody>
      </p:sp>
      <p:sp>
        <p:nvSpPr>
          <p:cNvPr id="29730" name="Rectangle 31"/>
          <p:cNvSpPr>
            <a:spLocks noChangeArrowheads="1"/>
          </p:cNvSpPr>
          <p:nvPr/>
        </p:nvSpPr>
        <p:spPr bwMode="auto">
          <a:xfrm>
            <a:off x="3124200" y="1828800"/>
            <a:ext cx="4267200" cy="1905000"/>
          </a:xfrm>
          <a:prstGeom prst="rect">
            <a:avLst/>
          </a:prstGeom>
          <a:noFill/>
          <a:ln w="76200">
            <a:solidFill>
              <a:srgbClr val="CC3300"/>
            </a:solidFill>
            <a:miter lim="800000"/>
            <a:headEnd/>
            <a:tailEnd/>
          </a:ln>
        </p:spPr>
        <p:txBody>
          <a:bodyPr wrap="none" anchor="ctr"/>
          <a:lstStyle/>
          <a:p>
            <a:endParaRPr lang="en-US" sz="2400">
              <a:latin typeface="+mj-lt"/>
            </a:endParaRPr>
          </a:p>
        </p:txBody>
      </p:sp>
      <p:sp>
        <p:nvSpPr>
          <p:cNvPr id="29731" name="Text Box 32"/>
          <p:cNvSpPr txBox="1">
            <a:spLocks noChangeArrowheads="1"/>
          </p:cNvSpPr>
          <p:nvPr/>
        </p:nvSpPr>
        <p:spPr bwMode="auto">
          <a:xfrm>
            <a:off x="838200" y="1828800"/>
            <a:ext cx="1584408" cy="461665"/>
          </a:xfrm>
          <a:prstGeom prst="rect">
            <a:avLst/>
          </a:prstGeom>
          <a:noFill/>
          <a:ln w="9525">
            <a:noFill/>
            <a:miter lim="800000"/>
            <a:headEnd/>
            <a:tailEnd/>
          </a:ln>
        </p:spPr>
        <p:txBody>
          <a:bodyPr wrap="none">
            <a:spAutoFit/>
          </a:bodyPr>
          <a:lstStyle/>
          <a:p>
            <a:pPr>
              <a:spcBef>
                <a:spcPct val="0"/>
              </a:spcBef>
              <a:buFontTx/>
              <a:buNone/>
            </a:pPr>
            <a:r>
              <a:rPr lang="en-US" sz="2400" dirty="0" smtClean="0">
                <a:solidFill>
                  <a:srgbClr val="CC3300"/>
                </a:solidFill>
                <a:latin typeface="+mj-lt"/>
              </a:rPr>
              <a:t>M:b.foo2() </a:t>
            </a:r>
          </a:p>
        </p:txBody>
      </p:sp>
      <p:sp>
        <p:nvSpPr>
          <p:cNvPr id="29732" name="Rectangle 33"/>
          <p:cNvSpPr>
            <a:spLocks noChangeArrowheads="1"/>
          </p:cNvSpPr>
          <p:nvPr/>
        </p:nvSpPr>
        <p:spPr bwMode="auto">
          <a:xfrm>
            <a:off x="3124200" y="4191000"/>
            <a:ext cx="4267200" cy="1905000"/>
          </a:xfrm>
          <a:prstGeom prst="rect">
            <a:avLst/>
          </a:prstGeom>
          <a:noFill/>
          <a:ln w="76200">
            <a:solidFill>
              <a:srgbClr val="CC3300"/>
            </a:solidFill>
            <a:miter lim="800000"/>
            <a:headEnd/>
            <a:tailEnd/>
          </a:ln>
        </p:spPr>
        <p:txBody>
          <a:bodyPr wrap="none" anchor="ctr"/>
          <a:lstStyle/>
          <a:p>
            <a:endParaRPr lang="en-US" sz="2400">
              <a:latin typeface="+mj-lt"/>
            </a:endParaRPr>
          </a:p>
        </p:txBody>
      </p:sp>
      <p:sp>
        <p:nvSpPr>
          <p:cNvPr id="29733" name="Text Box 34"/>
          <p:cNvSpPr txBox="1">
            <a:spLocks noChangeArrowheads="1"/>
          </p:cNvSpPr>
          <p:nvPr/>
        </p:nvSpPr>
        <p:spPr bwMode="auto">
          <a:xfrm>
            <a:off x="990600" y="4648200"/>
            <a:ext cx="1664238" cy="461665"/>
          </a:xfrm>
          <a:prstGeom prst="rect">
            <a:avLst/>
          </a:prstGeom>
          <a:noFill/>
          <a:ln w="9525">
            <a:noFill/>
            <a:miter lim="800000"/>
            <a:headEnd/>
            <a:tailEnd/>
          </a:ln>
        </p:spPr>
        <p:txBody>
          <a:bodyPr wrap="none">
            <a:spAutoFit/>
          </a:bodyPr>
          <a:lstStyle/>
          <a:p>
            <a:pPr>
              <a:spcBef>
                <a:spcPct val="0"/>
              </a:spcBef>
              <a:buFontTx/>
              <a:buNone/>
            </a:pPr>
            <a:r>
              <a:rPr lang="en-US" sz="2400" dirty="0" smtClean="0">
                <a:solidFill>
                  <a:srgbClr val="CC3300"/>
                </a:solidFill>
                <a:latin typeface="+mj-lt"/>
              </a:rPr>
              <a:t>M: p.bar2() </a:t>
            </a:r>
          </a:p>
        </p:txBody>
      </p:sp>
      <p:sp>
        <p:nvSpPr>
          <p:cNvPr id="39" name="Text Box 32"/>
          <p:cNvSpPr txBox="1">
            <a:spLocks noChangeArrowheads="1"/>
          </p:cNvSpPr>
          <p:nvPr/>
        </p:nvSpPr>
        <p:spPr bwMode="auto">
          <a:xfrm>
            <a:off x="3276600" y="1828800"/>
            <a:ext cx="1959447" cy="461665"/>
          </a:xfrm>
          <a:prstGeom prst="rect">
            <a:avLst/>
          </a:prstGeom>
          <a:noFill/>
          <a:ln w="9525">
            <a:noFill/>
            <a:miter lim="800000"/>
            <a:headEnd/>
            <a:tailEnd/>
          </a:ln>
        </p:spPr>
        <p:txBody>
          <a:bodyPr wrap="none">
            <a:spAutoFit/>
          </a:bodyPr>
          <a:lstStyle/>
          <a:p>
            <a:pPr>
              <a:spcBef>
                <a:spcPct val="0"/>
              </a:spcBef>
              <a:buFontTx/>
              <a:buNone/>
            </a:pPr>
            <a:r>
              <a:rPr lang="en-US" sz="2400" dirty="0" smtClean="0">
                <a:solidFill>
                  <a:srgbClr val="CC3300"/>
                </a:solidFill>
                <a:latin typeface="+mj-lt"/>
              </a:rPr>
              <a:t>foo2() =c.foo()</a:t>
            </a:r>
            <a:endParaRPr lang="en-US" sz="2400" dirty="0">
              <a:latin typeface="+mj-lt"/>
            </a:endParaRPr>
          </a:p>
        </p:txBody>
      </p:sp>
      <p:sp>
        <p:nvSpPr>
          <p:cNvPr id="40" name="Text Box 34"/>
          <p:cNvSpPr txBox="1">
            <a:spLocks noChangeArrowheads="1"/>
          </p:cNvSpPr>
          <p:nvPr/>
        </p:nvSpPr>
        <p:spPr bwMode="auto">
          <a:xfrm>
            <a:off x="3200400" y="4267200"/>
            <a:ext cx="2007281" cy="461665"/>
          </a:xfrm>
          <a:prstGeom prst="rect">
            <a:avLst/>
          </a:prstGeom>
          <a:noFill/>
          <a:ln w="9525">
            <a:noFill/>
            <a:miter lim="800000"/>
            <a:headEnd/>
            <a:tailEnd/>
          </a:ln>
        </p:spPr>
        <p:txBody>
          <a:bodyPr wrap="none">
            <a:spAutoFit/>
          </a:bodyPr>
          <a:lstStyle/>
          <a:p>
            <a:pPr>
              <a:spcBef>
                <a:spcPct val="0"/>
              </a:spcBef>
              <a:buFontTx/>
              <a:buNone/>
            </a:pPr>
            <a:r>
              <a:rPr lang="en-US" sz="2400" dirty="0" smtClean="0">
                <a:solidFill>
                  <a:srgbClr val="CC3300"/>
                </a:solidFill>
                <a:latin typeface="+mj-lt"/>
              </a:rPr>
              <a:t>bar2()=q.bar()</a:t>
            </a:r>
            <a:endParaRPr lang="en-US" sz="2400" dirty="0">
              <a:solidFill>
                <a:srgbClr val="CC3300"/>
              </a:solidFill>
              <a:latin typeface="+mj-lt"/>
            </a:endParaRPr>
          </a:p>
        </p:txBody>
      </p:sp>
      <p:sp>
        <p:nvSpPr>
          <p:cNvPr id="41" name="Rectangle 40"/>
          <p:cNvSpPr/>
          <p:nvPr/>
        </p:nvSpPr>
        <p:spPr>
          <a:xfrm>
            <a:off x="5791200" y="6324600"/>
            <a:ext cx="1752600" cy="369332"/>
          </a:xfrm>
          <a:prstGeom prst="rect">
            <a:avLst/>
          </a:prstGeom>
          <a:solidFill>
            <a:schemeClr val="accent6"/>
          </a:solidFill>
        </p:spPr>
        <p:txBody>
          <a:bodyPr wrap="square">
            <a:spAutoFit/>
          </a:bodyPr>
          <a:lstStyle/>
          <a:p>
            <a:r>
              <a:rPr lang="en-US" dirty="0" smtClean="0">
                <a:latin typeface="+mj-lt"/>
              </a:rPr>
              <a:t>VISITOR Pattern?</a:t>
            </a:r>
            <a:endParaRPr lang="en-US" dirty="0">
              <a:latin typeface="+mj-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Code: Issue</a:t>
            </a:r>
            <a:endParaRPr lang="en-US" dirty="0"/>
          </a:p>
        </p:txBody>
      </p:sp>
      <p:sp>
        <p:nvSpPr>
          <p:cNvPr id="4" name="Rectangle 3"/>
          <p:cNvSpPr/>
          <p:nvPr/>
        </p:nvSpPr>
        <p:spPr>
          <a:xfrm>
            <a:off x="762000" y="1894106"/>
            <a:ext cx="7543800" cy="304698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600" dirty="0" smtClean="0">
                <a:solidFill>
                  <a:srgbClr val="2B91AF"/>
                </a:solidFill>
                <a:latin typeface="Cascadia Mono"/>
              </a:rPr>
              <a:t>String</a:t>
            </a:r>
            <a:r>
              <a:rPr lang="en-US" sz="1600" dirty="0" smtClean="0">
                <a:solidFill>
                  <a:srgbClr val="000000"/>
                </a:solidFill>
                <a:latin typeface="Cascadia Mono"/>
              </a:rPr>
              <a:t> body = </a:t>
            </a:r>
            <a:r>
              <a:rPr lang="en-US" sz="1600" dirty="0" err="1" smtClean="0">
                <a:solidFill>
                  <a:srgbClr val="2B91AF"/>
                </a:solidFill>
                <a:latin typeface="Cascadia Mono"/>
              </a:rPr>
              <a:t>String</a:t>
            </a:r>
            <a:r>
              <a:rPr lang="en-US" sz="1600" dirty="0" err="1" smtClean="0">
                <a:solidFill>
                  <a:srgbClr val="000000"/>
                </a:solidFill>
                <a:latin typeface="Cascadia Mono"/>
              </a:rPr>
              <a:t>.Format</a:t>
            </a:r>
            <a:r>
              <a:rPr lang="en-US" sz="1600" dirty="0" smtClean="0">
                <a:solidFill>
                  <a:srgbClr val="000000"/>
                </a:solidFill>
                <a:latin typeface="Cascadia Mono"/>
              </a:rPr>
              <a:t>(body, </a:t>
            </a:r>
            <a:r>
              <a:rPr lang="en-US" sz="1600" dirty="0" err="1" smtClean="0">
                <a:solidFill>
                  <a:srgbClr val="000000"/>
                </a:solidFill>
                <a:latin typeface="Cascadia Mono"/>
              </a:rPr>
              <a:t>projectManager.FullName</a:t>
            </a:r>
            <a:r>
              <a:rPr lang="en-US" sz="1600" dirty="0" smtClean="0">
                <a:solidFill>
                  <a:srgbClr val="000000"/>
                </a:solidFill>
                <a:latin typeface="Cascadia Mono"/>
              </a:rPr>
              <a:t>, </a:t>
            </a:r>
            <a:r>
              <a:rPr lang="en-US" sz="1600" dirty="0" err="1" smtClean="0">
                <a:solidFill>
                  <a:srgbClr val="000000"/>
                </a:solidFill>
                <a:latin typeface="Cascadia Mono"/>
              </a:rPr>
              <a:t>toDo.ToDoList.Project.Name</a:t>
            </a:r>
            <a:r>
              <a:rPr lang="en-US" sz="1600" dirty="0" smtClean="0">
                <a:solidFill>
                  <a:srgbClr val="000000"/>
                </a:solidFill>
                <a:latin typeface="Cascadia Mono"/>
              </a:rPr>
              <a:t>, </a:t>
            </a:r>
          </a:p>
          <a:p>
            <a:r>
              <a:rPr lang="en-US" sz="1600" dirty="0" err="1" smtClean="0">
                <a:solidFill>
                  <a:srgbClr val="000000"/>
                </a:solidFill>
                <a:latin typeface="Cascadia Mono"/>
              </a:rPr>
              <a:t>toDo.FormattedName</a:t>
            </a:r>
            <a:r>
              <a:rPr lang="en-US" sz="1600" dirty="0" smtClean="0">
                <a:solidFill>
                  <a:srgbClr val="000000"/>
                </a:solidFill>
                <a:latin typeface="Cascadia Mono"/>
              </a:rPr>
              <a:t>, </a:t>
            </a:r>
            <a:r>
              <a:rPr lang="en-US" sz="1600" dirty="0" err="1" smtClean="0">
                <a:solidFill>
                  <a:srgbClr val="000000"/>
                </a:solidFill>
                <a:latin typeface="Cascadia Mono"/>
              </a:rPr>
              <a:t>toDo.Status</a:t>
            </a:r>
            <a:r>
              <a:rPr lang="en-US" sz="1600" dirty="0" smtClean="0">
                <a:solidFill>
                  <a:srgbClr val="000000"/>
                </a:solidFill>
                <a:latin typeface="Cascadia Mono"/>
              </a:rPr>
              <a:t>, </a:t>
            </a:r>
            <a:r>
              <a:rPr lang="en-US" sz="1600" b="1" dirty="0" err="1" smtClean="0">
                <a:solidFill>
                  <a:srgbClr val="C00000"/>
                </a:solidFill>
                <a:latin typeface="Cascadia Mono"/>
              </a:rPr>
              <a:t>toDo.Priority.Name</a:t>
            </a:r>
            <a:r>
              <a:rPr lang="en-US" sz="1600" dirty="0" smtClean="0">
                <a:solidFill>
                  <a:srgbClr val="000000"/>
                </a:solidFill>
                <a:latin typeface="Cascadia Mono"/>
              </a:rPr>
              <a:t>, </a:t>
            </a:r>
            <a:r>
              <a:rPr lang="en-US" sz="1600" dirty="0" err="1" smtClean="0">
                <a:solidFill>
                  <a:srgbClr val="000000"/>
                </a:solidFill>
                <a:latin typeface="Cascadia Mono"/>
              </a:rPr>
              <a:t>toDo.Duration</a:t>
            </a:r>
            <a:r>
              <a:rPr lang="en-US" sz="1600" dirty="0" smtClean="0">
                <a:solidFill>
                  <a:srgbClr val="000000"/>
                </a:solidFill>
                <a:latin typeface="Cascadia Mono"/>
              </a:rPr>
              <a:t>, </a:t>
            </a:r>
            <a:r>
              <a:rPr lang="en-US" sz="1600" dirty="0" err="1" smtClean="0">
                <a:solidFill>
                  <a:srgbClr val="000000"/>
                </a:solidFill>
                <a:latin typeface="Cascadia Mono"/>
              </a:rPr>
              <a:t>toDo.DurationUnit.ToString</a:t>
            </a:r>
            <a:r>
              <a:rPr lang="en-US" sz="1600" dirty="0" smtClean="0">
                <a:solidFill>
                  <a:srgbClr val="000000"/>
                </a:solidFill>
                <a:latin typeface="Cascadia Mono"/>
              </a:rPr>
              <a:t>(), </a:t>
            </a:r>
            <a:r>
              <a:rPr lang="en-US" sz="1600" dirty="0" err="1" smtClean="0">
                <a:solidFill>
                  <a:srgbClr val="000000"/>
                </a:solidFill>
                <a:latin typeface="Cascadia Mono"/>
              </a:rPr>
              <a:t>toDo.DueDate</a:t>
            </a:r>
            <a:r>
              <a:rPr lang="en-US" sz="1600" dirty="0" smtClean="0">
                <a:solidFill>
                  <a:srgbClr val="000000"/>
                </a:solidFill>
                <a:latin typeface="Cascadia Mono"/>
              </a:rPr>
              <a:t>, </a:t>
            </a:r>
            <a:r>
              <a:rPr lang="en-US" sz="1600" dirty="0" err="1" smtClean="0">
                <a:solidFill>
                  <a:srgbClr val="000000"/>
                </a:solidFill>
                <a:latin typeface="Cascadia Mono"/>
              </a:rPr>
              <a:t>toDo.Assignee.FullName</a:t>
            </a:r>
            <a:r>
              <a:rPr lang="en-US" sz="1600" dirty="0" smtClean="0">
                <a:solidFill>
                  <a:srgbClr val="000000"/>
                </a:solidFill>
                <a:latin typeface="Cascadia Mono"/>
              </a:rPr>
              <a:t>, </a:t>
            </a:r>
            <a:r>
              <a:rPr lang="en-US" sz="1600" dirty="0" err="1" smtClean="0">
                <a:solidFill>
                  <a:srgbClr val="000000"/>
                </a:solidFill>
                <a:latin typeface="Cascadia Mono"/>
              </a:rPr>
              <a:t>toDo.PercentComplete</a:t>
            </a:r>
            <a:r>
              <a:rPr lang="en-US" sz="1600" dirty="0" smtClean="0">
                <a:solidFill>
                  <a:srgbClr val="000000"/>
                </a:solidFill>
                <a:latin typeface="Cascadia Mono"/>
              </a:rPr>
              <a:t>, </a:t>
            </a:r>
            <a:r>
              <a:rPr lang="en-US" sz="1600" dirty="0" err="1" smtClean="0">
                <a:solidFill>
                  <a:srgbClr val="000000"/>
                </a:solidFill>
                <a:latin typeface="Cascadia Mono"/>
              </a:rPr>
              <a:t>userActioned.FullName</a:t>
            </a:r>
            <a:r>
              <a:rPr lang="en-US" sz="1600" dirty="0" smtClean="0">
                <a:solidFill>
                  <a:srgbClr val="000000"/>
                </a:solidFill>
                <a:latin typeface="Cascadia Mono"/>
              </a:rPr>
              <a:t>, </a:t>
            </a:r>
            <a:r>
              <a:rPr lang="en-US" sz="1600" dirty="0" err="1" smtClean="0">
                <a:solidFill>
                  <a:srgbClr val="000000"/>
                </a:solidFill>
                <a:latin typeface="Cascadia Mono"/>
              </a:rPr>
              <a:t>toDo.GetToDoListLink</a:t>
            </a:r>
            <a:r>
              <a:rPr lang="en-US" sz="1600" dirty="0" smtClean="0">
                <a:solidFill>
                  <a:srgbClr val="000000"/>
                </a:solidFill>
                <a:latin typeface="Cascadia Mono"/>
              </a:rPr>
              <a:t>(</a:t>
            </a:r>
            <a:r>
              <a:rPr lang="en-US" sz="1600" dirty="0" err="1" smtClean="0">
                <a:solidFill>
                  <a:srgbClr val="2B91AF"/>
                </a:solidFill>
                <a:latin typeface="Cascadia Mono"/>
              </a:rPr>
              <a:t>ApplicationSettings</a:t>
            </a:r>
            <a:r>
              <a:rPr lang="en-US" sz="1600" dirty="0" err="1" smtClean="0">
                <a:solidFill>
                  <a:srgbClr val="000000"/>
                </a:solidFill>
                <a:latin typeface="Cascadia Mono"/>
              </a:rPr>
              <a:t>.ApplicationServiceProviderURL</a:t>
            </a:r>
            <a:r>
              <a:rPr lang="en-US" sz="1600" dirty="0" smtClean="0">
                <a:solidFill>
                  <a:srgbClr val="000000"/>
                </a:solidFill>
                <a:latin typeface="Cascadia Mono"/>
              </a:rPr>
              <a:t>), </a:t>
            </a:r>
            <a:r>
              <a:rPr lang="en-US" sz="1600" dirty="0" err="1" smtClean="0">
                <a:solidFill>
                  <a:srgbClr val="000000"/>
                </a:solidFill>
                <a:latin typeface="Cascadia Mono"/>
              </a:rPr>
              <a:t>toDo.ApplicationServiceProviderName</a:t>
            </a:r>
            <a:r>
              <a:rPr lang="en-US" sz="1600" dirty="0" smtClean="0">
                <a:solidFill>
                  <a:srgbClr val="000000"/>
                </a:solidFill>
                <a:latin typeface="Cascadia Mono"/>
              </a:rPr>
              <a:t>);</a:t>
            </a:r>
          </a:p>
          <a:p>
            <a:r>
              <a:rPr lang="en-US" sz="1600" dirty="0" smtClean="0">
                <a:solidFill>
                  <a:srgbClr val="000000"/>
                </a:solidFill>
                <a:latin typeface="Cascadia Mono"/>
              </a:rPr>
              <a:t>                   </a:t>
            </a:r>
            <a:r>
              <a:rPr lang="en-US" sz="1600" dirty="0" err="1" smtClean="0">
                <a:solidFill>
                  <a:srgbClr val="2B91AF"/>
                </a:solidFill>
                <a:latin typeface="Cascadia Mono"/>
              </a:rPr>
              <a:t>NotificationHelper</a:t>
            </a:r>
            <a:r>
              <a:rPr lang="en-US" sz="1600" dirty="0" err="1" smtClean="0">
                <a:solidFill>
                  <a:srgbClr val="000000"/>
                </a:solidFill>
                <a:latin typeface="Cascadia Mono"/>
              </a:rPr>
              <a:t>.Send</a:t>
            </a:r>
            <a:r>
              <a:rPr lang="en-US" sz="1600" dirty="0" smtClean="0">
                <a:solidFill>
                  <a:srgbClr val="000000"/>
                </a:solidFill>
                <a:latin typeface="Cascadia Mono"/>
              </a:rPr>
              <a:t>(</a:t>
            </a:r>
            <a:r>
              <a:rPr lang="en-US" sz="1600" dirty="0" err="1" smtClean="0">
                <a:solidFill>
                  <a:srgbClr val="2B91AF"/>
                </a:solidFill>
                <a:latin typeface="Cascadia Mono"/>
              </a:rPr>
              <a:t>ApplicationSettings</a:t>
            </a:r>
            <a:r>
              <a:rPr lang="en-US" sz="1600" dirty="0" err="1" smtClean="0">
                <a:solidFill>
                  <a:srgbClr val="000000"/>
                </a:solidFill>
                <a:latin typeface="Cascadia Mono"/>
              </a:rPr>
              <a:t>.EnableSSLForSMTP</a:t>
            </a:r>
            <a:r>
              <a:rPr lang="en-US" sz="1600" dirty="0" smtClean="0">
                <a:solidFill>
                  <a:srgbClr val="000000"/>
                </a:solidFill>
                <a:latin typeface="Cascadia Mono"/>
              </a:rPr>
              <a:t>, </a:t>
            </a:r>
            <a:r>
              <a:rPr lang="en-US" sz="1600" dirty="0" err="1" smtClean="0">
                <a:solidFill>
                  <a:srgbClr val="2B91AF"/>
                </a:solidFill>
                <a:latin typeface="Cascadia Mono"/>
              </a:rPr>
              <a:t>ApplicationSettings</a:t>
            </a:r>
            <a:r>
              <a:rPr lang="en-US" sz="1600" dirty="0" err="1" smtClean="0">
                <a:solidFill>
                  <a:srgbClr val="000000"/>
                </a:solidFill>
                <a:latin typeface="Cascadia Mono"/>
              </a:rPr>
              <a:t>.DefaultEmail</a:t>
            </a:r>
            <a:r>
              <a:rPr lang="en-US" sz="1600" dirty="0" smtClean="0">
                <a:solidFill>
                  <a:srgbClr val="000000"/>
                </a:solidFill>
                <a:latin typeface="Cascadia Mono"/>
              </a:rPr>
              <a:t>, </a:t>
            </a:r>
            <a:r>
              <a:rPr lang="en-US" sz="1600" dirty="0" err="1" smtClean="0">
                <a:solidFill>
                  <a:srgbClr val="000000"/>
                </a:solidFill>
                <a:latin typeface="Cascadia Mono"/>
              </a:rPr>
              <a:t>projectManager.Email</a:t>
            </a:r>
            <a:r>
              <a:rPr lang="en-US" sz="1600" dirty="0" smtClean="0">
                <a:solidFill>
                  <a:srgbClr val="000000"/>
                </a:solidFill>
                <a:latin typeface="Cascadia Mono"/>
              </a:rPr>
              <a:t>, subject, body);</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Code: Fix</a:t>
            </a:r>
            <a:endParaRPr lang="en-US" dirty="0"/>
          </a:p>
        </p:txBody>
      </p:sp>
      <p:sp>
        <p:nvSpPr>
          <p:cNvPr id="4" name="Rectangle 3"/>
          <p:cNvSpPr/>
          <p:nvPr/>
        </p:nvSpPr>
        <p:spPr>
          <a:xfrm>
            <a:off x="762000" y="1894106"/>
            <a:ext cx="7543800" cy="427809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600" dirty="0" smtClean="0">
                <a:solidFill>
                  <a:srgbClr val="808080"/>
                </a:solidFill>
                <a:latin typeface="Cascadia Mono"/>
              </a:rPr>
              <a:t>///&lt;summary&gt;</a:t>
            </a:r>
            <a:endParaRPr lang="en-US" sz="1600" dirty="0" smtClean="0">
              <a:solidFill>
                <a:srgbClr val="000000"/>
              </a:solidFill>
              <a:latin typeface="Cascadia Mono"/>
            </a:endParaRPr>
          </a:p>
          <a:p>
            <a:r>
              <a:rPr lang="en-US" sz="1600" dirty="0" smtClean="0">
                <a:solidFill>
                  <a:srgbClr val="808080"/>
                </a:solidFill>
                <a:latin typeface="Cascadia Mono"/>
              </a:rPr>
              <a:t>///</a:t>
            </a:r>
            <a:r>
              <a:rPr lang="en-US" sz="1600" dirty="0" smtClean="0">
                <a:solidFill>
                  <a:srgbClr val="008000"/>
                </a:solidFill>
                <a:latin typeface="Cascadia Mono"/>
              </a:rPr>
              <a:t>  Gets Priority Name of the </a:t>
            </a:r>
            <a:r>
              <a:rPr lang="en-US" sz="1600" dirty="0" err="1" smtClean="0">
                <a:solidFill>
                  <a:srgbClr val="008000"/>
                </a:solidFill>
                <a:latin typeface="Cascadia Mono"/>
              </a:rPr>
              <a:t>ToDo</a:t>
            </a:r>
            <a:r>
              <a:rPr lang="en-US" sz="1600" dirty="0" smtClean="0">
                <a:solidFill>
                  <a:srgbClr val="008000"/>
                </a:solidFill>
                <a:latin typeface="Cascadia Mono"/>
              </a:rPr>
              <a:t>.</a:t>
            </a:r>
            <a:endParaRPr lang="en-US" sz="1600" dirty="0" smtClean="0">
              <a:solidFill>
                <a:srgbClr val="000000"/>
              </a:solidFill>
              <a:latin typeface="Cascadia Mono"/>
            </a:endParaRPr>
          </a:p>
          <a:p>
            <a:r>
              <a:rPr lang="en-US" sz="1600" dirty="0" smtClean="0">
                <a:solidFill>
                  <a:srgbClr val="808080"/>
                </a:solidFill>
                <a:latin typeface="Cascadia Mono"/>
              </a:rPr>
              <a:t>///&lt;/summary&gt;</a:t>
            </a:r>
            <a:endParaRPr lang="en-US" sz="1600" dirty="0" smtClean="0">
              <a:solidFill>
                <a:srgbClr val="000000"/>
              </a:solidFill>
              <a:latin typeface="Cascadia Mono"/>
            </a:endParaRPr>
          </a:p>
          <a:p>
            <a:r>
              <a:rPr lang="en-US" sz="1600" dirty="0" smtClean="0">
                <a:solidFill>
                  <a:srgbClr val="808080"/>
                </a:solidFill>
                <a:latin typeface="Cascadia Mono"/>
              </a:rPr>
              <a:t>///</a:t>
            </a:r>
            <a:endParaRPr lang="en-US" sz="1600" dirty="0" smtClean="0">
              <a:solidFill>
                <a:srgbClr val="000000"/>
              </a:solidFill>
              <a:latin typeface="Cascadia Mono"/>
            </a:endParaRPr>
          </a:p>
          <a:p>
            <a:r>
              <a:rPr lang="en-US" sz="1600" dirty="0" smtClean="0">
                <a:solidFill>
                  <a:srgbClr val="0000FF"/>
                </a:solidFill>
                <a:latin typeface="Cascadia Mono"/>
              </a:rPr>
              <a:t>public</a:t>
            </a:r>
            <a:r>
              <a:rPr lang="en-US" sz="1600" dirty="0" smtClean="0">
                <a:solidFill>
                  <a:srgbClr val="000000"/>
                </a:solidFill>
                <a:latin typeface="Cascadia Mono"/>
              </a:rPr>
              <a:t> </a:t>
            </a:r>
            <a:r>
              <a:rPr lang="en-US" sz="1600" dirty="0" smtClean="0">
                <a:solidFill>
                  <a:srgbClr val="2B91AF"/>
                </a:solidFill>
                <a:latin typeface="Cascadia Mono"/>
              </a:rPr>
              <a:t>String</a:t>
            </a:r>
            <a:r>
              <a:rPr lang="en-US" sz="1600" dirty="0" smtClean="0">
                <a:solidFill>
                  <a:srgbClr val="000000"/>
                </a:solidFill>
                <a:latin typeface="Cascadia Mono"/>
              </a:rPr>
              <a:t> </a:t>
            </a:r>
            <a:r>
              <a:rPr lang="en-US" sz="1600" dirty="0" err="1" smtClean="0">
                <a:solidFill>
                  <a:srgbClr val="000000"/>
                </a:solidFill>
                <a:latin typeface="Cascadia Mono"/>
              </a:rPr>
              <a:t>PriorityName</a:t>
            </a:r>
            <a:endParaRPr lang="en-US" sz="1600" dirty="0" smtClean="0">
              <a:solidFill>
                <a:srgbClr val="000000"/>
              </a:solidFill>
              <a:latin typeface="Cascadia Mono"/>
            </a:endParaRPr>
          </a:p>
          <a:p>
            <a:r>
              <a:rPr lang="en-US" sz="1600" dirty="0" smtClean="0">
                <a:solidFill>
                  <a:srgbClr val="000000"/>
                </a:solidFill>
                <a:latin typeface="Cascadia Mono"/>
              </a:rPr>
              <a:t>{</a:t>
            </a:r>
          </a:p>
          <a:p>
            <a:r>
              <a:rPr lang="en-US" sz="1600" dirty="0" smtClean="0">
                <a:solidFill>
                  <a:srgbClr val="000000"/>
                </a:solidFill>
                <a:latin typeface="Cascadia Mono"/>
              </a:rPr>
              <a:t>    </a:t>
            </a:r>
            <a:r>
              <a:rPr lang="en-US" sz="1600" dirty="0" smtClean="0">
                <a:solidFill>
                  <a:srgbClr val="0000FF"/>
                </a:solidFill>
                <a:latin typeface="Cascadia Mono"/>
              </a:rPr>
              <a:t>get</a:t>
            </a:r>
            <a:endParaRPr lang="en-US" sz="1600" dirty="0" smtClean="0">
              <a:solidFill>
                <a:srgbClr val="000000"/>
              </a:solidFill>
              <a:latin typeface="Cascadia Mono"/>
            </a:endParaRPr>
          </a:p>
          <a:p>
            <a:r>
              <a:rPr lang="en-US" sz="1600" dirty="0" smtClean="0">
                <a:solidFill>
                  <a:srgbClr val="000000"/>
                </a:solidFill>
                <a:latin typeface="Cascadia Mono"/>
              </a:rPr>
              <a:t>    {</a:t>
            </a:r>
          </a:p>
          <a:p>
            <a:r>
              <a:rPr lang="en-US" sz="1600" dirty="0" smtClean="0">
                <a:solidFill>
                  <a:srgbClr val="2B91AF"/>
                </a:solidFill>
                <a:latin typeface="Cascadia Mono"/>
              </a:rPr>
              <a:t>	String</a:t>
            </a:r>
            <a:r>
              <a:rPr lang="en-US" sz="1600" dirty="0" smtClean="0">
                <a:solidFill>
                  <a:srgbClr val="000000"/>
                </a:solidFill>
                <a:latin typeface="Cascadia Mono"/>
              </a:rPr>
              <a:t> </a:t>
            </a:r>
            <a:r>
              <a:rPr lang="en-US" sz="1600" dirty="0" err="1" smtClean="0">
                <a:solidFill>
                  <a:srgbClr val="000000"/>
                </a:solidFill>
                <a:latin typeface="Cascadia Mono"/>
              </a:rPr>
              <a:t>priorityName</a:t>
            </a:r>
            <a:r>
              <a:rPr lang="en-US" sz="1600" dirty="0" smtClean="0">
                <a:solidFill>
                  <a:srgbClr val="000000"/>
                </a:solidFill>
                <a:latin typeface="Cascadia Mono"/>
              </a:rPr>
              <a:t> = </a:t>
            </a:r>
            <a:r>
              <a:rPr lang="en-US" sz="1600" dirty="0" smtClean="0">
                <a:solidFill>
                  <a:srgbClr val="A31515"/>
                </a:solidFill>
                <a:latin typeface="Cascadia Mono"/>
              </a:rPr>
              <a:t>"N/A"</a:t>
            </a:r>
            <a:r>
              <a:rPr lang="en-US" sz="1600" dirty="0" smtClean="0">
                <a:solidFill>
                  <a:srgbClr val="000000"/>
                </a:solidFill>
                <a:latin typeface="Cascadia Mono"/>
              </a:rPr>
              <a:t>;</a:t>
            </a:r>
          </a:p>
          <a:p>
            <a:r>
              <a:rPr lang="en-US" sz="1600" dirty="0" smtClean="0">
                <a:solidFill>
                  <a:srgbClr val="0000FF"/>
                </a:solidFill>
                <a:latin typeface="Cascadia Mono"/>
              </a:rPr>
              <a:t>	if</a:t>
            </a:r>
            <a:r>
              <a:rPr lang="en-US" sz="1600" dirty="0" smtClean="0">
                <a:solidFill>
                  <a:srgbClr val="000000"/>
                </a:solidFill>
                <a:latin typeface="Cascadia Mono"/>
              </a:rPr>
              <a:t> (</a:t>
            </a:r>
            <a:r>
              <a:rPr lang="en-US" sz="1600" dirty="0" smtClean="0">
                <a:solidFill>
                  <a:srgbClr val="0000FF"/>
                </a:solidFill>
                <a:latin typeface="Cascadia Mono"/>
              </a:rPr>
              <a:t>null</a:t>
            </a:r>
            <a:r>
              <a:rPr lang="en-US" sz="1600" dirty="0" smtClean="0">
                <a:solidFill>
                  <a:srgbClr val="000000"/>
                </a:solidFill>
                <a:latin typeface="Cascadia Mono"/>
              </a:rPr>
              <a:t> != </a:t>
            </a:r>
            <a:r>
              <a:rPr lang="en-US" sz="1600" dirty="0" err="1" smtClean="0">
                <a:solidFill>
                  <a:srgbClr val="0000FF"/>
                </a:solidFill>
                <a:latin typeface="Cascadia Mono"/>
              </a:rPr>
              <a:t>this</a:t>
            </a:r>
            <a:r>
              <a:rPr lang="en-US" sz="1600" dirty="0" err="1" smtClean="0">
                <a:solidFill>
                  <a:srgbClr val="000000"/>
                </a:solidFill>
                <a:latin typeface="Cascadia Mono"/>
              </a:rPr>
              <a:t>.Priority</a:t>
            </a:r>
            <a:r>
              <a:rPr lang="en-US" sz="1600" dirty="0" smtClean="0">
                <a:solidFill>
                  <a:srgbClr val="000000"/>
                </a:solidFill>
                <a:latin typeface="Cascadia Mono"/>
              </a:rPr>
              <a:t>)</a:t>
            </a:r>
          </a:p>
          <a:p>
            <a:r>
              <a:rPr lang="en-US" sz="1600" dirty="0" smtClean="0">
                <a:solidFill>
                  <a:srgbClr val="000000"/>
                </a:solidFill>
                <a:latin typeface="Cascadia Mono"/>
              </a:rPr>
              <a:t>	{</a:t>
            </a:r>
          </a:p>
          <a:p>
            <a:r>
              <a:rPr lang="en-US" sz="1600" dirty="0" smtClean="0">
                <a:solidFill>
                  <a:srgbClr val="000000"/>
                </a:solidFill>
                <a:latin typeface="Cascadia Mono"/>
              </a:rPr>
              <a:t>	    </a:t>
            </a:r>
            <a:r>
              <a:rPr lang="en-US" sz="1600" dirty="0" err="1" smtClean="0">
                <a:solidFill>
                  <a:srgbClr val="000000"/>
                </a:solidFill>
                <a:latin typeface="Cascadia Mono"/>
              </a:rPr>
              <a:t>priorityName</a:t>
            </a:r>
            <a:r>
              <a:rPr lang="en-US" sz="1600" dirty="0" smtClean="0">
                <a:solidFill>
                  <a:srgbClr val="000000"/>
                </a:solidFill>
                <a:latin typeface="Cascadia Mono"/>
              </a:rPr>
              <a:t> = </a:t>
            </a:r>
            <a:r>
              <a:rPr lang="en-US" sz="1600" dirty="0" err="1" smtClean="0">
                <a:solidFill>
                  <a:srgbClr val="0000FF"/>
                </a:solidFill>
                <a:latin typeface="Cascadia Mono"/>
              </a:rPr>
              <a:t>this</a:t>
            </a:r>
            <a:r>
              <a:rPr lang="en-US" sz="1600" dirty="0" err="1" smtClean="0">
                <a:solidFill>
                  <a:srgbClr val="000000"/>
                </a:solidFill>
                <a:latin typeface="Cascadia Mono"/>
              </a:rPr>
              <a:t>.Priority.Name</a:t>
            </a:r>
            <a:r>
              <a:rPr lang="en-US" sz="1600" dirty="0" smtClean="0">
                <a:solidFill>
                  <a:srgbClr val="000000"/>
                </a:solidFill>
                <a:latin typeface="Cascadia Mono"/>
              </a:rPr>
              <a:t>;</a:t>
            </a:r>
          </a:p>
          <a:p>
            <a:r>
              <a:rPr lang="en-US" sz="1600" dirty="0" smtClean="0">
                <a:solidFill>
                  <a:srgbClr val="000000"/>
                </a:solidFill>
                <a:latin typeface="Cascadia Mono"/>
              </a:rPr>
              <a:t>	}</a:t>
            </a:r>
          </a:p>
          <a:p>
            <a:endParaRPr lang="en-US" sz="1600" dirty="0" smtClean="0">
              <a:solidFill>
                <a:srgbClr val="000000"/>
              </a:solidFill>
              <a:latin typeface="Cascadia Mono"/>
            </a:endParaRPr>
          </a:p>
          <a:p>
            <a:r>
              <a:rPr lang="en-US" sz="1600" dirty="0" smtClean="0">
                <a:solidFill>
                  <a:srgbClr val="0000FF"/>
                </a:solidFill>
                <a:latin typeface="Cascadia Mono"/>
              </a:rPr>
              <a:t>	return</a:t>
            </a:r>
            <a:r>
              <a:rPr lang="en-US" sz="1600" dirty="0" smtClean="0">
                <a:solidFill>
                  <a:srgbClr val="000000"/>
                </a:solidFill>
                <a:latin typeface="Cascadia Mono"/>
              </a:rPr>
              <a:t> </a:t>
            </a:r>
            <a:r>
              <a:rPr lang="en-US" sz="1600" dirty="0" err="1" smtClean="0">
                <a:solidFill>
                  <a:srgbClr val="000000"/>
                </a:solidFill>
                <a:latin typeface="Cascadia Mono"/>
              </a:rPr>
              <a:t>priorityName</a:t>
            </a:r>
            <a:r>
              <a:rPr lang="en-US" sz="1600" dirty="0" smtClean="0">
                <a:solidFill>
                  <a:srgbClr val="000000"/>
                </a:solidFill>
                <a:latin typeface="Cascadia Mono"/>
              </a:rPr>
              <a:t>;</a:t>
            </a:r>
          </a:p>
          <a:p>
            <a:r>
              <a:rPr lang="en-US" sz="1600" dirty="0" smtClean="0">
                <a:solidFill>
                  <a:srgbClr val="000000"/>
                </a:solidFill>
                <a:latin typeface="Cascadia Mono"/>
              </a:rPr>
              <a:t>    }</a:t>
            </a:r>
          </a:p>
          <a:p>
            <a:r>
              <a:rPr lang="en-US" sz="1600" dirty="0" smtClean="0">
                <a:solidFill>
                  <a:srgbClr val="000000"/>
                </a:solidFill>
                <a:latin typeface="Cascadia Mono"/>
              </a:rPr>
              <a:t>}</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Follow the </a:t>
            </a:r>
            <a:r>
              <a:rPr lang="en-US" dirty="0" err="1" smtClean="0"/>
              <a:t>LoD</a:t>
            </a:r>
            <a:r>
              <a:rPr lang="en-US" dirty="0" smtClean="0"/>
              <a:t>?</a:t>
            </a:r>
            <a:endParaRPr lang="en-US" dirty="0"/>
          </a:p>
        </p:txBody>
      </p:sp>
      <p:sp>
        <p:nvSpPr>
          <p:cNvPr id="3" name="Content Placeholder 2"/>
          <p:cNvSpPr>
            <a:spLocks noGrp="1"/>
          </p:cNvSpPr>
          <p:nvPr>
            <p:ph idx="1"/>
          </p:nvPr>
        </p:nvSpPr>
        <p:spPr/>
        <p:txBody>
          <a:bodyPr>
            <a:normAutofit/>
          </a:bodyPr>
          <a:lstStyle/>
          <a:p>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Object-Oriented Design [6]</a:t>
            </a:r>
            <a:endParaRPr lang="en-US" dirty="0"/>
          </a:p>
        </p:txBody>
      </p:sp>
      <p:sp>
        <p:nvSpPr>
          <p:cNvPr id="3" name="Content Placeholder 2"/>
          <p:cNvSpPr>
            <a:spLocks noGrp="1"/>
          </p:cNvSpPr>
          <p:nvPr>
            <p:ph idx="1"/>
          </p:nvPr>
        </p:nvSpPr>
        <p:spPr/>
        <p:txBody>
          <a:bodyPr>
            <a:normAutofit/>
          </a:bodyPr>
          <a:lstStyle/>
          <a:p>
            <a:r>
              <a:rPr lang="en-US" sz="2400" dirty="0" smtClean="0"/>
              <a:t>OOD is sometimes taught as some variation of the following:</a:t>
            </a:r>
          </a:p>
          <a:p>
            <a:r>
              <a:rPr lang="en-US" sz="2400" i="1" dirty="0" smtClean="0"/>
              <a:t>After identifying your requirements and creating a domain model, then add methods to the appropriate classes, and define the messaging between the objects to fulfill the requirements.</a:t>
            </a:r>
          </a:p>
          <a:p>
            <a:r>
              <a:rPr lang="en-US" sz="2400" dirty="0" smtClean="0"/>
              <a:t>Ouch! Such vague advice doesn't help us, because deep principles and issues are involved.</a:t>
            </a:r>
          </a:p>
          <a:p>
            <a:r>
              <a:rPr lang="en-US" sz="2400" dirty="0" smtClean="0"/>
              <a:t>Examples help. Practice helps.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GRASP</a:t>
            </a:r>
            <a:endParaRPr lang="en-US" dirty="0"/>
          </a:p>
        </p:txBody>
      </p:sp>
      <p:sp>
        <p:nvSpPr>
          <p:cNvPr id="3" name="Content Placeholder 2"/>
          <p:cNvSpPr>
            <a:spLocks noGrp="1"/>
          </p:cNvSpPr>
          <p:nvPr>
            <p:ph idx="1"/>
          </p:nvPr>
        </p:nvSpPr>
        <p:spPr/>
        <p:txBody>
          <a:bodyPr>
            <a:normAutofit/>
          </a:bodyPr>
          <a:lstStyle/>
          <a:p>
            <a:r>
              <a:rPr lang="en-US" sz="2400" dirty="0" smtClean="0"/>
              <a:t>GRASP stands for General Responsibility Assignment Software Patterns.</a:t>
            </a:r>
          </a:p>
          <a:p>
            <a:r>
              <a:rPr lang="en-US" sz="2400" dirty="0" smtClean="0"/>
              <a:t>The name was chosen to suggest the importance of grasping these principles to successfully design object-oriented software.</a:t>
            </a:r>
          </a:p>
          <a:p>
            <a:r>
              <a:rPr lang="en-US" sz="2400" dirty="0" smtClean="0"/>
              <a:t>GRASP defines nine basic OO design principles or basic building blocks in design.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Nine OO </a:t>
            </a:r>
            <a:r>
              <a:rPr lang="en-US" dirty="0" smtClean="0"/>
              <a:t>Design Principles</a:t>
            </a:r>
            <a:endParaRPr lang="en-US" dirty="0"/>
          </a:p>
        </p:txBody>
      </p:sp>
      <p:sp>
        <p:nvSpPr>
          <p:cNvPr id="3" name="Content Placeholder 2"/>
          <p:cNvSpPr>
            <a:spLocks noGrp="1"/>
          </p:cNvSpPr>
          <p:nvPr>
            <p:ph idx="1"/>
          </p:nvPr>
        </p:nvSpPr>
        <p:spPr/>
        <p:txBody>
          <a:bodyPr>
            <a:normAutofit/>
          </a:bodyPr>
          <a:lstStyle/>
          <a:p>
            <a:r>
              <a:rPr lang="en-US" sz="2400" dirty="0" smtClean="0"/>
              <a:t>Information Expert</a:t>
            </a:r>
          </a:p>
          <a:p>
            <a:r>
              <a:rPr lang="en-US" sz="2400" dirty="0" smtClean="0"/>
              <a:t>Creator</a:t>
            </a:r>
          </a:p>
          <a:p>
            <a:r>
              <a:rPr lang="en-US" sz="2400" dirty="0" smtClean="0"/>
              <a:t>Controller</a:t>
            </a:r>
          </a:p>
          <a:p>
            <a:r>
              <a:rPr lang="en-US" sz="2400" dirty="0" smtClean="0"/>
              <a:t>Low Coupling</a:t>
            </a:r>
          </a:p>
          <a:p>
            <a:r>
              <a:rPr lang="en-US" sz="2400" dirty="0" smtClean="0"/>
              <a:t>High Cohesion</a:t>
            </a:r>
          </a:p>
          <a:p>
            <a:r>
              <a:rPr lang="en-US" sz="2400" dirty="0" smtClean="0"/>
              <a:t>Polymorphism</a:t>
            </a:r>
          </a:p>
          <a:p>
            <a:r>
              <a:rPr lang="en-US" sz="2400" dirty="0" smtClean="0"/>
              <a:t>Pure Fabrication</a:t>
            </a:r>
          </a:p>
          <a:p>
            <a:r>
              <a:rPr lang="en-US" sz="2400" dirty="0" smtClean="0"/>
              <a:t>Indirection</a:t>
            </a:r>
          </a:p>
          <a:p>
            <a:r>
              <a:rPr lang="en-US" sz="2400" dirty="0" smtClean="0"/>
              <a:t>Protected Variations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a:t>
            </a:r>
            <a:r>
              <a:rPr lang="en-US" smtClean="0"/>
              <a:t>You &amp; See 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14628</TotalTime>
  <Words>1485</Words>
  <Application>Microsoft Office PowerPoint</Application>
  <PresentationFormat>On-screen Show (4:3)</PresentationFormat>
  <Paragraphs>232</Paragraphs>
  <Slides>41</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3" baseType="lpstr">
      <vt:lpstr>Office Theme</vt:lpstr>
      <vt:lpstr>Clip</vt:lpstr>
      <vt:lpstr>Software Design Principles</vt:lpstr>
      <vt:lpstr>Objectives</vt:lpstr>
      <vt:lpstr>Contents</vt:lpstr>
      <vt:lpstr>References</vt:lpstr>
      <vt:lpstr>Why Software Design Principles?</vt:lpstr>
      <vt:lpstr>Symptoms of Rotting Design [1]</vt:lpstr>
      <vt:lpstr>Slide 7</vt:lpstr>
      <vt:lpstr>When to Create a New Class? [2]</vt:lpstr>
      <vt:lpstr>Slide 9</vt:lpstr>
      <vt:lpstr>The Single Responsibility Principle [3]</vt:lpstr>
      <vt:lpstr>Problem</vt:lpstr>
      <vt:lpstr>One Solution</vt:lpstr>
      <vt:lpstr>Another Version of the SRP [4]</vt:lpstr>
      <vt:lpstr>One Solution</vt:lpstr>
      <vt:lpstr>Another Example [5]</vt:lpstr>
      <vt:lpstr>Why Follow the SRP?</vt:lpstr>
      <vt:lpstr>Slide 17</vt:lpstr>
      <vt:lpstr>The Open/Closed Principle</vt:lpstr>
      <vt:lpstr>Program to an Interface</vt:lpstr>
      <vt:lpstr>Using a Data-Driven Approach to Achieve Closure</vt:lpstr>
      <vt:lpstr>Why Follow the OCP?</vt:lpstr>
      <vt:lpstr>Slide 22</vt:lpstr>
      <vt:lpstr>The Liskov Substitution Principle</vt:lpstr>
      <vt:lpstr>?</vt:lpstr>
      <vt:lpstr>Why Follow the LSP?</vt:lpstr>
      <vt:lpstr>Slide 26</vt:lpstr>
      <vt:lpstr>The Dependency Inversion Principle</vt:lpstr>
      <vt:lpstr>Why Follow the DIP?</vt:lpstr>
      <vt:lpstr>The Acyclic Dependencies Principle [1]</vt:lpstr>
      <vt:lpstr>Slide 30</vt:lpstr>
      <vt:lpstr>The Law of Demeter Principle</vt:lpstr>
      <vt:lpstr>Violations: Dataflow Diagram</vt:lpstr>
      <vt:lpstr>OO Following of LoD</vt:lpstr>
      <vt:lpstr>Example Code: Issue</vt:lpstr>
      <vt:lpstr>Example Code: Fix</vt:lpstr>
      <vt:lpstr>Why Follow the LoD?</vt:lpstr>
      <vt:lpstr>Slide 37</vt:lpstr>
      <vt:lpstr>Object-Oriented Design [6]</vt:lpstr>
      <vt:lpstr>GRASP</vt:lpstr>
      <vt:lpstr>Nine OO Design Principles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4452</cp:revision>
  <dcterms:created xsi:type="dcterms:W3CDTF">2007-10-06T08:25:13Z</dcterms:created>
  <dcterms:modified xsi:type="dcterms:W3CDTF">2023-04-27T10:42:37Z</dcterms:modified>
</cp:coreProperties>
</file>