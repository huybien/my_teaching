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8" r:id="rId1"/>
  </p:sldMasterIdLst>
  <p:sldIdLst>
    <p:sldId id="256" r:id="rId2"/>
    <p:sldId id="486" r:id="rId3"/>
    <p:sldId id="489" r:id="rId4"/>
    <p:sldId id="511" r:id="rId5"/>
    <p:sldId id="528" r:id="rId6"/>
    <p:sldId id="512" r:id="rId7"/>
    <p:sldId id="513" r:id="rId8"/>
    <p:sldId id="524" r:id="rId9"/>
    <p:sldId id="514" r:id="rId10"/>
    <p:sldId id="521" r:id="rId11"/>
    <p:sldId id="529" r:id="rId12"/>
    <p:sldId id="519" r:id="rId13"/>
    <p:sldId id="520" r:id="rId14"/>
    <p:sldId id="518" r:id="rId15"/>
    <p:sldId id="522" r:id="rId16"/>
    <p:sldId id="480" r:id="rId17"/>
    <p:sldId id="505" r:id="rId18"/>
    <p:sldId id="509" r:id="rId19"/>
    <p:sldId id="523" r:id="rId20"/>
    <p:sldId id="508" r:id="rId21"/>
    <p:sldId id="525" r:id="rId22"/>
    <p:sldId id="526" r:id="rId23"/>
    <p:sldId id="527" r:id="rId24"/>
    <p:sldId id="530" r:id="rId25"/>
    <p:sldId id="494" r:id="rId26"/>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3CCFF"/>
  </p:clrMru>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vertBarState="maximized">
    <p:restoredLeft sz="21176" autoAdjust="0"/>
    <p:restoredTop sz="94667" autoAdjust="0"/>
  </p:normalViewPr>
  <p:slideViewPr>
    <p:cSldViewPr>
      <p:cViewPr>
        <p:scale>
          <a:sx n="70" d="100"/>
          <a:sy n="70" d="100"/>
        </p:scale>
        <p:origin x="-1158" y="-48"/>
      </p:cViewPr>
      <p:guideLst>
        <p:guide orient="horz" pos="2160"/>
        <p:guide pos="2880"/>
      </p:guideLst>
    </p:cSldViewPr>
  </p:slideViewPr>
  <p:outlineViewPr>
    <p:cViewPr>
      <p:scale>
        <a:sx n="33" d="100"/>
        <a:sy n="33" d="100"/>
      </p:scale>
      <p:origin x="0" y="46014"/>
    </p:cViewPr>
  </p:outlineViewPr>
  <p:notesTextViewPr>
    <p:cViewPr>
      <p:scale>
        <a:sx n="100" d="100"/>
        <a:sy n="100" d="100"/>
      </p:scale>
      <p:origin x="0" y="0"/>
    </p:cViewPr>
  </p:notesTextViewPr>
  <p:sorterViewPr>
    <p:cViewPr>
      <p:scale>
        <a:sx n="66" d="100"/>
        <a:sy n="66" d="100"/>
      </p:scale>
      <p:origin x="0" y="0"/>
    </p:cViewPr>
  </p:sorter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lvl1pPr>
              <a:defRPr/>
            </a:lvl1pPr>
          </a:lstStyle>
          <a:p>
            <a:pPr>
              <a:defRPr/>
            </a:pPr>
            <a:fld id="{BB3B12F3-13D8-4BC6-B271-EF890D2E3EA0}" type="datetimeFigureOut">
              <a:rPr lang="en-US"/>
              <a:pPr>
                <a:defRPr/>
              </a:pPr>
              <a:t>9/21/2012</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0C4D65A0-8A45-49A8-B2B4-890662407FE0}" type="slidenum">
              <a:rPr lang="en-US"/>
              <a:pPr>
                <a:defRPr/>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AF2554BB-BED8-407D-871B-BC3BF099B766}" type="datetimeFigureOut">
              <a:rPr lang="en-US"/>
              <a:pPr>
                <a:defRPr/>
              </a:pPr>
              <a:t>9/21/2012</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6B6A513C-A265-4672-ADF9-9C420A0C09A7}" type="slidenum">
              <a:rPr lang="en-US"/>
              <a:pPr>
                <a:defRPr/>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lvl1pPr>
              <a:defRPr/>
            </a:lvl1pPr>
          </a:lstStyle>
          <a:p>
            <a:pPr>
              <a:defRPr/>
            </a:pPr>
            <a:fld id="{D183AE9F-B8F4-4A27-A258-84000ADADD35}" type="datetimeFigureOut">
              <a:rPr lang="en-US"/>
              <a:pPr>
                <a:defRPr/>
              </a:pPr>
              <a:t>9/21/2012</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D0C0325C-EBE7-4A11-97E9-DF8C42B04A73}" type="slidenum">
              <a:rPr lang="en-US"/>
              <a:pPr>
                <a:defRPr/>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3"/>
          <p:cNvSpPr>
            <a:spLocks noGrp="1"/>
          </p:cNvSpPr>
          <p:nvPr>
            <p:ph type="dt" sz="half" idx="10"/>
          </p:nvPr>
        </p:nvSpPr>
        <p:spPr/>
        <p:txBody>
          <a:bodyPr/>
          <a:lstStyle>
            <a:lvl1pPr>
              <a:defRPr/>
            </a:lvl1pPr>
          </a:lstStyle>
          <a:p>
            <a:pPr>
              <a:defRPr/>
            </a:pPr>
            <a:fld id="{8B4F403C-A7D9-4211-8DC1-5865845C9F38}" type="datetimeFigureOut">
              <a:rPr lang="en-US"/>
              <a:pPr>
                <a:defRPr/>
              </a:pPr>
              <a:t>9/21/2012</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C091B809-96F5-477B-8E72-8AB6B5E4AEA1}" type="slidenum">
              <a:rPr lang="en-US"/>
              <a:pPr>
                <a:defRPr/>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3"/>
          <p:cNvSpPr>
            <a:spLocks noGrp="1"/>
          </p:cNvSpPr>
          <p:nvPr>
            <p:ph type="dt" sz="half" idx="10"/>
          </p:nvPr>
        </p:nvSpPr>
        <p:spPr/>
        <p:txBody>
          <a:bodyPr/>
          <a:lstStyle>
            <a:lvl1pPr>
              <a:defRPr/>
            </a:lvl1pPr>
          </a:lstStyle>
          <a:p>
            <a:pPr>
              <a:defRPr/>
            </a:pPr>
            <a:fld id="{8809C128-87F1-4A1D-AC95-1D0A8C2820AC}" type="datetimeFigureOut">
              <a:rPr lang="en-US"/>
              <a:pPr>
                <a:defRPr/>
              </a:pPr>
              <a:t>9/21/2012</a:t>
            </a:fld>
            <a:endParaRPr lang="en-US"/>
          </a:p>
        </p:txBody>
      </p:sp>
      <p:sp>
        <p:nvSpPr>
          <p:cNvPr id="8" name="Footer Placeholder 4"/>
          <p:cNvSpPr>
            <a:spLocks noGrp="1"/>
          </p:cNvSpPr>
          <p:nvPr>
            <p:ph type="ftr" sz="quarter" idx="11"/>
          </p:nvPr>
        </p:nvSpPr>
        <p:spPr/>
        <p:txBody>
          <a:bodyPr/>
          <a:lstStyle>
            <a:lvl1pPr>
              <a:defRPr/>
            </a:lvl1pPr>
          </a:lstStyle>
          <a:p>
            <a:pPr>
              <a:defRPr/>
            </a:pPr>
            <a:endParaRPr lang="en-US"/>
          </a:p>
        </p:txBody>
      </p:sp>
      <p:sp>
        <p:nvSpPr>
          <p:cNvPr id="9" name="Slide Number Placeholder 5"/>
          <p:cNvSpPr>
            <a:spLocks noGrp="1"/>
          </p:cNvSpPr>
          <p:nvPr>
            <p:ph type="sldNum" sz="quarter" idx="12"/>
          </p:nvPr>
        </p:nvSpPr>
        <p:spPr/>
        <p:txBody>
          <a:bodyPr/>
          <a:lstStyle>
            <a:lvl1pPr>
              <a:defRPr/>
            </a:lvl1pPr>
          </a:lstStyle>
          <a:p>
            <a:pPr>
              <a:defRPr/>
            </a:pPr>
            <a:fld id="{DC251F8E-6BBA-4EBA-BCCA-61145C18CC0B}" type="slidenum">
              <a:rPr lang="en-US"/>
              <a:pPr>
                <a:defRPr/>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3"/>
          <p:cNvSpPr>
            <a:spLocks noGrp="1"/>
          </p:cNvSpPr>
          <p:nvPr>
            <p:ph type="dt" sz="half" idx="10"/>
          </p:nvPr>
        </p:nvSpPr>
        <p:spPr/>
        <p:txBody>
          <a:bodyPr/>
          <a:lstStyle>
            <a:lvl1pPr>
              <a:defRPr/>
            </a:lvl1pPr>
          </a:lstStyle>
          <a:p>
            <a:pPr>
              <a:defRPr/>
            </a:pPr>
            <a:fld id="{0DD7EAC8-1610-4C8B-8A2E-7959779A26B0}" type="datetimeFigureOut">
              <a:rPr lang="en-US"/>
              <a:pPr>
                <a:defRPr/>
              </a:pPr>
              <a:t>9/21/2012</a:t>
            </a:fld>
            <a:endParaRPr lang="en-US"/>
          </a:p>
        </p:txBody>
      </p:sp>
      <p:sp>
        <p:nvSpPr>
          <p:cNvPr id="4" name="Footer Placeholder 4"/>
          <p:cNvSpPr>
            <a:spLocks noGrp="1"/>
          </p:cNvSpPr>
          <p:nvPr>
            <p:ph type="ftr" sz="quarter" idx="11"/>
          </p:nvPr>
        </p:nvSpPr>
        <p:spPr/>
        <p:txBody>
          <a:bodyPr/>
          <a:lstStyle>
            <a:lvl1pPr>
              <a:defRPr/>
            </a:lvl1pPr>
          </a:lstStyle>
          <a:p>
            <a:pPr>
              <a:defRPr/>
            </a:pPr>
            <a:endParaRPr lang="en-US"/>
          </a:p>
        </p:txBody>
      </p:sp>
      <p:sp>
        <p:nvSpPr>
          <p:cNvPr id="5" name="Slide Number Placeholder 5"/>
          <p:cNvSpPr>
            <a:spLocks noGrp="1"/>
          </p:cNvSpPr>
          <p:nvPr>
            <p:ph type="sldNum" sz="quarter" idx="12"/>
          </p:nvPr>
        </p:nvSpPr>
        <p:spPr/>
        <p:txBody>
          <a:bodyPr/>
          <a:lstStyle>
            <a:lvl1pPr>
              <a:defRPr/>
            </a:lvl1pPr>
          </a:lstStyle>
          <a:p>
            <a:pPr>
              <a:defRPr/>
            </a:pPr>
            <a:fld id="{88F43CFA-8BED-4A88-AB21-8477601BA319}" type="slidenum">
              <a:rPr lang="en-US"/>
              <a:pPr>
                <a:defRPr/>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BD13CF8C-ED99-4E62-9F8F-039B47F842EB}" type="datetimeFigureOut">
              <a:rPr lang="en-US"/>
              <a:pPr>
                <a:defRPr/>
              </a:pPr>
              <a:t>9/21/2012</a:t>
            </a:fld>
            <a:endParaRPr lang="en-US"/>
          </a:p>
        </p:txBody>
      </p:sp>
      <p:sp>
        <p:nvSpPr>
          <p:cNvPr id="3" name="Footer Placeholder 4"/>
          <p:cNvSpPr>
            <a:spLocks noGrp="1"/>
          </p:cNvSpPr>
          <p:nvPr>
            <p:ph type="ftr" sz="quarter" idx="11"/>
          </p:nvPr>
        </p:nvSpPr>
        <p:spPr/>
        <p:txBody>
          <a:bodyPr/>
          <a:lstStyle>
            <a:lvl1pPr>
              <a:defRPr/>
            </a:lvl1pPr>
          </a:lstStyle>
          <a:p>
            <a:pPr>
              <a:defRPr/>
            </a:pPr>
            <a:endParaRPr lang="en-US"/>
          </a:p>
        </p:txBody>
      </p:sp>
      <p:sp>
        <p:nvSpPr>
          <p:cNvPr id="4" name="Slide Number Placeholder 5"/>
          <p:cNvSpPr>
            <a:spLocks noGrp="1"/>
          </p:cNvSpPr>
          <p:nvPr>
            <p:ph type="sldNum" sz="quarter" idx="12"/>
          </p:nvPr>
        </p:nvSpPr>
        <p:spPr/>
        <p:txBody>
          <a:bodyPr/>
          <a:lstStyle>
            <a:lvl1pPr>
              <a:defRPr/>
            </a:lvl1pPr>
          </a:lstStyle>
          <a:p>
            <a:pPr>
              <a:defRPr/>
            </a:pPr>
            <a:fld id="{73FA9176-712D-4387-A1B9-79FDD21B4132}" type="slidenum">
              <a:rPr lang="en-US"/>
              <a:pPr>
                <a:defRPr/>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fld id="{6A10295A-2761-40EA-9DA2-E88C0504267F}" type="datetimeFigureOut">
              <a:rPr lang="en-US"/>
              <a:pPr>
                <a:defRPr/>
              </a:pPr>
              <a:t>9/21/2012</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A6EFA140-F156-4425-B953-A67D35160EB0}" type="slidenum">
              <a:rPr lang="en-US"/>
              <a:pPr>
                <a:defRPr/>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fld id="{B7036556-1340-40FC-A073-D70D8832A760}" type="datetimeFigureOut">
              <a:rPr lang="en-US"/>
              <a:pPr>
                <a:defRPr/>
              </a:pPr>
              <a:t>9/21/2012</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AB3919B8-AF1D-4524-AED9-AA87E5FE0640}" type="slidenum">
              <a:rPr lang="en-US"/>
              <a:pPr>
                <a:defRPr/>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B5375E21-F618-4DDC-86A2-77C690CACCAF}" type="datetimeFigureOut">
              <a:rPr lang="en-US"/>
              <a:pPr>
                <a:defRPr/>
              </a:pPr>
              <a:t>9/21/2012</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2EDB1DC0-76E8-4C19-B643-CDC8176FDDA2}" type="slidenum">
              <a:rPr lang="en-US"/>
              <a:pPr>
                <a:defRPr/>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1B4CE7E0-80C2-49E8-81AC-9B27623F73A4}" type="datetimeFigureOut">
              <a:rPr lang="en-US"/>
              <a:pPr>
                <a:defRPr/>
              </a:pPr>
              <a:t>9/21/2012</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D129D05C-0F0F-4E8B-B47F-3C2F1A4BC70E}" type="slidenum">
              <a:rPr lang="en-US"/>
              <a:pPr>
                <a:defRPr/>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218" name="Title Placeholder 1"/>
          <p:cNvSpPr>
            <a:spLocks noGrp="1"/>
          </p:cNvSpPr>
          <p:nvPr>
            <p:ph type="title"/>
          </p:nvPr>
        </p:nvSpPr>
        <p:spPr bwMode="auto">
          <a:xfrm>
            <a:off x="457200" y="274638"/>
            <a:ext cx="82296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smtClean="0"/>
              <a:t>Click to edit Master title style</a:t>
            </a:r>
          </a:p>
        </p:txBody>
      </p:sp>
      <p:sp>
        <p:nvSpPr>
          <p:cNvPr id="9219" name="Text Placeholder 2"/>
          <p:cNvSpPr>
            <a:spLocks noGrp="1"/>
          </p:cNvSpPr>
          <p:nvPr>
            <p:ph type="body" idx="1"/>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a:defRPr/>
            </a:pPr>
            <a:fld id="{2F5EA699-B790-4630-B1C5-9840307833F6}" type="datetimeFigureOut">
              <a:rPr lang="en-US"/>
              <a:pPr>
                <a:defRPr/>
              </a:pPr>
              <a:t>9/21/2012</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defRPr/>
            </a:pPr>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a:defRPr/>
            </a:pPr>
            <a:fld id="{409E2BD1-610D-47CE-BC14-E90E7753FA52}" type="slidenum">
              <a:rPr lang="en-US"/>
              <a:pPr>
                <a:defRPr/>
              </a:pPr>
              <a:t>‹#›</a:t>
            </a:fld>
            <a:endParaRPr lang="en-US"/>
          </a:p>
        </p:txBody>
      </p:sp>
    </p:spTree>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mailto:nhbien@fit.hcmus.edu.vn" TargetMode="External"/><Relationship Id="rId2" Type="http://schemas.openxmlformats.org/officeDocument/2006/relationships/hyperlink" Target="mailto:tdt@hcmus.edu.vn"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hyperlink" Target="http://unimod.sourceforge.net/" TargetMode="Externa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le 1"/>
          <p:cNvSpPr>
            <a:spLocks noGrp="1"/>
          </p:cNvSpPr>
          <p:nvPr>
            <p:ph type="ctrTitle"/>
          </p:nvPr>
        </p:nvSpPr>
        <p:spPr/>
        <p:txBody>
          <a:bodyPr/>
          <a:lstStyle/>
          <a:p>
            <a:pPr eaLnBrk="1" hangingPunct="1"/>
            <a:r>
              <a:rPr lang="en-US" sz="4800" dirty="0" smtClean="0"/>
              <a:t>State Patterns</a:t>
            </a:r>
          </a:p>
        </p:txBody>
      </p:sp>
      <p:sp>
        <p:nvSpPr>
          <p:cNvPr id="3" name="Subtitle 2"/>
          <p:cNvSpPr>
            <a:spLocks noGrp="1"/>
          </p:cNvSpPr>
          <p:nvPr>
            <p:ph type="subTitle" idx="1"/>
          </p:nvPr>
        </p:nvSpPr>
        <p:spPr/>
        <p:txBody>
          <a:bodyPr rtlCol="0">
            <a:normAutofit fontScale="92500" lnSpcReduction="10000"/>
          </a:bodyPr>
          <a:lstStyle/>
          <a:p>
            <a:r>
              <a:rPr lang="en-US" sz="2800" dirty="0" err="1" smtClean="0"/>
              <a:t>Trần</a:t>
            </a:r>
            <a:r>
              <a:rPr lang="en-US" sz="2800" dirty="0" smtClean="0"/>
              <a:t> </a:t>
            </a:r>
            <a:r>
              <a:rPr lang="en-US" sz="2800" dirty="0" err="1" smtClean="0"/>
              <a:t>Đan</a:t>
            </a:r>
            <a:r>
              <a:rPr lang="en-US" sz="2800" dirty="0" smtClean="0"/>
              <a:t> </a:t>
            </a:r>
            <a:r>
              <a:rPr lang="en-US" sz="2800" dirty="0" err="1" smtClean="0"/>
              <a:t>Thư</a:t>
            </a:r>
            <a:r>
              <a:rPr lang="en-US" sz="2800" dirty="0" smtClean="0"/>
              <a:t> and </a:t>
            </a:r>
            <a:r>
              <a:rPr lang="en-US" sz="2800" dirty="0" err="1" smtClean="0"/>
              <a:t>Ngô</a:t>
            </a:r>
            <a:r>
              <a:rPr lang="en-US" sz="2800" dirty="0" smtClean="0"/>
              <a:t> Huy </a:t>
            </a:r>
            <a:r>
              <a:rPr lang="en-US" sz="2800" dirty="0" err="1" smtClean="0"/>
              <a:t>Biên</a:t>
            </a:r>
            <a:endParaRPr lang="en-US" sz="2800" dirty="0" smtClean="0"/>
          </a:p>
          <a:p>
            <a:r>
              <a:rPr lang="en-US" sz="2800" i="1" dirty="0" smtClean="0"/>
              <a:t>The University of Natural Sciences – </a:t>
            </a:r>
            <a:r>
              <a:rPr lang="en-US" sz="2800" i="1" dirty="0" err="1" smtClean="0"/>
              <a:t>HoChiMinh</a:t>
            </a:r>
            <a:r>
              <a:rPr lang="en-US" sz="2800" i="1" dirty="0" smtClean="0"/>
              <a:t> City, Vietnam</a:t>
            </a:r>
          </a:p>
          <a:p>
            <a:r>
              <a:rPr lang="en-US" sz="2800" dirty="0" smtClean="0">
                <a:hlinkClick r:id="rId2"/>
              </a:rPr>
              <a:t>tdt@hcmus.edu.vn</a:t>
            </a:r>
            <a:r>
              <a:rPr lang="en-US" sz="2800" dirty="0" smtClean="0"/>
              <a:t>, </a:t>
            </a:r>
            <a:r>
              <a:rPr lang="en-US" sz="2800" dirty="0" smtClean="0">
                <a:hlinkClick r:id="rId3"/>
              </a:rPr>
              <a:t>nhbien@fit.hcmus.edu.vn</a:t>
            </a:r>
            <a:endParaRPr lang="en-US" sz="2800"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Contents</a:t>
            </a:r>
            <a:endParaRPr lang="en-US" dirty="0"/>
          </a:p>
        </p:txBody>
      </p:sp>
      <p:sp>
        <p:nvSpPr>
          <p:cNvPr id="3" name="Content Placeholder 2"/>
          <p:cNvSpPr>
            <a:spLocks noGrp="1"/>
          </p:cNvSpPr>
          <p:nvPr>
            <p:ph idx="1"/>
          </p:nvPr>
        </p:nvSpPr>
        <p:spPr/>
        <p:txBody>
          <a:bodyPr/>
          <a:lstStyle/>
          <a:p>
            <a:r>
              <a:rPr lang="en-US" dirty="0" smtClean="0"/>
              <a:t>Context</a:t>
            </a:r>
          </a:p>
          <a:p>
            <a:r>
              <a:rPr lang="en-US" dirty="0" smtClean="0"/>
              <a:t>Related Work</a:t>
            </a:r>
          </a:p>
          <a:p>
            <a:r>
              <a:rPr lang="en-US" dirty="0" smtClean="0"/>
              <a:t>Problem Statement</a:t>
            </a:r>
          </a:p>
          <a:p>
            <a:r>
              <a:rPr lang="en-US" dirty="0" smtClean="0"/>
              <a:t>Proposed Solution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Context</a:t>
            </a:r>
            <a:endParaRPr lang="en-US" dirty="0"/>
          </a:p>
        </p:txBody>
      </p:sp>
      <p:sp>
        <p:nvSpPr>
          <p:cNvPr id="3" name="Content Placeholder 2"/>
          <p:cNvSpPr>
            <a:spLocks noGrp="1"/>
          </p:cNvSpPr>
          <p:nvPr>
            <p:ph idx="1"/>
          </p:nvPr>
        </p:nvSpPr>
        <p:spPr/>
        <p:txBody>
          <a:bodyPr/>
          <a:lstStyle/>
          <a:p>
            <a:r>
              <a:rPr lang="en-US" dirty="0" smtClean="0"/>
              <a:t>Pattern </a:t>
            </a:r>
            <a:r>
              <a:rPr lang="en-US" b="1" dirty="0" smtClean="0">
                <a:solidFill>
                  <a:srgbClr val="FF0000"/>
                </a:solidFill>
              </a:rPr>
              <a:t>Mining</a:t>
            </a:r>
          </a:p>
          <a:p>
            <a:pPr lvl="1"/>
            <a:r>
              <a:rPr lang="en-US" b="1" dirty="0" smtClean="0">
                <a:solidFill>
                  <a:srgbClr val="FF0000"/>
                </a:solidFill>
              </a:rPr>
              <a:t>Extend existing patterns</a:t>
            </a:r>
            <a:r>
              <a:rPr lang="en-US" dirty="0" smtClean="0"/>
              <a:t> to resolve problems in </a:t>
            </a:r>
            <a:r>
              <a:rPr lang="en-US" b="1" dirty="0" smtClean="0">
                <a:solidFill>
                  <a:srgbClr val="FF0000"/>
                </a:solidFill>
              </a:rPr>
              <a:t>different contexts</a:t>
            </a:r>
            <a:r>
              <a:rPr lang="en-US" dirty="0" smtClean="0"/>
              <a:t> or overcome </a:t>
            </a:r>
            <a:r>
              <a:rPr lang="en-US" b="1" dirty="0" smtClean="0">
                <a:solidFill>
                  <a:srgbClr val="FF0000"/>
                </a:solidFill>
              </a:rPr>
              <a:t>shortcomings</a:t>
            </a:r>
            <a:r>
              <a:rPr lang="en-US" dirty="0" smtClean="0"/>
              <a:t> of existing patterns.</a:t>
            </a:r>
          </a:p>
          <a:p>
            <a:pPr lvl="2"/>
            <a:r>
              <a:rPr lang="en-US" b="1" dirty="0" smtClean="0">
                <a:solidFill>
                  <a:schemeClr val="tx2"/>
                </a:solidFill>
              </a:rPr>
              <a:t>State pattern (State Object)</a:t>
            </a:r>
          </a:p>
          <a:p>
            <a:pPr lvl="3"/>
            <a:r>
              <a:rPr lang="en-US" dirty="0" smtClean="0">
                <a:solidFill>
                  <a:srgbClr val="FF0000"/>
                </a:solidFill>
              </a:rPr>
              <a:t>How do you get different behavior from an object depending on its current state?</a:t>
            </a:r>
          </a:p>
          <a:p>
            <a:pPr lvl="3"/>
            <a:r>
              <a:rPr lang="en-US" dirty="0" smtClean="0"/>
              <a:t>Encapsulate the state of the object in another, separate, object. Delegate all state-dependant behavior to this State Object.</a:t>
            </a:r>
            <a:endParaRPr lang="en-US" b="1" dirty="0" smtClean="0">
              <a:solidFill>
                <a:schemeClr val="tx2"/>
              </a:solidFill>
            </a:endParaRPr>
          </a:p>
          <a:p>
            <a:pPr lvl="3"/>
            <a:endParaRPr lang="en-US" b="1" dirty="0" smtClean="0">
              <a:solidFill>
                <a:schemeClr val="tx2"/>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Related Work</a:t>
            </a:r>
          </a:p>
        </p:txBody>
      </p:sp>
      <p:sp>
        <p:nvSpPr>
          <p:cNvPr id="3" name="Content Placeholder 2"/>
          <p:cNvSpPr>
            <a:spLocks noGrp="1"/>
          </p:cNvSpPr>
          <p:nvPr>
            <p:ph idx="1"/>
          </p:nvPr>
        </p:nvSpPr>
        <p:spPr/>
        <p:txBody>
          <a:bodyPr/>
          <a:lstStyle/>
          <a:p>
            <a:r>
              <a:rPr lang="en-US" dirty="0" smtClean="0"/>
              <a:t>Paul Dyson and Bruce Anderson. State Patterns. 1996.</a:t>
            </a:r>
          </a:p>
          <a:p>
            <a:pPr lvl="1"/>
            <a:r>
              <a:rPr lang="en-US" dirty="0" smtClean="0"/>
              <a:t>State Member</a:t>
            </a:r>
          </a:p>
          <a:p>
            <a:pPr lvl="2"/>
            <a:r>
              <a:rPr lang="en-US" sz="2200" dirty="0" smtClean="0">
                <a:solidFill>
                  <a:srgbClr val="FF0000"/>
                </a:solidFill>
              </a:rPr>
              <a:t>How do you decide whether a data member belongs in the owning class or in the State Object class?</a:t>
            </a:r>
          </a:p>
          <a:p>
            <a:pPr lvl="2"/>
            <a:r>
              <a:rPr lang="en-US" sz="2200" dirty="0" smtClean="0"/>
              <a:t>If a data member is only required for a single state then place it in the corresponding State Object class. If the data member is required for some, but not all, states then it should be placed in a common super-class. If the data member is state-independent, place it in the owning class and pass it to the State Object if necessary.</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State Patterns</a:t>
            </a:r>
            <a:endParaRPr lang="en-US" dirty="0"/>
          </a:p>
        </p:txBody>
      </p:sp>
      <p:sp>
        <p:nvSpPr>
          <p:cNvPr id="3" name="Content Placeholder 2"/>
          <p:cNvSpPr>
            <a:spLocks noGrp="1"/>
          </p:cNvSpPr>
          <p:nvPr>
            <p:ph idx="1"/>
          </p:nvPr>
        </p:nvSpPr>
        <p:spPr/>
        <p:txBody>
          <a:bodyPr/>
          <a:lstStyle/>
          <a:p>
            <a:r>
              <a:rPr lang="en-US" dirty="0" smtClean="0"/>
              <a:t>Default State</a:t>
            </a:r>
          </a:p>
          <a:p>
            <a:pPr lvl="1"/>
            <a:r>
              <a:rPr lang="en-US" dirty="0" smtClean="0">
                <a:solidFill>
                  <a:srgbClr val="FF0000"/>
                </a:solidFill>
              </a:rPr>
              <a:t>When creating a new owning object, how do I ensure that it has the correct initial State Object?</a:t>
            </a:r>
          </a:p>
          <a:p>
            <a:pPr lvl="1"/>
            <a:r>
              <a:rPr lang="en-US" dirty="0" smtClean="0"/>
              <a:t>Have a method, called in the initialize method, that returns the default State Object. Redefine this method in a subclass if a different default state is required.</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State Patterns (cont.)</a:t>
            </a:r>
            <a:endParaRPr lang="en-US" dirty="0"/>
          </a:p>
        </p:txBody>
      </p:sp>
      <p:sp>
        <p:nvSpPr>
          <p:cNvPr id="3" name="Content Placeholder 2"/>
          <p:cNvSpPr>
            <a:spLocks noGrp="1"/>
          </p:cNvSpPr>
          <p:nvPr>
            <p:ph idx="1"/>
          </p:nvPr>
        </p:nvSpPr>
        <p:spPr/>
        <p:txBody>
          <a:bodyPr/>
          <a:lstStyle/>
          <a:p>
            <a:pPr lvl="1"/>
            <a:r>
              <a:rPr lang="en-US" dirty="0" smtClean="0"/>
              <a:t>Pure State</a:t>
            </a:r>
          </a:p>
          <a:p>
            <a:pPr lvl="2"/>
            <a:r>
              <a:rPr lang="en-US" sz="2000" dirty="0" smtClean="0">
                <a:solidFill>
                  <a:srgbClr val="FF0000"/>
                </a:solidFill>
              </a:rPr>
              <a:t>You have a lot of State Objects, is it possible to cut down on the number required?</a:t>
            </a:r>
          </a:p>
          <a:p>
            <a:pPr lvl="2"/>
            <a:r>
              <a:rPr lang="en-US" sz="2000" dirty="0" smtClean="0"/>
              <a:t>When a State Object has no State Members, it can be said to represent Pure State - nothing but state specific behavior. A single Pure State object can be shared amongst any number of owning objects, drastically reducing the number of objects required.</a:t>
            </a:r>
          </a:p>
          <a:p>
            <a:pPr lvl="1"/>
            <a:r>
              <a:rPr lang="en-US" dirty="0" smtClean="0"/>
              <a:t>Exposed State</a:t>
            </a:r>
          </a:p>
          <a:p>
            <a:pPr lvl="2"/>
            <a:r>
              <a:rPr lang="en-US" sz="2000" dirty="0" smtClean="0">
                <a:solidFill>
                  <a:srgbClr val="FF0000"/>
                </a:solidFill>
              </a:rPr>
              <a:t>How do you prevent the owning class having an excessive number of state-specific, state dependant methods?</a:t>
            </a:r>
          </a:p>
          <a:p>
            <a:pPr lvl="2"/>
            <a:r>
              <a:rPr lang="en-US" sz="2000" dirty="0" smtClean="0"/>
              <a:t>Expose the State Object by defining a method in the owning class that returns a reference to it. Make state-specific enquiries directly to the State Object.</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State Transitions</a:t>
            </a:r>
            <a:endParaRPr lang="en-US" dirty="0"/>
          </a:p>
        </p:txBody>
      </p:sp>
      <p:sp>
        <p:nvSpPr>
          <p:cNvPr id="3" name="Content Placeholder 2"/>
          <p:cNvSpPr>
            <a:spLocks noGrp="1"/>
          </p:cNvSpPr>
          <p:nvPr>
            <p:ph idx="1"/>
          </p:nvPr>
        </p:nvSpPr>
        <p:spPr/>
        <p:txBody>
          <a:bodyPr/>
          <a:lstStyle/>
          <a:p>
            <a:pPr lvl="1"/>
            <a:r>
              <a:rPr lang="en-US" dirty="0" smtClean="0"/>
              <a:t>State-</a:t>
            </a:r>
            <a:r>
              <a:rPr lang="en-US" dirty="0" err="1" smtClean="0"/>
              <a:t>Diven</a:t>
            </a:r>
            <a:r>
              <a:rPr lang="en-US" dirty="0" smtClean="0"/>
              <a:t> Transitions</a:t>
            </a:r>
          </a:p>
          <a:p>
            <a:pPr lvl="2"/>
            <a:r>
              <a:rPr lang="en-US" sz="2000" dirty="0" smtClean="0">
                <a:solidFill>
                  <a:srgbClr val="FF0000"/>
                </a:solidFill>
              </a:rPr>
              <a:t>How do you get the State Object to change when the owning object’s state changes?</a:t>
            </a:r>
          </a:p>
          <a:p>
            <a:pPr lvl="2"/>
            <a:r>
              <a:rPr lang="en-US" sz="2000" dirty="0" smtClean="0"/>
              <a:t>Have the State Object initiate the transition from itself (the current state) to the new State Object. This ensures </a:t>
            </a:r>
            <a:r>
              <a:rPr lang="en-US" sz="2000" b="1" dirty="0" smtClean="0">
                <a:solidFill>
                  <a:schemeClr val="tx2"/>
                </a:solidFill>
              </a:rPr>
              <a:t>transitions are atomic</a:t>
            </a:r>
            <a:r>
              <a:rPr lang="en-US" sz="2000" dirty="0" smtClean="0"/>
              <a:t> and </a:t>
            </a:r>
            <a:r>
              <a:rPr lang="en-US" sz="2000" b="1" dirty="0" smtClean="0">
                <a:solidFill>
                  <a:schemeClr val="tx2"/>
                </a:solidFill>
              </a:rPr>
              <a:t>removes state-dependant code</a:t>
            </a:r>
            <a:r>
              <a:rPr lang="en-US" sz="2000" dirty="0" smtClean="0"/>
              <a:t> that determines the next state depending on the event and the current state. The state driven transition </a:t>
            </a:r>
            <a:r>
              <a:rPr lang="en-US" sz="2000" b="1" dirty="0" smtClean="0">
                <a:solidFill>
                  <a:schemeClr val="tx2"/>
                </a:solidFill>
              </a:rPr>
              <a:t>simplified the owning class implementation</a:t>
            </a:r>
            <a:r>
              <a:rPr lang="en-US" sz="2000" dirty="0" smtClean="0"/>
              <a:t>.</a:t>
            </a:r>
          </a:p>
          <a:p>
            <a:pPr lvl="1"/>
            <a:r>
              <a:rPr lang="en-US" dirty="0" smtClean="0"/>
              <a:t>Owner-Driven Transitions</a:t>
            </a:r>
          </a:p>
          <a:p>
            <a:pPr lvl="2"/>
            <a:r>
              <a:rPr lang="en-US" sz="2000" dirty="0" smtClean="0">
                <a:solidFill>
                  <a:srgbClr val="FF0000"/>
                </a:solidFill>
              </a:rPr>
              <a:t>How do you reuse State Object classes amongst owning classes with different state-transition profiles?</a:t>
            </a:r>
          </a:p>
          <a:p>
            <a:pPr lvl="2"/>
            <a:r>
              <a:rPr lang="en-US" sz="2000" dirty="0" smtClean="0"/>
              <a:t>If State Object classes are to be used by more than one owning class, and those owning classes have different FSMs, have the owning class initiate the transition between states.</a:t>
            </a:r>
          </a:p>
          <a:p>
            <a:pPr lvl="2"/>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Restoring Previous State</a:t>
            </a:r>
            <a:endParaRPr lang="en-US" dirty="0"/>
          </a:p>
        </p:txBody>
      </p:sp>
      <p:sp>
        <p:nvSpPr>
          <p:cNvPr id="3" name="Content Placeholder 2"/>
          <p:cNvSpPr>
            <a:spLocks noGrp="1"/>
          </p:cNvSpPr>
          <p:nvPr>
            <p:ph idx="1"/>
          </p:nvPr>
        </p:nvSpPr>
        <p:spPr/>
        <p:txBody>
          <a:bodyPr/>
          <a:lstStyle/>
          <a:p>
            <a:r>
              <a:rPr lang="en-US" dirty="0" smtClean="0"/>
              <a:t>Jim </a:t>
            </a:r>
            <a:r>
              <a:rPr lang="en-US" dirty="0" err="1" smtClean="0"/>
              <a:t>Odrowski</a:t>
            </a:r>
            <a:r>
              <a:rPr lang="en-US" dirty="0" smtClean="0"/>
              <a:t> and Paul </a:t>
            </a:r>
            <a:r>
              <a:rPr lang="en-US" dirty="0" err="1" smtClean="0"/>
              <a:t>Sogaard</a:t>
            </a:r>
            <a:r>
              <a:rPr lang="en-US" dirty="0" smtClean="0"/>
              <a:t>. Pattern Integration - Variations of State. 1996.</a:t>
            </a:r>
          </a:p>
          <a:p>
            <a:pPr lvl="1"/>
            <a:r>
              <a:rPr lang="en-US" sz="2400" dirty="0" smtClean="0">
                <a:solidFill>
                  <a:srgbClr val="FF0000"/>
                </a:solidFill>
              </a:rPr>
              <a:t>An object can move from one state to another, but frequently there is a need to go back to an object’s previous state. This is most relevant when an object is part of a larger composite object (refer to composite state) and one of the objects cannot make a valid state transition. In that case, all of the objects in the cascaded state change must be returned to their previous state.</a:t>
            </a:r>
          </a:p>
          <a:p>
            <a:pPr lvl="1"/>
            <a:r>
              <a:rPr lang="en-US" sz="2400" dirty="0" smtClean="0"/>
              <a:t>State (used to manage the individual states) + Memento (used to capture the states prior to making state changes)</a:t>
            </a:r>
          </a:p>
          <a:p>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Finite State Machine Patterns</a:t>
            </a:r>
            <a:endParaRPr lang="en-US" dirty="0"/>
          </a:p>
        </p:txBody>
      </p:sp>
      <p:sp>
        <p:nvSpPr>
          <p:cNvPr id="3" name="Content Placeholder 2"/>
          <p:cNvSpPr>
            <a:spLocks noGrp="1"/>
          </p:cNvSpPr>
          <p:nvPr>
            <p:ph idx="1"/>
          </p:nvPr>
        </p:nvSpPr>
        <p:spPr/>
        <p:txBody>
          <a:bodyPr/>
          <a:lstStyle/>
          <a:p>
            <a:r>
              <a:rPr lang="en-US" dirty="0" err="1" smtClean="0"/>
              <a:t>Sherif</a:t>
            </a:r>
            <a:r>
              <a:rPr lang="en-US" dirty="0" smtClean="0"/>
              <a:t> M. </a:t>
            </a:r>
            <a:r>
              <a:rPr lang="en-US" dirty="0" err="1" smtClean="0"/>
              <a:t>Yacoub</a:t>
            </a:r>
            <a:r>
              <a:rPr lang="en-US" dirty="0" smtClean="0"/>
              <a:t> and </a:t>
            </a:r>
            <a:r>
              <a:rPr lang="en-US" dirty="0" err="1" smtClean="0"/>
              <a:t>Hany</a:t>
            </a:r>
            <a:r>
              <a:rPr lang="en-US" dirty="0" smtClean="0"/>
              <a:t> H. </a:t>
            </a:r>
            <a:r>
              <a:rPr lang="en-US" dirty="0" err="1" smtClean="0"/>
              <a:t>Ammar</a:t>
            </a:r>
            <a:r>
              <a:rPr lang="en-US" dirty="0" smtClean="0"/>
              <a:t>. Finite State Machine Patterns. 1998.</a:t>
            </a:r>
            <a:endParaRPr lang="en-US" dirty="0"/>
          </a:p>
        </p:txBody>
      </p:sp>
      <p:pic>
        <p:nvPicPr>
          <p:cNvPr id="30725" name="Picture 5"/>
          <p:cNvPicPr>
            <a:picLocks noChangeAspect="1" noChangeArrowheads="1"/>
          </p:cNvPicPr>
          <p:nvPr/>
        </p:nvPicPr>
        <p:blipFill>
          <a:blip r:embed="rId2" cstate="print"/>
          <a:srcRect/>
          <a:stretch>
            <a:fillRect/>
          </a:stretch>
        </p:blipFill>
        <p:spPr bwMode="auto">
          <a:xfrm>
            <a:off x="547688" y="2733675"/>
            <a:ext cx="8048625" cy="3743325"/>
          </a:xfrm>
          <a:prstGeom prst="rect">
            <a:avLst/>
          </a:prstGeom>
          <a:noFill/>
          <a:ln w="9525">
            <a:noFill/>
            <a:miter lim="800000"/>
            <a:headEnd/>
            <a:tailEnd/>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Basic Finite State Machine Pattern</a:t>
            </a:r>
            <a:endParaRPr lang="en-US" dirty="0"/>
          </a:p>
        </p:txBody>
      </p:sp>
      <p:sp>
        <p:nvSpPr>
          <p:cNvPr id="3" name="Content Placeholder 2"/>
          <p:cNvSpPr>
            <a:spLocks noGrp="1"/>
          </p:cNvSpPr>
          <p:nvPr>
            <p:ph idx="1"/>
          </p:nvPr>
        </p:nvSpPr>
        <p:spPr/>
        <p:txBody>
          <a:bodyPr/>
          <a:lstStyle/>
          <a:p>
            <a:r>
              <a:rPr lang="en-US" sz="2200" dirty="0" smtClean="0">
                <a:solidFill>
                  <a:srgbClr val="FF0000"/>
                </a:solidFill>
              </a:rPr>
              <a:t>Your application contains an object whose behavior depends on its state. The object's state changes according to events in the. The state transitions are determined from the object specification. How can you implement the object behavior in your design?</a:t>
            </a:r>
          </a:p>
          <a:p>
            <a:r>
              <a:rPr lang="en-US" sz="2200" dirty="0" smtClean="0"/>
              <a:t>Use the state object pattern and add state transitions methods in response to state transition events.</a:t>
            </a:r>
          </a:p>
          <a:p>
            <a:r>
              <a:rPr lang="en-US" sz="2200" b="1" dirty="0" smtClean="0">
                <a:solidFill>
                  <a:schemeClr val="tx2"/>
                </a:solidFill>
              </a:rPr>
              <a:t>FSM pattern = State Object Pattern + State Transition Mechanism</a:t>
            </a:r>
          </a:p>
          <a:p>
            <a:r>
              <a:rPr lang="en-US" sz="2200" dirty="0" smtClean="0"/>
              <a:t>The state transition diagram (</a:t>
            </a:r>
            <a:r>
              <a:rPr lang="en-US" sz="2200" dirty="0" err="1" smtClean="0"/>
              <a:t>statechart</a:t>
            </a:r>
            <a:r>
              <a:rPr lang="en-US" sz="2200" dirty="0" smtClean="0"/>
              <a:t>) of a coin machine:</a:t>
            </a:r>
          </a:p>
        </p:txBody>
      </p:sp>
      <p:pic>
        <p:nvPicPr>
          <p:cNvPr id="31747" name="Picture 3"/>
          <p:cNvPicPr>
            <a:picLocks noChangeAspect="1" noChangeArrowheads="1"/>
          </p:cNvPicPr>
          <p:nvPr/>
        </p:nvPicPr>
        <p:blipFill>
          <a:blip r:embed="rId2" cstate="print"/>
          <a:srcRect/>
          <a:stretch>
            <a:fillRect/>
          </a:stretch>
        </p:blipFill>
        <p:spPr bwMode="auto">
          <a:xfrm>
            <a:off x="2924175" y="4572000"/>
            <a:ext cx="3295650" cy="2209800"/>
          </a:xfrm>
          <a:prstGeom prst="rect">
            <a:avLst/>
          </a:prstGeom>
          <a:noFill/>
          <a:ln w="9525">
            <a:noFill/>
            <a:miter lim="800000"/>
            <a:headEnd/>
            <a:tailEnd/>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State-Driven Transition FSM Pattern</a:t>
            </a:r>
            <a:endParaRPr lang="en-US" dirty="0"/>
          </a:p>
        </p:txBody>
      </p:sp>
      <p:pic>
        <p:nvPicPr>
          <p:cNvPr id="32771" name="Picture 3"/>
          <p:cNvPicPr>
            <a:picLocks noChangeAspect="1" noChangeArrowheads="1"/>
          </p:cNvPicPr>
          <p:nvPr/>
        </p:nvPicPr>
        <p:blipFill>
          <a:blip r:embed="rId2" cstate="print"/>
          <a:srcRect/>
          <a:stretch>
            <a:fillRect/>
          </a:stretch>
        </p:blipFill>
        <p:spPr bwMode="auto">
          <a:xfrm>
            <a:off x="1657350" y="1524000"/>
            <a:ext cx="6724650" cy="4191000"/>
          </a:xfrm>
          <a:prstGeom prst="rect">
            <a:avLst/>
          </a:prstGeom>
          <a:noFill/>
          <a:ln w="9525">
            <a:noFill/>
            <a:miter lim="800000"/>
            <a:headEnd/>
            <a:tailEnd/>
          </a:ln>
        </p:spPr>
      </p:pic>
      <p:sp>
        <p:nvSpPr>
          <p:cNvPr id="4" name="Rectangle 3"/>
          <p:cNvSpPr/>
          <p:nvPr/>
        </p:nvSpPr>
        <p:spPr>
          <a:xfrm>
            <a:off x="381000" y="3048000"/>
            <a:ext cx="2362200" cy="3785652"/>
          </a:xfrm>
          <a:prstGeom prst="rect">
            <a:avLst/>
          </a:prstGeom>
        </p:spPr>
        <p:txBody>
          <a:bodyPr wrap="square">
            <a:spAutoFit/>
          </a:bodyPr>
          <a:lstStyle/>
          <a:p>
            <a:r>
              <a:rPr lang="en-US" sz="2000" dirty="0" smtClean="0">
                <a:solidFill>
                  <a:srgbClr val="FF0000"/>
                </a:solidFill>
                <a:latin typeface="+mj-lt"/>
              </a:rPr>
              <a:t>The state driven transition added the burden to the concrete state classes which requires more instantiation and declaration efforts to ensure that each concrete state class points correctly to the next states.</a:t>
            </a:r>
          </a:p>
        </p:txBody>
      </p:sp>
      <p:sp>
        <p:nvSpPr>
          <p:cNvPr id="5" name="Rectangle 4"/>
          <p:cNvSpPr/>
          <p:nvPr/>
        </p:nvSpPr>
        <p:spPr>
          <a:xfrm>
            <a:off x="3505200" y="5715000"/>
            <a:ext cx="5334000" cy="769441"/>
          </a:xfrm>
          <a:prstGeom prst="rect">
            <a:avLst/>
          </a:prstGeom>
        </p:spPr>
        <p:txBody>
          <a:bodyPr wrap="square">
            <a:spAutoFit/>
          </a:bodyPr>
          <a:lstStyle/>
          <a:p>
            <a:r>
              <a:rPr lang="en-US" sz="2200" dirty="0" smtClean="0">
                <a:solidFill>
                  <a:srgbClr val="FF0000"/>
                </a:solidFill>
                <a:latin typeface="+mj-lt"/>
              </a:rPr>
              <a:t>The state driven transition introduced dependencies between states.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Meally</a:t>
            </a:r>
            <a:r>
              <a:rPr lang="en-US" dirty="0" smtClean="0"/>
              <a:t> FSM Pattern</a:t>
            </a:r>
            <a:endParaRPr lang="en-US" dirty="0"/>
          </a:p>
        </p:txBody>
      </p:sp>
      <p:sp>
        <p:nvSpPr>
          <p:cNvPr id="3" name="Content Placeholder 2"/>
          <p:cNvSpPr>
            <a:spLocks noGrp="1"/>
          </p:cNvSpPr>
          <p:nvPr>
            <p:ph idx="1"/>
          </p:nvPr>
        </p:nvSpPr>
        <p:spPr/>
        <p:txBody>
          <a:bodyPr/>
          <a:lstStyle/>
          <a:p>
            <a:r>
              <a:rPr lang="en-US" sz="2800" dirty="0" smtClean="0">
                <a:solidFill>
                  <a:srgbClr val="FF0000"/>
                </a:solidFill>
              </a:rPr>
              <a:t>How do you activate the FSM outputs if they should be produced at specific events while the object is in a particular state?</a:t>
            </a:r>
          </a:p>
          <a:p>
            <a:r>
              <a:rPr lang="en-US" sz="2800" dirty="0" smtClean="0"/>
              <a:t>Make the concrete event method of each state initiate the required (output) action in response to the event.</a:t>
            </a:r>
            <a:endParaRPr lang="en-US" sz="2800" dirty="0"/>
          </a:p>
        </p:txBody>
      </p:sp>
      <p:pic>
        <p:nvPicPr>
          <p:cNvPr id="33794" name="Picture 2"/>
          <p:cNvPicPr>
            <a:picLocks noChangeAspect="1" noChangeArrowheads="1"/>
          </p:cNvPicPr>
          <p:nvPr/>
        </p:nvPicPr>
        <p:blipFill>
          <a:blip r:embed="rId2" cstate="print"/>
          <a:srcRect/>
          <a:stretch>
            <a:fillRect/>
          </a:stretch>
        </p:blipFill>
        <p:spPr bwMode="auto">
          <a:xfrm>
            <a:off x="2709863" y="4495800"/>
            <a:ext cx="3724275" cy="1981200"/>
          </a:xfrm>
          <a:prstGeom prst="rect">
            <a:avLst/>
          </a:prstGeom>
          <a:noFill/>
          <a:ln w="9525">
            <a:noFill/>
            <a:miter lim="800000"/>
            <a:headEnd/>
            <a:tailEnd/>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4818" name="Picture 2"/>
          <p:cNvPicPr>
            <a:picLocks noChangeAspect="1" noChangeArrowheads="1"/>
          </p:cNvPicPr>
          <p:nvPr/>
        </p:nvPicPr>
        <p:blipFill>
          <a:blip r:embed="rId2" cstate="print"/>
          <a:srcRect/>
          <a:stretch>
            <a:fillRect/>
          </a:stretch>
        </p:blipFill>
        <p:spPr bwMode="auto">
          <a:xfrm>
            <a:off x="2971800" y="4495800"/>
            <a:ext cx="3352800" cy="2009775"/>
          </a:xfrm>
          <a:prstGeom prst="rect">
            <a:avLst/>
          </a:prstGeom>
          <a:noFill/>
          <a:ln w="9525">
            <a:noFill/>
            <a:miter lim="800000"/>
            <a:headEnd/>
            <a:tailEnd/>
          </a:ln>
        </p:spPr>
      </p:pic>
      <p:sp>
        <p:nvSpPr>
          <p:cNvPr id="2" name="Title 1"/>
          <p:cNvSpPr>
            <a:spLocks noGrp="1"/>
          </p:cNvSpPr>
          <p:nvPr>
            <p:ph type="title"/>
          </p:nvPr>
        </p:nvSpPr>
        <p:spPr/>
        <p:txBody>
          <a:bodyPr/>
          <a:lstStyle/>
          <a:p>
            <a:r>
              <a:rPr lang="en-US" dirty="0" smtClean="0"/>
              <a:t>Moore FSM Pattern</a:t>
            </a:r>
            <a:endParaRPr lang="en-US" dirty="0"/>
          </a:p>
        </p:txBody>
      </p:sp>
      <p:sp>
        <p:nvSpPr>
          <p:cNvPr id="3" name="Content Placeholder 2"/>
          <p:cNvSpPr>
            <a:spLocks noGrp="1"/>
          </p:cNvSpPr>
          <p:nvPr>
            <p:ph idx="1"/>
          </p:nvPr>
        </p:nvSpPr>
        <p:spPr/>
        <p:txBody>
          <a:bodyPr/>
          <a:lstStyle/>
          <a:p>
            <a:r>
              <a:rPr lang="en-US" sz="2800" dirty="0" smtClean="0">
                <a:solidFill>
                  <a:srgbClr val="FF0000"/>
                </a:solidFill>
              </a:rPr>
              <a:t>How do you activate the FSM outputs if they are produced only at the state entry, and each state has a specific set of outputs? </a:t>
            </a:r>
          </a:p>
          <a:p>
            <a:r>
              <a:rPr lang="en-US" sz="2800" dirty="0" smtClean="0"/>
              <a:t>Implement an output method in each state that calls the required actions. Make the state transition mechanism call the output method of the next upcoming state.</a:t>
            </a:r>
            <a:endParaRPr lang="en-US" sz="2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Encapsulated FSM pattern</a:t>
            </a:r>
            <a:endParaRPr lang="en-US" dirty="0"/>
          </a:p>
        </p:txBody>
      </p:sp>
      <p:sp>
        <p:nvSpPr>
          <p:cNvPr id="3" name="Content Placeholder 2"/>
          <p:cNvSpPr>
            <a:spLocks noGrp="1"/>
          </p:cNvSpPr>
          <p:nvPr>
            <p:ph idx="1"/>
          </p:nvPr>
        </p:nvSpPr>
        <p:spPr/>
        <p:txBody>
          <a:bodyPr/>
          <a:lstStyle/>
          <a:p>
            <a:r>
              <a:rPr lang="en-US" sz="2800" dirty="0" smtClean="0">
                <a:solidFill>
                  <a:srgbClr val="FF0000"/>
                </a:solidFill>
              </a:rPr>
              <a:t>Your FSM should follow a sequence of state changes that should not be changed by other application entities. How can you ensure no state changes are enforced to your object?</a:t>
            </a:r>
          </a:p>
          <a:p>
            <a:r>
              <a:rPr lang="en-US" sz="2800" dirty="0" smtClean="0"/>
              <a:t>Encapsulate the current state inside the object itself and keep the state reference as a private attribute. Only the object itself can change its state by handling the events causing the state change but still delegate the behavior to the current state.</a:t>
            </a:r>
            <a:endParaRPr lang="en-US" sz="2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Hierarchical </a:t>
            </a:r>
            <a:r>
              <a:rPr lang="en-US" dirty="0" err="1" smtClean="0"/>
              <a:t>Statechart</a:t>
            </a:r>
            <a:endParaRPr lang="en-US" dirty="0"/>
          </a:p>
        </p:txBody>
      </p:sp>
      <p:sp>
        <p:nvSpPr>
          <p:cNvPr id="3" name="Content Placeholder 2"/>
          <p:cNvSpPr>
            <a:spLocks noGrp="1"/>
          </p:cNvSpPr>
          <p:nvPr>
            <p:ph idx="1"/>
          </p:nvPr>
        </p:nvSpPr>
        <p:spPr/>
        <p:txBody>
          <a:bodyPr/>
          <a:lstStyle/>
          <a:p>
            <a:r>
              <a:rPr lang="en-US" dirty="0" err="1" smtClean="0"/>
              <a:t>Sherif</a:t>
            </a:r>
            <a:r>
              <a:rPr lang="en-US" dirty="0" smtClean="0"/>
              <a:t> M. </a:t>
            </a:r>
            <a:r>
              <a:rPr lang="en-US" dirty="0" err="1" smtClean="0"/>
              <a:t>Yacoub</a:t>
            </a:r>
            <a:r>
              <a:rPr lang="en-US" dirty="0" smtClean="0"/>
              <a:t> and </a:t>
            </a:r>
            <a:r>
              <a:rPr lang="en-US" dirty="0" err="1" smtClean="0"/>
              <a:t>Hany</a:t>
            </a:r>
            <a:r>
              <a:rPr lang="en-US" dirty="0" smtClean="0"/>
              <a:t> H. </a:t>
            </a:r>
            <a:r>
              <a:rPr lang="en-US" dirty="0" err="1" smtClean="0"/>
              <a:t>Ammar</a:t>
            </a:r>
            <a:r>
              <a:rPr lang="en-US" dirty="0" smtClean="0"/>
              <a:t>. A Pattern Language of </a:t>
            </a:r>
            <a:r>
              <a:rPr lang="en-US" dirty="0" err="1" smtClean="0"/>
              <a:t>Statecharts</a:t>
            </a:r>
            <a:r>
              <a:rPr lang="en-US" dirty="0" smtClean="0"/>
              <a:t>. 1998.</a:t>
            </a:r>
          </a:p>
          <a:p>
            <a:pPr lvl="1"/>
            <a:r>
              <a:rPr lang="en-US" sz="2000" dirty="0" smtClean="0">
                <a:solidFill>
                  <a:srgbClr val="FF0000"/>
                </a:solidFill>
              </a:rPr>
              <a:t>How do you implement the states hierarchy in your design?</a:t>
            </a:r>
          </a:p>
          <a:p>
            <a:pPr lvl="1"/>
            <a:r>
              <a:rPr lang="en-US" sz="2000" b="1" dirty="0" smtClean="0">
                <a:solidFill>
                  <a:schemeClr val="tx2"/>
                </a:solidFill>
              </a:rPr>
              <a:t>State-Driven Transition FSM Pattern + Composite pattern.</a:t>
            </a:r>
          </a:p>
          <a:p>
            <a:pPr lvl="1"/>
            <a:endParaRPr lang="en-US" sz="2000" dirty="0"/>
          </a:p>
        </p:txBody>
      </p:sp>
      <p:pic>
        <p:nvPicPr>
          <p:cNvPr id="41986" name="Picture 2"/>
          <p:cNvPicPr>
            <a:picLocks noChangeAspect="1" noChangeArrowheads="1"/>
          </p:cNvPicPr>
          <p:nvPr/>
        </p:nvPicPr>
        <p:blipFill>
          <a:blip r:embed="rId2" cstate="print"/>
          <a:srcRect/>
          <a:stretch>
            <a:fillRect/>
          </a:stretch>
        </p:blipFill>
        <p:spPr bwMode="auto">
          <a:xfrm>
            <a:off x="1262063" y="3448050"/>
            <a:ext cx="6619875" cy="3181350"/>
          </a:xfrm>
          <a:prstGeom prst="rect">
            <a:avLst/>
          </a:prstGeom>
          <a:noFill/>
          <a:ln w="9525">
            <a:noFill/>
            <a:miter lim="800000"/>
            <a:headEnd/>
            <a:tailEnd/>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State Machine Design Pattern</a:t>
            </a:r>
            <a:endParaRPr lang="en-US" dirty="0"/>
          </a:p>
        </p:txBody>
      </p:sp>
      <p:sp>
        <p:nvSpPr>
          <p:cNvPr id="3" name="Content Placeholder 2"/>
          <p:cNvSpPr>
            <a:spLocks noGrp="1"/>
          </p:cNvSpPr>
          <p:nvPr>
            <p:ph idx="1"/>
          </p:nvPr>
        </p:nvSpPr>
        <p:spPr/>
        <p:txBody>
          <a:bodyPr/>
          <a:lstStyle/>
          <a:p>
            <a:r>
              <a:rPr lang="en-US" sz="2400" dirty="0" smtClean="0"/>
              <a:t>Anatoly </a:t>
            </a:r>
            <a:r>
              <a:rPr lang="en-US" sz="2400" dirty="0" err="1" smtClean="0"/>
              <a:t>Shalyto</a:t>
            </a:r>
            <a:r>
              <a:rPr lang="en-US" sz="2400" dirty="0" smtClean="0"/>
              <a:t> et al.. State Machine Design Pattern. 2006.</a:t>
            </a:r>
          </a:p>
          <a:p>
            <a:pPr lvl="1"/>
            <a:r>
              <a:rPr lang="en-US" sz="2000" dirty="0" smtClean="0">
                <a:solidFill>
                  <a:srgbClr val="FF0000"/>
                </a:solidFill>
              </a:rPr>
              <a:t>Defining the transition logic in concrete states introduces dependencies between subclasses, which is an undesired coupling.</a:t>
            </a:r>
          </a:p>
          <a:p>
            <a:pPr lvl="1"/>
            <a:r>
              <a:rPr lang="en-US" sz="2000" dirty="0" smtClean="0"/>
              <a:t>Separate classes which implement transition logic (Context) and state classes. Use </a:t>
            </a:r>
            <a:r>
              <a:rPr lang="en-US" sz="2000" b="1" dirty="0" smtClean="0">
                <a:solidFill>
                  <a:schemeClr val="tx2"/>
                </a:solidFill>
              </a:rPr>
              <a:t>events</a:t>
            </a:r>
            <a:r>
              <a:rPr lang="en-US" sz="2000" dirty="0" smtClean="0"/>
              <a:t> which are basically </a:t>
            </a:r>
            <a:r>
              <a:rPr lang="en-US" sz="2000" b="1" dirty="0" smtClean="0">
                <a:solidFill>
                  <a:schemeClr val="tx2"/>
                </a:solidFill>
              </a:rPr>
              <a:t>objects</a:t>
            </a:r>
            <a:r>
              <a:rPr lang="en-US" sz="2000" dirty="0" smtClean="0"/>
              <a:t> that </a:t>
            </a:r>
            <a:r>
              <a:rPr lang="en-US" sz="2000" b="1" dirty="0" smtClean="0">
                <a:solidFill>
                  <a:schemeClr val="tx2"/>
                </a:solidFill>
              </a:rPr>
              <a:t>state objects pass to Context</a:t>
            </a:r>
            <a:r>
              <a:rPr lang="en-US" sz="2000" dirty="0" smtClean="0"/>
              <a:t> to achieve an interaction between Context and state classes.</a:t>
            </a:r>
          </a:p>
          <a:p>
            <a:pPr lvl="1"/>
            <a:r>
              <a:rPr lang="en-US" sz="2000" dirty="0" smtClean="0"/>
              <a:t>State Chart for class Connection:</a:t>
            </a:r>
          </a:p>
        </p:txBody>
      </p:sp>
      <p:pic>
        <p:nvPicPr>
          <p:cNvPr id="30722" name="Picture 2"/>
          <p:cNvPicPr>
            <a:picLocks noChangeAspect="1" noChangeArrowheads="1"/>
          </p:cNvPicPr>
          <p:nvPr/>
        </p:nvPicPr>
        <p:blipFill>
          <a:blip r:embed="rId2" cstate="print"/>
          <a:srcRect/>
          <a:stretch>
            <a:fillRect/>
          </a:stretch>
        </p:blipFill>
        <p:spPr bwMode="auto">
          <a:xfrm>
            <a:off x="2614613" y="4657725"/>
            <a:ext cx="3914775" cy="2047875"/>
          </a:xfrm>
          <a:prstGeom prst="rect">
            <a:avLst/>
          </a:prstGeom>
          <a:noFill/>
          <a:ln w="9525">
            <a:noFill/>
            <a:miter lim="800000"/>
            <a:headEnd/>
            <a:tailEnd/>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State Machine Design Pattern (cont.)</a:t>
            </a:r>
            <a:endParaRPr lang="en-US" dirty="0"/>
          </a:p>
        </p:txBody>
      </p:sp>
      <p:pic>
        <p:nvPicPr>
          <p:cNvPr id="51203" name="Picture 3"/>
          <p:cNvPicPr>
            <a:picLocks noChangeAspect="1" noChangeArrowheads="1"/>
          </p:cNvPicPr>
          <p:nvPr/>
        </p:nvPicPr>
        <p:blipFill>
          <a:blip r:embed="rId2" cstate="print"/>
          <a:srcRect/>
          <a:stretch>
            <a:fillRect/>
          </a:stretch>
        </p:blipFill>
        <p:spPr bwMode="auto">
          <a:xfrm>
            <a:off x="1790700" y="1495425"/>
            <a:ext cx="5562600" cy="5286375"/>
          </a:xfrm>
          <a:prstGeom prst="rect">
            <a:avLst/>
          </a:prstGeom>
          <a:noFill/>
          <a:ln w="9525">
            <a:noFill/>
            <a:miter lim="800000"/>
            <a:headEnd/>
            <a:tailEnd/>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State vs. State Machine</a:t>
            </a:r>
            <a:endParaRPr lang="en-US" dirty="0"/>
          </a:p>
        </p:txBody>
      </p:sp>
      <p:sp>
        <p:nvSpPr>
          <p:cNvPr id="3" name="Content Placeholder 2"/>
          <p:cNvSpPr>
            <a:spLocks noGrp="1"/>
          </p:cNvSpPr>
          <p:nvPr>
            <p:ph idx="1"/>
          </p:nvPr>
        </p:nvSpPr>
        <p:spPr/>
        <p:txBody>
          <a:bodyPr/>
          <a:lstStyle/>
          <a:p>
            <a:r>
              <a:rPr lang="en-US" smtClean="0"/>
              <a:t>In State pattern next state is </a:t>
            </a:r>
            <a:r>
              <a:rPr lang="en-US" b="1" smtClean="0">
                <a:solidFill>
                  <a:srgbClr val="FF0000"/>
                </a:solidFill>
              </a:rPr>
              <a:t>explicitly</a:t>
            </a:r>
            <a:r>
              <a:rPr lang="en-US" smtClean="0"/>
              <a:t> pointed out by the </a:t>
            </a:r>
            <a:r>
              <a:rPr lang="en-US" b="1" smtClean="0">
                <a:solidFill>
                  <a:srgbClr val="FF0000"/>
                </a:solidFill>
              </a:rPr>
              <a:t>current state</a:t>
            </a:r>
            <a:r>
              <a:rPr lang="en-US" smtClean="0"/>
              <a:t>.</a:t>
            </a:r>
          </a:p>
          <a:p>
            <a:r>
              <a:rPr lang="en-US" smtClean="0"/>
              <a:t>In </a:t>
            </a:r>
            <a:r>
              <a:rPr lang="en-US" dirty="0" smtClean="0"/>
              <a:t>State Machine pattern it is done by </a:t>
            </a:r>
            <a:r>
              <a:rPr lang="en-US" b="1" dirty="0" smtClean="0">
                <a:solidFill>
                  <a:schemeClr val="tx2"/>
                </a:solidFill>
              </a:rPr>
              <a:t>notifying the Context with an event</a:t>
            </a:r>
            <a:r>
              <a:rPr lang="en-US" dirty="0" smtClean="0"/>
              <a:t>. After that it’s a Context’s responsibility to react and possibly change the state.</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Finite State Machine Framework</a:t>
            </a:r>
            <a:endParaRPr lang="en-US" dirty="0"/>
          </a:p>
        </p:txBody>
      </p:sp>
      <p:sp>
        <p:nvSpPr>
          <p:cNvPr id="3" name="Content Placeholder 2"/>
          <p:cNvSpPr>
            <a:spLocks noGrp="1"/>
          </p:cNvSpPr>
          <p:nvPr>
            <p:ph idx="1"/>
          </p:nvPr>
        </p:nvSpPr>
        <p:spPr/>
        <p:txBody>
          <a:bodyPr/>
          <a:lstStyle/>
          <a:p>
            <a:r>
              <a:rPr lang="en-US" dirty="0" smtClean="0">
                <a:hlinkClick r:id="rId2"/>
              </a:rPr>
              <a:t>http://unimod.sourceforge.net</a:t>
            </a:r>
            <a:endParaRPr lang="en-US" dirty="0" smtClean="0"/>
          </a:p>
          <a:p>
            <a:pPr lvl="1"/>
            <a:r>
              <a:rPr lang="en-US" sz="2400" dirty="0" smtClean="0"/>
              <a:t>Finite State Machine Framework is software that implements FSM and generates code from </a:t>
            </a:r>
            <a:r>
              <a:rPr lang="en-US" sz="2400" dirty="0" err="1" smtClean="0"/>
              <a:t>statecharts</a:t>
            </a:r>
            <a:r>
              <a:rPr lang="en-US" sz="2400" dirty="0" smtClean="0"/>
              <a:t>.</a:t>
            </a:r>
          </a:p>
          <a:p>
            <a:pPr lvl="1"/>
            <a:r>
              <a:rPr lang="en-US" sz="2400" dirty="0" smtClean="0"/>
              <a:t>The transition logic is described in an XML file, and it is interpreted by a generic and reusable class named FSM Manager. The FSM Manager </a:t>
            </a:r>
            <a:r>
              <a:rPr lang="en-US" sz="2400" b="1" dirty="0" smtClean="0">
                <a:solidFill>
                  <a:schemeClr val="tx2"/>
                </a:solidFill>
              </a:rPr>
              <a:t>decouples transition logic from the State Pattern.</a:t>
            </a:r>
          </a:p>
        </p:txBody>
      </p:sp>
      <p:pic>
        <p:nvPicPr>
          <p:cNvPr id="43010" name="Picture 2"/>
          <p:cNvPicPr>
            <a:picLocks noChangeAspect="1" noChangeArrowheads="1"/>
          </p:cNvPicPr>
          <p:nvPr/>
        </p:nvPicPr>
        <p:blipFill>
          <a:blip r:embed="rId3" cstate="print"/>
          <a:srcRect/>
          <a:stretch>
            <a:fillRect/>
          </a:stretch>
        </p:blipFill>
        <p:spPr bwMode="auto">
          <a:xfrm>
            <a:off x="2043113" y="4610100"/>
            <a:ext cx="5057775" cy="1866900"/>
          </a:xfrm>
          <a:prstGeom prst="rect">
            <a:avLst/>
          </a:prstGeom>
          <a:noFill/>
          <a:ln w="9525">
            <a:noFill/>
            <a:miter lim="800000"/>
            <a:headEnd/>
            <a:tailEnd/>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Persistent State Pattern</a:t>
            </a:r>
            <a:endParaRPr lang="en-US" dirty="0"/>
          </a:p>
        </p:txBody>
      </p:sp>
      <p:sp>
        <p:nvSpPr>
          <p:cNvPr id="3" name="Content Placeholder 2"/>
          <p:cNvSpPr>
            <a:spLocks noGrp="1"/>
          </p:cNvSpPr>
          <p:nvPr>
            <p:ph idx="1"/>
          </p:nvPr>
        </p:nvSpPr>
        <p:spPr/>
        <p:txBody>
          <a:bodyPr/>
          <a:lstStyle/>
          <a:p>
            <a:r>
              <a:rPr lang="en-US" sz="2800" dirty="0" smtClean="0"/>
              <a:t>Andre V. </a:t>
            </a:r>
            <a:r>
              <a:rPr lang="en-US" sz="2800" dirty="0" err="1" smtClean="0"/>
              <a:t>Saude</a:t>
            </a:r>
            <a:r>
              <a:rPr lang="en-US" sz="2800" dirty="0" smtClean="0"/>
              <a:t> et al.. Persistent State Pattern. 2010.</a:t>
            </a:r>
          </a:p>
          <a:p>
            <a:pPr lvl="1"/>
            <a:r>
              <a:rPr lang="en-US" sz="2400" dirty="0" smtClean="0"/>
              <a:t>A persistent object is an OO representation of a database entity.</a:t>
            </a:r>
          </a:p>
          <a:p>
            <a:pPr lvl="1"/>
            <a:r>
              <a:rPr lang="en-US" sz="2400" dirty="0" smtClean="0"/>
              <a:t>UML </a:t>
            </a:r>
            <a:r>
              <a:rPr lang="en-US" sz="2400" dirty="0" err="1" smtClean="0"/>
              <a:t>statechart</a:t>
            </a:r>
            <a:r>
              <a:rPr lang="en-US" sz="2400" dirty="0" smtClean="0"/>
              <a:t> for the </a:t>
            </a:r>
            <a:r>
              <a:rPr lang="en-US" sz="2400" dirty="0" err="1" smtClean="0"/>
              <a:t>PurchaseRequest</a:t>
            </a:r>
            <a:r>
              <a:rPr lang="en-US" sz="2400" dirty="0" smtClean="0"/>
              <a:t> entity:</a:t>
            </a:r>
          </a:p>
          <a:p>
            <a:pPr lvl="1"/>
            <a:endParaRPr lang="en-US" sz="2400" dirty="0"/>
          </a:p>
        </p:txBody>
      </p:sp>
      <p:pic>
        <p:nvPicPr>
          <p:cNvPr id="8193" name="Picture 1"/>
          <p:cNvPicPr>
            <a:picLocks noChangeAspect="1" noChangeArrowheads="1"/>
          </p:cNvPicPr>
          <p:nvPr/>
        </p:nvPicPr>
        <p:blipFill>
          <a:blip r:embed="rId2" cstate="print"/>
          <a:srcRect/>
          <a:stretch>
            <a:fillRect/>
          </a:stretch>
        </p:blipFill>
        <p:spPr bwMode="auto">
          <a:xfrm>
            <a:off x="1228725" y="3581400"/>
            <a:ext cx="6686550" cy="3048000"/>
          </a:xfrm>
          <a:prstGeom prst="rect">
            <a:avLst/>
          </a:prstGeom>
          <a:noFill/>
          <a:ln w="9525">
            <a:noFill/>
            <a:miter lim="800000"/>
            <a:headEnd/>
            <a:tailEnd/>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Persistent State Pattern (cont.)</a:t>
            </a:r>
            <a:endParaRPr lang="en-US" dirty="0"/>
          </a:p>
        </p:txBody>
      </p:sp>
      <p:sp>
        <p:nvSpPr>
          <p:cNvPr id="3" name="Content Placeholder 2"/>
          <p:cNvSpPr>
            <a:spLocks noGrp="1"/>
          </p:cNvSpPr>
          <p:nvPr>
            <p:ph idx="1"/>
          </p:nvPr>
        </p:nvSpPr>
        <p:spPr/>
        <p:txBody>
          <a:bodyPr/>
          <a:lstStyle/>
          <a:p>
            <a:r>
              <a:rPr lang="en-US" dirty="0" smtClean="0">
                <a:solidFill>
                  <a:srgbClr val="FF0000"/>
                </a:solidFill>
              </a:rPr>
              <a:t>Problem:</a:t>
            </a:r>
          </a:p>
          <a:p>
            <a:pPr lvl="1"/>
            <a:r>
              <a:rPr lang="en-US" dirty="0" smtClean="0">
                <a:solidFill>
                  <a:srgbClr val="FF0000"/>
                </a:solidFill>
              </a:rPr>
              <a:t>An entity is a FSM. The FSM may launch actions in cascade, and make many changes in the database. The FSM must be managed in a way to allow rollbacks in database transaction if any problem occurs in any level of the cascade.</a:t>
            </a:r>
          </a:p>
          <a:p>
            <a:r>
              <a:rPr lang="en-US" dirty="0" smtClean="0"/>
              <a:t>Solution:</a:t>
            </a:r>
          </a:p>
          <a:p>
            <a:pPr lvl="1"/>
            <a:r>
              <a:rPr lang="en-US" b="1" dirty="0" smtClean="0">
                <a:solidFill>
                  <a:schemeClr val="tx2"/>
                </a:solidFill>
              </a:rPr>
              <a:t>Integrate an FSM Pattern</a:t>
            </a:r>
            <a:r>
              <a:rPr lang="en-US" dirty="0" smtClean="0"/>
              <a:t> in a framework </a:t>
            </a:r>
            <a:r>
              <a:rPr lang="en-US" b="1" dirty="0" smtClean="0">
                <a:solidFill>
                  <a:schemeClr val="tx2"/>
                </a:solidFill>
              </a:rPr>
              <a:t>with managed transactions</a:t>
            </a:r>
            <a:r>
              <a:rPr lang="en-US" dirty="0" smtClean="0"/>
              <a:t>.</a:t>
            </a:r>
            <a:endParaRPr lang="en-US"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Persistent State Pattern (cont.)</a:t>
            </a:r>
            <a:endParaRPr lang="en-US" dirty="0"/>
          </a:p>
        </p:txBody>
      </p:sp>
      <p:sp>
        <p:nvSpPr>
          <p:cNvPr id="3" name="Content Placeholder 2"/>
          <p:cNvSpPr>
            <a:spLocks noGrp="1"/>
          </p:cNvSpPr>
          <p:nvPr>
            <p:ph idx="1"/>
          </p:nvPr>
        </p:nvSpPr>
        <p:spPr/>
        <p:txBody>
          <a:bodyPr/>
          <a:lstStyle/>
          <a:p>
            <a:r>
              <a:rPr lang="en-US" dirty="0" smtClean="0"/>
              <a:t>Structure:</a:t>
            </a:r>
            <a:endParaRPr lang="en-US" dirty="0"/>
          </a:p>
        </p:txBody>
      </p:sp>
      <p:pic>
        <p:nvPicPr>
          <p:cNvPr id="1027" name="Picture 3"/>
          <p:cNvPicPr>
            <a:picLocks noChangeAspect="1" noChangeArrowheads="1"/>
          </p:cNvPicPr>
          <p:nvPr/>
        </p:nvPicPr>
        <p:blipFill>
          <a:blip r:embed="rId2" cstate="print"/>
          <a:srcRect/>
          <a:stretch>
            <a:fillRect/>
          </a:stretch>
        </p:blipFill>
        <p:spPr bwMode="auto">
          <a:xfrm>
            <a:off x="833438" y="2343150"/>
            <a:ext cx="7477125" cy="3829050"/>
          </a:xfrm>
          <a:prstGeom prst="rect">
            <a:avLst/>
          </a:prstGeom>
          <a:noFill/>
          <a:ln w="9525">
            <a:noFill/>
            <a:miter lim="800000"/>
            <a:headEnd/>
            <a:tailEnd/>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Persistent State Pattern (cont.)</a:t>
            </a:r>
            <a:endParaRPr lang="en-US" dirty="0"/>
          </a:p>
        </p:txBody>
      </p:sp>
      <p:pic>
        <p:nvPicPr>
          <p:cNvPr id="2061" name="Picture 13"/>
          <p:cNvPicPr>
            <a:picLocks noChangeAspect="1" noChangeArrowheads="1"/>
          </p:cNvPicPr>
          <p:nvPr/>
        </p:nvPicPr>
        <p:blipFill>
          <a:blip r:embed="rId2" cstate="print"/>
          <a:srcRect/>
          <a:stretch>
            <a:fillRect/>
          </a:stretch>
        </p:blipFill>
        <p:spPr bwMode="auto">
          <a:xfrm>
            <a:off x="76200" y="1447800"/>
            <a:ext cx="8991600" cy="4953000"/>
          </a:xfrm>
          <a:prstGeom prst="rect">
            <a:avLst/>
          </a:prstGeom>
          <a:noFill/>
          <a:ln w="9525">
            <a:noFill/>
            <a:miter lim="800000"/>
            <a:headEnd/>
            <a:tailEnd/>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Transaction</a:t>
            </a:r>
            <a:endParaRPr lang="en-US" dirty="0"/>
          </a:p>
        </p:txBody>
      </p:sp>
      <p:sp>
        <p:nvSpPr>
          <p:cNvPr id="3" name="Content Placeholder 2"/>
          <p:cNvSpPr>
            <a:spLocks noGrp="1"/>
          </p:cNvSpPr>
          <p:nvPr>
            <p:ph idx="1"/>
          </p:nvPr>
        </p:nvSpPr>
        <p:spPr/>
        <p:txBody>
          <a:bodyPr/>
          <a:lstStyle/>
          <a:p>
            <a:r>
              <a:rPr lang="en-US" sz="2400" dirty="0" smtClean="0">
                <a:solidFill>
                  <a:srgbClr val="FF0000"/>
                </a:solidFill>
              </a:rPr>
              <a:t>Problem:</a:t>
            </a:r>
          </a:p>
          <a:p>
            <a:pPr lvl="1"/>
            <a:r>
              <a:rPr lang="en-US" sz="2000" dirty="0" smtClean="0">
                <a:solidFill>
                  <a:srgbClr val="FF0000"/>
                </a:solidFill>
              </a:rPr>
              <a:t>When the persistence of entity (composition or hierarchy entity) is not an atomic operation. How can we ensure that everything is rolled back to previous state.</a:t>
            </a:r>
          </a:p>
          <a:p>
            <a:pPr lvl="2"/>
            <a:r>
              <a:rPr lang="en-US" sz="1600" dirty="0" smtClean="0"/>
              <a:t>Example 1: a User Object has its Profile Object and Company Object. When User’s information is saved its Profile and Company will be saved first. If the action of  saving User’s information is failed, its Profile and Company should be reverted to previous states.</a:t>
            </a:r>
          </a:p>
          <a:p>
            <a:pPr lvl="2"/>
            <a:r>
              <a:rPr lang="en-US" sz="1600" dirty="0" smtClean="0"/>
              <a:t>Example </a:t>
            </a:r>
            <a:r>
              <a:rPr lang="en-US" sz="1600" dirty="0" smtClean="0"/>
              <a:t>2: An </a:t>
            </a:r>
            <a:r>
              <a:rPr lang="en-US" sz="1600" dirty="0" smtClean="0"/>
              <a:t>Order object has its Payment and Order Item objects. When Order object is persisted, the system should process its Payment using 3</a:t>
            </a:r>
            <a:r>
              <a:rPr lang="en-US" sz="1600" baseline="30000" dirty="0" smtClean="0"/>
              <a:t>rd</a:t>
            </a:r>
            <a:r>
              <a:rPr lang="en-US" sz="1600" dirty="0" smtClean="0"/>
              <a:t> party payment gateway (PayPal), then save Order information, then  save its Order Items. If the action on the last Order Item is failed, the states of Payment and Order and other Order Items should be reverted</a:t>
            </a:r>
            <a:r>
              <a:rPr lang="en-US" sz="1600" dirty="0" smtClean="0"/>
              <a:t>.</a:t>
            </a:r>
          </a:p>
          <a:p>
            <a:r>
              <a:rPr lang="en-US" sz="2400" dirty="0" smtClean="0"/>
              <a:t>Use Transaction</a:t>
            </a:r>
            <a:endParaRPr lang="en-US" sz="2400" dirty="0" smtClean="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References</a:t>
            </a:r>
            <a:endParaRPr lang="en-US" dirty="0"/>
          </a:p>
        </p:txBody>
      </p:sp>
      <p:sp>
        <p:nvSpPr>
          <p:cNvPr id="3" name="Content Placeholder 2"/>
          <p:cNvSpPr>
            <a:spLocks noGrp="1"/>
          </p:cNvSpPr>
          <p:nvPr>
            <p:ph idx="1"/>
          </p:nvPr>
        </p:nvSpPr>
        <p:spPr/>
        <p:txBody>
          <a:bodyPr/>
          <a:lstStyle/>
          <a:p>
            <a:r>
              <a:rPr lang="en-US" sz="2200" dirty="0" smtClean="0"/>
              <a:t>Paul Dyson and Bruce Anderson. State Patterns. 1996.</a:t>
            </a:r>
          </a:p>
          <a:p>
            <a:r>
              <a:rPr lang="en-US" sz="2200" dirty="0" smtClean="0"/>
              <a:t>Jim </a:t>
            </a:r>
            <a:r>
              <a:rPr lang="en-US" sz="2200" dirty="0" err="1" smtClean="0"/>
              <a:t>Odrowski</a:t>
            </a:r>
            <a:r>
              <a:rPr lang="en-US" sz="2200" dirty="0" smtClean="0"/>
              <a:t> and Paul </a:t>
            </a:r>
            <a:r>
              <a:rPr lang="en-US" sz="2200" dirty="0" err="1" smtClean="0"/>
              <a:t>Sogaard</a:t>
            </a:r>
            <a:r>
              <a:rPr lang="en-US" sz="2200" dirty="0" smtClean="0"/>
              <a:t>. Pattern Integration - Variations of State. 1996.</a:t>
            </a:r>
          </a:p>
          <a:p>
            <a:r>
              <a:rPr lang="en-US" sz="2200" dirty="0" err="1" smtClean="0"/>
              <a:t>Sherif</a:t>
            </a:r>
            <a:r>
              <a:rPr lang="en-US" sz="2200" dirty="0" smtClean="0"/>
              <a:t> M. </a:t>
            </a:r>
            <a:r>
              <a:rPr lang="en-US" sz="2200" dirty="0" err="1" smtClean="0"/>
              <a:t>Yacoub</a:t>
            </a:r>
            <a:r>
              <a:rPr lang="en-US" sz="2200" dirty="0" smtClean="0"/>
              <a:t> and </a:t>
            </a:r>
            <a:r>
              <a:rPr lang="en-US" sz="2200" dirty="0" err="1" smtClean="0"/>
              <a:t>Hany</a:t>
            </a:r>
            <a:r>
              <a:rPr lang="en-US" sz="2200" dirty="0" smtClean="0"/>
              <a:t> H. </a:t>
            </a:r>
            <a:r>
              <a:rPr lang="en-US" sz="2200" dirty="0" err="1" smtClean="0"/>
              <a:t>Ammar</a:t>
            </a:r>
            <a:r>
              <a:rPr lang="en-US" sz="2200" dirty="0" smtClean="0"/>
              <a:t>. Finite State Machine Patterns. 1998.</a:t>
            </a:r>
          </a:p>
          <a:p>
            <a:r>
              <a:rPr lang="en-US" sz="2200" dirty="0" err="1" smtClean="0"/>
              <a:t>Sherif</a:t>
            </a:r>
            <a:r>
              <a:rPr lang="en-US" sz="2200" dirty="0" smtClean="0"/>
              <a:t> M. </a:t>
            </a:r>
            <a:r>
              <a:rPr lang="en-US" sz="2200" dirty="0" err="1" smtClean="0"/>
              <a:t>Yacoub</a:t>
            </a:r>
            <a:r>
              <a:rPr lang="en-US" sz="2200" dirty="0" smtClean="0"/>
              <a:t> and </a:t>
            </a:r>
            <a:r>
              <a:rPr lang="en-US" sz="2200" dirty="0" err="1" smtClean="0"/>
              <a:t>Hany</a:t>
            </a:r>
            <a:r>
              <a:rPr lang="en-US" sz="2200" dirty="0" smtClean="0"/>
              <a:t> H. </a:t>
            </a:r>
            <a:r>
              <a:rPr lang="en-US" sz="2200" dirty="0" err="1" smtClean="0"/>
              <a:t>Ammar</a:t>
            </a:r>
            <a:r>
              <a:rPr lang="en-US" sz="2200" dirty="0" smtClean="0"/>
              <a:t>. A Pattern Language of </a:t>
            </a:r>
            <a:r>
              <a:rPr lang="en-US" sz="2200" dirty="0" err="1" smtClean="0"/>
              <a:t>Statecharts</a:t>
            </a:r>
            <a:r>
              <a:rPr lang="en-US" sz="2200" dirty="0" smtClean="0"/>
              <a:t>. 1998.</a:t>
            </a:r>
          </a:p>
          <a:p>
            <a:r>
              <a:rPr lang="en-US" sz="2200" dirty="0" smtClean="0"/>
              <a:t>Anatoly </a:t>
            </a:r>
            <a:r>
              <a:rPr lang="en-US" sz="2200" dirty="0" err="1" smtClean="0"/>
              <a:t>Shalyto</a:t>
            </a:r>
            <a:r>
              <a:rPr lang="en-US" sz="2200" dirty="0" smtClean="0"/>
              <a:t> et al.. State Machine Design Pattern. 2006.</a:t>
            </a:r>
          </a:p>
          <a:p>
            <a:r>
              <a:rPr lang="en-US" sz="2200" dirty="0" smtClean="0"/>
              <a:t>Andre V. </a:t>
            </a:r>
            <a:r>
              <a:rPr lang="en-US" sz="2200" dirty="0" err="1" smtClean="0"/>
              <a:t>Saude</a:t>
            </a:r>
            <a:r>
              <a:rPr lang="en-US" sz="2200" dirty="0" smtClean="0"/>
              <a:t> et al.. Persistent State Pattern. 2010.</a:t>
            </a:r>
          </a:p>
          <a:p>
            <a:r>
              <a:rPr lang="en-US" sz="2200" dirty="0" smtClean="0"/>
              <a:t>Eric </a:t>
            </a:r>
            <a:r>
              <a:rPr lang="en-US" sz="2200" dirty="0" smtClean="0"/>
              <a:t>Gamma, Richard Helm, Ralph Johnson, and John </a:t>
            </a:r>
            <a:r>
              <a:rPr lang="en-US" sz="2200" dirty="0" err="1" smtClean="0"/>
              <a:t>Vlissides</a:t>
            </a:r>
            <a:r>
              <a:rPr lang="en-US" sz="2200" dirty="0" smtClean="0"/>
              <a:t>. </a:t>
            </a:r>
            <a:r>
              <a:rPr lang="en-US" sz="2200" i="1" dirty="0" smtClean="0"/>
              <a:t>Design Patterns: Elements of Reusable Object-Oriented Software</a:t>
            </a:r>
            <a:r>
              <a:rPr lang="en-US" sz="2200" dirty="0" smtClean="0"/>
              <a:t>. 1995.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10768</TotalTime>
  <Words>1560</Words>
  <Application>Microsoft Office PowerPoint</Application>
  <PresentationFormat>On-screen Show (4:3)</PresentationFormat>
  <Paragraphs>104</Paragraphs>
  <Slides>25</Slides>
  <Notes>0</Notes>
  <HiddenSlides>0</HiddenSlides>
  <MMClips>0</MMClips>
  <ScaleCrop>false</ScaleCrop>
  <HeadingPairs>
    <vt:vector size="4" baseType="variant">
      <vt:variant>
        <vt:lpstr>Theme</vt:lpstr>
      </vt:variant>
      <vt:variant>
        <vt:i4>1</vt:i4>
      </vt:variant>
      <vt:variant>
        <vt:lpstr>Slide Titles</vt:lpstr>
      </vt:variant>
      <vt:variant>
        <vt:i4>25</vt:i4>
      </vt:variant>
    </vt:vector>
  </HeadingPairs>
  <TitlesOfParts>
    <vt:vector size="26" baseType="lpstr">
      <vt:lpstr>Office Theme</vt:lpstr>
      <vt:lpstr>State Patterns</vt:lpstr>
      <vt:lpstr>Contents</vt:lpstr>
      <vt:lpstr>Context</vt:lpstr>
      <vt:lpstr>Related Work</vt:lpstr>
      <vt:lpstr>State Patterns</vt:lpstr>
      <vt:lpstr>State Patterns (cont.)</vt:lpstr>
      <vt:lpstr>State Transitions</vt:lpstr>
      <vt:lpstr>Restoring Previous State</vt:lpstr>
      <vt:lpstr>Finite State Machine Patterns</vt:lpstr>
      <vt:lpstr>Basic Finite State Machine Pattern</vt:lpstr>
      <vt:lpstr>State-Driven Transition FSM Pattern</vt:lpstr>
      <vt:lpstr>Meally FSM Pattern</vt:lpstr>
      <vt:lpstr>Moore FSM Pattern</vt:lpstr>
      <vt:lpstr>Encapsulated FSM pattern</vt:lpstr>
      <vt:lpstr>Hierarchical Statechart</vt:lpstr>
      <vt:lpstr>State Machine Design Pattern</vt:lpstr>
      <vt:lpstr>State Machine Design Pattern (cont.)</vt:lpstr>
      <vt:lpstr>State vs. State Machine</vt:lpstr>
      <vt:lpstr>Finite State Machine Framework</vt:lpstr>
      <vt:lpstr>Persistent State Pattern</vt:lpstr>
      <vt:lpstr>Persistent State Pattern (cont.)</vt:lpstr>
      <vt:lpstr>Persistent State Pattern (cont.)</vt:lpstr>
      <vt:lpstr>Persistent State Pattern (cont.)</vt:lpstr>
      <vt:lpstr>Transaction</vt:lpstr>
      <vt:lpstr>References</vt:lpstr>
    </vt:vector>
  </TitlesOfParts>
  <Company>HuyBien</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NgoHuyBien</dc:creator>
  <cp:lastModifiedBy>HuyBien</cp:lastModifiedBy>
  <cp:revision>2961</cp:revision>
  <dcterms:created xsi:type="dcterms:W3CDTF">2007-10-06T08:25:13Z</dcterms:created>
  <dcterms:modified xsi:type="dcterms:W3CDTF">2012-09-21T10:03:13Z</dcterms:modified>
</cp:coreProperties>
</file>