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6"/>
  </p:notesMasterIdLst>
  <p:handoutMasterIdLst>
    <p:handoutMasterId r:id="rId27"/>
  </p:handoutMasterIdLst>
  <p:sldIdLst>
    <p:sldId id="256" r:id="rId2"/>
    <p:sldId id="480" r:id="rId3"/>
    <p:sldId id="514" r:id="rId4"/>
    <p:sldId id="491" r:id="rId5"/>
    <p:sldId id="536" r:id="rId6"/>
    <p:sldId id="537" r:id="rId7"/>
    <p:sldId id="522" r:id="rId8"/>
    <p:sldId id="516" r:id="rId9"/>
    <p:sldId id="523" r:id="rId10"/>
    <p:sldId id="524" r:id="rId11"/>
    <p:sldId id="525" r:id="rId12"/>
    <p:sldId id="526" r:id="rId13"/>
    <p:sldId id="527" r:id="rId14"/>
    <p:sldId id="528" r:id="rId15"/>
    <p:sldId id="529" r:id="rId16"/>
    <p:sldId id="535" r:id="rId17"/>
    <p:sldId id="517" r:id="rId18"/>
    <p:sldId id="531" r:id="rId19"/>
    <p:sldId id="505" r:id="rId20"/>
    <p:sldId id="506" r:id="rId21"/>
    <p:sldId id="507" r:id="rId22"/>
    <p:sldId id="508" r:id="rId23"/>
    <p:sldId id="511" r:id="rId24"/>
    <p:sldId id="359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3" autoAdjust="0"/>
    <p:restoredTop sz="94667" autoAdjust="0"/>
  </p:normalViewPr>
  <p:slideViewPr>
    <p:cSldViewPr>
      <p:cViewPr>
        <p:scale>
          <a:sx n="50" d="100"/>
          <a:sy n="50" d="100"/>
        </p:scale>
        <p:origin x="-157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5CE0D-E8F9-4F17-B1ED-147CA73C5D15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71A1A-C7CB-4206-B7C5-2991EE4388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smtClean="0"/>
              <a:t>Object-Oriented Design</a:t>
            </a:r>
            <a:endParaRPr lang="en-US" sz="6000" dirty="0" smtClean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195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design software </a:t>
            </a:r>
            <a:r>
              <a:rPr lang="en-US" sz="2400" i="1" dirty="0" smtClean="0">
                <a:solidFill>
                  <a:srgbClr val="C00000"/>
                </a:solidFill>
              </a:rPr>
              <a:t>systematically</a:t>
            </a:r>
            <a:r>
              <a:rPr lang="en-US" sz="2400" dirty="0" smtClean="0"/>
              <a:t>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5336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OO Design Methodology.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Designing with Patterns.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Design and Programming Relationship.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Ralph E. Johnson and Brian Foote (1988). Designing Reusable Classes.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Grady </a:t>
            </a:r>
            <a:r>
              <a:rPr lang="en-US" sz="2000" dirty="0" err="1" smtClean="0"/>
              <a:t>Booch</a:t>
            </a:r>
            <a:r>
              <a:rPr lang="en-US" sz="2000" dirty="0" smtClean="0"/>
              <a:t> et al. (2005). The Unified Modeling Language User Guide. Addison Wesley Professional.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Rebecca </a:t>
            </a:r>
            <a:r>
              <a:rPr lang="en-US" sz="2000" dirty="0" err="1" smtClean="0"/>
              <a:t>Wirfs</a:t>
            </a:r>
            <a:r>
              <a:rPr lang="en-US" sz="2000" dirty="0" smtClean="0"/>
              <a:t>-Brock and Brian Wilkerson (1989). Object-Oriented Design: A Responsibility-Driven Approach.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David </a:t>
            </a:r>
            <a:r>
              <a:rPr lang="en-US" sz="2000" dirty="0" err="1" smtClean="0"/>
              <a:t>Budgen</a:t>
            </a:r>
            <a:r>
              <a:rPr lang="en-US" sz="2000" dirty="0" smtClean="0"/>
              <a:t> (2003). Software Design. Pearson.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Robert C. Martin (2017). Clean Architecture - A Craftsman's Guide to Software Structure and Design. Pearson Education.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Ideas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Notations</a:t>
            </a:r>
          </a:p>
          <a:p>
            <a:r>
              <a:rPr lang="en-US" sz="2400" dirty="0" smtClean="0"/>
              <a:t>Steps</a:t>
            </a:r>
          </a:p>
          <a:p>
            <a:r>
              <a:rPr lang="en-US" sz="2400" dirty="0" smtClean="0"/>
              <a:t>Templates</a:t>
            </a:r>
            <a:endParaRPr lang="en-US" sz="2400" dirty="0"/>
          </a:p>
        </p:txBody>
      </p:sp>
      <p:pic>
        <p:nvPicPr>
          <p:cNvPr id="1026" name="Picture 2" descr="https://t3.ftcdn.net/jpg/04/08/48/00/360_F_408480097_LIoFE7f34U722KFvdZFdvzAbCsksVq6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810000"/>
            <a:ext cx="5053584" cy="21945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r>
              <a:rPr lang="en-US" sz="2400" dirty="0" smtClean="0"/>
              <a:t>Create Use Case diagram.</a:t>
            </a:r>
          </a:p>
          <a:p>
            <a:r>
              <a:rPr lang="en-US" sz="2400" dirty="0" smtClean="0"/>
              <a:t>Create UI design.</a:t>
            </a:r>
          </a:p>
          <a:p>
            <a:r>
              <a:rPr lang="en-US" sz="2400" dirty="0" smtClean="0"/>
              <a:t>Create Class diagram and Database design.</a:t>
            </a:r>
          </a:p>
          <a:p>
            <a:r>
              <a:rPr lang="en-US" sz="2400" dirty="0" smtClean="0"/>
              <a:t>Dump some data to </a:t>
            </a:r>
            <a:r>
              <a:rPr lang="en-US" sz="2400" dirty="0" smtClean="0"/>
              <a:t>database Tables or Objects.</a:t>
            </a:r>
            <a:endParaRPr lang="en-US" sz="2400" dirty="0" smtClean="0"/>
          </a:p>
          <a:p>
            <a:r>
              <a:rPr lang="en-US" sz="2400" dirty="0" smtClean="0"/>
              <a:t>Create Save method for some </a:t>
            </a:r>
            <a:r>
              <a:rPr lang="en-US" sz="2400" dirty="0" smtClean="0"/>
              <a:t>classes.</a:t>
            </a:r>
            <a:endParaRPr lang="en-US" sz="2400" dirty="0" smtClean="0"/>
          </a:p>
          <a:p>
            <a:r>
              <a:rPr lang="en-US" sz="2400" dirty="0" smtClean="0"/>
              <a:t>Create System Sequence diagram.</a:t>
            </a:r>
          </a:p>
          <a:p>
            <a:r>
              <a:rPr lang="en-US" sz="2400" dirty="0" smtClean="0"/>
              <a:t>Create Sequence diagram.</a:t>
            </a:r>
          </a:p>
          <a:p>
            <a:r>
              <a:rPr lang="en-US" sz="2400" dirty="0" smtClean="0"/>
              <a:t>Create </a:t>
            </a:r>
            <a:r>
              <a:rPr lang="en-US" sz="2400" dirty="0" smtClean="0"/>
              <a:t>Flow Chart, State </a:t>
            </a:r>
            <a:r>
              <a:rPr lang="en-US" sz="2400" dirty="0" smtClean="0"/>
              <a:t>diagram.</a:t>
            </a:r>
          </a:p>
        </p:txBody>
      </p:sp>
      <p:pic>
        <p:nvPicPr>
          <p:cNvPr id="20482" name="Picture 2" descr="https://www.zacitspolu.eu/wp/wp-content/uploads/2022/01/sbs_origina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2438400"/>
            <a:ext cx="2299224" cy="23170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OO Design Methodology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Object-oriented design</a:t>
            </a:r>
            <a:r>
              <a:rPr lang="en-US" sz="2200" dirty="0" smtClean="0"/>
              <a:t> starts with </a:t>
            </a:r>
            <a:r>
              <a:rPr lang="en-US" sz="2200" u="sng" dirty="0" smtClean="0"/>
              <a:t>objects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designer </a:t>
            </a:r>
            <a:r>
              <a:rPr lang="en-US" sz="2200" i="1" dirty="0" smtClean="0">
                <a:solidFill>
                  <a:srgbClr val="C00000"/>
                </a:solidFill>
              </a:rPr>
              <a:t>start</a:t>
            </a:r>
            <a:r>
              <a:rPr lang="en-US" sz="2200" dirty="0" smtClean="0"/>
              <a:t> with a </a:t>
            </a:r>
            <a:r>
              <a:rPr lang="en-US" sz="2200" u="sng" dirty="0" smtClean="0"/>
              <a:t>natural language description</a:t>
            </a:r>
            <a:r>
              <a:rPr lang="en-US" sz="2200" dirty="0" smtClean="0"/>
              <a:t> of the desired system and use the </a:t>
            </a:r>
            <a:r>
              <a:rPr lang="en-US" sz="2200" b="1" u="sng" dirty="0" smtClean="0">
                <a:solidFill>
                  <a:srgbClr val="C00000"/>
                </a:solidFill>
              </a:rPr>
              <a:t>nouns</a:t>
            </a:r>
            <a:r>
              <a:rPr lang="en-US" sz="2200" dirty="0" smtClean="0"/>
              <a:t> as a starting point for the classes of objects to be designed.</a:t>
            </a:r>
          </a:p>
          <a:p>
            <a:r>
              <a:rPr lang="en-US" sz="2200" dirty="0" smtClean="0"/>
              <a:t>Each </a:t>
            </a:r>
            <a:r>
              <a:rPr lang="en-US" sz="2200" b="1" u="sng" dirty="0" smtClean="0">
                <a:solidFill>
                  <a:srgbClr val="C00000"/>
                </a:solidFill>
              </a:rPr>
              <a:t>verb</a:t>
            </a:r>
            <a:r>
              <a:rPr lang="en-US" sz="2200" dirty="0" smtClean="0"/>
              <a:t> is an operation, either one implemented by a class (when the class is the direct object) or one used by the class (when the class is the subject).</a:t>
            </a:r>
          </a:p>
          <a:p>
            <a:r>
              <a:rPr lang="en-US" sz="2200" dirty="0" smtClean="0"/>
              <a:t>The resulting </a:t>
            </a:r>
            <a:r>
              <a:rPr lang="en-US" sz="2200" i="1" dirty="0" smtClean="0">
                <a:solidFill>
                  <a:srgbClr val="C00000"/>
                </a:solidFill>
              </a:rPr>
              <a:t>list of classes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operations</a:t>
            </a:r>
            <a:r>
              <a:rPr lang="en-US" sz="2200" dirty="0" smtClean="0"/>
              <a:t> can be used as </a:t>
            </a:r>
            <a:r>
              <a:rPr lang="en-US" sz="2200" u="sng" dirty="0" smtClean="0"/>
              <a:t>the start</a:t>
            </a:r>
            <a:r>
              <a:rPr lang="en-US" sz="2200" dirty="0" smtClean="0"/>
              <a:t> of the design process.</a:t>
            </a:r>
          </a:p>
          <a:p>
            <a:endParaRPr lang="en-US" sz="2200" dirty="0"/>
          </a:p>
        </p:txBody>
      </p:sp>
      <p:pic>
        <p:nvPicPr>
          <p:cNvPr id="4" name="Picture 6" descr="http://cs-exhibitions.uni-klu.ac.at/uploads/pics/Klasse_0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4876800"/>
            <a:ext cx="2305050" cy="16192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Booch's</a:t>
            </a:r>
            <a:r>
              <a:rPr lang="en-US" sz="4000" dirty="0" smtClean="0"/>
              <a:t> OO Design Methodology [2]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6705600" cy="5105400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sz="2400" i="1" dirty="0" smtClean="0">
                <a:solidFill>
                  <a:srgbClr val="C00000"/>
                </a:solidFill>
              </a:rPr>
              <a:t>Identification</a:t>
            </a:r>
            <a:r>
              <a:rPr lang="en-US" sz="2400" dirty="0" smtClean="0"/>
              <a:t> of Classes (and Objects)</a:t>
            </a:r>
          </a:p>
          <a:p>
            <a:pPr lvl="1"/>
            <a:r>
              <a:rPr lang="en-US" sz="1800" dirty="0" smtClean="0"/>
              <a:t>Key abstractions in the problem space are identified and labeled as potential classes and objects.</a:t>
            </a:r>
          </a:p>
          <a:p>
            <a:r>
              <a:rPr lang="en-US" sz="2400" dirty="0" smtClean="0"/>
              <a:t>Identify the </a:t>
            </a:r>
            <a:r>
              <a:rPr lang="en-US" sz="2400" i="1" dirty="0" smtClean="0">
                <a:solidFill>
                  <a:srgbClr val="C00000"/>
                </a:solidFill>
              </a:rPr>
              <a:t>Semantics</a:t>
            </a:r>
            <a:r>
              <a:rPr lang="en-US" sz="2400" dirty="0" smtClean="0"/>
              <a:t> of Classes (and Objects)</a:t>
            </a:r>
          </a:p>
          <a:p>
            <a:pPr lvl="1"/>
            <a:r>
              <a:rPr lang="en-US" sz="1800" dirty="0" smtClean="0"/>
              <a:t>The meaning of the classes and objects identified in the previous step is established, this includes definition of the life-cycles of each object from creation to destruction.</a:t>
            </a:r>
          </a:p>
          <a:p>
            <a:r>
              <a:rPr lang="en-US" sz="2400" dirty="0" smtClean="0"/>
              <a:t>Identify </a:t>
            </a:r>
            <a:r>
              <a:rPr lang="en-US" sz="2400" i="1" dirty="0" smtClean="0">
                <a:solidFill>
                  <a:srgbClr val="C00000"/>
                </a:solidFill>
              </a:rPr>
              <a:t>Relationships</a:t>
            </a:r>
            <a:r>
              <a:rPr lang="en-US" sz="2400" dirty="0" smtClean="0"/>
              <a:t> Between Classes (and Objects)</a:t>
            </a:r>
          </a:p>
          <a:p>
            <a:pPr lvl="1"/>
            <a:r>
              <a:rPr lang="en-US" sz="1800" dirty="0" smtClean="0"/>
              <a:t>Class and object interactions, such as patterns of inheritance among classes and patterns of visibility among objects and classes are identified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Implementation</a:t>
            </a:r>
            <a:r>
              <a:rPr lang="en-US" sz="2400" dirty="0" smtClean="0"/>
              <a:t> of Classes (and Objects)</a:t>
            </a:r>
          </a:p>
          <a:p>
            <a:pPr lvl="1"/>
            <a:r>
              <a:rPr lang="en-US" sz="1800" dirty="0" smtClean="0"/>
              <a:t>Detailed internal views are constructed, including definitions of methods and their various behaviors</a:t>
            </a:r>
            <a:endParaRPr lang="en-US" sz="1800" dirty="0"/>
          </a:p>
        </p:txBody>
      </p:sp>
      <p:pic>
        <p:nvPicPr>
          <p:cNvPr id="6" name="Picture 2" descr="http://upload.wikimedia.org/wikipedia/commons/thumb/3/39/Grady_Booch,_CHM_2011_2_cropped.jpg/220px-Grady_Booch,_CHM_2011_2_croppe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2362199"/>
            <a:ext cx="2095500" cy="29718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 Data Type Design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abstract data type</a:t>
            </a:r>
            <a:r>
              <a:rPr lang="en-US" sz="2400" dirty="0" smtClean="0"/>
              <a:t> is the encapsulation of </a:t>
            </a:r>
            <a:r>
              <a:rPr lang="en-US" sz="2400" u="sng" dirty="0" smtClean="0"/>
              <a:t>data</a:t>
            </a:r>
            <a:r>
              <a:rPr lang="en-US" sz="2400" dirty="0" smtClean="0"/>
              <a:t> and the </a:t>
            </a:r>
            <a:r>
              <a:rPr lang="en-US" sz="2400" u="sng" dirty="0" smtClean="0"/>
              <a:t>algorithms</a:t>
            </a:r>
            <a:r>
              <a:rPr lang="en-US" sz="2400" dirty="0" smtClean="0"/>
              <a:t> that operate on that data.</a:t>
            </a:r>
          </a:p>
          <a:p>
            <a:r>
              <a:rPr lang="en-US" sz="2400" dirty="0" smtClean="0"/>
              <a:t>Abstract data types are designed by asking the questions:</a:t>
            </a:r>
          </a:p>
          <a:p>
            <a:pPr lvl="1"/>
            <a:r>
              <a:rPr lang="en-US" sz="2000" dirty="0" smtClean="0"/>
              <a:t>What data does this type subsume?</a:t>
            </a:r>
          </a:p>
          <a:p>
            <a:pPr lvl="1"/>
            <a:r>
              <a:rPr lang="en-US" sz="2000" dirty="0" smtClean="0"/>
              <a:t>and</a:t>
            </a:r>
          </a:p>
          <a:p>
            <a:pPr lvl="1"/>
            <a:r>
              <a:rPr lang="en-US" sz="2000" dirty="0" smtClean="0"/>
              <a:t>What algorithms can be applied to this data?</a:t>
            </a:r>
          </a:p>
          <a:p>
            <a:r>
              <a:rPr lang="en-US" sz="2400" dirty="0" smtClean="0"/>
              <a:t>This can be done initially by identifying the </a:t>
            </a:r>
            <a:r>
              <a:rPr lang="en-US" sz="2400" i="1" dirty="0" smtClean="0">
                <a:solidFill>
                  <a:srgbClr val="C00000"/>
                </a:solidFill>
              </a:rPr>
              <a:t>data required by the program </a:t>
            </a:r>
            <a:r>
              <a:rPr lang="en-US" sz="2400" dirty="0" smtClean="0"/>
              <a:t>(perhaps only a portion of it). This data can then be grouped into types using </a:t>
            </a:r>
            <a:r>
              <a:rPr lang="en-US" sz="2400" i="1" dirty="0" smtClean="0">
                <a:solidFill>
                  <a:srgbClr val="C00000"/>
                </a:solidFill>
              </a:rPr>
              <a:t>cohesion</a:t>
            </a:r>
            <a:r>
              <a:rPr lang="en-US" sz="2400" dirty="0" smtClean="0"/>
              <a:t> as a guide.</a:t>
            </a:r>
          </a:p>
          <a:p>
            <a:r>
              <a:rPr lang="en-US" sz="2400" dirty="0" smtClean="0"/>
              <a:t>Finally, identifying the </a:t>
            </a:r>
            <a:r>
              <a:rPr lang="en-US" sz="2400" i="1" dirty="0" smtClean="0">
                <a:solidFill>
                  <a:srgbClr val="C00000"/>
                </a:solidFill>
              </a:rPr>
              <a:t>algorithms</a:t>
            </a:r>
            <a:r>
              <a:rPr lang="en-US" sz="2400" dirty="0" smtClean="0"/>
              <a:t> associated with those types of data often leads to the discovery of other types that are required.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Data-Driven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Data-driven design</a:t>
            </a:r>
            <a:r>
              <a:rPr lang="en-US" sz="2400" dirty="0" smtClean="0"/>
              <a:t> is the result of adapting abstract data type design methods to object-oriented programming.</a:t>
            </a:r>
          </a:p>
          <a:p>
            <a:r>
              <a:rPr lang="en-US" sz="2400" dirty="0" smtClean="0"/>
              <a:t>In a data-driven design, </a:t>
            </a:r>
            <a:r>
              <a:rPr lang="en-US" sz="2400" i="1" dirty="0" smtClean="0">
                <a:solidFill>
                  <a:srgbClr val="C00000"/>
                </a:solidFill>
              </a:rPr>
              <a:t>objects</a:t>
            </a:r>
            <a:r>
              <a:rPr lang="en-US" sz="2400" dirty="0" smtClean="0"/>
              <a:t> are designed by asking the questions:</a:t>
            </a:r>
          </a:p>
          <a:p>
            <a:pPr lvl="1"/>
            <a:r>
              <a:rPr lang="en-US" sz="2000" dirty="0" smtClean="0"/>
              <a:t>What (structure) does this object represent?</a:t>
            </a:r>
          </a:p>
          <a:p>
            <a:pPr lvl="1"/>
            <a:r>
              <a:rPr lang="en-US" sz="2000" dirty="0" smtClean="0"/>
              <a:t>and</a:t>
            </a:r>
          </a:p>
          <a:p>
            <a:pPr lvl="1"/>
            <a:r>
              <a:rPr lang="en-US" sz="2000" dirty="0" smtClean="0"/>
              <a:t>What operations can be performed by this object?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Strength of Data-Driven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main benefit of the data-driven approach is that it is a </a:t>
            </a:r>
            <a:r>
              <a:rPr lang="en-US" sz="2400" i="1" dirty="0" smtClean="0">
                <a:solidFill>
                  <a:srgbClr val="C00000"/>
                </a:solidFill>
              </a:rPr>
              <a:t>familiar process</a:t>
            </a:r>
            <a:r>
              <a:rPr lang="en-US" sz="2400" dirty="0" smtClean="0"/>
              <a:t> for programmers experienced with traditional procedural languages.</a:t>
            </a:r>
          </a:p>
          <a:p>
            <a:r>
              <a:rPr lang="en-US" sz="2400" dirty="0" smtClean="0"/>
              <a:t>It is relatively easy for such programmers to </a:t>
            </a:r>
            <a:r>
              <a:rPr lang="en-US" sz="2400" i="1" dirty="0" smtClean="0">
                <a:solidFill>
                  <a:srgbClr val="C00000"/>
                </a:solidFill>
              </a:rPr>
              <a:t>adapt their previous experience</a:t>
            </a:r>
            <a:r>
              <a:rPr lang="en-US" sz="2400" dirty="0" smtClean="0"/>
              <a:t> to the design of object-oriented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The Weakness of Data-Driven Design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Even though the goal of data-driven design is to encapsulate data and algorithms, it inherently </a:t>
            </a:r>
            <a:r>
              <a:rPr lang="en-US" sz="2400" i="1" dirty="0" smtClean="0">
                <a:solidFill>
                  <a:srgbClr val="C00000"/>
                </a:solidFill>
              </a:rPr>
              <a:t>violates that encapsulation</a:t>
            </a:r>
            <a:r>
              <a:rPr lang="en-US" sz="2400" dirty="0" smtClean="0"/>
              <a:t> by making the structure of an object part of the definition of the object.</a:t>
            </a:r>
          </a:p>
          <a:p>
            <a:r>
              <a:rPr lang="en-US" sz="2400" dirty="0" smtClean="0"/>
              <a:t>This in turn leads to the definition of operations that reflect that structure (because they were designed with the structure in mind).</a:t>
            </a:r>
          </a:p>
          <a:p>
            <a:r>
              <a:rPr lang="en-US" sz="2400" dirty="0" smtClean="0"/>
              <a:t>Attempts to change the structure of an object transparently are destined to fail because other classes rely on that structure. This is the antithesis of encapsulation.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Client/Server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client/server model</a:t>
            </a:r>
            <a:r>
              <a:rPr lang="en-US" sz="2200" dirty="0" smtClean="0"/>
              <a:t> is a description of the interaction between two entities: the client and the server.</a:t>
            </a:r>
          </a:p>
          <a:p>
            <a:r>
              <a:rPr lang="en-US" sz="2200" dirty="0" smtClean="0"/>
              <a:t>A client makes requests of the server to perform services.</a:t>
            </a:r>
          </a:p>
          <a:p>
            <a:r>
              <a:rPr lang="en-US" sz="2200" dirty="0" smtClean="0"/>
              <a:t>A Server provides </a:t>
            </a:r>
            <a:r>
              <a:rPr lang="en-US" sz="2200" i="1" dirty="0" smtClean="0">
                <a:solidFill>
                  <a:srgbClr val="C00000"/>
                </a:solidFill>
              </a:rPr>
              <a:t>a set of services</a:t>
            </a:r>
            <a:r>
              <a:rPr lang="en-US" sz="2200" dirty="0" smtClean="0"/>
              <a:t> upon request.</a:t>
            </a:r>
          </a:p>
          <a:p>
            <a:r>
              <a:rPr lang="en-US" sz="2200" dirty="0" smtClean="0"/>
              <a:t>The ways in which the client can interact with the server are described by a </a:t>
            </a:r>
            <a:r>
              <a:rPr lang="en-US" sz="2200" i="1" dirty="0" smtClean="0">
                <a:solidFill>
                  <a:srgbClr val="C00000"/>
                </a:solidFill>
              </a:rPr>
              <a:t>contract</a:t>
            </a:r>
            <a:r>
              <a:rPr lang="en-US" sz="2200" dirty="0" smtClean="0"/>
              <a:t>: </a:t>
            </a:r>
            <a:r>
              <a:rPr lang="en-US" sz="2200" u="sng" dirty="0" smtClean="0"/>
              <a:t>a list of the requests</a:t>
            </a:r>
            <a:r>
              <a:rPr lang="en-US" sz="2200" dirty="0" smtClean="0"/>
              <a:t> that can be made of the server by the client.</a:t>
            </a:r>
          </a:p>
          <a:p>
            <a:r>
              <a:rPr lang="en-US" sz="2200" dirty="0" smtClean="0"/>
              <a:t>Both must fulfill the contract: the client by making only those requests it specifies and the server by responding to those requests.</a:t>
            </a:r>
          </a:p>
          <a:p>
            <a:r>
              <a:rPr lang="en-US" sz="2200" dirty="0" smtClean="0"/>
              <a:t>The advantage of the client/server model is that it focuses on </a:t>
            </a:r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the server does for the client, rather than </a:t>
            </a:r>
            <a:r>
              <a:rPr lang="en-US" sz="2200" u="sng" dirty="0" smtClean="0"/>
              <a:t>how</a:t>
            </a:r>
            <a:r>
              <a:rPr lang="en-US" sz="2200" dirty="0" smtClean="0"/>
              <a:t> the server does it.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of Clients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class may have three distinct type of clients: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External Clients</a:t>
            </a:r>
            <a:r>
              <a:rPr lang="en-US" sz="2000" dirty="0" smtClean="0"/>
              <a:t>: The set of messages that an object responds to, including the types of </a:t>
            </a:r>
            <a:r>
              <a:rPr lang="en-US" sz="2000" u="sng" dirty="0" smtClean="0"/>
              <a:t>arguments</a:t>
            </a:r>
            <a:r>
              <a:rPr lang="en-US" sz="2000" dirty="0" smtClean="0"/>
              <a:t> and the </a:t>
            </a:r>
            <a:r>
              <a:rPr lang="en-US" sz="2000" u="sng" dirty="0" smtClean="0"/>
              <a:t>return type</a:t>
            </a:r>
            <a:r>
              <a:rPr lang="en-US" sz="2000" dirty="0" smtClean="0"/>
              <a:t>, defines the contract between the client and the server.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Subclass Clients</a:t>
            </a:r>
            <a:r>
              <a:rPr lang="en-US" sz="2000" dirty="0" smtClean="0"/>
              <a:t>: In most object-oriented languages, subclasses inherit not only the behavior but also </a:t>
            </a:r>
            <a:r>
              <a:rPr lang="en-US" sz="2000" u="sng" dirty="0" smtClean="0"/>
              <a:t>the structure</a:t>
            </a:r>
            <a:r>
              <a:rPr lang="en-US" sz="2000" dirty="0" smtClean="0"/>
              <a:t> defined by their super-classes. This is unfortunate, as it tends to encourage programmers to violate encapsulation in order to increase the amount of code reused.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Self Client</a:t>
            </a:r>
            <a:r>
              <a:rPr lang="en-US" sz="2000" dirty="0" smtClean="0"/>
              <a:t>: The amount of code relying directly on </a:t>
            </a:r>
            <a:r>
              <a:rPr lang="en-US" sz="2000" u="sng" dirty="0" smtClean="0"/>
              <a:t>the structure</a:t>
            </a:r>
            <a:r>
              <a:rPr lang="en-US" sz="2000" dirty="0" smtClean="0"/>
              <a:t> of the class should be minimized. In other words, the structure of the class should be encapsulated in the </a:t>
            </a:r>
            <a:r>
              <a:rPr lang="en-US" sz="2000" u="sng" dirty="0" smtClean="0"/>
              <a:t>minimum number of methods</a:t>
            </a:r>
            <a:r>
              <a:rPr lang="en-US" sz="2000" dirty="0" smtClean="0"/>
              <a:t>. This minimizes the reliance of an object on its own structure, allowing changes to that structure to be made as transparently as possible.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Responsibility-Driven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Responsibility-driven design</a:t>
            </a:r>
            <a:r>
              <a:rPr lang="en-US" sz="2400" dirty="0" smtClean="0"/>
              <a:t> is inspired by the client/server model.</a:t>
            </a:r>
          </a:p>
          <a:p>
            <a:r>
              <a:rPr lang="en-US" sz="2400" dirty="0" smtClean="0"/>
              <a:t>It focuses on the contract by asking:</a:t>
            </a:r>
          </a:p>
          <a:p>
            <a:pPr lvl="1"/>
            <a:r>
              <a:rPr lang="en-US" sz="2000" dirty="0" smtClean="0"/>
              <a:t>What actions is this object responsible for?</a:t>
            </a:r>
          </a:p>
          <a:p>
            <a:pPr lvl="1"/>
            <a:r>
              <a:rPr lang="en-US" sz="2000" dirty="0" smtClean="0"/>
              <a:t>and</a:t>
            </a:r>
          </a:p>
          <a:p>
            <a:pPr lvl="1"/>
            <a:r>
              <a:rPr lang="en-US" sz="2000" dirty="0" smtClean="0"/>
              <a:t>What information does this object share?</a:t>
            </a:r>
          </a:p>
          <a:p>
            <a:r>
              <a:rPr lang="en-US" sz="2400" dirty="0" smtClean="0"/>
              <a:t>An important point is that </a:t>
            </a:r>
            <a:r>
              <a:rPr lang="en-US" sz="2400" i="1" dirty="0" smtClean="0">
                <a:solidFill>
                  <a:srgbClr val="C00000"/>
                </a:solidFill>
              </a:rPr>
              <a:t>information shared</a:t>
            </a:r>
            <a:r>
              <a:rPr lang="en-US" sz="2400" dirty="0" smtClean="0"/>
              <a:t> by an object might or might </a:t>
            </a:r>
            <a:r>
              <a:rPr lang="en-US" sz="2400" u="sng" dirty="0" smtClean="0"/>
              <a:t>not be part of the structure</a:t>
            </a:r>
            <a:r>
              <a:rPr lang="en-US" sz="2400" dirty="0" smtClean="0"/>
              <a:t> of that object.</a:t>
            </a:r>
          </a:p>
          <a:p>
            <a:r>
              <a:rPr lang="en-US" sz="2400" dirty="0" smtClean="0"/>
              <a:t>That is, the object might compute the information, or it might </a:t>
            </a:r>
            <a:r>
              <a:rPr lang="en-US" sz="2400" i="1" dirty="0" smtClean="0">
                <a:solidFill>
                  <a:srgbClr val="C00000"/>
                </a:solidFill>
              </a:rPr>
              <a:t>delegate</a:t>
            </a:r>
            <a:r>
              <a:rPr lang="en-US" sz="2400" dirty="0" smtClean="0"/>
              <a:t> the request for information to </a:t>
            </a:r>
            <a:r>
              <a:rPr lang="en-US" sz="2400" u="sng" dirty="0" smtClean="0"/>
              <a:t>another object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733800" cy="1143000"/>
          </a:xfrm>
        </p:spPr>
        <p:txBody>
          <a:bodyPr/>
          <a:lstStyle/>
          <a:p>
            <a:r>
              <a:rPr lang="en-US" dirty="0" smtClean="0"/>
              <a:t>Designing with Patterns [4]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76200"/>
            <a:ext cx="3632200" cy="667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OOP? </a:t>
            </a:r>
            <a:r>
              <a:rPr lang="en-US" smtClean="0"/>
              <a:t>[5]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“The combination of data and function.”</a:t>
            </a:r>
          </a:p>
          <a:p>
            <a:r>
              <a:rPr lang="en-US" sz="2400" dirty="0" smtClean="0"/>
              <a:t>“A way to model the real world.”</a:t>
            </a:r>
          </a:p>
          <a:p>
            <a:r>
              <a:rPr lang="en-US" sz="2400" dirty="0" smtClean="0"/>
              <a:t>Some folks fall back on three magic words to explain the nature of OO: </a:t>
            </a:r>
            <a:r>
              <a:rPr lang="en-US" sz="2400" i="1" dirty="0" smtClean="0">
                <a:solidFill>
                  <a:srgbClr val="C00000"/>
                </a:solidFill>
              </a:rPr>
              <a:t>encapsulation</a:t>
            </a:r>
            <a:r>
              <a:rPr lang="en-US" sz="2400" dirty="0" smtClean="0"/>
              <a:t>,</a:t>
            </a:r>
            <a:r>
              <a:rPr lang="en-US" sz="2400" i="1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inheritance</a:t>
            </a:r>
            <a:r>
              <a:rPr lang="en-US" sz="2400" dirty="0" smtClean="0"/>
              <a:t>, and </a:t>
            </a:r>
            <a:r>
              <a:rPr lang="en-US" sz="2400" i="1" dirty="0" smtClean="0">
                <a:solidFill>
                  <a:srgbClr val="C00000"/>
                </a:solidFill>
              </a:rPr>
              <a:t>polymorphism</a:t>
            </a:r>
            <a:r>
              <a:rPr lang="en-US" sz="2400" i="1" dirty="0" smtClean="0"/>
              <a:t>.</a:t>
            </a:r>
            <a:endParaRPr lang="en-US" sz="2400" dirty="0"/>
          </a:p>
        </p:txBody>
      </p:sp>
      <p:pic>
        <p:nvPicPr>
          <p:cNvPr id="4098" name="Picture 2" descr="https://riverobaute.files.wordpress.com/2016/05/dud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3962400"/>
            <a:ext cx="2303145" cy="17030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Dependency without Polymorphism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No control over the direction of all source code.</a:t>
            </a:r>
          </a:p>
          <a:p>
            <a:r>
              <a:rPr lang="en-US" sz="2400" dirty="0" smtClean="0"/>
              <a:t>No deployed independently modules.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971800"/>
            <a:ext cx="6191250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Dependency Inversion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source code dependency (the inheritance relationship) between ML1 and the interface I points in the opposite direction compared to the flow of control.</a:t>
            </a:r>
          </a:p>
          <a:p>
            <a:r>
              <a:rPr lang="en-US" sz="2400" dirty="0" smtClean="0"/>
              <a:t>Any source code dependency, no matter where it is, can be inverted. Any of those source code dependencies can be turned around by </a:t>
            </a:r>
            <a:r>
              <a:rPr lang="en-US" sz="2400" i="1" dirty="0" smtClean="0">
                <a:solidFill>
                  <a:srgbClr val="C00000"/>
                </a:solidFill>
              </a:rPr>
              <a:t>inserting an interface</a:t>
            </a:r>
            <a:r>
              <a:rPr lang="en-US" sz="2400" dirty="0" smtClean="0"/>
              <a:t> between them.</a:t>
            </a:r>
          </a:p>
          <a:p>
            <a:r>
              <a:rPr lang="en-US" sz="2400" dirty="0" smtClean="0"/>
              <a:t>Components can be </a:t>
            </a:r>
            <a:r>
              <a:rPr lang="en-US" sz="2400" i="1" dirty="0" smtClean="0">
                <a:solidFill>
                  <a:srgbClr val="C00000"/>
                </a:solidFill>
              </a:rPr>
              <a:t>deployed</a:t>
            </a:r>
            <a:r>
              <a:rPr lang="en-US" sz="2400" dirty="0" smtClean="0"/>
              <a:t> </a:t>
            </a:r>
            <a:r>
              <a:rPr lang="en-US" sz="2400" u="sng" dirty="0" smtClean="0"/>
              <a:t>separately</a:t>
            </a:r>
            <a:r>
              <a:rPr lang="en-US" sz="2400" dirty="0" smtClean="0"/>
              <a:t> and </a:t>
            </a:r>
            <a:r>
              <a:rPr lang="en-US" sz="2400" u="sng" dirty="0" smtClean="0"/>
              <a:t>independently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4724400"/>
            <a:ext cx="22860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4876800"/>
            <a:ext cx="3286125" cy="560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OOP &amp;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OO is the ability, through the use of </a:t>
            </a:r>
            <a:r>
              <a:rPr lang="en-US" sz="2400" i="1" dirty="0" smtClean="0">
                <a:solidFill>
                  <a:srgbClr val="C00000"/>
                </a:solidFill>
              </a:rPr>
              <a:t>polymorphism</a:t>
            </a:r>
            <a:r>
              <a:rPr lang="en-US" sz="2400" dirty="0" smtClean="0"/>
              <a:t>, to gain absolute control over every source code dependency in the system.</a:t>
            </a:r>
          </a:p>
          <a:p>
            <a:r>
              <a:rPr lang="en-US" sz="2400" dirty="0" smtClean="0"/>
              <a:t>It allows the architect to create a </a:t>
            </a:r>
            <a:r>
              <a:rPr lang="en-US" sz="2400" i="1" dirty="0" smtClean="0">
                <a:solidFill>
                  <a:srgbClr val="C00000"/>
                </a:solidFill>
              </a:rPr>
              <a:t>plug-in architecture</a:t>
            </a:r>
            <a:r>
              <a:rPr lang="en-US" sz="2400" dirty="0" smtClean="0"/>
              <a:t>, in which modules that contain high-level policies are independent of modules that contain low-level details.</a:t>
            </a:r>
          </a:p>
          <a:p>
            <a:r>
              <a:rPr lang="en-US" sz="2400" dirty="0" smtClean="0"/>
              <a:t>The low-level details are relegated to plug-in modules that can be </a:t>
            </a:r>
            <a:r>
              <a:rPr lang="en-US" sz="2400" i="1" dirty="0" smtClean="0">
                <a:solidFill>
                  <a:srgbClr val="C00000"/>
                </a:solidFill>
              </a:rPr>
              <a:t>deployed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developed independently</a:t>
            </a:r>
            <a:r>
              <a:rPr lang="en-US" sz="2400" dirty="0" smtClean="0"/>
              <a:t> from the modules that contain high-level policies.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Structured programming</a:t>
            </a:r>
            <a:r>
              <a:rPr lang="en-US" sz="2400" dirty="0" smtClean="0"/>
              <a:t> imposes discipline on </a:t>
            </a:r>
            <a:r>
              <a:rPr lang="en-US" sz="2400" u="sng" dirty="0" smtClean="0"/>
              <a:t>direct transfer of control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Object-oriented programming</a:t>
            </a:r>
            <a:r>
              <a:rPr lang="en-US" sz="2400" dirty="0" smtClean="0"/>
              <a:t> imposes discipline on </a:t>
            </a:r>
            <a:r>
              <a:rPr lang="en-US" sz="2400" u="sng" dirty="0" smtClean="0"/>
              <a:t>indirect transfer of control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Functional programming</a:t>
            </a:r>
            <a:r>
              <a:rPr lang="en-US" sz="2400" dirty="0" smtClean="0"/>
              <a:t> imposes discipline upon </a:t>
            </a:r>
            <a:r>
              <a:rPr lang="en-US" sz="2400" u="sng" dirty="0" smtClean="0"/>
              <a:t>assignment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Each of these three paradigms has </a:t>
            </a:r>
            <a:r>
              <a:rPr lang="en-US" sz="2400" i="1" dirty="0" smtClean="0">
                <a:solidFill>
                  <a:srgbClr val="C00000"/>
                </a:solidFill>
              </a:rPr>
              <a:t>taken something away</a:t>
            </a:r>
            <a:r>
              <a:rPr lang="en-US" sz="2400" dirty="0" smtClean="0"/>
              <a:t> from us. What we have learned over the last half-century is </a:t>
            </a:r>
            <a:r>
              <a:rPr lang="en-US" sz="2400" i="1" dirty="0" smtClean="0">
                <a:solidFill>
                  <a:srgbClr val="C00000"/>
                </a:solidFill>
              </a:rPr>
              <a:t>what not to do</a:t>
            </a:r>
            <a:r>
              <a:rPr lang="en-US" sz="2400" i="1" dirty="0" smtClean="0"/>
              <a:t>.</a:t>
            </a:r>
          </a:p>
          <a:p>
            <a:r>
              <a:rPr lang="en-US" sz="2400" dirty="0" smtClean="0"/>
              <a:t>Software—the stuff of computer programs—is composed of sequence, selection, iteration, and indirection. Nothing more. Nothing less.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10256</TotalTime>
  <Words>1350</Words>
  <Application>Microsoft Office PowerPoint</Application>
  <PresentationFormat>On-screen Show (4:3)</PresentationFormat>
  <Paragraphs>110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Object-Oriented Design</vt:lpstr>
      <vt:lpstr>Objectives</vt:lpstr>
      <vt:lpstr>Contents</vt:lpstr>
      <vt:lpstr>References</vt:lpstr>
      <vt:lpstr>Key Ideas</vt:lpstr>
      <vt:lpstr>Steps</vt:lpstr>
      <vt:lpstr>OO Design Methodology [1]</vt:lpstr>
      <vt:lpstr>Booch's OO Design Methodology [2]</vt:lpstr>
      <vt:lpstr>Abstract Data Type Design [3]</vt:lpstr>
      <vt:lpstr>Data-Driven Design</vt:lpstr>
      <vt:lpstr>The Strength of Data-Driven Design</vt:lpstr>
      <vt:lpstr>The Weakness of Data-Driven Design</vt:lpstr>
      <vt:lpstr>The Client/Server Model</vt:lpstr>
      <vt:lpstr>Type of Clients</vt:lpstr>
      <vt:lpstr>Responsibility-Driven Design</vt:lpstr>
      <vt:lpstr>Slide 16</vt:lpstr>
      <vt:lpstr>Designing with Patterns [4]</vt:lpstr>
      <vt:lpstr>Slide 18</vt:lpstr>
      <vt:lpstr>What is OOP? [5]</vt:lpstr>
      <vt:lpstr>Dependency without Polymorphism</vt:lpstr>
      <vt:lpstr>Dependency Inversion</vt:lpstr>
      <vt:lpstr>OOP &amp; Design</vt:lpstr>
      <vt:lpstr>Review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4017</cp:revision>
  <dcterms:created xsi:type="dcterms:W3CDTF">2007-10-06T08:25:13Z</dcterms:created>
  <dcterms:modified xsi:type="dcterms:W3CDTF">2024-04-17T20:22:20Z</dcterms:modified>
</cp:coreProperties>
</file>