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8"/>
  </p:notesMasterIdLst>
  <p:sldIdLst>
    <p:sldId id="256" r:id="rId2"/>
    <p:sldId id="480" r:id="rId3"/>
    <p:sldId id="499" r:id="rId4"/>
    <p:sldId id="358" r:id="rId5"/>
    <p:sldId id="495" r:id="rId6"/>
    <p:sldId id="436" r:id="rId7"/>
    <p:sldId id="423" r:id="rId8"/>
    <p:sldId id="424" r:id="rId9"/>
    <p:sldId id="483" r:id="rId10"/>
    <p:sldId id="463" r:id="rId11"/>
    <p:sldId id="500" r:id="rId12"/>
    <p:sldId id="498" r:id="rId13"/>
    <p:sldId id="433" r:id="rId14"/>
    <p:sldId id="501" r:id="rId15"/>
    <p:sldId id="444" r:id="rId16"/>
    <p:sldId id="435" r:id="rId17"/>
    <p:sldId id="422" r:id="rId18"/>
    <p:sldId id="502" r:id="rId19"/>
    <p:sldId id="446" r:id="rId20"/>
    <p:sldId id="447" r:id="rId21"/>
    <p:sldId id="448" r:id="rId22"/>
    <p:sldId id="449" r:id="rId23"/>
    <p:sldId id="450" r:id="rId24"/>
    <p:sldId id="451" r:id="rId25"/>
    <p:sldId id="452" r:id="rId26"/>
    <p:sldId id="453" r:id="rId27"/>
    <p:sldId id="454" r:id="rId28"/>
    <p:sldId id="455" r:id="rId29"/>
    <p:sldId id="496" r:id="rId30"/>
    <p:sldId id="457" r:id="rId31"/>
    <p:sldId id="458" r:id="rId32"/>
    <p:sldId id="459" r:id="rId33"/>
    <p:sldId id="460" r:id="rId34"/>
    <p:sldId id="481" r:id="rId35"/>
    <p:sldId id="485" r:id="rId36"/>
    <p:sldId id="486" r:id="rId37"/>
    <p:sldId id="487" r:id="rId38"/>
    <p:sldId id="489" r:id="rId39"/>
    <p:sldId id="488" r:id="rId40"/>
    <p:sldId id="504" r:id="rId41"/>
    <p:sldId id="505" r:id="rId42"/>
    <p:sldId id="491" r:id="rId43"/>
    <p:sldId id="492" r:id="rId44"/>
    <p:sldId id="493" r:id="rId45"/>
    <p:sldId id="494" r:id="rId46"/>
    <p:sldId id="359" r:id="rId4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485" autoAdjust="0"/>
    <p:restoredTop sz="94667" autoAdjust="0"/>
  </p:normalViewPr>
  <p:slideViewPr>
    <p:cSldViewPr>
      <p:cViewPr>
        <p:scale>
          <a:sx n="50" d="100"/>
          <a:sy n="50" d="100"/>
        </p:scale>
        <p:origin x="-1592" y="-482"/>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4026E6-0412-4830-8F06-DF45033103D5}" type="datetimeFigureOut">
              <a:rPr lang="en-US" smtClean="0"/>
              <a:pPr/>
              <a:t>4/15/2025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21BAC6-1780-4248-A045-EEDC4FD7C3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F8F1E381-20DA-4745-B537-35B514BA6DD7}" type="datetimeFigureOut">
              <a:rPr lang="en-US"/>
              <a:pPr>
                <a:defRPr/>
              </a:pPr>
              <a:t>4/15/2025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4EF19F-72C6-4835-B8F9-C4043AB145C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656C9F8-4ECB-4B63-B927-93DB51F662D0}" type="datetimeFigureOut">
              <a:rPr lang="en-US"/>
              <a:pPr>
                <a:defRPr/>
              </a:pPr>
              <a:t>4/15/2025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E5146C-45A3-4063-B945-A6E828CB1A7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120DA55-A2EA-4E91-9DF8-848564DA5A8C}" type="datetimeFigureOut">
              <a:rPr lang="en-US"/>
              <a:pPr>
                <a:defRPr/>
              </a:pPr>
              <a:t>4/15/2025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502FCE2-22A4-4D22-98FA-0E266C50229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82FE22C-AAA6-4859-915C-7CA8A229741E}" type="datetimeFigureOut">
              <a:rPr lang="en-US"/>
              <a:pPr>
                <a:defRPr/>
              </a:pPr>
              <a:t>4/15/2025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94E97B5-865B-4943-9516-8680CA16C72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DB4DA2C-F6C4-40D9-95C2-7E16780900E4}" type="datetimeFigureOut">
              <a:rPr lang="en-US"/>
              <a:pPr>
                <a:defRPr/>
              </a:pPr>
              <a:t>4/15/2025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79A6762-FCC9-4A4D-B55E-A9AEAC8C426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B02FA20-63C4-4E2F-BBAB-9D9ECDF79A55}" type="datetimeFigureOut">
              <a:rPr lang="en-US"/>
              <a:pPr>
                <a:defRPr/>
              </a:pPr>
              <a:t>4/15/2025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D571E3C-6E5C-4814-A904-273FE3A958C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4E24579-F551-4401-BD9C-1A956A73C8B1}" type="datetimeFigureOut">
              <a:rPr lang="en-US"/>
              <a:pPr>
                <a:defRPr/>
              </a:pPr>
              <a:t>4/15/2025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E24CBAC-259E-4BF8-ACF6-FAB2C68750F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04B6935-2E86-4F35-979C-26D8DA31E11B}" type="datetimeFigureOut">
              <a:rPr lang="en-US"/>
              <a:pPr>
                <a:defRPr/>
              </a:pPr>
              <a:t>4/15/2025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049D8DE-4736-4786-A76F-BA4BFA66C35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34642AA-84FD-46EB-91FE-F301FD1B086D}" type="datetimeFigureOut">
              <a:rPr lang="en-US"/>
              <a:pPr>
                <a:defRPr/>
              </a:pPr>
              <a:t>4/15/2025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2E0BD26-494C-4707-B45F-1E41DB7E206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67AB78B-B950-4223-B948-C26A4E4BFB92}" type="datetimeFigureOut">
              <a:rPr lang="en-US"/>
              <a:pPr>
                <a:defRPr/>
              </a:pPr>
              <a:t>4/15/2025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0435AB7-6027-4C00-A9DE-A82D1F9B718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8E790DE-6227-4769-B4D1-A285E0E78CE4}" type="datetimeFigureOut">
              <a:rPr lang="en-US"/>
              <a:pPr>
                <a:defRPr/>
              </a:pPr>
              <a:t>4/15/2025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F58F97A-8135-4157-8FDD-A5EB0FEF561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C44B157-FED2-4AB7-A096-BDB0B5D2F088}" type="datetimeFigureOut">
              <a:rPr lang="en-US"/>
              <a:pPr>
                <a:defRPr/>
              </a:pPr>
              <a:t>4/15/2025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BD64C92-C51E-4B83-930E-D172469398A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Software Architecture Evaluation</a:t>
            </a:r>
          </a:p>
        </p:txBody>
      </p:sp>
      <p:sp>
        <p:nvSpPr>
          <p:cNvPr id="5" name="Subtitle 2"/>
          <p:cNvSpPr>
            <a:spLocks noGrp="1"/>
          </p:cNvSpPr>
          <p:nvPr>
            <p:ph type="subTitle" idx="1"/>
          </p:nvPr>
        </p:nvSpPr>
        <p:spPr>
          <a:xfrm>
            <a:off x="1371600" y="3886200"/>
            <a:ext cx="6400800" cy="1752600"/>
          </a:xfrm>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410200" cy="3048000"/>
          </a:xfrm>
        </p:spPr>
        <p:txBody>
          <a:bodyPr/>
          <a:lstStyle/>
          <a:p>
            <a:pPr>
              <a:buFont typeface="Wingdings" pitchFamily="2" charset="2"/>
              <a:buChar char="Ø"/>
            </a:pPr>
            <a:r>
              <a:rPr lang="en-US" sz="2400" dirty="0" smtClean="0"/>
              <a:t>To present </a:t>
            </a:r>
            <a:r>
              <a:rPr lang="en-US" sz="2400" i="1" dirty="0" smtClean="0">
                <a:solidFill>
                  <a:srgbClr val="C00000"/>
                </a:solidFill>
              </a:rPr>
              <a:t>why</a:t>
            </a:r>
            <a:r>
              <a:rPr lang="en-US" sz="2400" dirty="0" smtClean="0"/>
              <a:t> software architecture evaluation.</a:t>
            </a:r>
            <a:endParaRPr lang="en-US" sz="2400" i="1" dirty="0" smtClean="0">
              <a:solidFill>
                <a:srgbClr val="C00000"/>
              </a:solidFill>
            </a:endParaRPr>
          </a:p>
          <a:p>
            <a:pPr>
              <a:buFont typeface="Wingdings" pitchFamily="2" charset="2"/>
              <a:buChar char="Ø"/>
            </a:pPr>
            <a:r>
              <a:rPr lang="en-US" sz="2400" dirty="0" smtClean="0"/>
              <a:t>To present </a:t>
            </a:r>
            <a:r>
              <a:rPr lang="en-US" sz="2400" i="1" dirty="0" smtClean="0">
                <a:solidFill>
                  <a:srgbClr val="C00000"/>
                </a:solidFill>
              </a:rPr>
              <a:t>ATAM</a:t>
            </a:r>
            <a:r>
              <a:rPr lang="en-US" sz="2400" dirty="0" smtClean="0"/>
              <a:t> and </a:t>
            </a:r>
            <a:r>
              <a:rPr lang="en-US" sz="2400" i="1" dirty="0" smtClean="0">
                <a:solidFill>
                  <a:srgbClr val="C00000"/>
                </a:solidFill>
              </a:rPr>
              <a:t>CBAM method</a:t>
            </a:r>
            <a:r>
              <a:rPr lang="en-US" sz="2400" dirty="0" smtClean="0"/>
              <a:t>.</a:t>
            </a:r>
          </a:p>
        </p:txBody>
      </p:sp>
      <p:pic>
        <p:nvPicPr>
          <p:cNvPr id="4" name="Picture 2"/>
          <p:cNvPicPr>
            <a:picLocks noChangeAspect="1" noChangeArrowheads="1"/>
          </p:cNvPicPr>
          <p:nvPr/>
        </p:nvPicPr>
        <p:blipFill>
          <a:blip r:embed="rId2" cstate="print"/>
          <a:srcRect/>
          <a:stretch>
            <a:fillRect/>
          </a:stretch>
        </p:blipFill>
        <p:spPr bwMode="auto">
          <a:xfrm>
            <a:off x="5791200" y="1828800"/>
            <a:ext cx="2762250" cy="211455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Software Architecture Evaluation</a:t>
            </a:r>
            <a:r>
              <a:rPr lang="en-US" sz="2400" dirty="0" smtClean="0"/>
              <a:t>.</a:t>
            </a:r>
          </a:p>
          <a:p>
            <a:pPr marL="571500" indent="-571500">
              <a:buFont typeface="+mj-lt"/>
              <a:buAutoNum type="romanUcPeriod"/>
            </a:pPr>
            <a:r>
              <a:rPr lang="en-US" sz="2400" dirty="0" smtClean="0"/>
              <a:t>Scenarios Based </a:t>
            </a:r>
            <a:r>
              <a:rPr lang="en-US" sz="2400" dirty="0" smtClean="0"/>
              <a:t>Evaluation.</a:t>
            </a:r>
            <a:endParaRPr lang="en-US" sz="2400" dirty="0" smtClean="0"/>
          </a:p>
          <a:p>
            <a:pPr marL="571500" indent="-571500">
              <a:buFont typeface="+mj-lt"/>
              <a:buAutoNum type="romanUcPeriod"/>
            </a:pPr>
            <a:r>
              <a:rPr lang="en-US" sz="2400" dirty="0" smtClean="0"/>
              <a:t>Architecture </a:t>
            </a:r>
            <a:r>
              <a:rPr lang="en-US" sz="2400" dirty="0" smtClean="0"/>
              <a:t>Tradeoff Analysis Method (ATAM).</a:t>
            </a:r>
          </a:p>
          <a:p>
            <a:pPr marL="571500" indent="-571500">
              <a:buFont typeface="+mj-lt"/>
              <a:buAutoNum type="romanUcPeriod"/>
            </a:pPr>
            <a:r>
              <a:rPr lang="en-US" sz="2400" dirty="0" smtClean="0"/>
              <a:t>Chemical </a:t>
            </a:r>
            <a:r>
              <a:rPr lang="en-US" sz="2400" dirty="0" smtClean="0"/>
              <a:t>Abstract Machine</a:t>
            </a:r>
            <a:r>
              <a:rPr lang="en-US" sz="2400" dirty="0" smtClean="0"/>
              <a:t>.</a:t>
            </a:r>
          </a:p>
          <a:p>
            <a:pPr marL="571500" indent="-571500">
              <a:buFont typeface="+mj-lt"/>
              <a:buAutoNum type="romanUcPeriod"/>
            </a:pPr>
            <a:r>
              <a:rPr lang="en-US" sz="2400" dirty="0" smtClean="0"/>
              <a:t>Metric Based </a:t>
            </a:r>
            <a:r>
              <a:rPr lang="en-US" sz="2400" dirty="0" smtClean="0"/>
              <a:t>Evaluation.</a:t>
            </a: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304800" y="1600200"/>
            <a:ext cx="5867400" cy="4724400"/>
          </a:xfrm>
        </p:spPr>
        <p:txBody>
          <a:bodyPr/>
          <a:lstStyle/>
          <a:p>
            <a:pPr marL="457200" indent="-457200">
              <a:buFont typeface="+mj-lt"/>
              <a:buAutoNum type="arabicPeriod"/>
            </a:pPr>
            <a:r>
              <a:rPr lang="en-US" sz="1800" dirty="0" err="1" smtClean="0"/>
              <a:t>Banani</a:t>
            </a:r>
            <a:r>
              <a:rPr lang="en-US" sz="1800" dirty="0" smtClean="0"/>
              <a:t> Roy and T.C. Nicholas Graham (2008). Methods for Evaluating Software Architecture : A Survey.</a:t>
            </a:r>
          </a:p>
          <a:p>
            <a:pPr marL="457200" indent="-457200">
              <a:buFont typeface="+mj-lt"/>
              <a:buAutoNum type="arabicPeriod"/>
            </a:pPr>
            <a:r>
              <a:rPr lang="en-US" sz="1800" dirty="0" smtClean="0"/>
              <a:t>Rick </a:t>
            </a:r>
            <a:r>
              <a:rPr lang="en-US" sz="1800" dirty="0" err="1" smtClean="0"/>
              <a:t>Kazman</a:t>
            </a:r>
            <a:r>
              <a:rPr lang="en-US" sz="1800" dirty="0" smtClean="0"/>
              <a:t>, Mark Klein and Paul Clements (2000). ATAM: Method for Architecture Evaluation.</a:t>
            </a:r>
          </a:p>
          <a:p>
            <a:pPr marL="457200" indent="-457200">
              <a:buFont typeface="+mj-lt"/>
              <a:buAutoNum type="arabicPeriod"/>
            </a:pPr>
            <a:r>
              <a:rPr lang="en-US" sz="1800" dirty="0" smtClean="0"/>
              <a:t>R. </a:t>
            </a:r>
            <a:r>
              <a:rPr lang="en-US" sz="1800" dirty="0" err="1" smtClean="0"/>
              <a:t>Kazman</a:t>
            </a:r>
            <a:r>
              <a:rPr lang="en-US" sz="1800" dirty="0" smtClean="0"/>
              <a:t>, M. Klein and P. Clements (1998). Evaluating Software Architectures for Real-Time Systems.</a:t>
            </a:r>
          </a:p>
          <a:p>
            <a:pPr marL="457200" indent="-457200">
              <a:buFont typeface="+mj-lt"/>
              <a:buAutoNum type="arabicPeriod"/>
            </a:pPr>
            <a:r>
              <a:rPr lang="en-US" sz="1800" dirty="0" smtClean="0"/>
              <a:t>Rick </a:t>
            </a:r>
            <a:r>
              <a:rPr lang="en-US" sz="1800" dirty="0" err="1" smtClean="0"/>
              <a:t>Kazman</a:t>
            </a:r>
            <a:r>
              <a:rPr lang="en-US" sz="1800" dirty="0" smtClean="0"/>
              <a:t>, Jai </a:t>
            </a:r>
            <a:r>
              <a:rPr lang="en-US" sz="1800" dirty="0" err="1" smtClean="0"/>
              <a:t>Asundi</a:t>
            </a:r>
            <a:r>
              <a:rPr lang="en-US" sz="1800" dirty="0" smtClean="0"/>
              <a:t> and Mark Klein (2002). Making Architecture Design Decisions: An Economic Approach.</a:t>
            </a:r>
          </a:p>
          <a:p>
            <a:pPr marL="457200" indent="-457200">
              <a:buFont typeface="+mj-lt"/>
              <a:buAutoNum type="arabicPeriod"/>
            </a:pPr>
            <a:r>
              <a:rPr lang="en-US" sz="1800" dirty="0" smtClean="0"/>
              <a:t>Debra J. Richardson and Alexander L. Wolf (1996). Software Testing at the Architectural Level.</a:t>
            </a:r>
          </a:p>
          <a:p>
            <a:pPr marL="457200" indent="-457200">
              <a:buFont typeface="+mj-lt"/>
              <a:buAutoNum type="arabicPeriod"/>
            </a:pPr>
            <a:r>
              <a:rPr lang="en-US" sz="1800" dirty="0" smtClean="0"/>
              <a:t>Jan Bosch and Peter </a:t>
            </a:r>
            <a:r>
              <a:rPr lang="en-US" sz="1800" dirty="0" err="1" smtClean="0"/>
              <a:t>Molin</a:t>
            </a:r>
            <a:r>
              <a:rPr lang="en-US" sz="1800" dirty="0" smtClean="0"/>
              <a:t> (1999). Software Architecture Design Evaluation and Transformation.</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67450" y="17526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Software Architecture Evaluation [1]</a:t>
            </a:r>
            <a:endParaRPr lang="en-US" sz="4000" dirty="0"/>
          </a:p>
        </p:txBody>
      </p:sp>
      <p:sp>
        <p:nvSpPr>
          <p:cNvPr id="3" name="Content Placeholder 2"/>
          <p:cNvSpPr>
            <a:spLocks noGrp="1"/>
          </p:cNvSpPr>
          <p:nvPr>
            <p:ph idx="1"/>
          </p:nvPr>
        </p:nvSpPr>
        <p:spPr/>
        <p:txBody>
          <a:bodyPr/>
          <a:lstStyle/>
          <a:p>
            <a:r>
              <a:rPr lang="en-US" sz="2200" dirty="0" smtClean="0"/>
              <a:t>One of the solutions </a:t>
            </a:r>
            <a:r>
              <a:rPr lang="en-US" sz="2200" i="1" dirty="0" smtClean="0">
                <a:solidFill>
                  <a:srgbClr val="C00000"/>
                </a:solidFill>
              </a:rPr>
              <a:t>to cope with architectural mistakes</a:t>
            </a:r>
            <a:r>
              <a:rPr lang="en-US" sz="2200" dirty="0" smtClean="0"/>
              <a:t> is to </a:t>
            </a:r>
            <a:r>
              <a:rPr lang="en-US" sz="2200" u="sng" dirty="0" smtClean="0"/>
              <a:t>evaluate the software architecture</a:t>
            </a:r>
            <a:r>
              <a:rPr lang="en-US" sz="2200" dirty="0" smtClean="0"/>
              <a:t> of a software system </a:t>
            </a:r>
            <a:r>
              <a:rPr lang="en-US" sz="2200" u="sng" dirty="0" smtClean="0"/>
              <a:t>against the problem statements</a:t>
            </a:r>
            <a:r>
              <a:rPr lang="en-US" sz="2200" dirty="0" smtClean="0"/>
              <a:t> and the </a:t>
            </a:r>
            <a:r>
              <a:rPr lang="en-US" sz="2200" u="sng" dirty="0" smtClean="0"/>
              <a:t>requirement specifications</a:t>
            </a:r>
            <a:r>
              <a:rPr lang="en-US" sz="2200" dirty="0" smtClean="0"/>
              <a:t>. (WHY)</a:t>
            </a:r>
          </a:p>
          <a:p>
            <a:r>
              <a:rPr lang="en-US" sz="2200" i="1" dirty="0" smtClean="0">
                <a:solidFill>
                  <a:srgbClr val="C00000"/>
                </a:solidFill>
              </a:rPr>
              <a:t>Software architecture evaluation</a:t>
            </a:r>
            <a:r>
              <a:rPr lang="en-US" sz="2200" dirty="0" smtClean="0"/>
              <a:t> is a </a:t>
            </a:r>
            <a:r>
              <a:rPr lang="en-US" sz="2200" u="sng" dirty="0" smtClean="0"/>
              <a:t>technique</a:t>
            </a:r>
            <a:r>
              <a:rPr lang="en-US" sz="2200" dirty="0" smtClean="0"/>
              <a:t> or </a:t>
            </a:r>
            <a:r>
              <a:rPr lang="en-US" sz="2200" u="sng" dirty="0" smtClean="0"/>
              <a:t>method</a:t>
            </a:r>
            <a:r>
              <a:rPr lang="en-US" sz="2200" dirty="0" smtClean="0"/>
              <a:t> which determines the properties, strengths and weaknesses of </a:t>
            </a:r>
            <a:r>
              <a:rPr lang="en-US" sz="2200" u="sng" dirty="0" smtClean="0"/>
              <a:t>a software architecture</a:t>
            </a:r>
            <a:r>
              <a:rPr lang="en-US" sz="2200" dirty="0" smtClean="0"/>
              <a:t> or </a:t>
            </a:r>
            <a:r>
              <a:rPr lang="en-US" sz="2200" u="sng" dirty="0" smtClean="0"/>
              <a:t>a software architectural style</a:t>
            </a:r>
            <a:r>
              <a:rPr lang="en-US" sz="2200" dirty="0" smtClean="0"/>
              <a:t> or </a:t>
            </a:r>
            <a:r>
              <a:rPr lang="en-US" sz="2200" u="sng" dirty="0" smtClean="0"/>
              <a:t>a design pattern</a:t>
            </a:r>
            <a:r>
              <a:rPr lang="en-US" sz="2200" dirty="0" smtClean="0"/>
              <a:t>. (WHAT)</a:t>
            </a:r>
          </a:p>
          <a:p>
            <a:r>
              <a:rPr lang="en-US" sz="2200" dirty="0" smtClean="0"/>
              <a:t>Software architectural evaluation provides assurance to developers that their chosen architecture will </a:t>
            </a:r>
            <a:r>
              <a:rPr lang="en-US" sz="2200" i="1" dirty="0" smtClean="0">
                <a:solidFill>
                  <a:srgbClr val="C00000"/>
                </a:solidFill>
              </a:rPr>
              <a:t>meet</a:t>
            </a:r>
            <a:r>
              <a:rPr lang="en-US" sz="2200" dirty="0" smtClean="0"/>
              <a:t> both functional and non-functional quality </a:t>
            </a:r>
            <a:r>
              <a:rPr lang="en-US" sz="2200" u="sng" dirty="0" smtClean="0"/>
              <a:t>requirements</a:t>
            </a:r>
            <a:r>
              <a:rPr lang="en-US" sz="2200" dirty="0" smtClean="0"/>
              <a:t>. (WHY)</a:t>
            </a:r>
          </a:p>
          <a:p>
            <a:r>
              <a:rPr lang="en-US" sz="2200" dirty="0" smtClean="0"/>
              <a:t>The main two opportunities for evaluation are </a:t>
            </a:r>
            <a:r>
              <a:rPr lang="en-US" sz="2200" i="1" dirty="0" smtClean="0">
                <a:solidFill>
                  <a:srgbClr val="C00000"/>
                </a:solidFill>
              </a:rPr>
              <a:t>before</a:t>
            </a:r>
            <a:r>
              <a:rPr lang="en-US" sz="2200" dirty="0" smtClean="0"/>
              <a:t> and </a:t>
            </a:r>
            <a:r>
              <a:rPr lang="en-US" sz="2200" i="1" dirty="0" smtClean="0">
                <a:solidFill>
                  <a:srgbClr val="C00000"/>
                </a:solidFill>
              </a:rPr>
              <a:t>after implementation</a:t>
            </a:r>
            <a:r>
              <a:rPr lang="en-US" sz="2200" dirty="0" smtClean="0"/>
              <a:t>. (WHEN)</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Why  Software Architecture Evaluation? [2]</a:t>
            </a:r>
            <a:endParaRPr lang="en-US" sz="3600" dirty="0"/>
          </a:p>
        </p:txBody>
      </p:sp>
      <p:sp>
        <p:nvSpPr>
          <p:cNvPr id="3" name="Content Placeholder 2"/>
          <p:cNvSpPr>
            <a:spLocks noGrp="1"/>
          </p:cNvSpPr>
          <p:nvPr>
            <p:ph idx="1"/>
          </p:nvPr>
        </p:nvSpPr>
        <p:spPr>
          <a:xfrm>
            <a:off x="457200" y="1600200"/>
            <a:ext cx="6096000" cy="4525963"/>
          </a:xfrm>
        </p:spPr>
        <p:txBody>
          <a:bodyPr/>
          <a:lstStyle/>
          <a:p>
            <a:r>
              <a:rPr lang="en-US" sz="2200" dirty="0" smtClean="0"/>
              <a:t>If a software architecture is a key business asset for an organization, then </a:t>
            </a:r>
            <a:r>
              <a:rPr lang="en-US" sz="2200" i="1" dirty="0" smtClean="0">
                <a:solidFill>
                  <a:srgbClr val="C00000"/>
                </a:solidFill>
              </a:rPr>
              <a:t>architectural analysis</a:t>
            </a:r>
            <a:r>
              <a:rPr lang="en-US" sz="2200" dirty="0" smtClean="0"/>
              <a:t> must also be </a:t>
            </a:r>
            <a:r>
              <a:rPr lang="en-US" sz="2200" u="sng" dirty="0" smtClean="0"/>
              <a:t>a key practice</a:t>
            </a:r>
            <a:r>
              <a:rPr lang="en-US" sz="2200" dirty="0" smtClean="0"/>
              <a:t> for that organization. Why? </a:t>
            </a:r>
          </a:p>
          <a:p>
            <a:r>
              <a:rPr lang="en-US" sz="2200" dirty="0" smtClean="0"/>
              <a:t>Because architectures are complex and involve many </a:t>
            </a:r>
            <a:r>
              <a:rPr lang="en-US" sz="2200" i="1" dirty="0" smtClean="0">
                <a:solidFill>
                  <a:srgbClr val="C00000"/>
                </a:solidFill>
              </a:rPr>
              <a:t>design tradeoffs</a:t>
            </a:r>
            <a:r>
              <a:rPr lang="en-US" sz="2200" dirty="0" smtClean="0"/>
              <a:t>.</a:t>
            </a:r>
          </a:p>
          <a:p>
            <a:r>
              <a:rPr lang="en-US" sz="2200" dirty="0" smtClean="0"/>
              <a:t>Without undertaking </a:t>
            </a:r>
            <a:r>
              <a:rPr lang="en-US" sz="2200" i="1" dirty="0" smtClean="0">
                <a:solidFill>
                  <a:srgbClr val="C00000"/>
                </a:solidFill>
              </a:rPr>
              <a:t>a formal analysis </a:t>
            </a:r>
            <a:r>
              <a:rPr lang="en-US" sz="2200" i="1" u="sng" dirty="0" smtClean="0">
                <a:solidFill>
                  <a:srgbClr val="C00000"/>
                </a:solidFill>
              </a:rPr>
              <a:t>process</a:t>
            </a:r>
            <a:r>
              <a:rPr lang="en-US" sz="2200" dirty="0" smtClean="0"/>
              <a:t>, the organization </a:t>
            </a:r>
            <a:r>
              <a:rPr lang="en-US" sz="2200" u="sng" dirty="0" smtClean="0"/>
              <a:t>cannot ensure</a:t>
            </a:r>
            <a:r>
              <a:rPr lang="en-US" sz="2200" dirty="0" smtClean="0"/>
              <a:t> that the architectural decisions made — particularly those which affect the achievement of quality attribute such as </a:t>
            </a:r>
            <a:r>
              <a:rPr lang="en-US" sz="2200" u="sng" dirty="0" smtClean="0"/>
              <a:t>performance</a:t>
            </a:r>
            <a:r>
              <a:rPr lang="en-US" sz="2200" dirty="0" smtClean="0"/>
              <a:t>, </a:t>
            </a:r>
            <a:r>
              <a:rPr lang="en-US" sz="2200" u="sng" dirty="0" smtClean="0"/>
              <a:t>availability</a:t>
            </a:r>
            <a:r>
              <a:rPr lang="en-US" sz="2200" dirty="0" smtClean="0"/>
              <a:t>, </a:t>
            </a:r>
            <a:r>
              <a:rPr lang="en-US" sz="2200" u="sng" dirty="0" smtClean="0"/>
              <a:t>security</a:t>
            </a:r>
            <a:r>
              <a:rPr lang="en-US" sz="2200" dirty="0" smtClean="0"/>
              <a:t>, and </a:t>
            </a:r>
            <a:r>
              <a:rPr lang="en-US" sz="2200" u="sng" dirty="0" smtClean="0"/>
              <a:t>modifiability</a:t>
            </a:r>
            <a:r>
              <a:rPr lang="en-US" sz="2200" dirty="0" smtClean="0"/>
              <a:t> — are advisable ones that appropriately </a:t>
            </a:r>
            <a:r>
              <a:rPr lang="en-US" sz="2200" u="sng" dirty="0" smtClean="0"/>
              <a:t>mitigate risks</a:t>
            </a:r>
            <a:r>
              <a:rPr lang="en-US" sz="2200" dirty="0" smtClean="0"/>
              <a:t>.</a:t>
            </a:r>
            <a:endParaRPr lang="en-US" sz="2200" dirty="0"/>
          </a:p>
        </p:txBody>
      </p:sp>
      <p:pic>
        <p:nvPicPr>
          <p:cNvPr id="39937" name="Picture 1"/>
          <p:cNvPicPr>
            <a:picLocks noChangeAspect="1" noChangeArrowheads="1"/>
          </p:cNvPicPr>
          <p:nvPr/>
        </p:nvPicPr>
        <p:blipFill>
          <a:blip r:embed="rId2" cstate="print"/>
          <a:srcRect/>
          <a:stretch>
            <a:fillRect/>
          </a:stretch>
        </p:blipFill>
        <p:spPr bwMode="auto">
          <a:xfrm>
            <a:off x="6858000" y="2895600"/>
            <a:ext cx="1611630" cy="151638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Who Evaluates Software Architecture? [3]</a:t>
            </a:r>
            <a:endParaRPr lang="en-US" sz="3600" dirty="0"/>
          </a:p>
        </p:txBody>
      </p:sp>
      <p:sp>
        <p:nvSpPr>
          <p:cNvPr id="3" name="Content Placeholder 2"/>
          <p:cNvSpPr>
            <a:spLocks noGrp="1"/>
          </p:cNvSpPr>
          <p:nvPr>
            <p:ph idx="1"/>
          </p:nvPr>
        </p:nvSpPr>
        <p:spPr>
          <a:xfrm>
            <a:off x="457200" y="1600200"/>
            <a:ext cx="5715000" cy="4525963"/>
          </a:xfrm>
        </p:spPr>
        <p:txBody>
          <a:bodyPr/>
          <a:lstStyle/>
          <a:p>
            <a:r>
              <a:rPr lang="en-US" sz="2200" i="1" dirty="0" smtClean="0">
                <a:solidFill>
                  <a:srgbClr val="C00000"/>
                </a:solidFill>
              </a:rPr>
              <a:t>Stakeholders</a:t>
            </a:r>
            <a:r>
              <a:rPr lang="en-US" sz="2200" dirty="0" smtClean="0"/>
              <a:t>: coders, integrators, testers, maintainers, and so forth.</a:t>
            </a:r>
          </a:p>
          <a:p>
            <a:pPr lvl="1"/>
            <a:r>
              <a:rPr lang="en-US" sz="2000" dirty="0" smtClean="0"/>
              <a:t>Stakeholders articulate the specific requirements that are levied on the architecture, above and beyond the requirements that state what functionality the system is supposed to exhibit.</a:t>
            </a:r>
            <a:endParaRPr lang="en-US" sz="2400" i="1" dirty="0" smtClean="0">
              <a:solidFill>
                <a:srgbClr val="C00000"/>
              </a:solidFill>
            </a:endParaRPr>
          </a:p>
          <a:p>
            <a:r>
              <a:rPr lang="en-US" sz="2200" i="1" dirty="0" smtClean="0">
                <a:solidFill>
                  <a:srgbClr val="C00000"/>
                </a:solidFill>
              </a:rPr>
              <a:t>Project decision-makers</a:t>
            </a:r>
            <a:r>
              <a:rPr lang="en-US" sz="2200" dirty="0" smtClean="0"/>
              <a:t>: architect, designers of components, and project’s management.</a:t>
            </a:r>
          </a:p>
          <a:p>
            <a:r>
              <a:rPr lang="en-US" sz="2200" i="1" dirty="0" smtClean="0">
                <a:solidFill>
                  <a:srgbClr val="C00000"/>
                </a:solidFill>
              </a:rPr>
              <a:t>Evaluation team</a:t>
            </a:r>
            <a:r>
              <a:rPr lang="en-US" sz="2200" dirty="0" smtClean="0"/>
              <a:t>. These are the people who will conduct the evaluation and perform the analysis.</a:t>
            </a:r>
          </a:p>
        </p:txBody>
      </p:sp>
      <p:pic>
        <p:nvPicPr>
          <p:cNvPr id="5" name="Picture 1"/>
          <p:cNvPicPr>
            <a:picLocks noChangeAspect="1" noChangeArrowheads="1"/>
          </p:cNvPicPr>
          <p:nvPr/>
        </p:nvPicPr>
        <p:blipFill>
          <a:blip r:embed="rId2" cstate="print"/>
          <a:srcRect/>
          <a:stretch>
            <a:fillRect/>
          </a:stretch>
        </p:blipFill>
        <p:spPr bwMode="auto">
          <a:xfrm>
            <a:off x="6324600" y="2895600"/>
            <a:ext cx="2222500" cy="131445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What Does the Evaluation Produce?</a:t>
            </a:r>
            <a:endParaRPr lang="en-US" sz="4200" dirty="0"/>
          </a:p>
        </p:txBody>
      </p:sp>
      <p:sp>
        <p:nvSpPr>
          <p:cNvPr id="3" name="Content Placeholder 2"/>
          <p:cNvSpPr>
            <a:spLocks noGrp="1"/>
          </p:cNvSpPr>
          <p:nvPr>
            <p:ph idx="1"/>
          </p:nvPr>
        </p:nvSpPr>
        <p:spPr>
          <a:xfrm>
            <a:off x="457200" y="1600200"/>
            <a:ext cx="4953000" cy="4525963"/>
          </a:xfrm>
        </p:spPr>
        <p:txBody>
          <a:bodyPr/>
          <a:lstStyle/>
          <a:p>
            <a:r>
              <a:rPr lang="en-US" sz="2400" dirty="0" smtClean="0"/>
              <a:t>In concrete terms, an architecture evaluation produces </a:t>
            </a:r>
            <a:r>
              <a:rPr lang="en-US" sz="2400" i="1" dirty="0" smtClean="0">
                <a:solidFill>
                  <a:srgbClr val="C00000"/>
                </a:solidFill>
              </a:rPr>
              <a:t>a report</a:t>
            </a:r>
            <a:r>
              <a:rPr lang="en-US" sz="2400" dirty="0" smtClean="0"/>
              <a:t>.</a:t>
            </a:r>
          </a:p>
          <a:p>
            <a:r>
              <a:rPr lang="en-US" sz="2400" dirty="0" smtClean="0"/>
              <a:t>In particular, it produces answers to the following kinds of questions:</a:t>
            </a:r>
          </a:p>
          <a:p>
            <a:pPr lvl="1"/>
            <a:r>
              <a:rPr lang="en-US" sz="2000" dirty="0" smtClean="0"/>
              <a:t>Is this architecture </a:t>
            </a:r>
            <a:r>
              <a:rPr lang="en-US" sz="2000" i="1" dirty="0" smtClean="0">
                <a:solidFill>
                  <a:srgbClr val="C00000"/>
                </a:solidFill>
              </a:rPr>
              <a:t>suitable</a:t>
            </a:r>
            <a:r>
              <a:rPr lang="en-US" sz="2000" dirty="0" smtClean="0"/>
              <a:t> for the system for which it was designed?</a:t>
            </a:r>
          </a:p>
          <a:p>
            <a:pPr lvl="1"/>
            <a:r>
              <a:rPr lang="en-US" sz="2000" dirty="0" smtClean="0"/>
              <a:t>Which of </a:t>
            </a:r>
            <a:r>
              <a:rPr lang="en-US" sz="2000" u="sng" dirty="0" smtClean="0"/>
              <a:t>two or more</a:t>
            </a:r>
            <a:r>
              <a:rPr lang="en-US" sz="2000" dirty="0" smtClean="0"/>
              <a:t> competing architectures is the </a:t>
            </a:r>
            <a:r>
              <a:rPr lang="en-US" sz="2000" i="1" dirty="0" smtClean="0">
                <a:solidFill>
                  <a:srgbClr val="C00000"/>
                </a:solidFill>
              </a:rPr>
              <a:t>most suitable</a:t>
            </a:r>
            <a:r>
              <a:rPr lang="en-US" sz="2000" dirty="0" smtClean="0"/>
              <a:t> one for the system at hand?</a:t>
            </a:r>
          </a:p>
        </p:txBody>
      </p:sp>
      <p:sp>
        <p:nvSpPr>
          <p:cNvPr id="37894" name="AutoShape 6" descr="https://static.vecteezy.com/system/resources/previews/054/593/470/non_2x/key-business-evaluation-report-icon-vector.jpg"/>
          <p:cNvSpPr>
            <a:spLocks noChangeAspect="1" noChangeArrowheads="1"/>
          </p:cNvSpPr>
          <p:nvPr/>
        </p:nvSpPr>
        <p:spPr bwMode="auto">
          <a:xfrm>
            <a:off x="155575" y="-2590800"/>
            <a:ext cx="5400675" cy="5400675"/>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7896" name="Picture 8" descr="https://static.vecteezy.com/system/resources/previews/042/387/723/non_2x/evaluation-report-icon-line-illustration-vector.jpg"/>
          <p:cNvPicPr>
            <a:picLocks noChangeAspect="1" noChangeArrowheads="1"/>
          </p:cNvPicPr>
          <p:nvPr/>
        </p:nvPicPr>
        <p:blipFill>
          <a:blip r:embed="rId2" cstate="print"/>
          <a:srcRect/>
          <a:stretch>
            <a:fillRect/>
          </a:stretch>
        </p:blipFill>
        <p:spPr bwMode="auto">
          <a:xfrm>
            <a:off x="5410200" y="2057400"/>
            <a:ext cx="3111500" cy="31115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Scenarios Based Evaluation</a:t>
            </a:r>
            <a:endParaRPr lang="en-US" dirty="0"/>
          </a:p>
        </p:txBody>
      </p:sp>
      <p:pic>
        <p:nvPicPr>
          <p:cNvPr id="2050" name="Picture 2" descr="http://www.conbrioamericas.com/images/newsletterimages/scenarios.gif"/>
          <p:cNvPicPr>
            <a:picLocks noChangeAspect="1" noChangeArrowheads="1"/>
          </p:cNvPicPr>
          <p:nvPr/>
        </p:nvPicPr>
        <p:blipFill>
          <a:blip r:embed="rId2" cstate="print"/>
          <a:srcRect/>
          <a:stretch>
            <a:fillRect/>
          </a:stretch>
        </p:blipFill>
        <p:spPr bwMode="auto">
          <a:xfrm>
            <a:off x="685800" y="2590800"/>
            <a:ext cx="2743200" cy="2305050"/>
          </a:xfrm>
          <a:prstGeom prst="rect">
            <a:avLst/>
          </a:prstGeom>
          <a:noFill/>
        </p:spPr>
      </p:pic>
      <p:pic>
        <p:nvPicPr>
          <p:cNvPr id="2052" name="Picture 4" descr="http://cdn.articulate.com/images/blogs/rel/uploads/2009/05/shark1.gif"/>
          <p:cNvPicPr>
            <a:picLocks noChangeAspect="1" noChangeArrowheads="1"/>
          </p:cNvPicPr>
          <p:nvPr/>
        </p:nvPicPr>
        <p:blipFill>
          <a:blip r:embed="rId3" cstate="print"/>
          <a:srcRect/>
          <a:stretch>
            <a:fillRect/>
          </a:stretch>
        </p:blipFill>
        <p:spPr bwMode="auto">
          <a:xfrm>
            <a:off x="4648200" y="1752600"/>
            <a:ext cx="3409950" cy="3876676"/>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Scenarios for Evaluation</a:t>
            </a:r>
            <a:endParaRPr lang="en-US" dirty="0"/>
          </a:p>
        </p:txBody>
      </p:sp>
      <p:sp>
        <p:nvSpPr>
          <p:cNvPr id="3" name="Content Placeholder 2"/>
          <p:cNvSpPr>
            <a:spLocks noGrp="1"/>
          </p:cNvSpPr>
          <p:nvPr>
            <p:ph idx="1"/>
          </p:nvPr>
        </p:nvSpPr>
        <p:spPr/>
        <p:txBody>
          <a:bodyPr/>
          <a:lstStyle/>
          <a:p>
            <a:r>
              <a:rPr lang="en-US" sz="2400" dirty="0" smtClean="0"/>
              <a:t>Scenarios are </a:t>
            </a:r>
            <a:r>
              <a:rPr lang="en-US" sz="2400" i="1" dirty="0" smtClean="0">
                <a:solidFill>
                  <a:srgbClr val="C00000"/>
                </a:solidFill>
              </a:rPr>
              <a:t>elicited and prioritized</a:t>
            </a:r>
            <a:r>
              <a:rPr lang="en-US" sz="2400" dirty="0" smtClean="0"/>
              <a:t> in ATAM using different mechanisms at different times with different stakeholder participation.</a:t>
            </a:r>
          </a:p>
          <a:p>
            <a:r>
              <a:rPr lang="en-US" sz="2400" dirty="0" smtClean="0"/>
              <a:t>The two mechanisms employed are </a:t>
            </a:r>
            <a:r>
              <a:rPr lang="en-US" sz="2400" i="1" dirty="0" smtClean="0">
                <a:solidFill>
                  <a:srgbClr val="C00000"/>
                </a:solidFill>
              </a:rPr>
              <a:t>utility trees</a:t>
            </a:r>
            <a:r>
              <a:rPr lang="en-US" sz="2400" dirty="0" smtClean="0"/>
              <a:t> and </a:t>
            </a:r>
            <a:r>
              <a:rPr lang="en-US" sz="2400" i="1" dirty="0" smtClean="0">
                <a:solidFill>
                  <a:srgbClr val="C00000"/>
                </a:solidFill>
              </a:rPr>
              <a:t>structured brainstorming</a:t>
            </a:r>
            <a:r>
              <a:rPr lang="en-US" sz="2400" dirty="0" smtClean="0"/>
              <a:t>.</a:t>
            </a:r>
          </a:p>
          <a:p>
            <a:endParaRPr lang="en-US" sz="2400" dirty="0"/>
          </a:p>
        </p:txBody>
      </p:sp>
      <p:pic>
        <p:nvPicPr>
          <p:cNvPr id="4" name="Picture 3"/>
          <p:cNvPicPr>
            <a:picLocks noChangeAspect="1" noChangeArrowheads="1"/>
          </p:cNvPicPr>
          <p:nvPr/>
        </p:nvPicPr>
        <p:blipFill>
          <a:blip r:embed="rId2" cstate="print"/>
          <a:srcRect/>
          <a:stretch>
            <a:fillRect/>
          </a:stretch>
        </p:blipFill>
        <p:spPr bwMode="auto">
          <a:xfrm>
            <a:off x="1524000" y="3752850"/>
            <a:ext cx="6086475" cy="249555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Sample Utility Tree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547813" y="1638300"/>
            <a:ext cx="6048375" cy="46101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Architectural Information for Evaluation</a:t>
            </a:r>
            <a:endParaRPr lang="en-US" sz="3800" dirty="0"/>
          </a:p>
        </p:txBody>
      </p:sp>
      <p:sp>
        <p:nvSpPr>
          <p:cNvPr id="3" name="Content Placeholder 2"/>
          <p:cNvSpPr>
            <a:spLocks noGrp="1"/>
          </p:cNvSpPr>
          <p:nvPr>
            <p:ph idx="1"/>
          </p:nvPr>
        </p:nvSpPr>
        <p:spPr/>
        <p:txBody>
          <a:bodyPr/>
          <a:lstStyle/>
          <a:p>
            <a:r>
              <a:rPr lang="en-US" dirty="0" err="1" smtClean="0"/>
              <a:t>Kruchten’s</a:t>
            </a:r>
            <a:r>
              <a:rPr lang="en-US" dirty="0" smtClean="0"/>
              <a:t> “4+1 views”</a:t>
            </a:r>
          </a:p>
        </p:txBody>
      </p:sp>
      <p:pic>
        <p:nvPicPr>
          <p:cNvPr id="37890" name="Picture 2" descr="http://www.sjaaklaan.com/images/2013-04/4plus1views.png"/>
          <p:cNvPicPr>
            <a:picLocks noChangeAspect="1" noChangeArrowheads="1"/>
          </p:cNvPicPr>
          <p:nvPr/>
        </p:nvPicPr>
        <p:blipFill>
          <a:blip r:embed="rId2" cstate="print"/>
          <a:srcRect/>
          <a:stretch>
            <a:fillRect/>
          </a:stretch>
        </p:blipFill>
        <p:spPr bwMode="auto">
          <a:xfrm>
            <a:off x="1066800" y="2514600"/>
            <a:ext cx="6867525" cy="3286126"/>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Architectural Style</a:t>
            </a:r>
            <a:endParaRPr lang="en-US" dirty="0"/>
          </a:p>
        </p:txBody>
      </p:sp>
      <p:sp>
        <p:nvSpPr>
          <p:cNvPr id="3" name="Content Placeholder 2"/>
          <p:cNvSpPr>
            <a:spLocks noGrp="1"/>
          </p:cNvSpPr>
          <p:nvPr>
            <p:ph idx="1"/>
          </p:nvPr>
        </p:nvSpPr>
        <p:spPr/>
        <p:txBody>
          <a:bodyPr/>
          <a:lstStyle/>
          <a:p>
            <a:r>
              <a:rPr lang="en-US" sz="2400" dirty="0" smtClean="0"/>
              <a:t>An </a:t>
            </a:r>
            <a:r>
              <a:rPr lang="en-US" sz="2400" i="1" dirty="0" smtClean="0">
                <a:solidFill>
                  <a:srgbClr val="C00000"/>
                </a:solidFill>
              </a:rPr>
              <a:t>architectural style</a:t>
            </a:r>
            <a:r>
              <a:rPr lang="en-US" sz="2400" dirty="0" smtClean="0"/>
              <a:t> includes a description of </a:t>
            </a:r>
            <a:r>
              <a:rPr lang="en-US" sz="2400" u="sng" dirty="0" smtClean="0"/>
              <a:t>component types</a:t>
            </a:r>
            <a:r>
              <a:rPr lang="en-US" sz="2400" dirty="0" smtClean="0"/>
              <a:t> and their </a:t>
            </a:r>
            <a:r>
              <a:rPr lang="en-US" sz="2400" u="sng" dirty="0" smtClean="0"/>
              <a:t>topology</a:t>
            </a:r>
            <a:r>
              <a:rPr lang="en-US" sz="2400" dirty="0" smtClean="0"/>
              <a:t>, a description of the pattern of </a:t>
            </a:r>
            <a:r>
              <a:rPr lang="en-US" sz="2400" u="sng" dirty="0" smtClean="0"/>
              <a:t>data</a:t>
            </a:r>
            <a:r>
              <a:rPr lang="en-US" sz="2400" dirty="0" smtClean="0"/>
              <a:t> and </a:t>
            </a:r>
            <a:r>
              <a:rPr lang="en-US" sz="2400" u="sng" dirty="0" smtClean="0"/>
              <a:t>control interaction</a:t>
            </a:r>
            <a:r>
              <a:rPr lang="en-US" sz="2400" dirty="0" smtClean="0"/>
              <a:t> among the components, and an informal description of the </a:t>
            </a:r>
            <a:r>
              <a:rPr lang="en-US" sz="2400" u="sng" dirty="0" smtClean="0"/>
              <a:t>benefits</a:t>
            </a:r>
            <a:r>
              <a:rPr lang="en-US" sz="2400" dirty="0" smtClean="0"/>
              <a:t> and </a:t>
            </a:r>
            <a:r>
              <a:rPr lang="en-US" sz="2400" u="sng" dirty="0" smtClean="0"/>
              <a:t>drawbacks</a:t>
            </a:r>
            <a:r>
              <a:rPr lang="en-US" sz="2400" dirty="0" smtClean="0"/>
              <a:t> of using that style.</a:t>
            </a:r>
          </a:p>
          <a:p>
            <a:r>
              <a:rPr lang="en-US" sz="2400" dirty="0" smtClean="0"/>
              <a:t>By locating architectural styles in an architecture, we see </a:t>
            </a:r>
            <a:r>
              <a:rPr lang="en-US" sz="2400" i="1" dirty="0" smtClean="0">
                <a:solidFill>
                  <a:srgbClr val="C00000"/>
                </a:solidFill>
              </a:rPr>
              <a:t>what strategies</a:t>
            </a:r>
            <a:r>
              <a:rPr lang="en-US" sz="2400" dirty="0" smtClean="0"/>
              <a:t> the architect has used to respond to the system’s driving performance goals, modifiability goals, availability goals, and so forth.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Attribute-Based Architecture Styles</a:t>
            </a:r>
            <a:endParaRPr lang="en-US" dirty="0"/>
          </a:p>
        </p:txBody>
      </p:sp>
      <p:sp>
        <p:nvSpPr>
          <p:cNvPr id="3" name="Content Placeholder 2"/>
          <p:cNvSpPr>
            <a:spLocks noGrp="1"/>
          </p:cNvSpPr>
          <p:nvPr>
            <p:ph idx="1"/>
          </p:nvPr>
        </p:nvSpPr>
        <p:spPr/>
        <p:txBody>
          <a:bodyPr/>
          <a:lstStyle/>
          <a:p>
            <a:r>
              <a:rPr lang="en-US" sz="2400" dirty="0" smtClean="0"/>
              <a:t>The ATAM uses a particular specialization of this called </a:t>
            </a:r>
            <a:r>
              <a:rPr lang="en-US" sz="2400" i="1" dirty="0" smtClean="0">
                <a:solidFill>
                  <a:srgbClr val="C00000"/>
                </a:solidFill>
              </a:rPr>
              <a:t>attribute-based architectural styles</a:t>
            </a:r>
            <a:r>
              <a:rPr lang="en-US" sz="2400" dirty="0" smtClean="0"/>
              <a:t>, or ABASs.</a:t>
            </a:r>
          </a:p>
          <a:p>
            <a:r>
              <a:rPr lang="en-US" sz="2400" dirty="0" smtClean="0"/>
              <a:t>An </a:t>
            </a:r>
            <a:r>
              <a:rPr lang="en-US" sz="2400" i="1" dirty="0" smtClean="0">
                <a:solidFill>
                  <a:srgbClr val="C00000"/>
                </a:solidFill>
              </a:rPr>
              <a:t>ABAS</a:t>
            </a:r>
            <a:r>
              <a:rPr lang="en-US" sz="2400" dirty="0" smtClean="0"/>
              <a:t> is an architectural style in which </a:t>
            </a:r>
            <a:r>
              <a:rPr lang="en-US" sz="2400" u="sng" dirty="0" smtClean="0"/>
              <a:t>the constraints</a:t>
            </a:r>
            <a:r>
              <a:rPr lang="en-US" sz="2400" dirty="0" smtClean="0"/>
              <a:t> focus on component types and patterns of interaction that are particularly </a:t>
            </a:r>
            <a:r>
              <a:rPr lang="en-US" sz="2400" u="sng" dirty="0" smtClean="0"/>
              <a:t>relevant to quality attributes</a:t>
            </a:r>
            <a:r>
              <a:rPr lang="en-US" sz="2400" dirty="0" smtClean="0"/>
              <a:t> such as performance, modifiability, security, or availability.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Attribute-Based Architecture Styles [3]</a:t>
            </a:r>
            <a:endParaRPr lang="en-US" sz="4000" dirty="0"/>
          </a:p>
        </p:txBody>
      </p:sp>
      <p:sp>
        <p:nvSpPr>
          <p:cNvPr id="3" name="Content Placeholder 2"/>
          <p:cNvSpPr>
            <a:spLocks noGrp="1"/>
          </p:cNvSpPr>
          <p:nvPr>
            <p:ph idx="1"/>
          </p:nvPr>
        </p:nvSpPr>
        <p:spPr/>
        <p:txBody>
          <a:bodyPr/>
          <a:lstStyle/>
          <a:p>
            <a:r>
              <a:rPr lang="en-US" sz="2400" dirty="0" smtClean="0"/>
              <a:t>We define an ABAS as having four parts:</a:t>
            </a:r>
          </a:p>
          <a:p>
            <a:pPr lvl="1"/>
            <a:r>
              <a:rPr lang="en-US" sz="2000" i="1" dirty="0" smtClean="0">
                <a:solidFill>
                  <a:srgbClr val="C00000"/>
                </a:solidFill>
              </a:rPr>
              <a:t>Problem Description</a:t>
            </a:r>
            <a:r>
              <a:rPr lang="en-US" sz="2000" dirty="0" smtClean="0"/>
              <a:t>: what problem is being solved by this structure,</a:t>
            </a:r>
          </a:p>
          <a:p>
            <a:pPr lvl="1"/>
            <a:r>
              <a:rPr lang="en-US" sz="2000" i="1" dirty="0" smtClean="0">
                <a:solidFill>
                  <a:srgbClr val="C00000"/>
                </a:solidFill>
              </a:rPr>
              <a:t>Stimuli/Responses</a:t>
            </a:r>
            <a:r>
              <a:rPr lang="en-US" sz="2000" dirty="0" smtClean="0"/>
              <a:t>: a characterization of the stimuli that this ABAS is designed to respond to, and a description of the quality attribute-specific measures of the response,</a:t>
            </a:r>
          </a:p>
          <a:p>
            <a:pPr lvl="1"/>
            <a:r>
              <a:rPr lang="en-US" sz="2000" i="1" dirty="0" smtClean="0">
                <a:solidFill>
                  <a:srgbClr val="C00000"/>
                </a:solidFill>
              </a:rPr>
              <a:t>Architectural Style</a:t>
            </a:r>
            <a:r>
              <a:rPr lang="en-US" sz="2000" dirty="0" smtClean="0"/>
              <a:t>: the set of component and connector types, the topology, a description of the patterns of data and control interaction among the components (as in the standard definition of an architectural style), and any properties of the components or connectors that are germane to the quality attribute,</a:t>
            </a:r>
          </a:p>
          <a:p>
            <a:pPr lvl="1"/>
            <a:r>
              <a:rPr lang="en-US" sz="2000" i="1" dirty="0" smtClean="0">
                <a:solidFill>
                  <a:srgbClr val="C00000"/>
                </a:solidFill>
              </a:rPr>
              <a:t>Analysis</a:t>
            </a:r>
            <a:r>
              <a:rPr lang="en-US" sz="2000" dirty="0" smtClean="0"/>
              <a:t>: a quality attribute specific model that provides a method of reasoning about the behavior of component types that interact in the defined pattern.</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Tradeoff Analysis Method (ATAM) [2]</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The ATAM</a:t>
            </a:r>
            <a:r>
              <a:rPr lang="en-US" sz="2200" dirty="0" smtClean="0"/>
              <a:t> is meant to be a </a:t>
            </a:r>
            <a:r>
              <a:rPr lang="en-US" sz="2200" i="1" dirty="0" smtClean="0">
                <a:solidFill>
                  <a:srgbClr val="C00000"/>
                </a:solidFill>
              </a:rPr>
              <a:t>risk identification method</a:t>
            </a:r>
            <a:r>
              <a:rPr lang="en-US" sz="2200" dirty="0" smtClean="0"/>
              <a:t>, a means of detecting areas of potential risk within the architecture of a complex software intensive system.</a:t>
            </a:r>
          </a:p>
          <a:p>
            <a:r>
              <a:rPr lang="en-US" sz="2200" i="1" dirty="0" smtClean="0">
                <a:solidFill>
                  <a:srgbClr val="C00000"/>
                </a:solidFill>
              </a:rPr>
              <a:t>The purpose</a:t>
            </a:r>
            <a:r>
              <a:rPr lang="en-US" sz="2200" dirty="0" smtClean="0"/>
              <a:t> of the ATAM is to assess the consequences of architectural decisions in light of quality attribute requirements.</a:t>
            </a:r>
          </a:p>
          <a:p>
            <a:r>
              <a:rPr lang="en-US" sz="2200" dirty="0" smtClean="0"/>
              <a:t>We are </a:t>
            </a:r>
            <a:r>
              <a:rPr lang="en-US" sz="2200" i="1" dirty="0" smtClean="0">
                <a:solidFill>
                  <a:srgbClr val="C00000"/>
                </a:solidFill>
              </a:rPr>
              <a:t>not</a:t>
            </a:r>
            <a:r>
              <a:rPr lang="en-US" sz="2200" dirty="0" smtClean="0"/>
              <a:t> attempting to </a:t>
            </a:r>
            <a:r>
              <a:rPr lang="en-US" sz="2200" i="1" dirty="0" smtClean="0">
                <a:solidFill>
                  <a:srgbClr val="C00000"/>
                </a:solidFill>
              </a:rPr>
              <a:t>precisely predict</a:t>
            </a:r>
            <a:r>
              <a:rPr lang="en-US" sz="2200" dirty="0" smtClean="0"/>
              <a:t> quality attribute behavior.</a:t>
            </a:r>
          </a:p>
          <a:p>
            <a:r>
              <a:rPr lang="en-US" sz="2200" dirty="0" smtClean="0"/>
              <a:t>What we are interested in doing is </a:t>
            </a:r>
            <a:r>
              <a:rPr lang="en-US" sz="2200" i="1" dirty="0" smtClean="0">
                <a:solidFill>
                  <a:srgbClr val="C00000"/>
                </a:solidFill>
              </a:rPr>
              <a:t>learning where an attribute of interest is affected by architectural design decisions</a:t>
            </a:r>
            <a:r>
              <a:rPr lang="en-US" sz="2200" dirty="0" smtClean="0"/>
              <a:t>, so that we can reason carefully about those decisions, model them more completely in subsequent analyses, and devote more of our design, analysis, and prototyping energies on such decisions.</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Outputs of the ATAM</a:t>
            </a:r>
            <a:endParaRPr lang="en-US" dirty="0"/>
          </a:p>
        </p:txBody>
      </p:sp>
      <p:sp>
        <p:nvSpPr>
          <p:cNvPr id="3" name="Content Placeholder 2"/>
          <p:cNvSpPr>
            <a:spLocks noGrp="1"/>
          </p:cNvSpPr>
          <p:nvPr>
            <p:ph idx="1"/>
          </p:nvPr>
        </p:nvSpPr>
        <p:spPr/>
        <p:txBody>
          <a:bodyPr/>
          <a:lstStyle/>
          <a:p>
            <a:r>
              <a:rPr lang="en-US" sz="1800" i="1" dirty="0" smtClean="0">
                <a:solidFill>
                  <a:srgbClr val="C00000"/>
                </a:solidFill>
              </a:rPr>
              <a:t>Risks</a:t>
            </a:r>
            <a:r>
              <a:rPr lang="en-US" sz="1800" dirty="0" smtClean="0"/>
              <a:t> are potentially problematic architectural decisions.</a:t>
            </a:r>
          </a:p>
          <a:p>
            <a:r>
              <a:rPr lang="en-US" sz="1800" i="1" dirty="0" smtClean="0">
                <a:solidFill>
                  <a:srgbClr val="C00000"/>
                </a:solidFill>
              </a:rPr>
              <a:t>Non-risks</a:t>
            </a:r>
            <a:r>
              <a:rPr lang="en-US" sz="1800" dirty="0" smtClean="0"/>
              <a:t> are good decisions that rely on assumptions that are frequently implicit in the architecture.</a:t>
            </a:r>
          </a:p>
          <a:p>
            <a:r>
              <a:rPr lang="en-US" sz="1800" i="1" dirty="0" smtClean="0">
                <a:solidFill>
                  <a:srgbClr val="C00000"/>
                </a:solidFill>
              </a:rPr>
              <a:t>A sensitivity point</a:t>
            </a:r>
            <a:r>
              <a:rPr lang="en-US" sz="1800" dirty="0" smtClean="0"/>
              <a:t> is a property of one or more components (and/or component relationships) that is critical for achieving a particular quality attribute response.</a:t>
            </a:r>
          </a:p>
          <a:p>
            <a:r>
              <a:rPr lang="en-US" sz="1800" i="1" dirty="0" smtClean="0">
                <a:solidFill>
                  <a:srgbClr val="C00000"/>
                </a:solidFill>
              </a:rPr>
              <a:t>A tradeoff point</a:t>
            </a:r>
            <a:r>
              <a:rPr lang="en-US" sz="1800" dirty="0" smtClean="0"/>
              <a:t> is a property that affects more than one attribute and is a sensitivity point for more than one attribute.</a:t>
            </a:r>
          </a:p>
        </p:txBody>
      </p:sp>
      <p:pic>
        <p:nvPicPr>
          <p:cNvPr id="4" name="Picture 3"/>
          <p:cNvPicPr>
            <a:picLocks noChangeAspect="1" noChangeArrowheads="1"/>
          </p:cNvPicPr>
          <p:nvPr/>
        </p:nvPicPr>
        <p:blipFill>
          <a:blip r:embed="rId2" cstate="print"/>
          <a:srcRect/>
          <a:stretch>
            <a:fillRect/>
          </a:stretch>
        </p:blipFill>
        <p:spPr bwMode="auto">
          <a:xfrm>
            <a:off x="1900238" y="4114800"/>
            <a:ext cx="5343525" cy="24384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Structure for Reasoning</a:t>
            </a:r>
            <a:endParaRPr lang="en-US" dirty="0"/>
          </a:p>
        </p:txBody>
      </p:sp>
      <p:sp>
        <p:nvSpPr>
          <p:cNvPr id="3" name="Content Placeholder 2"/>
          <p:cNvSpPr>
            <a:spLocks noGrp="1"/>
          </p:cNvSpPr>
          <p:nvPr>
            <p:ph idx="1"/>
          </p:nvPr>
        </p:nvSpPr>
        <p:spPr/>
        <p:txBody>
          <a:bodyPr/>
          <a:lstStyle/>
          <a:p>
            <a:r>
              <a:rPr lang="en-US" sz="2400" dirty="0" smtClean="0"/>
              <a:t>The reasoning is </a:t>
            </a:r>
            <a:r>
              <a:rPr lang="en-US" sz="2400" i="1" dirty="0" smtClean="0">
                <a:solidFill>
                  <a:srgbClr val="C00000"/>
                </a:solidFill>
              </a:rPr>
              <a:t>not</a:t>
            </a:r>
            <a:r>
              <a:rPr lang="en-US" sz="2400" dirty="0" smtClean="0"/>
              <a:t> always highly formal and </a:t>
            </a:r>
            <a:r>
              <a:rPr lang="en-US" sz="2400" i="1" dirty="0" smtClean="0">
                <a:solidFill>
                  <a:srgbClr val="C00000"/>
                </a:solidFill>
              </a:rPr>
              <a:t>mathematical</a:t>
            </a:r>
            <a:r>
              <a:rPr lang="en-US" sz="2400" dirty="0" smtClean="0"/>
              <a:t>, but it must </a:t>
            </a:r>
            <a:r>
              <a:rPr lang="en-US" sz="2400" i="1" dirty="0" smtClean="0">
                <a:solidFill>
                  <a:srgbClr val="C00000"/>
                </a:solidFill>
              </a:rPr>
              <a:t>be predictive</a:t>
            </a:r>
            <a:r>
              <a:rPr lang="en-US" sz="2400" dirty="0" smtClean="0"/>
              <a:t> and </a:t>
            </a:r>
            <a:r>
              <a:rPr lang="en-US" sz="2400" i="1" dirty="0" smtClean="0">
                <a:solidFill>
                  <a:srgbClr val="C00000"/>
                </a:solidFill>
              </a:rPr>
              <a:t>repeatable</a:t>
            </a:r>
            <a:r>
              <a:rPr lang="en-US" sz="2400" dirty="0" smtClean="0"/>
              <a:t>.</a:t>
            </a:r>
          </a:p>
          <a:p>
            <a:r>
              <a:rPr lang="en-US" sz="2400" dirty="0" smtClean="0"/>
              <a:t>The reasoning might manifest itself as </a:t>
            </a:r>
            <a:r>
              <a:rPr lang="en-US" sz="2400" i="1" dirty="0" smtClean="0">
                <a:solidFill>
                  <a:srgbClr val="C00000"/>
                </a:solidFill>
              </a:rPr>
              <a:t>a discussion</a:t>
            </a:r>
            <a:r>
              <a:rPr lang="en-US" sz="2400" dirty="0" smtClean="0"/>
              <a:t> that follows from the exploration the architectural approaches that address a scenario;</a:t>
            </a:r>
          </a:p>
          <a:p>
            <a:r>
              <a:rPr lang="en-US" sz="2400" dirty="0" smtClean="0"/>
              <a:t>it may be </a:t>
            </a:r>
            <a:r>
              <a:rPr lang="en-US" sz="2400" i="1" dirty="0" smtClean="0">
                <a:solidFill>
                  <a:srgbClr val="C00000"/>
                </a:solidFill>
              </a:rPr>
              <a:t>a qualitative model</a:t>
            </a:r>
            <a:r>
              <a:rPr lang="en-US" sz="2400" dirty="0" smtClean="0"/>
              <a:t> of attribute-specific behavior of the architecture; or</a:t>
            </a:r>
          </a:p>
          <a:p>
            <a:r>
              <a:rPr lang="en-US" sz="2400" dirty="0" smtClean="0"/>
              <a:t>it may be a </a:t>
            </a:r>
            <a:r>
              <a:rPr lang="en-US" sz="2400" i="1" dirty="0" smtClean="0">
                <a:solidFill>
                  <a:srgbClr val="C00000"/>
                </a:solidFill>
              </a:rPr>
              <a:t>quantitative model</a:t>
            </a:r>
            <a:r>
              <a:rPr lang="en-US" sz="2400" dirty="0" smtClean="0"/>
              <a:t> that represents how to calculate a value of a particular quality attribute.</a:t>
            </a:r>
          </a:p>
          <a:p>
            <a:r>
              <a:rPr lang="en-US" sz="2400" dirty="0" smtClean="0"/>
              <a:t>ABASs and quality attribute characterizations provide the technical foundations for </a:t>
            </a:r>
            <a:r>
              <a:rPr lang="en-US" sz="2400" u="sng" dirty="0" smtClean="0"/>
              <a:t>creating</a:t>
            </a:r>
            <a:r>
              <a:rPr lang="en-US" sz="2400" dirty="0" smtClean="0"/>
              <a:t> these </a:t>
            </a:r>
            <a:r>
              <a:rPr lang="en-US" sz="2400" i="1" dirty="0" smtClean="0">
                <a:solidFill>
                  <a:srgbClr val="C00000"/>
                </a:solidFill>
              </a:rPr>
              <a:t>reasoning models</a:t>
            </a:r>
            <a:r>
              <a:rPr lang="en-US" sz="2400" dirty="0" smtClean="0"/>
              <a:t>.</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1 - Present the ATAM</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the ATAM steps</a:t>
            </a:r>
            <a:r>
              <a:rPr lang="en-US" sz="2400" dirty="0" smtClean="0"/>
              <a:t> in brief</a:t>
            </a:r>
          </a:p>
          <a:p>
            <a:r>
              <a:rPr lang="en-US" sz="2400" i="1" dirty="0" smtClean="0">
                <a:solidFill>
                  <a:srgbClr val="C00000"/>
                </a:solidFill>
              </a:rPr>
              <a:t>the techniques</a:t>
            </a:r>
            <a:r>
              <a:rPr lang="en-US" sz="2400" dirty="0" smtClean="0"/>
              <a:t> that will be used for elicitation and analysis: utility tree generation, architectural approach-based elicitation/analysis, and scenario brainstorming/mapping</a:t>
            </a:r>
          </a:p>
          <a:p>
            <a:r>
              <a:rPr lang="en-US" sz="2400" i="1" dirty="0" smtClean="0">
                <a:solidFill>
                  <a:srgbClr val="C00000"/>
                </a:solidFill>
              </a:rPr>
              <a:t>the outputs</a:t>
            </a:r>
            <a:r>
              <a:rPr lang="en-US" sz="2400" dirty="0" smtClean="0"/>
              <a:t> from the evaluation: the scenarios elicited and prioritized, the questions used to understand/evaluate the architecture, a “utility” tree, describing and prioritizing the driving architectural requirements, the set of identified architectural approaches and styles, the set of risks and non-risks discovered, the set of sensitivity points and tradeoffs discovered</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Step 2 - Present the Business Drivers</a:t>
            </a:r>
            <a:endParaRPr lang="en-US" sz="4200" dirty="0"/>
          </a:p>
        </p:txBody>
      </p:sp>
      <p:pic>
        <p:nvPicPr>
          <p:cNvPr id="1027" name="Picture 3"/>
          <p:cNvPicPr>
            <a:picLocks noChangeAspect="1" noChangeArrowheads="1"/>
          </p:cNvPicPr>
          <p:nvPr/>
        </p:nvPicPr>
        <p:blipFill>
          <a:blip r:embed="rId2" cstate="print"/>
          <a:srcRect/>
          <a:stretch>
            <a:fillRect/>
          </a:stretch>
        </p:blipFill>
        <p:spPr bwMode="auto">
          <a:xfrm>
            <a:off x="747713" y="2057400"/>
            <a:ext cx="7648575" cy="4610100"/>
          </a:xfrm>
          <a:prstGeom prst="rect">
            <a:avLst/>
          </a:prstGeom>
          <a:noFill/>
          <a:ln w="9525">
            <a:noFill/>
            <a:miter lim="800000"/>
            <a:headEnd/>
            <a:tailEnd/>
          </a:ln>
        </p:spPr>
      </p:pic>
      <p:sp>
        <p:nvSpPr>
          <p:cNvPr id="8" name="Rectangle 7"/>
          <p:cNvSpPr/>
          <p:nvPr/>
        </p:nvSpPr>
        <p:spPr>
          <a:xfrm>
            <a:off x="838200" y="1295400"/>
            <a:ext cx="7467600" cy="769441"/>
          </a:xfrm>
          <a:prstGeom prst="rect">
            <a:avLst/>
          </a:prstGeom>
        </p:spPr>
        <p:txBody>
          <a:bodyPr wrap="square">
            <a:spAutoFit/>
          </a:bodyPr>
          <a:lstStyle/>
          <a:p>
            <a:r>
              <a:rPr lang="en-US" sz="2200" i="1" dirty="0" smtClean="0">
                <a:solidFill>
                  <a:srgbClr val="C00000"/>
                </a:solidFill>
                <a:latin typeface="+mj-lt"/>
              </a:rPr>
              <a:t>The project manager</a:t>
            </a:r>
            <a:r>
              <a:rPr lang="en-US" sz="2200" dirty="0" smtClean="0">
                <a:latin typeface="+mj-lt"/>
              </a:rPr>
              <a:t> presents a system overview from a business perspective.</a:t>
            </a:r>
            <a:endParaRPr lang="en-US" sz="2200" dirty="0">
              <a:latin typeface="+mj-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3 - Present the Architecture</a:t>
            </a:r>
            <a:endParaRPr lang="en-US" dirty="0"/>
          </a:p>
        </p:txBody>
      </p:sp>
      <p:sp>
        <p:nvSpPr>
          <p:cNvPr id="4" name="Rectangle 3"/>
          <p:cNvSpPr/>
          <p:nvPr/>
        </p:nvSpPr>
        <p:spPr>
          <a:xfrm>
            <a:off x="838200" y="1295400"/>
            <a:ext cx="7467600" cy="769441"/>
          </a:xfrm>
          <a:prstGeom prst="rect">
            <a:avLst/>
          </a:prstGeom>
        </p:spPr>
        <p:txBody>
          <a:bodyPr wrap="square">
            <a:spAutoFit/>
          </a:bodyPr>
          <a:lstStyle/>
          <a:p>
            <a:r>
              <a:rPr lang="en-US" sz="2200" dirty="0" smtClean="0">
                <a:latin typeface="+mj-lt"/>
              </a:rPr>
              <a:t>The architecture will be presented by the </a:t>
            </a:r>
            <a:r>
              <a:rPr lang="en-US" sz="2200" i="1" dirty="0" smtClean="0">
                <a:solidFill>
                  <a:srgbClr val="C00000"/>
                </a:solidFill>
                <a:latin typeface="+mj-lt"/>
              </a:rPr>
              <a:t>lead architect</a:t>
            </a:r>
            <a:r>
              <a:rPr lang="en-US" sz="2200" dirty="0" smtClean="0">
                <a:latin typeface="+mj-lt"/>
              </a:rPr>
              <a:t> (or architecture team) at an appropriate level of detail.</a:t>
            </a:r>
            <a:endParaRPr lang="en-US" sz="2200" dirty="0">
              <a:latin typeface="+mj-lt"/>
            </a:endParaRPr>
          </a:p>
        </p:txBody>
      </p:sp>
      <p:pic>
        <p:nvPicPr>
          <p:cNvPr id="2050" name="Picture 2"/>
          <p:cNvPicPr>
            <a:picLocks noChangeAspect="1" noChangeArrowheads="1"/>
          </p:cNvPicPr>
          <p:nvPr/>
        </p:nvPicPr>
        <p:blipFill>
          <a:blip r:embed="rId2" cstate="print"/>
          <a:srcRect/>
          <a:stretch>
            <a:fillRect/>
          </a:stretch>
        </p:blipFill>
        <p:spPr bwMode="auto">
          <a:xfrm>
            <a:off x="762000" y="2219325"/>
            <a:ext cx="7620000" cy="425767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4 - Identify Architectural Approaches</a:t>
            </a:r>
            <a:endParaRPr lang="en-US" dirty="0"/>
          </a:p>
        </p:txBody>
      </p:sp>
      <p:sp>
        <p:nvSpPr>
          <p:cNvPr id="3" name="Content Placeholder 2"/>
          <p:cNvSpPr>
            <a:spLocks noGrp="1"/>
          </p:cNvSpPr>
          <p:nvPr>
            <p:ph idx="1"/>
          </p:nvPr>
        </p:nvSpPr>
        <p:spPr/>
        <p:txBody>
          <a:bodyPr/>
          <a:lstStyle/>
          <a:p>
            <a:r>
              <a:rPr lang="en-US" sz="2400" dirty="0" smtClean="0"/>
              <a:t>The ATAM focuses on analyzing an architecture by </a:t>
            </a:r>
            <a:r>
              <a:rPr lang="en-US" sz="2400" i="1" dirty="0" smtClean="0">
                <a:solidFill>
                  <a:srgbClr val="C00000"/>
                </a:solidFill>
              </a:rPr>
              <a:t>understanding</a:t>
            </a:r>
            <a:r>
              <a:rPr lang="en-US" sz="2400" dirty="0" smtClean="0"/>
              <a:t> its architectural approaches.</a:t>
            </a:r>
          </a:p>
          <a:p>
            <a:r>
              <a:rPr lang="en-US" sz="2400" dirty="0" smtClean="0"/>
              <a:t>In this step they are identified by the architect, and </a:t>
            </a:r>
            <a:r>
              <a:rPr lang="en-US" sz="2400" i="1" dirty="0" smtClean="0">
                <a:solidFill>
                  <a:srgbClr val="C00000"/>
                </a:solidFill>
              </a:rPr>
              <a:t>captured by</a:t>
            </a:r>
            <a:r>
              <a:rPr lang="en-US" sz="2400" dirty="0" smtClean="0"/>
              <a:t> the analysis team, but are </a:t>
            </a:r>
            <a:r>
              <a:rPr lang="en-US" sz="2400" i="1" dirty="0" smtClean="0">
                <a:solidFill>
                  <a:srgbClr val="C00000"/>
                </a:solidFill>
              </a:rPr>
              <a:t>not analyzed</a:t>
            </a:r>
            <a:r>
              <a:rPr lang="en-US" sz="2400" dirty="0" smtClean="0"/>
              <a:t>.</a:t>
            </a:r>
          </a:p>
          <a:p>
            <a:r>
              <a:rPr lang="en-US" sz="2400" dirty="0" smtClean="0"/>
              <a:t>These architectural approaches define the important </a:t>
            </a:r>
            <a:r>
              <a:rPr lang="en-US" sz="2400" i="1" dirty="0" smtClean="0">
                <a:solidFill>
                  <a:srgbClr val="C00000"/>
                </a:solidFill>
              </a:rPr>
              <a:t>structures</a:t>
            </a:r>
            <a:r>
              <a:rPr lang="en-US" sz="2400" dirty="0" smtClean="0"/>
              <a:t> of the system and </a:t>
            </a:r>
            <a:r>
              <a:rPr lang="en-US" sz="2400" i="1" dirty="0" smtClean="0">
                <a:solidFill>
                  <a:srgbClr val="C00000"/>
                </a:solidFill>
              </a:rPr>
              <a:t>describe the ways</a:t>
            </a:r>
            <a:r>
              <a:rPr lang="en-US" sz="2400" dirty="0" smtClean="0"/>
              <a:t> in which the system can grow, respond to changes, withstand attacks, integrate with other systems, and so forth.</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5 - Generate Quality Attribute Utility Tree</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The evaluation team</a:t>
            </a:r>
            <a:r>
              <a:rPr lang="en-US" sz="2400" dirty="0" smtClean="0"/>
              <a:t> works with the architecture team, manager, and customer representatives to identify, prioritize, and </a:t>
            </a:r>
            <a:r>
              <a:rPr lang="en-US" sz="2400" i="1" dirty="0" smtClean="0">
                <a:solidFill>
                  <a:srgbClr val="C00000"/>
                </a:solidFill>
              </a:rPr>
              <a:t>refine</a:t>
            </a:r>
            <a:r>
              <a:rPr lang="en-US" sz="2400" dirty="0" smtClean="0"/>
              <a:t> the system’s most important quality attribute goals.</a:t>
            </a:r>
          </a:p>
          <a:p>
            <a:r>
              <a:rPr lang="en-US" sz="2400" i="1" dirty="0" smtClean="0">
                <a:solidFill>
                  <a:srgbClr val="C00000"/>
                </a:solidFill>
              </a:rPr>
              <a:t>The output</a:t>
            </a:r>
            <a:r>
              <a:rPr lang="en-US" sz="2400" dirty="0" smtClean="0"/>
              <a:t> of the utility tree generation process is a prioritization of specific quality attribute requirements, realized as scenarios.</a:t>
            </a:r>
          </a:p>
          <a:p>
            <a:r>
              <a:rPr lang="en-US" sz="2400" dirty="0" smtClean="0"/>
              <a:t>This prioritized list tells the ATAM team </a:t>
            </a:r>
            <a:r>
              <a:rPr lang="en-US" sz="2400" i="1" dirty="0" smtClean="0">
                <a:solidFill>
                  <a:srgbClr val="C00000"/>
                </a:solidFill>
              </a:rPr>
              <a:t>where</a:t>
            </a:r>
            <a:r>
              <a:rPr lang="en-US" sz="2400" dirty="0" smtClean="0"/>
              <a:t> to spend its limited time, and in particular where to probe for architectural approaches and their consequent risks, sensitivity points, and tradeoffs.</a:t>
            </a:r>
          </a:p>
          <a:p>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6 - Analyze Architectural Approaches</a:t>
            </a:r>
            <a:endParaRPr lang="en-US" dirty="0"/>
          </a:p>
        </p:txBody>
      </p:sp>
      <p:sp>
        <p:nvSpPr>
          <p:cNvPr id="3" name="Content Placeholder 2"/>
          <p:cNvSpPr>
            <a:spLocks noGrp="1"/>
          </p:cNvSpPr>
          <p:nvPr>
            <p:ph idx="1"/>
          </p:nvPr>
        </p:nvSpPr>
        <p:spPr/>
        <p:txBody>
          <a:bodyPr/>
          <a:lstStyle/>
          <a:p>
            <a:r>
              <a:rPr lang="en-US" sz="2000" i="1" dirty="0" smtClean="0">
                <a:solidFill>
                  <a:srgbClr val="C00000"/>
                </a:solidFill>
              </a:rPr>
              <a:t>The major outputs</a:t>
            </a:r>
            <a:r>
              <a:rPr lang="en-US" sz="2000" dirty="0" smtClean="0"/>
              <a:t> of this phase are a list of architectural approaches or styles, the questions associated with them, and the architect’s response to these questions.</a:t>
            </a:r>
          </a:p>
          <a:p>
            <a:r>
              <a:rPr lang="en-US" sz="2000" dirty="0" smtClean="0"/>
              <a:t>The evaluation team and the architecture team address each architectural approach presented by </a:t>
            </a:r>
            <a:r>
              <a:rPr lang="en-US" sz="2000" i="1" dirty="0" smtClean="0">
                <a:solidFill>
                  <a:srgbClr val="C00000"/>
                </a:solidFill>
              </a:rPr>
              <a:t>asking</a:t>
            </a:r>
            <a:r>
              <a:rPr lang="en-US" sz="2000" dirty="0" smtClean="0"/>
              <a:t> a set of approach-specific and quality-attribute-specific </a:t>
            </a:r>
            <a:r>
              <a:rPr lang="en-US" sz="2000" i="1" dirty="0" smtClean="0">
                <a:solidFill>
                  <a:srgbClr val="C00000"/>
                </a:solidFill>
              </a:rPr>
              <a:t>questions</a:t>
            </a:r>
            <a:r>
              <a:rPr lang="en-US" sz="2000" dirty="0" smtClean="0"/>
              <a:t>.</a:t>
            </a:r>
          </a:p>
          <a:p>
            <a:r>
              <a:rPr lang="en-US" sz="2000" dirty="0" smtClean="0"/>
              <a:t>These questions might </a:t>
            </a:r>
            <a:r>
              <a:rPr lang="en-US" sz="2000" i="1" dirty="0" smtClean="0">
                <a:solidFill>
                  <a:srgbClr val="C00000"/>
                </a:solidFill>
              </a:rPr>
              <a:t>come from</a:t>
            </a:r>
            <a:r>
              <a:rPr lang="en-US" sz="2000" dirty="0" smtClean="0"/>
              <a:t> documented experience with styles (as found in ABASs and their associated quality attribute characterizations), from books on software architecture, or from the prior experiences of the assembled stakeholders.</a:t>
            </a:r>
          </a:p>
          <a:p>
            <a:r>
              <a:rPr lang="en-US" sz="2000" dirty="0" smtClean="0"/>
              <a:t>Each question is a </a:t>
            </a:r>
            <a:r>
              <a:rPr lang="en-US" sz="2000" i="1" dirty="0" smtClean="0">
                <a:solidFill>
                  <a:srgbClr val="C00000"/>
                </a:solidFill>
              </a:rPr>
              <a:t>starting point</a:t>
            </a:r>
            <a:r>
              <a:rPr lang="en-US" sz="2000" dirty="0" smtClean="0"/>
              <a:t> for discussion, and for the determination of a potential risk, non-risk, sensitivity point, or tradeoff point. These, in turn, may catalyze a deeper analysis, depending on how the architect responds.</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7 - Brainstorm and Prioritize Scenarios</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838200" y="2066925"/>
            <a:ext cx="7467600" cy="364807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8 - Analyze Architectural Approaches with Scenarios</a:t>
            </a:r>
            <a:endParaRPr lang="en-US" dirty="0"/>
          </a:p>
        </p:txBody>
      </p:sp>
      <p:sp>
        <p:nvSpPr>
          <p:cNvPr id="3" name="Content Placeholder 2"/>
          <p:cNvSpPr>
            <a:spLocks noGrp="1"/>
          </p:cNvSpPr>
          <p:nvPr>
            <p:ph idx="1"/>
          </p:nvPr>
        </p:nvSpPr>
        <p:spPr/>
        <p:txBody>
          <a:bodyPr/>
          <a:lstStyle/>
          <a:p>
            <a:r>
              <a:rPr lang="en-US" sz="2200" dirty="0" smtClean="0"/>
              <a:t>After the scenarios have been collected and so analyzed, the architect then begins the process of </a:t>
            </a:r>
            <a:r>
              <a:rPr lang="en-US" sz="2200" i="1" dirty="0" smtClean="0">
                <a:solidFill>
                  <a:srgbClr val="C00000"/>
                </a:solidFill>
              </a:rPr>
              <a:t>mapping</a:t>
            </a:r>
            <a:r>
              <a:rPr lang="en-US" sz="2200" dirty="0" smtClean="0"/>
              <a:t> the highest ranked scenarios onto whatever architectural descriptions have been presented.</a:t>
            </a:r>
          </a:p>
          <a:p>
            <a:r>
              <a:rPr lang="en-US" sz="2200" dirty="0" smtClean="0"/>
              <a:t>Ideally this activity will be dominated by the architect’s mapping of scenarios onto </a:t>
            </a:r>
            <a:r>
              <a:rPr lang="en-US" sz="2200" i="1" dirty="0" smtClean="0">
                <a:solidFill>
                  <a:srgbClr val="C00000"/>
                </a:solidFill>
              </a:rPr>
              <a:t>previously discussed</a:t>
            </a:r>
            <a:r>
              <a:rPr lang="en-US" sz="2200" dirty="0" smtClean="0"/>
              <a:t> architectural approaches.</a:t>
            </a:r>
          </a:p>
          <a:p>
            <a:r>
              <a:rPr lang="en-US" sz="2200" dirty="0" smtClean="0"/>
              <a:t>In fact the whole point of the hiatus between the two phases is to </a:t>
            </a:r>
            <a:r>
              <a:rPr lang="en-US" sz="2200" i="1" dirty="0" smtClean="0">
                <a:solidFill>
                  <a:srgbClr val="C00000"/>
                </a:solidFill>
              </a:rPr>
              <a:t>ensure</a:t>
            </a:r>
            <a:r>
              <a:rPr lang="en-US" sz="2200" dirty="0" smtClean="0"/>
              <a:t> that this is the case.</a:t>
            </a:r>
          </a:p>
          <a:p>
            <a:r>
              <a:rPr lang="en-US" sz="2200" dirty="0" smtClean="0"/>
              <a:t>If this is </a:t>
            </a:r>
            <a:r>
              <a:rPr lang="en-US" sz="2200" i="1" dirty="0" smtClean="0">
                <a:solidFill>
                  <a:srgbClr val="C00000"/>
                </a:solidFill>
              </a:rPr>
              <a:t>not the case</a:t>
            </a:r>
            <a:r>
              <a:rPr lang="en-US" sz="2200" dirty="0" smtClean="0"/>
              <a:t> then either the architect has no approach- or style-based (and hence no architecture-wide) solution for the stimulus that the scenario represents, or the approach exists but was not revealed by any activities up until this point.</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9 - Present Results</a:t>
            </a:r>
            <a:endParaRPr lang="en-US" dirty="0"/>
          </a:p>
        </p:txBody>
      </p:sp>
      <p:sp>
        <p:nvSpPr>
          <p:cNvPr id="3" name="Content Placeholder 2"/>
          <p:cNvSpPr>
            <a:spLocks noGrp="1"/>
          </p:cNvSpPr>
          <p:nvPr>
            <p:ph idx="1"/>
          </p:nvPr>
        </p:nvSpPr>
        <p:spPr>
          <a:xfrm>
            <a:off x="457200" y="1600201"/>
            <a:ext cx="8229600" cy="3124200"/>
          </a:xfrm>
        </p:spPr>
        <p:txBody>
          <a:bodyPr/>
          <a:lstStyle/>
          <a:p>
            <a:r>
              <a:rPr lang="en-US" sz="2400" dirty="0" smtClean="0"/>
              <a:t>the architectural approaches/styles documented</a:t>
            </a:r>
          </a:p>
          <a:p>
            <a:r>
              <a:rPr lang="en-US" sz="2400" dirty="0" smtClean="0"/>
              <a:t>the set of scenarios and their prioritization</a:t>
            </a:r>
          </a:p>
          <a:p>
            <a:r>
              <a:rPr lang="en-US" sz="2400" dirty="0" smtClean="0"/>
              <a:t>the set of attribute-based questions</a:t>
            </a:r>
          </a:p>
          <a:p>
            <a:r>
              <a:rPr lang="en-US" sz="2400" dirty="0" smtClean="0"/>
              <a:t>the utility tree</a:t>
            </a:r>
          </a:p>
          <a:p>
            <a:r>
              <a:rPr lang="en-US" sz="2400" dirty="0" smtClean="0"/>
              <a:t>the risks discovered</a:t>
            </a:r>
          </a:p>
          <a:p>
            <a:r>
              <a:rPr lang="en-US" sz="2400" dirty="0" smtClean="0"/>
              <a:t>the non-risks documented</a:t>
            </a:r>
          </a:p>
          <a:p>
            <a:r>
              <a:rPr lang="en-US" sz="2400" dirty="0" smtClean="0"/>
              <a:t>the sensitivity points and tradeoff points found</a:t>
            </a:r>
            <a:endParaRPr lang="en-US" sz="2400" dirty="0"/>
          </a:p>
        </p:txBody>
      </p:sp>
      <p:sp>
        <p:nvSpPr>
          <p:cNvPr id="4" name="Rectangle 3"/>
          <p:cNvSpPr/>
          <p:nvPr/>
        </p:nvSpPr>
        <p:spPr>
          <a:xfrm>
            <a:off x="609601" y="5036403"/>
            <a:ext cx="7772400" cy="83099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2400" b="1" dirty="0" smtClean="0">
                <a:solidFill>
                  <a:srgbClr val="C00000"/>
                </a:solidFill>
                <a:latin typeface="+mj-lt"/>
              </a:rPr>
              <a:t>The results are improved architectures, based on subjective judgment influenced by the participants' experience.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Cost Benefit Analysis Method Context [4]</a:t>
            </a:r>
            <a:endParaRPr lang="en-US" sz="3800" dirty="0"/>
          </a:p>
        </p:txBody>
      </p:sp>
      <p:sp>
        <p:nvSpPr>
          <p:cNvPr id="3" name="Content Placeholder 2"/>
          <p:cNvSpPr>
            <a:spLocks noGrp="1"/>
          </p:cNvSpPr>
          <p:nvPr>
            <p:ph idx="1"/>
          </p:nvPr>
        </p:nvSpPr>
        <p:spPr>
          <a:xfrm>
            <a:off x="457200" y="1600200"/>
            <a:ext cx="8229600" cy="2743199"/>
          </a:xfrm>
        </p:spPr>
        <p:txBody>
          <a:bodyPr/>
          <a:lstStyle/>
          <a:p>
            <a:r>
              <a:rPr lang="en-US" sz="1800" dirty="0" smtClean="0"/>
              <a:t>The software architect or decision maker needs to maximize the difference between the </a:t>
            </a:r>
            <a:r>
              <a:rPr lang="en-US" sz="1800" i="1" dirty="0" smtClean="0">
                <a:solidFill>
                  <a:srgbClr val="C00000"/>
                </a:solidFill>
              </a:rPr>
              <a:t>benefit</a:t>
            </a:r>
            <a:r>
              <a:rPr lang="en-US" sz="1800" dirty="0" smtClean="0"/>
              <a:t> derived from the system and the </a:t>
            </a:r>
            <a:r>
              <a:rPr lang="en-US" sz="1800" i="1" dirty="0" smtClean="0">
                <a:solidFill>
                  <a:srgbClr val="C00000"/>
                </a:solidFill>
              </a:rPr>
              <a:t>cost</a:t>
            </a:r>
            <a:r>
              <a:rPr lang="en-US" sz="1800" dirty="0" smtClean="0"/>
              <a:t> of implementing the design.</a:t>
            </a:r>
          </a:p>
          <a:p>
            <a:r>
              <a:rPr lang="en-US" sz="1800" dirty="0" smtClean="0"/>
              <a:t>The CBAM begins where the ATAM concludes and </a:t>
            </a:r>
            <a:r>
              <a:rPr lang="en-US" sz="1800" i="1" dirty="0" smtClean="0">
                <a:solidFill>
                  <a:srgbClr val="C00000"/>
                </a:solidFill>
              </a:rPr>
              <a:t>depends on</a:t>
            </a:r>
            <a:r>
              <a:rPr lang="en-US" sz="1800" dirty="0" smtClean="0"/>
              <a:t> the artifacts produced by the ATAM.</a:t>
            </a:r>
          </a:p>
          <a:p>
            <a:r>
              <a:rPr lang="en-US" sz="1800" dirty="0" smtClean="0"/>
              <a:t>The ATAM uncovers the </a:t>
            </a:r>
            <a:r>
              <a:rPr lang="en-US" sz="1800" i="1" dirty="0" smtClean="0">
                <a:solidFill>
                  <a:srgbClr val="C00000"/>
                </a:solidFill>
              </a:rPr>
              <a:t>architectural decisions</a:t>
            </a:r>
            <a:r>
              <a:rPr lang="en-US" sz="1800" dirty="0" smtClean="0"/>
              <a:t> made in the system and links them to </a:t>
            </a:r>
            <a:r>
              <a:rPr lang="en-US" sz="1800" i="1" dirty="0" smtClean="0">
                <a:solidFill>
                  <a:srgbClr val="C00000"/>
                </a:solidFill>
              </a:rPr>
              <a:t>business goals</a:t>
            </a:r>
            <a:r>
              <a:rPr lang="en-US" sz="1800" dirty="0" smtClean="0"/>
              <a:t> and </a:t>
            </a:r>
            <a:r>
              <a:rPr lang="en-US" sz="1800" i="1" dirty="0" smtClean="0">
                <a:solidFill>
                  <a:srgbClr val="C00000"/>
                </a:solidFill>
              </a:rPr>
              <a:t>QA response measures</a:t>
            </a:r>
            <a:r>
              <a:rPr lang="en-US" sz="1800" dirty="0" smtClean="0"/>
              <a:t>.</a:t>
            </a:r>
          </a:p>
          <a:p>
            <a:r>
              <a:rPr lang="en-US" sz="1800" dirty="0" smtClean="0"/>
              <a:t>The CBAM builds on this foundation by eliciting the </a:t>
            </a:r>
            <a:r>
              <a:rPr lang="en-US" sz="1800" i="1" dirty="0" smtClean="0">
                <a:solidFill>
                  <a:srgbClr val="C00000"/>
                </a:solidFill>
              </a:rPr>
              <a:t>costs and benefits</a:t>
            </a:r>
            <a:r>
              <a:rPr lang="en-US" sz="1800" dirty="0" smtClean="0"/>
              <a:t> associated with these decisions.</a:t>
            </a:r>
            <a:endParaRPr lang="en-US" sz="1800" dirty="0"/>
          </a:p>
        </p:txBody>
      </p:sp>
      <p:pic>
        <p:nvPicPr>
          <p:cNvPr id="1026" name="Picture 2"/>
          <p:cNvPicPr>
            <a:picLocks noChangeAspect="1" noChangeArrowheads="1"/>
          </p:cNvPicPr>
          <p:nvPr/>
        </p:nvPicPr>
        <p:blipFill>
          <a:blip r:embed="rId2" cstate="print"/>
          <a:srcRect/>
          <a:stretch>
            <a:fillRect/>
          </a:stretch>
        </p:blipFill>
        <p:spPr bwMode="auto">
          <a:xfrm>
            <a:off x="2085975" y="4343400"/>
            <a:ext cx="4972050" cy="230505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Iteration I: Establish an Initial Ranking (I)</a:t>
            </a:r>
            <a:endParaRPr lang="en-US" sz="3800" dirty="0"/>
          </a:p>
        </p:txBody>
      </p:sp>
      <p:sp>
        <p:nvSpPr>
          <p:cNvPr id="3" name="Content Placeholder 2"/>
          <p:cNvSpPr>
            <a:spLocks noGrp="1"/>
          </p:cNvSpPr>
          <p:nvPr>
            <p:ph idx="1"/>
          </p:nvPr>
        </p:nvSpPr>
        <p:spPr/>
        <p:txBody>
          <a:bodyPr/>
          <a:lstStyle/>
          <a:p>
            <a:r>
              <a:rPr lang="en-US" sz="2400" dirty="0" smtClean="0"/>
              <a:t>Step 1: Collate scenarios.</a:t>
            </a:r>
          </a:p>
          <a:p>
            <a:r>
              <a:rPr lang="en-US" sz="2400" dirty="0" smtClean="0"/>
              <a:t>Step 2: Refine scenarios.</a:t>
            </a:r>
          </a:p>
          <a:p>
            <a:pPr lvl="1"/>
            <a:r>
              <a:rPr lang="en-US" sz="2000" dirty="0" smtClean="0"/>
              <a:t>Elicit the worst, current, desired, and best-case QA response level for each scenario.</a:t>
            </a:r>
          </a:p>
          <a:p>
            <a:r>
              <a:rPr lang="en-US" sz="2400" dirty="0" smtClean="0"/>
              <a:t>Step 3: Prioritize scenarios.</a:t>
            </a:r>
          </a:p>
          <a:p>
            <a:pPr lvl="1"/>
            <a:r>
              <a:rPr lang="en-US" sz="2000" dirty="0" smtClean="0"/>
              <a:t>Allocate 100 votes to each stakeholder and have them distribute the votes among the scenarios by considering the desired response value for each scenario.</a:t>
            </a:r>
          </a:p>
          <a:p>
            <a:r>
              <a:rPr lang="en-US" sz="2400" dirty="0" smtClean="0"/>
              <a:t>Step 4: Assign utility.</a:t>
            </a:r>
          </a:p>
          <a:p>
            <a:pPr lvl="1"/>
            <a:r>
              <a:rPr lang="en-US" sz="2000" dirty="0" smtClean="0"/>
              <a:t>Determine the utility for each QA response level (worst-case, current, desired, or best-case) for all scenarios.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Iteration I: Establish an Initial Ranking (II)</a:t>
            </a:r>
            <a:endParaRPr lang="en-US" sz="3800" dirty="0"/>
          </a:p>
        </p:txBody>
      </p:sp>
      <p:sp>
        <p:nvSpPr>
          <p:cNvPr id="3" name="Content Placeholder 2"/>
          <p:cNvSpPr>
            <a:spLocks noGrp="1"/>
          </p:cNvSpPr>
          <p:nvPr>
            <p:ph idx="1"/>
          </p:nvPr>
        </p:nvSpPr>
        <p:spPr/>
        <p:txBody>
          <a:bodyPr/>
          <a:lstStyle/>
          <a:p>
            <a:r>
              <a:rPr lang="en-US" sz="2400" dirty="0" smtClean="0"/>
              <a:t>Step 5: Develop ASs for scenarios and determine their expected QA response levels.</a:t>
            </a:r>
          </a:p>
          <a:p>
            <a:r>
              <a:rPr lang="en-US" sz="2400" dirty="0" smtClean="0"/>
              <a:t>Step 6: Determine the utility of the expected QA response level by interpolation.</a:t>
            </a:r>
          </a:p>
          <a:p>
            <a:r>
              <a:rPr lang="en-US" sz="2400" dirty="0" smtClean="0"/>
              <a:t>Step 7: Calculate the total benefit obtained from an AS.</a:t>
            </a:r>
          </a:p>
          <a:p>
            <a:r>
              <a:rPr lang="en-US" sz="2400" dirty="0" smtClean="0"/>
              <a:t>Step 8: Choose ASs based on ROI, subject to cost and schedule constraints.</a:t>
            </a:r>
          </a:p>
          <a:p>
            <a:r>
              <a:rPr lang="en-US" sz="2400" dirty="0" smtClean="0"/>
              <a:t>Step 9: Confirm the results with intuition.</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Iteration II: Incorporating Uncertainty</a:t>
            </a:r>
            <a:endParaRPr lang="en-US" sz="4000" dirty="0"/>
          </a:p>
        </p:txBody>
      </p:sp>
      <p:sp>
        <p:nvSpPr>
          <p:cNvPr id="3" name="Content Placeholder 2"/>
          <p:cNvSpPr>
            <a:spLocks noGrp="1"/>
          </p:cNvSpPr>
          <p:nvPr>
            <p:ph idx="1"/>
          </p:nvPr>
        </p:nvSpPr>
        <p:spPr/>
        <p:txBody>
          <a:bodyPr/>
          <a:lstStyle/>
          <a:p>
            <a:r>
              <a:rPr lang="en-US" sz="2200" dirty="0" smtClean="0"/>
              <a:t>The CBAM relies on stakeholder </a:t>
            </a:r>
            <a:r>
              <a:rPr lang="en-US" sz="2200" i="1" dirty="0" smtClean="0">
                <a:solidFill>
                  <a:srgbClr val="C00000"/>
                </a:solidFill>
              </a:rPr>
              <a:t>judgments</a:t>
            </a:r>
            <a:r>
              <a:rPr lang="en-US" sz="2200" dirty="0" smtClean="0"/>
              <a:t> for its valuations of software benefits and costs.</a:t>
            </a:r>
          </a:p>
          <a:p>
            <a:r>
              <a:rPr lang="en-US" sz="2200" dirty="0" smtClean="0"/>
              <a:t>But these judgments will naturally be </a:t>
            </a:r>
            <a:r>
              <a:rPr lang="en-US" sz="2200" i="1" dirty="0" smtClean="0">
                <a:solidFill>
                  <a:srgbClr val="C00000"/>
                </a:solidFill>
              </a:rPr>
              <a:t>uncertain</a:t>
            </a:r>
            <a:r>
              <a:rPr lang="en-US" sz="2200" dirty="0" smtClean="0"/>
              <a:t>, due to differences in beliefs and experiences.</a:t>
            </a:r>
          </a:p>
          <a:p>
            <a:r>
              <a:rPr lang="en-US" sz="2200" dirty="0" smtClean="0"/>
              <a:t>One way to think rigorously about the uncertainty of the results collected in Iteration I is to </a:t>
            </a:r>
            <a:r>
              <a:rPr lang="en-US" sz="2200" i="1" dirty="0" smtClean="0">
                <a:solidFill>
                  <a:srgbClr val="C00000"/>
                </a:solidFill>
              </a:rPr>
              <a:t>collect and consider the risks</a:t>
            </a:r>
            <a:r>
              <a:rPr lang="en-US" sz="2200" dirty="0" smtClean="0"/>
              <a:t> inherent in the estimates that have been made.</a:t>
            </a:r>
          </a:p>
          <a:p>
            <a:r>
              <a:rPr lang="en-US" sz="2200" dirty="0" smtClean="0"/>
              <a:t>The stakeholders need to assess the probability and impact of each risk and use this to create </a:t>
            </a:r>
            <a:r>
              <a:rPr lang="en-US" sz="2200" i="1" dirty="0" smtClean="0">
                <a:solidFill>
                  <a:srgbClr val="C00000"/>
                </a:solidFill>
              </a:rPr>
              <a:t>a delta</a:t>
            </a:r>
            <a:r>
              <a:rPr lang="en-US" sz="2200" dirty="0" smtClean="0"/>
              <a:t> expected cost, delta expected response, and utility value for each risk affecting each AS.</a:t>
            </a:r>
          </a:p>
          <a:p>
            <a:r>
              <a:rPr lang="en-US" sz="2200" dirty="0" smtClean="0"/>
              <a:t>The final result of this iteration is to associate with each cost, response, and utility </a:t>
            </a:r>
            <a:r>
              <a:rPr lang="en-US" sz="2200" i="1" dirty="0" smtClean="0">
                <a:solidFill>
                  <a:srgbClr val="C00000"/>
                </a:solidFill>
              </a:rPr>
              <a:t>a range (distribution) of values</a:t>
            </a:r>
            <a:r>
              <a:rPr lang="en-US" sz="2200" dirty="0" smtClean="0"/>
              <a:t>, rather than a single point value for each.</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Abstract Machine [5]</a:t>
            </a:r>
            <a:endParaRPr lang="en-US" dirty="0"/>
          </a:p>
        </p:txBody>
      </p:sp>
      <p:sp>
        <p:nvSpPr>
          <p:cNvPr id="3" name="Content Placeholder 2"/>
          <p:cNvSpPr>
            <a:spLocks noGrp="1"/>
          </p:cNvSpPr>
          <p:nvPr>
            <p:ph idx="1"/>
          </p:nvPr>
        </p:nvSpPr>
        <p:spPr/>
        <p:txBody>
          <a:bodyPr/>
          <a:lstStyle/>
          <a:p>
            <a:r>
              <a:rPr lang="en-US" sz="2200" dirty="0" smtClean="0"/>
              <a:t>The </a:t>
            </a:r>
            <a:r>
              <a:rPr lang="en-US" sz="2200" i="1" dirty="0" smtClean="0">
                <a:solidFill>
                  <a:srgbClr val="C00000"/>
                </a:solidFill>
              </a:rPr>
              <a:t>Chemical Abstract Machine</a:t>
            </a:r>
            <a:r>
              <a:rPr lang="en-US" sz="2200" dirty="0" smtClean="0"/>
              <a:t> is a term rewriting formalism that leads to a description of an architecture as a set of static components (the "molecules") whose states and interactions are governed by transformation rules (the "re-actions").</a:t>
            </a:r>
          </a:p>
          <a:p>
            <a:r>
              <a:rPr lang="en-US" sz="2200" dirty="0" smtClean="0"/>
              <a:t>A Chemical Abstract Machine is specified by defining </a:t>
            </a:r>
            <a:r>
              <a:rPr lang="en-US" sz="2200" i="1" dirty="0" smtClean="0">
                <a:solidFill>
                  <a:srgbClr val="C00000"/>
                </a:solidFill>
              </a:rPr>
              <a:t>molecules</a:t>
            </a:r>
            <a:r>
              <a:rPr lang="en-US" sz="2200" dirty="0" smtClean="0"/>
              <a:t> m</a:t>
            </a:r>
            <a:r>
              <a:rPr lang="en-US" sz="2200" baseline="-25000" dirty="0" smtClean="0"/>
              <a:t>1</a:t>
            </a:r>
            <a:r>
              <a:rPr lang="en-US" sz="2200" dirty="0" smtClean="0"/>
              <a:t>, m</a:t>
            </a:r>
            <a:r>
              <a:rPr lang="en-US" sz="2200" baseline="-25000" dirty="0" smtClean="0"/>
              <a:t>2</a:t>
            </a:r>
            <a:r>
              <a:rPr lang="en-US" sz="2200" dirty="0" smtClean="0"/>
              <a:t>, … and </a:t>
            </a:r>
            <a:r>
              <a:rPr lang="en-US" sz="2200" i="1" dirty="0" smtClean="0">
                <a:solidFill>
                  <a:srgbClr val="C00000"/>
                </a:solidFill>
              </a:rPr>
              <a:t>solutions</a:t>
            </a:r>
            <a:r>
              <a:rPr lang="en-US" sz="2200" dirty="0" smtClean="0"/>
              <a:t> S</a:t>
            </a:r>
            <a:r>
              <a:rPr lang="en-US" sz="2200" baseline="-25000" dirty="0" smtClean="0"/>
              <a:t>1</a:t>
            </a:r>
            <a:r>
              <a:rPr lang="en-US" sz="2200" dirty="0" smtClean="0"/>
              <a:t>, S</a:t>
            </a:r>
            <a:r>
              <a:rPr lang="en-US" sz="2200" baseline="-25000" dirty="0" smtClean="0"/>
              <a:t>2</a:t>
            </a:r>
            <a:r>
              <a:rPr lang="en-US" sz="2200" dirty="0" smtClean="0"/>
              <a:t>, … of molecules.</a:t>
            </a:r>
          </a:p>
          <a:p>
            <a:r>
              <a:rPr lang="en-US" sz="2200" dirty="0" smtClean="0"/>
              <a:t>Molecules constitute the basic elements of a CHAM, while solutions are multi-sets of molecules interpreted as defining the </a:t>
            </a:r>
            <a:r>
              <a:rPr lang="en-US" sz="2200" i="1" dirty="0" smtClean="0">
                <a:solidFill>
                  <a:srgbClr val="C00000"/>
                </a:solidFill>
              </a:rPr>
              <a:t>states</a:t>
            </a:r>
            <a:r>
              <a:rPr lang="en-US" sz="2200" dirty="0" smtClean="0"/>
              <a:t> of the CHAM.</a:t>
            </a:r>
          </a:p>
          <a:p>
            <a:r>
              <a:rPr lang="en-US" sz="2200" dirty="0" smtClean="0"/>
              <a:t>A CHAM specification also contains </a:t>
            </a:r>
            <a:r>
              <a:rPr lang="en-US" sz="2200" i="1" dirty="0" smtClean="0">
                <a:solidFill>
                  <a:srgbClr val="C00000"/>
                </a:solidFill>
              </a:rPr>
              <a:t>transformation rules</a:t>
            </a:r>
            <a:r>
              <a:rPr lang="en-US" sz="2200" dirty="0" smtClean="0"/>
              <a:t> T</a:t>
            </a:r>
            <a:r>
              <a:rPr lang="en-US" sz="2200" baseline="-25000" dirty="0" smtClean="0"/>
              <a:t>1</a:t>
            </a:r>
            <a:r>
              <a:rPr lang="en-US" sz="2200" dirty="0" smtClean="0"/>
              <a:t>, T</a:t>
            </a:r>
            <a:r>
              <a:rPr lang="en-US" sz="2200" baseline="-25000" dirty="0" smtClean="0"/>
              <a:t>2</a:t>
            </a:r>
            <a:r>
              <a:rPr lang="en-US" sz="2200" dirty="0" smtClean="0"/>
              <a:t>, ... each defining a transformation relation S</a:t>
            </a:r>
            <a:r>
              <a:rPr lang="en-US" sz="2200" baseline="-25000" dirty="0" smtClean="0"/>
              <a:t>1</a:t>
            </a:r>
            <a:r>
              <a:rPr lang="en-US" sz="2200" dirty="0" smtClean="0"/>
              <a:t> → S</a:t>
            </a:r>
            <a:r>
              <a:rPr lang="en-US" sz="2200" baseline="-25000" dirty="0" smtClean="0"/>
              <a:t>2</a:t>
            </a:r>
            <a:r>
              <a:rPr lang="en-US" sz="2200" dirty="0" smtClean="0"/>
              <a:t>, dictating the way solutions can evolve (i.e., states can change) in the CHAM.</a:t>
            </a:r>
            <a:endParaRPr 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Molecules / Transformation Rules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Molecules</a:t>
            </a:r>
            <a:r>
              <a:rPr lang="en-US" sz="2400" dirty="0" smtClean="0"/>
              <a:t> are defined as terms of a syntactic algebra that derive from a set of constants and a set of operations defined for a specific CHAM.</a:t>
            </a:r>
          </a:p>
          <a:p>
            <a:r>
              <a:rPr lang="en-US" sz="2400" dirty="0" smtClean="0"/>
              <a:t>For architecture specification, these sets would include a set D representing the </a:t>
            </a:r>
            <a:r>
              <a:rPr lang="en-US" sz="2400" i="1" dirty="0" smtClean="0">
                <a:solidFill>
                  <a:srgbClr val="C00000"/>
                </a:solidFill>
              </a:rPr>
              <a:t>data elements</a:t>
            </a:r>
            <a:r>
              <a:rPr lang="en-US" sz="2400" dirty="0" smtClean="0"/>
              <a:t>, a set P representing the </a:t>
            </a:r>
            <a:r>
              <a:rPr lang="en-US" sz="2400" i="1" dirty="0" smtClean="0">
                <a:solidFill>
                  <a:srgbClr val="C00000"/>
                </a:solidFill>
              </a:rPr>
              <a:t>processing elements</a:t>
            </a:r>
            <a:r>
              <a:rPr lang="en-US" sz="2400" dirty="0" smtClean="0"/>
              <a:t>, and a set C representing the </a:t>
            </a:r>
            <a:r>
              <a:rPr lang="en-US" sz="2400" i="1" dirty="0" smtClean="0">
                <a:solidFill>
                  <a:srgbClr val="C00000"/>
                </a:solidFill>
              </a:rPr>
              <a:t>connecting elements</a:t>
            </a:r>
            <a:r>
              <a:rPr lang="en-US" sz="2400" dirty="0" smtClean="0"/>
              <a:t>.</a:t>
            </a:r>
          </a:p>
          <a:p>
            <a:r>
              <a:rPr lang="en-US" sz="2400" dirty="0" smtClean="0"/>
              <a:t>The transformation rules can be of two kinds: </a:t>
            </a:r>
            <a:r>
              <a:rPr lang="en-US" sz="2400" i="1" dirty="0" smtClean="0">
                <a:solidFill>
                  <a:srgbClr val="C00000"/>
                </a:solidFill>
              </a:rPr>
              <a:t>general laws</a:t>
            </a:r>
            <a:r>
              <a:rPr lang="en-US" sz="2400" dirty="0" smtClean="0"/>
              <a:t> that are valid for </a:t>
            </a:r>
            <a:r>
              <a:rPr lang="en-US" sz="2400" u="sng" dirty="0" smtClean="0"/>
              <a:t>all</a:t>
            </a:r>
            <a:r>
              <a:rPr lang="en-US" sz="2400" dirty="0" smtClean="0"/>
              <a:t> CHAMs and </a:t>
            </a:r>
            <a:r>
              <a:rPr lang="en-US" sz="2400" i="1" dirty="0" smtClean="0">
                <a:solidFill>
                  <a:srgbClr val="C00000"/>
                </a:solidFill>
              </a:rPr>
              <a:t>specific rules</a:t>
            </a:r>
            <a:r>
              <a:rPr lang="en-US" sz="2400" dirty="0" smtClean="0"/>
              <a:t> defined for the </a:t>
            </a:r>
            <a:r>
              <a:rPr lang="en-US" sz="2400" u="sng" dirty="0" smtClean="0"/>
              <a:t>particular</a:t>
            </a:r>
            <a:r>
              <a:rPr lang="en-US" sz="2400" dirty="0" smtClean="0"/>
              <a:t> CHAM being specified.</a:t>
            </a:r>
          </a:p>
          <a:p>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Architecture-based Testing with CHAM</a:t>
            </a:r>
            <a:endParaRPr lang="en-US" sz="4000" dirty="0"/>
          </a:p>
        </p:txBody>
      </p:sp>
      <p:sp>
        <p:nvSpPr>
          <p:cNvPr id="3" name="Content Placeholder 2"/>
          <p:cNvSpPr>
            <a:spLocks noGrp="1"/>
          </p:cNvSpPr>
          <p:nvPr>
            <p:ph idx="1"/>
          </p:nvPr>
        </p:nvSpPr>
        <p:spPr/>
        <p:txBody>
          <a:bodyPr/>
          <a:lstStyle/>
          <a:p>
            <a:r>
              <a:rPr lang="en-US" sz="2400" dirty="0" smtClean="0"/>
              <a:t>Just as an individual unit's implementation and specification consist of </a:t>
            </a:r>
            <a:r>
              <a:rPr lang="en-US" sz="2400" i="1" dirty="0" smtClean="0">
                <a:solidFill>
                  <a:srgbClr val="C00000"/>
                </a:solidFill>
              </a:rPr>
              <a:t>data</a:t>
            </a:r>
            <a:r>
              <a:rPr lang="en-US" sz="2400" dirty="0" smtClean="0"/>
              <a:t>, </a:t>
            </a:r>
            <a:r>
              <a:rPr lang="en-US" sz="2400" i="1" dirty="0" smtClean="0">
                <a:solidFill>
                  <a:srgbClr val="C00000"/>
                </a:solidFill>
              </a:rPr>
              <a:t>statements</a:t>
            </a:r>
            <a:r>
              <a:rPr lang="en-US" sz="2400" dirty="0" smtClean="0"/>
              <a:t> or assertions, and </a:t>
            </a:r>
            <a:r>
              <a:rPr lang="en-US" sz="2400" i="1" dirty="0" smtClean="0">
                <a:solidFill>
                  <a:srgbClr val="C00000"/>
                </a:solidFill>
              </a:rPr>
              <a:t>control</a:t>
            </a:r>
            <a:r>
              <a:rPr lang="en-US" sz="2400" dirty="0" smtClean="0"/>
              <a:t>, an architecture is similarly composed of </a:t>
            </a:r>
            <a:r>
              <a:rPr lang="en-US" sz="2400" i="1" dirty="0" smtClean="0">
                <a:solidFill>
                  <a:srgbClr val="C00000"/>
                </a:solidFill>
              </a:rPr>
              <a:t>data elements</a:t>
            </a:r>
            <a:r>
              <a:rPr lang="en-US" sz="2400" dirty="0" smtClean="0"/>
              <a:t>, </a:t>
            </a:r>
            <a:r>
              <a:rPr lang="en-US" sz="2400" i="1" dirty="0" smtClean="0">
                <a:solidFill>
                  <a:srgbClr val="C00000"/>
                </a:solidFill>
              </a:rPr>
              <a:t>processing elements</a:t>
            </a:r>
            <a:r>
              <a:rPr lang="en-US" sz="2400" dirty="0" smtClean="0"/>
              <a:t>, and </a:t>
            </a:r>
            <a:r>
              <a:rPr lang="en-US" sz="2400" i="1" dirty="0" smtClean="0">
                <a:solidFill>
                  <a:srgbClr val="C00000"/>
                </a:solidFill>
              </a:rPr>
              <a:t>connecting elements</a:t>
            </a:r>
            <a:r>
              <a:rPr lang="en-US" sz="2400" dirty="0" smtClean="0"/>
              <a:t>.</a:t>
            </a:r>
          </a:p>
          <a:p>
            <a:r>
              <a:rPr lang="en-US" sz="2400" dirty="0" smtClean="0"/>
              <a:t>These elements as well as the complex of relationships among the elements should </a:t>
            </a:r>
            <a:r>
              <a:rPr lang="en-US" sz="2400" i="1" dirty="0" smtClean="0">
                <a:solidFill>
                  <a:srgbClr val="C00000"/>
                </a:solidFill>
              </a:rPr>
              <a:t>be exercised</a:t>
            </a:r>
            <a:r>
              <a:rPr lang="en-US" sz="2400" dirty="0" smtClean="0"/>
              <a:t> to adequately test the architecture.</a:t>
            </a:r>
          </a:p>
          <a:p>
            <a:r>
              <a:rPr lang="en-US" sz="2400" dirty="0" smtClean="0"/>
              <a:t>The CHAM for a software architecture defines molecules (elements), solutions (combinations of elements) and transformations between solutions all of which should be exercised during testing at the </a:t>
            </a:r>
            <a:r>
              <a:rPr lang="en-US" sz="2400" i="1" dirty="0" smtClean="0">
                <a:solidFill>
                  <a:srgbClr val="C00000"/>
                </a:solidFill>
              </a:rPr>
              <a:t>architectural level</a:t>
            </a:r>
            <a:r>
              <a:rPr lang="en-US" sz="2400" dirty="0" smtClean="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Architecture-Based Testing Process</a:t>
            </a:r>
            <a:endParaRPr lang="en-US" dirty="0"/>
          </a:p>
        </p:txBody>
      </p:sp>
      <p:sp>
        <p:nvSpPr>
          <p:cNvPr id="3" name="Content Placeholder 2"/>
          <p:cNvSpPr>
            <a:spLocks noGrp="1"/>
          </p:cNvSpPr>
          <p:nvPr>
            <p:ph idx="1"/>
          </p:nvPr>
        </p:nvSpPr>
        <p:spPr/>
        <p:txBody>
          <a:bodyPr/>
          <a:lstStyle/>
          <a:p>
            <a:r>
              <a:rPr lang="en-US" sz="2600" dirty="0" smtClean="0"/>
              <a:t>Basically, </a:t>
            </a:r>
            <a:r>
              <a:rPr lang="en-US" sz="2600" i="1" dirty="0" smtClean="0">
                <a:solidFill>
                  <a:srgbClr val="C00000"/>
                </a:solidFill>
              </a:rPr>
              <a:t>applying</a:t>
            </a:r>
            <a:r>
              <a:rPr lang="en-US" sz="2600" dirty="0" smtClean="0"/>
              <a:t> any one of our CHAM-based criterion proceeds as follows</a:t>
            </a:r>
          </a:p>
          <a:p>
            <a:pPr lvl="1"/>
            <a:r>
              <a:rPr lang="en-US" sz="2200" dirty="0" smtClean="0"/>
              <a:t>(1) it determines the </a:t>
            </a:r>
            <a:r>
              <a:rPr lang="en-US" sz="2200" i="1" dirty="0" smtClean="0">
                <a:solidFill>
                  <a:srgbClr val="C00000"/>
                </a:solidFill>
              </a:rPr>
              <a:t>set of structures</a:t>
            </a:r>
            <a:r>
              <a:rPr lang="en-US" sz="2200" dirty="0" smtClean="0"/>
              <a:t> to be covered by the test plan</a:t>
            </a:r>
          </a:p>
          <a:p>
            <a:pPr lvl="1"/>
            <a:r>
              <a:rPr lang="en-US" sz="2200" dirty="0" smtClean="0"/>
              <a:t>(2) it specifies a </a:t>
            </a:r>
            <a:r>
              <a:rPr lang="en-US" sz="2200" i="1" dirty="0" smtClean="0">
                <a:solidFill>
                  <a:srgbClr val="C00000"/>
                </a:solidFill>
              </a:rPr>
              <a:t>set of "paths"</a:t>
            </a:r>
            <a:r>
              <a:rPr lang="en-US" sz="2200" dirty="0" smtClean="0"/>
              <a:t> through the architecture that cover these structures, where each "path" is the set of solutions generated; and</a:t>
            </a:r>
          </a:p>
          <a:p>
            <a:pPr lvl="1"/>
            <a:r>
              <a:rPr lang="en-US" sz="2200" dirty="0" smtClean="0"/>
              <a:t>(3) it defines </a:t>
            </a:r>
            <a:r>
              <a:rPr lang="en-US" sz="2200" i="1" dirty="0" smtClean="0">
                <a:solidFill>
                  <a:srgbClr val="C00000"/>
                </a:solidFill>
              </a:rPr>
              <a:t>test data</a:t>
            </a:r>
            <a:r>
              <a:rPr lang="en-US" sz="2200" dirty="0" smtClean="0"/>
              <a:t> in terms of the architecture's interaction with the outside world that would cause this set of solutions to be generated.</a:t>
            </a:r>
            <a:endParaRPr lang="en-US" sz="2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Architecture-Based Test Criteria</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all-data-elements</a:t>
            </a:r>
          </a:p>
          <a:p>
            <a:pPr lvl="1"/>
            <a:r>
              <a:rPr lang="en-US" sz="2000" dirty="0" smtClean="0"/>
              <a:t>for each data element d at least one solution contains a molecule involving d</a:t>
            </a:r>
          </a:p>
          <a:p>
            <a:r>
              <a:rPr lang="en-US" sz="2400" i="1" dirty="0" smtClean="0">
                <a:solidFill>
                  <a:srgbClr val="C00000"/>
                </a:solidFill>
              </a:rPr>
              <a:t>all-processing-elements</a:t>
            </a:r>
          </a:p>
          <a:p>
            <a:pPr lvl="1"/>
            <a:r>
              <a:rPr lang="en-US" sz="2000" dirty="0" smtClean="0"/>
              <a:t>for each processing element p at least one solution contains a molecule involving p</a:t>
            </a:r>
          </a:p>
          <a:p>
            <a:r>
              <a:rPr lang="en-US" sz="2400" dirty="0" smtClean="0"/>
              <a:t>all-connecting-elements</a:t>
            </a:r>
          </a:p>
          <a:p>
            <a:r>
              <a:rPr lang="en-US" sz="2400" dirty="0" smtClean="0"/>
              <a:t>all-transformations</a:t>
            </a:r>
          </a:p>
          <a:p>
            <a:r>
              <a:rPr lang="en-US" sz="2400" dirty="0" smtClean="0"/>
              <a:t>all-transformation-system</a:t>
            </a:r>
          </a:p>
          <a:p>
            <a:r>
              <a:rPr lang="en-US" sz="2400" dirty="0" smtClean="0"/>
              <a:t>all-data-dependences</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Metric Based Evaluation</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85775" y="1504950"/>
            <a:ext cx="8172450" cy="489585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Architectural Design Method [6]</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205038" y="1809750"/>
            <a:ext cx="4733925" cy="4133850"/>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Functionality-Based Architecture</a:t>
            </a:r>
            <a:endParaRPr lang="en-US" dirty="0"/>
          </a:p>
        </p:txBody>
      </p:sp>
      <p:sp>
        <p:nvSpPr>
          <p:cNvPr id="3" name="Content Placeholder 2"/>
          <p:cNvSpPr>
            <a:spLocks noGrp="1"/>
          </p:cNvSpPr>
          <p:nvPr>
            <p:ph idx="1"/>
          </p:nvPr>
        </p:nvSpPr>
        <p:spPr/>
        <p:txBody>
          <a:bodyPr/>
          <a:lstStyle/>
          <a:p>
            <a:r>
              <a:rPr lang="en-US" sz="2400" dirty="0" smtClean="0"/>
              <a:t>The main issue during this phase is to identify the </a:t>
            </a:r>
            <a:r>
              <a:rPr lang="en-US" sz="2400" i="1" dirty="0" smtClean="0">
                <a:solidFill>
                  <a:srgbClr val="C00000"/>
                </a:solidFill>
              </a:rPr>
              <a:t>core abstractions</a:t>
            </a:r>
            <a:r>
              <a:rPr lang="en-US" sz="2400" dirty="0" smtClean="0"/>
              <a:t> based on which the system is structured.</a:t>
            </a:r>
          </a:p>
          <a:p>
            <a:r>
              <a:rPr lang="en-US" sz="2400" dirty="0" smtClean="0"/>
              <a:t>Although these abstractions are modeled as </a:t>
            </a:r>
            <a:r>
              <a:rPr lang="en-US" sz="2400" i="1" dirty="0" smtClean="0">
                <a:solidFill>
                  <a:srgbClr val="C00000"/>
                </a:solidFill>
              </a:rPr>
              <a:t>objects</a:t>
            </a:r>
            <a:r>
              <a:rPr lang="en-US" sz="2400" dirty="0" smtClean="0"/>
              <a:t>, our experience is that these objects are </a:t>
            </a:r>
            <a:r>
              <a:rPr lang="en-US" sz="2400" u="sng" dirty="0" smtClean="0"/>
              <a:t>not found</a:t>
            </a:r>
            <a:r>
              <a:rPr lang="en-US" sz="2400" dirty="0" smtClean="0"/>
              <a:t> </a:t>
            </a:r>
            <a:r>
              <a:rPr lang="en-US" sz="2400" u="sng" dirty="0" smtClean="0"/>
              <a:t>immediately</a:t>
            </a:r>
            <a:r>
              <a:rPr lang="en-US" sz="2400" dirty="0" smtClean="0"/>
              <a:t> in the application domain.</a:t>
            </a:r>
          </a:p>
          <a:p>
            <a:r>
              <a:rPr lang="en-US" sz="2400" dirty="0" smtClean="0"/>
              <a:t>Instead, they are the result of a </a:t>
            </a:r>
            <a:r>
              <a:rPr lang="en-US" sz="2400" i="1" dirty="0" smtClean="0">
                <a:solidFill>
                  <a:srgbClr val="C00000"/>
                </a:solidFill>
              </a:rPr>
              <a:t>creative design process</a:t>
            </a:r>
            <a:r>
              <a:rPr lang="en-US" sz="2400" dirty="0" smtClean="0"/>
              <a:t> that, after analyzing the various domain entities, abstracts the most relevant properties and models them as architecture entities.</a:t>
            </a:r>
          </a:p>
          <a:p>
            <a:r>
              <a:rPr lang="en-US" sz="2400" dirty="0" smtClean="0"/>
              <a:t>Once the abstractions are identified, the </a:t>
            </a:r>
            <a:r>
              <a:rPr lang="en-US" sz="2400" i="1" dirty="0" smtClean="0">
                <a:solidFill>
                  <a:srgbClr val="C00000"/>
                </a:solidFill>
              </a:rPr>
              <a:t>interactions</a:t>
            </a:r>
            <a:r>
              <a:rPr lang="en-US" sz="2400" dirty="0" smtClean="0"/>
              <a:t> between them are defined in more detail.</a:t>
            </a:r>
          </a:p>
          <a:p>
            <a:r>
              <a:rPr lang="en-US" sz="2400" dirty="0" smtClean="0"/>
              <a:t>The architecture of a system generally covers </a:t>
            </a:r>
            <a:r>
              <a:rPr lang="en-US" sz="2400" i="1" dirty="0" smtClean="0">
                <a:solidFill>
                  <a:srgbClr val="C00000"/>
                </a:solidFill>
              </a:rPr>
              <a:t>multiple domains</a:t>
            </a:r>
            <a:r>
              <a:rPr lang="en-US" sz="2400" dirty="0" smtClean="0"/>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Estimating Non-Functional Requirements Values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Scenario-based evaluation</a:t>
            </a:r>
          </a:p>
          <a:p>
            <a:pPr lvl="1"/>
            <a:r>
              <a:rPr lang="en-US" sz="2000" dirty="0" smtClean="0"/>
              <a:t>The quality of the assessment is strongly related to the objective judgment of the engineer ‘running’ the scenarios.</a:t>
            </a:r>
          </a:p>
          <a:p>
            <a:r>
              <a:rPr lang="en-US" sz="2400" i="1" dirty="0" smtClean="0">
                <a:solidFill>
                  <a:srgbClr val="C00000"/>
                </a:solidFill>
              </a:rPr>
              <a:t>Simulation</a:t>
            </a:r>
          </a:p>
          <a:p>
            <a:pPr lvl="1"/>
            <a:r>
              <a:rPr lang="en-US" sz="2000" dirty="0" smtClean="0"/>
              <a:t>The main components of the architecture are implemented and other components are simulated resulting in an executable system.</a:t>
            </a:r>
          </a:p>
          <a:p>
            <a:r>
              <a:rPr lang="en-US" sz="2400" i="1" dirty="0" smtClean="0">
                <a:solidFill>
                  <a:srgbClr val="C00000"/>
                </a:solidFill>
              </a:rPr>
              <a:t>Mathematical modeling</a:t>
            </a:r>
          </a:p>
          <a:p>
            <a:pPr lvl="1"/>
            <a:r>
              <a:rPr lang="en-US" sz="2000" dirty="0" smtClean="0"/>
              <a:t>The mathematical models allow for static evaluation of architectural design models.</a:t>
            </a:r>
          </a:p>
          <a:p>
            <a:r>
              <a:rPr lang="en-US" sz="2400" i="1" dirty="0" smtClean="0">
                <a:solidFill>
                  <a:srgbClr val="C00000"/>
                </a:solidFill>
              </a:rPr>
              <a:t>Objective reasoning</a:t>
            </a:r>
          </a:p>
          <a:p>
            <a:pPr lvl="1"/>
            <a:r>
              <a:rPr lang="en-US" sz="2000" dirty="0" smtClean="0"/>
              <a:t>The ‘feeling’ that something was wrong. This approach may form the basis for the other evaluation approaches.</a:t>
            </a:r>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9621</TotalTime>
  <Words>2810</Words>
  <Application>Microsoft Office PowerPoint</Application>
  <PresentationFormat>On-screen Show (4:3)</PresentationFormat>
  <Paragraphs>183</Paragraphs>
  <Slides>46</Slides>
  <Notes>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Software Architecture Evaluation</vt:lpstr>
      <vt:lpstr>Objectives</vt:lpstr>
      <vt:lpstr>Contents</vt:lpstr>
      <vt:lpstr>References</vt:lpstr>
      <vt:lpstr>Software Architecture Evaluation [1]</vt:lpstr>
      <vt:lpstr>Why  Software Architecture Evaluation? [2]</vt:lpstr>
      <vt:lpstr>Who Evaluates Software Architecture? [3]</vt:lpstr>
      <vt:lpstr>What Does the Evaluation Produce?</vt:lpstr>
      <vt:lpstr>Slide 9</vt:lpstr>
      <vt:lpstr>Scenarios Based Evaluation</vt:lpstr>
      <vt:lpstr>Scenarios for Evaluation</vt:lpstr>
      <vt:lpstr>A Sample Utility Tree</vt:lpstr>
      <vt:lpstr>Architectural Information for Evaluation</vt:lpstr>
      <vt:lpstr>Architectural Style</vt:lpstr>
      <vt:lpstr>Attribute-Based Architecture Styles</vt:lpstr>
      <vt:lpstr>Attribute-Based Architecture Styles [3]</vt:lpstr>
      <vt:lpstr>Architecture Tradeoff Analysis Method (ATAM) [2]</vt:lpstr>
      <vt:lpstr>The Outputs of the ATAM</vt:lpstr>
      <vt:lpstr>A Structure for Reasoning</vt:lpstr>
      <vt:lpstr>Step 1 - Present the ATAM</vt:lpstr>
      <vt:lpstr>Step 2 - Present the Business Drivers</vt:lpstr>
      <vt:lpstr>Step 3 - Present the Architecture</vt:lpstr>
      <vt:lpstr>Step 4 - Identify Architectural Approaches</vt:lpstr>
      <vt:lpstr>Step 5 - Generate Quality Attribute Utility Tree</vt:lpstr>
      <vt:lpstr>Step 6 - Analyze Architectural Approaches</vt:lpstr>
      <vt:lpstr>Step 7 - Brainstorm and Prioritize Scenarios</vt:lpstr>
      <vt:lpstr>Step 8 - Analyze Architectural Approaches with Scenarios</vt:lpstr>
      <vt:lpstr>Step 9 - Present Results</vt:lpstr>
      <vt:lpstr>Slide 29</vt:lpstr>
      <vt:lpstr>Cost Benefit Analysis Method Context [4]</vt:lpstr>
      <vt:lpstr>Iteration I: Establish an Initial Ranking (I)</vt:lpstr>
      <vt:lpstr>Iteration I: Establish an Initial Ranking (II)</vt:lpstr>
      <vt:lpstr>Iteration II: Incorporating Uncertainty</vt:lpstr>
      <vt:lpstr>Slide 34</vt:lpstr>
      <vt:lpstr>Chemical Abstract Machine [5]</vt:lpstr>
      <vt:lpstr>Molecules / Transformation Rules</vt:lpstr>
      <vt:lpstr>Architecture-based Testing with CHAM</vt:lpstr>
      <vt:lpstr>Architecture-Based Testing Process</vt:lpstr>
      <vt:lpstr>Architecture-Based Test Criteria</vt:lpstr>
      <vt:lpstr>Slide 40</vt:lpstr>
      <vt:lpstr>Metric Based Evaluation</vt:lpstr>
      <vt:lpstr>Slide 42</vt:lpstr>
      <vt:lpstr>Architectural Design Method [6]</vt:lpstr>
      <vt:lpstr>Functionality-Based Architecture</vt:lpstr>
      <vt:lpstr>Estimating Non-Functional Requirements Values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3079</cp:revision>
  <dcterms:created xsi:type="dcterms:W3CDTF">2007-10-06T08:25:13Z</dcterms:created>
  <dcterms:modified xsi:type="dcterms:W3CDTF">2025-04-15T12:52:31Z</dcterms:modified>
</cp:coreProperties>
</file>