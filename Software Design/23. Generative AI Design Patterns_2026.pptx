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91440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E2711B"/>
                </a:solidFill>
                <a:latin typeface="Calibri"/>
              </a:rPr>
              <a:t>Chapter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libri"/>
              </a:rPr>
              <a:t>Generative AI Design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0" i="0">
                <a:solidFill>
                  <a:srgbClr val="CBD5E1"/>
                </a:solidFill>
                <a:latin typeface="Calibri"/>
              </a:rPr>
              <a:t>Introduction and Five Patterns for Software 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0" i="0">
                <a:solidFill>
                  <a:srgbClr val="9FB3C8"/>
                </a:solidFill>
                <a:latin typeface="Calibri"/>
              </a:rPr>
              <a:t>Software Design — Course Material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0" i="0">
                <a:solidFill>
                  <a:srgbClr val="9FB3C8"/>
                </a:solidFill>
                <a:latin typeface="Calibri"/>
              </a:rPr>
              <a:t>Lecturer: Ngo Huy Bien, PhD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9FB3C8"/>
                </a:solidFill>
                <a:latin typeface="Calibri"/>
              </a:rPr>
              <a:t>Based on Lakshmanan &amp; Hapke, Generative AI Design Patterns, O'Reilly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What we will cover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2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Why GenAI design patterns matter for software architects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The book at a glance — 32 patterns across 8 categories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Foundational concepts: LLMs, prompts, context, agents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Architectural lens: how we picked the top 5 patterns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Five patterns, each with a structure or sequence diagram:</a:t>
            </a:r>
          </a:p>
          <a:p>
            <a:pPr algn="l" lvl="1">
              <a:spcAft>
                <a:spcPts val="600"/>
              </a:spcAft>
            </a:pPr>
            <a:r>
              <a:rPr sz="1900">
                <a:solidFill>
                  <a:srgbClr val="1A1F2C"/>
                </a:solidFill>
                <a:latin typeface="Calibri"/>
              </a:rPr>
              <a:t>–  P6  · Basic RAG</a:t>
            </a:r>
          </a:p>
          <a:p>
            <a:pPr algn="l" lvl="1">
              <a:spcAft>
                <a:spcPts val="600"/>
              </a:spcAft>
            </a:pPr>
            <a:r>
              <a:rPr sz="1900">
                <a:solidFill>
                  <a:srgbClr val="1A1F2C"/>
                </a:solidFill>
                <a:latin typeface="Calibri"/>
              </a:rPr>
              <a:t>–  P21 · Tool Calling</a:t>
            </a:r>
          </a:p>
          <a:p>
            <a:pPr algn="l" lvl="1">
              <a:spcAft>
                <a:spcPts val="600"/>
              </a:spcAft>
            </a:pPr>
            <a:r>
              <a:rPr sz="1900">
                <a:solidFill>
                  <a:srgbClr val="1A1F2C"/>
                </a:solidFill>
                <a:latin typeface="Calibri"/>
              </a:rPr>
              <a:t>–  P23 · Multiagent Collaboration</a:t>
            </a:r>
          </a:p>
          <a:p>
            <a:pPr algn="l" lvl="1">
              <a:spcAft>
                <a:spcPts val="600"/>
              </a:spcAft>
            </a:pPr>
            <a:r>
              <a:rPr sz="1900">
                <a:solidFill>
                  <a:srgbClr val="1A1F2C"/>
                </a:solidFill>
                <a:latin typeface="Calibri"/>
              </a:rPr>
              <a:t>–  P19 · Dependency Injection</a:t>
            </a:r>
          </a:p>
          <a:p>
            <a:pPr algn="l" lvl="1">
              <a:spcAft>
                <a:spcPts val="600"/>
              </a:spcAft>
            </a:pPr>
            <a:r>
              <a:rPr sz="1900">
                <a:solidFill>
                  <a:srgbClr val="1A1F2C"/>
                </a:solidFill>
                <a:latin typeface="Calibri"/>
              </a:rPr>
              <a:t>–  P32 · Guardrails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Composing the five patterns into one reference architecture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References and further reading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Why GenAI Design Patterns?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Reusable solutions for recurring problems in LLM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3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LLMs are non-deterministic, stateless, context-limited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Production needs reliability, safety, observability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Patterns capture proven structures for these constraints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Like GoF for OO, EIP for integration, Fowler for enterprise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Vocabulary for architects, devs, AI engineers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Decouple model choice from system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5394960" cy="246888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243584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Classical Software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664208"/>
            <a:ext cx="5166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Deterministic behavior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Strong type contracts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Persistent state by default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Compile-time correctness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794760"/>
            <a:ext cx="5394960" cy="2468880"/>
          </a:xfrm>
          <a:prstGeom prst="rect">
            <a:avLst/>
          </a:prstGeom>
          <a:solidFill>
            <a:srgbClr val="FFF3E0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3794760"/>
            <a:ext cx="539496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3849624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Generative AI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4270248"/>
            <a:ext cx="5166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Probabilistic outputs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Loose, natural-language contracts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Stateless models, externalized memory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Run-time evaluation and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The Book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Lakshmanan &amp; Hapke (O'Reilly, 2025) — 32 patterns in 8 categories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4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623560" cy="713232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914400" cy="7132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53312"/>
            <a:ext cx="91440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P1–P5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243584"/>
            <a:ext cx="4526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0B2D4E"/>
                </a:solidFill>
                <a:latin typeface="Calibri"/>
              </a:rPr>
              <a:t>Controlling Content Style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572768"/>
            <a:ext cx="45262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Logits, Grammar, Style Transfer,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188720"/>
            <a:ext cx="5623560" cy="713232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188720"/>
            <a:ext cx="914400" cy="7132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353312"/>
            <a:ext cx="91440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P6–P8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243584"/>
            <a:ext cx="4526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0B2D4E"/>
                </a:solidFill>
                <a:latin typeface="Calibri"/>
              </a:rPr>
              <a:t>Adding Knowledge: Bass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1572768"/>
            <a:ext cx="45262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Basic RAG, Semantic Indexing, Scale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993392"/>
            <a:ext cx="5623560" cy="713232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1993392"/>
            <a:ext cx="914400" cy="7132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157984"/>
            <a:ext cx="91440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P9–P12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2048256"/>
            <a:ext cx="4526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0B2D4E"/>
                </a:solidFill>
                <a:latin typeface="Calibri"/>
              </a:rPr>
              <a:t>Adding Knowledge: Syncopation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377440"/>
            <a:ext cx="45262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Index-Aware, Trustworthy Gen., 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993392"/>
            <a:ext cx="5623560" cy="713232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1993392"/>
            <a:ext cx="914400" cy="7132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2157984"/>
            <a:ext cx="91440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P13–P16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048256"/>
            <a:ext cx="4526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0B2D4E"/>
                </a:solidFill>
                <a:latin typeface="Calibri"/>
              </a:rPr>
              <a:t>Extending Model Capabilities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2377440"/>
            <a:ext cx="45262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CoT, ToT, Adapter Tuning, Evol-Instruct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798064"/>
            <a:ext cx="5623560" cy="713232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2798064"/>
            <a:ext cx="914400" cy="7132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962656"/>
            <a:ext cx="91440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P17–P20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2852928"/>
            <a:ext cx="4526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0B2D4E"/>
                </a:solidFill>
                <a:latin typeface="Calibri"/>
              </a:rPr>
              <a:t>Improving Reliability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3182112"/>
            <a:ext cx="45262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LLM-as-Judge, Reflection, DI, Prompt Opt.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2798064"/>
            <a:ext cx="5623560" cy="713232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2798064"/>
            <a:ext cx="914400" cy="7132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2962656"/>
            <a:ext cx="91440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P21–P23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2852928"/>
            <a:ext cx="4526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0B2D4E"/>
                </a:solidFill>
                <a:latin typeface="Calibri"/>
              </a:rPr>
              <a:t>Enabling Agents to Take 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3182112"/>
            <a:ext cx="45262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Tool Calling, Code Exec, Multiagent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602736"/>
            <a:ext cx="5623560" cy="713232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3602736"/>
            <a:ext cx="914400" cy="7132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3767328"/>
            <a:ext cx="91440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P24–P28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3040" y="3657600"/>
            <a:ext cx="4526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0B2D4E"/>
                </a:solidFill>
                <a:latin typeface="Calibri"/>
              </a:rPr>
              <a:t>Addressing Constraints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3986784"/>
            <a:ext cx="45262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SLM, Caching, Inference, Memory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200" y="3602736"/>
            <a:ext cx="5623560" cy="713232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2200" y="3602736"/>
            <a:ext cx="914400" cy="7132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3767328"/>
            <a:ext cx="91440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P29–P32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657600"/>
            <a:ext cx="4526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0B2D4E"/>
                </a:solidFill>
                <a:latin typeface="Calibri"/>
              </a:rPr>
              <a:t>Setting Safeguards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3986784"/>
            <a:ext cx="45262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Template, Reformat, Self-Check, Guardrails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080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Chapter 10 is a capstone (composable agentic workflows), not a new numbered pattern.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Foundational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Building blocks before the patterns make 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5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577840" cy="251460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435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LLMs &amp; Foundation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64208"/>
            <a:ext cx="5349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Pre-trained; predict the next token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Stateless — each call sees only its prompt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Provider APIs, frameworks, or self-host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Frontier vs. open-weight, large vs. SLM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577840" cy="251460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2435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Prompt &amp;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64208"/>
            <a:ext cx="5349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System + user + tool messages → context window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In-context learning: zero-shot, few-shot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Controls: temperature, top-K, nucleus, beam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Context is finite — drives RAG &amp; memory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5577840" cy="251460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4962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270248"/>
            <a:ext cx="5349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LLM + tools + memory + goal-driven loop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Single-tool calls → multi-step plans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Talk to other agents and external systems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Architecturally: a stateful service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94760"/>
            <a:ext cx="5577840" cy="251460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79476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384962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Post-Training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270248"/>
            <a:ext cx="5349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Fine-tuning, RLHF, DPO, LoRA / adapters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Aligns a base model to a domain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Trade-off: capability vs. cost vs. control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C"/>
                </a:solidFill>
                <a:latin typeface="Calibri"/>
              </a:rPr>
              <a:t>•  A build step, not a runtime concern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Choosing the Top 5 — An Architect's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Selected for structural impact, not prompt tricks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6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>
                <a:solidFill>
                  <a:srgbClr val="1A1F2C"/>
                </a:solidFill>
                <a:latin typeface="Calibri"/>
              </a:rPr>
              <a:t>•  Component decomposition — new modules?</a:t>
            </a:r>
          </a:p>
          <a:p>
            <a:pPr algn="l">
              <a:spcAft>
                <a:spcPts val="600"/>
              </a:spcAft>
            </a:pPr>
            <a:r>
              <a:rPr sz="2100">
                <a:solidFill>
                  <a:srgbClr val="1A1F2C"/>
                </a:solidFill>
                <a:latin typeface="Calibri"/>
              </a:rPr>
              <a:t>•  Integration boundaries — LLM ↔ outside world</a:t>
            </a:r>
          </a:p>
          <a:p>
            <a:pPr algn="l">
              <a:spcAft>
                <a:spcPts val="600"/>
              </a:spcAft>
            </a:pPr>
            <a:r>
              <a:rPr sz="2100">
                <a:solidFill>
                  <a:srgbClr val="1A1F2C"/>
                </a:solidFill>
                <a:latin typeface="Calibri"/>
              </a:rPr>
              <a:t>•  Distribution &amp; coordination — many agents/services</a:t>
            </a:r>
          </a:p>
          <a:p>
            <a:pPr algn="l">
              <a:spcAft>
                <a:spcPts val="600"/>
              </a:spcAft>
            </a:pPr>
            <a:r>
              <a:rPr sz="2100">
                <a:solidFill>
                  <a:srgbClr val="1A1F2C"/>
                </a:solidFill>
                <a:latin typeface="Calibri"/>
              </a:rPr>
              <a:t>•  Cross-cutting concerns — safety, policy, observability</a:t>
            </a:r>
          </a:p>
          <a:p>
            <a:pPr algn="l">
              <a:spcAft>
                <a:spcPts val="600"/>
              </a:spcAft>
            </a:pPr>
            <a:r>
              <a:rPr sz="2100">
                <a:solidFill>
                  <a:srgbClr val="1A1F2C"/>
                </a:solidFill>
                <a:latin typeface="Calibri"/>
              </a:rPr>
              <a:t>•  Quality attributes — reliability, scalability, security</a:t>
            </a:r>
          </a:p>
          <a:p>
            <a:pPr algn="l">
              <a:spcAft>
                <a:spcPts val="600"/>
              </a:spcAft>
            </a:pPr>
            <a:r>
              <a:rPr sz="2100">
                <a:solidFill>
                  <a:srgbClr val="1A1F2C"/>
                </a:solidFill>
                <a:latin typeface="Calibri"/>
              </a:rPr>
              <a:t>•  Classical SE alignment — concepts students know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188720"/>
            <a:ext cx="5303520" cy="512064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1188720"/>
            <a:ext cx="5303520" cy="50292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243584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Five Patterns We Will Study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0" y="1828800"/>
            <a:ext cx="777240" cy="7772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29968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883664"/>
            <a:ext cx="4206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0B2D4E"/>
                </a:solidFill>
                <a:latin typeface="Calibri"/>
              </a:rPr>
              <a:t>Basic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240280"/>
            <a:ext cx="4206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Component decomposition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0" y="2715768"/>
            <a:ext cx="777240" cy="7772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916936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770632"/>
            <a:ext cx="4206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0B2D4E"/>
                </a:solidFill>
                <a:latin typeface="Calibri"/>
              </a:rPr>
              <a:t>Tool Calling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127248"/>
            <a:ext cx="4206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Integration boundary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3602736"/>
            <a:ext cx="777240" cy="7772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803904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657600"/>
            <a:ext cx="4206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0B2D4E"/>
                </a:solidFill>
                <a:latin typeface="Calibri"/>
              </a:rPr>
              <a:t>Multiagent Collaboration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4014216"/>
            <a:ext cx="4206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Distributed coordination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0" y="4489704"/>
            <a:ext cx="777240" cy="7772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69087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4544568"/>
            <a:ext cx="4206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0B2D4E"/>
                </a:solidFill>
                <a:latin typeface="Calibri"/>
              </a:rPr>
              <a:t>Dependency Injection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4901184"/>
            <a:ext cx="4206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Modularity &amp; testability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9400" y="5376672"/>
            <a:ext cx="777240" cy="7772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57784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5431536"/>
            <a:ext cx="4206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0B2D4E"/>
                </a:solidFill>
                <a:latin typeface="Calibri"/>
              </a:rPr>
              <a:t>Guardrails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5788152"/>
            <a:ext cx="4206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Cross-cutting policy layer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Pattern 6 — Basic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Ground LLM answers in external, up-to-date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7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577840" cy="237744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435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64208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LLM knowledge frozen at training time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Hallucinations on domain-specific facts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No traceable source for the answer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Re-training for every update is infeasible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577840" cy="237744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2435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64208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Embed and index documents in a vector store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Retrieve top-k chunks for the user query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Inject retrieved context into the prompt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Return the answer with its sources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03320"/>
            <a:ext cx="5577840" cy="1920240"/>
          </a:xfrm>
          <a:prstGeom prst="rect">
            <a:avLst/>
          </a:prstGeom>
          <a:solidFill>
            <a:srgbClr val="FFF3E0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033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7581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Architectural Significance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1788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Adds 3 components: indexer, retriever, store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Reference architecture for enterprise GenAI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Separates knowledge from reasoning plane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03320"/>
            <a:ext cx="5577840" cy="1920240"/>
          </a:xfrm>
          <a:prstGeom prst="rect">
            <a:avLst/>
          </a:prstGeom>
          <a:solidFill>
            <a:srgbClr val="E8F1F5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7033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37581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Example &amp; Considerations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1788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Support bot grounded on product docs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Legal/medical Q&amp;A on a controlled corpus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Chunking and embedding model drive quality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Stale index ⇒ stale answers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Foundation for P9–P12 (advanced RAG)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806440"/>
            <a:ext cx="2286000" cy="45720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521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Category · Pattern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5852160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55B66"/>
                </a:solidFill>
                <a:latin typeface="Calibri"/>
              </a:rPr>
              <a:t>Next slide → structure / sequence diagram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P6 · Basic RAG — Pipeline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Top: offline indexing.  Bottom: online query.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8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11430000" cy="1463040"/>
          </a:xfrm>
          <a:prstGeom prst="rect">
            <a:avLst/>
          </a:prstGeom>
          <a:solidFill>
            <a:srgbClr val="E6F2E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210312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0B2D4E"/>
                </a:solidFill>
                <a:latin typeface="Calibri"/>
              </a:rPr>
              <a:t>Indexing (offline)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0" y="1645920"/>
            <a:ext cx="1828800" cy="1005840"/>
          </a:xfrm>
          <a:prstGeom prst="roundRect">
            <a:avLst/>
          </a:prstGeom>
          <a:solidFill>
            <a:srgbClr val="555B66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17373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Documents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0312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PDFs · wiki · 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645920"/>
            <a:ext cx="1828800" cy="1005840"/>
          </a:xfrm>
          <a:prstGeom prst="roundRect">
            <a:avLst/>
          </a:prstGeom>
          <a:solidFill>
            <a:srgbClr val="007A8A"/>
          </a:solidFill>
          <a:ln w="12700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373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Splitter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0312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into chunks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1645920"/>
            <a:ext cx="1828800" cy="1005840"/>
          </a:xfrm>
          <a:prstGeom prst="roundRect">
            <a:avLst/>
          </a:prstGeom>
          <a:solidFill>
            <a:srgbClr val="007A8A"/>
          </a:solidFill>
          <a:ln w="12700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7373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Embedder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10312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vector encoder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1645920"/>
            <a:ext cx="2834640" cy="1005840"/>
          </a:xfrm>
          <a:prstGeom prst="roundRect">
            <a:avLst/>
          </a:prstGeom>
          <a:solidFill>
            <a:srgbClr val="0B2D4E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0" y="1737360"/>
            <a:ext cx="2834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Vector Store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2103120"/>
            <a:ext cx="28346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ANN index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97680" y="2148840"/>
            <a:ext cx="274320" cy="0"/>
          </a:xfrm>
          <a:prstGeom prst="line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400800" y="2148840"/>
            <a:ext cx="274320" cy="0"/>
          </a:xfrm>
          <a:prstGeom prst="line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03920" y="2148840"/>
            <a:ext cx="274320" cy="0"/>
          </a:xfrm>
          <a:prstGeom prst="line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65760" y="2880360"/>
            <a:ext cx="11430000" cy="3200400"/>
          </a:xfrm>
          <a:prstGeom prst="rect">
            <a:avLst/>
          </a:prstGeom>
          <a:solidFill>
            <a:srgbClr val="E8F1F5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2944368"/>
            <a:ext cx="210312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0B2D4E"/>
                </a:solidFill>
                <a:latin typeface="Calibri"/>
              </a:rPr>
              <a:t>Query (online)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337560"/>
            <a:ext cx="1828800" cy="1005840"/>
          </a:xfrm>
          <a:prstGeom prst="roundRect">
            <a:avLst/>
          </a:prstGeom>
          <a:solidFill>
            <a:srgbClr val="555B66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429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79476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06040" y="3337560"/>
            <a:ext cx="1828800" cy="1005840"/>
          </a:xfrm>
          <a:prstGeom prst="roundRect">
            <a:avLst/>
          </a:prstGeom>
          <a:solidFill>
            <a:srgbClr val="007A8A"/>
          </a:solidFill>
          <a:ln w="12700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06040" y="3429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Embedder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379476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query vector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60" y="3337560"/>
            <a:ext cx="1828800" cy="1005840"/>
          </a:xfrm>
          <a:prstGeom prst="roundRect">
            <a:avLst/>
          </a:prstGeom>
          <a:solidFill>
            <a:srgbClr val="007A8A"/>
          </a:solidFill>
          <a:ln w="12700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60" y="3429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Retriever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379476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top-k search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06040" y="4800600"/>
            <a:ext cx="1828800" cy="1005840"/>
          </a:xfrm>
          <a:prstGeom prst="roundRect">
            <a:avLst/>
          </a:prstGeom>
          <a:solidFill>
            <a:srgbClr val="007A8A"/>
          </a:solidFill>
          <a:ln w="12700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6040" y="48920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Prompt Builder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525780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ctx + query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09160" y="4800600"/>
            <a:ext cx="1828800" cy="1005840"/>
          </a:xfrm>
          <a:prstGeom prst="roundRect">
            <a:avLst/>
          </a:prstGeom>
          <a:solidFill>
            <a:srgbClr val="0B2D4E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09160" y="48920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LLM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09160" y="525780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generator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12280" y="4800600"/>
            <a:ext cx="2834640" cy="1005840"/>
          </a:xfrm>
          <a:prstGeom prst="roundRect">
            <a:avLst/>
          </a:prstGeom>
          <a:solidFill>
            <a:srgbClr val="E2711B"/>
          </a:solidFill>
          <a:ln w="12700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12280" y="4892040"/>
            <a:ext cx="2834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Answer + Sources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5257800"/>
            <a:ext cx="28346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to user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331720" y="3840480"/>
            <a:ext cx="274320" cy="0"/>
          </a:xfrm>
          <a:prstGeom prst="line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434840" y="3840480"/>
            <a:ext cx="274320" cy="0"/>
          </a:xfrm>
          <a:prstGeom prst="line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623560" y="2606040"/>
            <a:ext cx="4572000" cy="731520"/>
          </a:xfrm>
          <a:prstGeom prst="line">
            <a:avLst/>
          </a:prstGeom>
          <a:ln w="25400">
            <a:solidFill>
              <a:srgbClr val="007A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5623560" y="2606040"/>
            <a:ext cx="4572000" cy="731520"/>
          </a:xfrm>
          <a:prstGeom prst="line">
            <a:avLst/>
          </a:prstGeom>
          <a:ln w="25400">
            <a:solidFill>
              <a:srgbClr val="007A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772400" y="274320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0B2D4E"/>
                </a:solidFill>
                <a:latin typeface="Calibri"/>
              </a:rPr>
              <a:t>similarity search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3520440" y="4343400"/>
            <a:ext cx="2103120" cy="457200"/>
          </a:xfrm>
          <a:prstGeom prst="bentConnector3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17320" y="4343400"/>
            <a:ext cx="2103120" cy="457200"/>
          </a:xfrm>
          <a:prstGeom prst="bentConnector3">
            <a:avLst/>
          </a:prstGeom>
          <a:ln w="25400">
            <a:solidFill>
              <a:srgbClr val="0B2D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4343400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55B66"/>
                </a:solidFill>
                <a:latin typeface="Calibri"/>
              </a:rPr>
              <a:t>original query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34840" y="5303520"/>
            <a:ext cx="274320" cy="0"/>
          </a:xfrm>
          <a:prstGeom prst="line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37960" y="5303520"/>
            <a:ext cx="274320" cy="0"/>
          </a:xfrm>
          <a:prstGeom prst="line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B2D4E"/>
                </a:solidFill>
                <a:latin typeface="Calibri"/>
              </a:rPr>
              <a:t>Knowledge plane decoupled from reasoning plane by the retriever contract.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Pattern 21 — Tool Calling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Let the LLM invoke functions, APIs, and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9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577840" cy="237744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435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64208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LLMs reason but can't read live data or act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Hard-coding behaviors into prompts is brittle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Workflows need search, math, transactions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Need a declarative way to expose capabilities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577840" cy="237744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2435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64208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Declare tools: name, description, JSON schema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LLM emits a structured tool-call request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Host executes the tool, returns the result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Loop until the model produces a final answer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03320"/>
            <a:ext cx="5577840" cy="1920240"/>
          </a:xfrm>
          <a:prstGeom prst="rect">
            <a:avLst/>
          </a:prstGeom>
          <a:solidFill>
            <a:srgbClr val="FFF3E0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033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7581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Architectural Significance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1788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Integration boundary between LLM and systems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Like a service-bus contract or REST API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Enables Ports-and-Adapters around the 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03320"/>
            <a:ext cx="5577840" cy="1920240"/>
          </a:xfrm>
          <a:prstGeom prst="rect">
            <a:avLst/>
          </a:prstGeom>
          <a:solidFill>
            <a:srgbClr val="E8F1F5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7033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37581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Example &amp; Considerations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1788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Travel agent calling weather, flight, booking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DB query tool wrapping read-only SQL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Strict input validation — LLM may err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AuthN/AuthZ in the tool, never the prompt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Audit every tool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806440"/>
            <a:ext cx="2286000" cy="45720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521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Category · Pattern 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5852160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55B66"/>
                </a:solidFill>
                <a:latin typeface="Calibri"/>
              </a:rPr>
              <a:t>Next slide → structure / sequence diagram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P21 · Tool Calling — Sequence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One turn between user, host, LLM, and 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10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2011680" cy="594360"/>
          </a:xfrm>
          <a:prstGeom prst="rect">
            <a:avLst/>
          </a:prstGeom>
          <a:solidFill>
            <a:srgbClr val="0B2D4E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1874520"/>
            <a:ext cx="0" cy="411480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383280" y="1280160"/>
            <a:ext cx="2011680" cy="594360"/>
          </a:xfrm>
          <a:prstGeom prst="rect">
            <a:avLst/>
          </a:prstGeom>
          <a:solidFill>
            <a:srgbClr val="0B2D4E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417320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Host App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89120" y="1874520"/>
            <a:ext cx="0" cy="411480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309360" y="1280160"/>
            <a:ext cx="2011680" cy="594360"/>
          </a:xfrm>
          <a:prstGeom prst="rect">
            <a:avLst/>
          </a:prstGeom>
          <a:solidFill>
            <a:srgbClr val="0B2D4E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417320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LLM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0" y="1874520"/>
            <a:ext cx="0" cy="411480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235440" y="1280160"/>
            <a:ext cx="2011680" cy="594360"/>
          </a:xfrm>
          <a:prstGeom prst="rect">
            <a:avLst/>
          </a:prstGeom>
          <a:solidFill>
            <a:srgbClr val="0B2D4E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417320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Tool / API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241280" y="1874520"/>
            <a:ext cx="0" cy="411480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306824" y="2331720"/>
            <a:ext cx="164592" cy="3474720"/>
          </a:xfrm>
          <a:prstGeom prst="rect">
            <a:avLst/>
          </a:prstGeom>
          <a:solidFill>
            <a:srgbClr val="007A8A"/>
          </a:solidFill>
          <a:ln w="9525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32904" y="2880360"/>
            <a:ext cx="164592" cy="960120"/>
          </a:xfrm>
          <a:prstGeom prst="rect">
            <a:avLst/>
          </a:prstGeom>
          <a:solidFill>
            <a:srgbClr val="007A8A"/>
          </a:solidFill>
          <a:ln w="9525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32904" y="4846320"/>
            <a:ext cx="164592" cy="777240"/>
          </a:xfrm>
          <a:prstGeom prst="rect">
            <a:avLst/>
          </a:prstGeom>
          <a:solidFill>
            <a:srgbClr val="007A8A"/>
          </a:solidFill>
          <a:ln w="9525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58984" y="3794760"/>
            <a:ext cx="164592" cy="777240"/>
          </a:xfrm>
          <a:prstGeom prst="rect">
            <a:avLst/>
          </a:prstGeom>
          <a:solidFill>
            <a:srgbClr val="007A8A"/>
          </a:solidFill>
          <a:ln w="9525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554480" y="2331720"/>
            <a:ext cx="2834640" cy="0"/>
          </a:xfrm>
          <a:prstGeom prst="line">
            <a:avLst/>
          </a:prstGeom>
          <a:ln w="28575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1965960"/>
            <a:ext cx="438912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1. ask("book a flight to Tokyo")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389120" y="2880360"/>
            <a:ext cx="2926080" cy="0"/>
          </a:xfrm>
          <a:prstGeom prst="line">
            <a:avLst/>
          </a:prstGeom>
          <a:ln w="28575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57600" y="2514600"/>
            <a:ext cx="438912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2. complete(prompt + tool_schemas)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389120" y="3520440"/>
            <a:ext cx="2926080" cy="0"/>
          </a:xfrm>
          <a:prstGeom prst="line">
            <a:avLst/>
          </a:prstGeom>
          <a:ln w="28575">
            <a:solidFill>
              <a:srgbClr val="0B2D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600" y="3154680"/>
            <a:ext cx="438912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3. tool_call(search_flights, args)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389120" y="3840480"/>
            <a:ext cx="5852160" cy="0"/>
          </a:xfrm>
          <a:prstGeom prst="line">
            <a:avLst/>
          </a:prstGeom>
          <a:ln w="28575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120640" y="3474720"/>
            <a:ext cx="438912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4. invoke(args)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389120" y="4389120"/>
            <a:ext cx="5852160" cy="0"/>
          </a:xfrm>
          <a:prstGeom prst="line">
            <a:avLst/>
          </a:prstGeom>
          <a:ln w="28575">
            <a:solidFill>
              <a:srgbClr val="0B2D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120640" y="4023360"/>
            <a:ext cx="438912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5. result(flights[…])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389120" y="4846320"/>
            <a:ext cx="2926080" cy="0"/>
          </a:xfrm>
          <a:prstGeom prst="line">
            <a:avLst/>
          </a:prstGeom>
          <a:ln w="28575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657600" y="4480560"/>
            <a:ext cx="438912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6. complete(prompt + tool_result)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4389120" y="5349240"/>
            <a:ext cx="2926080" cy="0"/>
          </a:xfrm>
          <a:prstGeom prst="line">
            <a:avLst/>
          </a:prstGeom>
          <a:ln w="28575">
            <a:solidFill>
              <a:srgbClr val="0B2D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657600" y="4983480"/>
            <a:ext cx="438912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7. final_answer(text)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1554480" y="5760720"/>
            <a:ext cx="2834640" cy="0"/>
          </a:xfrm>
          <a:prstGeom prst="line">
            <a:avLst/>
          </a:prstGeom>
          <a:ln w="28575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77240" y="5394960"/>
            <a:ext cx="438912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8. respond(text)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solidFill>
            <a:srgbClr val="FFF3E0"/>
          </a:solidFill>
          <a:ln w="9525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144768"/>
            <a:ext cx="1106424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 i="0">
                <a:solidFill>
                  <a:srgbClr val="0B2D4E"/>
                </a:solidFill>
                <a:latin typeface="Calibri"/>
              </a:rPr>
              <a:t>Steps 2–7 may loop. Host enforces AuthN/AuthZ, validation, and audit.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Pattern 23 — Multiagent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Decompose tasks across specialized cooperating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11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577840" cy="237744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435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64208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Single agent overloads its context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Tasks need heterogeneous skills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Hard to test or evolve a monolithic agent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Need parallelism, roles, escalation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577840" cy="237744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2435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64208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Agents defined by role, tools, policies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Topology: orchestrator, peer, hierarchical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Shared message bus or blackboard for state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Add an evaluator/judge agent for QC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03320"/>
            <a:ext cx="5577840" cy="1920240"/>
          </a:xfrm>
          <a:prstGeom prst="rect">
            <a:avLst/>
          </a:prstGeom>
          <a:solidFill>
            <a:srgbClr val="FFF3E0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033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7581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Architectural Significance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1788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Pure distributed-systems pattern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Mirrors actors, microservices, SOA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Drives scalability, resilience, evolvability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03320"/>
            <a:ext cx="5577840" cy="1920240"/>
          </a:xfrm>
          <a:prstGeom prst="rect">
            <a:avLst/>
          </a:prstGeom>
          <a:solidFill>
            <a:srgbClr val="E8F1F5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7033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37581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Example &amp; Considerations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1788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Research-writer-editor producing a report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Planner + executor + critic loop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Beware infinite loops — budget per task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Observability per agent and per message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Same failures as microservices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806440"/>
            <a:ext cx="2286000" cy="45720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521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Category · Pattern 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5852160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55B66"/>
                </a:solidFill>
                <a:latin typeface="Calibri"/>
              </a:rPr>
              <a:t>Next slide → structure / sequence diagram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P23 · Multiagent Collaboration —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Orchestrator topology · shared blackboard · critic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12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108960"/>
            <a:ext cx="1828800" cy="1005840"/>
          </a:xfrm>
          <a:prstGeom prst="roundRect">
            <a:avLst/>
          </a:prstGeom>
          <a:solidFill>
            <a:srgbClr val="555B66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2004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566160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goal / brief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280160"/>
            <a:ext cx="2743200" cy="1097280"/>
          </a:xfrm>
          <a:prstGeom prst="roundRect">
            <a:avLst/>
          </a:prstGeom>
          <a:solidFill>
            <a:srgbClr val="0B2D4E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37160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73736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plan · route · aggregate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234440"/>
            <a:ext cx="2743200" cy="868680"/>
          </a:xfrm>
          <a:prstGeom prst="roundRect">
            <a:avLst/>
          </a:prstGeom>
          <a:solidFill>
            <a:srgbClr val="007A8A"/>
          </a:solidFill>
          <a:ln w="12700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32588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Planner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9164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decompose task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2240280"/>
            <a:ext cx="2743200" cy="868680"/>
          </a:xfrm>
          <a:prstGeom prst="roundRect">
            <a:avLst/>
          </a:prstGeom>
          <a:solidFill>
            <a:srgbClr val="007A8A"/>
          </a:solidFill>
          <a:ln w="12700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233172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Researcher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69748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RAG · web · DB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3246120"/>
            <a:ext cx="2743200" cy="868680"/>
          </a:xfrm>
          <a:prstGeom prst="roundRect">
            <a:avLst/>
          </a:prstGeom>
          <a:solidFill>
            <a:srgbClr val="007A8A"/>
          </a:solidFill>
          <a:ln w="12700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333756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Writer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70332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draft output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4251960"/>
            <a:ext cx="2743200" cy="868680"/>
          </a:xfrm>
          <a:prstGeom prst="roundRect">
            <a:avLst/>
          </a:prstGeom>
          <a:solidFill>
            <a:srgbClr val="E2711B"/>
          </a:solidFill>
          <a:ln w="12700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0" y="434340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Critic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470916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score · fix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4617720"/>
            <a:ext cx="3840480" cy="914400"/>
          </a:xfrm>
          <a:prstGeom prst="roundRect">
            <a:avLst/>
          </a:prstGeom>
          <a:solidFill>
            <a:srgbClr val="0B2D4E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4709160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Shared Memory / Message Bus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5074920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tasks · partial · history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715000"/>
            <a:ext cx="2286000" cy="640080"/>
          </a:xfrm>
          <a:prstGeom prst="roundRect">
            <a:avLst/>
          </a:prstGeom>
          <a:solidFill>
            <a:srgbClr val="555B66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71500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RAG (P6)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88920" y="5715000"/>
            <a:ext cx="2286000" cy="640080"/>
          </a:xfrm>
          <a:prstGeom prst="roundRect">
            <a:avLst/>
          </a:prstGeom>
          <a:solidFill>
            <a:srgbClr val="555B66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88920" y="571500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Tool Host (P21)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12080" y="5715000"/>
            <a:ext cx="2286000" cy="640080"/>
          </a:xfrm>
          <a:prstGeom prst="roundRect">
            <a:avLst/>
          </a:prstGeom>
          <a:solidFill>
            <a:srgbClr val="555B66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12080" y="571500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Code Sandbox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5240" y="5715000"/>
            <a:ext cx="2103120" cy="640080"/>
          </a:xfrm>
          <a:prstGeom prst="roundRect">
            <a:avLst/>
          </a:prstGeom>
          <a:solidFill>
            <a:srgbClr val="E2711B"/>
          </a:solidFill>
          <a:ln w="12700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5715000"/>
            <a:ext cx="2103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Guardrails (P32)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75520" y="5715000"/>
            <a:ext cx="1828800" cy="640080"/>
          </a:xfrm>
          <a:prstGeom prst="roundRect">
            <a:avLst/>
          </a:prstGeom>
          <a:solidFill>
            <a:srgbClr val="555B66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0" y="5715000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Observability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194560" y="1828800"/>
            <a:ext cx="2560320" cy="1600200"/>
          </a:xfrm>
          <a:prstGeom prst="bentConnector3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331720" y="22402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55B66"/>
                </a:solidFill>
                <a:latin typeface="Calibri"/>
              </a:rPr>
              <a:t>submit goal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498079" y="1664208"/>
            <a:ext cx="1463041" cy="164592"/>
          </a:xfrm>
          <a:prstGeom prst="line">
            <a:avLst/>
          </a:prstGeom>
          <a:ln w="25400">
            <a:solidFill>
              <a:srgbClr val="00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7498079" y="2057400"/>
            <a:ext cx="1463041" cy="36576"/>
          </a:xfrm>
          <a:prstGeom prst="line">
            <a:avLst/>
          </a:prstGeom>
          <a:ln w="22225">
            <a:solidFill>
              <a:srgbClr val="E2711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498079" y="1828800"/>
            <a:ext cx="1463041" cy="841248"/>
          </a:xfrm>
          <a:prstGeom prst="line">
            <a:avLst/>
          </a:prstGeom>
          <a:ln w="25400">
            <a:solidFill>
              <a:srgbClr val="00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7498079" y="2057400"/>
            <a:ext cx="1463041" cy="1042416"/>
          </a:xfrm>
          <a:prstGeom prst="line">
            <a:avLst/>
          </a:prstGeom>
          <a:ln w="22225">
            <a:solidFill>
              <a:srgbClr val="E2711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498079" y="1828800"/>
            <a:ext cx="1463041" cy="1847087"/>
          </a:xfrm>
          <a:prstGeom prst="line">
            <a:avLst/>
          </a:prstGeom>
          <a:ln w="25400">
            <a:solidFill>
              <a:srgbClr val="00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7498079" y="2057400"/>
            <a:ext cx="1463041" cy="2048255"/>
          </a:xfrm>
          <a:prstGeom prst="line">
            <a:avLst/>
          </a:prstGeom>
          <a:ln w="22225">
            <a:solidFill>
              <a:srgbClr val="E2711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498079" y="1828800"/>
            <a:ext cx="1463041" cy="2852928"/>
          </a:xfrm>
          <a:prstGeom prst="line">
            <a:avLst/>
          </a:prstGeom>
          <a:ln w="25400">
            <a:solidFill>
              <a:srgbClr val="00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7498079" y="2057400"/>
            <a:ext cx="1463041" cy="3054096"/>
          </a:xfrm>
          <a:prstGeom prst="line">
            <a:avLst/>
          </a:prstGeom>
          <a:ln w="22225">
            <a:solidFill>
              <a:srgbClr val="E2711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943600" y="2377440"/>
            <a:ext cx="0" cy="2240280"/>
          </a:xfrm>
          <a:prstGeom prst="line">
            <a:avLst/>
          </a:prstGeom>
          <a:ln w="2540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6309360" y="2377440"/>
            <a:ext cx="0" cy="2240280"/>
          </a:xfrm>
          <a:prstGeom prst="line">
            <a:avLst/>
          </a:prstGeom>
          <a:ln w="25400">
            <a:solidFill>
              <a:srgbClr val="0B2D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492240" y="315468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55B66"/>
                </a:solidFill>
                <a:latin typeface="Calibri"/>
              </a:rPr>
              <a:t>read/write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8138160" y="4617720"/>
            <a:ext cx="1554480" cy="365760"/>
          </a:xfrm>
          <a:prstGeom prst="bentConnector3">
            <a:avLst/>
          </a:prstGeom>
          <a:ln w="22225">
            <a:solidFill>
              <a:srgbClr val="007A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194560" y="2377440"/>
            <a:ext cx="2560320" cy="1051560"/>
          </a:xfrm>
          <a:prstGeom prst="bentConnector3">
            <a:avLst/>
          </a:prstGeom>
          <a:ln w="31750">
            <a:solidFill>
              <a:srgbClr val="E271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331720" y="26974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1">
                <a:solidFill>
                  <a:srgbClr val="E2711B"/>
                </a:solidFill>
                <a:latin typeface="Calibri"/>
              </a:rPr>
              <a:t>final result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0B2D4E"/>
                </a:solidFill>
                <a:latin typeface="Calibri"/>
              </a:rPr>
              <a:t>Variants: peer-to-peer · hierarchical · debate.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Pattern 19 — 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Decouple the LLM call from the components around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13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577840" cy="237744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435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64208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Hard-wired models can't be tested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Cannot swap providers or prompts cleanly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Mocking an LLM is messy and slow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A/B testing duplicates code paths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577840" cy="237744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2435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64208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Define interfaces: LLM, Retriever, Embedder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Inject concretes at the composition root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Wire fakes/stubs in tests and dev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Configure variants per environment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03320"/>
            <a:ext cx="5577840" cy="1920240"/>
          </a:xfrm>
          <a:prstGeom prst="rect">
            <a:avLst/>
          </a:prstGeom>
          <a:solidFill>
            <a:srgbClr val="FFF3E0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033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7581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Architectural Significance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1788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Bridges classical SE (SOLID, IoC) to GenAI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Enables testability — LLM systems' weakness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Supports evolutionary architecture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03320"/>
            <a:ext cx="5577840" cy="1920240"/>
          </a:xfrm>
          <a:prstGeom prst="rect">
            <a:avLst/>
          </a:prstGeom>
          <a:solidFill>
            <a:srgbClr val="E8F1F5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7033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37581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Example &amp; Considerations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1788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Same app on Claude, GPT, or local Llama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Tests use a deterministic stub LLM in CI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Interfaces coarse enough to hide providers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Resist over-abstraction — 2 impls first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Pairs with feature flags &amp; config-as-code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806440"/>
            <a:ext cx="2286000" cy="45720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521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Category · Pattern 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5852160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55B66"/>
                </a:solidFill>
                <a:latin typeface="Calibri"/>
              </a:rPr>
              <a:t>Next slide → structure / sequence diagram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P19 · Dependency Injection —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Composition Root wires concrete adapters into the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14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188720"/>
            <a:ext cx="3383280" cy="914400"/>
          </a:xfrm>
          <a:prstGeom prst="roundRect">
            <a:avLst/>
          </a:prstGeom>
          <a:solidFill>
            <a:srgbClr val="0B2D4E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28016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Application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645920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RAG Q&amp;A use-case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23160"/>
            <a:ext cx="2240280" cy="1097280"/>
          </a:xfrm>
          <a:prstGeom prst="rect">
            <a:avLst/>
          </a:prstGeom>
          <a:solidFill>
            <a:srgbClr val="E8F1F5"/>
          </a:solidFill>
          <a:ln w="15875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478024"/>
            <a:ext cx="22402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555B66"/>
                </a:solidFill>
                <a:latin typeface="Calibri"/>
              </a:rPr>
              <a:t>«interface»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43200"/>
            <a:ext cx="2240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B2D4E"/>
                </a:solidFill>
                <a:latin typeface="Calibri"/>
              </a:rPr>
              <a:t>ILLMClient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63824"/>
            <a:ext cx="2148840" cy="9144"/>
          </a:xfrm>
          <a:prstGeom prst="rect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209544"/>
            <a:ext cx="22402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F2C"/>
                </a:solidFill>
                <a:latin typeface="Calibri"/>
              </a:rPr>
              <a:t>complete(prompt) : str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2423160"/>
            <a:ext cx="2240280" cy="1097280"/>
          </a:xfrm>
          <a:prstGeom prst="rect">
            <a:avLst/>
          </a:prstGeom>
          <a:solidFill>
            <a:srgbClr val="E8F1F5"/>
          </a:solidFill>
          <a:ln w="15875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2478024"/>
            <a:ext cx="22402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555B66"/>
                </a:solidFill>
                <a:latin typeface="Calibri"/>
              </a:rPr>
              <a:t>«interface»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743200"/>
            <a:ext cx="2240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B2D4E"/>
                </a:solidFill>
                <a:latin typeface="Calibri"/>
              </a:rPr>
              <a:t>IRetriever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3163824"/>
            <a:ext cx="2148840" cy="9144"/>
          </a:xfrm>
          <a:prstGeom prst="rect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80" y="3209544"/>
            <a:ext cx="22402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F2C"/>
                </a:solidFill>
                <a:latin typeface="Calibri"/>
              </a:rPr>
              <a:t>search(q, k) : Chunk[]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2423160"/>
            <a:ext cx="2240280" cy="1097280"/>
          </a:xfrm>
          <a:prstGeom prst="rect">
            <a:avLst/>
          </a:prstGeom>
          <a:solidFill>
            <a:srgbClr val="E8F1F5"/>
          </a:solidFill>
          <a:ln w="15875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2478024"/>
            <a:ext cx="22402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555B66"/>
                </a:solidFill>
                <a:latin typeface="Calibri"/>
              </a:rPr>
              <a:t>«interface»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743200"/>
            <a:ext cx="2240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B2D4E"/>
                </a:solidFill>
                <a:latin typeface="Calibri"/>
              </a:rPr>
              <a:t>IEmbedder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3163824"/>
            <a:ext cx="2148840" cy="9144"/>
          </a:xfrm>
          <a:prstGeom prst="rect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3209544"/>
            <a:ext cx="22402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F2C"/>
                </a:solidFill>
                <a:latin typeface="Calibri"/>
              </a:rPr>
              <a:t>embed(text) : Vector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29800" y="2423160"/>
            <a:ext cx="2240280" cy="1097280"/>
          </a:xfrm>
          <a:prstGeom prst="rect">
            <a:avLst/>
          </a:prstGeom>
          <a:solidFill>
            <a:srgbClr val="E8F1F5"/>
          </a:solidFill>
          <a:ln w="15875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2478024"/>
            <a:ext cx="22402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555B66"/>
                </a:solidFill>
                <a:latin typeface="Calibri"/>
              </a:rPr>
              <a:t>«interface»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743200"/>
            <a:ext cx="2240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B2D4E"/>
                </a:solidFill>
                <a:latin typeface="Calibri"/>
              </a:rPr>
              <a:t>IGuardrail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75520" y="3163824"/>
            <a:ext cx="2148840" cy="9144"/>
          </a:xfrm>
          <a:prstGeom prst="rect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3209544"/>
            <a:ext cx="22402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F2C"/>
                </a:solidFill>
                <a:latin typeface="Calibri"/>
              </a:rPr>
              <a:t>check(io) : Verdict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627632" y="2103120"/>
            <a:ext cx="4453128" cy="320040"/>
          </a:xfrm>
          <a:prstGeom prst="line">
            <a:avLst/>
          </a:prstGeom>
          <a:ln w="22225">
            <a:solidFill>
              <a:srgbClr val="0B2D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4736592" y="2103120"/>
            <a:ext cx="1344168" cy="320040"/>
          </a:xfrm>
          <a:prstGeom prst="line">
            <a:avLst/>
          </a:prstGeom>
          <a:ln w="22225">
            <a:solidFill>
              <a:srgbClr val="0B2D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80760" y="2103120"/>
            <a:ext cx="1764792" cy="320040"/>
          </a:xfrm>
          <a:prstGeom prst="line">
            <a:avLst/>
          </a:prstGeom>
          <a:ln w="22225">
            <a:solidFill>
              <a:srgbClr val="0B2D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80760" y="2103120"/>
            <a:ext cx="4873752" cy="320040"/>
          </a:xfrm>
          <a:prstGeom prst="line">
            <a:avLst/>
          </a:prstGeom>
          <a:ln w="22225">
            <a:solidFill>
              <a:srgbClr val="0B2D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02920" y="4023360"/>
            <a:ext cx="2240280" cy="914400"/>
          </a:xfrm>
          <a:prstGeom prst="rect">
            <a:avLst/>
          </a:prstGeom>
          <a:solidFill>
            <a:srgbClr val="F2F4F7"/>
          </a:solidFill>
          <a:ln w="12700"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096512"/>
            <a:ext cx="2240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A1F2C"/>
                </a:solidFill>
                <a:latin typeface="Calibri"/>
              </a:rPr>
              <a:t>ClaudeClient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462272"/>
            <a:ext cx="22402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555B66"/>
                </a:solidFill>
                <a:latin typeface="Calibri"/>
              </a:rPr>
              <a:t>anthropic.messages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618488" y="3520440"/>
            <a:ext cx="0" cy="502920"/>
          </a:xfrm>
          <a:prstGeom prst="line">
            <a:avLst/>
          </a:prstGeom>
          <a:ln w="19050">
            <a:solidFill>
              <a:srgbClr val="555B6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3611880" y="4023360"/>
            <a:ext cx="2240280" cy="914400"/>
          </a:xfrm>
          <a:prstGeom prst="rect">
            <a:avLst/>
          </a:prstGeom>
          <a:solidFill>
            <a:srgbClr val="F2F4F7"/>
          </a:solidFill>
          <a:ln w="12700"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11880" y="4096512"/>
            <a:ext cx="2240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A1F2C"/>
                </a:solidFill>
                <a:latin typeface="Calibri"/>
              </a:rPr>
              <a:t>ChromaRetriever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1880" y="4462272"/>
            <a:ext cx="22402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555B66"/>
                </a:solidFill>
                <a:latin typeface="Calibri"/>
              </a:rPr>
              <a:t>ANN search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4727448" y="3520440"/>
            <a:ext cx="0" cy="502920"/>
          </a:xfrm>
          <a:prstGeom prst="line">
            <a:avLst/>
          </a:prstGeom>
          <a:ln w="19050">
            <a:solidFill>
              <a:srgbClr val="555B6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6720840" y="4023360"/>
            <a:ext cx="2240280" cy="914400"/>
          </a:xfrm>
          <a:prstGeom prst="rect">
            <a:avLst/>
          </a:prstGeom>
          <a:solidFill>
            <a:srgbClr val="F2F4F7"/>
          </a:solidFill>
          <a:ln w="12700"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20840" y="4096512"/>
            <a:ext cx="2240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A1F2C"/>
                </a:solidFill>
                <a:latin typeface="Calibri"/>
              </a:rPr>
              <a:t>OpenAIEmbedder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462272"/>
            <a:ext cx="22402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555B66"/>
                </a:solidFill>
                <a:latin typeface="Calibri"/>
              </a:rPr>
              <a:t>text-embedding-3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7836408" y="3520440"/>
            <a:ext cx="0" cy="502920"/>
          </a:xfrm>
          <a:prstGeom prst="line">
            <a:avLst/>
          </a:prstGeom>
          <a:ln w="19050">
            <a:solidFill>
              <a:srgbClr val="555B6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9829800" y="4023360"/>
            <a:ext cx="2240280" cy="914400"/>
          </a:xfrm>
          <a:prstGeom prst="rect">
            <a:avLst/>
          </a:prstGeom>
          <a:solidFill>
            <a:srgbClr val="F2F4F7"/>
          </a:solidFill>
          <a:ln w="12700"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9800" y="4096512"/>
            <a:ext cx="2240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A1F2C"/>
                </a:solidFill>
                <a:latin typeface="Calibri"/>
              </a:rPr>
              <a:t>RegexGuardrail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29800" y="4462272"/>
            <a:ext cx="22402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555B66"/>
                </a:solidFill>
                <a:latin typeface="Calibri"/>
              </a:rPr>
              <a:t>+ LLM judge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10945368" y="3520440"/>
            <a:ext cx="0" cy="502920"/>
          </a:xfrm>
          <a:prstGeom prst="line">
            <a:avLst/>
          </a:prstGeom>
          <a:ln w="19050">
            <a:solidFill>
              <a:srgbClr val="555B6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502920" y="5074920"/>
            <a:ext cx="224028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138928"/>
            <a:ext cx="2240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A1F2C"/>
                </a:solidFill>
                <a:latin typeface="Calibri"/>
              </a:rPr>
              <a:t>FakeLLM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5486400"/>
            <a:ext cx="22402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555B66"/>
                </a:solidFill>
                <a:latin typeface="Calibri"/>
              </a:rPr>
              <a:t>scripted replies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11880" y="5074920"/>
            <a:ext cx="224028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11880" y="5138928"/>
            <a:ext cx="2240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A1F2C"/>
                </a:solidFill>
                <a:latin typeface="Calibri"/>
              </a:rPr>
              <a:t>InMemRetriever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11880" y="5486400"/>
            <a:ext cx="22402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555B66"/>
                </a:solidFill>
                <a:latin typeface="Calibri"/>
              </a:rPr>
              <a:t>fixture corpus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20840" y="5074920"/>
            <a:ext cx="224028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720840" y="5138928"/>
            <a:ext cx="2240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A1F2C"/>
                </a:solidFill>
                <a:latin typeface="Calibri"/>
              </a:rPr>
              <a:t>HashEmbedder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5486400"/>
            <a:ext cx="22402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555B66"/>
                </a:solidFill>
                <a:latin typeface="Calibri"/>
              </a:rPr>
              <a:t>deterministic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29800" y="5074920"/>
            <a:ext cx="224028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9800" y="5138928"/>
            <a:ext cx="2240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A1F2C"/>
                </a:solidFill>
                <a:latin typeface="Calibri"/>
              </a:rPr>
              <a:t>AllowAllGuard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800" y="5486400"/>
            <a:ext cx="22402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555B66"/>
                </a:solidFill>
                <a:latin typeface="Calibri"/>
              </a:rPr>
              <a:t>no-op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6080760"/>
            <a:ext cx="11155680" cy="502920"/>
          </a:xfrm>
          <a:prstGeom prst="rect">
            <a:avLst/>
          </a:prstGeom>
          <a:solidFill>
            <a:srgbClr val="0B2D4E"/>
          </a:solidFill>
          <a:ln w="9525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612648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Composition Root  —  selects prod vs. test adapters from config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6601968"/>
            <a:ext cx="1124712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1">
                <a:solidFill>
                  <a:srgbClr val="555B66"/>
                </a:solidFill>
                <a:latin typeface="Calibri"/>
              </a:rPr>
              <a:t>dashed → realizes / uses    ·    solid → owns reference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Pattern 32 —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Cross-cutting safety, policy, and quality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15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577840" cy="237744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435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64208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LLMs may produce unsafe or off-topic output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Users send prompt injections or PII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Compliance and legal vary by domain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Ad-hoc checks scatter across the 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577840" cy="237744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2435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64208"/>
            <a:ext cx="5349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Input: filter, redact, classify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Output: validate, score, rewrite, block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Centralize policies driven by config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Fail safe: deterministic fallbacks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03320"/>
            <a:ext cx="5577840" cy="1920240"/>
          </a:xfrm>
          <a:prstGeom prst="rect">
            <a:avLst/>
          </a:prstGeom>
          <a:solidFill>
            <a:srgbClr val="FFF3E0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033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7581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Architectural Significance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1788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Cross-cutting layer — like middleware/AOP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Same role as API gateways or WAFs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Security, safety, compliance, reliability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03320"/>
            <a:ext cx="5577840" cy="1920240"/>
          </a:xfrm>
          <a:prstGeom prst="rect">
            <a:avLst/>
          </a:prstGeom>
          <a:solidFill>
            <a:srgbClr val="E8F1F5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703320"/>
            <a:ext cx="5577840" cy="41148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3758184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Example &amp; Considerations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17880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Bank chatbot blocking financial advice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Content app enforcing brand voice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Rules + LLM-based classifiers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Measure false positives — UX matters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F2C"/>
                </a:solidFill>
                <a:latin typeface="Calibri"/>
              </a:rPr>
              <a:t>•  Log every block decision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806440"/>
            <a:ext cx="2286000" cy="45720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521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Category · Pattern 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5852160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55B66"/>
                </a:solidFill>
                <a:latin typeface="Calibri"/>
              </a:rPr>
              <a:t>Next slide → structure / sequence diagram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P32 · Guardrails — Pipeline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Symmetric input/output filters · policy ·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16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108960"/>
            <a:ext cx="1463040" cy="1005840"/>
          </a:xfrm>
          <a:prstGeom prst="roundRect">
            <a:avLst/>
          </a:prstGeom>
          <a:solidFill>
            <a:srgbClr val="555B66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20040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566160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2240280"/>
            <a:ext cx="2606040" cy="2468880"/>
          </a:xfrm>
          <a:prstGeom prst="rect">
            <a:avLst/>
          </a:prstGeom>
          <a:solidFill>
            <a:srgbClr val="FFF3E0"/>
          </a:solidFill>
          <a:ln w="19050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2313432"/>
            <a:ext cx="26060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E2711B"/>
                </a:solidFill>
                <a:latin typeface="Calibri"/>
              </a:rPr>
              <a:t>Input Guardrails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2788920"/>
            <a:ext cx="22402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0" y="2843784"/>
            <a:ext cx="2240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PII Redactor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3255264"/>
            <a:ext cx="22402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3310128"/>
            <a:ext cx="2240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Injection Detector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3721608"/>
            <a:ext cx="22402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3776472"/>
            <a:ext cx="2240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Topic Classifier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4187952"/>
            <a:ext cx="22402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242816"/>
            <a:ext cx="2240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Rate Limiter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3108960"/>
            <a:ext cx="2286000" cy="1005840"/>
          </a:xfrm>
          <a:prstGeom prst="roundRect">
            <a:avLst/>
          </a:prstGeom>
          <a:solidFill>
            <a:srgbClr val="0B2D4E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320040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LLM 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6616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RAG · Tools · Agents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0" y="2240280"/>
            <a:ext cx="2606040" cy="2468880"/>
          </a:xfrm>
          <a:prstGeom prst="rect">
            <a:avLst/>
          </a:prstGeom>
          <a:solidFill>
            <a:srgbClr val="FFF3E0"/>
          </a:solidFill>
          <a:ln w="19050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0" y="2313432"/>
            <a:ext cx="26060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E2711B"/>
                </a:solidFill>
                <a:latin typeface="Calibri"/>
              </a:rPr>
              <a:t>Output Guardrails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0" y="2788920"/>
            <a:ext cx="22402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843784"/>
            <a:ext cx="2240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Schema Validator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3255264"/>
            <a:ext cx="22402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3310128"/>
            <a:ext cx="2240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Toxicity Filter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0" y="3721608"/>
            <a:ext cx="22402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3776472"/>
            <a:ext cx="2240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Hallucination Check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4187952"/>
            <a:ext cx="22402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7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4242816"/>
            <a:ext cx="2240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F2C"/>
                </a:solidFill>
                <a:latin typeface="Calibri"/>
              </a:rPr>
              <a:t>Policy Rewriter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69880" y="3108960"/>
            <a:ext cx="1554480" cy="1005840"/>
          </a:xfrm>
          <a:prstGeom prst="roundRect">
            <a:avLst/>
          </a:prstGeom>
          <a:solidFill>
            <a:srgbClr val="E2711B"/>
          </a:solidFill>
          <a:ln w="12700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69880" y="320040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69880" y="356616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or block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828800" y="3611880"/>
            <a:ext cx="274320" cy="0"/>
          </a:xfrm>
          <a:prstGeom prst="line">
            <a:avLst/>
          </a:prstGeom>
          <a:ln w="34925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709160" y="3611880"/>
            <a:ext cx="320040" cy="0"/>
          </a:xfrm>
          <a:prstGeom prst="line">
            <a:avLst/>
          </a:prstGeom>
          <a:ln w="34925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315200" y="3611880"/>
            <a:ext cx="274320" cy="0"/>
          </a:xfrm>
          <a:prstGeom prst="line">
            <a:avLst/>
          </a:prstGeom>
          <a:ln w="34925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195560" y="3611880"/>
            <a:ext cx="274320" cy="0"/>
          </a:xfrm>
          <a:prstGeom prst="line">
            <a:avLst/>
          </a:prstGeom>
          <a:ln w="34925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029200" y="1143000"/>
            <a:ext cx="2286000" cy="822960"/>
          </a:xfrm>
          <a:prstGeom prst="roundRect">
            <a:avLst/>
          </a:prstGeom>
          <a:solidFill>
            <a:srgbClr val="007A8A"/>
          </a:solidFill>
          <a:ln w="12700">
            <a:solidFill>
              <a:srgbClr val="0B2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0" y="123444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Policy Config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0" y="160020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rules · classifiers · limits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3383280" y="1965960"/>
            <a:ext cx="2194560" cy="274320"/>
          </a:xfrm>
          <a:prstGeom prst="bentConnector3">
            <a:avLst/>
          </a:prstGeom>
          <a:ln w="22225">
            <a:solidFill>
              <a:srgbClr val="007A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766560" y="1965960"/>
            <a:ext cx="2103120" cy="274320"/>
          </a:xfrm>
          <a:prstGeom prst="bentConnector3">
            <a:avLst/>
          </a:prstGeom>
          <a:ln w="22225">
            <a:solidFill>
              <a:srgbClr val="007A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5029200" y="5074920"/>
            <a:ext cx="2286000" cy="777240"/>
          </a:xfrm>
          <a:prstGeom prst="roundRect">
            <a:avLst/>
          </a:prstGeom>
          <a:solidFill>
            <a:srgbClr val="555B66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0" y="51663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Audit Log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553212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every decision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383280" y="4709160"/>
            <a:ext cx="2194560" cy="365760"/>
          </a:xfrm>
          <a:prstGeom prst="bentConnector3">
            <a:avLst/>
          </a:prstGeom>
          <a:ln w="22225">
            <a:solidFill>
              <a:srgbClr val="555B6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6766560" y="4709160"/>
            <a:ext cx="2103120" cy="365760"/>
          </a:xfrm>
          <a:prstGeom prst="bentConnector3">
            <a:avLst/>
          </a:prstGeom>
          <a:ln w="22225">
            <a:solidFill>
              <a:srgbClr val="555B6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1097280" y="4023360"/>
            <a:ext cx="2286000" cy="685800"/>
          </a:xfrm>
          <a:prstGeom prst="bentConnector3">
            <a:avLst/>
          </a:prstGeom>
          <a:ln w="28575">
            <a:solidFill>
              <a:srgbClr val="E271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40080" y="4709160"/>
            <a:ext cx="256032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1">
                <a:solidFill>
                  <a:srgbClr val="E2711B"/>
                </a:solidFill>
                <a:latin typeface="Calibri"/>
              </a:rPr>
              <a:t>block / safe fallback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0807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B2D4E"/>
                </a:solidFill>
                <a:latin typeface="Calibri"/>
              </a:rPr>
              <a:t>Same shape as a classical API gateway: ingress → core → egress, plus policy and observability planes.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The five patterns composed into a reference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17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828800" cy="914400"/>
          </a:xfrm>
          <a:prstGeom prst="rect">
            <a:avLst/>
          </a:prstGeom>
          <a:solidFill>
            <a:srgbClr val="555B66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99032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234440"/>
            <a:ext cx="1920240" cy="914400"/>
          </a:xfrm>
          <a:prstGeom prst="rect">
            <a:avLst/>
          </a:prstGeom>
          <a:solidFill>
            <a:srgbClr val="E2711B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399032"/>
            <a:ext cx="1920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1783080"/>
            <a:ext cx="1920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P32 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234440"/>
            <a:ext cx="1920240" cy="914400"/>
          </a:xfrm>
          <a:prstGeom prst="rect">
            <a:avLst/>
          </a:prstGeom>
          <a:solidFill>
            <a:srgbClr val="0B2D4E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399032"/>
            <a:ext cx="1920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783080"/>
            <a:ext cx="1920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DI · P19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1234440"/>
            <a:ext cx="2194560" cy="914400"/>
          </a:xfrm>
          <a:prstGeom prst="rect">
            <a:avLst/>
          </a:prstGeom>
          <a:solidFill>
            <a:srgbClr val="0B2D4E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399032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Multiagent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783080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1234440"/>
            <a:ext cx="2194560" cy="914400"/>
          </a:xfrm>
          <a:prstGeom prst="rect">
            <a:avLst/>
          </a:prstGeom>
          <a:solidFill>
            <a:srgbClr val="E2711B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0" y="1399032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Guardrails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1783080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P32 out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286000" y="1691640"/>
            <a:ext cx="274320" cy="0"/>
          </a:xfrm>
          <a:prstGeom prst="line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480560" y="1691640"/>
            <a:ext cx="274320" cy="0"/>
          </a:xfrm>
          <a:prstGeom prst="line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675120" y="1691640"/>
            <a:ext cx="274320" cy="0"/>
          </a:xfrm>
          <a:prstGeom prst="line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144000" y="1691640"/>
            <a:ext cx="274320" cy="0"/>
          </a:xfrm>
          <a:prstGeom prst="line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1828800" y="2606040"/>
            <a:ext cx="2286000" cy="868680"/>
          </a:xfrm>
          <a:prstGeom prst="rect">
            <a:avLst/>
          </a:prstGeom>
          <a:solidFill>
            <a:srgbClr val="007A8A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0" y="277063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Retriever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154680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2606040"/>
            <a:ext cx="2286000" cy="868680"/>
          </a:xfrm>
          <a:prstGeom prst="rect">
            <a:avLst/>
          </a:prstGeom>
          <a:solidFill>
            <a:srgbClr val="007A8A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277063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Vector 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154680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indexed corpus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14800" y="3040380"/>
            <a:ext cx="274320" cy="0"/>
          </a:xfrm>
          <a:prstGeom prst="line">
            <a:avLst/>
          </a:prstGeom>
          <a:ln w="31750">
            <a:solidFill>
              <a:srgbClr val="0B2D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2971800" y="2148840"/>
            <a:ext cx="5074920" cy="457200"/>
          </a:xfrm>
          <a:prstGeom prst="bentConnector3">
            <a:avLst/>
          </a:prstGeom>
          <a:ln w="25400">
            <a:solidFill>
              <a:srgbClr val="0B2D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828800" y="3886200"/>
            <a:ext cx="2011680" cy="868680"/>
          </a:xfrm>
          <a:prstGeom prst="rect">
            <a:avLst/>
          </a:prstGeom>
          <a:solidFill>
            <a:srgbClr val="007A8A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4050792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 Host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443484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23360" y="3886200"/>
            <a:ext cx="1645920" cy="868680"/>
          </a:xfrm>
          <a:prstGeom prst="rect">
            <a:avLst/>
          </a:prstGeom>
          <a:solidFill>
            <a:srgbClr val="555B66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23360" y="4050792"/>
            <a:ext cx="1645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443484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REST / gRPC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3886200"/>
            <a:ext cx="1645920" cy="868680"/>
          </a:xfrm>
          <a:prstGeom prst="rect">
            <a:avLst/>
          </a:prstGeom>
          <a:solidFill>
            <a:srgbClr val="555B66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0" y="4050792"/>
            <a:ext cx="1645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Databases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0" y="443484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SQL / NoSQL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80960" y="3886200"/>
            <a:ext cx="1645920" cy="868680"/>
          </a:xfrm>
          <a:prstGeom prst="rect">
            <a:avLst/>
          </a:prstGeom>
          <a:solidFill>
            <a:srgbClr val="555B66"/>
          </a:solidFill>
          <a:ln w="12700">
            <a:solidFill>
              <a:srgbClr val="1A1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0" y="4050792"/>
            <a:ext cx="1645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Code Exec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443484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sandbox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840480" y="4320540"/>
            <a:ext cx="1005840" cy="0"/>
          </a:xfrm>
          <a:prstGeom prst="line">
            <a:avLst/>
          </a:prstGeom>
          <a:ln w="25400">
            <a:solidFill>
              <a:srgbClr val="007A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40480" y="4320540"/>
            <a:ext cx="2834640" cy="0"/>
          </a:xfrm>
          <a:prstGeom prst="line">
            <a:avLst/>
          </a:prstGeom>
          <a:ln w="25400">
            <a:solidFill>
              <a:srgbClr val="007A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40480" y="4320540"/>
            <a:ext cx="4663440" cy="0"/>
          </a:xfrm>
          <a:prstGeom prst="line">
            <a:avLst/>
          </a:prstGeom>
          <a:ln w="25400">
            <a:solidFill>
              <a:srgbClr val="007A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834640" y="2148840"/>
            <a:ext cx="5212080" cy="1737360"/>
          </a:xfrm>
          <a:prstGeom prst="bentConnector3">
            <a:avLst/>
          </a:prstGeom>
          <a:ln w="25400">
            <a:solidFill>
              <a:srgbClr val="0B2D4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57200" y="4983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B2D4E"/>
                </a:solidFill>
                <a:latin typeface="Calibri"/>
              </a:rPr>
              <a:t>Guardrails wrap every call · DI wires components · RAG grounds · Tools execute · Agents coordinate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4864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Start: one agent + RAG + Tools + Guardrails covers ~70% of real apps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Add Multiagent only when context or roles overflow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C"/>
                </a:solidFill>
                <a:latin typeface="Calibri"/>
              </a:rPr>
              <a:t>•  DI from day one — your tests will thank you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27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References &amp; Further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274320"/>
            <a:ext cx="1188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600" b="0" i="0">
                <a:solidFill>
                  <a:srgbClr val="CBD5E1"/>
                </a:solidFill>
                <a:latin typeface="Calibri"/>
              </a:rPr>
              <a:t>18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Lakshmanan, V., &amp; Hapke, H. (2025). Generative AI Design Patterns. O'Reilly.</a:t>
            </a:r>
          </a:p>
          <a:p>
            <a:pPr algn="l" lvl="1">
              <a:spcAft>
                <a:spcPts val="600"/>
              </a:spcAft>
            </a:pPr>
            <a:r>
              <a:rPr sz="1900">
                <a:solidFill>
                  <a:srgbClr val="1A1F2C"/>
                </a:solidFill>
                <a:latin typeface="Calibri"/>
              </a:rPr>
              <a:t>–  Primary source — Chapters 1–10, Patterns 1–32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Gamma, E. et al. (1994). Design Patterns. Addison-Wesley.</a:t>
            </a:r>
          </a:p>
          <a:p>
            <a:pPr algn="l" lvl="1">
              <a:spcAft>
                <a:spcPts val="600"/>
              </a:spcAft>
            </a:pPr>
            <a:r>
              <a:rPr sz="1900">
                <a:solidFill>
                  <a:srgbClr val="1A1F2C"/>
                </a:solidFill>
                <a:latin typeface="Calibri"/>
              </a:rPr>
              <a:t>–  Classical pattern vocabulary — comparison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Hohpe, G., &amp; Woolf, B. (2003). Enterprise Integration Patterns.</a:t>
            </a:r>
          </a:p>
          <a:p>
            <a:pPr algn="l" lvl="1">
              <a:spcAft>
                <a:spcPts val="600"/>
              </a:spcAft>
            </a:pPr>
            <a:r>
              <a:rPr sz="1900">
                <a:solidFill>
                  <a:srgbClr val="1A1F2C"/>
                </a:solidFill>
                <a:latin typeface="Calibri"/>
              </a:rPr>
              <a:t>–  Tool Calling, Multiagent, Guardrails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Fowler, M. (2002). Patterns of Enterprise Application Architecture.</a:t>
            </a:r>
          </a:p>
          <a:p>
            <a:pPr algn="l" lvl="1">
              <a:spcAft>
                <a:spcPts val="600"/>
              </a:spcAft>
            </a:pPr>
            <a:r>
              <a:rPr sz="1900">
                <a:solidFill>
                  <a:srgbClr val="1A1F2C"/>
                </a:solidFill>
                <a:latin typeface="Calibri"/>
              </a:rPr>
              <a:t>–  Dependency Injection, layered designs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1A1F2C"/>
                </a:solidFill>
                <a:latin typeface="Calibri"/>
              </a:rPr>
              <a:t>•  Provider documentation: Anthropic, OpenAI, Google</a:t>
            </a:r>
          </a:p>
          <a:p>
            <a:pPr algn="l" lvl="1">
              <a:spcAft>
                <a:spcPts val="600"/>
              </a:spcAft>
            </a:pPr>
            <a:r>
              <a:rPr sz="1900">
                <a:solidFill>
                  <a:srgbClr val="1A1F2C"/>
                </a:solidFill>
                <a:latin typeface="Calibri"/>
              </a:rPr>
              <a:t>–  Tool use, structured outputs,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CSC10004 / CSC13106 — Software Design &amp;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3796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0" i="0">
                <a:solidFill>
                  <a:srgbClr val="555B66"/>
                </a:solidFill>
                <a:latin typeface="Calibri"/>
              </a:rPr>
              <a:t>Ngo Huy Bien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