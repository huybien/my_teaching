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E27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E2711B"/>
                </a:solidFill>
                <a:latin typeface="Calibri"/>
              </a:rPr>
              <a:t>Chapter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Calibri"/>
              </a:rPr>
              <a:t>Generative AI Design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Calibri"/>
              </a:rPr>
              <a:t>Introduction and Five Patterns for Software Architects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Software Design — Course Material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Calibri"/>
              </a:rPr>
              <a:t>Lecturer: Ngo Huy Bien, PhD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9FB3C8"/>
                </a:solidFill>
                <a:latin typeface="Calibri"/>
              </a:rPr>
              <a:t>Based on Lakshmanan &amp; Hapke, Generative AI Design Patterns, O'Reilly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27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What we will cover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92608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CBD5E1"/>
                </a:solidFill>
                <a:latin typeface="Calibri"/>
              </a:rPr>
              <a:t>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1A1F2C"/>
                </a:solidFill>
                <a:latin typeface="Calibri"/>
              </a:rPr>
              <a:t>•  Why GenAI design patterns matter for software architects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A1F2C"/>
                </a:solidFill>
                <a:latin typeface="Calibri"/>
              </a:rPr>
              <a:t>•  The book at a glance — 32 patterns across 8 categories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A1F2C"/>
                </a:solidFill>
                <a:latin typeface="Calibri"/>
              </a:rPr>
              <a:t>•  Foundational concepts: LLMs, prompts, context, agents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A1F2C"/>
                </a:solidFill>
                <a:latin typeface="Calibri"/>
              </a:rPr>
              <a:t>•  Architectural lens: how we picked the top 5 patterns</a:t>
            </a:r>
          </a:p>
          <a:p>
            <a:pPr algn="l" lvl="1">
              <a:spcAft>
                <a:spcPts val="400"/>
              </a:spcAft>
            </a:pPr>
            <a:r>
              <a:rPr sz="1600">
                <a:solidFill>
                  <a:srgbClr val="1A1F2C"/>
                </a:solidFill>
                <a:latin typeface="Calibri"/>
              </a:rPr>
              <a:t>–  P6  · Basic RAG — grounding LLMs with external knowledge</a:t>
            </a:r>
          </a:p>
          <a:p>
            <a:pPr algn="l" lvl="1">
              <a:spcAft>
                <a:spcPts val="400"/>
              </a:spcAft>
            </a:pPr>
            <a:r>
              <a:rPr sz="1600">
                <a:solidFill>
                  <a:srgbClr val="1A1F2C"/>
                </a:solidFill>
                <a:latin typeface="Calibri"/>
              </a:rPr>
              <a:t>–  P21 · Tool Calling — integrating LLMs with services and data</a:t>
            </a:r>
          </a:p>
          <a:p>
            <a:pPr algn="l" lvl="1">
              <a:spcAft>
                <a:spcPts val="400"/>
              </a:spcAft>
            </a:pPr>
            <a:r>
              <a:rPr sz="1600">
                <a:solidFill>
                  <a:srgbClr val="1A1F2C"/>
                </a:solidFill>
                <a:latin typeface="Calibri"/>
              </a:rPr>
              <a:t>–  P23 · Multiagent Collaboration — distributed agent systems</a:t>
            </a:r>
          </a:p>
          <a:p>
            <a:pPr algn="l" lvl="1">
              <a:spcAft>
                <a:spcPts val="400"/>
              </a:spcAft>
            </a:pPr>
            <a:r>
              <a:rPr sz="1600">
                <a:solidFill>
                  <a:srgbClr val="1A1F2C"/>
                </a:solidFill>
                <a:latin typeface="Calibri"/>
              </a:rPr>
              <a:t>–  P19 · Dependency Injection — modularity and testability</a:t>
            </a:r>
          </a:p>
          <a:p>
            <a:pPr algn="l" lvl="1">
              <a:spcAft>
                <a:spcPts val="400"/>
              </a:spcAft>
            </a:pPr>
            <a:r>
              <a:rPr sz="1600">
                <a:solidFill>
                  <a:srgbClr val="1A1F2C"/>
                </a:solidFill>
                <a:latin typeface="Calibri"/>
              </a:rPr>
              <a:t>–  P32 · Guardrails — cross-cutting safety and policy layer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A1F2C"/>
                </a:solidFill>
                <a:latin typeface="Calibri"/>
              </a:rPr>
              <a:t>•  Composing the five patterns into one reference architecture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A1F2C"/>
                </a:solidFill>
                <a:latin typeface="Calibri"/>
              </a:rPr>
              <a:t>•  References and further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CSC10004 / CSC13106 — Software Design &amp;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Ngo Huy Bien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27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GenAI Design Patterns?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Reusable solutions for recurring problems in LLM-powered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92608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CBD5E1"/>
                </a:solidFill>
                <a:latin typeface="Calibri"/>
              </a:rPr>
              <a:t>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>
                <a:solidFill>
                  <a:srgbClr val="1A1F2C"/>
                </a:solidFill>
                <a:latin typeface="Calibri"/>
              </a:rPr>
              <a:t>•  LLMs are non-deterministic, stateless, and context-limited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1A1F2C"/>
                </a:solidFill>
                <a:latin typeface="Calibri"/>
              </a:rPr>
              <a:t>•  Production systems need reliability, safety, and observability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1A1F2C"/>
                </a:solidFill>
                <a:latin typeface="Calibri"/>
              </a:rPr>
              <a:t>•  Patterns capture proven structures for these constraints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1A1F2C"/>
                </a:solidFill>
                <a:latin typeface="Calibri"/>
              </a:rPr>
              <a:t>•  Same role as GoF for OO, EIP for integration, Fowler for enterprise apps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1A1F2C"/>
                </a:solidFill>
                <a:latin typeface="Calibri"/>
              </a:rPr>
              <a:t>•  Vocabulary for architects, developers, and AI engineers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1A1F2C"/>
                </a:solidFill>
                <a:latin typeface="Calibri"/>
              </a:rPr>
              <a:t>•  Decouple model choice from system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303520" cy="23774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30352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225296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Classical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572768"/>
            <a:ext cx="5074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A1F2C"/>
                </a:solidFill>
                <a:latin typeface="Calibri"/>
              </a:rPr>
              <a:t>•  Deterministic behavior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F2C"/>
                </a:solidFill>
                <a:latin typeface="Calibri"/>
              </a:rPr>
              <a:t>•  Strong type contracts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F2C"/>
                </a:solidFill>
                <a:latin typeface="Calibri"/>
              </a:rPr>
              <a:t>•  Persistent state by default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F2C"/>
                </a:solidFill>
                <a:latin typeface="Calibri"/>
              </a:rPr>
              <a:t>•  Compile-time correctness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03320"/>
            <a:ext cx="5303520" cy="237744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703320"/>
            <a:ext cx="530352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3739896"/>
            <a:ext cx="51206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Generative AI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087368"/>
            <a:ext cx="5074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A1F2C"/>
                </a:solidFill>
                <a:latin typeface="Calibri"/>
              </a:rPr>
              <a:t>•  Probabilistic outputs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F2C"/>
                </a:solidFill>
                <a:latin typeface="Calibri"/>
              </a:rPr>
              <a:t>•  Loose, natural-language contracts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F2C"/>
                </a:solidFill>
                <a:latin typeface="Calibri"/>
              </a:rPr>
              <a:t>•  Stateless models, externalized memory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F2C"/>
                </a:solidFill>
                <a:latin typeface="Calibri"/>
              </a:rPr>
              <a:t>•  Run-time evaluation and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CSC10004 / CSC13106 — Software Design &amp;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Ngo Huy Bien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27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Book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Lakshmanan &amp; Hapke (O'Reilly, 2025) — 32 patterns in 8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92608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CBD5E1"/>
                </a:solidFill>
                <a:latin typeface="Calibri"/>
              </a:rPr>
              <a:t>4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623560" cy="640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822960" cy="64008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P1–P5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188720"/>
            <a:ext cx="4617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2D4E"/>
                </a:solidFill>
                <a:latin typeface="Calibri"/>
              </a:rPr>
              <a:t>Controlling Content Style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435608"/>
            <a:ext cx="4617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Logits Masking, Grammar, Style Transfer, 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43000"/>
            <a:ext cx="5623560" cy="640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143000"/>
            <a:ext cx="822960" cy="64008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280160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P6–P8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188720"/>
            <a:ext cx="4617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2D4E"/>
                </a:solidFill>
                <a:latin typeface="Calibri"/>
              </a:rPr>
              <a:t>Adding Knowledge: Bass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435608"/>
            <a:ext cx="4617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Basic RAG, Semantic Indexing, Indexing at Scale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74520"/>
            <a:ext cx="5623560" cy="640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874520"/>
            <a:ext cx="822960" cy="64008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011680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P9–P12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1920240"/>
            <a:ext cx="4617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2D4E"/>
                </a:solidFill>
                <a:latin typeface="Calibri"/>
              </a:rPr>
              <a:t>Adding Knowledge: Syncopation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167128"/>
            <a:ext cx="4617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Index-Aware Retrieval, Trustworthy Generation, 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874520"/>
            <a:ext cx="5623560" cy="640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874520"/>
            <a:ext cx="822960" cy="64008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011680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P13–P16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1920240"/>
            <a:ext cx="4617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2D4E"/>
                </a:solidFill>
                <a:latin typeface="Calibri"/>
              </a:rPr>
              <a:t>Extending Model Capabilities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167128"/>
            <a:ext cx="4617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Chain of Thought, Tree of Thoughts, Adapter Tuning, Evol-Instruct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606040"/>
            <a:ext cx="5623560" cy="640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606040"/>
            <a:ext cx="822960" cy="64008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743200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P17–P20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2651760"/>
            <a:ext cx="4617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2D4E"/>
                </a:solidFill>
                <a:latin typeface="Calibri"/>
              </a:rPr>
              <a:t>Improving Reliability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2898648"/>
            <a:ext cx="4617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LLM-as-Judge, Reflection, Dependency Injection, Prompt Optimization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2606040"/>
            <a:ext cx="5623560" cy="640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2606040"/>
            <a:ext cx="822960" cy="64008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2743200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P21–P23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2651760"/>
            <a:ext cx="4617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2D4E"/>
                </a:solidFill>
                <a:latin typeface="Calibri"/>
              </a:rPr>
              <a:t>Enabling Agents to Take 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2898648"/>
            <a:ext cx="4617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Tool Calling, Code Execution, Multiagent Collaboration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337560"/>
            <a:ext cx="5623560" cy="640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337560"/>
            <a:ext cx="822960" cy="64008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474720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P24–P28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3383280"/>
            <a:ext cx="4617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2D4E"/>
                </a:solidFill>
                <a:latin typeface="Calibri"/>
              </a:rPr>
              <a:t>Addressing Constraints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3630168"/>
            <a:ext cx="4617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Small LMs, Prompt Caching, Inference Opt., Long-Term Memory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3337560"/>
            <a:ext cx="5623560" cy="640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72200" y="3337560"/>
            <a:ext cx="822960" cy="64008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3474720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P29–P32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3383280"/>
            <a:ext cx="4617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2D4E"/>
                </a:solidFill>
                <a:latin typeface="Calibri"/>
              </a:rPr>
              <a:t>Setting Safeguards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3630168"/>
            <a:ext cx="4617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Template Gen., Assembled Reformat, Self-Check, Guardrails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/>
              </a:rPr>
              <a:t>Chapter 10 is a capstone — composable agentic workflows (no new numbered pattern).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CSC10004 / CSC13106 — Software Design &amp; Architecture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Ngo Huy Bien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27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Foundational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Building blocks before the patterns make 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92608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CBD5E1"/>
                </a:solidFill>
                <a:latin typeface="Calibri"/>
              </a:rPr>
              <a:t>5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577840" cy="2468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17957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LLMs &amp; Foundation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27048"/>
            <a:ext cx="5349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Pre-trained on huge corpora; predict the next token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Stateless by default — each call sees only its prompt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Accessed via provider APIs, frameworks, or self-hosting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Frontier vs. open-weight, large vs. small (SLM)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2468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17957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Prompt &amp;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27048"/>
            <a:ext cx="5349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System + user + tool messages form the context window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In-context learning: zero-shot, few-shot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Fine-grained control: temperature, top-K, nucleus, beam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Context size is finite — drives retrieval &amp; memory patterns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39"/>
            <a:ext cx="5577840" cy="2468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785615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133087"/>
            <a:ext cx="5349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LLM + tools + memory + goal-driven loop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Autonomy: from single-tool calls to multi-step plans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Communicate with other agents and external systems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Architecturally: a stateful service with policies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749039"/>
            <a:ext cx="5577840" cy="2468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49039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785615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Post-Training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133087"/>
            <a:ext cx="5349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Fine-tuning, RLHF, DPO, adapter / LoRA tuning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Aligns a base model to a domain or behavior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Trade-off: capability vs. cost vs. control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Architecturally: a build step, not a runtime concern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CSC10004 / CSC13106 — Software Design &amp;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Ngo Huy Bien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27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Choosing the Top 5 — An Architect's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Patterns selected for structural impact, not prompt tricks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92608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CBD5E1"/>
                </a:solidFill>
                <a:latin typeface="Calibri"/>
              </a:rPr>
              <a:t>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1A1F2C"/>
                </a:solidFill>
                <a:latin typeface="Calibri"/>
              </a:rPr>
              <a:t>•  Component decomposition — what new modules appear?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F2C"/>
                </a:solidFill>
                <a:latin typeface="Calibri"/>
              </a:rPr>
              <a:t>•  Integration boundaries — how does the LLM reach the outside world?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F2C"/>
                </a:solidFill>
                <a:latin typeface="Calibri"/>
              </a:rPr>
              <a:t>•  Distribution &amp; coordination — multiple agents, multiple services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F2C"/>
                </a:solidFill>
                <a:latin typeface="Calibri"/>
              </a:rPr>
              <a:t>•  Cross-cutting concerns — safety, policy, observability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F2C"/>
                </a:solidFill>
                <a:latin typeface="Calibri"/>
              </a:rPr>
              <a:t>•  Quality attributes — reliability, scalability, testability, security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F2C"/>
                </a:solidFill>
                <a:latin typeface="Calibri"/>
              </a:rPr>
              <a:t>•  Classical SE alignment — concepts students already know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097280"/>
            <a:ext cx="5212080" cy="5029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097280"/>
            <a:ext cx="5212080" cy="411480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16128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The Five Patterns We Will Study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691640"/>
            <a:ext cx="640080" cy="64008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856232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73736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2D4E"/>
                </a:solidFill>
                <a:latin typeface="Calibri"/>
              </a:rPr>
              <a:t>Basic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20824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/>
              </a:rPr>
              <a:t>Component decomposition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2514600"/>
            <a:ext cx="640080" cy="64008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679192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56032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2D4E"/>
                </a:solidFill>
                <a:latin typeface="Calibri"/>
              </a:rPr>
              <a:t>Tool Calling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843784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/>
              </a:rPr>
              <a:t>Integration boundary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3337560"/>
            <a:ext cx="640080" cy="64008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502152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38328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2D4E"/>
                </a:solidFill>
                <a:latin typeface="Calibri"/>
              </a:rPr>
              <a:t>Multiagent Collaboration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666744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/>
              </a:rPr>
              <a:t>Distributed coordination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0" y="4160520"/>
            <a:ext cx="640080" cy="64008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325112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420624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2D4E"/>
                </a:solidFill>
                <a:latin typeface="Calibri"/>
              </a:rPr>
              <a:t>Dependency Injection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4489704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/>
              </a:rPr>
              <a:t>Modularity &amp; testability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4983480"/>
            <a:ext cx="640080" cy="64008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5148072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502920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2D4E"/>
                </a:solidFill>
                <a:latin typeface="Calibri"/>
              </a:rPr>
              <a:t>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5312664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/>
              </a:rPr>
              <a:t>Cross-cutting policy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CSC10004 / CSC13106 — Software Design &amp;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Ngo Huy Bien ·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27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Pattern 6 — Basic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Ground LLM answers in external, up-to-date, authoritative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92608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CBD5E1"/>
                </a:solidFill>
                <a:latin typeface="Calibri"/>
              </a:rPr>
              <a:t>7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577840" cy="2331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17957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27048"/>
            <a:ext cx="5349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LLM knowledge is frozen at training time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Hallucinations on domain-specific or recent facts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No traceable source for the generated answer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Re-training the model for every update is not feasible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2331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17957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27048"/>
            <a:ext cx="5349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Embed and index documents in a vector store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Retrieve top-k chunks similar to the user query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Inject retrieved context into the prompt before generation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Return the answer together with its 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5577840" cy="18288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1188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64845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Architectural Significance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995928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Introduces 3 new components: indexer, retriever, vector store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Reference architecture for almost every enterprise GenAI app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Clear separation between knowledge plane and reasoning plane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11880"/>
            <a:ext cx="5577840" cy="1828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1188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64845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Example &amp; Considerations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995928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Customer-support bot grounded on product documentation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Legal/medical Q&amp;A over a controlled corpus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Chunking strategy and embedding model drive quality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Stale index ⇒ stale answers — refresh pipeline matters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Foundation for P9–P12 (advanced RAG variants)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23560"/>
            <a:ext cx="2011680" cy="36576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Category · Pattern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650992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/>
              </a:rPr>
              <a:t>Ground LLM answers in external, up-to-date, authoritative content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CSC10004 / CSC13106 — Software Design &amp;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Ngo Huy Bien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27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Pattern 21 — Tool Calling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Let the LLM invoke functions, APIs, and services to act on the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92608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CBD5E1"/>
                </a:solidFill>
                <a:latin typeface="Calibri"/>
              </a:rPr>
              <a:t>8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577840" cy="2331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17957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27048"/>
            <a:ext cx="5349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LLMs can reason but cannot read live data or perform actions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Hard-coding behaviors into prompts is brittle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Real workflows require search, calculation, transactions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Need a safe, declarative way to expose capabilities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2331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17957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27048"/>
            <a:ext cx="5349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Declare tools with name, description, JSON schema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LLM emits a structured tool-call request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Host runtime executes the tool and returns a result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Loop until the model produces a final answer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5577840" cy="18288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1188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64845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Architectural Significance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995928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Defines the integration boundary between LLM and your systems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Same role as a service-bus contract or REST API definition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Enables a Hexagonal / Ports-and-Adapters style around the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11880"/>
            <a:ext cx="5577840" cy="1828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1188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64845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Example &amp; Considerations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995928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Travel agent calling weather, flight, and booking APIs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Database query tool wrapping read-only SQL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Strict input validation — the LLM may produce wrong arguments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AuthN/AuthZ must live in the tool, never in the prompt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Audit every tool call for compliance and debugging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23560"/>
            <a:ext cx="2011680" cy="36576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Category · Pattern 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650992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/>
              </a:rPr>
              <a:t>Let the LLM invoke functions, APIs, and services to act on the world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CSC10004 / CSC13106 — Software Design &amp;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Ngo Huy Bien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27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Pattern 23 — Multiagent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Decompose complex tasks across specialized, cooperating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92608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CBD5E1"/>
                </a:solidFill>
                <a:latin typeface="Calibri"/>
              </a:rPr>
              <a:t>9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577840" cy="2331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17957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27048"/>
            <a:ext cx="5349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A single agent overloads its context and its prompt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Tasks have heterogeneous skills: research, code, review, summarize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Hard to test or evolve a monolithic agent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Need parallelism, role separation, escalation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2331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17957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27048"/>
            <a:ext cx="5349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Define agents by role, tools, and policies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Choose a topology: orchestrator, peer-to-peer, hierarchical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Use a shared message bus or blackboard for state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Add an evaluator/judge agent for quality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5577840" cy="18288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1188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64845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Architectural Significance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995928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Pure distributed-systems pattern — coordination &amp; consistency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Mirrors actor model, microservices, and SOA at the AI layer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Drives quality attributes: scalability, resilience, evolvability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11880"/>
            <a:ext cx="5577840" cy="1828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1188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64845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Example &amp; Considerations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995928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Research-writer-editor pipeline producing a report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Planner + executor + critic loop for autonomous tasks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Watch for infinite loops and runaway costs — budget per task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Observability per agent and per message is mandatory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Same failure modes as microservices: partial failure, ordering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23560"/>
            <a:ext cx="2011680" cy="36576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Category · Pattern 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650992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/>
              </a:rPr>
              <a:t>Decompose complex tasks across specialized, cooperating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CSC10004 / CSC13106 — Software Design &amp;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Ngo Huy Bien ·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27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Pattern 19 — Dependency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Decouple the LLM call from the components that surround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92608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CBD5E1"/>
                </a:solidFill>
                <a:latin typeface="Calibri"/>
              </a:rPr>
              <a:t>10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577840" cy="2331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17957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27048"/>
            <a:ext cx="5349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Code that hard-wires a specific model is impossible to test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Cannot swap providers, prompts, retrievers without rewrites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Mocking an LLM in unit tests is messy and slow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A/B testing across models requires duplicated code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2331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17957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27048"/>
            <a:ext cx="5349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Define interfaces: LLMClient, Retriever, Embedder, ToolHost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Inject concrete implementations at the composition root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Wire fakes / stubs in tests and dev environments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Configure variants per environment or experiment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5577840" cy="18288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1188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64845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Architectural Significance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995928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Bridges classical SE (SOLID, IoC containers) to GenAI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Enables testability — the #1 weakness of LLM systems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Supports evolutionary architecture: change one provider, not the 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11880"/>
            <a:ext cx="5577840" cy="1828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1188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64845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Example &amp; Considerations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995928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Same RAG app running on Claude, GPT, or a local Llama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Test suite using a deterministic stub LLM in CI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Interfaces must be coarse enough to hide provider differences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Resist over-abstraction — start with two implementations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Pairs beautifully with feature flags and config-as-code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23560"/>
            <a:ext cx="2011680" cy="36576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Category · Pattern 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650992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/>
              </a:rPr>
              <a:t>Decouple the LLM call from the components that surround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CSC10004 / CSC13106 — Software Design &amp;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Ngo Huy Bien ·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27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Pattern 32 —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Cross-cutting safety, policy, and quality layer around every LLM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92608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CBD5E1"/>
                </a:solidFill>
                <a:latin typeface="Calibri"/>
              </a:rPr>
              <a:t>11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577840" cy="2331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17957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27048"/>
            <a:ext cx="5349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LLMs may produce unsafe, biased, or off-topic output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Users may send prompt injections or PII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Compliance and legal requirements vary by domain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Ad-hoc checks scatter across prompts and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2331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17957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27048"/>
            <a:ext cx="5349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Input guardrails: filter, redact, classify before the LLM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Output guardrails: validate, score, rewrite, or block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Centralize policies — driven by config, not hard-coded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Fail safe: deterministic fallbacks or human handoff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5577840" cy="18288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1188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64845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Architectural Significance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995928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A cross-cutting architectural layer — like middleware / AOP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Same role as API gateways or WAFs for traditional systems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Quality attributes: security, safety, compliance, reliability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11880"/>
            <a:ext cx="5577840" cy="1828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11880"/>
            <a:ext cx="5577840" cy="329184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64845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Example &amp; Considerations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995928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Banking chatbot blocking financial advice and PII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Content app enforcing brand voice and topic boundaries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Two layers: deterministic rules + LLM-based classifiers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Measure false positives — over-blocking hurts UX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Log every block decision for audit and tuning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23560"/>
            <a:ext cx="2011680" cy="36576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Category · Pattern 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650992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/>
              </a:rPr>
              <a:t>Cross-cutting safety, policy, and quality layer around every LLM 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CSC10004 / CSC13106 — Software Design &amp;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Ngo Huy Bien ·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27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Putting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How the five patterns compose into one reference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92608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CBD5E1"/>
                </a:solidFill>
                <a:latin typeface="Calibri"/>
              </a:rPr>
              <a:t>12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828800" cy="86868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User /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280160"/>
            <a:ext cx="1920240" cy="868680"/>
          </a:xfrm>
          <a:prstGeom prst="rect">
            <a:avLst/>
          </a:prstGeom>
          <a:solidFill>
            <a:srgbClr val="E27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444752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Guardrails (P32)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78308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input filter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280160"/>
            <a:ext cx="1920240" cy="868680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444752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Orchestrator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78308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DI composition (P19)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1280160"/>
            <a:ext cx="2194560" cy="868680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444752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Multiagent (P23)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78308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planner / worker / critic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1280160"/>
            <a:ext cx="2194560" cy="868680"/>
          </a:xfrm>
          <a:prstGeom prst="rect">
            <a:avLst/>
          </a:prstGeom>
          <a:solidFill>
            <a:srgbClr val="E27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444752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Guardrails (P32)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78308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output filter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2743200"/>
            <a:ext cx="2286000" cy="86868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290779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Retriever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24612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Basic RAG (P6)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743200"/>
            <a:ext cx="2286000" cy="86868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290779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Vector 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24612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indexed corpus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4023360"/>
            <a:ext cx="2011680" cy="868680"/>
          </a:xfrm>
          <a:prstGeom prst="rect">
            <a:avLst/>
          </a:prstGeom>
          <a:solidFill>
            <a:srgbClr val="00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4187952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Tool Host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52628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Tool Calling (P21)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4023360"/>
            <a:ext cx="1645920" cy="86868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4187952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APIs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452628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REST / gRPC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4023360"/>
            <a:ext cx="1645920" cy="86868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4187952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Databases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452628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SQL / NoSQL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4023360"/>
            <a:ext cx="1645920" cy="86868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4187952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Code Exec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452628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sandbox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B2D4E"/>
                </a:solidFill>
                <a:latin typeface="Calibri"/>
              </a:rPr>
              <a:t>Guardrails wrap every call · DI wires every component · RAG grounds reasoning · Tools execute actions · Agents coordinate the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532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Start small: a single agent with RAG + Tool Calling behind Guardrails — already covers ~70% of real apps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Add Multiagent only when one agent's context or responsibilities overflow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•  Treat DI as non-negotiable from day one — your future self (and tests) will thank you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CSC10004 / CSC13106 — Software Design &amp; Architecture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Ngo Huy Bien ·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27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References &amp; 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1A1F2C"/>
                </a:solidFill>
                <a:latin typeface="Calibri"/>
              </a:rPr>
              <a:t>•  Lakshmanan, V., &amp; Hapke, H. (2025). Generative AI Design Patterns. O'Reilly.</a:t>
            </a:r>
          </a:p>
          <a:p>
            <a:pPr algn="l" lvl="1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–  Primary source — Chapters 1–10 and Patterns 1–32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A1F2C"/>
                </a:solidFill>
                <a:latin typeface="Calibri"/>
              </a:rPr>
              <a:t>•  Gamma, E. et al. (1994). Design Patterns: Elements of Reusable Object-Oriented Software. Addison-Wesley.</a:t>
            </a:r>
          </a:p>
          <a:p>
            <a:pPr algn="l" lvl="1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–  Classical pattern vocabulary — comparison and inspiration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A1F2C"/>
                </a:solidFill>
                <a:latin typeface="Calibri"/>
              </a:rPr>
              <a:t>•  Hohpe, G., &amp; Woolf, B. (2003). Enterprise Integration Patterns. Addison-Wesley.</a:t>
            </a:r>
          </a:p>
          <a:p>
            <a:pPr algn="l" lvl="1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–  Relevant for Tool Calling, Multiagent, and Guardrails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A1F2C"/>
                </a:solidFill>
                <a:latin typeface="Calibri"/>
              </a:rPr>
              <a:t>•  Fowler, M. (2002). Patterns of Enterprise Application Architecture. Addison-Wesley.</a:t>
            </a:r>
          </a:p>
          <a:p>
            <a:pPr algn="l" lvl="1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–  Background for Dependency Injection and layered designs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A1F2C"/>
                </a:solidFill>
                <a:latin typeface="Calibri"/>
              </a:rPr>
              <a:t>•  Anthropic / OpenAI / Google documentation on tool use, structured outputs, and safety</a:t>
            </a:r>
          </a:p>
          <a:p>
            <a:pPr algn="l" lvl="1">
              <a:spcAft>
                <a:spcPts val="400"/>
              </a:spcAft>
            </a:pPr>
            <a:r>
              <a:rPr sz="1300">
                <a:solidFill>
                  <a:srgbClr val="1A1F2C"/>
                </a:solidFill>
                <a:latin typeface="Calibri"/>
              </a:rPr>
              <a:t>–  Up-to-date provider specifics for the patterns covered today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A1F2C"/>
                </a:solidFill>
                <a:latin typeface="Calibri"/>
              </a:rPr>
              <a:t>•  Companion materials in: Software Design/References/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/>
              </a:rPr>
              <a:t>CSC10004 / CSC13106 — Software Design &amp;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Calibri"/>
              </a:rPr>
              <a:t>Ngo Huy Bien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