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7"/>
  </p:notesMasterIdLst>
  <p:sldIdLst>
    <p:sldId id="256" r:id="rId2"/>
    <p:sldId id="490" r:id="rId3"/>
    <p:sldId id="491" r:id="rId4"/>
    <p:sldId id="492" r:id="rId5"/>
    <p:sldId id="539" r:id="rId6"/>
    <p:sldId id="553" r:id="rId7"/>
    <p:sldId id="554" r:id="rId8"/>
    <p:sldId id="555" r:id="rId9"/>
    <p:sldId id="542" r:id="rId10"/>
    <p:sldId id="541" r:id="rId11"/>
    <p:sldId id="530" r:id="rId12"/>
    <p:sldId id="531" r:id="rId13"/>
    <p:sldId id="532" r:id="rId14"/>
    <p:sldId id="533" r:id="rId15"/>
    <p:sldId id="534" r:id="rId16"/>
    <p:sldId id="535" r:id="rId17"/>
    <p:sldId id="536" r:id="rId18"/>
    <p:sldId id="549" r:id="rId19"/>
    <p:sldId id="537" r:id="rId20"/>
    <p:sldId id="552" r:id="rId21"/>
    <p:sldId id="556" r:id="rId22"/>
    <p:sldId id="551" r:id="rId23"/>
    <p:sldId id="504" r:id="rId24"/>
    <p:sldId id="505" r:id="rId25"/>
    <p:sldId id="507" r:id="rId26"/>
    <p:sldId id="506" r:id="rId27"/>
    <p:sldId id="494" r:id="rId28"/>
    <p:sldId id="495" r:id="rId29"/>
    <p:sldId id="499" r:id="rId30"/>
    <p:sldId id="497" r:id="rId31"/>
    <p:sldId id="498" r:id="rId32"/>
    <p:sldId id="548" r:id="rId33"/>
    <p:sldId id="500" r:id="rId34"/>
    <p:sldId id="501" r:id="rId35"/>
    <p:sldId id="502" r:id="rId36"/>
    <p:sldId id="503" r:id="rId37"/>
    <p:sldId id="508" r:id="rId38"/>
    <p:sldId id="509" r:id="rId39"/>
    <p:sldId id="510" r:id="rId40"/>
    <p:sldId id="511" r:id="rId41"/>
    <p:sldId id="512" r:id="rId42"/>
    <p:sldId id="519" r:id="rId43"/>
    <p:sldId id="513" r:id="rId44"/>
    <p:sldId id="518" r:id="rId45"/>
    <p:sldId id="514" r:id="rId46"/>
    <p:sldId id="515" r:id="rId47"/>
    <p:sldId id="516" r:id="rId48"/>
    <p:sldId id="517" r:id="rId49"/>
    <p:sldId id="543" r:id="rId50"/>
    <p:sldId id="544" r:id="rId51"/>
    <p:sldId id="545" r:id="rId52"/>
    <p:sldId id="546" r:id="rId53"/>
    <p:sldId id="547" r:id="rId54"/>
    <p:sldId id="550" r:id="rId55"/>
    <p:sldId id="359" r:id="rId5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22" autoAdjust="0"/>
    <p:restoredTop sz="94667" autoAdjust="0"/>
  </p:normalViewPr>
  <p:slideViewPr>
    <p:cSldViewPr>
      <p:cViewPr>
        <p:scale>
          <a:sx n="50" d="100"/>
          <a:sy n="50" d="100"/>
        </p:scale>
        <p:origin x="-1606" y="-4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026E6-0412-4830-8F06-DF45033103D5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1BAC6-1780-4248-A045-EEDC4FD7C3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779648-DD18-489E-A5AD-A830DE47708D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1E381-20DA-4745-B537-35B514BA6DD7}" type="datetimeFigureOut">
              <a:rPr lang="en-US"/>
              <a:pPr>
                <a:defRPr/>
              </a:pPr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F19F-72C6-4835-B8F9-C4043AB145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6C9F8-4ECB-4B63-B927-93DB51F662D0}" type="datetimeFigureOut">
              <a:rPr lang="en-US"/>
              <a:pPr>
                <a:defRPr/>
              </a:pPr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5146C-45A3-4063-B945-A6E828CB1A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0DA55-A2EA-4E91-9DF8-848564DA5A8C}" type="datetimeFigureOut">
              <a:rPr lang="en-US"/>
              <a:pPr>
                <a:defRPr/>
              </a:pPr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02FCE2-22A4-4D22-98FA-0E266C5022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FE22C-AAA6-4859-915C-7CA8A229741E}" type="datetimeFigureOut">
              <a:rPr lang="en-US"/>
              <a:pPr>
                <a:defRPr/>
              </a:pPr>
              <a:t>7/11/2026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97B5-865B-4943-9516-8680CA16C7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4DA2C-F6C4-40D9-95C2-7E16780900E4}" type="datetimeFigureOut">
              <a:rPr lang="en-US"/>
              <a:pPr>
                <a:defRPr/>
              </a:pPr>
              <a:t>7/11/2026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9A6762-FCC9-4A4D-B55E-A9AEAC8C42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2FA20-63C4-4E2F-BBAB-9D9ECDF79A55}" type="datetimeFigureOut">
              <a:rPr lang="en-US"/>
              <a:pPr>
                <a:defRPr/>
              </a:pPr>
              <a:t>7/11/2026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71E3C-6E5C-4814-A904-273FE3A958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24579-F551-4401-BD9C-1A956A73C8B1}" type="datetimeFigureOut">
              <a:rPr lang="en-US"/>
              <a:pPr>
                <a:defRPr/>
              </a:pPr>
              <a:t>7/11/2026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4CBAC-259E-4BF8-ACF6-FAB2C68750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B6935-2E86-4F35-979C-26D8DA31E11B}" type="datetimeFigureOut">
              <a:rPr lang="en-US"/>
              <a:pPr>
                <a:defRPr/>
              </a:pPr>
              <a:t>7/11/2026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9D8DE-4736-4786-A76F-BA4BFA66C3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642AA-84FD-46EB-91FE-F301FD1B086D}" type="datetimeFigureOut">
              <a:rPr lang="en-US"/>
              <a:pPr>
                <a:defRPr/>
              </a:pPr>
              <a:t>7/11/2026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0BD26-494C-4707-B45F-1E41DB7E20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AB78B-B950-4223-B948-C26A4E4BFB92}" type="datetimeFigureOut">
              <a:rPr lang="en-US"/>
              <a:pPr>
                <a:defRPr/>
              </a:pPr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35AB7-6027-4C00-A9DE-A82D1F9B71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E790DE-6227-4769-B4D1-A285E0E78CE4}" type="datetimeFigureOut">
              <a:rPr lang="en-US"/>
              <a:pPr>
                <a:defRPr/>
              </a:pPr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8F97A-8135-4157-8FDD-A5EB0FEF56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C44B157-FED2-4AB7-A096-BDB0B5D2F088}" type="datetimeFigureOut">
              <a:rPr lang="en-US"/>
              <a:pPr>
                <a:defRPr/>
              </a:pPr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D64C92-C51E-4B83-930E-D17246939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tructurizr.com/" TargetMode="External"/><Relationship Id="rId2" Type="http://schemas.openxmlformats.org/officeDocument/2006/relationships/hyperlink" Target="https://c4model.com/tool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anthropic.com/engineering/claude-code-auto-mode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s://github.com/arm/metis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Documenting Architectures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4495799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document</a:t>
            </a:r>
            <a:r>
              <a:rPr lang="en-US" sz="2400" dirty="0" smtClean="0"/>
              <a:t> software architectures.</a:t>
            </a:r>
          </a:p>
          <a:p>
            <a:pPr marL="457200" indent="-45720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819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Notations.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Semantics (Aspects, Contents).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UML Architecture Diagrams.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The 4+1 View Model.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The C4 Model.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Module Views.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Module Styles.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Component-and-Connector (C&amp;C) Views.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Component-and-Connector Styles.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Allocation Views.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Allocation Styles.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638800" cy="48768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Simon Brown (2019). Software Architecture for Developers - Volume 2: </a:t>
            </a:r>
            <a:r>
              <a:rPr lang="en-US" sz="2400" dirty="0" err="1" smtClean="0"/>
              <a:t>Visualise</a:t>
            </a:r>
            <a:r>
              <a:rPr lang="en-US" sz="2400" dirty="0" smtClean="0"/>
              <a:t>, Document and Explore Your Software Architecture. </a:t>
            </a:r>
            <a:r>
              <a:rPr lang="en-US" sz="2400" dirty="0" err="1" smtClean="0"/>
              <a:t>Leanpub</a:t>
            </a:r>
            <a:r>
              <a:rPr lang="en-US" sz="24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Paul Clements et al. (2010). Documenting Software Architectures - Views and Beyond. Pearson.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Boxes and Arrows</a:t>
            </a:r>
          </a:p>
          <a:p>
            <a:r>
              <a:rPr lang="en-US" sz="2400" dirty="0" smtClean="0"/>
              <a:t>ADL</a:t>
            </a:r>
          </a:p>
          <a:p>
            <a:r>
              <a:rPr lang="en-US" sz="2400" dirty="0" smtClean="0"/>
              <a:t>UML</a:t>
            </a:r>
            <a:endParaRPr lang="en-US" sz="2400" dirty="0"/>
          </a:p>
        </p:txBody>
      </p:sp>
      <p:pic>
        <p:nvPicPr>
          <p:cNvPr id="1026" name="Picture 2" descr="https://media.istockphoto.com/id/1396636182/vector/four-steps-boxes-marketing-communication-work-in-progress-template-vector-illustration.jpg?s=612x612&amp;w=0&amp;k=20&amp;c=vLmXA7GZZaTtltDgKZ9yvSD-J9nayrG4PoKjIULnMfc=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3352800"/>
            <a:ext cx="5829300" cy="26955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Semantics (Aspects, Contents)</a:t>
            </a:r>
            <a:endParaRPr lang="en-US" dirty="0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2209800"/>
            <a:ext cx="5406390" cy="3217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UML Architecture Diagrams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2004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Package Diagrams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Component Diagrams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Artifact Diagrams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Deployment Diagrams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0" y="1752600"/>
            <a:ext cx="4762500" cy="279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4+1 View Model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From monolith to </a:t>
            </a:r>
            <a:r>
              <a:rPr lang="en-US" sz="2400" dirty="0" err="1" smtClean="0"/>
              <a:t>microservices</a:t>
            </a:r>
            <a:r>
              <a:rPr lang="en-US" sz="2400" dirty="0" smtClean="0"/>
              <a:t>.</a:t>
            </a:r>
          </a:p>
        </p:txBody>
      </p:sp>
      <p:pic>
        <p:nvPicPr>
          <p:cNvPr id="1026" name="Picture 2" descr="https://cdn.sigma.software/wp-content/uploads/2021/12/blog-migrating-monolith-app-microservices-diagam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2667000"/>
            <a:ext cx="4524375" cy="33432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C4 Model [1]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645920"/>
            <a:ext cx="633984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Context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1752600"/>
            <a:ext cx="6299200" cy="4439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Container: System Zoom In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524000"/>
            <a:ext cx="633984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Container Detail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1828800"/>
            <a:ext cx="6298026" cy="4439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Component: Container Zoom In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2560" y="1645920"/>
            <a:ext cx="633984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 Detail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981200"/>
            <a:ext cx="6298026" cy="4439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Code-Level Diagrams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2010440"/>
            <a:ext cx="5904399" cy="4161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https://c4model.com/tooling</a:t>
            </a:r>
            <a:endParaRPr lang="en-US" sz="2400" dirty="0" smtClean="0"/>
          </a:p>
          <a:p>
            <a:r>
              <a:rPr lang="en-US" sz="2400" dirty="0" smtClean="0">
                <a:hlinkClick r:id="rId3"/>
              </a:rPr>
              <a:t>https://structurizr.com/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34818" name="Picture 2" descr="https://startinfinity.s3.us-east-2.amazonaws.com/production/blog/post/55/main/avjCbwzE1Wu25kkFi7VXgJjm8DcPDpetM3CxgLBZ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34228" y="3200400"/>
            <a:ext cx="5228572" cy="274285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Document and explain the architecture for Claude Code auto mode: </a:t>
            </a:r>
            <a:r>
              <a:rPr lang="en-US" sz="2400" dirty="0" smtClean="0">
                <a:hlinkClick r:id="rId2"/>
              </a:rPr>
              <a:t>https://www.anthropic.com/engineering/claude-code-auto-mode</a:t>
            </a:r>
            <a:endParaRPr lang="en-US" sz="2400" dirty="0" smtClean="0"/>
          </a:p>
          <a:p>
            <a:pPr lvl="1"/>
            <a:r>
              <a:rPr lang="en-US" sz="2000" dirty="0" smtClean="0"/>
              <a:t>Generate a PDF file containing a </a:t>
            </a:r>
            <a:r>
              <a:rPr lang="en-US" sz="2000" b="1" dirty="0" smtClean="0"/>
              <a:t>4+1 view model </a:t>
            </a:r>
            <a:r>
              <a:rPr lang="en-US" sz="2000" dirty="0" smtClean="0"/>
              <a:t>and detailed information about the Claude Code auto mode: </a:t>
            </a:r>
            <a:r>
              <a:rPr lang="en-US" sz="2000" dirty="0" smtClean="0">
                <a:hlinkClick r:id="rId2"/>
              </a:rPr>
              <a:t>https://www.anthropic.com/engineering/claude-code-auto-mode</a:t>
            </a:r>
            <a:endParaRPr lang="en-US" sz="2000" dirty="0" smtClean="0"/>
          </a:p>
          <a:p>
            <a:pPr lvl="1"/>
            <a:r>
              <a:rPr lang="en-US" sz="2000" dirty="0" smtClean="0"/>
              <a:t>Generate a PDF file containing </a:t>
            </a:r>
            <a:r>
              <a:rPr lang="en-US" sz="2000" b="1" dirty="0" smtClean="0"/>
              <a:t>C4 model</a:t>
            </a:r>
            <a:r>
              <a:rPr lang="en-US" sz="2000" dirty="0" smtClean="0"/>
              <a:t> and detailed information about the Claude Code auto mode: </a:t>
            </a:r>
            <a:r>
              <a:rPr lang="en-US" sz="2000" dirty="0" smtClean="0">
                <a:hlinkClick r:id="rId2"/>
              </a:rPr>
              <a:t>https://www.anthropic.com/engineering/claude-code-auto-mode</a:t>
            </a:r>
            <a:endParaRPr lang="en-US" sz="2000" dirty="0" smtClean="0"/>
          </a:p>
          <a:p>
            <a:pPr lvl="1"/>
            <a:r>
              <a:rPr lang="en-US" sz="2000" dirty="0" smtClean="0"/>
              <a:t>Generate a PDF file containing </a:t>
            </a:r>
            <a:r>
              <a:rPr lang="en-US" sz="2000" b="1" dirty="0" smtClean="0"/>
              <a:t>flowchart</a:t>
            </a:r>
            <a:r>
              <a:rPr lang="en-US" sz="2000" dirty="0" smtClean="0"/>
              <a:t> and detailed information about the Claude Code auto mode: https://www.anthropic.com/engineering/claude-code-auto-mode</a:t>
            </a:r>
          </a:p>
        </p:txBody>
      </p:sp>
      <p:pic>
        <p:nvPicPr>
          <p:cNvPr id="36866" name="Picture 2" descr="Claude Code - Complete Beginner's Guide | Hieu Nguye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0" y="381000"/>
            <a:ext cx="2013968" cy="10438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Document and explain the architecture for Arm </a:t>
            </a:r>
            <a:r>
              <a:rPr lang="en-US" sz="2400" dirty="0" err="1" smtClean="0"/>
              <a:t>Metis</a:t>
            </a:r>
            <a:r>
              <a:rPr lang="en-US" sz="2400" dirty="0" smtClean="0"/>
              <a:t>: </a:t>
            </a:r>
            <a:r>
              <a:rPr lang="en-US" sz="2400" dirty="0" smtClean="0">
                <a:hlinkClick r:id="rId2"/>
              </a:rPr>
              <a:t>https://github.com/arm/metis</a:t>
            </a:r>
            <a:endParaRPr lang="en-US" sz="2400" dirty="0" smtClean="0"/>
          </a:p>
          <a:p>
            <a:pPr lvl="1"/>
            <a:r>
              <a:rPr lang="en-US" sz="2000" dirty="0" smtClean="0"/>
              <a:t>Create a PDF file in the </a:t>
            </a:r>
            <a:r>
              <a:rPr lang="en-US" sz="2000" b="1" dirty="0" smtClean="0"/>
              <a:t>docs</a:t>
            </a:r>
            <a:r>
              <a:rPr lang="en-US" sz="2000" dirty="0" smtClean="0"/>
              <a:t> folder containing a diagram that illustrates the technique used by </a:t>
            </a:r>
            <a:r>
              <a:rPr lang="en-US" sz="2000" b="1" dirty="0" err="1" smtClean="0"/>
              <a:t>Metis</a:t>
            </a:r>
            <a:r>
              <a:rPr lang="en-US" sz="2000" dirty="0" smtClean="0"/>
              <a:t>. The diagram should show that the input is a directory containing Python files and that the output is a report file listing the detected security bugs.</a:t>
            </a:r>
          </a:p>
          <a:p>
            <a:pPr lvl="1"/>
            <a:r>
              <a:rPr lang="en-US" sz="2000" dirty="0" smtClean="0"/>
              <a:t>Generate a PDF file containing a diagram and detailed information about the </a:t>
            </a:r>
            <a:r>
              <a:rPr lang="en-US" sz="2000" b="1" dirty="0" smtClean="0"/>
              <a:t>TRIAGE</a:t>
            </a:r>
            <a:r>
              <a:rPr lang="en-US" sz="2000" dirty="0" smtClean="0"/>
              <a:t> technique.</a:t>
            </a:r>
          </a:p>
          <a:p>
            <a:pPr lvl="1"/>
            <a:r>
              <a:rPr lang="en-US" sz="2000" dirty="0" smtClean="0"/>
              <a:t>Generate a PDF file containing a diagram and detailed information about the </a:t>
            </a:r>
            <a:r>
              <a:rPr lang="en-US" sz="2000" b="1" dirty="0" smtClean="0"/>
              <a:t>deterministic adjudication</a:t>
            </a:r>
            <a:r>
              <a:rPr lang="en-US" sz="2000" dirty="0" smtClean="0"/>
              <a:t> technique.</a:t>
            </a:r>
          </a:p>
          <a:p>
            <a:pPr lvl="1"/>
            <a:r>
              <a:rPr lang="en-US" sz="2000" dirty="0" smtClean="0"/>
              <a:t>Set up environment using </a:t>
            </a:r>
            <a:r>
              <a:rPr lang="en-US" sz="2000" b="1" dirty="0" err="1" smtClean="0"/>
              <a:t>conda</a:t>
            </a:r>
            <a:r>
              <a:rPr lang="en-US" sz="2000" dirty="0" smtClean="0"/>
              <a:t> and the information in the </a:t>
            </a:r>
            <a:r>
              <a:rPr lang="en-US" sz="2000" b="1" dirty="0" smtClean="0"/>
              <a:t>.meta</a:t>
            </a:r>
            <a:r>
              <a:rPr lang="en-US" sz="2000" dirty="0" smtClean="0"/>
              <a:t> folder.</a:t>
            </a:r>
          </a:p>
          <a:p>
            <a:pPr lvl="1"/>
            <a:r>
              <a:rPr lang="en-US" sz="2000" dirty="0" smtClean="0"/>
              <a:t>Create </a:t>
            </a:r>
            <a:r>
              <a:rPr lang="en-US" sz="2000" b="1" dirty="0" smtClean="0"/>
              <a:t>run.bat to </a:t>
            </a:r>
            <a:r>
              <a:rPr lang="en-US" sz="2000" dirty="0" smtClean="0"/>
              <a:t>run the Hello World.</a:t>
            </a:r>
          </a:p>
        </p:txBody>
      </p:sp>
      <p:pic>
        <p:nvPicPr>
          <p:cNvPr id="35842" name="Picture 2" descr="Agentic AI-powered Arm Metis advances security vulnerability discovery in  software - Arm Newsro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9800" y="457200"/>
            <a:ext cx="2667000" cy="8445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Module Views (I)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Modules</a:t>
            </a:r>
            <a:r>
              <a:rPr lang="en-US" sz="2400" dirty="0" smtClean="0"/>
              <a:t> pertain to the way in which a system's software is </a:t>
            </a:r>
            <a:r>
              <a:rPr lang="en-US" sz="2400" u="sng" dirty="0" smtClean="0"/>
              <a:t>decomposed</a:t>
            </a:r>
            <a:r>
              <a:rPr lang="en-US" sz="2400" dirty="0" smtClean="0"/>
              <a:t> into </a:t>
            </a:r>
            <a:r>
              <a:rPr lang="en-US" sz="2400" u="sng" dirty="0" smtClean="0"/>
              <a:t>manageable units of responsibilities</a:t>
            </a:r>
            <a:r>
              <a:rPr lang="en-US" sz="2400" dirty="0" smtClean="0"/>
              <a:t>, which is one of the important forms of system structure.</a:t>
            </a:r>
          </a:p>
          <a:p>
            <a:r>
              <a:rPr lang="en-US" sz="2400" dirty="0" smtClean="0"/>
              <a:t>A module view provides a </a:t>
            </a:r>
            <a:r>
              <a:rPr lang="en-US" sz="2400" i="1" dirty="0" smtClean="0">
                <a:solidFill>
                  <a:srgbClr val="C00000"/>
                </a:solidFill>
              </a:rPr>
              <a:t>blueprint</a:t>
            </a:r>
            <a:r>
              <a:rPr lang="en-US" sz="2400" dirty="0" smtClean="0"/>
              <a:t> for the </a:t>
            </a:r>
            <a:r>
              <a:rPr lang="en-US" sz="2400" u="sng" dirty="0" smtClean="0"/>
              <a:t>source code</a:t>
            </a:r>
            <a:r>
              <a:rPr lang="en-US" sz="2400" dirty="0" smtClean="0"/>
              <a:t> and the </a:t>
            </a:r>
            <a:r>
              <a:rPr lang="en-US" sz="2400" u="sng" dirty="0" smtClean="0"/>
              <a:t>data model</a:t>
            </a:r>
            <a:r>
              <a:rPr lang="en-US" sz="2400" dirty="0" smtClean="0"/>
              <a:t>.</a:t>
            </a:r>
          </a:p>
          <a:p>
            <a:pPr lvl="1"/>
            <a:r>
              <a:rPr lang="en-US" sz="2000" dirty="0" smtClean="0"/>
              <a:t>Name.</a:t>
            </a:r>
          </a:p>
          <a:p>
            <a:pPr lvl="1"/>
            <a:r>
              <a:rPr lang="en-US" sz="2000" dirty="0" smtClean="0"/>
              <a:t>Responsibility.</a:t>
            </a:r>
          </a:p>
          <a:p>
            <a:pPr lvl="1"/>
            <a:r>
              <a:rPr lang="en-US" sz="2000" dirty="0" smtClean="0"/>
              <a:t>Visibility of interface(s).</a:t>
            </a:r>
          </a:p>
          <a:p>
            <a:pPr lvl="1"/>
            <a:r>
              <a:rPr lang="en-US" sz="2000" dirty="0" smtClean="0"/>
              <a:t>Implementation information.</a:t>
            </a:r>
            <a:endParaRPr lang="en-US" sz="20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3429000"/>
            <a:ext cx="3409950" cy="202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2209800" y="5638800"/>
            <a:ext cx="6553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+mj-lt"/>
              </a:rPr>
              <a:t>(a) Module C provides its own interface, hiding the interfaces of modules A and B. (b) Module C exposes a subset of the interfaces of modules A and B as its interface.</a:t>
            </a:r>
            <a:endParaRPr lang="en-US" b="1" dirty="0">
              <a:latin typeface="+mj-l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Module Views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Modules are </a:t>
            </a:r>
            <a:r>
              <a:rPr lang="en-US" sz="2200" i="1" dirty="0" smtClean="0">
                <a:solidFill>
                  <a:srgbClr val="C00000"/>
                </a:solidFill>
              </a:rPr>
              <a:t>related to one another</a:t>
            </a:r>
            <a:r>
              <a:rPr lang="en-US" sz="2200" dirty="0" smtClean="0"/>
              <a:t> by forms of is-part-of, depends-on, and is-a relations.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12" y="2590800"/>
            <a:ext cx="4514088" cy="3602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Module Styles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The </a:t>
            </a:r>
            <a:r>
              <a:rPr lang="en-US" sz="2200" i="1" dirty="0" smtClean="0">
                <a:solidFill>
                  <a:srgbClr val="C00000"/>
                </a:solidFill>
              </a:rPr>
              <a:t>decomposition style</a:t>
            </a:r>
            <a:r>
              <a:rPr lang="en-US" sz="2200" dirty="0" smtClean="0"/>
              <a:t>, used to show the </a:t>
            </a:r>
            <a:r>
              <a:rPr lang="en-US" sz="2200" u="sng" dirty="0" smtClean="0"/>
              <a:t>structure</a:t>
            </a:r>
            <a:r>
              <a:rPr lang="en-US" sz="2200" dirty="0" smtClean="0"/>
              <a:t> of modules and sub-modules (that is, containment relations among modules).</a:t>
            </a:r>
          </a:p>
          <a:p>
            <a:r>
              <a:rPr lang="en-US" sz="2200" dirty="0" smtClean="0"/>
              <a:t>The </a:t>
            </a:r>
            <a:r>
              <a:rPr lang="en-US" sz="2200" i="1" dirty="0" smtClean="0">
                <a:solidFill>
                  <a:srgbClr val="C00000"/>
                </a:solidFill>
              </a:rPr>
              <a:t>uses style</a:t>
            </a:r>
            <a:r>
              <a:rPr lang="en-US" sz="2200" dirty="0" smtClean="0"/>
              <a:t>, used to indicate functional dependency relations</a:t>
            </a:r>
          </a:p>
          <a:p>
            <a:r>
              <a:rPr lang="en-US" sz="2200" dirty="0" smtClean="0"/>
              <a:t>among modules.</a:t>
            </a:r>
          </a:p>
          <a:p>
            <a:r>
              <a:rPr lang="en-US" sz="2200" dirty="0" smtClean="0"/>
              <a:t>The </a:t>
            </a:r>
            <a:r>
              <a:rPr lang="en-US" sz="2200" i="1" dirty="0" smtClean="0">
                <a:solidFill>
                  <a:srgbClr val="C00000"/>
                </a:solidFill>
              </a:rPr>
              <a:t>generalization</a:t>
            </a:r>
            <a:r>
              <a:rPr lang="en-US" sz="2200" dirty="0" smtClean="0"/>
              <a:t> style, used to indicate specialization relations among modules.</a:t>
            </a:r>
          </a:p>
          <a:p>
            <a:r>
              <a:rPr lang="en-US" sz="2200" dirty="0" smtClean="0"/>
              <a:t>The </a:t>
            </a:r>
            <a:r>
              <a:rPr lang="en-US" sz="2200" i="1" dirty="0" smtClean="0">
                <a:solidFill>
                  <a:srgbClr val="C00000"/>
                </a:solidFill>
              </a:rPr>
              <a:t>layered style</a:t>
            </a:r>
            <a:r>
              <a:rPr lang="en-US" sz="2200" dirty="0" smtClean="0"/>
              <a:t>, used to describe the allowed-to-use relation in a restricted fashion between groups of modules called layers.</a:t>
            </a:r>
          </a:p>
          <a:p>
            <a:r>
              <a:rPr lang="en-US" sz="2200" dirty="0" smtClean="0"/>
              <a:t>The </a:t>
            </a:r>
            <a:r>
              <a:rPr lang="en-US" sz="2200" i="1" dirty="0" smtClean="0">
                <a:solidFill>
                  <a:srgbClr val="C00000"/>
                </a:solidFill>
              </a:rPr>
              <a:t>aspects style</a:t>
            </a:r>
            <a:r>
              <a:rPr lang="en-US" sz="2200" dirty="0" smtClean="0"/>
              <a:t>, used to describe particular modules called aspects that are responsible for crosscutting concerns.</a:t>
            </a:r>
          </a:p>
          <a:p>
            <a:r>
              <a:rPr lang="en-US" sz="2200" dirty="0" smtClean="0"/>
              <a:t>The </a:t>
            </a:r>
            <a:r>
              <a:rPr lang="en-US" sz="2200" i="1" dirty="0" smtClean="0">
                <a:solidFill>
                  <a:srgbClr val="C00000"/>
                </a:solidFill>
              </a:rPr>
              <a:t>data model style</a:t>
            </a:r>
            <a:r>
              <a:rPr lang="en-US" sz="2200" dirty="0" smtClean="0"/>
              <a:t>, used to show the relations among data entities.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Decomposition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decomposition view shows how responsibilities are allocated across modules and sub-modules.</a:t>
            </a:r>
          </a:p>
          <a:p>
            <a:r>
              <a:rPr lang="en-US" sz="2400" dirty="0" smtClean="0"/>
              <a:t>In UML, module decomposition is shown by nesting, with the aggregate module shown as a package.</a:t>
            </a:r>
            <a:endParaRPr lang="en-US" sz="2400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74355" y="3581400"/>
            <a:ext cx="3245445" cy="260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Uses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581400" cy="4525963"/>
          </a:xfrm>
        </p:spPr>
        <p:txBody>
          <a:bodyPr/>
          <a:lstStyle/>
          <a:p>
            <a:r>
              <a:rPr lang="en-US" sz="1800" dirty="0" smtClean="0"/>
              <a:t>A uses view shows how modules depend on one another.</a:t>
            </a:r>
          </a:p>
          <a:p>
            <a:r>
              <a:rPr lang="en-US" sz="1800" dirty="0" smtClean="0"/>
              <a:t>This view helps achieve incremental development and is especially suitable for performing change-impact analysis.</a:t>
            </a:r>
          </a:p>
          <a:p>
            <a:endParaRPr lang="en-US" sz="1800" dirty="0" smtClean="0"/>
          </a:p>
          <a:p>
            <a:r>
              <a:rPr lang="en-US" sz="1800" dirty="0" smtClean="0"/>
              <a:t>The User Interface module has been decomposed into modules A, B, and C.</a:t>
            </a:r>
          </a:p>
          <a:p>
            <a:r>
              <a:rPr lang="en-US" sz="1800" dirty="0" smtClean="0"/>
              <a:t>At least one of the modules must depend on the Data Access module or the decomposition would not be consistent.</a:t>
            </a:r>
            <a:endParaRPr lang="en-US" sz="18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14800" y="1828800"/>
            <a:ext cx="4410075" cy="397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Layered Style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A </a:t>
            </a:r>
            <a:r>
              <a:rPr lang="en-US" sz="2000" i="1" dirty="0" smtClean="0">
                <a:solidFill>
                  <a:srgbClr val="C00000"/>
                </a:solidFill>
              </a:rPr>
              <a:t>layered view</a:t>
            </a:r>
            <a:r>
              <a:rPr lang="en-US" sz="2000" dirty="0" smtClean="0"/>
              <a:t> divides a system into </a:t>
            </a:r>
            <a:r>
              <a:rPr lang="en-US" sz="2000" u="sng" dirty="0" smtClean="0"/>
              <a:t>groups of modules</a:t>
            </a:r>
            <a:r>
              <a:rPr lang="en-US" sz="2000" dirty="0" smtClean="0"/>
              <a:t> that provide </a:t>
            </a:r>
            <a:r>
              <a:rPr lang="en-US" sz="2000" u="sng" dirty="0" smtClean="0"/>
              <a:t>cohesive responsibilities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These groups are called </a:t>
            </a:r>
            <a:r>
              <a:rPr lang="en-US" sz="2000" i="1" dirty="0" smtClean="0">
                <a:solidFill>
                  <a:srgbClr val="C00000"/>
                </a:solidFill>
              </a:rPr>
              <a:t>layers</a:t>
            </a:r>
            <a:r>
              <a:rPr lang="en-US" sz="2000" dirty="0" smtClean="0"/>
              <a:t> and relate to each other </a:t>
            </a:r>
            <a:r>
              <a:rPr lang="en-US" sz="2000" dirty="0" err="1" smtClean="0"/>
              <a:t>uni</a:t>
            </a:r>
            <a:r>
              <a:rPr lang="en-US" sz="2000" dirty="0" smtClean="0"/>
              <a:t>-directionally by the allowed-to-use relation.</a:t>
            </a:r>
          </a:p>
          <a:p>
            <a:r>
              <a:rPr lang="en-US" sz="2000" dirty="0" smtClean="0"/>
              <a:t>A layered design helps a system achieve </a:t>
            </a:r>
            <a:r>
              <a:rPr lang="en-US" sz="2000" i="1" dirty="0" smtClean="0">
                <a:solidFill>
                  <a:srgbClr val="C00000"/>
                </a:solidFill>
              </a:rPr>
              <a:t>portability</a:t>
            </a:r>
            <a:r>
              <a:rPr lang="en-US" sz="2000" dirty="0" smtClean="0"/>
              <a:t> and </a:t>
            </a:r>
            <a:r>
              <a:rPr lang="en-US" sz="2000" i="1" dirty="0" smtClean="0">
                <a:solidFill>
                  <a:srgbClr val="C00000"/>
                </a:solidFill>
              </a:rPr>
              <a:t>modifiability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87980" y="3581400"/>
            <a:ext cx="5417820" cy="2660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914401" y="3962400"/>
            <a:ext cx="1905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000" dirty="0" smtClean="0">
                <a:latin typeface="+mj-lt"/>
              </a:rPr>
              <a:t>Layered design with segmented layers.</a:t>
            </a:r>
            <a:endParaRPr lang="en-US" sz="2000" dirty="0">
              <a:latin typeface="+mj-l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Layered Style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layered design shown as concentric rings and as a stack of boxes. Are these two representations equivalent?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In the layer diagram, B1 and B3 are separate; in the ring diagram they are adjacent.</a:t>
            </a:r>
            <a:endParaRPr 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2743200"/>
            <a:ext cx="5054600" cy="204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Layered Style (III)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Layers with a “sidecar.”</a:t>
            </a:r>
          </a:p>
          <a:p>
            <a:r>
              <a:rPr lang="en-US" sz="2400" dirty="0" smtClean="0"/>
              <a:t>The key should make clear what is allowed to use and be used by software in the box on the side.</a:t>
            </a:r>
            <a:endParaRPr lang="en-US" sz="2400" dirty="0"/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3425190"/>
            <a:ext cx="5996940" cy="2518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Model 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A </a:t>
            </a:r>
            <a:r>
              <a:rPr lang="en-US" sz="2000" i="1" dirty="0" smtClean="0">
                <a:solidFill>
                  <a:srgbClr val="C00000"/>
                </a:solidFill>
              </a:rPr>
              <a:t>data model view</a:t>
            </a:r>
            <a:r>
              <a:rPr lang="en-US" sz="2000" dirty="0" smtClean="0"/>
              <a:t> describes the structure of the data used in the system in terms of </a:t>
            </a:r>
            <a:r>
              <a:rPr lang="en-US" sz="2000" u="sng" dirty="0" smtClean="0"/>
              <a:t>data entities</a:t>
            </a:r>
            <a:r>
              <a:rPr lang="en-US" sz="2000" dirty="0" smtClean="0"/>
              <a:t> and their </a:t>
            </a:r>
            <a:r>
              <a:rPr lang="en-US" sz="2000" u="sng" dirty="0" smtClean="0"/>
              <a:t>relationships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It guides implementation and helps to improve </a:t>
            </a:r>
            <a:r>
              <a:rPr lang="en-US" sz="2000" i="1" dirty="0" smtClean="0">
                <a:solidFill>
                  <a:srgbClr val="C00000"/>
                </a:solidFill>
              </a:rPr>
              <a:t>performance</a:t>
            </a:r>
            <a:r>
              <a:rPr lang="en-US" sz="2000" dirty="0" smtClean="0"/>
              <a:t> and </a:t>
            </a:r>
            <a:r>
              <a:rPr lang="en-US" sz="2000" i="1" dirty="0" smtClean="0">
                <a:solidFill>
                  <a:srgbClr val="C00000"/>
                </a:solidFill>
              </a:rPr>
              <a:t>modifiability</a:t>
            </a:r>
            <a:r>
              <a:rPr lang="en-US" sz="2000" dirty="0" smtClean="0"/>
              <a:t> in data-centric systems.</a:t>
            </a:r>
            <a:endParaRPr lang="en-US" sz="2000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28850" y="3886200"/>
            <a:ext cx="6000750" cy="2548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400" y="3276600"/>
            <a:ext cx="2011680" cy="502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990600" y="3200400"/>
            <a:ext cx="1981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 smtClean="0">
                <a:latin typeface="+mj-lt"/>
              </a:rPr>
              <a:t>A conceptual</a:t>
            </a:r>
          </a:p>
          <a:p>
            <a:pPr algn="r"/>
            <a:r>
              <a:rPr lang="en-US" b="1" dirty="0" smtClean="0">
                <a:latin typeface="+mj-lt"/>
              </a:rPr>
              <a:t>data model</a:t>
            </a:r>
            <a:endParaRPr lang="en-US" b="1" dirty="0"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2000" y="4419600"/>
            <a:ext cx="1295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 smtClean="0">
                <a:latin typeface="+mj-lt"/>
              </a:rPr>
              <a:t>A logical data model</a:t>
            </a:r>
            <a:endParaRPr lang="en-US" b="1" dirty="0">
              <a:latin typeface="+mj-l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Physical Data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Physical data model</a:t>
            </a:r>
            <a:r>
              <a:rPr lang="en-US" sz="2200" dirty="0" smtClean="0"/>
              <a:t> that was created by adding </a:t>
            </a:r>
            <a:r>
              <a:rPr lang="en-US" sz="2200" u="sng" dirty="0" smtClean="0"/>
              <a:t>implementation details</a:t>
            </a:r>
            <a:r>
              <a:rPr lang="en-US" sz="2200" dirty="0" smtClean="0"/>
              <a:t> and </a:t>
            </a:r>
            <a:r>
              <a:rPr lang="en-US" sz="2200" u="sng" dirty="0" smtClean="0"/>
              <a:t>optimizations</a:t>
            </a:r>
            <a:r>
              <a:rPr lang="en-US" sz="2200" dirty="0" smtClean="0"/>
              <a:t> to the logical data model.</a:t>
            </a:r>
            <a:endParaRPr lang="en-US" sz="22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590800"/>
            <a:ext cx="8210550" cy="3573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Component-and-Connector</a:t>
            </a:r>
            <a:br>
              <a:rPr lang="en-US" dirty="0" smtClean="0"/>
            </a:br>
            <a:r>
              <a:rPr lang="en-US" dirty="0" smtClean="0"/>
              <a:t>(C&amp;C) Views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05400" cy="4525963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Component-and-connector views</a:t>
            </a:r>
            <a:r>
              <a:rPr lang="en-US" sz="2400" dirty="0" smtClean="0"/>
              <a:t> describe structures consisting of elements that have </a:t>
            </a:r>
            <a:r>
              <a:rPr lang="en-US" sz="2400" u="sng" dirty="0" smtClean="0"/>
              <a:t>runtime</a:t>
            </a:r>
            <a:r>
              <a:rPr lang="en-US" sz="2400" dirty="0" smtClean="0"/>
              <a:t> presence, such as processes, objects, clients, servers, and data stores.</a:t>
            </a:r>
          </a:p>
          <a:p>
            <a:r>
              <a:rPr lang="en-US" sz="2400" dirty="0" smtClean="0"/>
              <a:t>Component-and-connector views show </a:t>
            </a:r>
            <a:r>
              <a:rPr lang="en-US" sz="2400" i="1" dirty="0" smtClean="0">
                <a:solidFill>
                  <a:srgbClr val="C00000"/>
                </a:solidFill>
              </a:rPr>
              <a:t>instances</a:t>
            </a:r>
            <a:r>
              <a:rPr lang="en-US" sz="2400" dirty="0" smtClean="0"/>
              <a:t>, not </a:t>
            </a:r>
            <a:r>
              <a:rPr lang="en-US" sz="2400" u="sng" dirty="0" smtClean="0"/>
              <a:t>types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Components have </a:t>
            </a:r>
            <a:r>
              <a:rPr lang="en-US" sz="2400" u="sng" dirty="0" smtClean="0"/>
              <a:t>interfaces</a:t>
            </a:r>
            <a:r>
              <a:rPr lang="en-US" sz="2400" dirty="0" smtClean="0"/>
              <a:t>, which are called </a:t>
            </a:r>
            <a:r>
              <a:rPr lang="en-US" sz="2400" i="1" dirty="0" smtClean="0">
                <a:solidFill>
                  <a:srgbClr val="C00000"/>
                </a:solidFill>
              </a:rPr>
              <a:t>ports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Connectors have </a:t>
            </a:r>
            <a:r>
              <a:rPr lang="en-US" sz="2400" u="sng" dirty="0" smtClean="0"/>
              <a:t>interfaces</a:t>
            </a:r>
            <a:r>
              <a:rPr lang="en-US" sz="2400" dirty="0" smtClean="0"/>
              <a:t>, which are called </a:t>
            </a:r>
            <a:r>
              <a:rPr lang="en-US" sz="2400" i="1" dirty="0" smtClean="0">
                <a:solidFill>
                  <a:srgbClr val="C00000"/>
                </a:solidFill>
              </a:rPr>
              <a:t>roles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1600200"/>
            <a:ext cx="2765425" cy="475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Attachment Relation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A </a:t>
            </a:r>
            <a:r>
              <a:rPr lang="en-US" sz="2000" i="1" dirty="0" smtClean="0">
                <a:solidFill>
                  <a:srgbClr val="C00000"/>
                </a:solidFill>
              </a:rPr>
              <a:t>role</a:t>
            </a:r>
            <a:r>
              <a:rPr lang="en-US" sz="2000" dirty="0" smtClean="0"/>
              <a:t> defines a point of interaction of a connector and indicates </a:t>
            </a:r>
            <a:r>
              <a:rPr lang="en-US" sz="2000" u="sng" dirty="0" smtClean="0"/>
              <a:t>how components may use a connector</a:t>
            </a:r>
            <a:r>
              <a:rPr lang="en-US" sz="2000" dirty="0" smtClean="0"/>
              <a:t> in interactions.</a:t>
            </a:r>
          </a:p>
          <a:p>
            <a:r>
              <a:rPr lang="en-US" sz="2000" dirty="0" smtClean="0"/>
              <a:t>The primary relation within a C&amp;C view is </a:t>
            </a:r>
            <a:r>
              <a:rPr lang="en-US" sz="2000" i="1" dirty="0" smtClean="0">
                <a:solidFill>
                  <a:srgbClr val="C00000"/>
                </a:solidFill>
              </a:rPr>
              <a:t>attachment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Attachments indicate which connectors are attached to which components, thereby defining a system as a graph of components and connectors.</a:t>
            </a:r>
          </a:p>
          <a:p>
            <a:r>
              <a:rPr lang="en-US" sz="2000" dirty="0" smtClean="0"/>
              <a:t>Specifically, an </a:t>
            </a:r>
            <a:r>
              <a:rPr lang="en-US" sz="2000" i="1" dirty="0" smtClean="0">
                <a:solidFill>
                  <a:srgbClr val="C00000"/>
                </a:solidFill>
              </a:rPr>
              <a:t>attachment</a:t>
            </a:r>
            <a:r>
              <a:rPr lang="en-US" sz="2000" dirty="0" smtClean="0"/>
              <a:t> is </a:t>
            </a:r>
            <a:r>
              <a:rPr lang="en-US" sz="2000" u="sng" dirty="0" smtClean="0"/>
              <a:t>denoted by</a:t>
            </a:r>
            <a:r>
              <a:rPr lang="en-US" sz="2000" dirty="0" smtClean="0"/>
              <a:t> associating (attaching) a </a:t>
            </a:r>
            <a:r>
              <a:rPr lang="en-US" sz="2000" u="sng" dirty="0" smtClean="0"/>
              <a:t>component's port</a:t>
            </a:r>
            <a:r>
              <a:rPr lang="en-US" sz="2000" dirty="0" smtClean="0"/>
              <a:t> to a </a:t>
            </a:r>
            <a:r>
              <a:rPr lang="en-US" sz="2000" u="sng" dirty="0" smtClean="0"/>
              <a:t>connector's role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76450" y="4397375"/>
            <a:ext cx="4991100" cy="223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Interface Delegation Relation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A second kind of relation is </a:t>
            </a:r>
            <a:r>
              <a:rPr lang="en-US" sz="2000" i="1" dirty="0" smtClean="0">
                <a:solidFill>
                  <a:srgbClr val="C00000"/>
                </a:solidFill>
              </a:rPr>
              <a:t>interface delegation</a:t>
            </a:r>
            <a:r>
              <a:rPr lang="en-US" sz="2000" dirty="0" smtClean="0"/>
              <a:t>. When a component or connector has a sub-architecture, it is important to document the relationship between the internal structure and the external interfaces of that component or connector.</a:t>
            </a:r>
          </a:p>
          <a:p>
            <a:r>
              <a:rPr lang="en-US" sz="2000" dirty="0" smtClean="0"/>
              <a:t>A </a:t>
            </a:r>
            <a:r>
              <a:rPr lang="en-US" sz="2000" i="1" dirty="0" smtClean="0">
                <a:solidFill>
                  <a:srgbClr val="C00000"/>
                </a:solidFill>
              </a:rPr>
              <a:t>UML component diagram</a:t>
            </a:r>
            <a:r>
              <a:rPr lang="en-US" sz="2000" dirty="0" smtClean="0"/>
              <a:t> showing the sub-architecture of a component called Catalog.</a:t>
            </a:r>
          </a:p>
          <a:p>
            <a:r>
              <a:rPr lang="en-US" sz="2000" dirty="0" smtClean="0"/>
              <a:t>UML </a:t>
            </a:r>
            <a:r>
              <a:rPr lang="en-US" sz="2000" i="1" dirty="0" smtClean="0">
                <a:solidFill>
                  <a:srgbClr val="C00000"/>
                </a:solidFill>
              </a:rPr>
              <a:t>delegation connectors</a:t>
            </a:r>
            <a:r>
              <a:rPr lang="en-US" sz="2000" dirty="0" smtClean="0"/>
              <a:t> associate the ports of Catalog with the ports of internal components.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76450" y="4321175"/>
            <a:ext cx="4991100" cy="223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Component-and-Connector Styles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component-and-connector (C&amp;C) style</a:t>
            </a:r>
            <a:r>
              <a:rPr lang="en-US" sz="2400" dirty="0" smtClean="0"/>
              <a:t> introduces a specific set of component-and-connector types and specifies rules about how elements of those types can be combined. </a:t>
            </a:r>
          </a:p>
          <a:p>
            <a:r>
              <a:rPr lang="en-US" sz="2400" dirty="0" smtClean="0"/>
              <a:t>Additionally, given that C&amp;C views capture </a:t>
            </a:r>
            <a:r>
              <a:rPr lang="en-US" sz="2400" i="1" dirty="0" smtClean="0">
                <a:solidFill>
                  <a:srgbClr val="C00000"/>
                </a:solidFill>
              </a:rPr>
              <a:t>runtime aspects</a:t>
            </a:r>
            <a:r>
              <a:rPr lang="en-US" sz="2400" dirty="0" smtClean="0"/>
              <a:t> of a system, a C&amp;C style is typically also associated with a </a:t>
            </a:r>
            <a:r>
              <a:rPr lang="en-US" sz="2400" u="sng" dirty="0" smtClean="0"/>
              <a:t>computational model</a:t>
            </a:r>
            <a:r>
              <a:rPr lang="en-US" sz="2400" dirty="0" smtClean="0"/>
              <a:t> that prescribes how data and control flow through systems designed in that style.</a:t>
            </a:r>
            <a:endParaRPr lang="en-US" sz="2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Pipe-and-Filter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Pipes</a:t>
            </a:r>
            <a:r>
              <a:rPr lang="en-US" sz="2400" dirty="0" smtClean="0"/>
              <a:t> connect </a:t>
            </a:r>
            <a:r>
              <a:rPr lang="en-US" sz="2400" i="1" dirty="0" smtClean="0">
                <a:solidFill>
                  <a:srgbClr val="C00000"/>
                </a:solidFill>
              </a:rPr>
              <a:t>filter output</a:t>
            </a:r>
            <a:r>
              <a:rPr lang="en-US" sz="2400" dirty="0" smtClean="0"/>
              <a:t> ports to </a:t>
            </a:r>
            <a:r>
              <a:rPr lang="en-US" sz="2400" i="1" dirty="0" smtClean="0">
                <a:solidFill>
                  <a:srgbClr val="C00000"/>
                </a:solidFill>
              </a:rPr>
              <a:t>filter input</a:t>
            </a:r>
            <a:r>
              <a:rPr lang="en-US" sz="2400" dirty="0" smtClean="0"/>
              <a:t> ports.</a:t>
            </a:r>
          </a:p>
          <a:p>
            <a:r>
              <a:rPr lang="en-US" sz="2400" dirty="0" smtClean="0"/>
              <a:t>Connected filters must agree on </a:t>
            </a:r>
            <a:r>
              <a:rPr lang="en-US" sz="2400" i="1" dirty="0" smtClean="0">
                <a:solidFill>
                  <a:srgbClr val="C00000"/>
                </a:solidFill>
              </a:rPr>
              <a:t>the type of data</a:t>
            </a:r>
            <a:r>
              <a:rPr lang="en-US" sz="2400" dirty="0" smtClean="0"/>
              <a:t> being passed along the connecting pipe.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Specializations</a:t>
            </a:r>
            <a:r>
              <a:rPr lang="en-US" sz="2400" dirty="0" smtClean="0"/>
              <a:t> of the style may restrict the association of components to an </a:t>
            </a:r>
            <a:r>
              <a:rPr lang="en-US" sz="2400" u="sng" dirty="0" smtClean="0"/>
              <a:t>acyclic graph</a:t>
            </a:r>
            <a:r>
              <a:rPr lang="en-US" sz="2400" dirty="0" smtClean="0"/>
              <a:t> or a linear sequence—sometimes called a pipeline.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Other specializations</a:t>
            </a:r>
            <a:r>
              <a:rPr lang="en-US" sz="2400" dirty="0" smtClean="0"/>
              <a:t> may prescribe that components have certain </a:t>
            </a:r>
            <a:r>
              <a:rPr lang="en-US" sz="2400" u="sng" dirty="0" smtClean="0"/>
              <a:t>named ports</a:t>
            </a:r>
            <a:r>
              <a:rPr lang="en-US" sz="2400" dirty="0" smtClean="0"/>
              <a:t>, such as the </a:t>
            </a:r>
            <a:r>
              <a:rPr lang="en-US" sz="2400" i="1" dirty="0" err="1" smtClean="0">
                <a:latin typeface="Consolas" pitchFamily="49" charset="0"/>
              </a:rPr>
              <a:t>stdin</a:t>
            </a:r>
            <a:r>
              <a:rPr lang="en-US" sz="2400" i="1" dirty="0" smtClean="0"/>
              <a:t>, </a:t>
            </a:r>
            <a:r>
              <a:rPr lang="en-US" sz="2400" i="1" dirty="0" err="1" smtClean="0">
                <a:latin typeface="Consolas" pitchFamily="49" charset="0"/>
              </a:rPr>
              <a:t>stdout</a:t>
            </a:r>
            <a:r>
              <a:rPr lang="en-US" sz="2400" i="1" dirty="0" smtClean="0"/>
              <a:t>, and </a:t>
            </a:r>
            <a:r>
              <a:rPr lang="en-US" sz="2400" i="1" dirty="0" err="1" smtClean="0">
                <a:latin typeface="Consolas" pitchFamily="49" charset="0"/>
              </a:rPr>
              <a:t>stderr</a:t>
            </a:r>
            <a:r>
              <a:rPr lang="en-US" sz="2400" dirty="0" smtClean="0"/>
              <a:t> ports of UNIX filters.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Pipe-and-Filter Style?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Systems conforming to a pipe-and-filter style are typically used in </a:t>
            </a:r>
            <a:r>
              <a:rPr lang="en-US" sz="2400" u="sng" dirty="0" smtClean="0"/>
              <a:t>data transformation systems</a:t>
            </a:r>
            <a:r>
              <a:rPr lang="en-US" sz="2400" dirty="0" smtClean="0"/>
              <a:t>, where the overall processing can be broken down into a set of </a:t>
            </a:r>
            <a:r>
              <a:rPr lang="en-US" sz="2400" i="1" dirty="0" smtClean="0">
                <a:solidFill>
                  <a:srgbClr val="C00000"/>
                </a:solidFill>
              </a:rPr>
              <a:t>independent steps</a:t>
            </a:r>
            <a:r>
              <a:rPr lang="en-US" sz="2400" dirty="0" smtClean="0"/>
              <a:t>, each responsible for an incremental transformation of its input data.</a:t>
            </a:r>
          </a:p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independence</a:t>
            </a:r>
            <a:r>
              <a:rPr lang="en-US" sz="2400" dirty="0" smtClean="0"/>
              <a:t> of the processing done by each step supports </a:t>
            </a:r>
            <a:r>
              <a:rPr lang="en-US" sz="2400" u="sng" dirty="0" smtClean="0"/>
              <a:t>reuse</a:t>
            </a:r>
            <a:r>
              <a:rPr lang="en-US" sz="2400" dirty="0" smtClean="0"/>
              <a:t>, </a:t>
            </a:r>
            <a:r>
              <a:rPr lang="en-US" sz="2400" u="sng" dirty="0" smtClean="0"/>
              <a:t>parallelization</a:t>
            </a:r>
            <a:r>
              <a:rPr lang="en-US" sz="2400" dirty="0" smtClean="0"/>
              <a:t>, and </a:t>
            </a:r>
            <a:r>
              <a:rPr lang="en-US" sz="2400" u="sng" dirty="0" smtClean="0"/>
              <a:t>simplified reasoning</a:t>
            </a:r>
            <a:r>
              <a:rPr lang="en-US" sz="2400" dirty="0" smtClean="0"/>
              <a:t> about overall behavior.</a:t>
            </a:r>
            <a:endParaRPr lang="en-US" sz="2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Client-Server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276600" cy="4525963"/>
          </a:xfrm>
        </p:spPr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Clients</a:t>
            </a:r>
            <a:r>
              <a:rPr lang="en-US" sz="2200" dirty="0" smtClean="0"/>
              <a:t> are connected to </a:t>
            </a:r>
            <a:r>
              <a:rPr lang="en-US" sz="2200" i="1" dirty="0" smtClean="0">
                <a:solidFill>
                  <a:srgbClr val="C00000"/>
                </a:solidFill>
              </a:rPr>
              <a:t>servers</a:t>
            </a:r>
            <a:r>
              <a:rPr lang="en-US" sz="2200" dirty="0" smtClean="0"/>
              <a:t> through </a:t>
            </a:r>
            <a:r>
              <a:rPr lang="en-US" sz="2200" u="sng" dirty="0" smtClean="0"/>
              <a:t>request/reply</a:t>
            </a:r>
            <a:r>
              <a:rPr lang="en-US" sz="2200" dirty="0" smtClean="0"/>
              <a:t> connectors.</a:t>
            </a:r>
          </a:p>
          <a:p>
            <a:r>
              <a:rPr lang="en-US" sz="2200" dirty="0" smtClean="0"/>
              <a:t>Server components can be clients to other servers.</a:t>
            </a:r>
          </a:p>
          <a:p>
            <a:r>
              <a:rPr lang="en-US" sz="2200" dirty="0" smtClean="0"/>
              <a:t>Specializations may impose restrictions:</a:t>
            </a:r>
          </a:p>
          <a:p>
            <a:pPr lvl="1"/>
            <a:r>
              <a:rPr lang="en-US" sz="1800" dirty="0" smtClean="0"/>
              <a:t>Numbers of attachments to a given port</a:t>
            </a:r>
          </a:p>
          <a:p>
            <a:pPr lvl="1"/>
            <a:r>
              <a:rPr lang="en-US" sz="1800" dirty="0" smtClean="0"/>
              <a:t>Allowed relations among servers</a:t>
            </a:r>
            <a:endParaRPr lang="en-US" sz="1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3800" y="1676400"/>
            <a:ext cx="5093970" cy="418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Client-Server Style?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client-server style presents a system view that separates </a:t>
            </a:r>
            <a:r>
              <a:rPr lang="en-US" sz="2400" u="sng" dirty="0" smtClean="0"/>
              <a:t>client applications</a:t>
            </a:r>
            <a:r>
              <a:rPr lang="en-US" sz="2400" dirty="0" smtClean="0"/>
              <a:t> from </a:t>
            </a:r>
            <a:r>
              <a:rPr lang="en-US" sz="2400" u="sng" dirty="0" smtClean="0"/>
              <a:t>the services</a:t>
            </a:r>
            <a:r>
              <a:rPr lang="en-US" sz="2400" dirty="0" smtClean="0"/>
              <a:t> they use.</a:t>
            </a:r>
          </a:p>
          <a:p>
            <a:r>
              <a:rPr lang="en-US" sz="2400" dirty="0" smtClean="0"/>
              <a:t>This style supports system understanding and </a:t>
            </a:r>
            <a:r>
              <a:rPr lang="en-US" sz="2400" i="1" dirty="0" smtClean="0">
                <a:solidFill>
                  <a:srgbClr val="C00000"/>
                </a:solidFill>
              </a:rPr>
              <a:t>reuse</a:t>
            </a:r>
            <a:r>
              <a:rPr lang="en-US" sz="2400" dirty="0" smtClean="0"/>
              <a:t> by factoring out </a:t>
            </a:r>
            <a:r>
              <a:rPr lang="en-US" sz="2400" u="sng" dirty="0" smtClean="0"/>
              <a:t>common services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Because servers can be accessed by any number of clients, it is relatively easy to add </a:t>
            </a:r>
            <a:r>
              <a:rPr lang="en-US" sz="2400" i="1" dirty="0" smtClean="0">
                <a:solidFill>
                  <a:srgbClr val="C00000"/>
                </a:solidFill>
              </a:rPr>
              <a:t>new clients</a:t>
            </a:r>
            <a:r>
              <a:rPr lang="en-US" sz="2400" dirty="0" smtClean="0"/>
              <a:t> to a system.</a:t>
            </a:r>
          </a:p>
          <a:p>
            <a:r>
              <a:rPr lang="en-US" sz="2400" dirty="0" smtClean="0"/>
              <a:t>Similarly, servers may be </a:t>
            </a:r>
            <a:r>
              <a:rPr lang="en-US" sz="2400" i="1" dirty="0" smtClean="0">
                <a:solidFill>
                  <a:srgbClr val="C00000"/>
                </a:solidFill>
              </a:rPr>
              <a:t>replicated</a:t>
            </a:r>
            <a:r>
              <a:rPr lang="en-US" sz="2400" dirty="0" smtClean="0"/>
              <a:t> to support scalability or availability.</a:t>
            </a:r>
            <a:endParaRPr lang="en-US" sz="2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Peer-to-Peer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Restrictions may be placed on the number of allowable attachments to any given port, or role.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Special peer</a:t>
            </a:r>
            <a:r>
              <a:rPr lang="en-US" sz="2200" dirty="0" smtClean="0"/>
              <a:t> components can provide </a:t>
            </a:r>
            <a:r>
              <a:rPr lang="en-US" sz="2200" u="sng" dirty="0" smtClean="0"/>
              <a:t>routing</a:t>
            </a:r>
            <a:r>
              <a:rPr lang="en-US" sz="2200" dirty="0" smtClean="0"/>
              <a:t>, </a:t>
            </a:r>
            <a:r>
              <a:rPr lang="en-US" sz="2200" u="sng" dirty="0" smtClean="0"/>
              <a:t>indexing</a:t>
            </a:r>
            <a:r>
              <a:rPr lang="en-US" sz="2200" dirty="0" smtClean="0"/>
              <a:t>, and </a:t>
            </a:r>
            <a:r>
              <a:rPr lang="en-US" sz="2200" u="sng" dirty="0" smtClean="0"/>
              <a:t>peer search capability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Specializations may impose visibility restrictions on which components can know about other components.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11350" y="3962400"/>
            <a:ext cx="5321300" cy="250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Service-Oriented Architecture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419600" cy="4525963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Service consumers</a:t>
            </a:r>
            <a:r>
              <a:rPr lang="en-US" sz="2400" dirty="0" smtClean="0"/>
              <a:t> are connected to </a:t>
            </a:r>
            <a:r>
              <a:rPr lang="en-US" sz="2400" i="1" dirty="0" smtClean="0">
                <a:solidFill>
                  <a:srgbClr val="C00000"/>
                </a:solidFill>
              </a:rPr>
              <a:t>service providers</a:t>
            </a:r>
            <a:r>
              <a:rPr lang="en-US" sz="2400" dirty="0" smtClean="0"/>
              <a:t>, but </a:t>
            </a:r>
            <a:r>
              <a:rPr lang="en-US" sz="2400" u="sng" dirty="0" smtClean="0"/>
              <a:t>intermediary components</a:t>
            </a:r>
            <a:r>
              <a:rPr lang="en-US" sz="2400" dirty="0" smtClean="0"/>
              <a:t> (such as ESB, registry, or BPEL server) may be used.</a:t>
            </a:r>
          </a:p>
          <a:p>
            <a:r>
              <a:rPr lang="en-US" sz="2400" dirty="0" smtClean="0"/>
              <a:t>ESBs lead to a hub-and-spoke topology.</a:t>
            </a:r>
          </a:p>
          <a:p>
            <a:r>
              <a:rPr lang="en-US" sz="2400" dirty="0" smtClean="0"/>
              <a:t>Service providers may also be service consumers.</a:t>
            </a:r>
          </a:p>
          <a:p>
            <a:r>
              <a:rPr lang="en-US" sz="2400" dirty="0" smtClean="0"/>
              <a:t>The main benefit and the major driver of SOA is </a:t>
            </a:r>
            <a:r>
              <a:rPr lang="en-US" sz="2400" i="1" dirty="0" smtClean="0">
                <a:solidFill>
                  <a:srgbClr val="C00000"/>
                </a:solidFill>
              </a:rPr>
              <a:t>interoperability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1600" y="1447800"/>
            <a:ext cx="3378200" cy="506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Publish-Subscribe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581400" cy="4525963"/>
          </a:xfrm>
        </p:spPr>
        <p:txBody>
          <a:bodyPr/>
          <a:lstStyle/>
          <a:p>
            <a:r>
              <a:rPr lang="en-US" sz="2000" u="sng" dirty="0" smtClean="0"/>
              <a:t>All components</a:t>
            </a:r>
            <a:r>
              <a:rPr lang="en-US" sz="2000" dirty="0" smtClean="0"/>
              <a:t> are connected to </a:t>
            </a:r>
            <a:r>
              <a:rPr lang="en-US" sz="2000" i="1" dirty="0" smtClean="0">
                <a:solidFill>
                  <a:srgbClr val="C00000"/>
                </a:solidFill>
              </a:rPr>
              <a:t>an event distributor</a:t>
            </a:r>
            <a:r>
              <a:rPr lang="en-US" sz="2000" dirty="0" smtClean="0"/>
              <a:t> that may be viewed as either a </a:t>
            </a:r>
            <a:r>
              <a:rPr lang="en-US" sz="2000" u="sng" dirty="0" smtClean="0"/>
              <a:t>bus</a:t>
            </a:r>
            <a:r>
              <a:rPr lang="en-US" sz="2000" dirty="0" smtClean="0"/>
              <a:t>—that is, a </a:t>
            </a:r>
            <a:r>
              <a:rPr lang="en-US" sz="2000" u="sng" dirty="0" smtClean="0"/>
              <a:t>connector</a:t>
            </a:r>
            <a:r>
              <a:rPr lang="en-US" sz="2000" dirty="0" smtClean="0"/>
              <a:t>—or a </a:t>
            </a:r>
            <a:r>
              <a:rPr lang="en-US" sz="2000" u="sng" dirty="0" smtClean="0"/>
              <a:t>component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Publish ports are attached to announce roles, and subscribe ports are attached to listen roles.</a:t>
            </a:r>
          </a:p>
          <a:p>
            <a:r>
              <a:rPr lang="en-US" sz="2000" dirty="0" smtClean="0"/>
              <a:t>The publish-subscribe style is used to send events and messages to an unknown set of recipients.</a:t>
            </a:r>
            <a:endParaRPr 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91000" y="1752600"/>
            <a:ext cx="4432300" cy="364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Shared-Data Style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28863" y="1698625"/>
            <a:ext cx="4486275" cy="447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Allocation Views and Allocation Styles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Allocation views</a:t>
            </a:r>
            <a:r>
              <a:rPr lang="en-US" sz="2400" dirty="0" smtClean="0"/>
              <a:t> present a </a:t>
            </a:r>
            <a:r>
              <a:rPr lang="en-US" sz="2400" u="sng" dirty="0" smtClean="0"/>
              <a:t>mapping</a:t>
            </a:r>
            <a:r>
              <a:rPr lang="en-US" sz="2400" dirty="0" smtClean="0"/>
              <a:t> between </a:t>
            </a:r>
            <a:r>
              <a:rPr lang="en-US" sz="2400" u="sng" dirty="0" smtClean="0"/>
              <a:t>software</a:t>
            </a:r>
            <a:r>
              <a:rPr lang="en-US" sz="2400" dirty="0" smtClean="0"/>
              <a:t> elements (from either a module view or a component-and-connector [C&amp;C] view) and </a:t>
            </a:r>
            <a:r>
              <a:rPr lang="en-US" sz="2400" u="sng" dirty="0" err="1" smtClean="0"/>
              <a:t>nonsoftware</a:t>
            </a:r>
            <a:r>
              <a:rPr lang="en-US" sz="2400" dirty="0" smtClean="0"/>
              <a:t> elements in the software’s </a:t>
            </a:r>
            <a:r>
              <a:rPr lang="en-US" sz="2400" u="sng" dirty="0" smtClean="0"/>
              <a:t>environment</a:t>
            </a:r>
            <a:r>
              <a:rPr lang="en-US" sz="2400" dirty="0" smtClean="0"/>
              <a:t>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Allocation styles</a:t>
            </a:r>
          </a:p>
          <a:p>
            <a:pPr lvl="1"/>
            <a:r>
              <a:rPr lang="en-US" sz="2000" dirty="0" smtClean="0"/>
              <a:t>Deployment style</a:t>
            </a:r>
          </a:p>
          <a:p>
            <a:pPr lvl="1"/>
            <a:r>
              <a:rPr lang="en-US" sz="2000" dirty="0" smtClean="0"/>
              <a:t>Install style</a:t>
            </a:r>
          </a:p>
          <a:p>
            <a:pPr lvl="1"/>
            <a:r>
              <a:rPr lang="en-US" sz="2000" dirty="0" smtClean="0"/>
              <a:t>Work assignment style</a:t>
            </a:r>
            <a:endParaRPr lang="en-US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1828800"/>
            <a:ext cx="4114800" cy="368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Deployment View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90663" y="1790700"/>
            <a:ext cx="6162675" cy="369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Install View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49438" y="1927225"/>
            <a:ext cx="5445125" cy="378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Work Assignment View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9750" y="1949450"/>
            <a:ext cx="5524500" cy="407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Lenny </a:t>
            </a:r>
            <a:r>
              <a:rPr lang="en-US" sz="2400" dirty="0" err="1" smtClean="0"/>
              <a:t>Delligatti</a:t>
            </a:r>
            <a:r>
              <a:rPr lang="en-US" sz="2400" dirty="0" smtClean="0"/>
              <a:t> (2013). </a:t>
            </a:r>
            <a:r>
              <a:rPr lang="en-US" sz="2400" dirty="0" err="1" smtClean="0"/>
              <a:t>SysML</a:t>
            </a:r>
            <a:r>
              <a:rPr lang="en-US" sz="2400" dirty="0" smtClean="0"/>
              <a:t> Distilled  A Brief Guide to the Systems Modeling Language. Addison-Wesley Professional.</a:t>
            </a:r>
          </a:p>
        </p:txBody>
      </p:sp>
      <p:pic>
        <p:nvPicPr>
          <p:cNvPr id="4" name="Picture 2" descr="http://www.4aplus.com/wp-content/uploads/2014/02/shutterstock_74085415-1024x68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3429000"/>
            <a:ext cx="2600221" cy="17323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11099</TotalTime>
  <Words>1652</Words>
  <Application>Microsoft Office PowerPoint</Application>
  <PresentationFormat>On-screen Show (4:3)</PresentationFormat>
  <Paragraphs>173</Paragraphs>
  <Slides>55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6" baseType="lpstr">
      <vt:lpstr>Office Theme</vt:lpstr>
      <vt:lpstr>Documenting Architectures</vt:lpstr>
      <vt:lpstr>Objectives</vt:lpstr>
      <vt:lpstr>Contents</vt:lpstr>
      <vt:lpstr>References</vt:lpstr>
      <vt:lpstr>Notations</vt:lpstr>
      <vt:lpstr>Semantics (Aspects, Contents)</vt:lpstr>
      <vt:lpstr>Slide 7</vt:lpstr>
      <vt:lpstr>UML Architecture Diagrams</vt:lpstr>
      <vt:lpstr>The 4+1 View Model Example</vt:lpstr>
      <vt:lpstr>Slide 10</vt:lpstr>
      <vt:lpstr>The C4 Model [1]</vt:lpstr>
      <vt:lpstr>System Context</vt:lpstr>
      <vt:lpstr>Container: System Zoom In</vt:lpstr>
      <vt:lpstr>Container Detail</vt:lpstr>
      <vt:lpstr>Component: Container Zoom In</vt:lpstr>
      <vt:lpstr>Component Detail</vt:lpstr>
      <vt:lpstr>Code-Level Diagrams</vt:lpstr>
      <vt:lpstr>Tools</vt:lpstr>
      <vt:lpstr>Slide 19</vt:lpstr>
      <vt:lpstr>Exercise 1</vt:lpstr>
      <vt:lpstr>Exercise 2</vt:lpstr>
      <vt:lpstr>Slide 22</vt:lpstr>
      <vt:lpstr>Module Views (I) [2]</vt:lpstr>
      <vt:lpstr>Module Views (II)</vt:lpstr>
      <vt:lpstr>Slide 25</vt:lpstr>
      <vt:lpstr>Module Styles</vt:lpstr>
      <vt:lpstr>Decomposition Style</vt:lpstr>
      <vt:lpstr>Uses Style</vt:lpstr>
      <vt:lpstr>Layered Style (I)</vt:lpstr>
      <vt:lpstr>Layered Style (II)</vt:lpstr>
      <vt:lpstr>Layered Style (III)</vt:lpstr>
      <vt:lpstr>Slide 32</vt:lpstr>
      <vt:lpstr>Data Model View</vt:lpstr>
      <vt:lpstr>Physical Data Model</vt:lpstr>
      <vt:lpstr>Slide 35</vt:lpstr>
      <vt:lpstr>Component-and-Connector (C&amp;C) Views</vt:lpstr>
      <vt:lpstr>Attachment Relation</vt:lpstr>
      <vt:lpstr>Interface Delegation Relation</vt:lpstr>
      <vt:lpstr>Slide 39</vt:lpstr>
      <vt:lpstr>Component-and-Connector Styles</vt:lpstr>
      <vt:lpstr>Pipe-and-Filter Style</vt:lpstr>
      <vt:lpstr>Why Pipe-and-Filter Style?</vt:lpstr>
      <vt:lpstr>Client-Server Style</vt:lpstr>
      <vt:lpstr>Why Client-Server Style?</vt:lpstr>
      <vt:lpstr>Peer-to-Peer Style</vt:lpstr>
      <vt:lpstr>Service-Oriented Architecture Style</vt:lpstr>
      <vt:lpstr>Publish-Subscribe Style</vt:lpstr>
      <vt:lpstr>Shared-Data Style</vt:lpstr>
      <vt:lpstr>Slide 49</vt:lpstr>
      <vt:lpstr>Allocation Views and Allocation Styles</vt:lpstr>
      <vt:lpstr>Example Deployment View</vt:lpstr>
      <vt:lpstr>Example Install View</vt:lpstr>
      <vt:lpstr>Example Work Assignment View</vt:lpstr>
      <vt:lpstr>Further Reading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3804</cp:revision>
  <dcterms:created xsi:type="dcterms:W3CDTF">2007-10-06T08:25:13Z</dcterms:created>
  <dcterms:modified xsi:type="dcterms:W3CDTF">2026-07-11T13:15:19Z</dcterms:modified>
</cp:coreProperties>
</file>