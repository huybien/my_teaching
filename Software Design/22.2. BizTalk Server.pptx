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534" r:id="rId3"/>
    <p:sldId id="536" r:id="rId4"/>
    <p:sldId id="537" r:id="rId5"/>
    <p:sldId id="538" r:id="rId6"/>
    <p:sldId id="535" r:id="rId7"/>
    <p:sldId id="539" r:id="rId8"/>
    <p:sldId id="540" r:id="rId9"/>
    <p:sldId id="541" r:id="rId10"/>
    <p:sldId id="542" r:id="rId11"/>
    <p:sldId id="543" r:id="rId12"/>
    <p:sldId id="544" r:id="rId13"/>
    <p:sldId id="545" r:id="rId14"/>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21176" autoAdjust="0"/>
    <p:restoredTop sz="94667" autoAdjust="0"/>
  </p:normalViewPr>
  <p:slideViewPr>
    <p:cSldViewPr>
      <p:cViewPr>
        <p:scale>
          <a:sx n="70" d="100"/>
          <a:sy n="70" d="100"/>
        </p:scale>
        <p:origin x="-1158" y="-78"/>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6/26/2014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6/26/2014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6/26/2014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6/26/2014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6/26/2014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6/26/2014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6/26/2014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6/26/2014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6/26/2014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6/26/2014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6/26/2014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6/26/2014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p:nvPr>
        </p:nvSpPr>
        <p:spPr/>
        <p:txBody>
          <a:bodyPr/>
          <a:lstStyle/>
          <a:p>
            <a:pPr eaLnBrk="1" hangingPunct="1"/>
            <a:r>
              <a:rPr lang="en-US" sz="4800" dirty="0" smtClean="0"/>
              <a:t>BizTalk Server</a:t>
            </a:r>
          </a:p>
        </p:txBody>
      </p:sp>
      <p:sp>
        <p:nvSpPr>
          <p:cNvPr id="3" name="Subtitle 2"/>
          <p:cNvSpPr>
            <a:spLocks noGrp="1"/>
          </p:cNvSpPr>
          <p:nvPr>
            <p:ph type="subTitle" idx="1"/>
          </p:nvPr>
        </p:nvSpPr>
        <p:spPr/>
        <p:txBody>
          <a:bodyPr rtlCol="0">
            <a:normAutofit fontScale="62500" lnSpcReduction="20000"/>
          </a:bodyPr>
          <a:lstStyle/>
          <a:p>
            <a:pPr eaLnBrk="1" fontAlgn="auto" hangingPunct="1">
              <a:spcAft>
                <a:spcPts val="0"/>
              </a:spcAft>
              <a:defRPr/>
            </a:pPr>
            <a:r>
              <a:rPr lang="en-US" sz="3600" dirty="0" smtClean="0"/>
              <a:t>Lecturer: Ngo Huy Bien</a:t>
            </a:r>
          </a:p>
          <a:p>
            <a:pPr eaLnBrk="1" fontAlgn="auto" hangingPunct="1">
              <a:spcAft>
                <a:spcPts val="0"/>
              </a:spcAft>
              <a:defRPr/>
            </a:pPr>
            <a:r>
              <a:rPr lang="en-US" sz="2800" dirty="0" smtClean="0"/>
              <a:t>Software Engineering Department</a:t>
            </a:r>
          </a:p>
          <a:p>
            <a:pPr eaLnBrk="1" fontAlgn="auto" hangingPunct="1">
              <a:spcAft>
                <a:spcPts val="0"/>
              </a:spcAft>
              <a:defRPr/>
            </a:pPr>
            <a:r>
              <a:rPr lang="en-US" sz="2800" dirty="0" smtClean="0"/>
              <a:t>Faculty of Information Technology</a:t>
            </a:r>
          </a:p>
          <a:p>
            <a:pPr eaLnBrk="1" fontAlgn="auto" hangingPunct="1">
              <a:spcAft>
                <a:spcPts val="0"/>
              </a:spcAft>
              <a:defRPr/>
            </a:pPr>
            <a:r>
              <a:rPr lang="en-US" sz="2800" dirty="0" smtClean="0"/>
              <a:t>VNUHCM - University of Science</a:t>
            </a:r>
          </a:p>
          <a:p>
            <a:pPr eaLnBrk="1" fontAlgn="auto" hangingPunct="1">
              <a:spcAft>
                <a:spcPts val="0"/>
              </a:spcAft>
              <a:defRPr/>
            </a:pPr>
            <a:r>
              <a:rPr lang="en-US" sz="2800" dirty="0" smtClean="0"/>
              <a:t>Ho Chi Minh City, Vietnam</a:t>
            </a:r>
          </a:p>
          <a:p>
            <a:pPr eaLnBrk="1" fontAlgn="auto" hangingPunct="1">
              <a:spcAft>
                <a:spcPts val="0"/>
              </a:spcAft>
              <a:defRPr/>
            </a:pPr>
            <a:r>
              <a:rPr lang="en-US" sz="2800" dirty="0" smtClean="0">
                <a:hlinkClick r:id="rId2"/>
              </a:rPr>
              <a:t>nhbien@fit.hcmus.edu.vn</a:t>
            </a:r>
            <a:endParaRPr lang="en-US" sz="28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828800"/>
            <a:ext cx="5410200" cy="4648200"/>
          </a:xfrm>
        </p:spPr>
        <p:txBody>
          <a:bodyPr/>
          <a:lstStyle/>
          <a:p>
            <a:pPr marL="457200" indent="-457200">
              <a:buFont typeface="+mj-lt"/>
              <a:buAutoNum type="arabicPeriod"/>
            </a:pPr>
            <a:r>
              <a:rPr lang="en-US" sz="2400" dirty="0" smtClean="0"/>
              <a:t>Brian </a:t>
            </a:r>
            <a:r>
              <a:rPr lang="en-US" sz="2400" dirty="0" err="1" smtClean="0"/>
              <a:t>Loesgen</a:t>
            </a:r>
            <a:r>
              <a:rPr lang="en-US" sz="2400" dirty="0" smtClean="0"/>
              <a:t> et al..Microsoft BizTalk Server 2010 Unleashed. 2011.</a:t>
            </a: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Single Point-to-Point </a:t>
            </a:r>
            <a:r>
              <a:rPr lang="en-US" dirty="0" smtClean="0"/>
              <a:t>Integration [1]</a:t>
            </a:r>
            <a:endParaRPr lang="en-US" dirty="0"/>
          </a:p>
        </p:txBody>
      </p:sp>
      <p:sp>
        <p:nvSpPr>
          <p:cNvPr id="3" name="Content Placeholder 2"/>
          <p:cNvSpPr>
            <a:spLocks noGrp="1"/>
          </p:cNvSpPr>
          <p:nvPr>
            <p:ph idx="1"/>
          </p:nvPr>
        </p:nvSpPr>
        <p:spPr>
          <a:xfrm>
            <a:off x="457200" y="1295401"/>
            <a:ext cx="8229600" cy="2743200"/>
          </a:xfrm>
        </p:spPr>
        <p:txBody>
          <a:bodyPr/>
          <a:lstStyle/>
          <a:p>
            <a:r>
              <a:rPr lang="en-US" sz="2400" dirty="0" smtClean="0"/>
              <a:t>The need for data to </a:t>
            </a:r>
            <a:r>
              <a:rPr lang="en-US" sz="2400" i="1" dirty="0" smtClean="0">
                <a:solidFill>
                  <a:srgbClr val="C00000"/>
                </a:solidFill>
              </a:rPr>
              <a:t>flow readily between applications</a:t>
            </a:r>
            <a:r>
              <a:rPr lang="en-US" sz="2400" dirty="0" smtClean="0"/>
              <a:t>.</a:t>
            </a:r>
          </a:p>
          <a:p>
            <a:r>
              <a:rPr lang="en-US" sz="2400" dirty="0" smtClean="0"/>
              <a:t>Different teams of architects and developers collaborated to establish technical contracts, thus comprising communication mechanisms, protocols, and </a:t>
            </a:r>
            <a:r>
              <a:rPr lang="en-US" sz="2400" i="1" dirty="0" smtClean="0">
                <a:solidFill>
                  <a:srgbClr val="C00000"/>
                </a:solidFill>
              </a:rPr>
              <a:t>shared data models</a:t>
            </a:r>
            <a:r>
              <a:rPr lang="en-US" sz="2400" dirty="0" smtClean="0"/>
              <a:t>.</a:t>
            </a:r>
          </a:p>
          <a:p>
            <a:r>
              <a:rPr lang="en-US" sz="2400" dirty="0" smtClean="0"/>
              <a:t>If the contract for </a:t>
            </a:r>
            <a:r>
              <a:rPr lang="en-US" sz="2400" i="1" dirty="0" smtClean="0">
                <a:solidFill>
                  <a:srgbClr val="C00000"/>
                </a:solidFill>
              </a:rPr>
              <a:t>one system changed</a:t>
            </a:r>
            <a:r>
              <a:rPr lang="en-US" sz="2400" dirty="0" smtClean="0"/>
              <a:t>, each connected system had to change, as well. </a:t>
            </a:r>
            <a:r>
              <a:rPr lang="en-US" sz="2400" i="1" dirty="0" smtClean="0">
                <a:solidFill>
                  <a:srgbClr val="C00000"/>
                </a:solidFill>
              </a:rPr>
              <a:t>Versioning a point</a:t>
            </a:r>
            <a:r>
              <a:rPr lang="en-US" sz="2400" dirty="0" smtClean="0"/>
              <a:t> meant updating a number of clients.</a:t>
            </a:r>
            <a:endParaRPr lang="en-US" sz="2400" dirty="0"/>
          </a:p>
        </p:txBody>
      </p:sp>
      <p:pic>
        <p:nvPicPr>
          <p:cNvPr id="1026" name="Picture 2"/>
          <p:cNvPicPr>
            <a:picLocks noChangeAspect="1" noChangeArrowheads="1"/>
          </p:cNvPicPr>
          <p:nvPr/>
        </p:nvPicPr>
        <p:blipFill>
          <a:blip r:embed="rId2" cstate="print"/>
          <a:srcRect/>
          <a:stretch>
            <a:fillRect/>
          </a:stretch>
        </p:blipFill>
        <p:spPr bwMode="auto">
          <a:xfrm>
            <a:off x="838200" y="4105275"/>
            <a:ext cx="3048000" cy="2600325"/>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4953000" y="4038600"/>
            <a:ext cx="3095625" cy="258127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Hub-and-Spoke Integration</a:t>
            </a:r>
            <a:endParaRPr lang="en-US" dirty="0"/>
          </a:p>
        </p:txBody>
      </p:sp>
      <p:sp>
        <p:nvSpPr>
          <p:cNvPr id="3" name="Content Placeholder 2"/>
          <p:cNvSpPr>
            <a:spLocks noGrp="1"/>
          </p:cNvSpPr>
          <p:nvPr>
            <p:ph idx="1"/>
          </p:nvPr>
        </p:nvSpPr>
        <p:spPr>
          <a:xfrm>
            <a:off x="457200" y="1600200"/>
            <a:ext cx="5410200" cy="4800599"/>
          </a:xfrm>
        </p:spPr>
        <p:txBody>
          <a:bodyPr/>
          <a:lstStyle/>
          <a:p>
            <a:r>
              <a:rPr lang="en-US" sz="2400" dirty="0" smtClean="0"/>
              <a:t>Messages </a:t>
            </a:r>
            <a:r>
              <a:rPr lang="en-US" sz="2400" i="1" dirty="0" smtClean="0">
                <a:solidFill>
                  <a:srgbClr val="C00000"/>
                </a:solidFill>
              </a:rPr>
              <a:t>are published to an intermediate hub</a:t>
            </a:r>
            <a:r>
              <a:rPr lang="en-US" sz="2400" dirty="0" smtClean="0"/>
              <a:t> service that forwards them to one or more message recipients (the spokes</a:t>
            </a:r>
            <a:r>
              <a:rPr lang="en-US" sz="2400" dirty="0" smtClean="0"/>
              <a:t>).</a:t>
            </a:r>
          </a:p>
          <a:p>
            <a:r>
              <a:rPr lang="en-US" sz="2400" dirty="0" smtClean="0"/>
              <a:t>The </a:t>
            </a:r>
            <a:r>
              <a:rPr lang="en-US" sz="2400" dirty="0" smtClean="0"/>
              <a:t>applications now </a:t>
            </a:r>
            <a:r>
              <a:rPr lang="en-US" sz="2400" i="1" dirty="0" smtClean="0">
                <a:solidFill>
                  <a:srgbClr val="C00000"/>
                </a:solidFill>
              </a:rPr>
              <a:t>operate independently</a:t>
            </a:r>
            <a:r>
              <a:rPr lang="en-US" sz="2400" dirty="0" smtClean="0"/>
              <a:t>.</a:t>
            </a:r>
          </a:p>
          <a:p>
            <a:r>
              <a:rPr lang="en-US" sz="2400" i="1" dirty="0" smtClean="0">
                <a:solidFill>
                  <a:srgbClr val="C00000"/>
                </a:solidFill>
              </a:rPr>
              <a:t>Contract information</a:t>
            </a:r>
            <a:r>
              <a:rPr lang="en-US" sz="2400" dirty="0" smtClean="0"/>
              <a:t> still needs to be </a:t>
            </a:r>
            <a:r>
              <a:rPr lang="en-US" sz="2400" dirty="0" smtClean="0"/>
              <a:t>shared.</a:t>
            </a:r>
          </a:p>
          <a:p>
            <a:r>
              <a:rPr lang="en-US" sz="2400" dirty="0" smtClean="0"/>
              <a:t>If </a:t>
            </a:r>
            <a:r>
              <a:rPr lang="en-US" sz="2400" dirty="0" smtClean="0"/>
              <a:t>an application changes the structural </a:t>
            </a:r>
            <a:r>
              <a:rPr lang="en-US" sz="2400" i="1" dirty="0" smtClean="0">
                <a:solidFill>
                  <a:srgbClr val="C00000"/>
                </a:solidFill>
              </a:rPr>
              <a:t>definition of a contract</a:t>
            </a:r>
            <a:r>
              <a:rPr lang="en-US" sz="2400" dirty="0" smtClean="0"/>
              <a:t>, some mechanism must be in place to ensure proper functioning of any subscribers.</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5943600" y="2514600"/>
            <a:ext cx="3019425" cy="26670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2" cstate="print"/>
          <a:srcRect/>
          <a:stretch>
            <a:fillRect/>
          </a:stretch>
        </p:blipFill>
        <p:spPr bwMode="auto">
          <a:xfrm>
            <a:off x="2895600" y="4676775"/>
            <a:ext cx="3086100" cy="202882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Hub-Bus Integration</a:t>
            </a:r>
            <a:endParaRPr lang="en-US" dirty="0"/>
          </a:p>
        </p:txBody>
      </p:sp>
      <p:sp>
        <p:nvSpPr>
          <p:cNvPr id="3" name="Content Placeholder 2"/>
          <p:cNvSpPr>
            <a:spLocks noGrp="1"/>
          </p:cNvSpPr>
          <p:nvPr>
            <p:ph idx="1"/>
          </p:nvPr>
        </p:nvSpPr>
        <p:spPr>
          <a:xfrm>
            <a:off x="457200" y="1447800"/>
            <a:ext cx="8229600" cy="3657600"/>
          </a:xfrm>
        </p:spPr>
        <p:txBody>
          <a:bodyPr/>
          <a:lstStyle/>
          <a:p>
            <a:r>
              <a:rPr lang="en-US" sz="2400" dirty="0" smtClean="0"/>
              <a:t>Combination of the hub-and-spoke approach with a </a:t>
            </a:r>
            <a:r>
              <a:rPr lang="en-US" sz="2400" i="1" dirty="0" smtClean="0">
                <a:solidFill>
                  <a:srgbClr val="C00000"/>
                </a:solidFill>
              </a:rPr>
              <a:t>message bus topology</a:t>
            </a:r>
            <a:r>
              <a:rPr lang="en-US" sz="2400" dirty="0" smtClean="0"/>
              <a:t>.</a:t>
            </a:r>
          </a:p>
          <a:p>
            <a:r>
              <a:rPr lang="en-US" sz="2400" dirty="0" smtClean="0"/>
              <a:t>In this hub-bus model, functionality can be distributed across multiple </a:t>
            </a:r>
            <a:r>
              <a:rPr lang="en-US" sz="2400" dirty="0" smtClean="0"/>
              <a:t>machines.</a:t>
            </a:r>
          </a:p>
          <a:p>
            <a:r>
              <a:rPr lang="en-US" sz="2400" i="1" dirty="0" smtClean="0">
                <a:solidFill>
                  <a:srgbClr val="C00000"/>
                </a:solidFill>
              </a:rPr>
              <a:t>Each </a:t>
            </a:r>
            <a:r>
              <a:rPr lang="en-US" sz="2400" i="1" dirty="0" smtClean="0">
                <a:solidFill>
                  <a:srgbClr val="C00000"/>
                </a:solidFill>
              </a:rPr>
              <a:t>machine</a:t>
            </a:r>
            <a:r>
              <a:rPr lang="en-US" sz="2400" dirty="0" smtClean="0"/>
              <a:t> is a physical hub that shares a centralized message bus with no single point of failure.</a:t>
            </a:r>
          </a:p>
          <a:p>
            <a:r>
              <a:rPr lang="en-US" sz="2400" dirty="0" smtClean="0"/>
              <a:t>Configuration of the distributed system is centralized, as are capabilities such as capturing operational and business metrics.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BizTalk Server?</a:t>
            </a:r>
            <a:endParaRPr lang="en-US" dirty="0"/>
          </a:p>
        </p:txBody>
      </p:sp>
      <p:sp>
        <p:nvSpPr>
          <p:cNvPr id="3" name="Content Placeholder 2"/>
          <p:cNvSpPr>
            <a:spLocks noGrp="1"/>
          </p:cNvSpPr>
          <p:nvPr>
            <p:ph idx="1"/>
          </p:nvPr>
        </p:nvSpPr>
        <p:spPr/>
        <p:txBody>
          <a:bodyPr/>
          <a:lstStyle/>
          <a:p>
            <a:r>
              <a:rPr lang="en-US" sz="2400" dirty="0" smtClean="0"/>
              <a:t>Conceptually, you can think of a </a:t>
            </a:r>
            <a:r>
              <a:rPr lang="en-US" sz="2400" i="1" dirty="0" smtClean="0">
                <a:solidFill>
                  <a:srgbClr val="C00000"/>
                </a:solidFill>
              </a:rPr>
              <a:t>BizTalk Server host</a:t>
            </a:r>
            <a:r>
              <a:rPr lang="en-US" sz="2400" dirty="0" smtClean="0"/>
              <a:t> as a logical </a:t>
            </a:r>
            <a:r>
              <a:rPr lang="en-US" sz="2400" dirty="0" smtClean="0"/>
              <a:t>hub.</a:t>
            </a:r>
          </a:p>
          <a:p>
            <a:r>
              <a:rPr lang="en-US" sz="2400" dirty="0" smtClean="0"/>
              <a:t>Individual </a:t>
            </a:r>
            <a:r>
              <a:rPr lang="en-US" sz="2400" dirty="0" smtClean="0"/>
              <a:t>BizTalk Server machines run a </a:t>
            </a:r>
            <a:r>
              <a:rPr lang="en-US" sz="2400" i="1" dirty="0" smtClean="0">
                <a:solidFill>
                  <a:srgbClr val="C00000"/>
                </a:solidFill>
              </a:rPr>
              <a:t>local instance</a:t>
            </a:r>
            <a:r>
              <a:rPr lang="en-US" sz="2400" dirty="0" smtClean="0"/>
              <a:t> of that host.</a:t>
            </a:r>
          </a:p>
          <a:p>
            <a:r>
              <a:rPr lang="en-US" sz="2400" dirty="0" smtClean="0"/>
              <a:t>These host instances collaborate using the </a:t>
            </a:r>
            <a:r>
              <a:rPr lang="en-US" sz="2400" i="1" dirty="0" smtClean="0">
                <a:solidFill>
                  <a:srgbClr val="C00000"/>
                </a:solidFill>
              </a:rPr>
              <a:t>message </a:t>
            </a:r>
            <a:r>
              <a:rPr lang="en-US" sz="2400" i="1" dirty="0" smtClean="0">
                <a:solidFill>
                  <a:srgbClr val="C00000"/>
                </a:solidFill>
              </a:rPr>
              <a:t>bus</a:t>
            </a:r>
            <a:r>
              <a:rPr lang="en-US" sz="2400" dirty="0" smtClean="0"/>
              <a:t>.</a:t>
            </a:r>
          </a:p>
          <a:p>
            <a:r>
              <a:rPr lang="en-US" sz="2400" dirty="0" smtClean="0"/>
              <a:t>The </a:t>
            </a:r>
            <a:r>
              <a:rPr lang="en-US" sz="2400" dirty="0" smtClean="0"/>
              <a:t>bus encompasses the centralized BizTalk Server Message Box (messaging data store) and the management database (configuration data store) together with the centralized operational and management capabilities and tools.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Adaptation</a:t>
            </a:r>
            <a:endParaRPr lang="en-US" dirty="0"/>
          </a:p>
        </p:txBody>
      </p:sp>
      <p:sp>
        <p:nvSpPr>
          <p:cNvPr id="3" name="Content Placeholder 2"/>
          <p:cNvSpPr>
            <a:spLocks noGrp="1"/>
          </p:cNvSpPr>
          <p:nvPr>
            <p:ph idx="1"/>
          </p:nvPr>
        </p:nvSpPr>
        <p:spPr/>
        <p:txBody>
          <a:bodyPr/>
          <a:lstStyle/>
          <a:p>
            <a:r>
              <a:rPr lang="en-US" sz="2200" dirty="0" smtClean="0"/>
              <a:t>Different systems support </a:t>
            </a:r>
            <a:r>
              <a:rPr lang="en-US" sz="2200" b="1" dirty="0" smtClean="0">
                <a:solidFill>
                  <a:srgbClr val="FF0000"/>
                </a:solidFill>
              </a:rPr>
              <a:t>different approaches to sending or receiving information</a:t>
            </a:r>
            <a:r>
              <a:rPr lang="en-US" sz="2200" dirty="0" smtClean="0"/>
              <a:t>. In some cases, the only supported integration route may be via file dumps or direct database access. Some systems support File Transport Protocol (FTP) or message queue protocols. Others implement web service interfaces using Representational State Transfer (REST) or Simple Object Access Protocol (SOAP).</a:t>
            </a:r>
          </a:p>
          <a:p>
            <a:r>
              <a:rPr lang="en-US" sz="2200" dirty="0" smtClean="0"/>
              <a:t>BizTalk Server separates these concerns from its hub-bus model through the use of an adaptation layer. It </a:t>
            </a:r>
            <a:r>
              <a:rPr lang="en-US" sz="2200" b="1" dirty="0" smtClean="0">
                <a:solidFill>
                  <a:schemeClr val="tx2"/>
                </a:solidFill>
              </a:rPr>
              <a:t>provides a host environment for managing running instances of adapters</a:t>
            </a:r>
            <a:r>
              <a:rPr lang="en-US" sz="2200" dirty="0" smtClean="0"/>
              <a:t> together with a programmatic framework for creating adapters or extending existing adaptation functionality so that it </a:t>
            </a:r>
            <a:r>
              <a:rPr lang="en-US" sz="2200" b="1" dirty="0" smtClean="0">
                <a:solidFill>
                  <a:schemeClr val="tx2"/>
                </a:solidFill>
              </a:rPr>
              <a:t>can interact with BizTalk Server</a:t>
            </a:r>
            <a:r>
              <a:rPr lang="en-US" sz="2200" dirty="0" smtClean="0"/>
              <a:t>.</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Mediation</a:t>
            </a:r>
            <a:endParaRPr lang="en-US" dirty="0"/>
          </a:p>
        </p:txBody>
      </p:sp>
      <p:sp>
        <p:nvSpPr>
          <p:cNvPr id="3" name="Content Placeholder 2"/>
          <p:cNvSpPr>
            <a:spLocks noGrp="1"/>
          </p:cNvSpPr>
          <p:nvPr>
            <p:ph idx="1"/>
          </p:nvPr>
        </p:nvSpPr>
        <p:spPr/>
        <p:txBody>
          <a:bodyPr/>
          <a:lstStyle/>
          <a:p>
            <a:r>
              <a:rPr lang="en-US" sz="2400" dirty="0" smtClean="0"/>
              <a:t>Mediation involves processing to </a:t>
            </a:r>
            <a:r>
              <a:rPr lang="en-US" sz="2400" b="1" dirty="0" smtClean="0">
                <a:solidFill>
                  <a:srgbClr val="FF0000"/>
                </a:solidFill>
              </a:rPr>
              <a:t>decode and encode, validate, and enrich messages</a:t>
            </a:r>
            <a:r>
              <a:rPr lang="en-US" sz="2400" dirty="0" smtClean="0"/>
              <a:t>. In addition, mediation capabilities include the ability to transform messages into different formats, </a:t>
            </a:r>
            <a:r>
              <a:rPr lang="en-US" sz="2400" b="1" dirty="0" smtClean="0">
                <a:solidFill>
                  <a:srgbClr val="FF0000"/>
                </a:solidFill>
              </a:rPr>
              <a:t>disassemble them into separate messages, or compose multiple messages together into single composite messages</a:t>
            </a:r>
            <a:r>
              <a:rPr lang="en-US" sz="2400" dirty="0" smtClean="0"/>
              <a:t> (so-called batches).</a:t>
            </a:r>
          </a:p>
          <a:p>
            <a:r>
              <a:rPr lang="en-US" sz="2400" dirty="0" smtClean="0"/>
              <a:t>BizTalk Server separates these concerns from adaptation and other capabilities by providing </a:t>
            </a:r>
            <a:r>
              <a:rPr lang="en-US" sz="2400" b="1" dirty="0" smtClean="0">
                <a:solidFill>
                  <a:schemeClr val="tx2"/>
                </a:solidFill>
              </a:rPr>
              <a:t>a common and extensible framework for extending message channels with “pipelines”</a:t>
            </a:r>
            <a:r>
              <a:rPr lang="en-US" sz="2400" dirty="0" smtClean="0"/>
              <a:t>.</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Exception Handling</a:t>
            </a:r>
            <a:endParaRPr lang="en-US" dirty="0"/>
          </a:p>
        </p:txBody>
      </p:sp>
      <p:sp>
        <p:nvSpPr>
          <p:cNvPr id="3" name="Content Placeholder 2"/>
          <p:cNvSpPr>
            <a:spLocks noGrp="1"/>
          </p:cNvSpPr>
          <p:nvPr>
            <p:ph idx="1"/>
          </p:nvPr>
        </p:nvSpPr>
        <p:spPr/>
        <p:txBody>
          <a:bodyPr/>
          <a:lstStyle/>
          <a:p>
            <a:r>
              <a:rPr lang="en-US" sz="2200" dirty="0" smtClean="0"/>
              <a:t>A core part of the value proposition of BizTalk Server is its capability to </a:t>
            </a:r>
            <a:r>
              <a:rPr lang="en-US" sz="2200" b="1" dirty="0" smtClean="0">
                <a:solidFill>
                  <a:srgbClr val="FF0000"/>
                </a:solidFill>
              </a:rPr>
              <a:t>handle the “unhappy” paths where messages cannot flow as intended or desired</a:t>
            </a:r>
            <a:r>
              <a:rPr lang="en-US" sz="2200" dirty="0" smtClean="0"/>
              <a:t>. This might happen because external systems are unavailable, contracts are inadvertently broken, messages are invalid or malformed, they are delivered in an incorrect order, or for many other reasons.</a:t>
            </a:r>
          </a:p>
          <a:p>
            <a:r>
              <a:rPr lang="en-US" sz="2200" dirty="0" smtClean="0"/>
              <a:t>BizTalk Server offers </a:t>
            </a:r>
            <a:r>
              <a:rPr lang="en-US" sz="2200" b="1" dirty="0" smtClean="0">
                <a:solidFill>
                  <a:schemeClr val="tx2"/>
                </a:solidFill>
              </a:rPr>
              <a:t>built-in support for automated retries</a:t>
            </a:r>
            <a:r>
              <a:rPr lang="en-US" sz="2200" dirty="0" smtClean="0"/>
              <a:t> when messages cannot be relayed to external systems. During message interchange, </a:t>
            </a:r>
            <a:r>
              <a:rPr lang="en-US" sz="2200" b="1" dirty="0" smtClean="0">
                <a:solidFill>
                  <a:schemeClr val="tx2"/>
                </a:solidFill>
              </a:rPr>
              <a:t>failed messages can be suspended, handed off to a secondary transport, or routed to an exception handler</a:t>
            </a:r>
            <a:r>
              <a:rPr lang="en-US" sz="2200" dirty="0" smtClean="0"/>
              <a:t>.</a:t>
            </a:r>
          </a:p>
          <a:p>
            <a:r>
              <a:rPr lang="en-US" sz="2200" dirty="0" smtClean="0"/>
              <a:t>All messages are persisted to the Message Box within a transaction. This provides the basic mechanism for suspending failed messages so that they can be </a:t>
            </a:r>
            <a:r>
              <a:rPr lang="en-US" sz="2200" b="1" dirty="0" smtClean="0">
                <a:solidFill>
                  <a:schemeClr val="tx2"/>
                </a:solidFill>
              </a:rPr>
              <a:t>resubmitted at a later date</a:t>
            </a:r>
            <a:r>
              <a:rPr lang="en-US" sz="2200" dirty="0" smtClean="0"/>
              <a:t>.</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Orchestration and Choreography</a:t>
            </a:r>
            <a:endParaRPr lang="en-US" dirty="0"/>
          </a:p>
        </p:txBody>
      </p:sp>
      <p:sp>
        <p:nvSpPr>
          <p:cNvPr id="3" name="Content Placeholder 2"/>
          <p:cNvSpPr>
            <a:spLocks noGrp="1"/>
          </p:cNvSpPr>
          <p:nvPr>
            <p:ph idx="1"/>
          </p:nvPr>
        </p:nvSpPr>
        <p:spPr/>
        <p:txBody>
          <a:bodyPr/>
          <a:lstStyle/>
          <a:p>
            <a:r>
              <a:rPr lang="en-US" sz="2200" dirty="0" smtClean="0"/>
              <a:t>Interchange between different systems and services must often be orchestrated to </a:t>
            </a:r>
            <a:r>
              <a:rPr lang="en-US" sz="2200" b="1" dirty="0" smtClean="0">
                <a:solidFill>
                  <a:srgbClr val="FF0000"/>
                </a:solidFill>
              </a:rPr>
              <a:t>manage data flow, decision points, parallelism, exception handling</a:t>
            </a:r>
            <a:r>
              <a:rPr lang="en-US" sz="2200" dirty="0" smtClean="0"/>
              <a:t>, and other requirements.</a:t>
            </a:r>
          </a:p>
          <a:p>
            <a:r>
              <a:rPr lang="en-US" sz="2200" dirty="0" smtClean="0"/>
              <a:t>A BizTalk orchestration is </a:t>
            </a:r>
            <a:r>
              <a:rPr lang="en-US" sz="2200" b="1" dirty="0" smtClean="0">
                <a:solidFill>
                  <a:schemeClr val="tx2"/>
                </a:solidFill>
              </a:rPr>
              <a:t>a custom service that sits directly on the BizTalk message bus and uses the same subscription mechanisms used for message routing</a:t>
            </a:r>
            <a:r>
              <a:rPr lang="en-US" sz="2200" dirty="0" smtClean="0"/>
              <a:t>. Orchestrations can consume and publish messages freely and extend the built-in message-correlation features of the pub-sub mechanism with additional capabilities.</a:t>
            </a:r>
          </a:p>
          <a:p>
            <a:r>
              <a:rPr lang="en-US" sz="2200" dirty="0" smtClean="0"/>
              <a:t>Orchestrations are commonly used to implement </a:t>
            </a:r>
            <a:r>
              <a:rPr lang="en-US" sz="2200" b="1" dirty="0" smtClean="0">
                <a:solidFill>
                  <a:schemeClr val="tx2"/>
                </a:solidFill>
              </a:rPr>
              <a:t>automated processes</a:t>
            </a:r>
            <a:r>
              <a:rPr lang="en-US" sz="2200" dirty="0" smtClean="0"/>
              <a:t>. Orchestrations are created using graphical model-driven development techniques. They represent a superset of the BPEL standard and can enforce strict BPEL compliance.</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Performance and Scalability</a:t>
            </a:r>
            <a:endParaRPr lang="en-US" dirty="0"/>
          </a:p>
        </p:txBody>
      </p:sp>
      <p:sp>
        <p:nvSpPr>
          <p:cNvPr id="3" name="Content Placeholder 2"/>
          <p:cNvSpPr>
            <a:spLocks noGrp="1"/>
          </p:cNvSpPr>
          <p:nvPr>
            <p:ph idx="1"/>
          </p:nvPr>
        </p:nvSpPr>
        <p:spPr/>
        <p:txBody>
          <a:bodyPr/>
          <a:lstStyle/>
          <a:p>
            <a:r>
              <a:rPr lang="en-US" sz="2200" dirty="0" smtClean="0"/>
              <a:t>Organizations must often </a:t>
            </a:r>
            <a:r>
              <a:rPr lang="en-US" sz="2200" b="1" dirty="0" smtClean="0">
                <a:solidFill>
                  <a:srgbClr val="FF0000"/>
                </a:solidFill>
              </a:rPr>
              <a:t>handle variable workloads</a:t>
            </a:r>
            <a:r>
              <a:rPr lang="en-US" sz="2200" dirty="0" smtClean="0"/>
              <a:t> without incurring significant additional costs and without the need for extensive reengineering of existing systems.</a:t>
            </a:r>
          </a:p>
          <a:p>
            <a:r>
              <a:rPr lang="en-US" sz="2200" dirty="0" smtClean="0"/>
              <a:t>BizTalk Server uses </a:t>
            </a:r>
            <a:r>
              <a:rPr lang="en-US" sz="2200" b="1" dirty="0" smtClean="0">
                <a:solidFill>
                  <a:schemeClr val="tx2"/>
                </a:solidFill>
              </a:rPr>
              <a:t>load balancing, data and process partitioning, distributed processing</a:t>
            </a:r>
            <a:r>
              <a:rPr lang="en-US" sz="2200" dirty="0" smtClean="0"/>
              <a:t>, and other approaches internally and also supports their use at the external level.</a:t>
            </a:r>
          </a:p>
          <a:p>
            <a:r>
              <a:rPr lang="en-US" sz="2200" dirty="0" smtClean="0"/>
              <a:t>One of most problematic areas in integration involves the handling of </a:t>
            </a:r>
            <a:r>
              <a:rPr lang="en-US" sz="2200" b="1" dirty="0" smtClean="0">
                <a:solidFill>
                  <a:srgbClr val="FF0000"/>
                </a:solidFill>
              </a:rPr>
              <a:t>performance mismatches</a:t>
            </a:r>
            <a:r>
              <a:rPr lang="en-US" sz="2200" dirty="0" smtClean="0"/>
              <a:t>. These typically occur when systems publish messages at a higher rate than they can be consumed. BizTalk Server provides a sophisticated approach to handling these types of mismatch. It implements </a:t>
            </a:r>
            <a:r>
              <a:rPr lang="en-US" sz="2200" b="1" dirty="0" smtClean="0">
                <a:solidFill>
                  <a:schemeClr val="tx2"/>
                </a:solidFill>
              </a:rPr>
              <a:t>various internal algorithms that manage message and process throttling</a:t>
            </a:r>
            <a:r>
              <a:rPr lang="en-US" sz="2200" dirty="0" smtClean="0"/>
              <a:t> within configurable parameters.</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Security</a:t>
            </a:r>
            <a:endParaRPr lang="en-US" dirty="0"/>
          </a:p>
        </p:txBody>
      </p:sp>
      <p:sp>
        <p:nvSpPr>
          <p:cNvPr id="3" name="Content Placeholder 2"/>
          <p:cNvSpPr>
            <a:spLocks noGrp="1"/>
          </p:cNvSpPr>
          <p:nvPr>
            <p:ph idx="1"/>
          </p:nvPr>
        </p:nvSpPr>
        <p:spPr/>
        <p:txBody>
          <a:bodyPr/>
          <a:lstStyle/>
          <a:p>
            <a:r>
              <a:rPr lang="en-US" sz="2600" dirty="0" smtClean="0"/>
              <a:t>Solutions may use transport- or message-level security to </a:t>
            </a:r>
            <a:r>
              <a:rPr lang="en-US" sz="2600" b="1" dirty="0" smtClean="0">
                <a:solidFill>
                  <a:srgbClr val="FF0000"/>
                </a:solidFill>
              </a:rPr>
              <a:t>protect messages or specific data values</a:t>
            </a:r>
            <a:r>
              <a:rPr lang="en-US" sz="2600" dirty="0" smtClean="0"/>
              <a:t>. They must ensure that </a:t>
            </a:r>
            <a:r>
              <a:rPr lang="en-US" sz="2600" b="1" dirty="0" smtClean="0">
                <a:solidFill>
                  <a:srgbClr val="FF0000"/>
                </a:solidFill>
              </a:rPr>
              <a:t>sensitive data is decrypted only at the point of use</a:t>
            </a:r>
            <a:r>
              <a:rPr lang="en-US" sz="2600" dirty="0" smtClean="0"/>
              <a:t>.</a:t>
            </a:r>
          </a:p>
          <a:p>
            <a:r>
              <a:rPr lang="en-US" sz="2600" dirty="0" smtClean="0"/>
              <a:t>BizTalk Server’s </a:t>
            </a:r>
            <a:r>
              <a:rPr lang="en-US" sz="2600" b="1" dirty="0" smtClean="0">
                <a:solidFill>
                  <a:schemeClr val="tx2"/>
                </a:solidFill>
              </a:rPr>
              <a:t>out-of-the-box adapters support transport-level security</a:t>
            </a:r>
            <a:r>
              <a:rPr lang="en-US" sz="2600" dirty="0" smtClean="0"/>
              <a:t> where appropriate. Message-level security is supported via the </a:t>
            </a:r>
            <a:r>
              <a:rPr lang="en-US" sz="2600" b="1" dirty="0" smtClean="0">
                <a:solidFill>
                  <a:schemeClr val="tx2"/>
                </a:solidFill>
              </a:rPr>
              <a:t>Windows Communication Foundation (WCF) adapters</a:t>
            </a:r>
            <a:r>
              <a:rPr lang="en-US" sz="2600" dirty="0" smtClean="0"/>
              <a:t>.</a:t>
            </a:r>
          </a:p>
          <a:p>
            <a:r>
              <a:rPr lang="en-US" sz="2600" dirty="0" smtClean="0"/>
              <a:t>BizTalk Server provides a </a:t>
            </a:r>
            <a:r>
              <a:rPr lang="en-US" sz="2600" b="1" dirty="0" smtClean="0">
                <a:solidFill>
                  <a:schemeClr val="tx2"/>
                </a:solidFill>
              </a:rPr>
              <a:t>single sign-on server</a:t>
            </a:r>
            <a:r>
              <a:rPr lang="en-US" sz="2600" dirty="0" smtClean="0"/>
              <a:t> to securely map security principals to the credentials required by target systems.</a:t>
            </a:r>
            <a:endParaRPr lang="en-US" sz="2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BizTalk Server vs. WCF and WF</a:t>
            </a:r>
            <a:endParaRPr lang="en-US" dirty="0"/>
          </a:p>
        </p:txBody>
      </p:sp>
      <p:sp>
        <p:nvSpPr>
          <p:cNvPr id="3" name="Content Placeholder 2"/>
          <p:cNvSpPr>
            <a:spLocks noGrp="1"/>
          </p:cNvSpPr>
          <p:nvPr>
            <p:ph idx="1"/>
          </p:nvPr>
        </p:nvSpPr>
        <p:spPr/>
        <p:txBody>
          <a:bodyPr/>
          <a:lstStyle/>
          <a:p>
            <a:r>
              <a:rPr lang="en-US" sz="2200" dirty="0" smtClean="0"/>
              <a:t>BizTalk Server is a supported enterprise-level product that combines many different technologies and tools within a unified platform </a:t>
            </a:r>
            <a:r>
              <a:rPr lang="en-US" sz="2200" b="1" dirty="0" smtClean="0">
                <a:solidFill>
                  <a:schemeClr val="tx2"/>
                </a:solidFill>
              </a:rPr>
              <a:t>for on-premises integration</a:t>
            </a:r>
            <a:r>
              <a:rPr lang="en-US" sz="2200" dirty="0" smtClean="0"/>
              <a:t>, message interchange, service orchestration, policy externalization, and automated business processing. It implements </a:t>
            </a:r>
            <a:r>
              <a:rPr lang="en-US" sz="2200" b="1" dirty="0" smtClean="0">
                <a:solidFill>
                  <a:schemeClr val="tx2"/>
                </a:solidFill>
              </a:rPr>
              <a:t>a sophisticated distributed host environment </a:t>
            </a:r>
            <a:r>
              <a:rPr lang="en-US" sz="2200" dirty="0" smtClean="0"/>
              <a:t>with single-point administration and handles a vast array of concerns that arise when integrating different systems.</a:t>
            </a:r>
          </a:p>
          <a:p>
            <a:r>
              <a:rPr lang="en-US" sz="2200" dirty="0" smtClean="0"/>
              <a:t>By contrast, WCF and WF are </a:t>
            </a:r>
            <a:r>
              <a:rPr lang="en-US" sz="2200" b="1" dirty="0" smtClean="0">
                <a:solidFill>
                  <a:schemeClr val="tx2"/>
                </a:solidFill>
              </a:rPr>
              <a:t>programmatic class libraries</a:t>
            </a:r>
            <a:r>
              <a:rPr lang="en-US" sz="2200" dirty="0" smtClean="0"/>
              <a:t>. They provide a rich framework for rapid development of custom business logic and service hosts. WCF and WF are complementary to BizTalk Server. They enable developers to </a:t>
            </a:r>
            <a:r>
              <a:rPr lang="en-US" sz="2200" b="1" dirty="0" smtClean="0">
                <a:solidFill>
                  <a:schemeClr val="tx2"/>
                </a:solidFill>
              </a:rPr>
              <a:t>construct discrete services</a:t>
            </a:r>
            <a:r>
              <a:rPr lang="en-US" sz="2200" dirty="0" smtClean="0"/>
              <a:t>. Those services can then be orchestrated by BizTalk Server and integrated with existing systems and applications using BizTalk Server’s capabilities.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12333</TotalTime>
  <Words>1065</Words>
  <Application>Microsoft Office PowerPoint</Application>
  <PresentationFormat>On-screen Show (4:3)</PresentationFormat>
  <Paragraphs>53</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BizTalk Server</vt:lpstr>
      <vt:lpstr>References</vt:lpstr>
      <vt:lpstr>Single Point-to-Point Integration [1]</vt:lpstr>
      <vt:lpstr>Hub-and-Spoke Integration</vt:lpstr>
      <vt:lpstr>Hub-Bus Integration</vt:lpstr>
      <vt:lpstr>What Is BizTalk Server?</vt:lpstr>
      <vt:lpstr>Adaptation</vt:lpstr>
      <vt:lpstr>Mediation</vt:lpstr>
      <vt:lpstr>Exception Handling</vt:lpstr>
      <vt:lpstr>Orchestration and Choreography</vt:lpstr>
      <vt:lpstr>Performance and Scalability</vt:lpstr>
      <vt:lpstr>Security</vt:lpstr>
      <vt:lpstr>BizTalk Server vs. WCF and WF</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HuyBien</cp:lastModifiedBy>
  <cp:revision>3109</cp:revision>
  <dcterms:created xsi:type="dcterms:W3CDTF">2007-10-06T08:25:13Z</dcterms:created>
  <dcterms:modified xsi:type="dcterms:W3CDTF">2014-06-26T12:18:40Z</dcterms:modified>
</cp:coreProperties>
</file>