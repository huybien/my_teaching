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436" r:id="rId3"/>
    <p:sldId id="426" r:id="rId4"/>
    <p:sldId id="425" r:id="rId5"/>
    <p:sldId id="452" r:id="rId6"/>
    <p:sldId id="504" r:id="rId7"/>
    <p:sldId id="474" r:id="rId8"/>
    <p:sldId id="438" r:id="rId9"/>
    <p:sldId id="414" r:id="rId10"/>
    <p:sldId id="415" r:id="rId11"/>
    <p:sldId id="448" r:id="rId12"/>
    <p:sldId id="451" r:id="rId13"/>
    <p:sldId id="450" r:id="rId14"/>
    <p:sldId id="475" r:id="rId15"/>
    <p:sldId id="439" r:id="rId16"/>
    <p:sldId id="444" r:id="rId17"/>
    <p:sldId id="446" r:id="rId18"/>
    <p:sldId id="503" r:id="rId19"/>
    <p:sldId id="473" r:id="rId20"/>
    <p:sldId id="441" r:id="rId21"/>
    <p:sldId id="442" r:id="rId22"/>
    <p:sldId id="453" r:id="rId23"/>
    <p:sldId id="454" r:id="rId24"/>
    <p:sldId id="458" r:id="rId25"/>
    <p:sldId id="466" r:id="rId26"/>
    <p:sldId id="456" r:id="rId27"/>
    <p:sldId id="511" r:id="rId28"/>
    <p:sldId id="510" r:id="rId29"/>
    <p:sldId id="457" r:id="rId30"/>
    <p:sldId id="506" r:id="rId31"/>
    <p:sldId id="508" r:id="rId32"/>
    <p:sldId id="509" r:id="rId33"/>
    <p:sldId id="502" r:id="rId34"/>
    <p:sldId id="476" r:id="rId35"/>
    <p:sldId id="461" r:id="rId36"/>
    <p:sldId id="460" r:id="rId37"/>
    <p:sldId id="464" r:id="rId38"/>
    <p:sldId id="465" r:id="rId39"/>
    <p:sldId id="505" r:id="rId40"/>
    <p:sldId id="485" r:id="rId41"/>
    <p:sldId id="486" r:id="rId42"/>
    <p:sldId id="487" r:id="rId43"/>
    <p:sldId id="488" r:id="rId44"/>
    <p:sldId id="489" r:id="rId45"/>
    <p:sldId id="490" r:id="rId46"/>
    <p:sldId id="491" r:id="rId47"/>
    <p:sldId id="492" r:id="rId48"/>
    <p:sldId id="493" r:id="rId49"/>
    <p:sldId id="494" r:id="rId50"/>
    <p:sldId id="495" r:id="rId51"/>
    <p:sldId id="496" r:id="rId52"/>
    <p:sldId id="497" r:id="rId53"/>
    <p:sldId id="498" r:id="rId54"/>
    <p:sldId id="499" r:id="rId55"/>
    <p:sldId id="500" r:id="rId56"/>
    <p:sldId id="501" r:id="rId57"/>
    <p:sldId id="343" r:id="rId5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76"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5/30/2021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5/30/2021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5/30/2021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5/30/2021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5/30/2021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5/30/2021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5/30/2021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5/30/2021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5/30/2021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5/30/2021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5/30/2021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5/30/2021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blogs.mulesoft.com/dev/mule-dev/esb-or-not-to-esb-revisited-part-3/"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blogs.mulesoft.com/dev/mule-dev/esb-or-not-to-esb-revisited-part-1/"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Software Integration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2057400"/>
            <a:ext cx="5410200" cy="3733800"/>
          </a:xfrm>
        </p:spPr>
        <p:txBody>
          <a:bodyPr/>
          <a:lstStyle/>
          <a:p>
            <a:pPr marL="457200" indent="-457200">
              <a:buFont typeface="+mj-lt"/>
              <a:buAutoNum type="arabicPeriod"/>
            </a:pPr>
            <a:r>
              <a:rPr lang="en-US" sz="2400" dirty="0" err="1" smtClean="0"/>
              <a:t>Matjaz</a:t>
            </a:r>
            <a:r>
              <a:rPr lang="en-US" sz="2400" dirty="0" smtClean="0"/>
              <a:t> B. </a:t>
            </a:r>
            <a:r>
              <a:rPr lang="en-US" sz="2400" dirty="0" err="1" smtClean="0"/>
              <a:t>Juric</a:t>
            </a:r>
            <a:r>
              <a:rPr lang="en-US" sz="2400" dirty="0" smtClean="0"/>
              <a:t> et al. (2007). SOA Approach to Integration. </a:t>
            </a:r>
            <a:r>
              <a:rPr lang="en-US" sz="2400" dirty="0" err="1" smtClean="0"/>
              <a:t>Packt</a:t>
            </a:r>
            <a:r>
              <a:rPr lang="en-US" sz="2400" dirty="0" smtClean="0"/>
              <a:t> </a:t>
            </a:r>
            <a:r>
              <a:rPr lang="en-US" sz="2400" dirty="0" smtClean="0"/>
              <a:t>Publishing.</a:t>
            </a:r>
          </a:p>
          <a:p>
            <a:pPr marL="457200" indent="-457200">
              <a:buFont typeface="+mj-lt"/>
              <a:buAutoNum type="arabicPeriod"/>
            </a:pPr>
            <a:r>
              <a:rPr lang="en-US" sz="2400" dirty="0" err="1" smtClean="0"/>
              <a:t>Gregor</a:t>
            </a:r>
            <a:r>
              <a:rPr lang="en-US" sz="2400" dirty="0" smtClean="0"/>
              <a:t> </a:t>
            </a:r>
            <a:r>
              <a:rPr lang="en-US" sz="2400" dirty="0" err="1" smtClean="0"/>
              <a:t>Hohpe</a:t>
            </a:r>
            <a:r>
              <a:rPr lang="en-US" sz="2400" dirty="0" smtClean="0"/>
              <a:t> and Bobby Woolf (2003). Enterprise Integration </a:t>
            </a:r>
            <a:r>
              <a:rPr lang="en-US" sz="2400" dirty="0" smtClean="0"/>
              <a:t>Patterns: Designing</a:t>
            </a:r>
            <a:r>
              <a:rPr lang="en-US" sz="2400" dirty="0" smtClean="0"/>
              <a:t>, Building, and Deploying Messaging Solutions. Addison-Wesley </a:t>
            </a:r>
            <a:r>
              <a:rPr lang="en-US" sz="2400" dirty="0" smtClean="0"/>
              <a:t>Professional.</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152400" y="1295400"/>
            <a:ext cx="5248275" cy="458152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Legacy Systems Architecture [1]</a:t>
            </a:r>
            <a:endParaRPr lang="en-US" dirty="0"/>
          </a:p>
        </p:txBody>
      </p:sp>
      <p:sp>
        <p:nvSpPr>
          <p:cNvPr id="5" name="Rectangle 4"/>
          <p:cNvSpPr/>
          <p:nvPr/>
        </p:nvSpPr>
        <p:spPr>
          <a:xfrm>
            <a:off x="5486400" y="1600200"/>
            <a:ext cx="3505200" cy="4893647"/>
          </a:xfrm>
          <a:prstGeom prst="rect">
            <a:avLst/>
          </a:prstGeom>
          <a:noFill/>
        </p:spPr>
        <p:txBody>
          <a:bodyPr wrap="square">
            <a:spAutoFit/>
          </a:bodyPr>
          <a:lstStyle/>
          <a:p>
            <a:pPr marL="457200" indent="-457200">
              <a:buFont typeface="Arial" pitchFamily="34" charset="0"/>
              <a:buChar char="•"/>
            </a:pPr>
            <a:r>
              <a:rPr lang="en-US" sz="2400" dirty="0" smtClean="0">
                <a:latin typeface="+mj-lt"/>
              </a:rPr>
              <a:t>There were no common methods used that share information in </a:t>
            </a:r>
            <a:r>
              <a:rPr lang="en-US" sz="2400" i="1" dirty="0" smtClean="0">
                <a:solidFill>
                  <a:srgbClr val="C00000"/>
                </a:solidFill>
                <a:latin typeface="+mj-lt"/>
              </a:rPr>
              <a:t>real time</a:t>
            </a:r>
            <a:r>
              <a:rPr lang="en-US" sz="2400" dirty="0" smtClean="0">
                <a:latin typeface="+mj-lt"/>
              </a:rPr>
              <a:t> among different system. </a:t>
            </a:r>
          </a:p>
          <a:p>
            <a:pPr marL="457200" indent="-457200">
              <a:buFont typeface="Arial" pitchFamily="34" charset="0"/>
              <a:buChar char="•"/>
            </a:pPr>
            <a:r>
              <a:rPr lang="en-US" sz="2400" dirty="0" smtClean="0">
                <a:latin typeface="+mj-lt"/>
              </a:rPr>
              <a:t>It was not </a:t>
            </a:r>
            <a:r>
              <a:rPr lang="en-US" sz="2400" i="1" dirty="0" smtClean="0">
                <a:solidFill>
                  <a:srgbClr val="C00000"/>
                </a:solidFill>
                <a:latin typeface="+mj-lt"/>
              </a:rPr>
              <a:t>secure</a:t>
            </a:r>
            <a:r>
              <a:rPr lang="en-US" sz="2400" dirty="0" smtClean="0">
                <a:latin typeface="+mj-lt"/>
              </a:rPr>
              <a:t> and safe </a:t>
            </a:r>
          </a:p>
          <a:p>
            <a:pPr marL="457200" indent="-457200">
              <a:buFont typeface="Arial" pitchFamily="34" charset="0"/>
              <a:buChar char="•"/>
            </a:pPr>
            <a:r>
              <a:rPr lang="en-US" sz="2400" dirty="0" smtClean="0">
                <a:latin typeface="+mj-lt"/>
              </a:rPr>
              <a:t>Applications were </a:t>
            </a:r>
            <a:r>
              <a:rPr lang="en-US" sz="2400" i="1" dirty="0" smtClean="0">
                <a:solidFill>
                  <a:srgbClr val="C00000"/>
                </a:solidFill>
                <a:latin typeface="+mj-lt"/>
              </a:rPr>
              <a:t>tightly coupled</a:t>
            </a:r>
            <a:r>
              <a:rPr lang="en-US" sz="2400" dirty="0" smtClean="0">
                <a:latin typeface="+mj-lt"/>
              </a:rPr>
              <a:t> with each other. </a:t>
            </a:r>
          </a:p>
          <a:p>
            <a:pPr marL="457200" indent="-457200">
              <a:buFont typeface="Arial" pitchFamily="34" charset="0"/>
              <a:buChar char="•"/>
            </a:pPr>
            <a:r>
              <a:rPr lang="en-US" sz="2400" i="1" dirty="0" smtClean="0">
                <a:solidFill>
                  <a:srgbClr val="C00000"/>
                </a:solidFill>
                <a:latin typeface="+mj-lt"/>
              </a:rPr>
              <a:t>Maintenance</a:t>
            </a:r>
            <a:r>
              <a:rPr lang="en-US" sz="2400" dirty="0" smtClean="0">
                <a:latin typeface="+mj-lt"/>
              </a:rPr>
              <a:t> cost was high. </a:t>
            </a:r>
            <a:endParaRPr lang="en-US" sz="24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Application Integration</a:t>
            </a:r>
            <a:endParaRPr lang="en-US" dirty="0"/>
          </a:p>
        </p:txBody>
      </p:sp>
      <p:sp>
        <p:nvSpPr>
          <p:cNvPr id="4" name="Rectangle 3"/>
          <p:cNvSpPr/>
          <p:nvPr/>
        </p:nvSpPr>
        <p:spPr>
          <a:xfrm>
            <a:off x="304800" y="1295400"/>
            <a:ext cx="8382000" cy="1107996"/>
          </a:xfrm>
          <a:prstGeom prst="rect">
            <a:avLst/>
          </a:prstGeom>
          <a:noFill/>
        </p:spPr>
        <p:txBody>
          <a:bodyPr wrap="square">
            <a:spAutoFit/>
          </a:bodyPr>
          <a:lstStyle/>
          <a:p>
            <a:pPr algn="r"/>
            <a:r>
              <a:rPr lang="en-US" sz="2200" i="1" dirty="0" smtClean="0">
                <a:solidFill>
                  <a:srgbClr val="C00000"/>
                </a:solidFill>
                <a:latin typeface="+mj-lt"/>
              </a:rPr>
              <a:t>EAI (enterprise application integration)</a:t>
            </a:r>
            <a:r>
              <a:rPr lang="en-US" sz="2200" dirty="0" smtClean="0">
                <a:latin typeface="+mj-lt"/>
              </a:rPr>
              <a:t> is a business computing term for the plans, methods, and tools aimed at modernizing, consolidating, and coordinating the computer applications in an enterprise.</a:t>
            </a:r>
          </a:p>
        </p:txBody>
      </p:sp>
      <p:sp>
        <p:nvSpPr>
          <p:cNvPr id="8" name="Rectangle 7"/>
          <p:cNvSpPr/>
          <p:nvPr/>
        </p:nvSpPr>
        <p:spPr>
          <a:xfrm>
            <a:off x="5181600" y="2755880"/>
            <a:ext cx="3733800" cy="2923877"/>
          </a:xfrm>
          <a:prstGeom prst="rect">
            <a:avLst/>
          </a:prstGeom>
        </p:spPr>
        <p:txBody>
          <a:bodyPr wrap="square">
            <a:spAutoFit/>
          </a:bodyPr>
          <a:lstStyle/>
          <a:p>
            <a:pPr marL="457200" indent="-457200"/>
            <a:r>
              <a:rPr lang="en-US" sz="2800" i="1" dirty="0" smtClean="0">
                <a:solidFill>
                  <a:srgbClr val="C00000"/>
                </a:solidFill>
                <a:latin typeface="+mj-lt"/>
              </a:rPr>
              <a:t>Problems:</a:t>
            </a:r>
          </a:p>
          <a:p>
            <a:pPr marL="457200" indent="-457200">
              <a:buFont typeface="Arial" pitchFamily="34" charset="0"/>
              <a:buChar char="•"/>
            </a:pPr>
            <a:r>
              <a:rPr lang="en-US" sz="2400" dirty="0" smtClean="0">
                <a:latin typeface="+mj-lt"/>
              </a:rPr>
              <a:t>Real-time Integration</a:t>
            </a:r>
          </a:p>
          <a:p>
            <a:pPr marL="457200" indent="-457200">
              <a:buFont typeface="Arial" pitchFamily="34" charset="0"/>
              <a:buChar char="•"/>
            </a:pPr>
            <a:r>
              <a:rPr lang="en-US" sz="2400" dirty="0" smtClean="0">
                <a:latin typeface="+mj-lt"/>
              </a:rPr>
              <a:t>Secure and Scalable </a:t>
            </a:r>
          </a:p>
          <a:p>
            <a:pPr marL="457200" indent="-457200">
              <a:buFont typeface="Arial" pitchFamily="34" charset="0"/>
              <a:buChar char="•"/>
            </a:pPr>
            <a:r>
              <a:rPr lang="en-US" sz="2400" dirty="0" smtClean="0">
                <a:latin typeface="+mj-lt"/>
              </a:rPr>
              <a:t>Lower Total Cost of Ownership </a:t>
            </a:r>
          </a:p>
          <a:p>
            <a:pPr marL="914400" lvl="1" indent="-457200">
              <a:buFont typeface="Courier New" pitchFamily="49" charset="0"/>
              <a:buChar char="o"/>
            </a:pPr>
            <a:r>
              <a:rPr lang="en-US" sz="2000" dirty="0" smtClean="0">
                <a:latin typeface="+mj-lt"/>
              </a:rPr>
              <a:t>Less development and support cost </a:t>
            </a:r>
          </a:p>
          <a:p>
            <a:pPr marL="914400" lvl="1" indent="-457200">
              <a:buFont typeface="Courier New" pitchFamily="49" charset="0"/>
              <a:buChar char="o"/>
            </a:pPr>
            <a:r>
              <a:rPr lang="en-US" sz="2000" dirty="0" smtClean="0">
                <a:latin typeface="+mj-lt"/>
              </a:rPr>
              <a:t>Faster Build </a:t>
            </a:r>
            <a:endParaRPr lang="en-US" sz="2000" dirty="0">
              <a:latin typeface="+mj-lt"/>
            </a:endParaRPr>
          </a:p>
        </p:txBody>
      </p:sp>
      <p:pic>
        <p:nvPicPr>
          <p:cNvPr id="1026" name="Picture 2"/>
          <p:cNvPicPr>
            <a:picLocks noChangeAspect="1" noChangeArrowheads="1"/>
          </p:cNvPicPr>
          <p:nvPr/>
        </p:nvPicPr>
        <p:blipFill>
          <a:blip r:embed="rId2" cstate="print"/>
          <a:srcRect/>
          <a:stretch>
            <a:fillRect/>
          </a:stretch>
        </p:blipFill>
        <p:spPr bwMode="auto">
          <a:xfrm>
            <a:off x="609600" y="2682240"/>
            <a:ext cx="4069080" cy="341376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Sound EIA Benefits</a:t>
            </a:r>
            <a:endParaRPr lang="en-US" dirty="0"/>
          </a:p>
        </p:txBody>
      </p:sp>
      <p:sp>
        <p:nvSpPr>
          <p:cNvPr id="3" name="Content Placeholder 2"/>
          <p:cNvSpPr>
            <a:spLocks noGrp="1"/>
          </p:cNvSpPr>
          <p:nvPr>
            <p:ph idx="1"/>
          </p:nvPr>
        </p:nvSpPr>
        <p:spPr/>
        <p:txBody>
          <a:bodyPr/>
          <a:lstStyle/>
          <a:p>
            <a:pPr lvl="0"/>
            <a:r>
              <a:rPr lang="en-US" sz="2400" dirty="0" smtClean="0"/>
              <a:t>Reusability</a:t>
            </a:r>
          </a:p>
          <a:p>
            <a:pPr lvl="0"/>
            <a:r>
              <a:rPr lang="en-US" sz="2400" dirty="0" smtClean="0"/>
              <a:t>Encapsulation</a:t>
            </a:r>
          </a:p>
          <a:p>
            <a:pPr lvl="0"/>
            <a:r>
              <a:rPr lang="en-US" sz="2400" dirty="0" smtClean="0"/>
              <a:t>Distribution</a:t>
            </a:r>
          </a:p>
          <a:p>
            <a:pPr lvl="0"/>
            <a:r>
              <a:rPr lang="en-US" sz="2400" dirty="0" smtClean="0"/>
              <a:t>Partitioning</a:t>
            </a:r>
          </a:p>
          <a:p>
            <a:pPr lvl="0"/>
            <a:r>
              <a:rPr lang="en-US" sz="2400" dirty="0" smtClean="0"/>
              <a:t>Scalability</a:t>
            </a:r>
          </a:p>
          <a:p>
            <a:pPr lvl="0"/>
            <a:r>
              <a:rPr lang="en-US" sz="2400" dirty="0" smtClean="0"/>
              <a:t>Improved Reliability</a:t>
            </a:r>
          </a:p>
          <a:p>
            <a:pPr lvl="0"/>
            <a:r>
              <a:rPr lang="en-US" sz="2400" dirty="0" smtClean="0"/>
              <a:t>Manageability </a:t>
            </a:r>
          </a:p>
          <a:p>
            <a:pPr lvl="0"/>
            <a:r>
              <a:rPr lang="en-US" sz="2400" dirty="0" smtClean="0"/>
              <a:t>Increased consistency and flexibility </a:t>
            </a:r>
          </a:p>
          <a:p>
            <a:pPr lvl="0"/>
            <a:r>
              <a:rPr lang="en-US" sz="2400" dirty="0" smtClean="0"/>
              <a:t>Independent development </a:t>
            </a:r>
          </a:p>
          <a:p>
            <a:pPr lvl="0"/>
            <a:r>
              <a:rPr lang="en-US" sz="2400" dirty="0" smtClean="0"/>
              <a:t>Composition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752600"/>
            <a:ext cx="8229600" cy="1143000"/>
          </a:xfrm>
        </p:spPr>
        <p:txBody>
          <a:bodyPr/>
          <a:lstStyle/>
          <a:p>
            <a:r>
              <a:rPr lang="en-US" sz="6000" dirty="0" smtClean="0"/>
              <a:t>Types of Integration</a:t>
            </a:r>
            <a:endParaRPr lang="en-US" sz="6000" dirty="0"/>
          </a:p>
        </p:txBody>
      </p:sp>
      <p:pic>
        <p:nvPicPr>
          <p:cNvPr id="52226" name="Picture 2" descr="http://www.softvoyage.com/wp-content/themes/softvoyage/images/b2c_banner.png"/>
          <p:cNvPicPr>
            <a:picLocks noChangeAspect="1" noChangeArrowheads="1"/>
          </p:cNvPicPr>
          <p:nvPr/>
        </p:nvPicPr>
        <p:blipFill>
          <a:blip r:embed="rId2" cstate="print"/>
          <a:srcRect/>
          <a:stretch>
            <a:fillRect/>
          </a:stretch>
        </p:blipFill>
        <p:spPr bwMode="auto">
          <a:xfrm>
            <a:off x="2895600" y="2590800"/>
            <a:ext cx="3152775" cy="315277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Integration</a:t>
            </a:r>
            <a:endParaRPr lang="en-US" dirty="0"/>
          </a:p>
        </p:txBody>
      </p:sp>
      <p:sp>
        <p:nvSpPr>
          <p:cNvPr id="3" name="Content Placeholder 2"/>
          <p:cNvSpPr>
            <a:spLocks noGrp="1"/>
          </p:cNvSpPr>
          <p:nvPr>
            <p:ph idx="1"/>
          </p:nvPr>
        </p:nvSpPr>
        <p:spPr/>
        <p:txBody>
          <a:bodyPr/>
          <a:lstStyle/>
          <a:p>
            <a:r>
              <a:rPr lang="en-US" sz="2800" dirty="0" smtClean="0"/>
              <a:t>Integration architecture is usually built systematically in several </a:t>
            </a:r>
            <a:r>
              <a:rPr lang="en-US" sz="2800" i="1" dirty="0" smtClean="0">
                <a:solidFill>
                  <a:srgbClr val="C00000"/>
                </a:solidFill>
              </a:rPr>
              <a:t>layers</a:t>
            </a:r>
            <a:r>
              <a:rPr lang="en-US" sz="2800" dirty="0" smtClean="0"/>
              <a:t>.</a:t>
            </a:r>
          </a:p>
          <a:p>
            <a:endParaRPr lang="en-US" sz="2800" dirty="0" smtClean="0"/>
          </a:p>
          <a:p>
            <a:r>
              <a:rPr lang="en-US" sz="2800" dirty="0" smtClean="0"/>
              <a:t>The idea is to break the problem into several </a:t>
            </a:r>
            <a:r>
              <a:rPr lang="en-US" sz="2800" i="1" dirty="0" smtClean="0">
                <a:solidFill>
                  <a:srgbClr val="C00000"/>
                </a:solidFill>
              </a:rPr>
              <a:t>smaller problems</a:t>
            </a:r>
            <a:r>
              <a:rPr lang="en-US" sz="2800" dirty="0" smtClean="0"/>
              <a:t> and solve each sub-problem step by step.</a:t>
            </a:r>
          </a:p>
          <a:p>
            <a:endParaRPr lang="en-US" sz="2800" dirty="0" smtClean="0"/>
          </a:p>
          <a:p>
            <a:r>
              <a:rPr lang="en-US" sz="2800" dirty="0" smtClean="0"/>
              <a:t>We usually </a:t>
            </a:r>
            <a:r>
              <a:rPr lang="en-US" sz="2800" i="1" dirty="0" smtClean="0">
                <a:solidFill>
                  <a:srgbClr val="C00000"/>
                </a:solidFill>
              </a:rPr>
              <a:t>start</a:t>
            </a:r>
            <a:r>
              <a:rPr lang="en-US" sz="2800" dirty="0" smtClean="0"/>
              <a:t> building the integration architecture at the </a:t>
            </a:r>
            <a:r>
              <a:rPr lang="en-US" sz="2800" i="1" dirty="0" smtClean="0">
                <a:solidFill>
                  <a:srgbClr val="C00000"/>
                </a:solidFill>
              </a:rPr>
              <a:t>lowest layer</a:t>
            </a:r>
            <a:r>
              <a:rPr lang="en-US" sz="2800" dirty="0" smtClean="0"/>
              <a:t> and climb gradually.</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Data-Level Integration</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676400" y="2057400"/>
            <a:ext cx="6105525" cy="3800475"/>
          </a:xfrm>
          <a:prstGeom prst="rect">
            <a:avLst/>
          </a:prstGeom>
          <a:noFill/>
          <a:ln w="9525">
            <a:noFill/>
            <a:miter lim="800000"/>
            <a:headEnd/>
            <a:tailEnd/>
          </a:ln>
          <a:effectLst/>
        </p:spPr>
      </p:pic>
      <p:sp>
        <p:nvSpPr>
          <p:cNvPr id="4" name="Rectangle 3"/>
          <p:cNvSpPr/>
          <p:nvPr/>
        </p:nvSpPr>
        <p:spPr>
          <a:xfrm>
            <a:off x="304800" y="1295400"/>
            <a:ext cx="8382000" cy="769441"/>
          </a:xfrm>
          <a:prstGeom prst="rect">
            <a:avLst/>
          </a:prstGeom>
          <a:noFill/>
        </p:spPr>
        <p:txBody>
          <a:bodyPr wrap="square">
            <a:spAutoFit/>
          </a:bodyPr>
          <a:lstStyle/>
          <a:p>
            <a:pPr algn="ctr"/>
            <a:r>
              <a:rPr lang="en-US" sz="2200" i="1" dirty="0" smtClean="0">
                <a:solidFill>
                  <a:srgbClr val="C00000"/>
                </a:solidFill>
                <a:latin typeface="+mj-lt"/>
              </a:rPr>
              <a:t>Data-level integration</a:t>
            </a:r>
            <a:r>
              <a:rPr lang="en-US" sz="2200" dirty="0" smtClean="0">
                <a:latin typeface="+mj-lt"/>
              </a:rPr>
              <a:t> is an integration type in which the same data is shared between different applications.</a:t>
            </a:r>
          </a:p>
        </p:txBody>
      </p:sp>
      <p:sp>
        <p:nvSpPr>
          <p:cNvPr id="5" name="Rectangle 4"/>
          <p:cNvSpPr/>
          <p:nvPr/>
        </p:nvSpPr>
        <p:spPr>
          <a:xfrm>
            <a:off x="457200" y="5943600"/>
            <a:ext cx="6130524" cy="769441"/>
          </a:xfrm>
          <a:prstGeom prst="rect">
            <a:avLst/>
          </a:prstGeom>
        </p:spPr>
        <p:style>
          <a:lnRef idx="2">
            <a:schemeClr val="accent6"/>
          </a:lnRef>
          <a:fillRef idx="1">
            <a:schemeClr val="lt1"/>
          </a:fillRef>
          <a:effectRef idx="0">
            <a:schemeClr val="accent6"/>
          </a:effectRef>
          <a:fontRef idx="minor">
            <a:schemeClr val="dk1"/>
          </a:fontRef>
        </p:style>
        <p:txBody>
          <a:bodyPr wrap="none">
            <a:spAutoFit/>
          </a:bodyPr>
          <a:lstStyle/>
          <a:p>
            <a:pPr marL="342900" indent="-342900">
              <a:buFont typeface="Wingdings" pitchFamily="2" charset="2"/>
              <a:buChar char="q"/>
            </a:pPr>
            <a:r>
              <a:rPr lang="en-US" sz="2200" dirty="0" smtClean="0">
                <a:solidFill>
                  <a:schemeClr val="tx1"/>
                </a:solidFill>
                <a:latin typeface="+mj-lt"/>
              </a:rPr>
              <a:t>It can cause corruption of application data</a:t>
            </a:r>
          </a:p>
          <a:p>
            <a:pPr marL="342900" indent="-342900">
              <a:buFont typeface="Wingdings" pitchFamily="2" charset="2"/>
              <a:buChar char="q"/>
            </a:pPr>
            <a:r>
              <a:rPr lang="en-US" sz="2200" dirty="0" smtClean="0">
                <a:solidFill>
                  <a:schemeClr val="tx1"/>
                </a:solidFill>
                <a:latin typeface="+mj-lt"/>
              </a:rPr>
              <a:t>It’s hard to understand data of other applications</a:t>
            </a:r>
            <a:endParaRPr lang="en-US" sz="2200" dirty="0">
              <a:solidFill>
                <a:schemeClr val="tx1"/>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Integration</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52400" y="1447800"/>
            <a:ext cx="4819650" cy="4953000"/>
          </a:xfrm>
          <a:prstGeom prst="rect">
            <a:avLst/>
          </a:prstGeom>
          <a:noFill/>
          <a:ln w="9525">
            <a:noFill/>
            <a:miter lim="800000"/>
            <a:headEnd/>
            <a:tailEnd/>
          </a:ln>
          <a:effectLst/>
        </p:spPr>
      </p:pic>
      <p:sp>
        <p:nvSpPr>
          <p:cNvPr id="4" name="Rectangle 3"/>
          <p:cNvSpPr/>
          <p:nvPr/>
        </p:nvSpPr>
        <p:spPr>
          <a:xfrm>
            <a:off x="5029200" y="1295400"/>
            <a:ext cx="3886200" cy="4154984"/>
          </a:xfrm>
          <a:prstGeom prst="rect">
            <a:avLst/>
          </a:prstGeom>
          <a:noFill/>
        </p:spPr>
        <p:txBody>
          <a:bodyPr wrap="square">
            <a:spAutoFit/>
          </a:bodyPr>
          <a:lstStyle/>
          <a:p>
            <a:pPr marL="457200" indent="-457200">
              <a:buFont typeface="Arial" pitchFamily="34" charset="0"/>
              <a:buChar char="•"/>
            </a:pPr>
            <a:r>
              <a:rPr lang="en-US" sz="2200" i="1" dirty="0" smtClean="0">
                <a:solidFill>
                  <a:srgbClr val="C00000"/>
                </a:solidFill>
                <a:latin typeface="+mj-lt"/>
              </a:rPr>
              <a:t>Application integration</a:t>
            </a:r>
            <a:r>
              <a:rPr lang="en-US" sz="2200" dirty="0" smtClean="0">
                <a:latin typeface="+mj-lt"/>
              </a:rPr>
              <a:t> is an integration type in which applications that expose their functionality through APIs enable access to the functionality in a programmatic way.</a:t>
            </a:r>
          </a:p>
          <a:p>
            <a:pPr marL="457200" indent="-457200">
              <a:buFont typeface="Arial" pitchFamily="34" charset="0"/>
              <a:buChar char="•"/>
            </a:pPr>
            <a:r>
              <a:rPr lang="en-US" sz="2200" dirty="0" smtClean="0">
                <a:latin typeface="+mj-lt"/>
              </a:rPr>
              <a:t>Application integration focuses on </a:t>
            </a:r>
            <a:r>
              <a:rPr lang="en-US" sz="2200" i="1" dirty="0" smtClean="0">
                <a:solidFill>
                  <a:srgbClr val="C00000"/>
                </a:solidFill>
                <a:latin typeface="+mj-lt"/>
              </a:rPr>
              <a:t>sharing functionality</a:t>
            </a:r>
            <a:r>
              <a:rPr lang="en-US" sz="2200" dirty="0" smtClean="0">
                <a:latin typeface="+mj-lt"/>
              </a:rPr>
              <a:t>—business logic; and not just pure data as in data-level integration.</a:t>
            </a:r>
          </a:p>
        </p:txBody>
      </p:sp>
      <p:sp>
        <p:nvSpPr>
          <p:cNvPr id="5" name="Rectangle 4"/>
          <p:cNvSpPr/>
          <p:nvPr/>
        </p:nvSpPr>
        <p:spPr>
          <a:xfrm>
            <a:off x="5181600" y="5638800"/>
            <a:ext cx="3505200" cy="76944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buFont typeface="Wingdings" pitchFamily="2" charset="2"/>
              <a:buChar char="q"/>
            </a:pPr>
            <a:r>
              <a:rPr lang="en-US" sz="2200" dirty="0" smtClean="0">
                <a:solidFill>
                  <a:schemeClr val="tx1"/>
                </a:solidFill>
                <a:latin typeface="+mj-lt"/>
              </a:rPr>
              <a:t>Requires to learn APIs</a:t>
            </a:r>
          </a:p>
          <a:p>
            <a:pPr marL="457200" indent="-457200">
              <a:buFont typeface="Wingdings" pitchFamily="2" charset="2"/>
              <a:buChar char="q"/>
            </a:pPr>
            <a:r>
              <a:rPr lang="en-US" sz="2200" dirty="0" smtClean="0">
                <a:solidFill>
                  <a:schemeClr val="tx1"/>
                </a:solidFill>
                <a:latin typeface="+mj-lt"/>
              </a:rPr>
              <a:t>Different technologies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Process Integration</a:t>
            </a:r>
            <a:endParaRPr lang="en-US" dirty="0"/>
          </a:p>
        </p:txBody>
      </p:sp>
      <p:sp>
        <p:nvSpPr>
          <p:cNvPr id="3" name="Content Placeholder 2"/>
          <p:cNvSpPr>
            <a:spLocks noGrp="1"/>
          </p:cNvSpPr>
          <p:nvPr>
            <p:ph idx="1"/>
          </p:nvPr>
        </p:nvSpPr>
        <p:spPr>
          <a:xfrm>
            <a:off x="228600" y="1447800"/>
            <a:ext cx="8458200" cy="1371599"/>
          </a:xfrm>
        </p:spPr>
        <p:txBody>
          <a:bodyPr/>
          <a:lstStyle/>
          <a:p>
            <a:r>
              <a:rPr lang="en-US" sz="2000" i="1" dirty="0" smtClean="0">
                <a:solidFill>
                  <a:srgbClr val="C00000"/>
                </a:solidFill>
              </a:rPr>
              <a:t>Business process integration</a:t>
            </a:r>
            <a:r>
              <a:rPr lang="en-US" sz="2000" dirty="0" smtClean="0"/>
              <a:t> is an integration type in which the information system interfaces are based on a new designed architecture.</a:t>
            </a:r>
          </a:p>
          <a:p>
            <a:r>
              <a:rPr lang="en-US" sz="2000" dirty="0" smtClean="0"/>
              <a:t>However, the functionalities are </a:t>
            </a:r>
            <a:r>
              <a:rPr lang="en-US" sz="2000" i="1" dirty="0" smtClean="0">
                <a:solidFill>
                  <a:srgbClr val="C00000"/>
                </a:solidFill>
              </a:rPr>
              <a:t>not re-implemented</a:t>
            </a:r>
            <a:r>
              <a:rPr lang="en-US" sz="2000" dirty="0" smtClean="0"/>
              <a:t>; rather, they use existing applications. </a:t>
            </a:r>
          </a:p>
        </p:txBody>
      </p:sp>
      <p:pic>
        <p:nvPicPr>
          <p:cNvPr id="4" name="Picture 2"/>
          <p:cNvPicPr>
            <a:picLocks noChangeAspect="1" noChangeArrowheads="1"/>
          </p:cNvPicPr>
          <p:nvPr/>
        </p:nvPicPr>
        <p:blipFill>
          <a:blip r:embed="rId2" cstate="print"/>
          <a:srcRect/>
          <a:stretch>
            <a:fillRect/>
          </a:stretch>
        </p:blipFill>
        <p:spPr bwMode="auto">
          <a:xfrm>
            <a:off x="152400" y="3133725"/>
            <a:ext cx="4781550" cy="3114675"/>
          </a:xfrm>
          <a:prstGeom prst="rect">
            <a:avLst/>
          </a:prstGeom>
          <a:noFill/>
          <a:ln w="9525">
            <a:noFill/>
            <a:miter lim="800000"/>
            <a:headEnd/>
            <a:tailEnd/>
          </a:ln>
          <a:effectLst/>
        </p:spPr>
      </p:pic>
      <p:sp>
        <p:nvSpPr>
          <p:cNvPr id="5" name="Content Placeholder 2"/>
          <p:cNvSpPr txBox="1">
            <a:spLocks/>
          </p:cNvSpPr>
          <p:nvPr/>
        </p:nvSpPr>
        <p:spPr bwMode="auto">
          <a:xfrm>
            <a:off x="4953000" y="2819400"/>
            <a:ext cx="4038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u="none" strike="noStrike" kern="1200" cap="none" spc="0" normalizeH="0" baseline="0" noProof="0" dirty="0" smtClean="0">
                <a:ln>
                  <a:noFill/>
                </a:ln>
                <a:effectLst/>
                <a:uLnTx/>
                <a:uFillTx/>
                <a:latin typeface="+mn-lt"/>
                <a:ea typeface="+mn-ea"/>
                <a:cs typeface="+mn-cs"/>
              </a:rPr>
              <a:t>Those existing applications are </a:t>
            </a:r>
            <a:r>
              <a:rPr kumimoji="0" lang="en-US" sz="2000" b="0" i="1" u="none" strike="noStrike" kern="1200" cap="none" spc="0" normalizeH="0" baseline="0" noProof="0" dirty="0" smtClean="0">
                <a:ln>
                  <a:noFill/>
                </a:ln>
                <a:solidFill>
                  <a:srgbClr val="C00000"/>
                </a:solidFill>
                <a:effectLst/>
                <a:uLnTx/>
                <a:uFillTx/>
                <a:latin typeface="+mn-lt"/>
                <a:ea typeface="+mn-ea"/>
                <a:cs typeface="+mn-cs"/>
              </a:rPr>
              <a:t>remodeled</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in a way that they expose the functionality of the business process tier and fit into the modern application architecture.</a:t>
            </a: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r>
              <a:rPr kumimoji="0" lang="en-US" sz="2000" b="0" u="none" strike="noStrike" kern="1200" cap="none" spc="0" normalizeH="0" baseline="0" noProof="0" dirty="0" smtClean="0">
                <a:ln>
                  <a:noFill/>
                </a:ln>
                <a:effectLst/>
                <a:uLnTx/>
                <a:uFillTx/>
                <a:latin typeface="+mn-lt"/>
                <a:ea typeface="+mn-ea"/>
                <a:cs typeface="+mn-cs"/>
              </a:rPr>
              <a:t>Finally, the different pieces are </a:t>
            </a:r>
            <a:r>
              <a:rPr kumimoji="0" lang="en-US" sz="2000" b="0" i="1" u="none" strike="noStrike" kern="1200" cap="none" spc="0" normalizeH="0" baseline="0" noProof="0" dirty="0" smtClean="0">
                <a:ln>
                  <a:noFill/>
                </a:ln>
                <a:solidFill>
                  <a:srgbClr val="C00000"/>
                </a:solidFill>
                <a:effectLst/>
                <a:uLnTx/>
                <a:uFillTx/>
                <a:latin typeface="+mn-lt"/>
                <a:ea typeface="+mn-ea"/>
                <a:cs typeface="+mn-cs"/>
              </a:rPr>
              <a:t>glued together</a:t>
            </a:r>
            <a:r>
              <a:rPr kumimoji="0" lang="en-US" sz="2000" b="0" u="none" strike="noStrike" kern="1200" cap="none" spc="0" normalizeH="0" baseline="0" noProof="0" dirty="0" smtClean="0">
                <a:ln>
                  <a:noFill/>
                </a:ln>
                <a:effectLst/>
                <a:uLnTx/>
                <a:uFillTx/>
                <a:latin typeface="+mn-lt"/>
                <a:ea typeface="+mn-ea"/>
                <a:cs typeface="+mn-cs"/>
              </a:rPr>
              <a:t>, usually by using a</a:t>
            </a:r>
            <a:r>
              <a:rPr kumimoji="0" lang="en-US" sz="2000" b="0" i="1" u="none" strike="noStrike" kern="1200" cap="none" spc="0" normalizeH="0" baseline="0" noProof="0" dirty="0" smtClean="0">
                <a:ln>
                  <a:noFill/>
                </a:ln>
                <a:solidFill>
                  <a:srgbClr val="C00000"/>
                </a:solidFill>
                <a:effectLst/>
                <a:uLnTx/>
                <a:uFillTx/>
                <a:latin typeface="+mn-lt"/>
                <a:ea typeface="+mn-ea"/>
                <a:cs typeface="+mn-cs"/>
              </a:rPr>
              <a:t> business process modeling and execution language</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such as BPEL (Business Process Execution Language).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 Integration</a:t>
            </a:r>
            <a:endParaRPr lang="en-US" dirty="0"/>
          </a:p>
        </p:txBody>
      </p:sp>
      <p:sp>
        <p:nvSpPr>
          <p:cNvPr id="3" name="Content Placeholder 2"/>
          <p:cNvSpPr>
            <a:spLocks noGrp="1"/>
          </p:cNvSpPr>
          <p:nvPr>
            <p:ph idx="1"/>
          </p:nvPr>
        </p:nvSpPr>
        <p:spPr/>
        <p:txBody>
          <a:bodyPr/>
          <a:lstStyle/>
          <a:p>
            <a:r>
              <a:rPr lang="en-US" sz="2800" i="1" dirty="0" smtClean="0">
                <a:solidFill>
                  <a:srgbClr val="C00000"/>
                </a:solidFill>
              </a:rPr>
              <a:t>Presentation integration</a:t>
            </a:r>
            <a:r>
              <a:rPr lang="en-US" sz="2800" dirty="0" smtClean="0"/>
              <a:t> is a step in which we define and implement a common user interface—usually a portal—for the business-method-level integrated information system.</a:t>
            </a:r>
          </a:p>
          <a:p>
            <a:r>
              <a:rPr lang="en-US" sz="2800" dirty="0" smtClean="0"/>
              <a:t>The </a:t>
            </a:r>
            <a:r>
              <a:rPr lang="en-US" sz="2800" i="1" dirty="0" smtClean="0">
                <a:solidFill>
                  <a:srgbClr val="C00000"/>
                </a:solidFill>
              </a:rPr>
              <a:t>user interface</a:t>
            </a:r>
            <a:r>
              <a:rPr lang="en-US" sz="2800" dirty="0" smtClean="0"/>
              <a:t> will provide the illusion of a new system, and add the missing piece to the multi-tier integration architecture.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Business-to-Business Integration</a:t>
            </a:r>
            <a:endParaRPr lang="en-US" dirty="0"/>
          </a:p>
        </p:txBody>
      </p:sp>
      <p:sp>
        <p:nvSpPr>
          <p:cNvPr id="3" name="Content Placeholder 2"/>
          <p:cNvSpPr>
            <a:spLocks noGrp="1"/>
          </p:cNvSpPr>
          <p:nvPr>
            <p:ph idx="1"/>
          </p:nvPr>
        </p:nvSpPr>
        <p:spPr/>
        <p:txBody>
          <a:bodyPr/>
          <a:lstStyle/>
          <a:p>
            <a:r>
              <a:rPr lang="en-US" sz="2800" i="1" dirty="0" smtClean="0">
                <a:solidFill>
                  <a:srgbClr val="C00000"/>
                </a:solidFill>
              </a:rPr>
              <a:t>Business-to-business (B2B) integration</a:t>
            </a:r>
            <a:r>
              <a:rPr lang="en-US" sz="2800" dirty="0" smtClean="0"/>
              <a:t>, or e-business is an integration type in which one business is responsible for on-demand processing of requests of the other.</a:t>
            </a:r>
          </a:p>
          <a:p>
            <a:r>
              <a:rPr lang="en-US" sz="2800" dirty="0" smtClean="0"/>
              <a:t>The prerequisite for efficient e-business or B2B integration is an </a:t>
            </a:r>
            <a:r>
              <a:rPr lang="en-US" sz="2800" i="1" dirty="0" smtClean="0">
                <a:solidFill>
                  <a:srgbClr val="C00000"/>
                </a:solidFill>
              </a:rPr>
              <a:t>integrated enterprise information system</a:t>
            </a:r>
            <a:r>
              <a:rPr lang="en-US" sz="2800" dirty="0" smtClean="0"/>
              <a:t>, possibly on the business-process level, which must be at both ends.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914400"/>
            <a:ext cx="8229600" cy="1143000"/>
          </a:xfrm>
        </p:spPr>
        <p:txBody>
          <a:bodyPr/>
          <a:lstStyle/>
          <a:p>
            <a:r>
              <a:rPr lang="en-US" sz="6000" dirty="0" smtClean="0"/>
              <a:t>Integration Infrastructure</a:t>
            </a:r>
            <a:endParaRPr lang="en-US" sz="6000" dirty="0"/>
          </a:p>
        </p:txBody>
      </p:sp>
      <p:pic>
        <p:nvPicPr>
          <p:cNvPr id="53250" name="Picture 2" descr="http://opticca.com/images/complexGraph1.jpg"/>
          <p:cNvPicPr>
            <a:picLocks noChangeAspect="1" noChangeArrowheads="1"/>
          </p:cNvPicPr>
          <p:nvPr/>
        </p:nvPicPr>
        <p:blipFill>
          <a:blip r:embed="rId2" cstate="print"/>
          <a:srcRect/>
          <a:stretch>
            <a:fillRect/>
          </a:stretch>
        </p:blipFill>
        <p:spPr bwMode="auto">
          <a:xfrm>
            <a:off x="1752600" y="2438400"/>
            <a:ext cx="5857875" cy="293370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Infrastructure (I)</a:t>
            </a:r>
            <a:endParaRPr lang="en-US" dirty="0"/>
          </a:p>
        </p:txBody>
      </p:sp>
      <p:sp>
        <p:nvSpPr>
          <p:cNvPr id="4" name="Content Placeholder 3"/>
          <p:cNvSpPr>
            <a:spLocks noGrp="1"/>
          </p:cNvSpPr>
          <p:nvPr>
            <p:ph idx="1"/>
          </p:nvPr>
        </p:nvSpPr>
        <p:spPr>
          <a:xfrm>
            <a:off x="457200" y="1524000"/>
            <a:ext cx="8229600" cy="2743200"/>
          </a:xfrm>
        </p:spPr>
        <p:txBody>
          <a:bodyPr/>
          <a:lstStyle/>
          <a:p>
            <a:r>
              <a:rPr lang="en-US" sz="2400" dirty="0" smtClean="0"/>
              <a:t>The </a:t>
            </a:r>
            <a:r>
              <a:rPr lang="en-US" sz="2400" i="1" dirty="0" smtClean="0">
                <a:solidFill>
                  <a:srgbClr val="C00000"/>
                </a:solidFill>
              </a:rPr>
              <a:t>integration infrastructure</a:t>
            </a:r>
            <a:r>
              <a:rPr lang="en-US" sz="2400" dirty="0" smtClean="0"/>
              <a:t> should provide ways to control the lifecycle of all applications involved.</a:t>
            </a:r>
          </a:p>
          <a:p>
            <a:pPr lvl="1"/>
            <a:r>
              <a:rPr lang="en-US" sz="2000" dirty="0" smtClean="0"/>
              <a:t>It should enable existing applications to </a:t>
            </a:r>
            <a:r>
              <a:rPr lang="en-US" sz="2000" i="1" dirty="0" smtClean="0">
                <a:solidFill>
                  <a:srgbClr val="C00000"/>
                </a:solidFill>
              </a:rPr>
              <a:t>be replaced</a:t>
            </a:r>
            <a:r>
              <a:rPr lang="en-US" sz="2000" dirty="0" smtClean="0"/>
              <a:t> one by one or even by parts without having influence on the other applications in the integrated system.</a:t>
            </a:r>
          </a:p>
          <a:p>
            <a:r>
              <a:rPr lang="en-US" sz="2400" dirty="0" smtClean="0"/>
              <a:t>The primary responsibility of the </a:t>
            </a:r>
            <a:r>
              <a:rPr lang="en-US" sz="2400" i="1" dirty="0" smtClean="0">
                <a:solidFill>
                  <a:srgbClr val="C00000"/>
                </a:solidFill>
              </a:rPr>
              <a:t>communication service</a:t>
            </a:r>
            <a:r>
              <a:rPr lang="en-US" sz="2400" dirty="0" smtClean="0"/>
              <a:t> is to provide the abstraction for communication details.</a:t>
            </a:r>
          </a:p>
        </p:txBody>
      </p:sp>
      <p:pic>
        <p:nvPicPr>
          <p:cNvPr id="5" name="Picture 3"/>
          <p:cNvPicPr>
            <a:picLocks noChangeAspect="1" noChangeArrowheads="1"/>
          </p:cNvPicPr>
          <p:nvPr/>
        </p:nvPicPr>
        <p:blipFill>
          <a:blip r:embed="rId2" cstate="print"/>
          <a:srcRect/>
          <a:stretch>
            <a:fillRect/>
          </a:stretch>
        </p:blipFill>
        <p:spPr bwMode="auto">
          <a:xfrm>
            <a:off x="1371600" y="4343400"/>
            <a:ext cx="6267450" cy="23431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Infrastructure (II)</a:t>
            </a:r>
            <a:endParaRPr lang="en-US" dirty="0"/>
          </a:p>
        </p:txBody>
      </p:sp>
      <p:sp>
        <p:nvSpPr>
          <p:cNvPr id="4" name="Content Placeholder 3"/>
          <p:cNvSpPr>
            <a:spLocks noGrp="1"/>
          </p:cNvSpPr>
          <p:nvPr>
            <p:ph idx="1"/>
          </p:nvPr>
        </p:nvSpPr>
        <p:spPr/>
        <p:txBody>
          <a:bodyPr/>
          <a:lstStyle/>
          <a:p>
            <a:r>
              <a:rPr lang="en-US" sz="2400" dirty="0" smtClean="0"/>
              <a:t>The </a:t>
            </a:r>
            <a:r>
              <a:rPr lang="en-US" sz="2400" i="1" dirty="0" smtClean="0">
                <a:solidFill>
                  <a:srgbClr val="C00000"/>
                </a:solidFill>
              </a:rPr>
              <a:t>brokering and routing</a:t>
            </a:r>
            <a:r>
              <a:rPr lang="en-US" sz="2400" dirty="0" smtClean="0"/>
              <a:t> layer takes care of implementing the technical side of integration. No matter what type of integration we use, this layer should adapt the communication between applications in such way that all participating applications will be able to interoperate.</a:t>
            </a:r>
          </a:p>
          <a:p>
            <a:r>
              <a:rPr lang="en-US" sz="2400" dirty="0" smtClean="0"/>
              <a:t>The </a:t>
            </a:r>
            <a:r>
              <a:rPr lang="en-US" sz="2400" i="1" dirty="0" smtClean="0">
                <a:solidFill>
                  <a:srgbClr val="C00000"/>
                </a:solidFill>
              </a:rPr>
              <a:t>transformation</a:t>
            </a:r>
            <a:r>
              <a:rPr lang="en-US" sz="2400" dirty="0" smtClean="0"/>
              <a:t> layer takes care of transformation of data structures, their representations, and technologies.</a:t>
            </a:r>
          </a:p>
          <a:p>
            <a:r>
              <a:rPr lang="en-US" sz="2400" dirty="0" smtClean="0"/>
              <a:t>The </a:t>
            </a:r>
            <a:r>
              <a:rPr lang="en-US" sz="2400" i="1" dirty="0" smtClean="0">
                <a:solidFill>
                  <a:srgbClr val="C00000"/>
                </a:solidFill>
              </a:rPr>
              <a:t>business intelligence</a:t>
            </a:r>
            <a:r>
              <a:rPr lang="en-US" sz="2400" dirty="0" smtClean="0"/>
              <a:t> layer is responsible for presenting the high-level interface to access business information to other applications and to the users. The business-intelligence layer presents data to users in an understandable form.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Infrastructure (III)</a:t>
            </a:r>
            <a:endParaRPr lang="en-US" dirty="0"/>
          </a:p>
        </p:txBody>
      </p:sp>
      <p:sp>
        <p:nvSpPr>
          <p:cNvPr id="4" name="Content Placeholder 3"/>
          <p:cNvSpPr>
            <a:spLocks noGrp="1"/>
          </p:cNvSpPr>
          <p:nvPr>
            <p:ph idx="1"/>
          </p:nvPr>
        </p:nvSpPr>
        <p:spPr/>
        <p:txBody>
          <a:bodyPr/>
          <a:lstStyle/>
          <a:p>
            <a:r>
              <a:rPr lang="en-US" sz="2200" dirty="0" smtClean="0"/>
              <a:t>The </a:t>
            </a:r>
            <a:r>
              <a:rPr lang="en-US" sz="2200" i="1" dirty="0" smtClean="0">
                <a:solidFill>
                  <a:srgbClr val="C00000"/>
                </a:solidFill>
              </a:rPr>
              <a:t>transactional semantics</a:t>
            </a:r>
            <a:r>
              <a:rPr lang="en-US" sz="2200" dirty="0" smtClean="0"/>
              <a:t> means that any operation performed on one or more applications that causes a state change or changes to permanent data has to be performed as operation that guarantees that the consistency of the system is preserved.</a:t>
            </a:r>
          </a:p>
          <a:p>
            <a:r>
              <a:rPr lang="en-US" sz="2200" dirty="0" smtClean="0"/>
              <a:t>The horizontal services require specific </a:t>
            </a:r>
            <a:r>
              <a:rPr lang="en-US" sz="2200" i="1" dirty="0" smtClean="0">
                <a:solidFill>
                  <a:srgbClr val="C00000"/>
                </a:solidFill>
              </a:rPr>
              <a:t>rules</a:t>
            </a:r>
            <a:r>
              <a:rPr lang="en-US" sz="2200" dirty="0" smtClean="0"/>
              <a:t> for performing communication, brokering, routing, and business-intelligence tasks. These rules should not be hard-coded into applications, but should rather be declaratively specified inside the integration infrastructure.</a:t>
            </a:r>
          </a:p>
          <a:p>
            <a:r>
              <a:rPr lang="en-US" sz="2200" dirty="0" smtClean="0"/>
              <a:t>A </a:t>
            </a:r>
            <a:r>
              <a:rPr lang="en-US" sz="2200" i="1" dirty="0" smtClean="0">
                <a:solidFill>
                  <a:srgbClr val="C00000"/>
                </a:solidFill>
              </a:rPr>
              <a:t>unified naming service</a:t>
            </a:r>
            <a:r>
              <a:rPr lang="en-US" sz="2200" dirty="0" smtClean="0"/>
              <a:t> will allow for the implementation of location transparency and will enable the replacement of one resource with another if this is required.</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752600"/>
            <a:ext cx="8229600" cy="1143000"/>
          </a:xfrm>
        </p:spPr>
        <p:txBody>
          <a:bodyPr/>
          <a:lstStyle/>
          <a:p>
            <a:r>
              <a:rPr lang="en-US" sz="6000" dirty="0" smtClean="0"/>
              <a:t>Integration Technologies</a:t>
            </a:r>
            <a:endParaRPr lang="en-US" sz="6000" dirty="0"/>
          </a:p>
        </p:txBody>
      </p:sp>
      <p:pic>
        <p:nvPicPr>
          <p:cNvPr id="4098" name="Picture 2" descr="http://blogs.biztalk360.com/wp-content/uploads/2013/07/2.png"/>
          <p:cNvPicPr>
            <a:picLocks noChangeAspect="1" noChangeArrowheads="1"/>
          </p:cNvPicPr>
          <p:nvPr/>
        </p:nvPicPr>
        <p:blipFill>
          <a:blip r:embed="rId2" cstate="print"/>
          <a:srcRect/>
          <a:stretch>
            <a:fillRect/>
          </a:stretch>
        </p:blipFill>
        <p:spPr bwMode="auto">
          <a:xfrm>
            <a:off x="3810000" y="3276600"/>
            <a:ext cx="1809750" cy="1809751"/>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Technologies</a:t>
            </a:r>
            <a:endParaRPr lang="en-US" dirty="0"/>
          </a:p>
        </p:txBody>
      </p:sp>
      <p:sp>
        <p:nvSpPr>
          <p:cNvPr id="3" name="Content Placeholder 2"/>
          <p:cNvSpPr>
            <a:spLocks noGrp="1"/>
          </p:cNvSpPr>
          <p:nvPr>
            <p:ph idx="1"/>
          </p:nvPr>
        </p:nvSpPr>
        <p:spPr/>
        <p:txBody>
          <a:bodyPr/>
          <a:lstStyle/>
          <a:p>
            <a:r>
              <a:rPr lang="en-US" sz="2400" dirty="0" smtClean="0"/>
              <a:t>Comprehensive enterprise-wide integration infrastructure usually requires more than one </a:t>
            </a:r>
            <a:r>
              <a:rPr lang="en-US" sz="2400" i="1" dirty="0" smtClean="0">
                <a:solidFill>
                  <a:srgbClr val="C00000"/>
                </a:solidFill>
              </a:rPr>
              <a:t>technology</a:t>
            </a:r>
            <a:r>
              <a:rPr lang="en-US" sz="2400" dirty="0" smtClean="0"/>
              <a:t>.</a:t>
            </a:r>
          </a:p>
          <a:p>
            <a:r>
              <a:rPr lang="en-US" sz="2400" dirty="0" smtClean="0"/>
              <a:t>When selecting and mixing different technologies, we have to focus on their </a:t>
            </a:r>
            <a:r>
              <a:rPr lang="en-US" sz="2400" i="1" dirty="0" smtClean="0">
                <a:solidFill>
                  <a:srgbClr val="C00000"/>
                </a:solidFill>
              </a:rPr>
              <a:t>interoperability</a:t>
            </a:r>
            <a:r>
              <a:rPr lang="en-US" sz="2400" dirty="0" smtClean="0"/>
              <a:t>.</a:t>
            </a:r>
          </a:p>
          <a:p>
            <a:endParaRPr lang="en-US" sz="2400" dirty="0" smtClean="0"/>
          </a:p>
          <a:p>
            <a:r>
              <a:rPr lang="en-US" sz="2400" dirty="0" smtClean="0"/>
              <a:t>Technologies used for integration are often referred to as </a:t>
            </a:r>
            <a:r>
              <a:rPr lang="en-US" sz="2400" i="1" dirty="0" smtClean="0">
                <a:solidFill>
                  <a:srgbClr val="C00000"/>
                </a:solidFill>
              </a:rPr>
              <a:t>middleware</a:t>
            </a:r>
            <a:r>
              <a:rPr lang="en-US" sz="2400" dirty="0" smtClean="0"/>
              <a:t>.</a:t>
            </a:r>
          </a:p>
          <a:p>
            <a:r>
              <a:rPr lang="en-US" sz="2400" dirty="0" smtClean="0"/>
              <a:t>Middleware is system services software that executes between the operating system layer and the application layer and provides services.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Access Technologies</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057400" y="3352800"/>
            <a:ext cx="5495925" cy="2847975"/>
          </a:xfrm>
          <a:prstGeom prst="rect">
            <a:avLst/>
          </a:prstGeom>
          <a:noFill/>
          <a:ln w="9525">
            <a:noFill/>
            <a:miter lim="800000"/>
            <a:headEnd/>
            <a:tailEnd/>
          </a:ln>
          <a:effectLst/>
        </p:spPr>
      </p:pic>
      <p:sp>
        <p:nvSpPr>
          <p:cNvPr id="5" name="Rectangle 4"/>
          <p:cNvSpPr/>
          <p:nvPr/>
        </p:nvSpPr>
        <p:spPr>
          <a:xfrm>
            <a:off x="609600" y="1600200"/>
            <a:ext cx="7924800" cy="1569660"/>
          </a:xfrm>
          <a:prstGeom prst="rect">
            <a:avLst/>
          </a:prstGeom>
        </p:spPr>
        <p:txBody>
          <a:bodyPr wrap="square">
            <a:spAutoFit/>
          </a:bodyPr>
          <a:lstStyle/>
          <a:p>
            <a:pPr algn="ctr"/>
            <a:r>
              <a:rPr lang="en-US" sz="2400" i="1" dirty="0" smtClean="0">
                <a:solidFill>
                  <a:srgbClr val="C00000"/>
                </a:solidFill>
                <a:latin typeface="+mj-lt"/>
              </a:rPr>
              <a:t>Database access technologies</a:t>
            </a:r>
            <a:r>
              <a:rPr lang="en-US" sz="2400" dirty="0" smtClean="0">
                <a:latin typeface="+mj-lt"/>
              </a:rPr>
              <a:t> are frameworks that provide access to the database through an abstraction layer, which enables us to change the actual DBMS without modifying the application source code.</a:t>
            </a:r>
            <a:endParaRPr lang="en-US" sz="24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Message-Oriented Middleware</a:t>
            </a:r>
            <a:endParaRPr lang="en-US" dirty="0"/>
          </a:p>
        </p:txBody>
      </p:sp>
      <p:sp>
        <p:nvSpPr>
          <p:cNvPr id="3" name="Content Placeholder 2"/>
          <p:cNvSpPr>
            <a:spLocks noGrp="1"/>
          </p:cNvSpPr>
          <p:nvPr>
            <p:ph idx="1"/>
          </p:nvPr>
        </p:nvSpPr>
        <p:spPr>
          <a:xfrm>
            <a:off x="457200" y="1600200"/>
            <a:ext cx="4343400" cy="4525963"/>
          </a:xfrm>
        </p:spPr>
        <p:txBody>
          <a:bodyPr/>
          <a:lstStyle/>
          <a:p>
            <a:r>
              <a:rPr lang="en-US" sz="2400" i="1" dirty="0" smtClean="0">
                <a:solidFill>
                  <a:srgbClr val="C00000"/>
                </a:solidFill>
              </a:rPr>
              <a:t>Message-oriented middleware</a:t>
            </a:r>
            <a:r>
              <a:rPr lang="en-US" sz="2400" dirty="0" smtClean="0"/>
              <a:t> (MOM) is a client/server infrastructure that enables and increases interoperability, flexibility, and portability of applications.</a:t>
            </a:r>
          </a:p>
          <a:p>
            <a:endParaRPr lang="en-US" sz="2400" dirty="0" smtClean="0"/>
          </a:p>
          <a:p>
            <a:r>
              <a:rPr lang="en-US" sz="2400" i="1" dirty="0" smtClean="0">
                <a:solidFill>
                  <a:srgbClr val="C00000"/>
                </a:solidFill>
              </a:rPr>
              <a:t>It enables communication</a:t>
            </a:r>
            <a:r>
              <a:rPr lang="en-US" sz="2400" dirty="0" smtClean="0"/>
              <a:t> between applications over distributed and heterogeneous platforms.</a:t>
            </a:r>
          </a:p>
        </p:txBody>
      </p:sp>
      <p:pic>
        <p:nvPicPr>
          <p:cNvPr id="4" name="Picture 2"/>
          <p:cNvPicPr>
            <a:picLocks noChangeAspect="1" noChangeArrowheads="1"/>
          </p:cNvPicPr>
          <p:nvPr/>
        </p:nvPicPr>
        <p:blipFill>
          <a:blip r:embed="rId2" cstate="print"/>
          <a:srcRect/>
          <a:stretch>
            <a:fillRect/>
          </a:stretch>
        </p:blipFill>
        <p:spPr bwMode="auto">
          <a:xfrm>
            <a:off x="4953000" y="1828800"/>
            <a:ext cx="3343275" cy="442912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Procedure Calls</a:t>
            </a:r>
            <a:endParaRPr lang="en-US" dirty="0"/>
          </a:p>
        </p:txBody>
      </p:sp>
      <p:sp>
        <p:nvSpPr>
          <p:cNvPr id="3" name="Content Placeholder 2"/>
          <p:cNvSpPr>
            <a:spLocks noGrp="1"/>
          </p:cNvSpPr>
          <p:nvPr>
            <p:ph idx="1"/>
          </p:nvPr>
        </p:nvSpPr>
        <p:spPr>
          <a:xfrm>
            <a:off x="228600" y="1219200"/>
            <a:ext cx="5486400" cy="5334000"/>
          </a:xfrm>
        </p:spPr>
        <p:txBody>
          <a:bodyPr/>
          <a:lstStyle/>
          <a:p>
            <a:r>
              <a:rPr lang="en-US" sz="1800" i="1" dirty="0" smtClean="0">
                <a:solidFill>
                  <a:srgbClr val="C00000"/>
                </a:solidFill>
              </a:rPr>
              <a:t>Remote Procedure Invocation</a:t>
            </a:r>
            <a:r>
              <a:rPr lang="en-US" sz="1800" dirty="0" smtClean="0"/>
              <a:t> is an integration style that achieves Application to Application (A2A) integration by allowing one application to invoke a function published by a second application. The function in application two, appears as a local function to application one.</a:t>
            </a:r>
          </a:p>
          <a:p>
            <a:r>
              <a:rPr lang="en-US" sz="1800" dirty="0" smtClean="0"/>
              <a:t>The underlying mechanism which generates this </a:t>
            </a:r>
            <a:r>
              <a:rPr lang="en-US" sz="1800" u="sng" dirty="0" smtClean="0"/>
              <a:t>transparency</a:t>
            </a:r>
            <a:r>
              <a:rPr lang="en-US" sz="1800" dirty="0" smtClean="0"/>
              <a:t> is based upon providing a </a:t>
            </a:r>
            <a:r>
              <a:rPr lang="en-US" sz="1800" i="1" dirty="0" smtClean="0">
                <a:solidFill>
                  <a:srgbClr val="C00000"/>
                </a:solidFill>
              </a:rPr>
              <a:t>function stub </a:t>
            </a:r>
            <a:r>
              <a:rPr lang="en-US" sz="1800" dirty="0" smtClean="0"/>
              <a:t>to application one, that when called accesses a middleware layer which transports the call and its associated data to application two.</a:t>
            </a:r>
          </a:p>
          <a:p>
            <a:r>
              <a:rPr lang="en-US" sz="1800" dirty="0" smtClean="0"/>
              <a:t>The </a:t>
            </a:r>
            <a:r>
              <a:rPr lang="en-US" sz="1800" i="1" dirty="0" smtClean="0">
                <a:solidFill>
                  <a:srgbClr val="C00000"/>
                </a:solidFill>
              </a:rPr>
              <a:t>generation of stub functions</a:t>
            </a:r>
            <a:r>
              <a:rPr lang="en-US" sz="1800" dirty="0" smtClean="0"/>
              <a:t> is typically </a:t>
            </a:r>
            <a:r>
              <a:rPr lang="en-US" sz="1800" u="sng" dirty="0" smtClean="0"/>
              <a:t>automated</a:t>
            </a:r>
            <a:r>
              <a:rPr lang="en-US" sz="1800" dirty="0" smtClean="0"/>
              <a:t>, with </a:t>
            </a:r>
            <a:r>
              <a:rPr lang="en-US" sz="1800" u="sng" dirty="0" smtClean="0"/>
              <a:t>tools</a:t>
            </a:r>
            <a:r>
              <a:rPr lang="en-US" sz="1800" dirty="0" smtClean="0"/>
              <a:t> consuming an interface description of the target function and creating the stub veneer.</a:t>
            </a:r>
          </a:p>
          <a:p>
            <a:r>
              <a:rPr lang="en-US" sz="1800" dirty="0" smtClean="0"/>
              <a:t>RPC promotes </a:t>
            </a:r>
            <a:r>
              <a:rPr lang="en-US" sz="1800" i="1" dirty="0" smtClean="0">
                <a:solidFill>
                  <a:srgbClr val="C00000"/>
                </a:solidFill>
              </a:rPr>
              <a:t>synchronous, request-reply communication</a:t>
            </a:r>
            <a:r>
              <a:rPr lang="en-US" sz="1800" dirty="0" smtClean="0"/>
              <a:t> (sometimes referred to as "call/wait"), which blocks the client until the server fulfills its requests.</a:t>
            </a:r>
          </a:p>
        </p:txBody>
      </p:sp>
      <p:pic>
        <p:nvPicPr>
          <p:cNvPr id="4" name="Picture 2"/>
          <p:cNvPicPr>
            <a:picLocks noChangeAspect="1" noChangeArrowheads="1"/>
          </p:cNvPicPr>
          <p:nvPr/>
        </p:nvPicPr>
        <p:blipFill>
          <a:blip r:embed="rId2" cstate="print"/>
          <a:srcRect/>
          <a:stretch>
            <a:fillRect/>
          </a:stretch>
        </p:blipFill>
        <p:spPr bwMode="auto">
          <a:xfrm>
            <a:off x="5638800" y="1295400"/>
            <a:ext cx="3276600" cy="421005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Processing Monitors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Transaction processing (TP) monitors</a:t>
            </a:r>
            <a:r>
              <a:rPr lang="en-US" sz="2400" dirty="0" smtClean="0"/>
              <a:t> are middleware technology based on the concept of transactions.</a:t>
            </a:r>
          </a:p>
          <a:p>
            <a:r>
              <a:rPr lang="en-US" sz="2400" dirty="0" smtClean="0"/>
              <a:t>They </a:t>
            </a:r>
            <a:r>
              <a:rPr lang="en-US" sz="2400" u="sng" dirty="0" smtClean="0"/>
              <a:t>monitor</a:t>
            </a:r>
            <a:r>
              <a:rPr lang="en-US" sz="2400" dirty="0" smtClean="0"/>
              <a:t> and </a:t>
            </a:r>
            <a:r>
              <a:rPr lang="en-US" sz="2400" u="sng" dirty="0" smtClean="0"/>
              <a:t>coordinate transactions</a:t>
            </a:r>
            <a:r>
              <a:rPr lang="en-US" sz="2400" dirty="0" smtClean="0"/>
              <a:t> among </a:t>
            </a:r>
            <a:r>
              <a:rPr lang="en-US" sz="2400" i="1" dirty="0" smtClean="0">
                <a:solidFill>
                  <a:srgbClr val="C00000"/>
                </a:solidFill>
              </a:rPr>
              <a:t>different resources</a:t>
            </a:r>
            <a:r>
              <a:rPr lang="en-US" sz="2400" dirty="0" smtClean="0"/>
              <a:t>.</a:t>
            </a:r>
          </a:p>
          <a:p>
            <a:r>
              <a:rPr lang="en-US" sz="2400" dirty="0" smtClean="0"/>
              <a:t>They provide </a:t>
            </a:r>
            <a:r>
              <a:rPr lang="en-US" sz="2400" i="1" dirty="0" smtClean="0">
                <a:solidFill>
                  <a:srgbClr val="C00000"/>
                </a:solidFill>
              </a:rPr>
              <a:t>performance management</a:t>
            </a:r>
            <a:r>
              <a:rPr lang="en-US" sz="2400" dirty="0" smtClean="0"/>
              <a:t> with load balancing and resource pooling techniques.</a:t>
            </a:r>
          </a:p>
          <a:p>
            <a:r>
              <a:rPr lang="en-US" sz="2400" dirty="0" smtClean="0"/>
              <a:t>They also provide </a:t>
            </a:r>
            <a:r>
              <a:rPr lang="en-US" sz="2400" i="1" dirty="0" smtClean="0">
                <a:solidFill>
                  <a:srgbClr val="C00000"/>
                </a:solidFill>
              </a:rPr>
              <a:t>security management</a:t>
            </a:r>
            <a:r>
              <a:rPr lang="en-US" sz="2400" dirty="0" smtClean="0"/>
              <a:t> where they enable or disable access of clients to certain data and resources.</a:t>
            </a:r>
          </a:p>
          <a:p>
            <a:r>
              <a:rPr lang="en-US" sz="2400" dirty="0" smtClean="0"/>
              <a:t>They are </a:t>
            </a:r>
            <a:r>
              <a:rPr lang="en-US" sz="2400" i="1" dirty="0" smtClean="0">
                <a:solidFill>
                  <a:srgbClr val="C00000"/>
                </a:solidFill>
              </a:rPr>
              <a:t>predecessors</a:t>
            </a:r>
            <a:r>
              <a:rPr lang="en-US" sz="2400" dirty="0" smtClean="0"/>
              <a:t> of today's </a:t>
            </a:r>
            <a:r>
              <a:rPr lang="en-US" sz="2400" u="sng" dirty="0" smtClean="0"/>
              <a:t>application servers</a:t>
            </a:r>
            <a:r>
              <a:rPr lang="en-US" sz="2400" dirty="0" smtClean="0"/>
              <a:t>.</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Request Brokers</a:t>
            </a:r>
            <a:endParaRPr lang="en-US" dirty="0"/>
          </a:p>
        </p:txBody>
      </p:sp>
      <p:sp>
        <p:nvSpPr>
          <p:cNvPr id="3" name="Content Placeholder 2"/>
          <p:cNvSpPr>
            <a:spLocks noGrp="1"/>
          </p:cNvSpPr>
          <p:nvPr>
            <p:ph idx="1"/>
          </p:nvPr>
        </p:nvSpPr>
        <p:spPr>
          <a:xfrm>
            <a:off x="457200" y="1600200"/>
            <a:ext cx="3962400" cy="4525963"/>
          </a:xfrm>
        </p:spPr>
        <p:txBody>
          <a:bodyPr/>
          <a:lstStyle/>
          <a:p>
            <a:r>
              <a:rPr lang="en-US" sz="2400" i="1" dirty="0" smtClean="0">
                <a:solidFill>
                  <a:srgbClr val="C00000"/>
                </a:solidFill>
              </a:rPr>
              <a:t>Object request brokers</a:t>
            </a:r>
            <a:r>
              <a:rPr lang="en-US" sz="2400" dirty="0" smtClean="0"/>
              <a:t> (ORBs) are a middleware technology that manages and supports the communication between distributed objects or components.</a:t>
            </a:r>
          </a:p>
          <a:p>
            <a:r>
              <a:rPr lang="en-US" sz="2400" dirty="0" smtClean="0"/>
              <a:t>Java RMI and RMI-IIOP</a:t>
            </a:r>
          </a:p>
          <a:p>
            <a:r>
              <a:rPr lang="en-US" sz="2400" dirty="0" smtClean="0"/>
              <a:t>Microsoft COM/DCOM/COM+/.NET </a:t>
            </a:r>
            <a:r>
              <a:rPr lang="en-US" sz="2400" dirty="0" err="1" smtClean="0"/>
              <a:t>Remoting</a:t>
            </a:r>
            <a:r>
              <a:rPr lang="en-US" sz="2400" dirty="0" smtClean="0"/>
              <a:t>/WCF</a:t>
            </a:r>
          </a:p>
        </p:txBody>
      </p:sp>
      <p:pic>
        <p:nvPicPr>
          <p:cNvPr id="4" name="Picture 2"/>
          <p:cNvPicPr>
            <a:picLocks noChangeAspect="1" noChangeArrowheads="1"/>
          </p:cNvPicPr>
          <p:nvPr/>
        </p:nvPicPr>
        <p:blipFill>
          <a:blip r:embed="rId2" cstate="print"/>
          <a:srcRect/>
          <a:stretch>
            <a:fillRect/>
          </a:stretch>
        </p:blipFill>
        <p:spPr bwMode="auto">
          <a:xfrm>
            <a:off x="4495800" y="2209800"/>
            <a:ext cx="4305300" cy="353377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Services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Web service</a:t>
            </a:r>
            <a:r>
              <a:rPr lang="en-US" sz="2400" dirty="0" smtClean="0"/>
              <a:t> is a technology that fulfills the universal </a:t>
            </a:r>
            <a:r>
              <a:rPr lang="en-US" sz="2400" u="sng" dirty="0" smtClean="0"/>
              <a:t>interoperability</a:t>
            </a:r>
            <a:r>
              <a:rPr lang="en-US" sz="2400" dirty="0" smtClean="0"/>
              <a:t> promise between applications running on disparate platforms.</a:t>
            </a:r>
          </a:p>
          <a:p>
            <a:r>
              <a:rPr lang="en-US" sz="2400" i="1" dirty="0" smtClean="0">
                <a:solidFill>
                  <a:srgbClr val="C00000"/>
                </a:solidFill>
              </a:rPr>
              <a:t>The fundamental specifications</a:t>
            </a:r>
            <a:r>
              <a:rPr lang="en-US" sz="2400" dirty="0" smtClean="0"/>
              <a:t> that web services are based on are </a:t>
            </a:r>
          </a:p>
          <a:p>
            <a:pPr lvl="1"/>
            <a:r>
              <a:rPr lang="en-US" sz="2000" dirty="0" smtClean="0"/>
              <a:t>SOAP (Simple Object Access Protocol),</a:t>
            </a:r>
          </a:p>
          <a:p>
            <a:pPr lvl="1"/>
            <a:r>
              <a:rPr lang="en-US" sz="2000" dirty="0" smtClean="0"/>
              <a:t>WSDL (Web Services Description Language), and</a:t>
            </a:r>
          </a:p>
          <a:p>
            <a:pPr lvl="1"/>
            <a:r>
              <a:rPr lang="en-US" sz="2000" dirty="0" smtClean="0"/>
              <a:t>UDDI (Universal Description, Discovery, and Integration).</a:t>
            </a:r>
          </a:p>
          <a:p>
            <a:pPr lvl="1"/>
            <a:r>
              <a:rPr lang="en-US" sz="2000" dirty="0" smtClean="0"/>
              <a:t>SOAP, WSDL, and UDDI are </a:t>
            </a:r>
            <a:r>
              <a:rPr lang="en-US" sz="2000" i="1" dirty="0" smtClean="0">
                <a:solidFill>
                  <a:srgbClr val="C00000"/>
                </a:solidFill>
              </a:rPr>
              <a:t>XML based</a:t>
            </a:r>
            <a:r>
              <a:rPr lang="en-US" sz="2000" dirty="0" smtClean="0"/>
              <a:t>, making web services protocol messages and descriptions human readable.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Servers</a:t>
            </a:r>
            <a:endParaRPr lang="en-US" dirty="0"/>
          </a:p>
        </p:txBody>
      </p:sp>
      <p:sp>
        <p:nvSpPr>
          <p:cNvPr id="3" name="Content Placeholder 2"/>
          <p:cNvSpPr>
            <a:spLocks noGrp="1"/>
          </p:cNvSpPr>
          <p:nvPr>
            <p:ph idx="1"/>
          </p:nvPr>
        </p:nvSpPr>
        <p:spPr/>
        <p:txBody>
          <a:bodyPr/>
          <a:lstStyle/>
          <a:p>
            <a:r>
              <a:rPr lang="en-US" sz="2400" dirty="0" smtClean="0"/>
              <a:t>The </a:t>
            </a:r>
            <a:r>
              <a:rPr lang="en-US" sz="2400" i="1" dirty="0" smtClean="0">
                <a:solidFill>
                  <a:srgbClr val="C00000"/>
                </a:solidFill>
              </a:rPr>
              <a:t>application servers</a:t>
            </a:r>
            <a:r>
              <a:rPr lang="en-US" sz="2400" dirty="0" smtClean="0"/>
              <a:t> are software platforms.</a:t>
            </a:r>
          </a:p>
          <a:p>
            <a:r>
              <a:rPr lang="en-US" sz="2400" dirty="0" smtClean="0"/>
              <a:t>A </a:t>
            </a:r>
            <a:r>
              <a:rPr lang="en-US" sz="2400" i="1" dirty="0" smtClean="0">
                <a:solidFill>
                  <a:srgbClr val="C00000"/>
                </a:solidFill>
              </a:rPr>
              <a:t>software platform</a:t>
            </a:r>
            <a:r>
              <a:rPr lang="en-US" sz="2400" dirty="0" smtClean="0"/>
              <a:t> is a combination of software technologies necessary to run applications.</a:t>
            </a:r>
          </a:p>
          <a:p>
            <a:r>
              <a:rPr lang="en-US" sz="2400" dirty="0" smtClean="0"/>
              <a:t>The software platforms define the </a:t>
            </a:r>
            <a:r>
              <a:rPr lang="en-US" sz="2400" i="1" dirty="0" smtClean="0">
                <a:solidFill>
                  <a:srgbClr val="C00000"/>
                </a:solidFill>
              </a:rPr>
              <a:t>infrastructure</a:t>
            </a:r>
            <a:r>
              <a:rPr lang="en-US" sz="2400" dirty="0" smtClean="0"/>
              <a:t> of all applications developed and executed on them.</a:t>
            </a:r>
          </a:p>
          <a:p>
            <a:r>
              <a:rPr lang="en-US" sz="2400" dirty="0" smtClean="0"/>
              <a:t>In the majority of application servers, we can find </a:t>
            </a:r>
            <a:r>
              <a:rPr lang="en-US" sz="2400" i="1" dirty="0" smtClean="0">
                <a:solidFill>
                  <a:srgbClr val="C00000"/>
                </a:solidFill>
              </a:rPr>
              <a:t>support for</a:t>
            </a:r>
            <a:r>
              <a:rPr lang="en-US" sz="2400" dirty="0" smtClean="0"/>
              <a:t> web services, ORBs, MOM, transaction management, security, load balancing, and resource management.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API Layer</a:t>
            </a:r>
            <a:endParaRPr lang="en-US" dirty="0"/>
          </a:p>
        </p:txBody>
      </p:sp>
      <p:sp>
        <p:nvSpPr>
          <p:cNvPr id="3" name="Content Placeholder 2"/>
          <p:cNvSpPr>
            <a:spLocks noGrp="1"/>
          </p:cNvSpPr>
          <p:nvPr>
            <p:ph idx="1"/>
          </p:nvPr>
        </p:nvSpPr>
        <p:spPr>
          <a:xfrm>
            <a:off x="457200" y="1600200"/>
            <a:ext cx="4114800" cy="4525963"/>
          </a:xfrm>
        </p:spPr>
        <p:txBody>
          <a:bodyPr/>
          <a:lstStyle/>
          <a:p>
            <a:r>
              <a:rPr lang="en-US" sz="2400" dirty="0" smtClean="0"/>
              <a:t>An API layer (or Service Layer) provides a set of APIs to access data and/or functionality.</a:t>
            </a:r>
          </a:p>
          <a:p>
            <a:r>
              <a:rPr lang="en-US" sz="2400" dirty="0" smtClean="0"/>
              <a:t>Typically implemented using REST or SOAP services over HTTP, it provides decoupling of backend systems and applications from the clients that access them.</a:t>
            </a:r>
            <a:endParaRPr lang="en-US" sz="2400" dirty="0"/>
          </a:p>
        </p:txBody>
      </p:sp>
      <p:pic>
        <p:nvPicPr>
          <p:cNvPr id="69634" name="Picture 2" descr="https://blogs.mulesoft.com/wp-content/uploads/2011/08/api-layer-arch.png"/>
          <p:cNvPicPr>
            <a:picLocks noChangeAspect="1" noChangeArrowheads="1"/>
          </p:cNvPicPr>
          <p:nvPr/>
        </p:nvPicPr>
        <p:blipFill>
          <a:blip r:embed="rId2" cstate="print"/>
          <a:srcRect/>
          <a:stretch>
            <a:fillRect/>
          </a:stretch>
        </p:blipFill>
        <p:spPr bwMode="auto">
          <a:xfrm>
            <a:off x="5029200" y="2286000"/>
            <a:ext cx="3324225" cy="2238376"/>
          </a:xfrm>
          <a:prstGeom prst="rect">
            <a:avLst/>
          </a:prstGeom>
          <a:noFill/>
        </p:spPr>
      </p:pic>
      <p:sp>
        <p:nvSpPr>
          <p:cNvPr id="6" name="Rectangle 5"/>
          <p:cNvSpPr/>
          <p:nvPr/>
        </p:nvSpPr>
        <p:spPr>
          <a:xfrm>
            <a:off x="533400" y="5715000"/>
            <a:ext cx="8077200" cy="369332"/>
          </a:xfrm>
          <a:prstGeom prst="rect">
            <a:avLst/>
          </a:prstGeom>
        </p:spPr>
        <p:txBody>
          <a:bodyPr wrap="square">
            <a:spAutoFit/>
          </a:bodyPr>
          <a:lstStyle/>
          <a:p>
            <a:r>
              <a:rPr lang="en-US" dirty="0" smtClean="0">
                <a:latin typeface="+mj-lt"/>
                <a:hlinkClick r:id="rId3"/>
              </a:rPr>
              <a:t>https://blogs.mulesoft.com/dev/mule-dev/esb-or-not-to-esb-revisited-part-3/</a:t>
            </a:r>
            <a:endParaRPr lang="en-US"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Enterprise Service Buses</a:t>
            </a:r>
            <a:endParaRPr lang="en-US" dirty="0"/>
          </a:p>
        </p:txBody>
      </p:sp>
      <p:sp>
        <p:nvSpPr>
          <p:cNvPr id="3" name="Content Placeholder 2"/>
          <p:cNvSpPr>
            <a:spLocks noGrp="1"/>
          </p:cNvSpPr>
          <p:nvPr>
            <p:ph idx="1"/>
          </p:nvPr>
        </p:nvSpPr>
        <p:spPr/>
        <p:txBody>
          <a:bodyPr/>
          <a:lstStyle/>
          <a:p>
            <a:r>
              <a:rPr lang="en-US" sz="2400" dirty="0" smtClean="0"/>
              <a:t>An </a:t>
            </a:r>
            <a:r>
              <a:rPr lang="en-US" sz="2400" i="1" dirty="0" smtClean="0">
                <a:solidFill>
                  <a:srgbClr val="C00000"/>
                </a:solidFill>
              </a:rPr>
              <a:t>Enterprise Service Bus (ESB)</a:t>
            </a:r>
            <a:r>
              <a:rPr lang="en-US" sz="2400" dirty="0" smtClean="0"/>
              <a:t> is a </a:t>
            </a:r>
            <a:r>
              <a:rPr lang="en-US" sz="2400" u="sng" dirty="0" smtClean="0"/>
              <a:t>software infrastructure</a:t>
            </a:r>
            <a:r>
              <a:rPr lang="en-US" sz="2400" dirty="0" smtClean="0"/>
              <a:t> acting as an </a:t>
            </a:r>
            <a:r>
              <a:rPr lang="en-US" sz="2400" u="sng" dirty="0" smtClean="0"/>
              <a:t>intermediary layer</a:t>
            </a:r>
            <a:r>
              <a:rPr lang="en-US" sz="2400" dirty="0" smtClean="0"/>
              <a:t> of middleware that addresses the extended requirements that usually cannot be fulfilled by web services, such as integration between web services and other middleware technologies and products, higher level of dependency, robustness, and security, management, and control of services and their communication.</a:t>
            </a:r>
          </a:p>
          <a:p>
            <a:r>
              <a:rPr lang="en-US" sz="2400" dirty="0" smtClean="0"/>
              <a:t>An ESB can act as </a:t>
            </a:r>
            <a:r>
              <a:rPr lang="en-US" sz="2400" i="1" dirty="0" smtClean="0">
                <a:solidFill>
                  <a:srgbClr val="C00000"/>
                </a:solidFill>
              </a:rPr>
              <a:t>a mediator</a:t>
            </a:r>
            <a:r>
              <a:rPr lang="en-US" sz="2400" dirty="0" smtClean="0"/>
              <a:t> between different, often incompatible, protocols and middleware products.</a:t>
            </a:r>
          </a:p>
          <a:p>
            <a:r>
              <a:rPr lang="en-US" sz="2400" dirty="0" smtClean="0"/>
              <a:t>Read more: David Chappell (2004). Enterprise Service Bus. O'Reilly Media.</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ESB is an Architecture</a:t>
            </a:r>
            <a:endParaRPr lang="en-US" dirty="0"/>
          </a:p>
        </p:txBody>
      </p:sp>
      <p:sp>
        <p:nvSpPr>
          <p:cNvPr id="3" name="Content Placeholder 2"/>
          <p:cNvSpPr>
            <a:spLocks noGrp="1"/>
          </p:cNvSpPr>
          <p:nvPr>
            <p:ph idx="1"/>
          </p:nvPr>
        </p:nvSpPr>
        <p:spPr>
          <a:xfrm>
            <a:off x="457200" y="1600200"/>
            <a:ext cx="4876800" cy="4525963"/>
          </a:xfrm>
        </p:spPr>
        <p:txBody>
          <a:bodyPr/>
          <a:lstStyle/>
          <a:p>
            <a:r>
              <a:rPr lang="en-US" sz="2400" dirty="0" smtClean="0"/>
              <a:t>The ‘bus’ concept decouples applications from each other, this is usually achieved using a messaging server like JMS or AMQP.</a:t>
            </a:r>
          </a:p>
          <a:p>
            <a:r>
              <a:rPr lang="en-US" sz="2400" dirty="0" smtClean="0"/>
              <a:t>The data that travels on the bus is a canonical format and is almost always XML.</a:t>
            </a:r>
          </a:p>
          <a:p>
            <a:r>
              <a:rPr lang="en-US" sz="2400" dirty="0" smtClean="0"/>
              <a:t>There is an ‘Adapter’ between the application and the bus that marshals data between the two</a:t>
            </a:r>
            <a:endParaRPr lang="en-US" sz="2400" dirty="0"/>
          </a:p>
        </p:txBody>
      </p:sp>
      <p:pic>
        <p:nvPicPr>
          <p:cNvPr id="1028" name="Picture 4" descr="https://blogs.mulesoft.com/wp-content/uploads/2011/06/esb-basic2.png"/>
          <p:cNvPicPr>
            <a:picLocks noChangeAspect="1" noChangeArrowheads="1"/>
          </p:cNvPicPr>
          <p:nvPr/>
        </p:nvPicPr>
        <p:blipFill>
          <a:blip r:embed="rId2" cstate="print"/>
          <a:srcRect/>
          <a:stretch>
            <a:fillRect/>
          </a:stretch>
        </p:blipFill>
        <p:spPr bwMode="auto">
          <a:xfrm>
            <a:off x="5486400" y="1676400"/>
            <a:ext cx="2990850" cy="3714751"/>
          </a:xfrm>
          <a:prstGeom prst="rect">
            <a:avLst/>
          </a:prstGeom>
          <a:noFill/>
        </p:spPr>
      </p:pic>
      <p:sp>
        <p:nvSpPr>
          <p:cNvPr id="6" name="Rectangle 5"/>
          <p:cNvSpPr/>
          <p:nvPr/>
        </p:nvSpPr>
        <p:spPr>
          <a:xfrm>
            <a:off x="533400" y="6019800"/>
            <a:ext cx="8077200" cy="369332"/>
          </a:xfrm>
          <a:prstGeom prst="rect">
            <a:avLst/>
          </a:prstGeom>
        </p:spPr>
        <p:txBody>
          <a:bodyPr wrap="square">
            <a:spAutoFit/>
          </a:bodyPr>
          <a:lstStyle/>
          <a:p>
            <a:r>
              <a:rPr lang="en-US" dirty="0" smtClean="0">
                <a:latin typeface="+mj-lt"/>
                <a:hlinkClick r:id="rId3"/>
              </a:rPr>
              <a:t>https://blogs.mulesoft.com/dev/mule-dev/esb-or-not-to-esb-revisited-part-1/</a:t>
            </a:r>
            <a:endParaRPr lang="en-US" dirty="0">
              <a:latin typeface="+mj-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ESB</a:t>
            </a:r>
            <a:endParaRPr lang="en-US" dirty="0"/>
          </a:p>
        </p:txBody>
      </p:sp>
      <p:sp>
        <p:nvSpPr>
          <p:cNvPr id="3" name="Content Placeholder 2"/>
          <p:cNvSpPr>
            <a:spLocks noGrp="1"/>
          </p:cNvSpPr>
          <p:nvPr>
            <p:ph idx="1"/>
          </p:nvPr>
        </p:nvSpPr>
        <p:spPr>
          <a:xfrm>
            <a:off x="457200" y="1600200"/>
            <a:ext cx="5105400" cy="4525963"/>
          </a:xfrm>
        </p:spPr>
        <p:txBody>
          <a:bodyPr/>
          <a:lstStyle/>
          <a:p>
            <a:r>
              <a:rPr lang="en-US" sz="2000" dirty="0" smtClean="0"/>
              <a:t>In reality, there is a messaging server such as JMS, AMQP, </a:t>
            </a:r>
            <a:r>
              <a:rPr lang="en-US" sz="2000" dirty="0" err="1" smtClean="0"/>
              <a:t>Tibco</a:t>
            </a:r>
            <a:r>
              <a:rPr lang="en-US" sz="2000" dirty="0" smtClean="0"/>
              <a:t> RV or </a:t>
            </a:r>
            <a:r>
              <a:rPr lang="en-US" sz="2000" dirty="0" err="1" smtClean="0"/>
              <a:t>WebsphereMQ</a:t>
            </a:r>
            <a:r>
              <a:rPr lang="en-US" sz="2000" dirty="0" smtClean="0"/>
              <a:t> used as the communication channel.</a:t>
            </a:r>
          </a:p>
          <a:p>
            <a:r>
              <a:rPr lang="en-US" sz="2000" dirty="0" smtClean="0"/>
              <a:t>The messaging server is responsible for delivering the messages between application adapters.</a:t>
            </a:r>
          </a:p>
          <a:p>
            <a:r>
              <a:rPr lang="en-US" sz="2000" dirty="0" smtClean="0"/>
              <a:t>So in truth, the Bus is real as the set of the queue through which data can be sent and received. </a:t>
            </a:r>
          </a:p>
          <a:p>
            <a:r>
              <a:rPr lang="en-US" sz="2000" dirty="0" smtClean="0"/>
              <a:t>The ESB Adapter is really where a lot of the magic happens.</a:t>
            </a:r>
          </a:p>
          <a:p>
            <a:r>
              <a:rPr lang="en-US" sz="2000" dirty="0" smtClean="0"/>
              <a:t>This is where data marshaling, transformation, security, transaction management and mediation is handled. </a:t>
            </a:r>
            <a:endParaRPr lang="en-US" sz="2000" dirty="0"/>
          </a:p>
        </p:txBody>
      </p:sp>
      <p:pic>
        <p:nvPicPr>
          <p:cNvPr id="68610" name="Picture 2" descr="https://blogs.mulesoft.com/wp-content/uploads/2011/06/esb-basic3.png"/>
          <p:cNvPicPr>
            <a:picLocks noChangeAspect="1" noChangeArrowheads="1"/>
          </p:cNvPicPr>
          <p:nvPr/>
        </p:nvPicPr>
        <p:blipFill>
          <a:blip r:embed="rId2" cstate="print"/>
          <a:srcRect/>
          <a:stretch>
            <a:fillRect/>
          </a:stretch>
        </p:blipFill>
        <p:spPr bwMode="auto">
          <a:xfrm>
            <a:off x="5715000" y="1752600"/>
            <a:ext cx="2990850" cy="386715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a:t>
            </a:r>
            <a:r>
              <a:rPr lang="en-US" dirty="0" smtClean="0"/>
              <a:t>with </a:t>
            </a:r>
            <a:r>
              <a:rPr lang="en-US" dirty="0" smtClean="0"/>
              <a:t>ESB</a:t>
            </a:r>
            <a:endParaRPr lang="en-US" dirty="0"/>
          </a:p>
        </p:txBody>
      </p:sp>
      <p:sp>
        <p:nvSpPr>
          <p:cNvPr id="3" name="Content Placeholder 2"/>
          <p:cNvSpPr>
            <a:spLocks noGrp="1"/>
          </p:cNvSpPr>
          <p:nvPr>
            <p:ph idx="1"/>
          </p:nvPr>
        </p:nvSpPr>
        <p:spPr/>
        <p:txBody>
          <a:bodyPr/>
          <a:lstStyle/>
          <a:p>
            <a:r>
              <a:rPr lang="en-US" sz="2000" dirty="0" smtClean="0"/>
              <a:t>Defining canonical message format.  This is not an easy process since you need to define a message that suits the different needs of the applications you are integrating.  Typically there is a common section for all applications and then additional payloads or attachments to allow for varied content.</a:t>
            </a:r>
          </a:p>
          <a:p>
            <a:r>
              <a:rPr lang="en-US" sz="2000" dirty="0" smtClean="0"/>
              <a:t>Defining adapter architecture. Given that you create an adapter for each application, you’ll want to make it as standard as possible so that it can be stamped out quickly for new applications. Typically the adapter takes care of data translation, validation, message routing, etc.</a:t>
            </a:r>
          </a:p>
          <a:p>
            <a:r>
              <a:rPr lang="en-US" sz="2000" dirty="0" smtClean="0"/>
              <a:t>There is a learning curve for developers since ESB have new concepts such as endpoints, connectors, and components that are not always familiar. Also, the ESB architecture is typically asynchronous and uses messaging for communication, many developers will not have thought about systems in this way. </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219200"/>
            <a:ext cx="8229600" cy="1143000"/>
          </a:xfrm>
        </p:spPr>
        <p:txBody>
          <a:bodyPr/>
          <a:lstStyle/>
          <a:p>
            <a:r>
              <a:rPr lang="en-US" sz="6000" dirty="0" smtClean="0"/>
              <a:t>Integration Styles [2]</a:t>
            </a:r>
            <a:endParaRPr lang="en-US" sz="6000" dirty="0"/>
          </a:p>
        </p:txBody>
      </p:sp>
      <p:pic>
        <p:nvPicPr>
          <p:cNvPr id="54275" name="Picture 3"/>
          <p:cNvPicPr>
            <a:picLocks noChangeAspect="1" noChangeArrowheads="1"/>
          </p:cNvPicPr>
          <p:nvPr/>
        </p:nvPicPr>
        <p:blipFill>
          <a:blip r:embed="rId2" cstate="print"/>
          <a:srcRect/>
          <a:stretch>
            <a:fillRect/>
          </a:stretch>
        </p:blipFill>
        <p:spPr bwMode="auto">
          <a:xfrm>
            <a:off x="1190625" y="2714625"/>
            <a:ext cx="6762750" cy="3838575"/>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Transfer</a:t>
            </a:r>
            <a:endParaRPr lang="en-US" dirty="0"/>
          </a:p>
        </p:txBody>
      </p:sp>
      <p:sp>
        <p:nvSpPr>
          <p:cNvPr id="3" name="Content Placeholder 2"/>
          <p:cNvSpPr>
            <a:spLocks noGrp="1"/>
          </p:cNvSpPr>
          <p:nvPr>
            <p:ph idx="1"/>
          </p:nvPr>
        </p:nvSpPr>
        <p:spPr/>
        <p:txBody>
          <a:bodyPr>
            <a:normAutofit/>
          </a:bodyPr>
          <a:lstStyle/>
          <a:p>
            <a:r>
              <a:rPr lang="en-US" sz="2400" dirty="0" smtClean="0"/>
              <a:t>An enterprise has multiple applications that are being built independently, with </a:t>
            </a:r>
            <a:r>
              <a:rPr lang="en-US" sz="2400" i="1" dirty="0" smtClean="0">
                <a:solidFill>
                  <a:srgbClr val="C00000"/>
                </a:solidFill>
              </a:rPr>
              <a:t>different languages and platforms</a:t>
            </a:r>
            <a:r>
              <a:rPr lang="en-US" sz="2400" dirty="0" smtClean="0"/>
              <a:t>.</a:t>
            </a:r>
          </a:p>
          <a:p>
            <a:r>
              <a:rPr lang="en-US" sz="2400" dirty="0" smtClean="0"/>
              <a:t>How can I integrate multiple applications so that they work together and can </a:t>
            </a:r>
            <a:r>
              <a:rPr lang="en-US" sz="2400" i="1" dirty="0" smtClean="0">
                <a:solidFill>
                  <a:srgbClr val="C00000"/>
                </a:solidFill>
              </a:rPr>
              <a:t>exchange information</a:t>
            </a:r>
            <a:r>
              <a:rPr lang="en-US" sz="2400" dirty="0" smtClean="0"/>
              <a:t>?</a:t>
            </a:r>
          </a:p>
          <a:p>
            <a:r>
              <a:rPr lang="en-US" sz="2400" dirty="0" smtClean="0"/>
              <a:t>File Transfer — Have each application produce </a:t>
            </a:r>
            <a:r>
              <a:rPr lang="en-US" sz="2400" i="1" dirty="0" smtClean="0">
                <a:solidFill>
                  <a:srgbClr val="C00000"/>
                </a:solidFill>
              </a:rPr>
              <a:t>files of shared data</a:t>
            </a:r>
            <a:r>
              <a:rPr lang="en-US" sz="2400" dirty="0" smtClean="0"/>
              <a:t> for others to consume, and consume files that others have produced.</a:t>
            </a:r>
          </a:p>
        </p:txBody>
      </p:sp>
      <p:pic>
        <p:nvPicPr>
          <p:cNvPr id="1026" name="Picture 2"/>
          <p:cNvPicPr>
            <a:picLocks noChangeAspect="1" noChangeArrowheads="1"/>
          </p:cNvPicPr>
          <p:nvPr/>
        </p:nvPicPr>
        <p:blipFill>
          <a:blip r:embed="rId2" cstate="print"/>
          <a:srcRect/>
          <a:stretch>
            <a:fillRect/>
          </a:stretch>
        </p:blipFill>
        <p:spPr bwMode="auto">
          <a:xfrm>
            <a:off x="2314575" y="4619625"/>
            <a:ext cx="4514850" cy="155257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Shared Database</a:t>
            </a:r>
            <a:endParaRPr lang="en-US" dirty="0"/>
          </a:p>
        </p:txBody>
      </p:sp>
      <p:sp>
        <p:nvSpPr>
          <p:cNvPr id="3" name="Content Placeholder 2"/>
          <p:cNvSpPr>
            <a:spLocks noGrp="1"/>
          </p:cNvSpPr>
          <p:nvPr>
            <p:ph idx="1"/>
          </p:nvPr>
        </p:nvSpPr>
        <p:spPr>
          <a:xfrm>
            <a:off x="457200" y="1371600"/>
            <a:ext cx="8229600" cy="4525963"/>
          </a:xfrm>
        </p:spPr>
        <p:txBody>
          <a:bodyPr>
            <a:normAutofit/>
          </a:bodyPr>
          <a:lstStyle/>
          <a:p>
            <a:r>
              <a:rPr lang="en-US" sz="2400" dirty="0" smtClean="0"/>
              <a:t>An enterprise has multiple applications that are being built independently, with different languages and platforms. The enterprise needs information to be shared </a:t>
            </a:r>
            <a:r>
              <a:rPr lang="en-US" sz="2400" i="1" dirty="0" smtClean="0">
                <a:solidFill>
                  <a:srgbClr val="C00000"/>
                </a:solidFill>
              </a:rPr>
              <a:t>rapidly and consistently</a:t>
            </a:r>
            <a:r>
              <a:rPr lang="en-US" sz="2400" dirty="0" smtClean="0"/>
              <a:t>.</a:t>
            </a:r>
          </a:p>
          <a:p>
            <a:r>
              <a:rPr lang="en-US" sz="2400" dirty="0" smtClean="0"/>
              <a:t>How can I integrate multiple applications so that they work together and can exchange information? </a:t>
            </a:r>
          </a:p>
          <a:p>
            <a:r>
              <a:rPr lang="en-US" sz="2400" dirty="0" smtClean="0"/>
              <a:t>Shared Database — Have the applications store the data they wish to share in a </a:t>
            </a:r>
            <a:r>
              <a:rPr lang="en-US" sz="2400" i="1" dirty="0" smtClean="0">
                <a:solidFill>
                  <a:srgbClr val="C00000"/>
                </a:solidFill>
              </a:rPr>
              <a:t>common database</a:t>
            </a:r>
            <a:r>
              <a:rPr lang="en-US" sz="2400" dirty="0" smtClean="0"/>
              <a:t>.</a:t>
            </a:r>
          </a:p>
        </p:txBody>
      </p:sp>
      <p:pic>
        <p:nvPicPr>
          <p:cNvPr id="2050" name="Picture 2"/>
          <p:cNvPicPr>
            <a:picLocks noChangeAspect="1" noChangeArrowheads="1"/>
          </p:cNvPicPr>
          <p:nvPr/>
        </p:nvPicPr>
        <p:blipFill>
          <a:blip r:embed="rId2" cstate="print"/>
          <a:srcRect/>
          <a:stretch>
            <a:fillRect/>
          </a:stretch>
        </p:blipFill>
        <p:spPr bwMode="auto">
          <a:xfrm>
            <a:off x="2581275" y="4572000"/>
            <a:ext cx="3981450" cy="21717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Procedure Invocation</a:t>
            </a:r>
            <a:endParaRPr lang="en-US" dirty="0"/>
          </a:p>
        </p:txBody>
      </p:sp>
      <p:sp>
        <p:nvSpPr>
          <p:cNvPr id="3" name="Content Placeholder 2"/>
          <p:cNvSpPr>
            <a:spLocks noGrp="1"/>
          </p:cNvSpPr>
          <p:nvPr>
            <p:ph idx="1"/>
          </p:nvPr>
        </p:nvSpPr>
        <p:spPr>
          <a:xfrm>
            <a:off x="457200" y="1219201"/>
            <a:ext cx="8229600" cy="3657600"/>
          </a:xfrm>
        </p:spPr>
        <p:txBody>
          <a:bodyPr>
            <a:normAutofit/>
          </a:bodyPr>
          <a:lstStyle/>
          <a:p>
            <a:r>
              <a:rPr lang="en-US" sz="2200" dirty="0" smtClean="0"/>
              <a:t>An enterprise has multiple applications that are being built independently, with different languages and platforms. The enterprise needs to share data and processes in a responsive way.</a:t>
            </a:r>
          </a:p>
          <a:p>
            <a:r>
              <a:rPr lang="en-US" sz="2200" dirty="0" smtClean="0"/>
              <a:t>How can I integrate multiple applications so that they work together and can exchange information?</a:t>
            </a:r>
          </a:p>
          <a:p>
            <a:r>
              <a:rPr lang="en-US" sz="2200" dirty="0" smtClean="0"/>
              <a:t>File Transfer and Shared Database enable applications to share their data, but not their </a:t>
            </a:r>
            <a:r>
              <a:rPr lang="en-US" sz="2200" i="1" dirty="0" smtClean="0">
                <a:solidFill>
                  <a:srgbClr val="C00000"/>
                </a:solidFill>
              </a:rPr>
              <a:t>functionality</a:t>
            </a:r>
            <a:r>
              <a:rPr lang="en-US" sz="2200" dirty="0" smtClean="0"/>
              <a:t>.</a:t>
            </a:r>
          </a:p>
          <a:p>
            <a:r>
              <a:rPr lang="en-US" sz="2200" dirty="0" smtClean="0"/>
              <a:t>Remote Procedure Invocation — Have each application </a:t>
            </a:r>
            <a:r>
              <a:rPr lang="en-US" sz="2200" i="1" dirty="0" smtClean="0">
                <a:solidFill>
                  <a:srgbClr val="C00000"/>
                </a:solidFill>
              </a:rPr>
              <a:t>expose some of its procedures</a:t>
            </a:r>
            <a:r>
              <a:rPr lang="en-US" sz="2200" dirty="0" smtClean="0"/>
              <a:t> so that they can be invoked remotely, and have applications invoke those to run behavior and exchange data.</a:t>
            </a:r>
          </a:p>
        </p:txBody>
      </p:sp>
      <p:pic>
        <p:nvPicPr>
          <p:cNvPr id="3075" name="Picture 3"/>
          <p:cNvPicPr>
            <a:picLocks noChangeAspect="1" noChangeArrowheads="1"/>
          </p:cNvPicPr>
          <p:nvPr/>
        </p:nvPicPr>
        <p:blipFill>
          <a:blip r:embed="rId2" cstate="print"/>
          <a:srcRect/>
          <a:stretch>
            <a:fillRect/>
          </a:stretch>
        </p:blipFill>
        <p:spPr bwMode="auto">
          <a:xfrm>
            <a:off x="2438400" y="5105400"/>
            <a:ext cx="3810000" cy="155257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Bus</a:t>
            </a:r>
            <a:endParaRPr lang="en-US" dirty="0"/>
          </a:p>
        </p:txBody>
      </p:sp>
      <p:sp>
        <p:nvSpPr>
          <p:cNvPr id="3" name="Content Placeholder 2"/>
          <p:cNvSpPr>
            <a:spLocks noGrp="1"/>
          </p:cNvSpPr>
          <p:nvPr>
            <p:ph idx="1"/>
          </p:nvPr>
        </p:nvSpPr>
        <p:spPr>
          <a:xfrm>
            <a:off x="457200" y="1219200"/>
            <a:ext cx="8229600" cy="4525963"/>
          </a:xfrm>
        </p:spPr>
        <p:txBody>
          <a:bodyPr>
            <a:normAutofit/>
          </a:bodyPr>
          <a:lstStyle/>
          <a:p>
            <a:r>
              <a:rPr lang="en-US" sz="2200" dirty="0" smtClean="0"/>
              <a:t>An enterprise has multiple applications that are being built independently, with different languages and platforms. The enterprise needs to share data and processes in a responsive way.</a:t>
            </a:r>
          </a:p>
          <a:p>
            <a:r>
              <a:rPr lang="en-US" sz="2200" dirty="0" smtClean="0"/>
              <a:t>How can I integrate multiple applications so that they work together and can exchange information?</a:t>
            </a:r>
          </a:p>
          <a:p>
            <a:r>
              <a:rPr lang="en-US" sz="2200" dirty="0" smtClean="0"/>
              <a:t>Remote Procedure Invocation enables applications to share functionality, but </a:t>
            </a:r>
            <a:r>
              <a:rPr lang="en-US" sz="2200" i="1" dirty="0" smtClean="0">
                <a:solidFill>
                  <a:srgbClr val="C00000"/>
                </a:solidFill>
              </a:rPr>
              <a:t>tightly couples</a:t>
            </a:r>
            <a:r>
              <a:rPr lang="en-US" sz="2200" dirty="0" smtClean="0"/>
              <a:t> them in the process.</a:t>
            </a:r>
          </a:p>
          <a:p>
            <a:r>
              <a:rPr lang="en-US" sz="2200" dirty="0" smtClean="0"/>
              <a:t>Messaging — Have each application connect to a common messaging system, and exchange data and invoke behavior using </a:t>
            </a:r>
            <a:r>
              <a:rPr lang="en-US" sz="2200" i="1" dirty="0" smtClean="0">
                <a:solidFill>
                  <a:srgbClr val="C00000"/>
                </a:solidFill>
              </a:rPr>
              <a:t>messages</a:t>
            </a:r>
            <a:r>
              <a:rPr lang="en-US" sz="2200" dirty="0" smtClean="0"/>
              <a:t>.</a:t>
            </a:r>
            <a:endParaRPr lang="en-US" sz="2200" dirty="0"/>
          </a:p>
        </p:txBody>
      </p:sp>
      <p:pic>
        <p:nvPicPr>
          <p:cNvPr id="4098" name="Picture 2"/>
          <p:cNvPicPr>
            <a:picLocks noChangeAspect="1" noChangeArrowheads="1"/>
          </p:cNvPicPr>
          <p:nvPr/>
        </p:nvPicPr>
        <p:blipFill>
          <a:blip r:embed="rId2" cstate="print"/>
          <a:srcRect/>
          <a:stretch>
            <a:fillRect/>
          </a:stretch>
        </p:blipFill>
        <p:spPr bwMode="auto">
          <a:xfrm>
            <a:off x="2528888" y="4876800"/>
            <a:ext cx="4086225" cy="149542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lstStyle/>
          <a:p>
            <a:r>
              <a:rPr lang="en-US" dirty="0" smtClean="0"/>
              <a:t>Messaging</a:t>
            </a:r>
            <a:endParaRPr lang="en-US" dirty="0"/>
          </a:p>
        </p:txBody>
      </p:sp>
      <p:pic>
        <p:nvPicPr>
          <p:cNvPr id="60418" name="Picture 2" descr="http://reboundsales.com/Rebound/Messaging_files/shapeimage_2.jpg"/>
          <p:cNvPicPr>
            <a:picLocks noChangeAspect="1" noChangeArrowheads="1"/>
          </p:cNvPicPr>
          <p:nvPr/>
        </p:nvPicPr>
        <p:blipFill>
          <a:blip r:embed="rId2" cstate="print"/>
          <a:srcRect/>
          <a:stretch>
            <a:fillRect/>
          </a:stretch>
        </p:blipFill>
        <p:spPr bwMode="auto">
          <a:xfrm>
            <a:off x="1143000" y="2133600"/>
            <a:ext cx="6905625" cy="302895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a:t>
            </a:r>
            <a:endParaRPr lang="en-US" dirty="0"/>
          </a:p>
        </p:txBody>
      </p:sp>
      <p:sp>
        <p:nvSpPr>
          <p:cNvPr id="3" name="Content Placeholder 2"/>
          <p:cNvSpPr>
            <a:spLocks noGrp="1"/>
          </p:cNvSpPr>
          <p:nvPr>
            <p:ph idx="1"/>
          </p:nvPr>
        </p:nvSpPr>
        <p:spPr/>
        <p:txBody>
          <a:bodyPr>
            <a:normAutofit/>
          </a:bodyPr>
          <a:lstStyle/>
          <a:p>
            <a:r>
              <a:rPr lang="en-US" sz="2000" i="1" dirty="0">
                <a:solidFill>
                  <a:srgbClr val="C00000"/>
                </a:solidFill>
              </a:rPr>
              <a:t>Messaging</a:t>
            </a:r>
            <a:r>
              <a:rPr lang="en-US" sz="2000" dirty="0"/>
              <a:t> is a technology that enables high-speed, asynchronous, </a:t>
            </a:r>
            <a:r>
              <a:rPr lang="en-US" sz="2000" dirty="0" smtClean="0"/>
              <a:t>program-to-program communication </a:t>
            </a:r>
            <a:r>
              <a:rPr lang="en-US" sz="2000" dirty="0"/>
              <a:t>with reliable </a:t>
            </a:r>
            <a:r>
              <a:rPr lang="en-US" sz="2000" dirty="0" smtClean="0"/>
              <a:t>delivery.</a:t>
            </a:r>
          </a:p>
          <a:p>
            <a:r>
              <a:rPr lang="en-US" sz="2000" i="1" dirty="0" smtClean="0">
                <a:solidFill>
                  <a:srgbClr val="C00000"/>
                </a:solidFill>
              </a:rPr>
              <a:t>Messages</a:t>
            </a:r>
            <a:r>
              <a:rPr lang="en-US" sz="2000" dirty="0" smtClean="0"/>
              <a:t> are </a:t>
            </a:r>
            <a:r>
              <a:rPr lang="en-US" sz="2000" dirty="0"/>
              <a:t>packets of </a:t>
            </a:r>
            <a:r>
              <a:rPr lang="en-US" sz="2000" dirty="0" smtClean="0"/>
              <a:t>data that are sent. The message itself is simply some sort of data structure—such as a string, a byte array, a record, or an object.</a:t>
            </a:r>
          </a:p>
          <a:p>
            <a:r>
              <a:rPr lang="en-US" sz="2000" i="1" dirty="0" smtClean="0">
                <a:solidFill>
                  <a:srgbClr val="C00000"/>
                </a:solidFill>
              </a:rPr>
              <a:t>Channels</a:t>
            </a:r>
            <a:r>
              <a:rPr lang="en-US" sz="2000" dirty="0"/>
              <a:t>, also known as queues, are logical pathways that connect </a:t>
            </a:r>
            <a:r>
              <a:rPr lang="en-US" sz="2000" dirty="0" smtClean="0"/>
              <a:t>the programs </a:t>
            </a:r>
            <a:r>
              <a:rPr lang="en-US" sz="2000" dirty="0"/>
              <a:t>and convey messages</a:t>
            </a:r>
            <a:r>
              <a:rPr lang="en-US" sz="2000" dirty="0" smtClean="0"/>
              <a:t>. </a:t>
            </a:r>
            <a:r>
              <a:rPr lang="en-US" sz="2000" i="1" dirty="0" smtClean="0">
                <a:solidFill>
                  <a:srgbClr val="C00000"/>
                </a:solidFill>
              </a:rPr>
              <a:t>A channel</a:t>
            </a:r>
            <a:r>
              <a:rPr lang="en-US" sz="2000" dirty="0" smtClean="0"/>
              <a:t> behaves like a collection or array of messages, but one that is magically shared across multiple computers and can be used concurrently by multiple applications.</a:t>
            </a:r>
          </a:p>
          <a:p>
            <a:r>
              <a:rPr lang="en-US" sz="2000" i="1" dirty="0" smtClean="0">
                <a:solidFill>
                  <a:srgbClr val="C00000"/>
                </a:solidFill>
              </a:rPr>
              <a:t>A sender</a:t>
            </a:r>
            <a:r>
              <a:rPr lang="en-US" sz="2000" dirty="0" smtClean="0"/>
              <a:t> or producer is a program that sends a message by writing the message to a channel.</a:t>
            </a:r>
          </a:p>
          <a:p>
            <a:r>
              <a:rPr lang="en-US" sz="2000" i="1" dirty="0" smtClean="0">
                <a:solidFill>
                  <a:srgbClr val="C00000"/>
                </a:solidFill>
              </a:rPr>
              <a:t>A </a:t>
            </a:r>
            <a:r>
              <a:rPr lang="en-US" sz="2000" i="1" dirty="0">
                <a:solidFill>
                  <a:srgbClr val="C00000"/>
                </a:solidFill>
              </a:rPr>
              <a:t>receiver</a:t>
            </a:r>
            <a:r>
              <a:rPr lang="en-US" sz="2000" dirty="0"/>
              <a:t> or consumer is a program that receives a message by reading (and deleting) </a:t>
            </a:r>
            <a:r>
              <a:rPr lang="en-US" sz="2000" dirty="0" smtClean="0"/>
              <a:t>it from </a:t>
            </a:r>
            <a:r>
              <a:rPr lang="en-US" sz="2000" dirty="0"/>
              <a:t>a channel.</a:t>
            </a:r>
            <a:endParaRPr lang="en-US" sz="2000" dirty="0"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Messaging System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Messaging system</a:t>
            </a:r>
            <a:r>
              <a:rPr lang="en-US" sz="2400" dirty="0" smtClean="0"/>
              <a:t> is </a:t>
            </a:r>
            <a:r>
              <a:rPr lang="en-US" sz="2400" dirty="0"/>
              <a:t>a separate software </a:t>
            </a:r>
            <a:r>
              <a:rPr lang="en-US" sz="2400" dirty="0" smtClean="0"/>
              <a:t>system providing messaging capabilities.</a:t>
            </a:r>
          </a:p>
          <a:p>
            <a:endParaRPr lang="en-US" sz="2400" dirty="0" smtClean="0"/>
          </a:p>
          <a:p>
            <a:r>
              <a:rPr lang="en-US" sz="2400" dirty="0" smtClean="0"/>
              <a:t>An administrator must configure the messaging system with the channels that define the paths of communication between the applications.</a:t>
            </a:r>
          </a:p>
          <a:p>
            <a:endParaRPr lang="en-US" sz="2400" dirty="0" smtClean="0"/>
          </a:p>
          <a:p>
            <a:r>
              <a:rPr lang="en-US" sz="2400" dirty="0" smtClean="0"/>
              <a:t>The messaging system then coordinates and manages the sending and receiving of messages.</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Transmission</a:t>
            </a:r>
            <a:endParaRPr lang="en-US" dirty="0"/>
          </a:p>
        </p:txBody>
      </p:sp>
      <p:sp>
        <p:nvSpPr>
          <p:cNvPr id="3" name="Content Placeholder 2"/>
          <p:cNvSpPr>
            <a:spLocks noGrp="1"/>
          </p:cNvSpPr>
          <p:nvPr>
            <p:ph idx="1"/>
          </p:nvPr>
        </p:nvSpPr>
        <p:spPr>
          <a:xfrm>
            <a:off x="457200" y="1600201"/>
            <a:ext cx="8229600" cy="1905000"/>
          </a:xfrm>
        </p:spPr>
        <p:txBody>
          <a:bodyPr/>
          <a:lstStyle/>
          <a:p>
            <a:r>
              <a:rPr lang="en-US" sz="1900" dirty="0" smtClean="0"/>
              <a:t>A message is transmitted in five steps: </a:t>
            </a:r>
            <a:r>
              <a:rPr lang="en-US" sz="1900" i="1" dirty="0" smtClean="0">
                <a:solidFill>
                  <a:srgbClr val="C00000"/>
                </a:solidFill>
              </a:rPr>
              <a:t>1. Create</a:t>
            </a:r>
            <a:r>
              <a:rPr lang="en-US" sz="1900" dirty="0" smtClean="0"/>
              <a:t> — The sender creates the message and populates it with data. </a:t>
            </a:r>
            <a:r>
              <a:rPr lang="en-US" sz="1900" i="1" dirty="0" smtClean="0">
                <a:solidFill>
                  <a:srgbClr val="C00000"/>
                </a:solidFill>
              </a:rPr>
              <a:t>2. Send</a:t>
            </a:r>
            <a:r>
              <a:rPr lang="en-US" sz="1900" dirty="0" smtClean="0"/>
              <a:t> — The sender adds the message to a channel. </a:t>
            </a:r>
            <a:r>
              <a:rPr lang="en-US" sz="1900" i="1" dirty="0" smtClean="0">
                <a:solidFill>
                  <a:srgbClr val="C00000"/>
                </a:solidFill>
              </a:rPr>
              <a:t>3. Deliver</a:t>
            </a:r>
            <a:r>
              <a:rPr lang="en-US" sz="1900" dirty="0" smtClean="0"/>
              <a:t> — The messaging system moves the message from the sender’s computer to the receiver’s computer, making it available to the receiver. </a:t>
            </a:r>
            <a:r>
              <a:rPr lang="en-US" sz="1900" i="1" dirty="0" smtClean="0">
                <a:solidFill>
                  <a:srgbClr val="C00000"/>
                </a:solidFill>
              </a:rPr>
              <a:t>4. Receive</a:t>
            </a:r>
            <a:r>
              <a:rPr lang="en-US" sz="1900" dirty="0" smtClean="0"/>
              <a:t> — The receiver reads the message from the channel. </a:t>
            </a:r>
            <a:r>
              <a:rPr lang="en-US" sz="1900" i="1" dirty="0" smtClean="0">
                <a:solidFill>
                  <a:srgbClr val="C00000"/>
                </a:solidFill>
              </a:rPr>
              <a:t>5. Process</a:t>
            </a:r>
            <a:r>
              <a:rPr lang="en-US" sz="1900" dirty="0" smtClean="0"/>
              <a:t> — The receiver extracts the data from the message.</a:t>
            </a:r>
            <a:endParaRPr lang="en-US" sz="1900" dirty="0"/>
          </a:p>
        </p:txBody>
      </p:sp>
      <p:pic>
        <p:nvPicPr>
          <p:cNvPr id="4" name="Picture 2"/>
          <p:cNvPicPr>
            <a:picLocks noChangeAspect="1" noChangeArrowheads="1"/>
          </p:cNvPicPr>
          <p:nvPr/>
        </p:nvPicPr>
        <p:blipFill>
          <a:blip r:embed="rId2" cstate="print"/>
          <a:srcRect/>
          <a:stretch>
            <a:fillRect/>
          </a:stretch>
        </p:blipFill>
        <p:spPr bwMode="auto">
          <a:xfrm>
            <a:off x="1447800" y="3505200"/>
            <a:ext cx="6419850" cy="31242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Thinking Asynchronously</a:t>
            </a:r>
            <a:endParaRPr lang="en-US" dirty="0"/>
          </a:p>
        </p:txBody>
      </p:sp>
      <p:sp>
        <p:nvSpPr>
          <p:cNvPr id="3" name="Content Placeholder 2"/>
          <p:cNvSpPr>
            <a:spLocks noGrp="1"/>
          </p:cNvSpPr>
          <p:nvPr>
            <p:ph idx="1"/>
          </p:nvPr>
        </p:nvSpPr>
        <p:spPr/>
        <p:txBody>
          <a:bodyPr/>
          <a:lstStyle/>
          <a:p>
            <a:r>
              <a:rPr lang="en-US" dirty="0" smtClean="0"/>
              <a:t>Send and forget</a:t>
            </a:r>
          </a:p>
          <a:p>
            <a:r>
              <a:rPr lang="en-US" dirty="0" smtClean="0"/>
              <a:t>Store and forward</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423988" y="3200400"/>
            <a:ext cx="6296025" cy="1647825"/>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Messaging?</a:t>
            </a:r>
            <a:endParaRPr lang="en-US" dirty="0"/>
          </a:p>
        </p:txBody>
      </p:sp>
      <p:sp>
        <p:nvSpPr>
          <p:cNvPr id="3" name="Content Placeholder 2"/>
          <p:cNvSpPr>
            <a:spLocks noGrp="1"/>
          </p:cNvSpPr>
          <p:nvPr>
            <p:ph idx="1"/>
          </p:nvPr>
        </p:nvSpPr>
        <p:spPr/>
        <p:txBody>
          <a:bodyPr/>
          <a:lstStyle/>
          <a:p>
            <a:r>
              <a:rPr lang="en-US" dirty="0" smtClean="0"/>
              <a:t>Remote Communication</a:t>
            </a:r>
          </a:p>
          <a:p>
            <a:r>
              <a:rPr lang="en-US" dirty="0" smtClean="0"/>
              <a:t>Platform/Language Integration</a:t>
            </a:r>
          </a:p>
          <a:p>
            <a:r>
              <a:rPr lang="en-US" dirty="0" smtClean="0"/>
              <a:t>Asynchronous Communication</a:t>
            </a:r>
          </a:p>
          <a:p>
            <a:r>
              <a:rPr lang="en-US" dirty="0" smtClean="0"/>
              <a:t>Throttling</a:t>
            </a:r>
          </a:p>
          <a:p>
            <a:r>
              <a:rPr lang="en-US" dirty="0" smtClean="0"/>
              <a:t>Reliable Communication</a:t>
            </a:r>
          </a:p>
          <a:p>
            <a:r>
              <a:rPr lang="en-US" dirty="0" smtClean="0"/>
              <a:t>Disconnected Operation</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800" dirty="0" smtClean="0"/>
              <a:t>Challenges of Asynchronous Messaging</a:t>
            </a:r>
            <a:endParaRPr lang="en-US" sz="3800" dirty="0"/>
          </a:p>
        </p:txBody>
      </p:sp>
      <p:sp>
        <p:nvSpPr>
          <p:cNvPr id="3" name="Content Placeholder 2"/>
          <p:cNvSpPr>
            <a:spLocks noGrp="1"/>
          </p:cNvSpPr>
          <p:nvPr>
            <p:ph idx="1"/>
          </p:nvPr>
        </p:nvSpPr>
        <p:spPr/>
        <p:txBody>
          <a:bodyPr/>
          <a:lstStyle/>
          <a:p>
            <a:r>
              <a:rPr lang="en-US" dirty="0" smtClean="0"/>
              <a:t>Complex programming model</a:t>
            </a:r>
          </a:p>
          <a:p>
            <a:r>
              <a:rPr lang="en-US" dirty="0" smtClean="0"/>
              <a:t>Sequence issues</a:t>
            </a:r>
          </a:p>
          <a:p>
            <a:r>
              <a:rPr lang="en-US" dirty="0" smtClean="0"/>
              <a:t>Synchronous scenarios</a:t>
            </a:r>
          </a:p>
          <a:p>
            <a:r>
              <a:rPr lang="en-US" dirty="0" smtClean="0"/>
              <a:t>Performance</a:t>
            </a:r>
          </a:p>
          <a:p>
            <a:r>
              <a:rPr lang="en-US" dirty="0" smtClean="0"/>
              <a:t>Limited platform support</a:t>
            </a:r>
          </a:p>
          <a:p>
            <a:r>
              <a:rPr lang="en-US" dirty="0" smtClean="0"/>
              <a:t>Vendor lock-in</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Commercial Messaging Systems</a:t>
            </a:r>
            <a:endParaRPr lang="en-US" dirty="0"/>
          </a:p>
        </p:txBody>
      </p:sp>
      <p:sp>
        <p:nvSpPr>
          <p:cNvPr id="3" name="Content Placeholder 2"/>
          <p:cNvSpPr>
            <a:spLocks noGrp="1"/>
          </p:cNvSpPr>
          <p:nvPr>
            <p:ph idx="1"/>
          </p:nvPr>
        </p:nvSpPr>
        <p:spPr/>
        <p:txBody>
          <a:bodyPr/>
          <a:lstStyle/>
          <a:p>
            <a:r>
              <a:rPr lang="en-US" sz="2400" dirty="0" smtClean="0"/>
              <a:t>Operating Systems: Microsoft Message Queuing (MSMQ) service software, Oracle AQ</a:t>
            </a:r>
          </a:p>
          <a:p>
            <a:endParaRPr lang="en-US" sz="2400" dirty="0" smtClean="0"/>
          </a:p>
          <a:p>
            <a:r>
              <a:rPr lang="en-US" sz="2400" dirty="0" smtClean="0"/>
              <a:t>Application Servers: Java Messaging Service (JMS)</a:t>
            </a:r>
          </a:p>
          <a:p>
            <a:endParaRPr lang="en-US" sz="2400" dirty="0" smtClean="0"/>
          </a:p>
          <a:p>
            <a:r>
              <a:rPr lang="en-US" sz="2400" dirty="0" smtClean="0"/>
              <a:t>EAI Suites: IBM </a:t>
            </a:r>
            <a:r>
              <a:rPr lang="en-US" sz="2400" dirty="0" err="1" smtClean="0"/>
              <a:t>WebSphere</a:t>
            </a:r>
            <a:r>
              <a:rPr lang="en-US" sz="2400" dirty="0" smtClean="0"/>
              <a:t> MQ, Microsoft BizTalk, TIBCO, </a:t>
            </a:r>
            <a:r>
              <a:rPr lang="en-US" sz="2400" dirty="0" err="1" smtClean="0"/>
              <a:t>WebMethods</a:t>
            </a:r>
            <a:r>
              <a:rPr lang="en-US" sz="2400" dirty="0" smtClean="0"/>
              <a:t>, </a:t>
            </a:r>
            <a:r>
              <a:rPr lang="en-US" sz="2400" dirty="0" err="1" smtClean="0"/>
              <a:t>SeeBeyond</a:t>
            </a:r>
            <a:r>
              <a:rPr lang="en-US" sz="2400" dirty="0" smtClean="0"/>
              <a:t>, </a:t>
            </a:r>
            <a:r>
              <a:rPr lang="en-US" sz="2400" dirty="0" err="1" smtClean="0"/>
              <a:t>Vitria</a:t>
            </a:r>
            <a:r>
              <a:rPr lang="en-US" sz="2400" dirty="0" smtClean="0"/>
              <a:t>, </a:t>
            </a:r>
            <a:r>
              <a:rPr lang="en-US" sz="2400" dirty="0" err="1" smtClean="0"/>
              <a:t>CrossWorlds</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Channel (I)</a:t>
            </a:r>
            <a:endParaRPr lang="en-US" dirty="0"/>
          </a:p>
        </p:txBody>
      </p:sp>
      <p:sp>
        <p:nvSpPr>
          <p:cNvPr id="3" name="Content Placeholder 2"/>
          <p:cNvSpPr>
            <a:spLocks noGrp="1"/>
          </p:cNvSpPr>
          <p:nvPr>
            <p:ph idx="1"/>
          </p:nvPr>
        </p:nvSpPr>
        <p:spPr>
          <a:xfrm>
            <a:off x="457200" y="1600201"/>
            <a:ext cx="8229600" cy="2819400"/>
          </a:xfrm>
        </p:spPr>
        <p:txBody>
          <a:bodyPr/>
          <a:lstStyle/>
          <a:p>
            <a:r>
              <a:rPr lang="en-US" sz="2400" dirty="0" smtClean="0"/>
              <a:t>An enterprise has two separate applications that need to communicate, preferably by using Messaging.</a:t>
            </a:r>
          </a:p>
          <a:p>
            <a:r>
              <a:rPr lang="en-US" sz="2400" dirty="0" smtClean="0"/>
              <a:t>How does one application </a:t>
            </a:r>
            <a:r>
              <a:rPr lang="en-US" sz="2400" i="1" dirty="0" smtClean="0">
                <a:solidFill>
                  <a:srgbClr val="C00000"/>
                </a:solidFill>
              </a:rPr>
              <a:t>communicate</a:t>
            </a:r>
            <a:r>
              <a:rPr lang="en-US" sz="2400" dirty="0" smtClean="0"/>
              <a:t> with another using messaging?</a:t>
            </a:r>
          </a:p>
          <a:p>
            <a:r>
              <a:rPr lang="en-US" sz="2400" dirty="0" smtClean="0"/>
              <a:t>Connect the applications using a </a:t>
            </a:r>
            <a:r>
              <a:rPr lang="en-US" sz="2400" i="1" dirty="0" smtClean="0">
                <a:solidFill>
                  <a:srgbClr val="C00000"/>
                </a:solidFill>
              </a:rPr>
              <a:t>Message Channel</a:t>
            </a:r>
            <a:r>
              <a:rPr lang="en-US" sz="2400" dirty="0" smtClean="0"/>
              <a:t>, where one application writes information to the channel and the other one reads that information from the channel.</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2081213" y="4562475"/>
            <a:ext cx="4981575" cy="214312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Channel (II)</a:t>
            </a:r>
            <a:endParaRPr lang="en-US" dirty="0"/>
          </a:p>
        </p:txBody>
      </p:sp>
      <p:sp>
        <p:nvSpPr>
          <p:cNvPr id="3" name="Content Placeholder 2"/>
          <p:cNvSpPr>
            <a:spLocks noGrp="1"/>
          </p:cNvSpPr>
          <p:nvPr>
            <p:ph idx="1"/>
          </p:nvPr>
        </p:nvSpPr>
        <p:spPr/>
        <p:txBody>
          <a:bodyPr/>
          <a:lstStyle/>
          <a:p>
            <a:r>
              <a:rPr lang="en-US" sz="2400" dirty="0" smtClean="0"/>
              <a:t>Channels are logical addresses in the messaging system.</a:t>
            </a:r>
          </a:p>
          <a:p>
            <a:endParaRPr lang="en-US" sz="2400" dirty="0" smtClean="0"/>
          </a:p>
          <a:p>
            <a:r>
              <a:rPr lang="en-US" sz="2400" dirty="0" smtClean="0"/>
              <a:t>These addresses depend on the implementation of the messaging system. In most cases channels are referenced by an alphanumeric name, such as </a:t>
            </a:r>
            <a:r>
              <a:rPr lang="en-US" sz="2400" dirty="0" err="1" smtClean="0"/>
              <a:t>MyChannel</a:t>
            </a:r>
            <a:r>
              <a:rPr lang="en-US" sz="2400" dirty="0" smtClean="0"/>
              <a:t>.</a:t>
            </a:r>
          </a:p>
          <a:p>
            <a:endParaRPr lang="en-US" sz="2400" dirty="0" smtClean="0"/>
          </a:p>
          <a:p>
            <a:r>
              <a:rPr lang="en-US" sz="2400" dirty="0" smtClean="0"/>
              <a:t>There are two different kinds of message channels, Point-to-Point Channels and Publish-Subscribe Channels.</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Point-to-Point Channel</a:t>
            </a:r>
            <a:endParaRPr lang="en-US" dirty="0"/>
          </a:p>
        </p:txBody>
      </p:sp>
      <p:sp>
        <p:nvSpPr>
          <p:cNvPr id="3" name="Content Placeholder 2"/>
          <p:cNvSpPr>
            <a:spLocks noGrp="1"/>
          </p:cNvSpPr>
          <p:nvPr>
            <p:ph idx="1"/>
          </p:nvPr>
        </p:nvSpPr>
        <p:spPr>
          <a:xfrm>
            <a:off x="457200" y="1600201"/>
            <a:ext cx="8229600" cy="2514600"/>
          </a:xfrm>
        </p:spPr>
        <p:txBody>
          <a:bodyPr/>
          <a:lstStyle/>
          <a:p>
            <a:r>
              <a:rPr lang="en-US" sz="2400" dirty="0" smtClean="0"/>
              <a:t>An application is using Messaging to make remote procedure calls (RPC’s) or transfer documents.</a:t>
            </a:r>
          </a:p>
          <a:p>
            <a:r>
              <a:rPr lang="en-US" sz="2400" dirty="0" smtClean="0"/>
              <a:t>How can the caller be sure that </a:t>
            </a:r>
            <a:r>
              <a:rPr lang="en-US" sz="2400" i="1" dirty="0" smtClean="0">
                <a:solidFill>
                  <a:srgbClr val="C00000"/>
                </a:solidFill>
              </a:rPr>
              <a:t>exactly one receiver</a:t>
            </a:r>
            <a:r>
              <a:rPr lang="en-US" sz="2400" dirty="0" smtClean="0"/>
              <a:t> will receive the document or perform the call?</a:t>
            </a:r>
          </a:p>
          <a:p>
            <a:r>
              <a:rPr lang="en-US" sz="2400" dirty="0" smtClean="0"/>
              <a:t>Send the message on a </a:t>
            </a:r>
            <a:r>
              <a:rPr lang="en-US" sz="2400" i="1" dirty="0" smtClean="0">
                <a:solidFill>
                  <a:srgbClr val="C00000"/>
                </a:solidFill>
              </a:rPr>
              <a:t>Point-to-Point Channel</a:t>
            </a:r>
            <a:r>
              <a:rPr lang="en-US" sz="2400" dirty="0" smtClean="0"/>
              <a:t>, which ensures that only one receiver will receive a particular message.</a:t>
            </a: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938213" y="4572000"/>
            <a:ext cx="7267575" cy="126682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Publish-Subscribe Channel</a:t>
            </a:r>
            <a:endParaRPr lang="en-US" dirty="0"/>
          </a:p>
        </p:txBody>
      </p:sp>
      <p:sp>
        <p:nvSpPr>
          <p:cNvPr id="3" name="Content Placeholder 2"/>
          <p:cNvSpPr>
            <a:spLocks noGrp="1"/>
          </p:cNvSpPr>
          <p:nvPr>
            <p:ph idx="1"/>
          </p:nvPr>
        </p:nvSpPr>
        <p:spPr>
          <a:xfrm>
            <a:off x="457200" y="1600201"/>
            <a:ext cx="8229600" cy="2057400"/>
          </a:xfrm>
        </p:spPr>
        <p:txBody>
          <a:bodyPr/>
          <a:lstStyle/>
          <a:p>
            <a:r>
              <a:rPr lang="en-US" sz="2400" dirty="0" smtClean="0"/>
              <a:t>An application is using Messaging to announce events.</a:t>
            </a:r>
          </a:p>
          <a:p>
            <a:r>
              <a:rPr lang="en-US" sz="2400" dirty="0" smtClean="0"/>
              <a:t>How can the sender </a:t>
            </a:r>
            <a:r>
              <a:rPr lang="en-US" sz="2400" i="1" dirty="0" smtClean="0">
                <a:solidFill>
                  <a:srgbClr val="C00000"/>
                </a:solidFill>
              </a:rPr>
              <a:t>broadcast an event</a:t>
            </a:r>
            <a:r>
              <a:rPr lang="en-US" sz="2400" dirty="0" smtClean="0"/>
              <a:t> to all interested receivers?</a:t>
            </a:r>
          </a:p>
          <a:p>
            <a:r>
              <a:rPr lang="en-US" sz="2400" dirty="0" smtClean="0"/>
              <a:t>Send the event on a </a:t>
            </a:r>
            <a:r>
              <a:rPr lang="en-US" sz="2400" i="1" dirty="0" smtClean="0">
                <a:solidFill>
                  <a:srgbClr val="C00000"/>
                </a:solidFill>
              </a:rPr>
              <a:t>Publish-Subscribe Channel</a:t>
            </a:r>
            <a:r>
              <a:rPr lang="en-US" sz="2400" dirty="0" smtClean="0"/>
              <a:t>, which delivers a copy of a particular event to each receiver.</a:t>
            </a:r>
            <a:endParaRPr lang="en-US" sz="2400" dirty="0"/>
          </a:p>
        </p:txBody>
      </p:sp>
      <p:pic>
        <p:nvPicPr>
          <p:cNvPr id="4099" name="Picture 3"/>
          <p:cNvPicPr>
            <a:picLocks noChangeAspect="1" noChangeArrowheads="1"/>
          </p:cNvPicPr>
          <p:nvPr/>
        </p:nvPicPr>
        <p:blipFill>
          <a:blip r:embed="rId2" cstate="print"/>
          <a:srcRect/>
          <a:stretch>
            <a:fillRect/>
          </a:stretch>
        </p:blipFill>
        <p:spPr bwMode="auto">
          <a:xfrm>
            <a:off x="2481263" y="3886200"/>
            <a:ext cx="4181475" cy="269557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Endpoint</a:t>
            </a:r>
            <a:endParaRPr lang="en-US" dirty="0"/>
          </a:p>
        </p:txBody>
      </p:sp>
      <p:sp>
        <p:nvSpPr>
          <p:cNvPr id="3" name="Content Placeholder 2"/>
          <p:cNvSpPr>
            <a:spLocks noGrp="1"/>
          </p:cNvSpPr>
          <p:nvPr>
            <p:ph idx="1"/>
          </p:nvPr>
        </p:nvSpPr>
        <p:spPr>
          <a:xfrm>
            <a:off x="457200" y="1219200"/>
            <a:ext cx="8229600" cy="3733800"/>
          </a:xfrm>
        </p:spPr>
        <p:txBody>
          <a:bodyPr/>
          <a:lstStyle/>
          <a:p>
            <a:r>
              <a:rPr lang="en-US" sz="2200" dirty="0" smtClean="0"/>
              <a:t>Applications are communicating by sending Messages to each other via Message Channels.</a:t>
            </a:r>
          </a:p>
          <a:p>
            <a:r>
              <a:rPr lang="en-US" sz="2200" dirty="0" smtClean="0"/>
              <a:t>The application and the messaging system are two separate sets of software.</a:t>
            </a:r>
          </a:p>
          <a:p>
            <a:r>
              <a:rPr lang="en-US" sz="2200" dirty="0" smtClean="0"/>
              <a:t>They must have a way to connect and work together.</a:t>
            </a:r>
          </a:p>
          <a:p>
            <a:r>
              <a:rPr lang="en-US" sz="2200" dirty="0" smtClean="0"/>
              <a:t>How does an application </a:t>
            </a:r>
            <a:r>
              <a:rPr lang="en-US" sz="2200" i="1" dirty="0" smtClean="0">
                <a:solidFill>
                  <a:srgbClr val="C00000"/>
                </a:solidFill>
              </a:rPr>
              <a:t>connect to a messaging channel</a:t>
            </a:r>
            <a:r>
              <a:rPr lang="en-US" sz="2200" dirty="0" smtClean="0"/>
              <a:t> to send and receive messages?</a:t>
            </a:r>
          </a:p>
          <a:p>
            <a:r>
              <a:rPr lang="en-US" sz="2200" dirty="0" smtClean="0"/>
              <a:t>Connect an application to a messaging channel using a </a:t>
            </a:r>
            <a:r>
              <a:rPr lang="en-US" sz="2200" i="1" dirty="0" smtClean="0">
                <a:solidFill>
                  <a:srgbClr val="C00000"/>
                </a:solidFill>
              </a:rPr>
              <a:t>Message Endpoint</a:t>
            </a:r>
            <a:r>
              <a:rPr lang="en-US" sz="2200" dirty="0" smtClean="0"/>
              <a:t>, a client of the messaging system that the application can then use to send or receive messages.</a:t>
            </a:r>
            <a:endParaRPr lang="en-US" sz="2200" dirty="0"/>
          </a:p>
        </p:txBody>
      </p:sp>
      <p:pic>
        <p:nvPicPr>
          <p:cNvPr id="8194" name="Picture 2"/>
          <p:cNvPicPr>
            <a:picLocks noChangeAspect="1" noChangeArrowheads="1"/>
          </p:cNvPicPr>
          <p:nvPr/>
        </p:nvPicPr>
        <p:blipFill>
          <a:blip r:embed="rId2" cstate="print"/>
          <a:srcRect/>
          <a:stretch>
            <a:fillRect/>
          </a:stretch>
        </p:blipFill>
        <p:spPr bwMode="auto">
          <a:xfrm>
            <a:off x="1338263" y="5019675"/>
            <a:ext cx="6467475" cy="16859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Translator</a:t>
            </a:r>
            <a:endParaRPr lang="en-US" dirty="0"/>
          </a:p>
        </p:txBody>
      </p:sp>
      <p:sp>
        <p:nvSpPr>
          <p:cNvPr id="3" name="Content Placeholder 2"/>
          <p:cNvSpPr>
            <a:spLocks noGrp="1"/>
          </p:cNvSpPr>
          <p:nvPr>
            <p:ph idx="1"/>
          </p:nvPr>
        </p:nvSpPr>
        <p:spPr>
          <a:xfrm>
            <a:off x="457200" y="1600201"/>
            <a:ext cx="8229600" cy="2819400"/>
          </a:xfrm>
        </p:spPr>
        <p:txBody>
          <a:bodyPr/>
          <a:lstStyle/>
          <a:p>
            <a:r>
              <a:rPr lang="en-US" sz="2400" dirty="0" smtClean="0"/>
              <a:t>How can systems using </a:t>
            </a:r>
            <a:r>
              <a:rPr lang="en-US" sz="2400" i="1" dirty="0" smtClean="0">
                <a:solidFill>
                  <a:srgbClr val="C00000"/>
                </a:solidFill>
              </a:rPr>
              <a:t>different data formats</a:t>
            </a:r>
            <a:r>
              <a:rPr lang="en-US" sz="2400" dirty="0" smtClean="0"/>
              <a:t> communicate with each other using messaging?</a:t>
            </a:r>
          </a:p>
          <a:p>
            <a:r>
              <a:rPr lang="en-US" sz="2400" dirty="0" smtClean="0"/>
              <a:t>Use a special filter, a </a:t>
            </a:r>
            <a:r>
              <a:rPr lang="en-US" sz="2400" i="1" dirty="0" smtClean="0">
                <a:solidFill>
                  <a:srgbClr val="C00000"/>
                </a:solidFill>
              </a:rPr>
              <a:t>Message Translator</a:t>
            </a:r>
            <a:r>
              <a:rPr lang="en-US" sz="2400" dirty="0" smtClean="0"/>
              <a:t>, between other filters or applications to translate one data format into another.</a:t>
            </a:r>
          </a:p>
          <a:p>
            <a:r>
              <a:rPr lang="en-US" sz="2400" dirty="0" smtClean="0"/>
              <a:t>The Message Translator is the messaging equivalent of the </a:t>
            </a:r>
            <a:r>
              <a:rPr lang="en-US" sz="2400" i="1" dirty="0" err="1" smtClean="0">
                <a:solidFill>
                  <a:srgbClr val="C00000"/>
                </a:solidFill>
              </a:rPr>
              <a:t>GoF</a:t>
            </a:r>
            <a:r>
              <a:rPr lang="en-US" sz="2400" i="1" dirty="0" smtClean="0">
                <a:solidFill>
                  <a:srgbClr val="C00000"/>
                </a:solidFill>
              </a:rPr>
              <a:t> Adapter pattern</a:t>
            </a:r>
            <a:r>
              <a:rPr lang="en-US" sz="2400" dirty="0" smtClean="0"/>
              <a:t>.</a:t>
            </a:r>
            <a:endParaRPr lang="en-US" sz="2400" dirty="0"/>
          </a:p>
        </p:txBody>
      </p:sp>
      <p:pic>
        <p:nvPicPr>
          <p:cNvPr id="7170" name="Picture 2"/>
          <p:cNvPicPr>
            <a:picLocks noChangeAspect="1" noChangeArrowheads="1"/>
          </p:cNvPicPr>
          <p:nvPr/>
        </p:nvPicPr>
        <p:blipFill>
          <a:blip r:embed="rId2" cstate="print"/>
          <a:srcRect/>
          <a:stretch>
            <a:fillRect/>
          </a:stretch>
        </p:blipFill>
        <p:spPr bwMode="auto">
          <a:xfrm>
            <a:off x="2133600" y="4724400"/>
            <a:ext cx="4876800" cy="15240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Canonical Data Model</a:t>
            </a:r>
            <a:endParaRPr lang="en-US" dirty="0"/>
          </a:p>
        </p:txBody>
      </p:sp>
      <p:sp>
        <p:nvSpPr>
          <p:cNvPr id="3" name="Content Placeholder 2"/>
          <p:cNvSpPr>
            <a:spLocks noGrp="1"/>
          </p:cNvSpPr>
          <p:nvPr>
            <p:ph idx="1"/>
          </p:nvPr>
        </p:nvSpPr>
        <p:spPr>
          <a:xfrm>
            <a:off x="457200" y="1371601"/>
            <a:ext cx="8229600" cy="2743200"/>
          </a:xfrm>
        </p:spPr>
        <p:txBody>
          <a:bodyPr/>
          <a:lstStyle/>
          <a:p>
            <a:r>
              <a:rPr lang="en-US" sz="2200" dirty="0" smtClean="0"/>
              <a:t>I am designing several applications to work together through Messaging. Each application has its own </a:t>
            </a:r>
            <a:r>
              <a:rPr lang="en-US" sz="2200" i="1" dirty="0" smtClean="0">
                <a:solidFill>
                  <a:srgbClr val="C00000"/>
                </a:solidFill>
              </a:rPr>
              <a:t>internal data format</a:t>
            </a:r>
            <a:r>
              <a:rPr lang="en-US" sz="2200" dirty="0" smtClean="0">
                <a:solidFill>
                  <a:srgbClr val="C00000"/>
                </a:solidFill>
              </a:rPr>
              <a:t>.</a:t>
            </a:r>
          </a:p>
          <a:p>
            <a:r>
              <a:rPr lang="en-US" sz="2200" dirty="0" smtClean="0"/>
              <a:t>How can you </a:t>
            </a:r>
            <a:r>
              <a:rPr lang="en-US" sz="2200" i="1" dirty="0" smtClean="0">
                <a:solidFill>
                  <a:srgbClr val="C00000"/>
                </a:solidFill>
              </a:rPr>
              <a:t>minimize dependencies</a:t>
            </a:r>
            <a:r>
              <a:rPr lang="en-US" sz="2200" dirty="0" smtClean="0"/>
              <a:t> when integrating applications that use different data formats?</a:t>
            </a:r>
          </a:p>
          <a:p>
            <a:r>
              <a:rPr lang="en-US" sz="2200" dirty="0" smtClean="0"/>
              <a:t>Design a </a:t>
            </a:r>
            <a:r>
              <a:rPr lang="en-US" sz="2200" i="1" dirty="0" smtClean="0">
                <a:solidFill>
                  <a:srgbClr val="C00000"/>
                </a:solidFill>
              </a:rPr>
              <a:t>Canonical Data Model</a:t>
            </a:r>
            <a:r>
              <a:rPr lang="en-US" sz="2200" dirty="0" smtClean="0"/>
              <a:t> that is independent from any specific application. Require each application to produce and consume messages in this common format.</a:t>
            </a:r>
            <a:endParaRPr lang="en-US" sz="2200" dirty="0"/>
          </a:p>
        </p:txBody>
      </p:sp>
      <p:pic>
        <p:nvPicPr>
          <p:cNvPr id="6146" name="Picture 2"/>
          <p:cNvPicPr>
            <a:picLocks noChangeAspect="1" noChangeArrowheads="1"/>
          </p:cNvPicPr>
          <p:nvPr/>
        </p:nvPicPr>
        <p:blipFill>
          <a:blip r:embed="rId2" cstate="print"/>
          <a:srcRect/>
          <a:stretch>
            <a:fillRect/>
          </a:stretch>
        </p:blipFill>
        <p:spPr bwMode="auto">
          <a:xfrm>
            <a:off x="981075" y="4343400"/>
            <a:ext cx="7181850" cy="23622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Bus (I)</a:t>
            </a:r>
            <a:endParaRPr lang="en-US" dirty="0"/>
          </a:p>
        </p:txBody>
      </p:sp>
      <p:sp>
        <p:nvSpPr>
          <p:cNvPr id="3" name="Content Placeholder 2"/>
          <p:cNvSpPr>
            <a:spLocks noGrp="1"/>
          </p:cNvSpPr>
          <p:nvPr>
            <p:ph idx="1"/>
          </p:nvPr>
        </p:nvSpPr>
        <p:spPr>
          <a:xfrm>
            <a:off x="457200" y="1371601"/>
            <a:ext cx="8229600" cy="3276600"/>
          </a:xfrm>
        </p:spPr>
        <p:txBody>
          <a:bodyPr/>
          <a:lstStyle/>
          <a:p>
            <a:r>
              <a:rPr lang="en-US" sz="2200" dirty="0" smtClean="0"/>
              <a:t>An enterprise contains several existing systems that must be able to </a:t>
            </a:r>
            <a:r>
              <a:rPr lang="en-US" sz="2200" i="1" dirty="0" smtClean="0">
                <a:solidFill>
                  <a:srgbClr val="C00000"/>
                </a:solidFill>
              </a:rPr>
              <a:t>share </a:t>
            </a:r>
            <a:r>
              <a:rPr lang="en-US" sz="2200" dirty="0" smtClean="0"/>
              <a:t>data and operate in a </a:t>
            </a:r>
            <a:r>
              <a:rPr lang="en-US" sz="2200" i="1" dirty="0" smtClean="0">
                <a:solidFill>
                  <a:srgbClr val="C00000"/>
                </a:solidFill>
              </a:rPr>
              <a:t>unified manner</a:t>
            </a:r>
            <a:r>
              <a:rPr lang="en-US" sz="2200" dirty="0" smtClean="0"/>
              <a:t> in response to a set of common business requests.</a:t>
            </a:r>
          </a:p>
          <a:p>
            <a:r>
              <a:rPr lang="en-US" sz="2200" dirty="0" smtClean="0"/>
              <a:t>What is an architecture that enables </a:t>
            </a:r>
            <a:r>
              <a:rPr lang="en-US" sz="2200" i="1" dirty="0" smtClean="0">
                <a:solidFill>
                  <a:srgbClr val="C00000"/>
                </a:solidFill>
              </a:rPr>
              <a:t>separate applications</a:t>
            </a:r>
            <a:r>
              <a:rPr lang="en-US" sz="2200" dirty="0" smtClean="0"/>
              <a:t> to work together, but in a </a:t>
            </a:r>
            <a:r>
              <a:rPr lang="en-US" sz="2200" i="1" dirty="0" smtClean="0">
                <a:solidFill>
                  <a:srgbClr val="C00000"/>
                </a:solidFill>
              </a:rPr>
              <a:t>decoupled fashion</a:t>
            </a:r>
            <a:r>
              <a:rPr lang="en-US" sz="2200" dirty="0" smtClean="0"/>
              <a:t> such that applications can be easily added or removed without affecting the others?</a:t>
            </a:r>
          </a:p>
          <a:p>
            <a:r>
              <a:rPr lang="en-US" sz="2200" dirty="0" smtClean="0"/>
              <a:t>Structure the connecting </a:t>
            </a:r>
            <a:r>
              <a:rPr lang="en-US" sz="2200" i="1" dirty="0" smtClean="0">
                <a:solidFill>
                  <a:srgbClr val="C00000"/>
                </a:solidFill>
              </a:rPr>
              <a:t>middleware</a:t>
            </a:r>
            <a:r>
              <a:rPr lang="en-US" sz="2200" dirty="0" smtClean="0"/>
              <a:t> between these applications as a Message Bus that enables them to work together using messaging.</a:t>
            </a:r>
            <a:endParaRPr lang="en-US" sz="2200" dirty="0"/>
          </a:p>
        </p:txBody>
      </p:sp>
      <p:pic>
        <p:nvPicPr>
          <p:cNvPr id="5123" name="Picture 3"/>
          <p:cNvPicPr>
            <a:picLocks noChangeAspect="1" noChangeArrowheads="1"/>
          </p:cNvPicPr>
          <p:nvPr/>
        </p:nvPicPr>
        <p:blipFill>
          <a:blip r:embed="rId2" cstate="print"/>
          <a:srcRect/>
          <a:stretch>
            <a:fillRect/>
          </a:stretch>
        </p:blipFill>
        <p:spPr bwMode="auto">
          <a:xfrm>
            <a:off x="2767013" y="4419600"/>
            <a:ext cx="3609975" cy="2333625"/>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Bus (II)</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Message Bus</a:t>
            </a:r>
            <a:r>
              <a:rPr lang="en-US" sz="2400" dirty="0" smtClean="0"/>
              <a:t> is a combination of a common data model, a common command set, and a messaging infrastructure to allow different systems to communicate through a shared set of interfaces.</a:t>
            </a:r>
          </a:p>
          <a:p>
            <a:r>
              <a:rPr lang="en-US" sz="2400" dirty="0" smtClean="0"/>
              <a:t>A Message Bus requires that all of the applications using the bus use the same </a:t>
            </a:r>
            <a:r>
              <a:rPr lang="en-US" sz="2400" i="1" dirty="0" smtClean="0">
                <a:solidFill>
                  <a:srgbClr val="C00000"/>
                </a:solidFill>
              </a:rPr>
              <a:t>Canonical Data Model</a:t>
            </a:r>
            <a:r>
              <a:rPr lang="en-US" sz="2400" dirty="0" smtClean="0"/>
              <a:t>.</a:t>
            </a:r>
          </a:p>
          <a:p>
            <a:r>
              <a:rPr lang="en-US" sz="2400" dirty="0" smtClean="0"/>
              <a:t>Applications adding messages to the bus may need to depend on </a:t>
            </a:r>
            <a:r>
              <a:rPr lang="en-US" sz="2400" i="1" dirty="0" smtClean="0">
                <a:solidFill>
                  <a:srgbClr val="C00000"/>
                </a:solidFill>
              </a:rPr>
              <a:t>Message Routers</a:t>
            </a:r>
            <a:r>
              <a:rPr lang="en-US" sz="2400" dirty="0" smtClean="0"/>
              <a:t> to route the messages to the appropriate final destinations.</a:t>
            </a:r>
          </a:p>
          <a:p>
            <a:r>
              <a:rPr lang="en-US" sz="2400" dirty="0" smtClean="0"/>
              <a:t>Applications not designed to interface with a messaging system may require </a:t>
            </a:r>
            <a:r>
              <a:rPr lang="en-US" sz="2400" i="1" dirty="0" smtClean="0">
                <a:solidFill>
                  <a:srgbClr val="C00000"/>
                </a:solidFill>
              </a:rPr>
              <a:t>Channel Adapters</a:t>
            </a:r>
            <a:r>
              <a:rPr lang="en-US" sz="2400" dirty="0" smtClean="0"/>
              <a:t> and Service Activators.</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a:t>
            </a:r>
            <a:r>
              <a:rPr lang="en-US" smtClean="0"/>
              <a:t>You for </a:t>
            </a:r>
            <a:r>
              <a:rPr lang="en-US" dirty="0" smtClean="0"/>
              <a:t>Your Time</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9862</TotalTime>
  <Words>3045</Words>
  <Application>Microsoft Office PowerPoint</Application>
  <PresentationFormat>On-screen Show (4:3)</PresentationFormat>
  <Paragraphs>236</Paragraphs>
  <Slides>57</Slides>
  <Notes>0</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Software Integration</vt:lpstr>
      <vt:lpstr>References</vt:lpstr>
      <vt:lpstr>Legacy Systems Architecture [1]</vt:lpstr>
      <vt:lpstr>Enterprise Application Integration</vt:lpstr>
      <vt:lpstr>Sound EIA Benefits</vt:lpstr>
      <vt:lpstr>Slide 6</vt:lpstr>
      <vt:lpstr>Types of Integration</vt:lpstr>
      <vt:lpstr>Types of Integration</vt:lpstr>
      <vt:lpstr>Data-Level Integration</vt:lpstr>
      <vt:lpstr>Application Integration</vt:lpstr>
      <vt:lpstr>Business Process Integration</vt:lpstr>
      <vt:lpstr>Presentation Integration</vt:lpstr>
      <vt:lpstr>Business-to-Business Integration</vt:lpstr>
      <vt:lpstr>Integration Infrastructure</vt:lpstr>
      <vt:lpstr>Integration Infrastructure (I)</vt:lpstr>
      <vt:lpstr>Integration Infrastructure (II)</vt:lpstr>
      <vt:lpstr>Integration Infrastructure (III)</vt:lpstr>
      <vt:lpstr>Slide 18</vt:lpstr>
      <vt:lpstr>Integration Technologies</vt:lpstr>
      <vt:lpstr>Integration Technologies</vt:lpstr>
      <vt:lpstr>Database Access Technologies</vt:lpstr>
      <vt:lpstr>Message-Oriented Middleware</vt:lpstr>
      <vt:lpstr>Remote Procedure Calls</vt:lpstr>
      <vt:lpstr>Transaction Processing Monitors</vt:lpstr>
      <vt:lpstr>Object Request Brokers</vt:lpstr>
      <vt:lpstr>Web Services</vt:lpstr>
      <vt:lpstr>Application Servers</vt:lpstr>
      <vt:lpstr>API Layer</vt:lpstr>
      <vt:lpstr>Enterprise Service Buses</vt:lpstr>
      <vt:lpstr>ESB is an Architecture</vt:lpstr>
      <vt:lpstr>ESB</vt:lpstr>
      <vt:lpstr>Development with ESB</vt:lpstr>
      <vt:lpstr>Slide 33</vt:lpstr>
      <vt:lpstr>Integration Styles [2]</vt:lpstr>
      <vt:lpstr>File Transfer</vt:lpstr>
      <vt:lpstr>Shared Database</vt:lpstr>
      <vt:lpstr>Remote Procedure Invocation</vt:lpstr>
      <vt:lpstr>Message Bus</vt:lpstr>
      <vt:lpstr>Slide 39</vt:lpstr>
      <vt:lpstr>Messaging</vt:lpstr>
      <vt:lpstr>Messaging</vt:lpstr>
      <vt:lpstr>Messaging System</vt:lpstr>
      <vt:lpstr>Message Transmission</vt:lpstr>
      <vt:lpstr>Thinking Asynchronously</vt:lpstr>
      <vt:lpstr>Why Use Messaging?</vt:lpstr>
      <vt:lpstr>Challenges of Asynchronous Messaging</vt:lpstr>
      <vt:lpstr>Commercial Messaging Systems</vt:lpstr>
      <vt:lpstr>Message Channel (I)</vt:lpstr>
      <vt:lpstr>Message Channel (II)</vt:lpstr>
      <vt:lpstr>Point-to-Point Channel</vt:lpstr>
      <vt:lpstr>Publish-Subscribe Channel</vt:lpstr>
      <vt:lpstr>Message Endpoint</vt:lpstr>
      <vt:lpstr>Message Translator</vt:lpstr>
      <vt:lpstr>Canonical Data Model</vt:lpstr>
      <vt:lpstr>Message Bus (I)</vt:lpstr>
      <vt:lpstr>Message Bus (II)</vt:lpstr>
      <vt:lpstr>Thank You for Your Time</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3414</cp:revision>
  <dcterms:created xsi:type="dcterms:W3CDTF">2007-10-06T08:25:13Z</dcterms:created>
  <dcterms:modified xsi:type="dcterms:W3CDTF">2021-05-29T21:05:13Z</dcterms:modified>
</cp:coreProperties>
</file>