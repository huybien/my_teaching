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6"/>
  </p:notesMasterIdLst>
  <p:sldIdLst>
    <p:sldId id="256" r:id="rId2"/>
    <p:sldId id="429" r:id="rId3"/>
    <p:sldId id="633" r:id="rId4"/>
    <p:sldId id="611" r:id="rId5"/>
    <p:sldId id="637" r:id="rId6"/>
    <p:sldId id="625" r:id="rId7"/>
    <p:sldId id="619" r:id="rId8"/>
    <p:sldId id="620" r:id="rId9"/>
    <p:sldId id="621" r:id="rId10"/>
    <p:sldId id="622" r:id="rId11"/>
    <p:sldId id="634" r:id="rId12"/>
    <p:sldId id="635" r:id="rId13"/>
    <p:sldId id="626" r:id="rId14"/>
    <p:sldId id="627" r:id="rId15"/>
    <p:sldId id="628" r:id="rId16"/>
    <p:sldId id="629" r:id="rId17"/>
    <p:sldId id="630" r:id="rId18"/>
    <p:sldId id="631" r:id="rId19"/>
    <p:sldId id="636" r:id="rId20"/>
    <p:sldId id="632" r:id="rId21"/>
    <p:sldId id="638" r:id="rId22"/>
    <p:sldId id="640" r:id="rId23"/>
    <p:sldId id="639" r:id="rId24"/>
    <p:sldId id="423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29" autoAdjust="0"/>
    <p:restoredTop sz="94667" autoAdjust="0"/>
  </p:normalViewPr>
  <p:slideViewPr>
    <p:cSldViewPr>
      <p:cViewPr>
        <p:scale>
          <a:sx n="50" d="100"/>
          <a:sy n="50" d="100"/>
        </p:scale>
        <p:origin x="-153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59CD4C-0075-4A1E-A41F-A6D460BAC011}" type="datetimeFigureOut">
              <a:rPr lang="en-US" smtClean="0"/>
              <a:pPr/>
              <a:t>4/15/2024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0E28E-1C74-43B7-96AD-816D84D936D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779648-DD18-489E-A5AD-A830DE47708D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mg.org/spec/FUML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Documenting Software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195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document</a:t>
            </a:r>
            <a:r>
              <a:rPr lang="en-US" sz="2400" dirty="0" smtClean="0"/>
              <a:t> software design.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System Context Diagram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System Model Template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System Flow Diagram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Information Flow Model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Data Flow Diagram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Flowchart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UML Models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324600" cy="4525963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smtClean="0"/>
              <a:t>Roger </a:t>
            </a:r>
            <a:r>
              <a:rPr lang="en-US" sz="2400" dirty="0" smtClean="0"/>
              <a:t>S. Pressman (2010). Software Engineering: A Practitioner’s Approach.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2286000"/>
            <a:ext cx="1997710" cy="30314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Ideas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Notations.</a:t>
            </a:r>
          </a:p>
          <a:p>
            <a:r>
              <a:rPr lang="en-US" dirty="0" smtClean="0"/>
              <a:t>Contents (aspects).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How to Represent a Design?</a:t>
            </a:r>
            <a:endParaRPr lang="en-US" sz="4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1676400"/>
            <a:ext cx="1577340" cy="145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2" name="Picture 2" descr="http://m.c.lnkd.licdn.com/mpr/mpr/AAEAAQAAAAAAAAXOAAAAJDNkYzRiZWU0LWVkODgtNDkxNy04MTVkLTE0MTI1NzU5NThlNg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09800" y="3581400"/>
            <a:ext cx="4181475" cy="2543175"/>
          </a:xfrm>
          <a:prstGeom prst="rect">
            <a:avLst/>
          </a:prstGeom>
          <a:noFill/>
        </p:spPr>
      </p:pic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53000" y="1524000"/>
            <a:ext cx="1741932" cy="1847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Context Diagram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4114800" cy="5105400"/>
          </a:xfrm>
        </p:spPr>
        <p:txBody>
          <a:bodyPr/>
          <a:lstStyle/>
          <a:p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context diagram</a:t>
            </a:r>
            <a:r>
              <a:rPr lang="en-US" sz="2000" dirty="0" smtClean="0"/>
              <a:t> "establishes the information boundary between</a:t>
            </a:r>
          </a:p>
          <a:p>
            <a:pPr lvl="1"/>
            <a:r>
              <a:rPr lang="en-US" sz="1800" dirty="0" smtClean="0"/>
              <a:t>the system being implemented and</a:t>
            </a:r>
          </a:p>
          <a:p>
            <a:pPr lvl="1"/>
            <a:r>
              <a:rPr lang="en-US" sz="1800" dirty="0" smtClean="0"/>
              <a:t>the environment in which the system is to operate".</a:t>
            </a:r>
          </a:p>
          <a:p>
            <a:r>
              <a:rPr lang="en-US" sz="2000" dirty="0" smtClean="0"/>
              <a:t>The SCD </a:t>
            </a:r>
            <a:r>
              <a:rPr lang="en-US" sz="2000" i="1" dirty="0" smtClean="0">
                <a:solidFill>
                  <a:srgbClr val="C00000"/>
                </a:solidFill>
              </a:rPr>
              <a:t>defines</a:t>
            </a:r>
            <a:r>
              <a:rPr lang="en-US" sz="2000" dirty="0" smtClean="0"/>
              <a:t> </a:t>
            </a:r>
          </a:p>
          <a:p>
            <a:pPr lvl="1"/>
            <a:r>
              <a:rPr lang="en-US" sz="1800" dirty="0" smtClean="0"/>
              <a:t>all external producers of information used by the system,</a:t>
            </a:r>
          </a:p>
          <a:p>
            <a:pPr lvl="1"/>
            <a:r>
              <a:rPr lang="en-US" sz="1800" dirty="0" smtClean="0"/>
              <a:t>all external consumers of information created by the system, and </a:t>
            </a:r>
          </a:p>
          <a:p>
            <a:pPr lvl="1"/>
            <a:r>
              <a:rPr lang="en-US" sz="1800" dirty="0" smtClean="0"/>
              <a:t>all entities that communicate through the interface or perform maintenance and self-test.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2209800"/>
            <a:ext cx="4600575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Model Template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86200" cy="4800600"/>
          </a:xfrm>
        </p:spPr>
        <p:txBody>
          <a:bodyPr/>
          <a:lstStyle/>
          <a:p>
            <a:r>
              <a:rPr lang="en-US" sz="2400" dirty="0" smtClean="0"/>
              <a:t>To develop the system model, a </a:t>
            </a:r>
            <a:r>
              <a:rPr lang="en-US" sz="2400" i="1" dirty="0" smtClean="0">
                <a:solidFill>
                  <a:srgbClr val="C00000"/>
                </a:solidFill>
              </a:rPr>
              <a:t>system model template</a:t>
            </a:r>
            <a:r>
              <a:rPr lang="en-US" sz="2400" dirty="0" smtClean="0"/>
              <a:t> is used.</a:t>
            </a:r>
          </a:p>
          <a:p>
            <a:r>
              <a:rPr lang="en-US" sz="2400" dirty="0" smtClean="0"/>
              <a:t>The system engineer allocates </a:t>
            </a:r>
            <a:r>
              <a:rPr lang="en-US" sz="2400" i="1" dirty="0" smtClean="0">
                <a:solidFill>
                  <a:srgbClr val="C00000"/>
                </a:solidFill>
              </a:rPr>
              <a:t>system elements</a:t>
            </a:r>
            <a:r>
              <a:rPr lang="en-US" sz="2400" dirty="0" smtClean="0"/>
              <a:t> to each of five processing regions within the template:</a:t>
            </a:r>
          </a:p>
          <a:p>
            <a:pPr lvl="1"/>
            <a:r>
              <a:rPr lang="en-US" sz="1800" dirty="0" smtClean="0"/>
              <a:t>(1) user interface,</a:t>
            </a:r>
          </a:p>
          <a:p>
            <a:pPr lvl="1"/>
            <a:r>
              <a:rPr lang="en-US" sz="1800" dirty="0" smtClean="0"/>
              <a:t>(2) input,</a:t>
            </a:r>
          </a:p>
          <a:p>
            <a:pPr lvl="1"/>
            <a:r>
              <a:rPr lang="en-US" sz="1800" dirty="0" smtClean="0"/>
              <a:t>(3) system function and control,</a:t>
            </a:r>
          </a:p>
          <a:p>
            <a:pPr lvl="1"/>
            <a:r>
              <a:rPr lang="en-US" sz="1800" dirty="0" smtClean="0"/>
              <a:t>(4) output, and</a:t>
            </a:r>
          </a:p>
          <a:p>
            <a:pPr lvl="1"/>
            <a:r>
              <a:rPr lang="en-US" sz="1800" dirty="0" smtClean="0"/>
              <a:t>(5) maintenance and self-test.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2162175"/>
            <a:ext cx="4533900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Flow Diagram (SFD)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6025" y="1266825"/>
            <a:ext cx="6505575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33400" y="1828800"/>
            <a:ext cx="1828800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latin typeface="+mj-lt"/>
              </a:rPr>
              <a:t>The system flow diagram shows major subsystems and important lines of information (data and control) flow.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Flow Diagram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286000"/>
            <a:ext cx="2743200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latin typeface="+mj-lt"/>
              </a:rPr>
              <a:t>Each rounded rectangle in the original SFD can be expanded into another architecture template dedicated solely to it.</a:t>
            </a:r>
            <a:endParaRPr lang="en-US" sz="2400" dirty="0">
              <a:latin typeface="+mj-lt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33775" y="1295400"/>
            <a:ext cx="5457825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Flow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An </a:t>
            </a:r>
            <a:r>
              <a:rPr lang="en-US" sz="2000" i="1" dirty="0" smtClean="0">
                <a:solidFill>
                  <a:srgbClr val="C00000"/>
                </a:solidFill>
              </a:rPr>
              <a:t>information flow diagram</a:t>
            </a:r>
            <a:r>
              <a:rPr lang="en-US" sz="2000" dirty="0" smtClean="0"/>
              <a:t> is a diagram that shows how the information flows from a source to a target, which is through some medium.</a:t>
            </a:r>
          </a:p>
          <a:p>
            <a:r>
              <a:rPr lang="en-US" sz="2000" dirty="0" smtClean="0"/>
              <a:t>The source or target may be people, departments or organizations.</a:t>
            </a:r>
          </a:p>
          <a:p>
            <a:r>
              <a:rPr lang="en-US" sz="2000" dirty="0" smtClean="0"/>
              <a:t>The medium acts as a bridge, a means of transmitting the information.</a:t>
            </a:r>
            <a:endParaRPr lang="en-US" sz="2000" dirty="0"/>
          </a:p>
        </p:txBody>
      </p:sp>
      <p:pic>
        <p:nvPicPr>
          <p:cNvPr id="7170" name="Picture 2" descr="https://upload.wikimedia.org/wikipedia/commons/7/75/IFD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581400"/>
            <a:ext cx="4629150" cy="25622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data-flow diagram</a:t>
            </a:r>
            <a:r>
              <a:rPr lang="en-US" sz="2200" dirty="0" smtClean="0"/>
              <a:t> is a way of representing a flow of data through a process or a system (usually an information system).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/>
              <a:t>The DFD also provides information about the outputs and inputs of each entity and the process itself.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/>
              <a:t>A data-flow diagram has no control flow — there are no decision rules and no loops.</a:t>
            </a:r>
            <a:endParaRPr lang="en-US" sz="2200" dirty="0"/>
          </a:p>
        </p:txBody>
      </p:sp>
      <p:pic>
        <p:nvPicPr>
          <p:cNvPr id="6146" name="Picture 2" descr="https://upload.wikimedia.org/wikipedia/commons/thumb/2/2e/Data-flow-diagram-example.svg/956px-Data-flow-diagram-example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600575"/>
            <a:ext cx="4552950" cy="733425"/>
          </a:xfrm>
          <a:prstGeom prst="rect">
            <a:avLst/>
          </a:prstGeom>
          <a:noFill/>
        </p:spPr>
      </p:pic>
      <p:pic>
        <p:nvPicPr>
          <p:cNvPr id="6148" name="Picture 4" descr="https://upload.wikimedia.org/wikipedia/commons/thumb/2/24/Data-flow-diagram-notation.svg/440px-Data-flow-diagram-notation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3886200"/>
            <a:ext cx="1676400" cy="2438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Represent an Algorithm?</a:t>
            </a:r>
            <a:endParaRPr lang="en-US" dirty="0"/>
          </a:p>
        </p:txBody>
      </p:sp>
      <p:pic>
        <p:nvPicPr>
          <p:cNvPr id="67590" name="Picture 6" descr="Image result for &quot;Algorithm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676400"/>
            <a:ext cx="7429500" cy="4191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Structured 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/>
              <a:t>Dijkstra</a:t>
            </a:r>
            <a:r>
              <a:rPr lang="en-US" sz="2200" dirty="0" smtClean="0"/>
              <a:t> and others proposed the use of a </a:t>
            </a:r>
            <a:r>
              <a:rPr lang="en-US" sz="2200" i="1" dirty="0" smtClean="0">
                <a:solidFill>
                  <a:srgbClr val="C00000"/>
                </a:solidFill>
              </a:rPr>
              <a:t>set of constrained logical constructs</a:t>
            </a:r>
            <a:r>
              <a:rPr lang="en-US" sz="2200" dirty="0" smtClean="0"/>
              <a:t> from which any program could be formed.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The constructs</a:t>
            </a:r>
            <a:r>
              <a:rPr lang="en-US" sz="2200" dirty="0" smtClean="0"/>
              <a:t> are sequence, condition, and repetition.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Sequence</a:t>
            </a:r>
            <a:r>
              <a:rPr lang="en-US" sz="2000" dirty="0" smtClean="0"/>
              <a:t> implements processing steps that are essential in the specification of any algorithm.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Condition</a:t>
            </a:r>
            <a:r>
              <a:rPr lang="en-US" sz="2000" dirty="0" smtClean="0"/>
              <a:t> provides the facility for selected processing based on some logical occurrence, and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repetition</a:t>
            </a:r>
            <a:r>
              <a:rPr lang="en-US" sz="2000" dirty="0" smtClean="0"/>
              <a:t> allows for looping.</a:t>
            </a:r>
          </a:p>
          <a:p>
            <a:r>
              <a:rPr lang="en-US" sz="2200" dirty="0" smtClean="0"/>
              <a:t>Each construct had a predictable logical structure, was </a:t>
            </a:r>
            <a:r>
              <a:rPr lang="en-US" sz="2200" i="1" dirty="0" smtClean="0">
                <a:solidFill>
                  <a:srgbClr val="C00000"/>
                </a:solidFill>
              </a:rPr>
              <a:t>entered at the top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exited at the bottom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These three constructs are fundamental to </a:t>
            </a:r>
            <a:r>
              <a:rPr lang="en-US" sz="2200" i="1" dirty="0" smtClean="0">
                <a:solidFill>
                  <a:srgbClr val="C00000"/>
                </a:solidFill>
              </a:rPr>
              <a:t>structured programming</a:t>
            </a:r>
            <a:r>
              <a:rPr lang="en-US" sz="2200" dirty="0" smtClean="0"/>
              <a:t>—an important component-level design technique.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Flowchart Constructs</a:t>
            </a:r>
            <a:endParaRPr lang="en-US" dirty="0"/>
          </a:p>
        </p:txBody>
      </p:sp>
      <p:pic>
        <p:nvPicPr>
          <p:cNvPr id="293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6825" y="1866900"/>
            <a:ext cx="7648575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ounded Rectangular Callout 5"/>
          <p:cNvSpPr/>
          <p:nvPr/>
        </p:nvSpPr>
        <p:spPr>
          <a:xfrm>
            <a:off x="228600" y="1143000"/>
            <a:ext cx="2362200" cy="914400"/>
          </a:xfrm>
          <a:prstGeom prst="wedgeRoundRectCallout">
            <a:avLst>
              <a:gd name="adj1" fmla="val 43406"/>
              <a:gd name="adj2" fmla="val 72992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 box is used to indicate a processing step.</a:t>
            </a:r>
            <a:endParaRPr lang="en-US" dirty="0"/>
          </a:p>
        </p:txBody>
      </p:sp>
      <p:sp>
        <p:nvSpPr>
          <p:cNvPr id="7" name="Rounded Rectangular Callout 6"/>
          <p:cNvSpPr/>
          <p:nvPr/>
        </p:nvSpPr>
        <p:spPr>
          <a:xfrm>
            <a:off x="152400" y="2286000"/>
            <a:ext cx="2057400" cy="1752600"/>
          </a:xfrm>
          <a:prstGeom prst="wedgeRoundRectCallout">
            <a:avLst>
              <a:gd name="adj1" fmla="val 48924"/>
              <a:gd name="adj2" fmla="val 5652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 diamond represents a logical condition, and arrows show the flow of control.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Flowchart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219200"/>
            <a:ext cx="7848600" cy="769441"/>
          </a:xfrm>
          <a:prstGeom prst="rect">
            <a:avLst/>
          </a:prstGeom>
          <a:noFill/>
          <a:ln w="25400">
            <a:noFill/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Flow charts</a:t>
            </a:r>
            <a:r>
              <a:rPr lang="en-US" sz="2200" dirty="0" smtClean="0">
                <a:latin typeface="+mj-lt"/>
              </a:rPr>
              <a:t> are graphical representations of workflows of stepwise activities and actions with support for choice, iteration.</a:t>
            </a:r>
          </a:p>
        </p:txBody>
      </p:sp>
      <p:graphicFrame>
        <p:nvGraphicFramePr>
          <p:cNvPr id="61443" name="Object 3"/>
          <p:cNvGraphicFramePr>
            <a:graphicFrameLocks noChangeAspect="1"/>
          </p:cNvGraphicFramePr>
          <p:nvPr/>
        </p:nvGraphicFramePr>
        <p:xfrm>
          <a:off x="3733800" y="2156692"/>
          <a:ext cx="2278063" cy="4472708"/>
        </p:xfrm>
        <a:graphic>
          <a:graphicData uri="http://schemas.openxmlformats.org/presentationml/2006/ole">
            <p:oleObj spid="_x0000_s1026" name="Visio" r:id="rId3" imgW="1821021" imgH="3575000" progId="Visio.Drawing.11">
              <p:embed/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Flowchart?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2438400"/>
          </a:xfrm>
        </p:spPr>
        <p:txBody>
          <a:bodyPr/>
          <a:lstStyle/>
          <a:p>
            <a:r>
              <a:rPr lang="en-US" dirty="0" smtClean="0"/>
              <a:t>Understand </a:t>
            </a:r>
            <a:r>
              <a:rPr lang="en-US" i="1" dirty="0" smtClean="0">
                <a:solidFill>
                  <a:srgbClr val="C00000"/>
                </a:solidFill>
              </a:rPr>
              <a:t>how algorithm works</a:t>
            </a:r>
          </a:p>
          <a:p>
            <a:r>
              <a:rPr lang="en-US" dirty="0" smtClean="0"/>
              <a:t>Understand </a:t>
            </a:r>
            <a:r>
              <a:rPr lang="en-US" i="1" dirty="0" smtClean="0">
                <a:solidFill>
                  <a:srgbClr val="C00000"/>
                </a:solidFill>
              </a:rPr>
              <a:t>how a process is carried</a:t>
            </a:r>
          </a:p>
          <a:p>
            <a:r>
              <a:rPr lang="en-US" dirty="0" smtClean="0"/>
              <a:t>Understand </a:t>
            </a:r>
            <a:r>
              <a:rPr lang="en-US" i="1" dirty="0" smtClean="0">
                <a:solidFill>
                  <a:srgbClr val="C00000"/>
                </a:solidFill>
              </a:rPr>
              <a:t>how a system works</a:t>
            </a:r>
          </a:p>
          <a:p>
            <a:r>
              <a:rPr lang="en-US" dirty="0" smtClean="0"/>
              <a:t>Easy to </a:t>
            </a:r>
            <a:r>
              <a:rPr lang="en-US" i="1" dirty="0" smtClean="0">
                <a:solidFill>
                  <a:srgbClr val="C00000"/>
                </a:solidFill>
              </a:rPr>
              <a:t>find a problem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4495800"/>
            <a:ext cx="3562350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UML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62200"/>
            <a:ext cx="4724400" cy="3124200"/>
          </a:xfrm>
        </p:spPr>
        <p:txBody>
          <a:bodyPr/>
          <a:lstStyle/>
          <a:p>
            <a:r>
              <a:rPr lang="en-US" sz="2200" dirty="0" smtClean="0"/>
              <a:t>Class diagram</a:t>
            </a:r>
          </a:p>
          <a:p>
            <a:r>
              <a:rPr lang="en-US" sz="2200" dirty="0" smtClean="0"/>
              <a:t>Sequence diagram</a:t>
            </a:r>
          </a:p>
          <a:p>
            <a:r>
              <a:rPr lang="en-US" sz="2200" dirty="0" smtClean="0"/>
              <a:t>Communication diagram</a:t>
            </a:r>
          </a:p>
          <a:p>
            <a:r>
              <a:rPr lang="en-US" sz="2200" dirty="0" smtClean="0"/>
              <a:t>Activity diagram</a:t>
            </a:r>
          </a:p>
          <a:p>
            <a:r>
              <a:rPr lang="en-US" sz="2200" dirty="0" smtClean="0"/>
              <a:t>State diagram</a:t>
            </a:r>
          </a:p>
          <a:p>
            <a:r>
              <a:rPr lang="en-US" sz="2200" dirty="0" smtClean="0"/>
              <a:t>Refer to "</a:t>
            </a:r>
            <a:r>
              <a:rPr lang="en-US" sz="2200" b="1" dirty="0" smtClean="0"/>
              <a:t>Software Requirements</a:t>
            </a:r>
            <a:r>
              <a:rPr lang="en-US" sz="2200" dirty="0" smtClean="0"/>
              <a:t>" &gt; "</a:t>
            </a:r>
            <a:r>
              <a:rPr lang="en-US" sz="2200" b="1" dirty="0" smtClean="0"/>
              <a:t>05.1. The Unified Modeling Language.pptx</a:t>
            </a:r>
            <a:r>
              <a:rPr lang="en-US" sz="2200" dirty="0" smtClean="0"/>
              <a:t>" for details.</a:t>
            </a:r>
            <a:endParaRPr lang="en-US" sz="2200" dirty="0"/>
          </a:p>
        </p:txBody>
      </p:sp>
      <p:pic>
        <p:nvPicPr>
          <p:cNvPr id="78852" name="Picture 4" descr="http://d32ogoqmya1dw8.cloudfront.net/images/NICHE/free_clip-art_from_mic.com_1340478931.co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5787" y="457200"/>
            <a:ext cx="1547813" cy="1547813"/>
          </a:xfrm>
          <a:prstGeom prst="rect">
            <a:avLst/>
          </a:prstGeom>
          <a:noFill/>
        </p:spPr>
      </p:pic>
      <p:pic>
        <p:nvPicPr>
          <p:cNvPr id="9" name="Picture 6" descr="http://worksheetgenius.com/images/worksheet%20genius%20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1905000"/>
            <a:ext cx="2438400" cy="35528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UML is </a:t>
            </a:r>
            <a:r>
              <a:rPr lang="en-US" dirty="0" smtClean="0"/>
              <a:t>Semi-Formal Language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It </a:t>
            </a:r>
            <a:r>
              <a:rPr lang="en-US" sz="2400" dirty="0" smtClean="0"/>
              <a:t>has a well-defined syntax (so it </a:t>
            </a:r>
            <a:r>
              <a:rPr lang="en-US" sz="2400" dirty="0" smtClean="0"/>
              <a:t>is computer-readable</a:t>
            </a:r>
            <a:r>
              <a:rPr lang="en-US" sz="2400" dirty="0" smtClean="0"/>
              <a:t>), but not an inherent, unambiguous and precise (in </a:t>
            </a:r>
            <a:r>
              <a:rPr lang="en-US" sz="2400" dirty="0" smtClean="0"/>
              <a:t>terms of </a:t>
            </a:r>
            <a:r>
              <a:rPr lang="en-US" sz="2400" dirty="0" smtClean="0"/>
              <a:t>mathematical precision) </a:t>
            </a:r>
            <a:r>
              <a:rPr lang="en-US" sz="2400" dirty="0" smtClean="0"/>
              <a:t>semantics.</a:t>
            </a:r>
          </a:p>
          <a:p>
            <a:r>
              <a:rPr lang="en-US" sz="2400" dirty="0" smtClean="0"/>
              <a:t>The </a:t>
            </a:r>
            <a:r>
              <a:rPr lang="en-US" sz="2400" dirty="0" smtClean="0"/>
              <a:t>semantics of a UML element </a:t>
            </a:r>
            <a:r>
              <a:rPr lang="en-US" sz="2400" dirty="0" smtClean="0"/>
              <a:t>is provided </a:t>
            </a:r>
            <a:r>
              <a:rPr lang="en-US" sz="2400" dirty="0" smtClean="0"/>
              <a:t>in prose, which is inherently ambiguous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As a result, a UML model can be read by a computer, but due to the lack </a:t>
            </a:r>
            <a:r>
              <a:rPr lang="en-US" sz="2400" dirty="0" smtClean="0"/>
              <a:t>of formalized </a:t>
            </a:r>
            <a:r>
              <a:rPr lang="en-US" sz="2400" dirty="0" smtClean="0"/>
              <a:t>semantics, </a:t>
            </a:r>
            <a:r>
              <a:rPr lang="en-US" sz="2400" dirty="0" smtClean="0"/>
              <a:t>a UML model cannot be computed </a:t>
            </a:r>
            <a:r>
              <a:rPr lang="en-US" sz="2400" dirty="0" smtClean="0"/>
              <a:t>in a deterministic way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There </a:t>
            </a:r>
            <a:r>
              <a:rPr lang="en-US" sz="2400" dirty="0" smtClean="0"/>
              <a:t>is a subset of UML, called </a:t>
            </a:r>
            <a:r>
              <a:rPr lang="en-US" sz="2400" dirty="0" err="1" smtClean="0"/>
              <a:t>fUML</a:t>
            </a:r>
            <a:r>
              <a:rPr lang="en-US" sz="2400" dirty="0" smtClean="0"/>
              <a:t> that </a:t>
            </a:r>
            <a:r>
              <a:rPr lang="en-US" sz="2400" dirty="0" smtClean="0"/>
              <a:t>is a formalized subset suitable for precise execution semantics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What </a:t>
            </a:r>
            <a:r>
              <a:rPr lang="en-US" sz="3800" dirty="0" smtClean="0"/>
              <a:t>does a Sequence Diagram </a:t>
            </a:r>
            <a:r>
              <a:rPr lang="en-US" sz="3800" dirty="0" smtClean="0"/>
              <a:t>Mean?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Sequence Diagrams don't have precise </a:t>
            </a:r>
            <a:r>
              <a:rPr lang="en-US" sz="2400" dirty="0" smtClean="0"/>
              <a:t>semantics.</a:t>
            </a:r>
          </a:p>
          <a:p>
            <a:r>
              <a:rPr lang="en-US" sz="2400" dirty="0" smtClean="0"/>
              <a:t>In general, what does a Sequence Diagram </a:t>
            </a:r>
            <a:r>
              <a:rPr lang="en-US" sz="2400" dirty="0" smtClean="0"/>
              <a:t>mean?</a:t>
            </a:r>
          </a:p>
          <a:p>
            <a:r>
              <a:rPr lang="en-US" sz="2400" dirty="0" smtClean="0"/>
              <a:t>Is </a:t>
            </a:r>
            <a:r>
              <a:rPr lang="en-US" sz="2400" dirty="0" smtClean="0"/>
              <a:t>it a universal specification ("this is how the system will always behave" therefore there are no other allowable behaviors</a:t>
            </a:r>
            <a:r>
              <a:rPr lang="en-US" sz="2400" dirty="0" smtClean="0"/>
              <a:t>)?</a:t>
            </a:r>
          </a:p>
          <a:p>
            <a:r>
              <a:rPr lang="en-US" sz="2400" dirty="0" smtClean="0"/>
              <a:t>Or </a:t>
            </a:r>
            <a:r>
              <a:rPr lang="en-US" sz="2400" dirty="0" smtClean="0"/>
              <a:t>is it an existential specification ("this is a scenario which the system should support" therefore a system that doesn't is incorrect</a:t>
            </a:r>
            <a:r>
              <a:rPr lang="en-US" sz="2400" dirty="0" smtClean="0"/>
              <a:t>)?</a:t>
            </a:r>
          </a:p>
          <a:p>
            <a:r>
              <a:rPr lang="en-US" sz="2400" dirty="0" smtClean="0"/>
              <a:t>Or </a:t>
            </a:r>
            <a:r>
              <a:rPr lang="en-US" sz="2400" dirty="0" smtClean="0"/>
              <a:t>is it merely a description ("this might happen</a:t>
            </a:r>
            <a:r>
              <a:rPr lang="en-US" sz="2400" dirty="0" smtClean="0"/>
              <a:t>")?</a:t>
            </a:r>
          </a:p>
          <a:p>
            <a:r>
              <a:rPr lang="en-US" sz="2400" dirty="0" smtClean="0"/>
              <a:t>There </a:t>
            </a:r>
            <a:r>
              <a:rPr lang="en-US" sz="2400" dirty="0" smtClean="0"/>
              <a:t>is no answer, because Sequence Diagrams</a:t>
            </a:r>
            <a:r>
              <a:rPr lang="en-US" sz="2400" dirty="0" smtClean="0"/>
              <a:t> </a:t>
            </a:r>
            <a:r>
              <a:rPr lang="en-US" sz="2400" dirty="0" smtClean="0"/>
              <a:t>don't have precise semantics like that.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www.omg.org/spec/FUML</a:t>
            </a:r>
            <a:endParaRPr lang="en-US" sz="2400" dirty="0" smtClean="0"/>
          </a:p>
          <a:p>
            <a:r>
              <a:rPr lang="en-US" sz="2400" dirty="0" smtClean="0"/>
              <a:t>The Foundational UML Subset (</a:t>
            </a:r>
            <a:r>
              <a:rPr lang="en-US" sz="2400" dirty="0" err="1" smtClean="0"/>
              <a:t>fUML</a:t>
            </a:r>
            <a:r>
              <a:rPr lang="en-US" sz="2400" dirty="0" smtClean="0"/>
              <a:t>) is an executable subset of standard UML that can be used to define, in an operational style, the structural and behavioral semantics of systems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For </a:t>
            </a:r>
            <a:r>
              <a:rPr lang="en-US" sz="2400" dirty="0" smtClean="0"/>
              <a:t>example, the semantics of UML state machines can be specified as a program written in </a:t>
            </a:r>
            <a:r>
              <a:rPr lang="en-US" sz="2400" dirty="0" err="1" smtClean="0"/>
              <a:t>fUML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</a:t>
            </a:r>
            <a:r>
              <a:rPr lang="en-US" smtClean="0"/>
              <a:t>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8919</TotalTime>
  <Words>835</Words>
  <Application>Microsoft Office PowerPoint</Application>
  <PresentationFormat>On-screen Show (4:3)</PresentationFormat>
  <Paragraphs>95</Paragraphs>
  <Slides>24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Office Theme</vt:lpstr>
      <vt:lpstr>Visio</vt:lpstr>
      <vt:lpstr>Documenting Software Design</vt:lpstr>
      <vt:lpstr>Objectives</vt:lpstr>
      <vt:lpstr>Contents</vt:lpstr>
      <vt:lpstr>References</vt:lpstr>
      <vt:lpstr>Key Ideas</vt:lpstr>
      <vt:lpstr>How to Represent a Design?</vt:lpstr>
      <vt:lpstr>System Context Diagram [1]</vt:lpstr>
      <vt:lpstr>System Model Template</vt:lpstr>
      <vt:lpstr>System Flow Diagram (SFD)</vt:lpstr>
      <vt:lpstr>System Flow Diagram Hierarchy</vt:lpstr>
      <vt:lpstr>Information Flow Diagram</vt:lpstr>
      <vt:lpstr>Data Flow Diagram</vt:lpstr>
      <vt:lpstr>Slide 13</vt:lpstr>
      <vt:lpstr>How to Represent an Algorithm?</vt:lpstr>
      <vt:lpstr>Structured Programming</vt:lpstr>
      <vt:lpstr>Flowchart Constructs</vt:lpstr>
      <vt:lpstr>Flowchart</vt:lpstr>
      <vt:lpstr>Why Flowchart?</vt:lpstr>
      <vt:lpstr>Slide 19</vt:lpstr>
      <vt:lpstr>UML Models</vt:lpstr>
      <vt:lpstr>UML is Semi-Formal Language</vt:lpstr>
      <vt:lpstr>What does a Sequence Diagram Mean?</vt:lpstr>
      <vt:lpstr>fUML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3232</cp:revision>
  <dcterms:created xsi:type="dcterms:W3CDTF">2007-10-06T08:25:13Z</dcterms:created>
  <dcterms:modified xsi:type="dcterms:W3CDTF">2024-04-14T19:29:42Z</dcterms:modified>
</cp:coreProperties>
</file>